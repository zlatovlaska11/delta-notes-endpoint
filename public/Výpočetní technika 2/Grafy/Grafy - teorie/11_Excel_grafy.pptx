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87" r:id="rId2"/>
    <p:sldId id="290" r:id="rId3"/>
    <p:sldId id="291" r:id="rId4"/>
    <p:sldId id="292" r:id="rId5"/>
    <p:sldId id="293" r:id="rId6"/>
    <p:sldId id="295" r:id="rId7"/>
    <p:sldId id="288" r:id="rId8"/>
    <p:sldId id="289" r:id="rId9"/>
  </p:sldIdLst>
  <p:sldSz cx="9144000" cy="6858000" type="screen4x3"/>
  <p:notesSz cx="6761163" cy="99425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644-8C3F-427F-A565-E301B03B4143}" type="datetimeFigureOut">
              <a:rPr lang="cs-CZ" smtClean="0"/>
              <a:t>25.06.2017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4FAC7-373E-49BA-93F6-0196466CA8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75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0EA3D-3C58-4EF1-859C-6AD72CC78455}" type="datetimeFigureOut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F3394-C4F2-49DE-B09C-E4DB072ED21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3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BA0A-3DED-47D5-82D5-18D7AD1C244D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9A08-BC94-4DB8-BAEC-EC13CF9F6F3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1764-0EC3-4FAF-A14C-4F3EFC974819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7F09-B05E-487E-80F0-F1584F7D413C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5B7D-167D-4772-81CD-9A24DB4A9637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FFE18-C59E-4EF1-B222-3FD0126A7DB8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BD00-EF0F-4CC0-8658-FAD32E5B1F42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A8AF-1993-4059-94C3-73F25F6528D3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4CB2-9C08-4FB0-B44E-A794CFA75C0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9AB4-5144-4349-8EDF-88163B02A1DE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8331E-BA6D-4C8E-A94D-14C138C11BB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8C210A2-25DC-4152-9E52-E7A3E75225BF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8208912" cy="4896544"/>
          </a:xfrm>
        </p:spPr>
        <p:txBody>
          <a:bodyPr>
            <a:norm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cs-CZ" sz="60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reflection blurRad="12700" stA="28000" endPos="45000" dist="1000" dir="5400000" sy="-100000" algn="bl" rotWithShape="0"/>
                </a:effectLst>
                <a:ea typeface="Times New Roman"/>
              </a:rPr>
              <a:t>Grafy</a:t>
            </a:r>
            <a:endParaRPr lang="cs-CZ" sz="6000" dirty="0">
              <a:ln/>
              <a:solidFill>
                <a:srgbClr val="00B050"/>
              </a:solidFill>
              <a:effectLst/>
            </a:endParaRPr>
          </a:p>
        </p:txBody>
      </p:sp>
      <p:pic>
        <p:nvPicPr>
          <p:cNvPr id="3" name="Obrázek 2"/>
          <p:cNvPicPr/>
          <p:nvPr/>
        </p:nvPicPr>
        <p:blipFill rotWithShape="1"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0" t="68823" r="23895" b="15000"/>
          <a:stretch/>
        </p:blipFill>
        <p:spPr bwMode="auto">
          <a:xfrm>
            <a:off x="755576" y="930764"/>
            <a:ext cx="1584176" cy="18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Obrázek 3"/>
          <p:cNvPicPr/>
          <p:nvPr/>
        </p:nvPicPr>
        <p:blipFill rotWithShape="1">
          <a:blip r:embed="rId3"/>
          <a:srcRect l="27233" t="4506" r="35169" b="86995"/>
          <a:stretch/>
        </p:blipFill>
        <p:spPr bwMode="auto">
          <a:xfrm rot="852604">
            <a:off x="2851210" y="2770418"/>
            <a:ext cx="5954286" cy="13891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ovéPole 1"/>
          <p:cNvSpPr txBox="1"/>
          <p:nvPr/>
        </p:nvSpPr>
        <p:spPr>
          <a:xfrm>
            <a:off x="4139952" y="6354178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smtClean="0"/>
              <a:t>Ing. Votavová Gabriela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17886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Graf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Karta Vložení =&gt; sektor Grafy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r="21090" b="66825"/>
          <a:stretch/>
        </p:blipFill>
        <p:spPr bwMode="auto">
          <a:xfrm>
            <a:off x="107504" y="2664777"/>
            <a:ext cx="8928992" cy="3500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63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/>
          <p:nvPr/>
        </p:nvPicPr>
        <p:blipFill rotWithShape="1">
          <a:blip r:embed="rId2"/>
          <a:srcRect l="22038" t="59331" r="17535" b="6401"/>
          <a:stretch/>
        </p:blipFill>
        <p:spPr bwMode="auto">
          <a:xfrm>
            <a:off x="827584" y="4553146"/>
            <a:ext cx="4968552" cy="2118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Vložit graf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Výběr různých </a:t>
            </a:r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dirty="0" smtClean="0"/>
              <a:t>           typů grafů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l="22274" t="21326" r="16587" b="6401"/>
          <a:stretch/>
        </p:blipFill>
        <p:spPr bwMode="auto">
          <a:xfrm>
            <a:off x="3372283" y="260648"/>
            <a:ext cx="5760640" cy="5832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84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/>
          <p:nvPr/>
        </p:nvPicPr>
        <p:blipFill rotWithShape="1">
          <a:blip r:embed="rId2"/>
          <a:srcRect l="26303" r="34959" b="65344"/>
          <a:stretch/>
        </p:blipFill>
        <p:spPr bwMode="auto">
          <a:xfrm>
            <a:off x="4427984" y="3372969"/>
            <a:ext cx="4464496" cy="3456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Výběr grafu podle typu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Graf vybíráme podle druhu použití </a:t>
            </a:r>
          </a:p>
          <a:p>
            <a:r>
              <a:rPr lang="cs-CZ" dirty="0" smtClean="0"/>
              <a:t>Důležitá je názornost pro příjemce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4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l="27014" r="44076" b="65641"/>
          <a:stretch/>
        </p:blipFill>
        <p:spPr bwMode="auto">
          <a:xfrm>
            <a:off x="323528" y="2996952"/>
            <a:ext cx="3816424" cy="3456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15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/>
          <p:nvPr/>
        </p:nvPicPr>
        <p:blipFill rotWithShape="1">
          <a:blip r:embed="rId2">
            <a:clrChange>
              <a:clrFrom>
                <a:srgbClr val="F0F2F5"/>
              </a:clrFrom>
              <a:clrTo>
                <a:srgbClr val="F0F2F5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2676" t="25327" r="21456" b="61518"/>
          <a:stretch/>
        </p:blipFill>
        <p:spPr bwMode="auto">
          <a:xfrm>
            <a:off x="3488940" y="348262"/>
            <a:ext cx="5689895" cy="149370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 grafu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733880"/>
          </a:xfrm>
        </p:spPr>
        <p:txBody>
          <a:bodyPr>
            <a:normAutofit fontScale="92500" lnSpcReduction="10000"/>
          </a:bodyPr>
          <a:lstStyle/>
          <a:p>
            <a:r>
              <a:rPr lang="cs-CZ" dirty="0" smtClean="0"/>
              <a:t>Sloupcový</a:t>
            </a:r>
          </a:p>
          <a:p>
            <a:r>
              <a:rPr lang="cs-CZ" dirty="0" smtClean="0"/>
              <a:t>Spojnicový</a:t>
            </a:r>
          </a:p>
          <a:p>
            <a:r>
              <a:rPr lang="cs-CZ" dirty="0" smtClean="0"/>
              <a:t>Výsečový </a:t>
            </a:r>
          </a:p>
          <a:p>
            <a:r>
              <a:rPr lang="cs-CZ" dirty="0" smtClean="0"/>
              <a:t>Pruhový</a:t>
            </a:r>
          </a:p>
          <a:p>
            <a:r>
              <a:rPr lang="cs-CZ" dirty="0" smtClean="0"/>
              <a:t>Plošný</a:t>
            </a:r>
          </a:p>
          <a:p>
            <a:r>
              <a:rPr lang="cs-CZ" dirty="0" smtClean="0"/>
              <a:t>Bodový</a:t>
            </a:r>
          </a:p>
          <a:p>
            <a:r>
              <a:rPr lang="cs-CZ" dirty="0" smtClean="0"/>
              <a:t>Burzovní </a:t>
            </a:r>
          </a:p>
          <a:p>
            <a:r>
              <a:rPr lang="cs-CZ" dirty="0" smtClean="0"/>
              <a:t>Povrchový</a:t>
            </a:r>
          </a:p>
          <a:p>
            <a:r>
              <a:rPr lang="cs-CZ" dirty="0" smtClean="0"/>
              <a:t>Prstencový</a:t>
            </a:r>
          </a:p>
          <a:p>
            <a:r>
              <a:rPr lang="cs-CZ" dirty="0" smtClean="0"/>
              <a:t>Bublinový</a:t>
            </a:r>
          </a:p>
          <a:p>
            <a:r>
              <a:rPr lang="cs-CZ" dirty="0" smtClean="0"/>
              <a:t>Paprskový</a:t>
            </a:r>
          </a:p>
          <a:p>
            <a:endParaRPr lang="cs-CZ" dirty="0" smtClean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7" name="Obrázek 6"/>
          <p:cNvPicPr/>
          <p:nvPr/>
        </p:nvPicPr>
        <p:blipFill rotWithShape="1">
          <a:blip r:embed="rId2"/>
          <a:srcRect l="33413" t="38045" r="34919" b="54522"/>
          <a:stretch/>
        </p:blipFill>
        <p:spPr bwMode="auto">
          <a:xfrm>
            <a:off x="2451152" y="1734994"/>
            <a:ext cx="3705024" cy="79208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Obrázek 8"/>
          <p:cNvPicPr/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3413" t="52208" r="22384" b="34605"/>
          <a:stretch/>
        </p:blipFill>
        <p:spPr bwMode="auto">
          <a:xfrm>
            <a:off x="2195736" y="2717991"/>
            <a:ext cx="5112568" cy="1503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Obrázek 9"/>
          <p:cNvPicPr/>
          <p:nvPr/>
        </p:nvPicPr>
        <p:blipFill rotWithShape="1">
          <a:blip r:embed="rId2"/>
          <a:srcRect l="33378" t="65193" r="40164" b="27651"/>
          <a:stretch/>
        </p:blipFill>
        <p:spPr bwMode="auto">
          <a:xfrm>
            <a:off x="5972767" y="3421510"/>
            <a:ext cx="3171233" cy="79957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Obrázek 11"/>
          <p:cNvPicPr/>
          <p:nvPr/>
        </p:nvPicPr>
        <p:blipFill rotWithShape="1">
          <a:blip r:embed="rId2"/>
          <a:srcRect l="33396" t="80106" r="48880" b="13148"/>
          <a:stretch/>
        </p:blipFill>
        <p:spPr bwMode="auto">
          <a:xfrm>
            <a:off x="2267743" y="4320749"/>
            <a:ext cx="2376265" cy="6924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Obrázek 14"/>
          <p:cNvPicPr/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33350" t="81724" r="53406" b="11271"/>
          <a:stretch/>
        </p:blipFill>
        <p:spPr bwMode="auto">
          <a:xfrm>
            <a:off x="3221685" y="5986581"/>
            <a:ext cx="1939941" cy="89544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Obrázek 15"/>
          <p:cNvPicPr/>
          <p:nvPr/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2807" t="66498" r="56423" b="25697"/>
          <a:stretch/>
        </p:blipFill>
        <p:spPr bwMode="auto">
          <a:xfrm>
            <a:off x="2489646" y="5151282"/>
            <a:ext cx="1578297" cy="78550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Obrázek 10"/>
          <p:cNvPicPr/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33423" t="72563" r="44613" b="20519"/>
          <a:stretch/>
        </p:blipFill>
        <p:spPr bwMode="auto">
          <a:xfrm>
            <a:off x="3635897" y="3861048"/>
            <a:ext cx="2697990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Obrázek 7"/>
          <p:cNvPicPr/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33208" t="45667" r="39604" b="47792"/>
          <a:stretch/>
        </p:blipFill>
        <p:spPr bwMode="auto">
          <a:xfrm>
            <a:off x="5724128" y="2131038"/>
            <a:ext cx="3284367" cy="6795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Obrázek 13"/>
          <p:cNvPicPr/>
          <p:nvPr/>
        </p:nvPicPr>
        <p:blipFill rotWithShape="1">
          <a:blip r:embed="rId3"/>
          <a:srcRect l="32807" t="74359" r="56423" b="18275"/>
          <a:stretch/>
        </p:blipFill>
        <p:spPr bwMode="auto">
          <a:xfrm>
            <a:off x="4444641" y="5229200"/>
            <a:ext cx="1624455" cy="91423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Obrázek 12"/>
          <p:cNvPicPr/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33252" t="59753" r="48612" b="33079"/>
          <a:stretch/>
        </p:blipFill>
        <p:spPr bwMode="auto">
          <a:xfrm>
            <a:off x="5908149" y="4797152"/>
            <a:ext cx="2916324" cy="9593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6270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Užití grafu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cs-CZ" dirty="0" smtClean="0"/>
              <a:t>Srovnání vývoje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Složení celku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Porovnání výsledků či množství položek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Znázornění změn dat </a:t>
            </a:r>
            <a:r>
              <a:rPr lang="cs-CZ" dirty="0"/>
              <a:t>za časové </a:t>
            </a:r>
            <a:r>
              <a:rPr lang="cs-CZ" dirty="0" smtClean="0"/>
              <a:t>období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Zvýraznění  velikosti </a:t>
            </a:r>
            <a:r>
              <a:rPr lang="cs-CZ" dirty="0"/>
              <a:t>změny v průběhu </a:t>
            </a:r>
            <a:r>
              <a:rPr lang="cs-CZ" dirty="0" smtClean="0"/>
              <a:t>času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Znázornění poměru </a:t>
            </a:r>
            <a:r>
              <a:rPr lang="cs-CZ" dirty="0"/>
              <a:t>částí k celku</a:t>
            </a:r>
            <a:r>
              <a:rPr lang="cs-CZ" dirty="0" smtClean="0"/>
              <a:t>, jedné nebo více datových řad</a:t>
            </a:r>
          </a:p>
          <a:p>
            <a:pPr>
              <a:lnSpc>
                <a:spcPct val="120000"/>
              </a:lnSpc>
            </a:pPr>
            <a:r>
              <a:rPr lang="cs-CZ" dirty="0" smtClean="0"/>
              <a:t>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564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Otázky na závěr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95536" y="2204864"/>
            <a:ext cx="8748464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 smtClean="0"/>
              <a:t>Jaké grafy můžeme použít?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Co mohou grafy znázorňovat?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Jaký graf je nejvhodnější pro znázornění celku?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Je rozdíl mezi sloupkovým 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 dirty="0"/>
              <a:t> </a:t>
            </a:r>
            <a:r>
              <a:rPr lang="cs-CZ" dirty="0" smtClean="0"/>
              <a:t>  proužkovým grafem? </a:t>
            </a:r>
          </a:p>
          <a:p>
            <a:pPr>
              <a:lnSpc>
                <a:spcPct val="150000"/>
              </a:lnSpc>
            </a:pPr>
            <a:endParaRPr lang="cs-CZ" dirty="0" smtClean="0"/>
          </a:p>
          <a:p>
            <a:pPr>
              <a:lnSpc>
                <a:spcPct val="150000"/>
              </a:lnSpc>
            </a:pPr>
            <a:endParaRPr lang="cs-CZ" dirty="0" smtClean="0"/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1027" name="Picture 3" descr="C:\Users\ucitel\AppData\Local\Microsoft\Windows\Temporary Internet Files\Content.IE5\YMD3KY1S\MC900441705[1]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2" b="13994"/>
          <a:stretch/>
        </p:blipFill>
        <p:spPr bwMode="auto">
          <a:xfrm>
            <a:off x="4886471" y="4077072"/>
            <a:ext cx="3528392" cy="254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Zdroje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NAVRÁTIL, Pavel. </a:t>
            </a:r>
            <a:r>
              <a:rPr lang="cs-CZ" i="1" dirty="0"/>
              <a:t>S počítačem nejen k maturitě - 1. díl</a:t>
            </a:r>
            <a:r>
              <a:rPr lang="cs-CZ" dirty="0"/>
              <a:t>. Olomouc: </a:t>
            </a:r>
            <a:r>
              <a:rPr lang="cs-CZ" dirty="0" err="1"/>
              <a:t>Computer</a:t>
            </a:r>
            <a:r>
              <a:rPr lang="cs-CZ" dirty="0"/>
              <a:t> Media, 2008. 120 s. ISBN 80-86686-60-4 </a:t>
            </a:r>
          </a:p>
          <a:p>
            <a:pPr>
              <a:lnSpc>
                <a:spcPct val="150000"/>
              </a:lnSpc>
            </a:pPr>
            <a:r>
              <a:rPr lang="cs-CZ" dirty="0"/>
              <a:t>Kliparty MS Office – office.microsoft.com</a:t>
            </a:r>
          </a:p>
          <a:p>
            <a:pPr>
              <a:lnSpc>
                <a:spcPct val="150000"/>
              </a:lnSpc>
            </a:pPr>
            <a:r>
              <a:rPr lang="cs-CZ" dirty="0"/>
              <a:t>MS Excel 2010</a:t>
            </a:r>
          </a:p>
          <a:p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8</a:t>
            </a:fld>
            <a:endParaRPr lang="cs-CZ"/>
          </a:p>
        </p:txBody>
      </p:sp>
      <p:pic>
        <p:nvPicPr>
          <p:cNvPr id="2051" name="Picture 3" descr="C:\Users\ucitel\AppData\Local\Microsoft\Windows\Temporary Internet Files\Content.IE5\YGPSP9YX\MP900382698[1].jp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167336"/>
            <a:ext cx="3502834" cy="2502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50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Aerodynamik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3170</TotalTime>
  <Words>152</Words>
  <Application>Microsoft Office PowerPoint</Application>
  <PresentationFormat>Předvádění na obrazovce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Constantia</vt:lpstr>
      <vt:lpstr>Times New Roman</vt:lpstr>
      <vt:lpstr>Wingdings 2</vt:lpstr>
      <vt:lpstr>Tok</vt:lpstr>
      <vt:lpstr>Grafy</vt:lpstr>
      <vt:lpstr>Graf </vt:lpstr>
      <vt:lpstr>Vložit graf</vt:lpstr>
      <vt:lpstr>Výběr grafu podle typu</vt:lpstr>
      <vt:lpstr>Typ grafu</vt:lpstr>
      <vt:lpstr>Užití grafu</vt:lpstr>
      <vt:lpstr>Otázky na 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síťě</dc:title>
  <dc:creator>Gabriela Votavová</dc:creator>
  <cp:lastModifiedBy>Gabriela Votavová</cp:lastModifiedBy>
  <cp:revision>254</cp:revision>
  <cp:lastPrinted>2013-11-15T13:03:35Z</cp:lastPrinted>
  <dcterms:created xsi:type="dcterms:W3CDTF">2009-11-23T15:00:52Z</dcterms:created>
  <dcterms:modified xsi:type="dcterms:W3CDTF">2017-06-25T15:40:52Z</dcterms:modified>
</cp:coreProperties>
</file>