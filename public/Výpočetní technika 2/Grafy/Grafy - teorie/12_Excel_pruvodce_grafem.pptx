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87" r:id="rId5"/>
    <p:sldId id="290" r:id="rId6"/>
    <p:sldId id="291" r:id="rId7"/>
    <p:sldId id="292" r:id="rId8"/>
    <p:sldId id="293" r:id="rId9"/>
    <p:sldId id="296" r:id="rId10"/>
    <p:sldId id="294" r:id="rId11"/>
    <p:sldId id="295" r:id="rId12"/>
    <p:sldId id="288" r:id="rId13"/>
    <p:sldId id="289" r:id="rId14"/>
  </p:sldIdLst>
  <p:sldSz cx="9144000" cy="6858000" type="screen4x3"/>
  <p:notesSz cx="6761163" cy="99425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8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4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pPr>
            <a:r>
              <a:rPr lang="cs-CZ" sz="24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Cestovní kancelář</a:t>
            </a:r>
          </a:p>
        </c:rich>
      </c:tx>
      <c:layout>
        <c:manualLayout>
          <c:xMode val="edge"/>
          <c:yMode val="edge"/>
          <c:x val="0.19865880725218343"/>
          <c:y val="3.7961902626401757E-3"/>
        </c:manualLayout>
      </c:layout>
      <c:overlay val="1"/>
    </c:title>
    <c:autoTitleDeleted val="0"/>
    <c:view3D>
      <c:rotX val="15"/>
      <c:rotY val="20"/>
      <c:depthPercent val="100"/>
      <c:rAngAx val="0"/>
      <c:perspective val="0"/>
    </c:view3D>
    <c:floor>
      <c:thickness val="0"/>
    </c:floor>
    <c:sideWall>
      <c:thickness val="0"/>
      <c:spPr>
        <a:gradFill flip="none" rotWithShape="1">
          <a:gsLst>
            <a:gs pos="0">
              <a:srgbClr val="000082"/>
            </a:gs>
            <a:gs pos="13000">
              <a:srgbClr val="0047FF"/>
            </a:gs>
            <a:gs pos="28000">
              <a:srgbClr val="000082"/>
            </a:gs>
            <a:gs pos="42999">
              <a:srgbClr val="0047FF"/>
            </a:gs>
            <a:gs pos="58000">
              <a:srgbClr val="000082"/>
            </a:gs>
            <a:gs pos="72000">
              <a:srgbClr val="0047FF"/>
            </a:gs>
            <a:gs pos="87000">
              <a:srgbClr val="000082"/>
            </a:gs>
            <a:gs pos="100000">
              <a:srgbClr val="0047FF"/>
            </a:gs>
          </a:gsLst>
          <a:lin ang="13500000" scaled="1"/>
          <a:tileRect/>
        </a:gradFill>
      </c:spPr>
    </c:sideWall>
    <c:backWall>
      <c:thickness val="0"/>
      <c:spPr>
        <a:gradFill flip="none" rotWithShape="1">
          <a:gsLst>
            <a:gs pos="0">
              <a:srgbClr val="000082"/>
            </a:gs>
            <a:gs pos="13000">
              <a:srgbClr val="0047FF"/>
            </a:gs>
            <a:gs pos="28000">
              <a:srgbClr val="000082"/>
            </a:gs>
            <a:gs pos="42999">
              <a:srgbClr val="0047FF"/>
            </a:gs>
            <a:gs pos="58000">
              <a:srgbClr val="000082"/>
            </a:gs>
            <a:gs pos="72000">
              <a:srgbClr val="0047FF"/>
            </a:gs>
            <a:gs pos="87000">
              <a:srgbClr val="000082"/>
            </a:gs>
            <a:gs pos="100000">
              <a:srgbClr val="0047FF"/>
            </a:gs>
          </a:gsLst>
          <a:lin ang="13500000" scaled="1"/>
          <a:tileRect/>
        </a:gradFill>
      </c:spPr>
    </c:backWall>
    <c:plotArea>
      <c:layout>
        <c:manualLayout>
          <c:layoutTarget val="inner"/>
          <c:xMode val="edge"/>
          <c:yMode val="edge"/>
          <c:x val="0.14692502810365204"/>
          <c:y val="0.15218930988344292"/>
          <c:w val="0.58907931915160316"/>
          <c:h val="0.69204901146249453"/>
        </c:manualLayout>
      </c:layout>
      <c:bar3DChart>
        <c:barDir val="col"/>
        <c:grouping val="standard"/>
        <c:varyColors val="0"/>
        <c:ser>
          <c:idx val="1"/>
          <c:order val="0"/>
          <c:tx>
            <c:strRef>
              <c:f>výsledek!$B$5</c:f>
              <c:strCache>
                <c:ptCount val="1"/>
                <c:pt idx="0">
                  <c:v>Ibiza</c:v>
                </c:pt>
              </c:strCache>
            </c:strRef>
          </c:tx>
          <c:spPr>
            <a:gradFill>
              <a:gsLst>
                <a:gs pos="0">
                  <a:srgbClr val="CBCBCB"/>
                </a:gs>
                <a:gs pos="13000">
                  <a:srgbClr val="5F5F5F"/>
                </a:gs>
                <a:gs pos="21001">
                  <a:srgbClr val="5F5F5F"/>
                </a:gs>
                <a:gs pos="63000">
                  <a:srgbClr val="FFFFFF"/>
                </a:gs>
                <a:gs pos="67000">
                  <a:srgbClr val="B2B2B2"/>
                </a:gs>
                <a:gs pos="69000">
                  <a:srgbClr val="292929"/>
                </a:gs>
                <a:gs pos="82001">
                  <a:srgbClr val="777777"/>
                </a:gs>
                <a:gs pos="100000">
                  <a:srgbClr val="EAEAEA"/>
                </a:gs>
              </a:gsLst>
              <a:lin ang="13500000" scaled="0"/>
            </a:gradFill>
          </c:spPr>
          <c:invertIfNegative val="0"/>
          <c:cat>
            <c:strRef>
              <c:f>výsledek!$D$4:$E$4</c:f>
              <c:strCache>
                <c:ptCount val="2"/>
                <c:pt idx="0">
                  <c:v>červenec</c:v>
                </c:pt>
                <c:pt idx="1">
                  <c:v>srpen</c:v>
                </c:pt>
              </c:strCache>
            </c:strRef>
          </c:cat>
          <c:val>
            <c:numRef>
              <c:f>výsledek!$D$5:$E$5</c:f>
              <c:numCache>
                <c:formatCode>#,##0</c:formatCode>
                <c:ptCount val="2"/>
                <c:pt idx="0">
                  <c:v>22000</c:v>
                </c:pt>
                <c:pt idx="1">
                  <c:v>25000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B5-462B-BA8B-1685C1461915}"/>
            </c:ext>
          </c:extLst>
        </c:ser>
        <c:ser>
          <c:idx val="2"/>
          <c:order val="1"/>
          <c:tx>
            <c:strRef>
              <c:f>výsledek!$B$6</c:f>
              <c:strCache>
                <c:ptCount val="1"/>
                <c:pt idx="0">
                  <c:v>Portugalsko</c:v>
                </c:pt>
              </c:strCache>
            </c:strRef>
          </c:tx>
          <c:spPr>
            <a:gradFill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13500000" scaled="0"/>
            </a:gradFill>
          </c:spPr>
          <c:invertIfNegative val="0"/>
          <c:cat>
            <c:strRef>
              <c:f>výsledek!$D$4:$E$4</c:f>
              <c:strCache>
                <c:ptCount val="2"/>
                <c:pt idx="0">
                  <c:v>červenec</c:v>
                </c:pt>
                <c:pt idx="1">
                  <c:v>srpen</c:v>
                </c:pt>
              </c:strCache>
            </c:strRef>
          </c:cat>
          <c:val>
            <c:numRef>
              <c:f>výsledek!$D$6:$E$6</c:f>
              <c:numCache>
                <c:formatCode>#,##0</c:formatCode>
                <c:ptCount val="2"/>
                <c:pt idx="0">
                  <c:v>35000</c:v>
                </c:pt>
                <c:pt idx="1">
                  <c:v>36000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B5-462B-BA8B-1685C1461915}"/>
            </c:ext>
          </c:extLst>
        </c:ser>
        <c:ser>
          <c:idx val="0"/>
          <c:order val="2"/>
          <c:tx>
            <c:strRef>
              <c:f>výsledek!$B$7</c:f>
              <c:strCache>
                <c:ptCount val="1"/>
                <c:pt idx="0">
                  <c:v>Chorvatsko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cat>
            <c:strRef>
              <c:f>výsledek!$D$4:$E$4</c:f>
              <c:strCache>
                <c:ptCount val="2"/>
                <c:pt idx="0">
                  <c:v>červenec</c:v>
                </c:pt>
                <c:pt idx="1">
                  <c:v>srpen</c:v>
                </c:pt>
              </c:strCache>
            </c:strRef>
          </c:cat>
          <c:val>
            <c:numRef>
              <c:f>výsledek!$D$7:$E$7</c:f>
              <c:numCache>
                <c:formatCode>#,##0</c:formatCode>
                <c:ptCount val="2"/>
                <c:pt idx="0">
                  <c:v>38000</c:v>
                </c:pt>
                <c:pt idx="1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B5-462B-BA8B-1685C1461915}"/>
            </c:ext>
          </c:extLst>
        </c:ser>
        <c:ser>
          <c:idx val="3"/>
          <c:order val="3"/>
          <c:tx>
            <c:strRef>
              <c:f>výsledek!$B$8</c:f>
              <c:strCache>
                <c:ptCount val="1"/>
                <c:pt idx="0">
                  <c:v>Francie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cat>
            <c:strRef>
              <c:f>výsledek!$D$4:$E$4</c:f>
              <c:strCache>
                <c:ptCount val="2"/>
                <c:pt idx="0">
                  <c:v>červenec</c:v>
                </c:pt>
                <c:pt idx="1">
                  <c:v>srpen</c:v>
                </c:pt>
              </c:strCache>
            </c:strRef>
          </c:cat>
          <c:val>
            <c:numRef>
              <c:f>výsledek!$D$8:$E$8</c:f>
              <c:numCache>
                <c:formatCode>#,##0</c:formatCode>
                <c:ptCount val="2"/>
                <c:pt idx="0">
                  <c:v>9000</c:v>
                </c:pt>
                <c:pt idx="1">
                  <c:v>11000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8B5-462B-BA8B-1685C14619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pyramid"/>
        <c:axId val="151168000"/>
        <c:axId val="75798144"/>
        <c:axId val="45987072"/>
      </c:bar3DChart>
      <c:catAx>
        <c:axId val="15116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75798144"/>
        <c:crosses val="autoZero"/>
        <c:auto val="1"/>
        <c:lblAlgn val="ctr"/>
        <c:lblOffset val="100"/>
        <c:noMultiLvlLbl val="0"/>
      </c:catAx>
      <c:valAx>
        <c:axId val="75798144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crossAx val="151168000"/>
        <c:crosses val="autoZero"/>
        <c:crossBetween val="between"/>
      </c:valAx>
      <c:serAx>
        <c:axId val="45987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5">
            <a:solidFill>
              <a:srgbClr val="80808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cs-CZ"/>
          </a:p>
        </c:txPr>
        <c:crossAx val="75798144"/>
        <c:crosses val="autoZero"/>
        <c:tickLblSkip val="1"/>
        <c:tickMarkSkip val="1"/>
      </c:ser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6279674826471402"/>
          <c:y val="0.26215022002386207"/>
          <c:w val="0.37203239846654945"/>
          <c:h val="0.31800442582997657"/>
        </c:manualLayout>
      </c:layout>
      <c:overlay val="0"/>
    </c:legend>
    <c:plotVisOnly val="1"/>
    <c:dispBlanksAs val="gap"/>
    <c:showDLblsOverMax val="0"/>
  </c:chart>
  <c:spPr>
    <a:gradFill flip="none" rotWithShape="1">
      <a:gsLst>
        <a:gs pos="0">
          <a:srgbClr val="CBCBCB"/>
        </a:gs>
        <a:gs pos="13000">
          <a:srgbClr val="5F5F5F"/>
        </a:gs>
        <a:gs pos="21001">
          <a:srgbClr val="5F5F5F"/>
        </a:gs>
        <a:gs pos="63000">
          <a:srgbClr val="FFFFFF"/>
        </a:gs>
        <a:gs pos="67000">
          <a:srgbClr val="B2B2B2"/>
        </a:gs>
        <a:gs pos="69000">
          <a:srgbClr val="292929"/>
        </a:gs>
        <a:gs pos="82001">
          <a:srgbClr val="777777"/>
        </a:gs>
        <a:gs pos="100000">
          <a:srgbClr val="EAEAEA"/>
        </a:gs>
      </a:gsLst>
      <a:lin ang="13500000" scaled="0"/>
      <a:tileRect/>
    </a:gradFill>
    <a:ln>
      <a:solidFill>
        <a:schemeClr val="accent3">
          <a:lumMod val="50000"/>
        </a:schemeClr>
      </a:solidFill>
    </a:ln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0F644-8C3F-427F-A565-E301B03B4143}" type="datetimeFigureOut">
              <a:rPr lang="cs-CZ" smtClean="0"/>
              <a:t>04.05.2020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4FAC7-373E-49BA-93F6-0196466CA8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175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0EA3D-3C58-4EF1-859C-6AD72CC78455}" type="datetimeFigureOut">
              <a:rPr lang="cs-CZ" smtClean="0"/>
              <a:pPr/>
              <a:t>04.05.2020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F3394-C4F2-49DE-B09C-E4DB072ED21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0328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17" name="Podnadpis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30" name="Zástupný symbol pro datum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BA0A-3DED-47D5-82D5-18D7AD1C244D}" type="datetime1">
              <a:rPr lang="cs-CZ" smtClean="0"/>
              <a:pPr/>
              <a:t>04.05.2020</a:t>
            </a:fld>
            <a:endParaRPr lang="cs-CZ"/>
          </a:p>
        </p:txBody>
      </p:sp>
      <p:sp>
        <p:nvSpPr>
          <p:cNvPr id="19" name="Zástupný symbol pro zápatí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27" name="Zástupný symbol pro číslo snímk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29A08-BC94-4DB8-BAEC-EC13CF9F6F34}" type="datetime1">
              <a:rPr lang="cs-CZ" smtClean="0"/>
              <a:pPr/>
              <a:t>04.05.2020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1764-0EC3-4FAF-A14C-4F3EFC974819}" type="datetime1">
              <a:rPr lang="cs-CZ" smtClean="0"/>
              <a:pPr/>
              <a:t>04.05.2020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C7F09-B05E-487E-80F0-F1584F7D413C}" type="datetime1">
              <a:rPr lang="cs-CZ" smtClean="0"/>
              <a:pPr/>
              <a:t>04.05.2020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5B7D-167D-4772-81CD-9A24DB4A9637}" type="datetime1">
              <a:rPr lang="cs-CZ" smtClean="0"/>
              <a:pPr/>
              <a:t>04.05.2020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FFE18-C59E-4EF1-B222-3FD0126A7DB8}" type="datetime1">
              <a:rPr lang="cs-CZ" smtClean="0"/>
              <a:pPr/>
              <a:t>04.05.2020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BD00-EF0F-4CC0-8658-FAD32E5B1F42}" type="datetime1">
              <a:rPr lang="cs-CZ" smtClean="0"/>
              <a:pPr/>
              <a:t>04.05.2020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A8AF-1993-4059-94C3-73F25F6528D3}" type="datetime1">
              <a:rPr lang="cs-CZ" smtClean="0"/>
              <a:pPr/>
              <a:t>04.05.2020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s odříznutým a zakulaceným jedním rohem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Pravoúhlý trojúhelník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4CB2-9C08-4FB0-B44E-A794CFA75C04}" type="datetime1">
              <a:rPr lang="cs-CZ" smtClean="0"/>
              <a:pPr/>
              <a:t>04.05.2020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cs-CZ"/>
              <a:t>Klepnutím na ikonu přidáte obrázek.</a:t>
            </a:r>
            <a:endParaRPr kumimoji="0" lang="en-US" dirty="0"/>
          </a:p>
        </p:txBody>
      </p:sp>
      <p:sp>
        <p:nvSpPr>
          <p:cNvPr id="10" name="Volný tvar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Volný tvar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9AB4-5144-4349-8EDF-88163B02A1DE}" type="datetime1">
              <a:rPr lang="cs-CZ" smtClean="0"/>
              <a:pPr/>
              <a:t>04.05.2020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8331E-BA6D-4C8E-A94D-14C138C11BB4}" type="datetime1">
              <a:rPr lang="cs-CZ" smtClean="0"/>
              <a:pPr/>
              <a:t>04.05.2020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olný tvar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Volný tvar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Zástupný symbol pro nadpis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0" name="Zástupný symbol pro text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/>
              <a:t>Klepnutím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8C210A2-25DC-4152-9E52-E7A3E75225BF}" type="datetime1">
              <a:rPr lang="cs-CZ" smtClean="0"/>
              <a:pPr/>
              <a:t>04.05.2020</a:t>
            </a:fld>
            <a:endParaRPr lang="cs-CZ"/>
          </a:p>
        </p:txBody>
      </p:sp>
      <p:sp>
        <p:nvSpPr>
          <p:cNvPr id="22" name="Zástupný symbol pro zápatí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8" name="Zástupný symbol pro číslo snímku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  <p:grpSp>
        <p:nvGrpSpPr>
          <p:cNvPr id="2" name="Skupina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Volný tvar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Volný tvar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755576" y="1124744"/>
            <a:ext cx="8208912" cy="4896544"/>
          </a:xfrm>
        </p:spPr>
        <p:txBody>
          <a:bodyPr>
            <a:norm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cs-CZ" sz="60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reflection blurRad="12700" stA="28000" endPos="45000" dist="1000" dir="5400000" sy="-100000" algn="bl" rotWithShape="0"/>
                </a:effectLst>
                <a:ea typeface="Times New Roman"/>
              </a:rPr>
              <a:t>Průvodce Grafem</a:t>
            </a:r>
            <a:endParaRPr lang="cs-CZ" sz="6000" dirty="0">
              <a:ln/>
              <a:solidFill>
                <a:srgbClr val="00B050"/>
              </a:solidFill>
              <a:effectLst/>
            </a:endParaRPr>
          </a:p>
        </p:txBody>
      </p:sp>
      <p:pic>
        <p:nvPicPr>
          <p:cNvPr id="3" name="Obrázek 2"/>
          <p:cNvPicPr/>
          <p:nvPr/>
        </p:nvPicPr>
        <p:blipFill rotWithShape="1">
          <a:blip r:embed="rId2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60" t="68823" r="23895" b="15000"/>
          <a:stretch/>
        </p:blipFill>
        <p:spPr bwMode="auto">
          <a:xfrm>
            <a:off x="755576" y="930764"/>
            <a:ext cx="2160240" cy="22822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Obrázek 3"/>
          <p:cNvPicPr/>
          <p:nvPr/>
        </p:nvPicPr>
        <p:blipFill rotWithShape="1">
          <a:blip r:embed="rId3"/>
          <a:srcRect l="27233" t="4506" r="35169" b="86995"/>
          <a:stretch/>
        </p:blipFill>
        <p:spPr bwMode="auto">
          <a:xfrm rot="852604">
            <a:off x="2707196" y="2338369"/>
            <a:ext cx="5954286" cy="13891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ovéPole 1"/>
          <p:cNvSpPr txBox="1"/>
          <p:nvPr/>
        </p:nvSpPr>
        <p:spPr>
          <a:xfrm>
            <a:off x="4139952" y="6354178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cs-CZ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/>
              <a:t>Ing. Votavová Gabriela</a:t>
            </a:r>
          </a:p>
        </p:txBody>
      </p:sp>
    </p:spTree>
    <p:extLst>
      <p:ext uri="{BB962C8B-B14F-4D97-AF65-F5344CB8AC3E}">
        <p14:creationId xmlns:p14="http://schemas.microsoft.com/office/powerpoint/2010/main" val="417886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/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 l="22038" t="59331" r="17535" b="6401"/>
          <a:stretch/>
        </p:blipFill>
        <p:spPr bwMode="auto">
          <a:xfrm>
            <a:off x="3617894" y="5085184"/>
            <a:ext cx="3348372" cy="13961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Vložení grafu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Karta Vložení =&gt; sektor Grafy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4"/>
          <a:srcRect r="21090" b="66825"/>
          <a:stretch/>
        </p:blipFill>
        <p:spPr bwMode="auto">
          <a:xfrm>
            <a:off x="107504" y="2664777"/>
            <a:ext cx="5184576" cy="22043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Obrázek 5"/>
          <p:cNvPicPr/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l="22274" t="21326" r="16587" b="6401"/>
          <a:stretch/>
        </p:blipFill>
        <p:spPr bwMode="auto">
          <a:xfrm>
            <a:off x="5148064" y="1894760"/>
            <a:ext cx="3851920" cy="37444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1633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Minigrafy</a:t>
            </a:r>
            <a:r>
              <a:rPr lang="cs-CZ" dirty="0"/>
              <a:t>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Karta Vložení =&gt; sektor </a:t>
            </a:r>
            <a:r>
              <a:rPr lang="cs-CZ" dirty="0" err="1"/>
              <a:t>Minigrafy</a:t>
            </a:r>
            <a:endParaRPr lang="cs-CZ" dirty="0"/>
          </a:p>
          <a:p>
            <a:r>
              <a:rPr lang="cs-CZ" dirty="0"/>
              <a:t>Graf z jedné řady čísel do jedné buňky listu</a:t>
            </a:r>
          </a:p>
          <a:p>
            <a:r>
              <a:rPr lang="cs-CZ" dirty="0"/>
              <a:t>Užití pro zobrazení trendů v řadě hodnot nebo zobrazení nejvyšších a nejnižších dat z řady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3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r="-3" b="56818"/>
          <a:stretch/>
        </p:blipFill>
        <p:spPr bwMode="auto">
          <a:xfrm>
            <a:off x="521018" y="3789040"/>
            <a:ext cx="8064896" cy="29523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2645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Postup vložení grafu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cs-CZ" dirty="0"/>
              <a:t>Označit oblast dat v tabulce</a:t>
            </a:r>
          </a:p>
          <a:p>
            <a:pPr marL="514350" indent="-514350">
              <a:buFont typeface="+mj-lt"/>
              <a:buAutoNum type="arabicPeriod"/>
            </a:pPr>
            <a:r>
              <a:rPr lang="cs-CZ" dirty="0"/>
              <a:t>Vložit vybraný graf </a:t>
            </a:r>
          </a:p>
          <a:p>
            <a:pPr marL="514350" indent="-514350">
              <a:buFont typeface="+mj-lt"/>
              <a:buAutoNum type="arabicPeriod"/>
            </a:pPr>
            <a:r>
              <a:rPr lang="cs-CZ" dirty="0"/>
              <a:t>Nástroje grafu =&gt; další úpravy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4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r="35308" b="54978"/>
          <a:stretch/>
        </p:blipFill>
        <p:spPr bwMode="auto">
          <a:xfrm>
            <a:off x="539552" y="3573016"/>
            <a:ext cx="4176464" cy="3115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Obrázek 5"/>
          <p:cNvPicPr/>
          <p:nvPr/>
        </p:nvPicPr>
        <p:blipFill rotWithShape="1">
          <a:blip r:embed="rId3"/>
          <a:srcRect r="58057" b="33355"/>
          <a:stretch/>
        </p:blipFill>
        <p:spPr bwMode="auto">
          <a:xfrm>
            <a:off x="5364088" y="1844824"/>
            <a:ext cx="3672408" cy="43924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55646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Nástroje grafu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389120"/>
          </a:xfrm>
        </p:spPr>
        <p:txBody>
          <a:bodyPr/>
          <a:lstStyle/>
          <a:p>
            <a:r>
              <a:rPr lang="cs-CZ" dirty="0"/>
              <a:t>Karty umožňující dodatečnou úpravu grafů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5</a:t>
            </a:fld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C322240-5356-4711-BC0E-A54C35B84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3541"/>
            <a:ext cx="9144000" cy="10309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201CC864-B2FD-4374-B4E0-762E8640E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93096"/>
            <a:ext cx="9144000" cy="12020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1395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Nástroje grafu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61872"/>
          </a:xfrm>
        </p:spPr>
        <p:txBody>
          <a:bodyPr/>
          <a:lstStyle/>
          <a:p>
            <a:r>
              <a:rPr lang="cs-CZ" dirty="0"/>
              <a:t>Umožňuje formátování a dodatečné úpravy</a:t>
            </a:r>
          </a:p>
          <a:p>
            <a:pPr lvl="1"/>
            <a:r>
              <a:rPr lang="cs-CZ" dirty="0"/>
              <a:t>plocha grafu, jednotlivé stěny grafu</a:t>
            </a:r>
          </a:p>
          <a:p>
            <a:pPr lvl="1"/>
            <a:r>
              <a:rPr lang="cs-CZ" dirty="0"/>
              <a:t>popisky a vzhled os </a:t>
            </a:r>
          </a:p>
          <a:p>
            <a:pPr lvl="1"/>
            <a:r>
              <a:rPr lang="cs-CZ" dirty="0"/>
              <a:t>záměna sloupce za řádek</a:t>
            </a:r>
          </a:p>
          <a:p>
            <a:pPr lvl="1"/>
            <a:r>
              <a:rPr lang="cs-CZ" dirty="0"/>
              <a:t>změna oblasti dat</a:t>
            </a:r>
          </a:p>
          <a:p>
            <a:pPr lvl="1"/>
            <a:r>
              <a:rPr lang="cs-CZ" dirty="0"/>
              <a:t>styl grafu, prostorové otočení</a:t>
            </a:r>
          </a:p>
          <a:p>
            <a:pPr lvl="1"/>
            <a:r>
              <a:rPr lang="cs-CZ" dirty="0"/>
              <a:t>uspořádání objektů v grafu</a:t>
            </a:r>
          </a:p>
          <a:p>
            <a:pPr lvl="1"/>
            <a:r>
              <a:rPr lang="cs-CZ" dirty="0"/>
              <a:t>styly vložených obrazců</a:t>
            </a:r>
          </a:p>
          <a:p>
            <a:pPr lvl="1"/>
            <a:r>
              <a:rPr lang="cs-CZ" dirty="0"/>
              <a:t>styly použitého písma</a:t>
            </a:r>
          </a:p>
          <a:p>
            <a:pPr lvl="1"/>
            <a:r>
              <a:rPr lang="cs-CZ" dirty="0"/>
              <a:t>…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6</a:t>
            </a:fld>
            <a:endParaRPr lang="cs-CZ"/>
          </a:p>
        </p:txBody>
      </p:sp>
      <p:graphicFrame>
        <p:nvGraphicFramePr>
          <p:cNvPr id="5" name="Graf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9232419"/>
              </p:ext>
            </p:extLst>
          </p:nvPr>
        </p:nvGraphicFramePr>
        <p:xfrm>
          <a:off x="5220072" y="2924944"/>
          <a:ext cx="3829340" cy="3312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8046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Místní nabídka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Úprava grafu pomocí pravého tlačítka myši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7</a:t>
            </a:fld>
            <a:endParaRPr lang="cs-CZ"/>
          </a:p>
        </p:txBody>
      </p:sp>
      <p:pic>
        <p:nvPicPr>
          <p:cNvPr id="6" name="Obrázek 5"/>
          <p:cNvPicPr/>
          <p:nvPr/>
        </p:nvPicPr>
        <p:blipFill rotWithShape="1">
          <a:blip r:embed="rId2"/>
          <a:srcRect l="18009" t="32286" r="42654" b="22099"/>
          <a:stretch/>
        </p:blipFill>
        <p:spPr bwMode="auto">
          <a:xfrm>
            <a:off x="3923928" y="2636910"/>
            <a:ext cx="4464496" cy="40324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Obrázek 4"/>
          <p:cNvPicPr/>
          <p:nvPr/>
        </p:nvPicPr>
        <p:blipFill rotWithShape="1">
          <a:blip r:embed="rId3"/>
          <a:srcRect t="15402" r="58294" b="33947"/>
          <a:stretch/>
        </p:blipFill>
        <p:spPr bwMode="auto">
          <a:xfrm>
            <a:off x="395536" y="2475328"/>
            <a:ext cx="4104456" cy="41940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36149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Umístění grafu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389120"/>
          </a:xfrm>
        </p:spPr>
        <p:txBody>
          <a:bodyPr/>
          <a:lstStyle/>
          <a:p>
            <a:r>
              <a:rPr lang="cs-CZ" dirty="0"/>
              <a:t>Nástroje grafu =&gt; karta Návrh =&gt; sektor Umístění</a:t>
            </a:r>
          </a:p>
          <a:p>
            <a:r>
              <a:rPr lang="cs-CZ" dirty="0"/>
              <a:t>Možno přesunout graf =&gt; </a:t>
            </a:r>
          </a:p>
          <a:p>
            <a:pPr lvl="1"/>
            <a:r>
              <a:rPr lang="cs-CZ" dirty="0"/>
              <a:t>na nový list</a:t>
            </a:r>
          </a:p>
          <a:p>
            <a:pPr lvl="1"/>
            <a:r>
              <a:rPr lang="cs-CZ" dirty="0"/>
              <a:t>součást jiného listu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8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l="-1659" b="65048"/>
          <a:stretch/>
        </p:blipFill>
        <p:spPr bwMode="auto">
          <a:xfrm>
            <a:off x="431540" y="3717032"/>
            <a:ext cx="8280920" cy="30243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54875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cs-CZ" sz="4000" dirty="0"/>
              <a:t>Otázky na závěr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395536" y="2204864"/>
            <a:ext cx="8748464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Jaké typy grafů můžeme použít?</a:t>
            </a:r>
          </a:p>
          <a:p>
            <a:pPr>
              <a:lnSpc>
                <a:spcPct val="150000"/>
              </a:lnSpc>
            </a:pPr>
            <a:r>
              <a:rPr lang="cs-CZ" dirty="0"/>
              <a:t>Jak lze grafy upravovat?</a:t>
            </a:r>
          </a:p>
          <a:p>
            <a:pPr>
              <a:lnSpc>
                <a:spcPct val="150000"/>
              </a:lnSpc>
            </a:pPr>
            <a:r>
              <a:rPr lang="cs-CZ" dirty="0"/>
              <a:t>Co nabízí panely Nástroje grafu?</a:t>
            </a:r>
          </a:p>
          <a:p>
            <a:pPr>
              <a:lnSpc>
                <a:spcPct val="150000"/>
              </a:lnSpc>
            </a:pPr>
            <a:r>
              <a:rPr lang="cs-CZ" dirty="0"/>
              <a:t>Co je to </a:t>
            </a:r>
            <a:r>
              <a:rPr lang="cs-CZ" dirty="0" err="1"/>
              <a:t>Minigraf</a:t>
            </a:r>
            <a:r>
              <a:rPr lang="cs-CZ" dirty="0"/>
              <a:t>?</a:t>
            </a:r>
          </a:p>
          <a:p>
            <a:pPr>
              <a:lnSpc>
                <a:spcPct val="150000"/>
              </a:lnSpc>
            </a:pPr>
            <a:r>
              <a:rPr lang="cs-CZ" dirty="0"/>
              <a:t>Jak </a:t>
            </a:r>
            <a:r>
              <a:rPr lang="cs-CZ"/>
              <a:t>lze použít </a:t>
            </a:r>
            <a:r>
              <a:rPr lang="cs-CZ" dirty="0"/>
              <a:t>místní nabídku?</a:t>
            </a:r>
          </a:p>
          <a:p>
            <a:pPr>
              <a:lnSpc>
                <a:spcPct val="150000"/>
              </a:lnSpc>
            </a:pPr>
            <a:endParaRPr lang="cs-CZ" dirty="0"/>
          </a:p>
          <a:p>
            <a:pPr>
              <a:lnSpc>
                <a:spcPct val="150000"/>
              </a:lnSpc>
            </a:pPr>
            <a:endParaRPr lang="cs-CZ" dirty="0"/>
          </a:p>
          <a:p>
            <a:pPr>
              <a:lnSpc>
                <a:spcPct val="150000"/>
              </a:lnSpc>
            </a:pPr>
            <a:endParaRPr lang="cs-CZ" dirty="0"/>
          </a:p>
          <a:p>
            <a:pPr>
              <a:lnSpc>
                <a:spcPct val="150000"/>
              </a:lnSpc>
            </a:pPr>
            <a:endParaRPr lang="cs-CZ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632" y="5669647"/>
            <a:ext cx="652463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9</a:t>
            </a:fld>
            <a:endParaRPr lang="cs-CZ"/>
          </a:p>
        </p:txBody>
      </p:sp>
      <p:pic>
        <p:nvPicPr>
          <p:cNvPr id="1026" name="Picture 2" descr="C:\Users\Votavova\AppData\Local\Microsoft\Windows\Temporary Internet Files\Content.IE5\BLNF5947\MP900385548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89422" y="3801596"/>
            <a:ext cx="2028829" cy="28403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328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cs-CZ" sz="4000" dirty="0"/>
              <a:t>Zdroje</a:t>
            </a:r>
          </a:p>
        </p:txBody>
      </p:sp>
      <p:sp>
        <p:nvSpPr>
          <p:cNvPr id="2" name="Zástupný symbol pro obsah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NAVRÁTIL, Pavel. </a:t>
            </a:r>
            <a:r>
              <a:rPr lang="cs-CZ" i="1" dirty="0"/>
              <a:t>S počítačem nejen k maturitě - 1. díl</a:t>
            </a:r>
            <a:r>
              <a:rPr lang="cs-CZ" dirty="0"/>
              <a:t>. Olomouc: </a:t>
            </a:r>
            <a:r>
              <a:rPr lang="cs-CZ" dirty="0" err="1"/>
              <a:t>Computer</a:t>
            </a:r>
            <a:r>
              <a:rPr lang="cs-CZ" dirty="0"/>
              <a:t> Media, 2008. 120 s. ISBN 80-86686-60-4 </a:t>
            </a:r>
          </a:p>
          <a:p>
            <a:pPr>
              <a:lnSpc>
                <a:spcPct val="150000"/>
              </a:lnSpc>
            </a:pPr>
            <a:r>
              <a:rPr lang="cs-CZ" dirty="0"/>
              <a:t>Kliparty MS Office – office.microsoft.com</a:t>
            </a:r>
          </a:p>
          <a:p>
            <a:pPr>
              <a:lnSpc>
                <a:spcPct val="150000"/>
              </a:lnSpc>
            </a:pPr>
            <a:r>
              <a:rPr lang="cs-CZ"/>
              <a:t>MS Excel 2010</a:t>
            </a:r>
          </a:p>
          <a:p>
            <a:endParaRPr lang="cs-CZ" dirty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632" y="5669647"/>
            <a:ext cx="652463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10</a:t>
            </a:fld>
            <a:endParaRPr lang="cs-CZ"/>
          </a:p>
        </p:txBody>
      </p:sp>
      <p:pic>
        <p:nvPicPr>
          <p:cNvPr id="2053" name="Picture 5" descr="C:\Users\putovni\AppData\Local\Microsoft\Windows\Temporary Internet Files\Content.IE5\TU0352FH\MC900441521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4581128"/>
            <a:ext cx="1806575" cy="18637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655057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ok">
  <a:themeElements>
    <a:clrScheme name="Aerodynamik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Tok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ok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746E8B3FF2B2428A148D03C368DE4A" ma:contentTypeVersion="13" ma:contentTypeDescription="Vytvoří nový dokument" ma:contentTypeScope="" ma:versionID="9d94cbd9914ef4824ad723384dcde04a">
  <xsd:schema xmlns:xsd="http://www.w3.org/2001/XMLSchema" xmlns:xs="http://www.w3.org/2001/XMLSchema" xmlns:p="http://schemas.microsoft.com/office/2006/metadata/properties" xmlns:ns3="ea85f2e0-d32a-4312-be8a-c00aff2510cf" xmlns:ns4="c52afa11-cb76-49c2-a807-b2856752eead" targetNamespace="http://schemas.microsoft.com/office/2006/metadata/properties" ma:root="true" ma:fieldsID="f78cee60d32ecf43d3cd1d8f83bcfaea" ns3:_="" ns4:_="">
    <xsd:import namespace="ea85f2e0-d32a-4312-be8a-c00aff2510cf"/>
    <xsd:import namespace="c52afa11-cb76-49c2-a807-b2856752ee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85f2e0-d32a-4312-be8a-c00aff251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afa11-cb76-49c2-a807-b2856752ee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13F873-4EA3-4B32-92F3-25F87F8912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85f2e0-d32a-4312-be8a-c00aff2510cf"/>
    <ds:schemaRef ds:uri="c52afa11-cb76-49c2-a807-b2856752e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AABE43-2022-4FB8-9BDA-0B8225301B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CD1F97-2CD8-4ED3-92B7-EA330DDDBC61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c52afa11-cb76-49c2-a807-b2856752eead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ea85f2e0-d32a-4312-be8a-c00aff2510c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3260</TotalTime>
  <Words>215</Words>
  <Application>Microsoft Office PowerPoint</Application>
  <PresentationFormat>Předvádění na obrazovce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Constantia</vt:lpstr>
      <vt:lpstr>Wingdings 2</vt:lpstr>
      <vt:lpstr>Tok</vt:lpstr>
      <vt:lpstr>Průvodce Grafem</vt:lpstr>
      <vt:lpstr>Vložení grafu</vt:lpstr>
      <vt:lpstr>Minigrafy </vt:lpstr>
      <vt:lpstr>Postup vložení grafu</vt:lpstr>
      <vt:lpstr>Nástroje grafu</vt:lpstr>
      <vt:lpstr>Nástroje grafu</vt:lpstr>
      <vt:lpstr>Místní nabídka</vt:lpstr>
      <vt:lpstr>Umístění grafu</vt:lpstr>
      <vt:lpstr>Otázky na závěr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Počítačové síťě</dc:title>
  <dc:creator>Gabriela Votavová</dc:creator>
  <cp:lastModifiedBy>Votavová Gabriela</cp:lastModifiedBy>
  <cp:revision>266</cp:revision>
  <cp:lastPrinted>2013-11-15T13:03:35Z</cp:lastPrinted>
  <dcterms:created xsi:type="dcterms:W3CDTF">2009-11-23T15:00:52Z</dcterms:created>
  <dcterms:modified xsi:type="dcterms:W3CDTF">2020-05-04T14:38:19Z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0x01010019746E8B3FF2B2428A148D03C368DE4A</vt:lpwstr>
  </property>
</Properties>
</file>