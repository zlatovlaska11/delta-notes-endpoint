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87" r:id="rId2"/>
    <p:sldId id="291" r:id="rId3"/>
    <p:sldId id="309" r:id="rId4"/>
    <p:sldId id="319" r:id="rId5"/>
    <p:sldId id="300" r:id="rId6"/>
    <p:sldId id="312" r:id="rId7"/>
    <p:sldId id="313" r:id="rId8"/>
    <p:sldId id="316" r:id="rId9"/>
    <p:sldId id="315" r:id="rId10"/>
    <p:sldId id="314" r:id="rId11"/>
    <p:sldId id="317" r:id="rId12"/>
    <p:sldId id="318" r:id="rId13"/>
    <p:sldId id="288" r:id="rId14"/>
    <p:sldId id="289" r:id="rId1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0EA3D-3C58-4EF1-859C-6AD72CC78455}" type="datetimeFigureOut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F3394-C4F2-49DE-B09C-E4DB072ED21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3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BA0A-3DED-47D5-82D5-18D7AD1C244D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9A08-BC94-4DB8-BAEC-EC13CF9F6F3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1764-0EC3-4FAF-A14C-4F3EFC974819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7F09-B05E-487E-80F0-F1584F7D413C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5B7D-167D-4772-81CD-9A24DB4A9637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FFE18-C59E-4EF1-B222-3FD0126A7DB8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BD00-EF0F-4CC0-8658-FAD32E5B1F42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A8AF-1993-4059-94C3-73F25F6528D3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4CB2-9C08-4FB0-B44E-A794CFA75C0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9AB4-5144-4349-8EDF-88163B02A1DE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8331E-BA6D-4C8E-A94D-14C138C11BB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8C210A2-25DC-4152-9E52-E7A3E75225BF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331640" y="2852936"/>
            <a:ext cx="7632848" cy="1445546"/>
          </a:xfrm>
        </p:spPr>
        <p:txBody>
          <a:bodyPr>
            <a:normAutofit/>
          </a:bodyPr>
          <a:lstStyle/>
          <a:p>
            <a: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  <a:t>FORMÁTOVÁNÍ BUNĚK</a:t>
            </a:r>
            <a:endParaRPr lang="cs-CZ" sz="5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" name="Obrázek 2"/>
          <p:cNvPicPr/>
          <p:nvPr/>
        </p:nvPicPr>
        <p:blipFill rotWithShape="1"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0" t="68823" r="23895" b="15000"/>
          <a:stretch/>
        </p:blipFill>
        <p:spPr bwMode="auto">
          <a:xfrm>
            <a:off x="683568" y="836712"/>
            <a:ext cx="2160240" cy="24482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ovéPole 1"/>
          <p:cNvSpPr txBox="1"/>
          <p:nvPr/>
        </p:nvSpPr>
        <p:spPr>
          <a:xfrm>
            <a:off x="4139952" y="6354178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smtClean="0"/>
              <a:t>Ing. Votavová Gabriela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17886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Adresa buňky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Každá </a:t>
            </a:r>
            <a:r>
              <a:rPr lang="cs-CZ" dirty="0"/>
              <a:t>buňka </a:t>
            </a:r>
            <a:r>
              <a:rPr lang="cs-CZ" dirty="0" smtClean="0"/>
              <a:t>má unikátní adresu</a:t>
            </a:r>
          </a:p>
          <a:p>
            <a:r>
              <a:rPr lang="cs-CZ" dirty="0" smtClean="0"/>
              <a:t>Excel obsahuje přibližně 60 000 řádků ~ </a:t>
            </a:r>
            <a:r>
              <a:rPr lang="cs-CZ" i="1" dirty="0" smtClean="0"/>
              <a:t>označeny číslem</a:t>
            </a:r>
            <a:r>
              <a:rPr lang="cs-CZ" dirty="0" smtClean="0"/>
              <a:t> a 250 sloupců ~ </a:t>
            </a:r>
            <a:r>
              <a:rPr lang="cs-CZ" i="1" dirty="0" smtClean="0"/>
              <a:t>označeny písmenem</a:t>
            </a:r>
            <a:endParaRPr lang="cs-CZ" dirty="0" smtClean="0"/>
          </a:p>
          <a:p>
            <a:pPr lvl="1"/>
            <a:r>
              <a:rPr lang="cs-CZ" dirty="0" smtClean="0"/>
              <a:t>Příklad aktivní buňky </a:t>
            </a:r>
            <a:r>
              <a:rPr lang="cs-CZ" b="1" dirty="0" smtClean="0"/>
              <a:t>B</a:t>
            </a:r>
            <a:r>
              <a:rPr lang="cs-CZ" sz="3400" dirty="0" smtClean="0"/>
              <a:t>2</a:t>
            </a:r>
            <a:endParaRPr lang="cs-CZ" sz="3400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</a:t>
            </a:fld>
            <a:endParaRPr lang="cs-CZ"/>
          </a:p>
        </p:txBody>
      </p:sp>
      <p:pic>
        <p:nvPicPr>
          <p:cNvPr id="6" name="Obrázek 5"/>
          <p:cNvPicPr/>
          <p:nvPr/>
        </p:nvPicPr>
        <p:blipFill rotWithShape="1">
          <a:blip r:embed="rId2" cstate="print"/>
          <a:srcRect r="78308" b="66667"/>
          <a:stretch/>
        </p:blipFill>
        <p:spPr bwMode="auto">
          <a:xfrm>
            <a:off x="4788024" y="3284984"/>
            <a:ext cx="4176464" cy="3312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783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Buňka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4100" b="43593"/>
          <a:stretch/>
        </p:blipFill>
        <p:spPr bwMode="auto">
          <a:xfrm>
            <a:off x="169667" y="3449287"/>
            <a:ext cx="4762373" cy="3292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altLang="cs-CZ" dirty="0" smtClean="0"/>
              <a:t>Číslo – automaticky zarovnávané  vpravo</a:t>
            </a:r>
            <a:endParaRPr lang="cs-CZ" altLang="cs-CZ" dirty="0"/>
          </a:p>
          <a:p>
            <a:r>
              <a:rPr lang="cs-CZ" altLang="cs-CZ" dirty="0" smtClean="0"/>
              <a:t>Text – automaticky zarovnávaný  vlevo</a:t>
            </a:r>
            <a:endParaRPr lang="cs-CZ" altLang="cs-CZ" dirty="0"/>
          </a:p>
          <a:p>
            <a:r>
              <a:rPr lang="cs-CZ" altLang="cs-CZ" dirty="0" smtClean="0"/>
              <a:t>Vzorec – začíná znakem = , výsledek je číslo (vpravo)</a:t>
            </a:r>
          </a:p>
          <a:p>
            <a:pPr lvl="1">
              <a:buNone/>
            </a:pPr>
            <a:r>
              <a:rPr lang="cs-CZ" altLang="cs-CZ" dirty="0" smtClean="0"/>
              <a:t>                                                           </a:t>
            </a:r>
            <a:r>
              <a:rPr lang="cs-CZ" altLang="cs-CZ" i="1" dirty="0" smtClean="0"/>
              <a:t>Řádek vzorců</a:t>
            </a:r>
          </a:p>
          <a:p>
            <a:endParaRPr lang="cs-CZ" altLang="cs-CZ" dirty="0"/>
          </a:p>
          <a:p>
            <a:pPr marL="0" indent="0">
              <a:buNone/>
            </a:pPr>
            <a:endParaRPr lang="cs-CZ" altLang="cs-CZ" dirty="0"/>
          </a:p>
        </p:txBody>
      </p:sp>
      <p:pic>
        <p:nvPicPr>
          <p:cNvPr id="6" name="Obrázek 5"/>
          <p:cNvPicPr/>
          <p:nvPr/>
        </p:nvPicPr>
        <p:blipFill>
          <a:blip r:embed="rId3" cstate="print"/>
          <a:srcRect r="72977" b="59388"/>
          <a:stretch>
            <a:fillRect/>
          </a:stretch>
        </p:blipFill>
        <p:spPr bwMode="auto">
          <a:xfrm>
            <a:off x="5436096" y="3933056"/>
            <a:ext cx="3024336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Přímá spojnice se šipkou 19"/>
          <p:cNvCxnSpPr/>
          <p:nvPr/>
        </p:nvCxnSpPr>
        <p:spPr>
          <a:xfrm>
            <a:off x="6876256" y="3717032"/>
            <a:ext cx="864096" cy="136815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40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/>
          <p:cNvPicPr/>
          <p:nvPr/>
        </p:nvPicPr>
        <p:blipFill rotWithShape="1">
          <a:blip r:embed="rId2"/>
          <a:srcRect b="4440"/>
          <a:stretch/>
        </p:blipFill>
        <p:spPr>
          <a:xfrm>
            <a:off x="251520" y="2348880"/>
            <a:ext cx="8712968" cy="4048792"/>
          </a:xfrm>
          <a:prstGeom prst="rect">
            <a:avLst/>
          </a:prstGeom>
        </p:spPr>
      </p:pic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Formátování buněk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cs-CZ" altLang="cs-CZ" dirty="0" smtClean="0"/>
              <a:t>Karta Domů =&gt; sektor Buňky =&gt; Formát buněk</a:t>
            </a:r>
          </a:p>
          <a:p>
            <a:pPr>
              <a:lnSpc>
                <a:spcPct val="90000"/>
              </a:lnSpc>
            </a:pPr>
            <a:endParaRPr lang="cs-CZ" altLang="cs-CZ" dirty="0"/>
          </a:p>
          <a:p>
            <a:pPr>
              <a:lnSpc>
                <a:spcPct val="90000"/>
              </a:lnSpc>
            </a:pPr>
            <a:endParaRPr lang="cs-CZ" altLang="cs-CZ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cs-CZ" altLang="cs-CZ" dirty="0"/>
              <a:t>	</a:t>
            </a:r>
            <a:endParaRPr lang="cs-CZ" altLang="cs-CZ" dirty="0" smtClean="0"/>
          </a:p>
          <a:p>
            <a:pPr>
              <a:lnSpc>
                <a:spcPct val="90000"/>
              </a:lnSpc>
            </a:pPr>
            <a:endParaRPr lang="cs-CZ" altLang="cs-CZ" dirty="0"/>
          </a:p>
        </p:txBody>
      </p:sp>
      <p:sp>
        <p:nvSpPr>
          <p:cNvPr id="2" name="Zástupný symbol pro číslo snímk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4</a:t>
            </a:fld>
            <a:endParaRPr lang="cs-CZ"/>
          </a:p>
        </p:txBody>
      </p:sp>
      <p:pic>
        <p:nvPicPr>
          <p:cNvPr id="15" name="Obrázek 14"/>
          <p:cNvPicPr/>
          <p:nvPr/>
        </p:nvPicPr>
        <p:blipFill rotWithShape="1">
          <a:blip r:embed="rId2"/>
          <a:srcRect l="70865" t="5334" r="14683" b="46312"/>
          <a:stretch/>
        </p:blipFill>
        <p:spPr>
          <a:xfrm>
            <a:off x="4297680" y="3465004"/>
            <a:ext cx="1833489" cy="3392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Přímá spojnice se šipkou 10"/>
          <p:cNvCxnSpPr/>
          <p:nvPr/>
        </p:nvCxnSpPr>
        <p:spPr>
          <a:xfrm flipH="1">
            <a:off x="5508104" y="4509120"/>
            <a:ext cx="1944216" cy="2206037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Přímá spojnice se šipkou 3"/>
          <p:cNvCxnSpPr/>
          <p:nvPr/>
        </p:nvCxnSpPr>
        <p:spPr>
          <a:xfrm flipH="1">
            <a:off x="4395956" y="2636912"/>
            <a:ext cx="2016224" cy="828092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Přímá spojnice se šipkou 19"/>
          <p:cNvCxnSpPr/>
          <p:nvPr/>
        </p:nvCxnSpPr>
        <p:spPr>
          <a:xfrm flipH="1" flipV="1">
            <a:off x="2321750" y="6031339"/>
            <a:ext cx="1332148" cy="6349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9" name="Obrázek 18"/>
          <p:cNvPicPr/>
          <p:nvPr/>
        </p:nvPicPr>
        <p:blipFill rotWithShape="1">
          <a:blip r:embed="rId3" cstate="print"/>
          <a:srcRect l="39927" t="26927" r="31175" b="29413"/>
          <a:stretch/>
        </p:blipFill>
        <p:spPr bwMode="auto">
          <a:xfrm>
            <a:off x="107504" y="3090816"/>
            <a:ext cx="3732662" cy="36668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526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Formátování buněk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35480"/>
            <a:ext cx="8229600" cy="487789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endParaRPr lang="cs-CZ" altLang="cs-CZ" sz="4200" dirty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endParaRPr lang="cs-CZ" altLang="cs-CZ" sz="4200" dirty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r>
              <a:rPr lang="cs-CZ" altLang="cs-CZ" sz="4200" dirty="0" smtClean="0"/>
              <a:t>Karta Domů a jednotlivé </a:t>
            </a:r>
            <a:r>
              <a:rPr lang="cs-CZ" altLang="cs-CZ" sz="4200" dirty="0" smtClean="0"/>
              <a:t>sektory</a:t>
            </a:r>
            <a:endParaRPr lang="cs-CZ" altLang="cs-CZ" sz="4200" dirty="0" smtClean="0"/>
          </a:p>
          <a:p>
            <a:pPr lvl="1">
              <a:lnSpc>
                <a:spcPct val="120000"/>
              </a:lnSpc>
            </a:pPr>
            <a:r>
              <a:rPr lang="cs-CZ" altLang="cs-CZ" sz="3600" dirty="0" smtClean="0"/>
              <a:t>Schránka – kopírování a přesouvání obsahu buněk</a:t>
            </a:r>
          </a:p>
          <a:p>
            <a:pPr lvl="1">
              <a:lnSpc>
                <a:spcPct val="120000"/>
              </a:lnSpc>
            </a:pPr>
            <a:r>
              <a:rPr lang="cs-CZ" altLang="cs-CZ" sz="3600" dirty="0" smtClean="0"/>
              <a:t>Písmo – typ, řez, velikost, barva a ohraničení</a:t>
            </a:r>
          </a:p>
          <a:p>
            <a:pPr lvl="1">
              <a:lnSpc>
                <a:spcPct val="120000"/>
              </a:lnSpc>
            </a:pPr>
            <a:r>
              <a:rPr lang="cs-CZ" altLang="cs-CZ" sz="3600" dirty="0" smtClean="0"/>
              <a:t>Zarovnání – horizontálně, vertikálně, sloučení buněk</a:t>
            </a:r>
          </a:p>
          <a:p>
            <a:pPr lvl="1">
              <a:lnSpc>
                <a:spcPct val="120000"/>
              </a:lnSpc>
            </a:pPr>
            <a:r>
              <a:rPr lang="cs-CZ" altLang="cs-CZ" sz="3600" dirty="0" smtClean="0"/>
              <a:t>Číslo – zvolit formát čísla, desetinná místa</a:t>
            </a:r>
          </a:p>
        </p:txBody>
      </p:sp>
      <p:sp>
        <p:nvSpPr>
          <p:cNvPr id="2" name="Zástupný symbol pro číslo snímk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00" b="82816"/>
          <a:stretch/>
        </p:blipFill>
        <p:spPr bwMode="auto">
          <a:xfrm>
            <a:off x="339988" y="1988840"/>
            <a:ext cx="8464024" cy="1872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70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Formátování buněk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endParaRPr lang="cs-CZ" altLang="cs-CZ" sz="4200" dirty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endParaRPr lang="cs-CZ" altLang="cs-CZ" sz="4200" dirty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endParaRPr lang="cs-CZ" altLang="cs-CZ" sz="4200" dirty="0" smtClean="0"/>
          </a:p>
          <a:p>
            <a:pPr>
              <a:lnSpc>
                <a:spcPct val="90000"/>
              </a:lnSpc>
            </a:pPr>
            <a:r>
              <a:rPr lang="cs-CZ" altLang="cs-CZ" sz="3700" dirty="0" smtClean="0"/>
              <a:t>Karta Domů a jednotlivé </a:t>
            </a:r>
            <a:r>
              <a:rPr lang="cs-CZ" altLang="cs-CZ" sz="3700" dirty="0" smtClean="0"/>
              <a:t>sektory</a:t>
            </a:r>
            <a:endParaRPr lang="cs-CZ" altLang="cs-CZ" sz="3700" dirty="0" smtClean="0"/>
          </a:p>
          <a:p>
            <a:pPr lvl="1">
              <a:lnSpc>
                <a:spcPct val="120000"/>
              </a:lnSpc>
            </a:pPr>
            <a:r>
              <a:rPr lang="cs-CZ" altLang="cs-CZ" sz="3200" dirty="0" smtClean="0"/>
              <a:t>Styly – předvolený formát, podmíněné formátování</a:t>
            </a:r>
          </a:p>
          <a:p>
            <a:pPr lvl="1">
              <a:lnSpc>
                <a:spcPct val="120000"/>
              </a:lnSpc>
            </a:pPr>
            <a:r>
              <a:rPr lang="cs-CZ" altLang="cs-CZ" sz="3200" dirty="0" smtClean="0"/>
              <a:t>Buňky – vložit, odstranit formát buňky</a:t>
            </a:r>
          </a:p>
          <a:p>
            <a:pPr lvl="1">
              <a:lnSpc>
                <a:spcPct val="120000"/>
              </a:lnSpc>
            </a:pPr>
            <a:r>
              <a:rPr lang="cs-CZ" altLang="cs-CZ" sz="3200" dirty="0" smtClean="0"/>
              <a:t>Úpravy – seřadit, odstranit formát</a:t>
            </a:r>
          </a:p>
          <a:p>
            <a:pPr lvl="1">
              <a:lnSpc>
                <a:spcPct val="120000"/>
              </a:lnSpc>
            </a:pPr>
            <a:r>
              <a:rPr lang="cs-CZ" altLang="cs-CZ" sz="3200" dirty="0" smtClean="0"/>
              <a:t>Soukromí – bezpečnost souboru</a:t>
            </a:r>
          </a:p>
        </p:txBody>
      </p:sp>
      <p:sp>
        <p:nvSpPr>
          <p:cNvPr id="2" name="Zástupný symbol pro číslo snímk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6</a:t>
            </a:fld>
            <a:endParaRPr lang="cs-CZ"/>
          </a:p>
        </p:txBody>
      </p:sp>
      <p:pic>
        <p:nvPicPr>
          <p:cNvPr id="6" name="Obrázek 5"/>
          <p:cNvPicPr/>
          <p:nvPr/>
        </p:nvPicPr>
        <p:blipFill rotWithShape="1">
          <a:blip r:embed="rId2"/>
          <a:srcRect l="42262" b="76015"/>
          <a:stretch/>
        </p:blipFill>
        <p:spPr bwMode="auto">
          <a:xfrm>
            <a:off x="76334" y="1916832"/>
            <a:ext cx="8960161" cy="1944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5470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Vložení obsahu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Pouhým psaním do příslušné buňky</a:t>
            </a:r>
          </a:p>
          <a:p>
            <a:r>
              <a:rPr lang="cs-CZ" dirty="0" smtClean="0"/>
              <a:t>Použitím klávesových zkratek (Ctrl + C =&gt; Ctrl + V)</a:t>
            </a:r>
          </a:p>
          <a:p>
            <a:r>
              <a:rPr lang="cs-CZ" dirty="0" smtClean="0"/>
              <a:t>Obsah potvrzujeme klávesou Enter</a:t>
            </a:r>
          </a:p>
          <a:p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  <p:pic>
        <p:nvPicPr>
          <p:cNvPr id="5" name="Obrázek 4"/>
          <p:cNvPicPr/>
          <p:nvPr/>
        </p:nvPicPr>
        <p:blipFill rotWithShape="1">
          <a:blip r:embed="rId2" cstate="print"/>
          <a:srcRect t="1" r="64328" b="57682"/>
          <a:stretch/>
        </p:blipFill>
        <p:spPr bwMode="auto">
          <a:xfrm>
            <a:off x="4355976" y="3356992"/>
            <a:ext cx="4536504" cy="3112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/>
          <p:nvPr/>
        </p:nvPicPr>
        <p:blipFill rotWithShape="1">
          <a:blip r:embed="rId2" cstate="print"/>
          <a:srcRect t="18639" r="59451" b="33784"/>
          <a:stretch/>
        </p:blipFill>
        <p:spPr bwMode="auto">
          <a:xfrm>
            <a:off x="4572000" y="2852936"/>
            <a:ext cx="4572000" cy="3662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Automatický text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Dny v týdnu, názvy měsíců</a:t>
            </a:r>
          </a:p>
          <a:p>
            <a:r>
              <a:rPr lang="cs-CZ" dirty="0" smtClean="0"/>
              <a:t>Řada čísel s daným krokem</a:t>
            </a:r>
          </a:p>
          <a:p>
            <a:endParaRPr lang="cs-CZ" dirty="0" smtClean="0"/>
          </a:p>
          <a:p>
            <a:r>
              <a:rPr lang="cs-CZ" dirty="0" smtClean="0">
                <a:solidFill>
                  <a:srgbClr val="92D050"/>
                </a:solidFill>
              </a:rPr>
              <a:t>Postup: </a:t>
            </a:r>
            <a:r>
              <a:rPr lang="cs-CZ" dirty="0" smtClean="0"/>
              <a:t>vložit  </a:t>
            </a:r>
            <a:r>
              <a:rPr lang="cs-CZ" dirty="0" smtClean="0"/>
              <a:t>obsah, </a:t>
            </a:r>
          </a:p>
          <a:p>
            <a:pPr>
              <a:buNone/>
            </a:pPr>
            <a:r>
              <a:rPr lang="cs-CZ" dirty="0" smtClean="0"/>
              <a:t>potvrdit obsah a roztáhnout</a:t>
            </a:r>
          </a:p>
          <a:p>
            <a:pPr>
              <a:buNone/>
            </a:pPr>
            <a:r>
              <a:rPr lang="cs-CZ" dirty="0" smtClean="0"/>
              <a:t>za pravý dolní roh buňky</a:t>
            </a:r>
          </a:p>
          <a:p>
            <a:pPr>
              <a:buNone/>
            </a:pP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Velikost buňky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Karta Domů =&gt; sektor Buňka =&gt;</a:t>
            </a:r>
          </a:p>
          <a:p>
            <a:pPr lvl="1">
              <a:buNone/>
            </a:pPr>
            <a:r>
              <a:rPr lang="cs-CZ" sz="2600" dirty="0" smtClean="0"/>
              <a:t>=&gt; Nabídka Formát</a:t>
            </a:r>
          </a:p>
          <a:p>
            <a:pPr lvl="1"/>
            <a:endParaRPr lang="cs-CZ" dirty="0" smtClean="0"/>
          </a:p>
          <a:p>
            <a:pPr lvl="1"/>
            <a:r>
              <a:rPr lang="cs-CZ" dirty="0" smtClean="0"/>
              <a:t>Výška a šířka buňky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 cstate="print"/>
          <a:srcRect l="56201" t="7014" r="26751" b="35609"/>
          <a:stretch/>
        </p:blipFill>
        <p:spPr bwMode="auto">
          <a:xfrm>
            <a:off x="5724128" y="1052736"/>
            <a:ext cx="2748860" cy="5616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Šířka sloupce a výška řádku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Kurzor myši na rozhraní ~ čáru mezi názvy řádků x sloupců =&gt; změna kurzoru na oboustrannou šipku</a:t>
            </a:r>
          </a:p>
          <a:p>
            <a:r>
              <a:rPr lang="cs-CZ" dirty="0" smtClean="0"/>
              <a:t>Roztáhnout myší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>
          <a:blip r:embed="rId2" cstate="print"/>
          <a:srcRect t="19008" r="67233" b="32824"/>
          <a:stretch>
            <a:fillRect/>
          </a:stretch>
        </p:blipFill>
        <p:spPr bwMode="auto">
          <a:xfrm>
            <a:off x="4427984" y="2924944"/>
            <a:ext cx="4392488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Obrázek 8"/>
          <p:cNvPicPr/>
          <p:nvPr/>
        </p:nvPicPr>
        <p:blipFill>
          <a:blip r:embed="rId3" cstate="print"/>
          <a:srcRect l="14153" t="51860" r="81966" b="40758"/>
          <a:stretch>
            <a:fillRect/>
          </a:stretch>
        </p:blipFill>
        <p:spPr bwMode="auto">
          <a:xfrm>
            <a:off x="4459904" y="3309470"/>
            <a:ext cx="224192" cy="239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Obrázek 9"/>
          <p:cNvPicPr/>
          <p:nvPr/>
        </p:nvPicPr>
        <p:blipFill>
          <a:blip r:embed="rId3" cstate="print"/>
          <a:srcRect l="14153" t="51860" r="81966" b="40758"/>
          <a:stretch>
            <a:fillRect/>
          </a:stretch>
        </p:blipFill>
        <p:spPr bwMode="auto">
          <a:xfrm>
            <a:off x="8172400" y="2204864"/>
            <a:ext cx="576064" cy="59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Ohraničení buňky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Karta Domů =&gt; sektor Písmo =&gt;</a:t>
            </a:r>
          </a:p>
          <a:p>
            <a:pPr>
              <a:buNone/>
            </a:pPr>
            <a:r>
              <a:rPr lang="cs-CZ" dirty="0" smtClean="0"/>
              <a:t>ikona Ohraničení</a:t>
            </a:r>
          </a:p>
          <a:p>
            <a:pPr>
              <a:buNone/>
            </a:pPr>
            <a:endParaRPr lang="cs-CZ" dirty="0" smtClean="0"/>
          </a:p>
          <a:p>
            <a:r>
              <a:rPr lang="cs-CZ" dirty="0" smtClean="0"/>
              <a:t>Nebo</a:t>
            </a:r>
          </a:p>
          <a:p>
            <a:pPr>
              <a:buNone/>
            </a:pPr>
            <a:r>
              <a:rPr lang="cs-CZ" dirty="0" smtClean="0"/>
              <a:t>dialogové okno  </a:t>
            </a:r>
          </a:p>
          <a:p>
            <a:pPr>
              <a:buNone/>
            </a:pPr>
            <a:r>
              <a:rPr lang="cs-CZ" dirty="0" smtClean="0"/>
              <a:t>Formát buněk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>
          <a:blip r:embed="rId2" cstate="print"/>
          <a:srcRect r="71383" b="22861"/>
          <a:stretch>
            <a:fillRect/>
          </a:stretch>
        </p:blipFill>
        <p:spPr bwMode="auto">
          <a:xfrm>
            <a:off x="5436096" y="980728"/>
            <a:ext cx="3488489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Obrázek 5"/>
          <p:cNvPicPr/>
          <p:nvPr/>
        </p:nvPicPr>
        <p:blipFill>
          <a:blip r:embed="rId3" cstate="print"/>
          <a:srcRect l="12036" t="11800" r="85246" b="84922"/>
          <a:stretch>
            <a:fillRect/>
          </a:stretch>
        </p:blipFill>
        <p:spPr bwMode="auto">
          <a:xfrm>
            <a:off x="3203848" y="2420888"/>
            <a:ext cx="864096" cy="576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Obrázek 7"/>
          <p:cNvPicPr/>
          <p:nvPr/>
        </p:nvPicPr>
        <p:blipFill>
          <a:blip r:embed="rId4" cstate="print"/>
          <a:srcRect l="41769" t="25651" r="16393" b="11791"/>
          <a:stretch>
            <a:fillRect/>
          </a:stretch>
        </p:blipFill>
        <p:spPr bwMode="auto">
          <a:xfrm>
            <a:off x="2771800" y="3140968"/>
            <a:ext cx="3600400" cy="36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Ohraničení buňky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Postup</a:t>
            </a:r>
            <a:endParaRPr lang="cs-CZ" dirty="0" smtClean="0"/>
          </a:p>
          <a:p>
            <a:pPr marL="850392" lvl="1" indent="-457200">
              <a:buFont typeface="+mj-lt"/>
              <a:buAutoNum type="arabicParenR"/>
            </a:pPr>
            <a:r>
              <a:rPr lang="cs-CZ" dirty="0" smtClean="0"/>
              <a:t>Typ čáry</a:t>
            </a:r>
          </a:p>
          <a:p>
            <a:pPr marL="850392" lvl="1" indent="-457200">
              <a:buFont typeface="+mj-lt"/>
              <a:buAutoNum type="arabicParenR"/>
            </a:pPr>
            <a:r>
              <a:rPr lang="cs-CZ" dirty="0" smtClean="0"/>
              <a:t>Barva čáry</a:t>
            </a:r>
          </a:p>
          <a:p>
            <a:pPr marL="850392" lvl="1" indent="-457200">
              <a:buFont typeface="+mj-lt"/>
              <a:buAutoNum type="arabicParenR"/>
            </a:pPr>
            <a:r>
              <a:rPr lang="cs-CZ" dirty="0" smtClean="0"/>
              <a:t>Umístění čáry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7" name="Obrázek 6"/>
          <p:cNvPicPr/>
          <p:nvPr/>
        </p:nvPicPr>
        <p:blipFill>
          <a:blip r:embed="rId2" cstate="print"/>
          <a:srcRect l="42084" t="25097" r="16417" b="11053"/>
          <a:stretch>
            <a:fillRect/>
          </a:stretch>
        </p:blipFill>
        <p:spPr bwMode="auto">
          <a:xfrm>
            <a:off x="4499992" y="1891015"/>
            <a:ext cx="4176464" cy="3770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Obrázek 4"/>
          <p:cNvPicPr/>
          <p:nvPr/>
        </p:nvPicPr>
        <p:blipFill>
          <a:blip r:embed="rId3" cstate="print"/>
          <a:srcRect t="30265" r="60074" b="18433"/>
          <a:stretch>
            <a:fillRect/>
          </a:stretch>
        </p:blipFill>
        <p:spPr bwMode="auto">
          <a:xfrm>
            <a:off x="1115616" y="4005064"/>
            <a:ext cx="4104456" cy="2780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Otázky na závěr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95536" y="2204864"/>
            <a:ext cx="842493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 smtClean="0"/>
              <a:t>Jak lze formátovat obsah buňky?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Jakým způsobem ohraničíme buňku?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Jakým způsobem lze otevřít dialogové okno Formát buněk?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Popiš možné úpravy šířky sloupce.</a:t>
            </a: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/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1026" name="Picture 2" descr="C:\Users\Votavova\AppData\Local\Microsoft\Windows\Temporary Internet Files\Content.IE5\BLNF5947\MC900332534[1].wmf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123" y="4509120"/>
            <a:ext cx="1800454" cy="146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Zdroje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>
                <a:solidFill>
                  <a:schemeClr val="tx1"/>
                </a:solidFill>
              </a:rPr>
              <a:t>NAVRÁTIL, Pavel. </a:t>
            </a:r>
            <a:r>
              <a:rPr lang="cs-CZ" i="1" dirty="0">
                <a:solidFill>
                  <a:schemeClr val="tx1"/>
                </a:solidFill>
              </a:rPr>
              <a:t>S počítačem nejen k maturitě - 1. díl</a:t>
            </a:r>
            <a:r>
              <a:rPr lang="cs-CZ" dirty="0">
                <a:solidFill>
                  <a:schemeClr val="tx1"/>
                </a:solidFill>
              </a:rPr>
              <a:t>. Olomouc: </a:t>
            </a:r>
            <a:r>
              <a:rPr lang="cs-CZ" dirty="0" err="1">
                <a:solidFill>
                  <a:schemeClr val="tx1"/>
                </a:solidFill>
              </a:rPr>
              <a:t>Computer</a:t>
            </a:r>
            <a:r>
              <a:rPr lang="cs-CZ" dirty="0">
                <a:solidFill>
                  <a:schemeClr val="tx1"/>
                </a:solidFill>
              </a:rPr>
              <a:t> Media, 2008. 120 s. ISBN 80-86686-60-4 </a:t>
            </a:r>
          </a:p>
          <a:p>
            <a:pPr>
              <a:lnSpc>
                <a:spcPct val="150000"/>
              </a:lnSpc>
            </a:pPr>
            <a:r>
              <a:rPr lang="cs-CZ" dirty="0" smtClean="0">
                <a:solidFill>
                  <a:schemeClr val="tx1"/>
                </a:solidFill>
              </a:rPr>
              <a:t>Kliparty </a:t>
            </a:r>
            <a:r>
              <a:rPr lang="cs-CZ" dirty="0">
                <a:solidFill>
                  <a:schemeClr val="tx1"/>
                </a:solidFill>
              </a:rPr>
              <a:t>MS Office – </a:t>
            </a:r>
            <a:r>
              <a:rPr lang="cs-CZ" dirty="0" smtClean="0">
                <a:solidFill>
                  <a:schemeClr val="tx1"/>
                </a:solidFill>
              </a:rPr>
              <a:t>office.microsoft.com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MS Excel 2010</a:t>
            </a:r>
            <a:endParaRPr lang="cs-CZ" dirty="0">
              <a:solidFill>
                <a:schemeClr val="tx1"/>
              </a:solidFill>
            </a:endParaRPr>
          </a:p>
          <a:p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2053" name="Picture 5" descr="C:\Users\putovni\AppData\Local\Microsoft\Windows\Temporary Internet Files\Content.IE5\TU0352FH\MC900441521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176" y="4509120"/>
            <a:ext cx="2105647" cy="21722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550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Aerodynamik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2745</TotalTime>
  <Words>330</Words>
  <Application>Microsoft Office PowerPoint</Application>
  <PresentationFormat>Předvádění na obrazovce (4:3)</PresentationFormat>
  <Paragraphs>100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Constantia</vt:lpstr>
      <vt:lpstr>Wingdings</vt:lpstr>
      <vt:lpstr>Wingdings 2</vt:lpstr>
      <vt:lpstr>Tok</vt:lpstr>
      <vt:lpstr>FORMÁTOVÁNÍ BUNĚK</vt:lpstr>
      <vt:lpstr>Adresa buňky</vt:lpstr>
      <vt:lpstr>Buňka</vt:lpstr>
      <vt:lpstr>Formátování buněk</vt:lpstr>
      <vt:lpstr>Formátování buněk</vt:lpstr>
      <vt:lpstr>Formátování buněk</vt:lpstr>
      <vt:lpstr>Vložení obsahu</vt:lpstr>
      <vt:lpstr>Automatický text</vt:lpstr>
      <vt:lpstr>Velikost buňky</vt:lpstr>
      <vt:lpstr>Šířka sloupce a výška řádku</vt:lpstr>
      <vt:lpstr>Ohraničení buňky</vt:lpstr>
      <vt:lpstr>Ohraničení buňky</vt:lpstr>
      <vt:lpstr>Otázky na 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síťě</dc:title>
  <dc:creator>vacek</dc:creator>
  <cp:lastModifiedBy>Gabriela Votavová</cp:lastModifiedBy>
  <cp:revision>207</cp:revision>
  <dcterms:created xsi:type="dcterms:W3CDTF">2009-11-23T15:00:52Z</dcterms:created>
  <dcterms:modified xsi:type="dcterms:W3CDTF">2017-06-25T15:10:11Z</dcterms:modified>
</cp:coreProperties>
</file>