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handoutMasterIdLst>
    <p:handoutMasterId r:id="rId24"/>
  </p:handoutMasterIdLst>
  <p:sldIdLst>
    <p:sldId id="256" r:id="rId2"/>
    <p:sldId id="257" r:id="rId3"/>
    <p:sldId id="274" r:id="rId4"/>
    <p:sldId id="258" r:id="rId5"/>
    <p:sldId id="275" r:id="rId6"/>
    <p:sldId id="259" r:id="rId7"/>
    <p:sldId id="260" r:id="rId8"/>
    <p:sldId id="261" r:id="rId9"/>
    <p:sldId id="264" r:id="rId10"/>
    <p:sldId id="262" r:id="rId11"/>
    <p:sldId id="265" r:id="rId12"/>
    <p:sldId id="272" r:id="rId13"/>
    <p:sldId id="263" r:id="rId14"/>
    <p:sldId id="266" r:id="rId15"/>
    <p:sldId id="273" r:id="rId16"/>
    <p:sldId id="276" r:id="rId17"/>
    <p:sldId id="277" r:id="rId18"/>
    <p:sldId id="278" r:id="rId19"/>
    <p:sldId id="267" r:id="rId20"/>
    <p:sldId id="268" r:id="rId21"/>
    <p:sldId id="269" r:id="rId22"/>
    <p:sldId id="271" r:id="rId23"/>
  </p:sldIdLst>
  <p:sldSz cx="9144000" cy="6858000" type="screen4x3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147" autoAdjust="0"/>
    <p:restoredTop sz="94343" autoAdjust="0"/>
  </p:normalViewPr>
  <p:slideViewPr>
    <p:cSldViewPr>
      <p:cViewPr varScale="1">
        <p:scale>
          <a:sx n="70" d="100"/>
          <a:sy n="70" d="100"/>
        </p:scale>
        <p:origin x="1116" y="3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8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394"/>
    </p:cViewPr>
  </p:sorterViewPr>
  <p:notesViewPr>
    <p:cSldViewPr>
      <p:cViewPr varScale="1">
        <p:scale>
          <a:sx n="56" d="100"/>
          <a:sy n="56" d="100"/>
        </p:scale>
        <p:origin x="-2886" y="-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2E2E3A-DE56-4E94-AD25-53AD8415897C}" type="datetimeFigureOut">
              <a:rPr lang="cs-CZ" smtClean="0"/>
              <a:pPr/>
              <a:t>6.2.2018</a:t>
            </a:fld>
            <a:endParaRPr lang="cs-CZ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1F9978-7099-4401-BE60-7CCCE462269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98810146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4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0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5" name="Rectangle 11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6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7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1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5" name="Rectangle 8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11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1" name="Rectangle 80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5" name="Freeform 44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Freeform 51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Freeform 57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Freeform 67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Freeform 68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Rectangle 45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/>
          <p:cNvSpPr/>
          <p:nvPr/>
        </p:nvSpPr>
        <p:spPr>
          <a:xfrm>
            <a:off x="4649096" y="-21511"/>
            <a:ext cx="3505200" cy="231288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33365" y="2708476"/>
            <a:ext cx="3313355" cy="1702160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cs-CZ" smtClean="0"/>
              <a:t>Kliknutím lze upravit styl.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33365" y="4421080"/>
            <a:ext cx="3309803" cy="1260629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rgbClr val="42424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cs-CZ" smtClean="0"/>
              <a:t>Kliknutím lze upravit styl předlohy.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738744" y="1516828"/>
            <a:ext cx="2133600" cy="750981"/>
          </a:xfrm>
        </p:spPr>
        <p:txBody>
          <a:bodyPr anchor="b"/>
          <a:lstStyle>
            <a:lvl1pPr algn="l">
              <a:defRPr sz="2400"/>
            </a:lvl1pPr>
          </a:lstStyle>
          <a:p>
            <a:fld id="{0AA0E7EB-683D-416F-B9AA-B0AE65DADAA4}" type="datetimeFigureOut">
              <a:rPr lang="cs-CZ" smtClean="0"/>
              <a:pPr/>
              <a:t>6.2.2018</a:t>
            </a:fld>
            <a:endParaRPr lang="cs-CZ"/>
          </a:p>
        </p:txBody>
      </p:sp>
      <p:sp>
        <p:nvSpPr>
          <p:cNvPr id="50" name="Rectangle 49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03520" y="5719966"/>
            <a:ext cx="2831592" cy="365125"/>
          </a:xfrm>
        </p:spPr>
        <p:txBody>
          <a:bodyPr>
            <a:norm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649096" y="5719966"/>
            <a:ext cx="643666" cy="365125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710C422C-BF11-4E6E-B2D5-E7CA2B9038A8}" type="slidenum">
              <a:rPr lang="cs-CZ" smtClean="0"/>
              <a:pPr/>
              <a:t>‹#›</a:t>
            </a:fld>
            <a:endParaRPr lang="cs-CZ"/>
          </a:p>
        </p:txBody>
      </p:sp>
      <p:sp>
        <p:nvSpPr>
          <p:cNvPr id="89" name="Rectangle 88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mtClean="0"/>
              <a:t>Kliknutím lze upravit styl.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 smtClean="0"/>
              <a:t>Kliknutím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0E7EB-683D-416F-B9AA-B0AE65DADAA4}" type="datetimeFigureOut">
              <a:rPr lang="cs-CZ" smtClean="0"/>
              <a:pPr/>
              <a:t>6.2.2018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0C422C-BF11-4E6E-B2D5-E7CA2B9038A8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čá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8645" y="2900829"/>
            <a:ext cx="6637468" cy="1362075"/>
          </a:xfrm>
        </p:spPr>
        <p:txBody>
          <a:bodyPr anchor="b"/>
          <a:lstStyle>
            <a:lvl1pPr algn="l">
              <a:defRPr sz="4000" b="0" cap="none" baseline="0"/>
            </a:lvl1pPr>
          </a:lstStyle>
          <a:p>
            <a:r>
              <a:rPr lang="cs-CZ" smtClean="0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8645" y="4267200"/>
            <a:ext cx="6637467" cy="1520413"/>
          </a:xfrm>
        </p:spPr>
        <p:txBody>
          <a:bodyPr anchor="t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 smtClean="0"/>
              <a:t>Kliknutím lze upravit styly předlohy textu.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0E7EB-683D-416F-B9AA-B0AE65DADAA4}" type="datetimeFigureOut">
              <a:rPr lang="cs-CZ" smtClean="0"/>
              <a:pPr/>
              <a:t>6.2.2018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0C422C-BF11-4E6E-B2D5-E7CA2B9038A8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mtClean="0"/>
              <a:t>Kliknutím lze upravit styl.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0E7EB-683D-416F-B9AA-B0AE65DADAA4}" type="datetimeFigureOut">
              <a:rPr lang="cs-CZ" smtClean="0"/>
              <a:pPr/>
              <a:t>6.2.2018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0C422C-BF11-4E6E-B2D5-E7CA2B9038A8}" type="slidenum">
              <a:rPr lang="cs-CZ" smtClean="0"/>
              <a:pPr/>
              <a:t>‹#›</a:t>
            </a:fld>
            <a:endParaRPr lang="cs-CZ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042416" y="2313432"/>
            <a:ext cx="3419856" cy="3493008"/>
          </a:xfrm>
        </p:spPr>
        <p:txBody>
          <a:bodyPr/>
          <a:lstStyle/>
          <a:p>
            <a:pPr lvl="0"/>
            <a:r>
              <a:rPr lang="cs-CZ" smtClean="0"/>
              <a:t>Kliknutím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2313431"/>
            <a:ext cx="3419856" cy="3493008"/>
          </a:xfrm>
        </p:spPr>
        <p:txBody>
          <a:bodyPr/>
          <a:lstStyle/>
          <a:p>
            <a:pPr lvl="0"/>
            <a:r>
              <a:rPr lang="cs-CZ" smtClean="0"/>
              <a:t>Kliknutím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 smtClean="0"/>
              <a:t>Kliknutím lze upravit styl.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12111" y="2316009"/>
            <a:ext cx="3057148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 smtClean="0"/>
              <a:t>Kliknutím lze upravit styly předlohy textu.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1721" y="2974694"/>
            <a:ext cx="3419856" cy="283579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smtClean="0"/>
              <a:t>Kliknutím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1837" y="2316010"/>
            <a:ext cx="3055717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 smtClean="0"/>
              <a:t>Kliknutím lze upravit styly předlohy textu.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152" y="2974694"/>
            <a:ext cx="3419856" cy="283579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smtClean="0"/>
              <a:t>Kliknutím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0E7EB-683D-416F-B9AA-B0AE65DADAA4}" type="datetimeFigureOut">
              <a:rPr lang="cs-CZ" smtClean="0"/>
              <a:pPr/>
              <a:t>6.2.2018</a:t>
            </a:fld>
            <a:endParaRPr lang="cs-CZ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0C422C-BF11-4E6E-B2D5-E7CA2B9038A8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Pouze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mtClean="0"/>
              <a:t>Kliknutím lze upravit styl.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0E7EB-683D-416F-B9AA-B0AE65DADAA4}" type="datetimeFigureOut">
              <a:rPr lang="cs-CZ" smtClean="0"/>
              <a:pPr/>
              <a:t>6.2.2018</a:t>
            </a:fld>
            <a:endParaRPr lang="cs-CZ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0C422C-BF11-4E6E-B2D5-E7CA2B9038A8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0E7EB-683D-416F-B9AA-B0AE65DADAA4}" type="datetimeFigureOut">
              <a:rPr lang="cs-CZ" smtClean="0"/>
              <a:pPr/>
              <a:t>6.2.2018</a:t>
            </a:fld>
            <a:endParaRPr lang="cs-CZ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0C422C-BF11-4E6E-B2D5-E7CA2B9038A8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5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2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84" name="Rectangle 83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5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1" name="Rectangle 80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" name="Rectangle 81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" name="Rectangle 82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4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0" name="Rectangle 79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7" name="Freeform 46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Freeform 49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Freeform 58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Hexagon 67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Hexagon 68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Freeform 69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Freeform 70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Rectangle 45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0E7EB-683D-416F-B9AA-B0AE65DADAA4}" type="datetimeFigureOut">
              <a:rPr lang="cs-CZ" smtClean="0"/>
              <a:pPr/>
              <a:t>6.2.2018</a:t>
            </a:fld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0C422C-BF11-4E6E-B2D5-E7CA2B9038A8}" type="slidenum">
              <a:rPr lang="cs-CZ" smtClean="0"/>
              <a:pPr/>
              <a:t>‹#›</a:t>
            </a:fld>
            <a:endParaRPr lang="cs-CZ"/>
          </a:p>
        </p:txBody>
      </p:sp>
      <p:sp>
        <p:nvSpPr>
          <p:cNvPr id="58" name="Rectangle 57"/>
          <p:cNvSpPr/>
          <p:nvPr/>
        </p:nvSpPr>
        <p:spPr>
          <a:xfrm>
            <a:off x="905571" y="601883"/>
            <a:ext cx="3562257" cy="564844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5894" y="856527"/>
            <a:ext cx="3090440" cy="5150734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 smtClean="0"/>
              <a:t>Kliknutím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en-US" dirty="0"/>
          </a:p>
        </p:txBody>
      </p:sp>
      <p:sp>
        <p:nvSpPr>
          <p:cNvPr id="61" name="Rectangle 60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641448" y="5724835"/>
            <a:ext cx="3493664" cy="365125"/>
          </a:xfrm>
        </p:spPr>
        <p:txBody>
          <a:bodyPr>
            <a:normAutofit/>
          </a:bodyPr>
          <a:lstStyle/>
          <a:p>
            <a:endParaRPr lang="cs-CZ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9833" y="2657434"/>
            <a:ext cx="3304572" cy="1463153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cs-CZ" smtClean="0"/>
              <a:t>Kliknutím lze upravit styl.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36592" y="4136994"/>
            <a:ext cx="3298784" cy="1517904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4242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 smtClean="0"/>
              <a:t>Kliknutím lze upravit styly předlohy textu.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5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5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87" name="Rectangle 8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8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9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6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4" name="Rectangle 83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5" name="Rectangle 84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7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81" name="Rectangle 80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" name="Rectangle 81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" name="Rectangle 82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8" name="Rectangle 77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9" name="Rectangle 78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" name="Rectangle 79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6" name="Freeform 45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Freeform 49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Freeform 62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Hexagon 67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Hexagon 68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Hexagon 69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Hexagon 70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Hexagon 71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Freeform 72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Freeform 73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4" name="Rectangle 93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Rectangle 100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Rectangle 101"/>
          <p:cNvSpPr/>
          <p:nvPr/>
        </p:nvSpPr>
        <p:spPr>
          <a:xfrm>
            <a:off x="905571" y="601883"/>
            <a:ext cx="3562257" cy="5648445"/>
          </a:xfrm>
          <a:prstGeom prst="rect">
            <a:avLst/>
          </a:prstGeom>
          <a:solidFill>
            <a:srgbClr val="FFFFFF"/>
          </a:solidFill>
          <a:ln w="3175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Rectangle 104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4424" y="2660904"/>
            <a:ext cx="3300984" cy="146304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cs-CZ" smtClean="0"/>
              <a:t>Kliknutím lze upravit styl.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005208" y="693795"/>
            <a:ext cx="3359623" cy="5468112"/>
          </a:xfrm>
        </p:spPr>
        <p:txBody>
          <a:bodyPr/>
          <a:lstStyle>
            <a:lvl1pPr marL="0" indent="0">
              <a:buNone/>
              <a:defRPr sz="3200">
                <a:solidFill>
                  <a:schemeClr val="accent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cs-CZ" smtClean="0"/>
              <a:t>Kliknutím na ikonu přidáte obrázek.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34630" y="4133088"/>
            <a:ext cx="3300573" cy="1519561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4242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 smtClean="0"/>
              <a:t>Kliknutím lze upravit styly předlohy textu.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0E7EB-683D-416F-B9AA-B0AE65DADAA4}" type="datetimeFigureOut">
              <a:rPr lang="cs-CZ" smtClean="0"/>
              <a:pPr/>
              <a:t>6.2.2018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641448" y="5724835"/>
            <a:ext cx="3493664" cy="365125"/>
          </a:xfrm>
        </p:spPr>
        <p:txBody>
          <a:bodyPr>
            <a:normAutofit/>
          </a:bodyPr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0C422C-BF11-4E6E-B2D5-E7CA2B9038A8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mtClean="0"/>
              <a:t>Kliknutím lze upravit styl.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 smtClean="0"/>
              <a:t>Kliknutím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0E7EB-683D-416F-B9AA-B0AE65DADAA4}" type="datetimeFigureOut">
              <a:rPr lang="cs-CZ" smtClean="0"/>
              <a:pPr/>
              <a:t>6.2.2018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0C422C-BF11-4E6E-B2D5-E7CA2B9038A8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030147"/>
            <a:ext cx="1484453" cy="4780344"/>
          </a:xfrm>
        </p:spPr>
        <p:txBody>
          <a:bodyPr vert="eaVert" anchor="ctr"/>
          <a:lstStyle/>
          <a:p>
            <a:r>
              <a:rPr lang="cs-CZ" smtClean="0"/>
              <a:t>Kliknutím lze upravit styl.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53296" y="1030147"/>
            <a:ext cx="5423704" cy="4780344"/>
          </a:xfrm>
        </p:spPr>
        <p:txBody>
          <a:bodyPr vert="eaVert"/>
          <a:lstStyle/>
          <a:p>
            <a:pPr lvl="0"/>
            <a:r>
              <a:rPr lang="cs-CZ" smtClean="0"/>
              <a:t>Kliknutím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0E7EB-683D-416F-B9AA-B0AE65DADAA4}" type="datetimeFigureOut">
              <a:rPr lang="cs-CZ" smtClean="0"/>
              <a:pPr/>
              <a:t>6.2.2018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0C422C-BF11-4E6E-B2D5-E7CA2B9038A8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 41"/>
          <p:cNvGrpSpPr/>
          <p:nvPr/>
        </p:nvGrpSpPr>
        <p:grpSpPr>
          <a:xfrm>
            <a:off x="-304800" y="0"/>
            <a:ext cx="9932332" cy="6858000"/>
            <a:chOff x="-382404" y="0"/>
            <a:chExt cx="9932332" cy="6858000"/>
          </a:xfrm>
        </p:grpSpPr>
        <p:grpSp>
          <p:nvGrpSpPr>
            <p:cNvPr id="43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101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3" name="Rectangle 112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5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2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110" name="Rectangle 109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1" name="Rectangle 110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2" name="Rectangle 111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107" name="Rectangle 10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8" name="Rectangle 107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9" name="Rectangle 108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04" name="Rectangle 103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5" name="Rectangle 104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6" name="Rectangle 105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4" name="Freeform 43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Freeform 44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Freeform 45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Hexagon 49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Freeform 54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Hexagon 57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Hexagon 94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Hexagon 95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Hexagon 96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Hexagon 97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Freeform 98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Freeform 99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6" name="Rectangle 65"/>
          <p:cNvSpPr/>
          <p:nvPr/>
        </p:nvSpPr>
        <p:spPr>
          <a:xfrm>
            <a:off x="457200" y="333487"/>
            <a:ext cx="8229600" cy="618564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/>
          <p:cNvSpPr/>
          <p:nvPr/>
        </p:nvSpPr>
        <p:spPr>
          <a:xfrm>
            <a:off x="4561242" y="-21511"/>
            <a:ext cx="3679116" cy="699244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43490" y="1027664"/>
            <a:ext cx="7024744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cs-CZ" smtClean="0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3492" y="2323652"/>
            <a:ext cx="6777317" cy="35089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 smtClean="0"/>
              <a:t>Kliknutím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FEFEFE"/>
                </a:solidFill>
              </a:defRPr>
            </a:lvl1pPr>
          </a:lstStyle>
          <a:p>
            <a:fld id="{0AA0E7EB-683D-416F-B9AA-B0AE65DADAA4}" type="datetimeFigureOut">
              <a:rPr lang="cs-CZ" smtClean="0"/>
              <a:pPr/>
              <a:t>6.2.2018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EFEFE"/>
                </a:solidFill>
              </a:defRPr>
            </a:lvl1pPr>
          </a:lstStyle>
          <a:p>
            <a:fld id="{710C422C-BF11-4E6E-B2D5-E7CA2B9038A8}" type="slidenum">
              <a:rPr lang="cs-CZ" smtClean="0"/>
              <a:pPr/>
              <a:t>‹#›</a:t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0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27432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640080" indent="-27432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2471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32588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1517904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171907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192024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121408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support.content.office.net/cs-cz/media/264c3de3-b3c0-4894-b8ab-216dc04084bc.png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marL="182880"/>
            <a:r>
              <a:rPr lang="cs-CZ" sz="2000" dirty="0" smtClean="0"/>
              <a:t>Hromadná korespondence</a:t>
            </a:r>
            <a:endParaRPr lang="cs-CZ" sz="2000" dirty="0"/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endParaRPr lang="cs-CZ" sz="1600" dirty="0"/>
          </a:p>
        </p:txBody>
      </p:sp>
    </p:spTree>
    <p:extLst>
      <p:ext uri="{BB962C8B-B14F-4D97-AF65-F5344CB8AC3E}">
        <p14:creationId xmlns:p14="http://schemas.microsoft.com/office/powerpoint/2010/main" val="42832790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Hromadná korespondence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1043492" y="2323652"/>
            <a:ext cx="7488948" cy="4057676"/>
          </a:xfrm>
        </p:spPr>
        <p:txBody>
          <a:bodyPr>
            <a:normAutofit/>
          </a:bodyPr>
          <a:lstStyle/>
          <a:p>
            <a:r>
              <a:rPr lang="cs-CZ" dirty="0" smtClean="0"/>
              <a:t>Používá se k opakovanému odesílání stejných dopisů, dokumentů více adresátům. </a:t>
            </a:r>
          </a:p>
          <a:p>
            <a:r>
              <a:rPr lang="cs-CZ" dirty="0" smtClean="0"/>
              <a:t>Při hromadné korespondenci pracujete vždy se dvěma různými soubory: </a:t>
            </a:r>
          </a:p>
          <a:p>
            <a:pPr lvl="1"/>
            <a:r>
              <a:rPr lang="cs-CZ" b="1" dirty="0" smtClean="0"/>
              <a:t>Hlavní dokument</a:t>
            </a:r>
            <a:r>
              <a:rPr lang="cs-CZ" dirty="0" smtClean="0"/>
              <a:t>: lze nastavit tak, aby měl stejnou velikost a vzhled, jaký mají mít konečné dopisy, …</a:t>
            </a:r>
          </a:p>
          <a:p>
            <a:pPr lvl="1"/>
            <a:r>
              <a:rPr lang="cs-CZ" b="1" dirty="0" smtClean="0"/>
              <a:t>Zdroj dat</a:t>
            </a:r>
            <a:r>
              <a:rPr lang="cs-CZ" dirty="0" smtClean="0"/>
              <a:t>: adresář příjemců jako tabulka vytvořená v programu Word, list programu Excel nebo seznam kontaktů aplikace Outlook.</a:t>
            </a:r>
          </a:p>
          <a:p>
            <a:pPr>
              <a:lnSpc>
                <a:spcPct val="150000"/>
              </a:lnSpc>
              <a:buNone/>
            </a:pPr>
            <a:endParaRPr lang="cs-CZ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ázek 1"/>
          <p:cNvPicPr>
            <a:picLocks noChangeAspect="1"/>
          </p:cNvPicPr>
          <p:nvPr/>
        </p:nvPicPr>
        <p:blipFill rotWithShape="1">
          <a:blip r:embed="rId2"/>
          <a:srcRect l="19924" t="16735" r="38931" b="31296"/>
          <a:stretch/>
        </p:blipFill>
        <p:spPr>
          <a:xfrm>
            <a:off x="930540" y="836712"/>
            <a:ext cx="7451789" cy="5291701"/>
          </a:xfrm>
          <a:prstGeom prst="rect">
            <a:avLst/>
          </a:prstGeom>
        </p:spPr>
      </p:pic>
      <p:sp>
        <p:nvSpPr>
          <p:cNvPr id="3" name="Obdélník 2"/>
          <p:cNvSpPr/>
          <p:nvPr/>
        </p:nvSpPr>
        <p:spPr>
          <a:xfrm>
            <a:off x="2370435" y="6128413"/>
            <a:ext cx="4572000" cy="43088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cs-CZ" sz="1100" dirty="0">
                <a:hlinkClick r:id="rId3"/>
              </a:rPr>
              <a:t>https://</a:t>
            </a:r>
            <a:r>
              <a:rPr lang="cs-CZ" sz="1100" dirty="0" smtClean="0">
                <a:hlinkClick r:id="rId3"/>
              </a:rPr>
              <a:t>support.content.office.net/</a:t>
            </a:r>
            <a:r>
              <a:rPr lang="cs-CZ" sz="1100" dirty="0" err="1" smtClean="0">
                <a:hlinkClick r:id="rId3"/>
              </a:rPr>
              <a:t>cs-cz</a:t>
            </a:r>
            <a:r>
              <a:rPr lang="cs-CZ" sz="1100" dirty="0" smtClean="0">
                <a:hlinkClick r:id="rId3"/>
              </a:rPr>
              <a:t>/media/264c3de3-b3c0-4894-b8ab-216dc04084bc.png</a:t>
            </a:r>
            <a:r>
              <a:rPr lang="cs-CZ" sz="1100" dirty="0" smtClean="0"/>
              <a:t>, 3.0. 2017</a:t>
            </a:r>
            <a:endParaRPr lang="cs-CZ" sz="1100" dirty="0"/>
          </a:p>
        </p:txBody>
      </p:sp>
    </p:spTree>
    <p:extLst>
      <p:ext uri="{BB962C8B-B14F-4D97-AF65-F5344CB8AC3E}">
        <p14:creationId xmlns:p14="http://schemas.microsoft.com/office/powerpoint/2010/main" val="23655112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ázek 1"/>
          <p:cNvPicPr>
            <a:picLocks noChangeAspect="1"/>
          </p:cNvPicPr>
          <p:nvPr/>
        </p:nvPicPr>
        <p:blipFill rotWithShape="1">
          <a:blip r:embed="rId2"/>
          <a:srcRect l="-1" r="60659" b="50984"/>
          <a:stretch/>
        </p:blipFill>
        <p:spPr>
          <a:xfrm>
            <a:off x="1187624" y="1268760"/>
            <a:ext cx="6840760" cy="479178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Zdroje dat </a:t>
            </a:r>
            <a:endParaRPr lang="cs-CZ" dirty="0"/>
          </a:p>
        </p:txBody>
      </p:sp>
      <p:sp>
        <p:nvSpPr>
          <p:cNvPr id="4" name="Zástupný symbol pro obsah 3"/>
          <p:cNvSpPr>
            <a:spLocks noGrp="1"/>
          </p:cNvSpPr>
          <p:nvPr>
            <p:ph idx="1"/>
          </p:nvPr>
        </p:nvSpPr>
        <p:spPr>
          <a:xfrm>
            <a:off x="1043492" y="2323652"/>
            <a:ext cx="7704972" cy="4534348"/>
          </a:xfrm>
        </p:spPr>
        <p:txBody>
          <a:bodyPr>
            <a:normAutofit/>
          </a:bodyPr>
          <a:lstStyle/>
          <a:p>
            <a:r>
              <a:rPr lang="cs-CZ" b="1" dirty="0"/>
              <a:t>Tabulka aplikace Microsoft </a:t>
            </a:r>
            <a:r>
              <a:rPr lang="cs-CZ" b="1" dirty="0" smtClean="0"/>
              <a:t>Excel</a:t>
            </a:r>
            <a:endParaRPr lang="cs-CZ" dirty="0"/>
          </a:p>
          <a:p>
            <a:r>
              <a:rPr lang="cs-CZ" b="1" dirty="0"/>
              <a:t>Seznam kontaktů aplikace Microsoft Outlook</a:t>
            </a:r>
            <a:endParaRPr lang="cs-CZ" dirty="0"/>
          </a:p>
          <a:p>
            <a:r>
              <a:rPr lang="cs-CZ" b="1" dirty="0" smtClean="0"/>
              <a:t>Seznam </a:t>
            </a:r>
            <a:r>
              <a:rPr lang="cs-CZ" b="1" dirty="0"/>
              <a:t>adres Microsoft Office</a:t>
            </a:r>
            <a:endParaRPr lang="cs-CZ" dirty="0"/>
          </a:p>
          <a:p>
            <a:r>
              <a:rPr lang="cs-CZ" b="1" dirty="0" smtClean="0"/>
              <a:t>Datový </a:t>
            </a:r>
            <a:r>
              <a:rPr lang="cs-CZ" b="1" dirty="0"/>
              <a:t>soubor aplikace Word</a:t>
            </a:r>
            <a:endParaRPr lang="cs-CZ" dirty="0"/>
          </a:p>
          <a:p>
            <a:r>
              <a:rPr lang="cs-CZ" dirty="0" smtClean="0"/>
              <a:t>Databáze </a:t>
            </a:r>
            <a:r>
              <a:rPr lang="cs-CZ" dirty="0"/>
              <a:t>aplikace </a:t>
            </a:r>
            <a:r>
              <a:rPr lang="cs-CZ" b="1" dirty="0"/>
              <a:t>Microsoft Access</a:t>
            </a:r>
            <a:endParaRPr lang="cs-CZ" dirty="0"/>
          </a:p>
          <a:p>
            <a:r>
              <a:rPr lang="cs-CZ" b="1" dirty="0" smtClean="0"/>
              <a:t>Textové soubory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cs-CZ" dirty="0" smtClean="0"/>
              <a:t>Můžete </a:t>
            </a:r>
            <a:r>
              <a:rPr lang="cs-CZ" dirty="0"/>
              <a:t>použít jakýkoli textový soubor s datovými poli oddělenými tabulátory nebo čárkami (středníky) a s datovými záznamy oddělenými znaky konce odstavce.</a:t>
            </a:r>
          </a:p>
        </p:txBody>
      </p:sp>
    </p:spTree>
    <p:extLst>
      <p:ext uri="{BB962C8B-B14F-4D97-AF65-F5344CB8AC3E}">
        <p14:creationId xmlns:p14="http://schemas.microsoft.com/office/powerpoint/2010/main" val="6613824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Nový seznam příjemců</a:t>
            </a:r>
            <a:endParaRPr lang="cs-CZ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 l="3934" t="16180" r="5768" b="12566"/>
          <a:stretch>
            <a:fillRect/>
          </a:stretch>
        </p:blipFill>
        <p:spPr bwMode="auto">
          <a:xfrm>
            <a:off x="128566" y="2348880"/>
            <a:ext cx="9015434" cy="42980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adpis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Pole</a:t>
            </a:r>
            <a:endParaRPr lang="cs-CZ" dirty="0"/>
          </a:p>
        </p:txBody>
      </p:sp>
      <p:sp>
        <p:nvSpPr>
          <p:cNvPr id="4" name="Zástupný symbol pro obsah 3"/>
          <p:cNvSpPr>
            <a:spLocks noGrp="1"/>
          </p:cNvSpPr>
          <p:nvPr>
            <p:ph idx="1"/>
          </p:nvPr>
        </p:nvSpPr>
        <p:spPr>
          <a:xfrm>
            <a:off x="1043492" y="2323652"/>
            <a:ext cx="7344932" cy="350897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cs-CZ" dirty="0" smtClean="0"/>
              <a:t>Nachází se ve skupině </a:t>
            </a:r>
            <a:r>
              <a:rPr lang="cs-CZ" b="1" dirty="0" smtClean="0"/>
              <a:t>Zapsat a vložit pole</a:t>
            </a:r>
            <a:r>
              <a:rPr lang="cs-CZ" dirty="0" smtClean="0"/>
              <a:t>. </a:t>
            </a:r>
          </a:p>
          <a:p>
            <a:pPr marL="68580" indent="0">
              <a:lnSpc>
                <a:spcPct val="150000"/>
              </a:lnSpc>
              <a:buNone/>
            </a:pPr>
            <a:r>
              <a:rPr lang="cs-CZ" dirty="0" smtClean="0"/>
              <a:t>Skládá</a:t>
            </a:r>
            <a:r>
              <a:rPr lang="cs-CZ" dirty="0"/>
              <a:t> </a:t>
            </a:r>
            <a:r>
              <a:rPr lang="cs-CZ" dirty="0" smtClean="0"/>
              <a:t>se:</a:t>
            </a:r>
          </a:p>
          <a:p>
            <a:pPr lvl="1">
              <a:lnSpc>
                <a:spcPct val="150000"/>
              </a:lnSpc>
            </a:pPr>
            <a:r>
              <a:rPr lang="cs-CZ" b="1" dirty="0" smtClean="0"/>
              <a:t>Blok adresy: </a:t>
            </a:r>
            <a:r>
              <a:rPr lang="cs-CZ" dirty="0" smtClean="0"/>
              <a:t>slouží k vložení adresy. </a:t>
            </a:r>
          </a:p>
          <a:p>
            <a:pPr lvl="1">
              <a:lnSpc>
                <a:spcPct val="150000"/>
              </a:lnSpc>
            </a:pPr>
            <a:r>
              <a:rPr lang="cs-CZ" b="1" dirty="0" smtClean="0"/>
              <a:t>Řádek s pozdravem: </a:t>
            </a:r>
            <a:r>
              <a:rPr lang="cs-CZ" dirty="0" smtClean="0"/>
              <a:t>slouží k vložení pozdravu.</a:t>
            </a:r>
          </a:p>
          <a:p>
            <a:pPr lvl="1">
              <a:lnSpc>
                <a:spcPct val="150000"/>
              </a:lnSpc>
            </a:pPr>
            <a:r>
              <a:rPr lang="cs-CZ" b="1" dirty="0" smtClean="0"/>
              <a:t>Vložit slučovací pole: </a:t>
            </a:r>
            <a:r>
              <a:rPr lang="cs-CZ" dirty="0" smtClean="0"/>
              <a:t>nám umožňuje vložit více objektů (např. jméno, město, oslovení, atd.)</a:t>
            </a:r>
            <a:endParaRPr lang="cs-CZ" dirty="0"/>
          </a:p>
        </p:txBody>
      </p:sp>
      <p:pic>
        <p:nvPicPr>
          <p:cNvPr id="5" name="Obrázek 4"/>
          <p:cNvPicPr>
            <a:picLocks noChangeAspect="1"/>
          </p:cNvPicPr>
          <p:nvPr/>
        </p:nvPicPr>
        <p:blipFill rotWithShape="1">
          <a:blip r:embed="rId2"/>
          <a:srcRect l="25650" t="4202" r="44465" b="80516"/>
          <a:stretch/>
        </p:blipFill>
        <p:spPr>
          <a:xfrm>
            <a:off x="2503017" y="216672"/>
            <a:ext cx="6414503" cy="184417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 cstate="print"/>
          <a:srcRect l="12201" t="12635" r="14300" b="26538"/>
          <a:stretch>
            <a:fillRect/>
          </a:stretch>
        </p:blipFill>
        <p:spPr bwMode="auto">
          <a:xfrm>
            <a:off x="179512" y="1484784"/>
            <a:ext cx="8784976" cy="4392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Tvorba obálky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 smtClean="0"/>
              <a:t>Na</a:t>
            </a:r>
            <a:r>
              <a:rPr lang="cs-CZ" b="1" dirty="0" smtClean="0"/>
              <a:t> kartě Korespondence</a:t>
            </a:r>
            <a:r>
              <a:rPr lang="cs-CZ" dirty="0" smtClean="0"/>
              <a:t> klikněte            ve skupině</a:t>
            </a:r>
            <a:r>
              <a:rPr lang="cs-CZ" b="1" dirty="0" smtClean="0"/>
              <a:t> Vytvořit </a:t>
            </a:r>
            <a:r>
              <a:rPr lang="cs-CZ" dirty="0" smtClean="0"/>
              <a:t>na tlačítko </a:t>
            </a:r>
            <a:r>
              <a:rPr lang="cs-CZ" b="1" dirty="0" smtClean="0"/>
              <a:t>Obálky.</a:t>
            </a:r>
            <a:endParaRPr lang="cs-CZ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 rotWithShape="1">
          <a:blip r:embed="rId2" cstate="print"/>
          <a:srcRect l="34765" t="32062" r="36360" b="16811"/>
          <a:stretch/>
        </p:blipFill>
        <p:spPr bwMode="auto">
          <a:xfrm>
            <a:off x="2699792" y="3212976"/>
            <a:ext cx="3096344" cy="33123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ázek 1"/>
          <p:cNvPicPr>
            <a:picLocks noChangeAspect="1"/>
          </p:cNvPicPr>
          <p:nvPr/>
        </p:nvPicPr>
        <p:blipFill rotWithShape="1">
          <a:blip r:embed="rId2"/>
          <a:srcRect r="20668" b="8657"/>
          <a:stretch/>
        </p:blipFill>
        <p:spPr>
          <a:xfrm>
            <a:off x="323528" y="908720"/>
            <a:ext cx="8633459" cy="558886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ázek 1"/>
          <p:cNvPicPr>
            <a:picLocks noChangeAspect="1"/>
          </p:cNvPicPr>
          <p:nvPr/>
        </p:nvPicPr>
        <p:blipFill rotWithShape="1">
          <a:blip r:embed="rId2"/>
          <a:srcRect l="50553" t="25593" r="22882" b="18500"/>
          <a:stretch/>
        </p:blipFill>
        <p:spPr>
          <a:xfrm>
            <a:off x="611560" y="548680"/>
            <a:ext cx="4564341" cy="5400600"/>
          </a:xfrm>
          <a:prstGeom prst="rect">
            <a:avLst/>
          </a:prstGeom>
        </p:spPr>
      </p:pic>
      <p:pic>
        <p:nvPicPr>
          <p:cNvPr id="3" name="Obrázek 2"/>
          <p:cNvPicPr>
            <a:picLocks noChangeAspect="1"/>
          </p:cNvPicPr>
          <p:nvPr/>
        </p:nvPicPr>
        <p:blipFill rotWithShape="1">
          <a:blip r:embed="rId3"/>
          <a:srcRect l="48893" t="22438" r="25649" b="21520"/>
          <a:stretch/>
        </p:blipFill>
        <p:spPr>
          <a:xfrm>
            <a:off x="5364088" y="2204864"/>
            <a:ext cx="3548966" cy="439248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cs-CZ"/>
          </a:p>
        </p:txBody>
      </p:sp>
      <p:pic>
        <p:nvPicPr>
          <p:cNvPr id="4" name="Obrázek 3"/>
          <p:cNvPicPr>
            <a:picLocks noChangeAspect="1"/>
          </p:cNvPicPr>
          <p:nvPr/>
        </p:nvPicPr>
        <p:blipFill rotWithShape="1">
          <a:blip r:embed="rId2"/>
          <a:srcRect r="40038" b="6688"/>
          <a:stretch/>
        </p:blipFill>
        <p:spPr>
          <a:xfrm>
            <a:off x="531290" y="38525"/>
            <a:ext cx="7801719" cy="6825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53166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Nastavení odesilatele</a:t>
            </a:r>
            <a:endParaRPr lang="cs-CZ" dirty="0"/>
          </a:p>
        </p:txBody>
      </p:sp>
      <p:pic>
        <p:nvPicPr>
          <p:cNvPr id="3" name="Obrázek 2"/>
          <p:cNvPicPr>
            <a:picLocks noChangeAspect="1"/>
          </p:cNvPicPr>
          <p:nvPr/>
        </p:nvPicPr>
        <p:blipFill rotWithShape="1">
          <a:blip r:embed="rId2"/>
          <a:srcRect l="15687" t="2750" r="15687" b="7672"/>
          <a:stretch/>
        </p:blipFill>
        <p:spPr>
          <a:xfrm>
            <a:off x="1532108" y="2075938"/>
            <a:ext cx="6516216" cy="478206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3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Štítky</a:t>
            </a:r>
            <a:endParaRPr lang="cs-CZ" dirty="0"/>
          </a:p>
        </p:txBody>
      </p:sp>
      <p:pic>
        <p:nvPicPr>
          <p:cNvPr id="5" name="Obrázek 4"/>
          <p:cNvPicPr>
            <a:picLocks noChangeAspect="1"/>
          </p:cNvPicPr>
          <p:nvPr/>
        </p:nvPicPr>
        <p:blipFill rotWithShape="1">
          <a:blip r:embed="rId2"/>
          <a:srcRect l="59" t="844" r="38228" b="4906"/>
          <a:stretch/>
        </p:blipFill>
        <p:spPr>
          <a:xfrm>
            <a:off x="2555776" y="1196752"/>
            <a:ext cx="6457175" cy="554461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cs-CZ"/>
          </a:p>
        </p:txBody>
      </p:sp>
      <p:pic>
        <p:nvPicPr>
          <p:cNvPr id="4" name="Obrázek 3"/>
          <p:cNvPicPr>
            <a:picLocks noChangeAspect="1"/>
          </p:cNvPicPr>
          <p:nvPr/>
        </p:nvPicPr>
        <p:blipFill rotWithShape="1">
          <a:blip r:embed="rId2"/>
          <a:srcRect l="4982" t="33469" r="52405" b="22235"/>
          <a:stretch/>
        </p:blipFill>
        <p:spPr>
          <a:xfrm>
            <a:off x="1475519" y="2420888"/>
            <a:ext cx="6160686" cy="36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02890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cs-CZ"/>
          </a:p>
        </p:txBody>
      </p:sp>
      <p:pic>
        <p:nvPicPr>
          <p:cNvPr id="4" name="Obrázek 3"/>
          <p:cNvPicPr>
            <a:picLocks noChangeAspect="1"/>
          </p:cNvPicPr>
          <p:nvPr/>
        </p:nvPicPr>
        <p:blipFill rotWithShape="1">
          <a:blip r:embed="rId2"/>
          <a:srcRect r="35611" b="12594"/>
          <a:stretch/>
        </p:blipFill>
        <p:spPr>
          <a:xfrm>
            <a:off x="3182151" y="2170663"/>
            <a:ext cx="6095224" cy="4651861"/>
          </a:xfrm>
          <a:prstGeom prst="rect">
            <a:avLst/>
          </a:prstGeom>
        </p:spPr>
      </p:pic>
      <p:pic>
        <p:nvPicPr>
          <p:cNvPr id="3" name="Obrázek 2"/>
          <p:cNvPicPr>
            <a:picLocks noChangeAspect="1"/>
          </p:cNvPicPr>
          <p:nvPr/>
        </p:nvPicPr>
        <p:blipFill rotWithShape="1">
          <a:blip r:embed="rId3"/>
          <a:srcRect r="30268" b="13376"/>
          <a:stretch/>
        </p:blipFill>
        <p:spPr>
          <a:xfrm>
            <a:off x="251522" y="188641"/>
            <a:ext cx="5155116" cy="3600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30340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cs-CZ"/>
          </a:p>
        </p:txBody>
      </p:sp>
      <p:pic>
        <p:nvPicPr>
          <p:cNvPr id="3" name="Obrázek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933575" y="-228600"/>
            <a:ext cx="13011150" cy="731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53492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cs-CZ"/>
          </a:p>
        </p:txBody>
      </p:sp>
      <p:pic>
        <p:nvPicPr>
          <p:cNvPr id="3" name="Obrázek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04" y="116632"/>
            <a:ext cx="8324987" cy="4680520"/>
          </a:xfrm>
          <a:prstGeom prst="rect">
            <a:avLst/>
          </a:prstGeom>
        </p:spPr>
      </p:pic>
      <p:pic>
        <p:nvPicPr>
          <p:cNvPr id="4" name="Obrázek 3"/>
          <p:cNvPicPr>
            <a:picLocks noChangeAspect="1"/>
          </p:cNvPicPr>
          <p:nvPr/>
        </p:nvPicPr>
        <p:blipFill rotWithShape="1">
          <a:blip r:embed="rId3"/>
          <a:srcRect l="4931" t="33880" r="22755" b="6193"/>
          <a:stretch/>
        </p:blipFill>
        <p:spPr>
          <a:xfrm>
            <a:off x="2699792" y="3789040"/>
            <a:ext cx="6336704" cy="2952328"/>
          </a:xfrm>
          <a:prstGeom prst="rect">
            <a:avLst/>
          </a:prstGeom>
          <a:ln w="127000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35528842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99592" y="891102"/>
            <a:ext cx="4618856" cy="1143000"/>
          </a:xfrm>
        </p:spPr>
        <p:txBody>
          <a:bodyPr/>
          <a:lstStyle/>
          <a:p>
            <a:r>
              <a:rPr lang="cs-CZ" dirty="0" smtClean="0"/>
              <a:t>Word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539552" y="2468880"/>
            <a:ext cx="4721696" cy="4389120"/>
          </a:xfrm>
        </p:spPr>
        <p:txBody>
          <a:bodyPr/>
          <a:lstStyle/>
          <a:p>
            <a:r>
              <a:rPr lang="cs-CZ" dirty="0" smtClean="0"/>
              <a:t>Ve Wordu napíšeme dopis.</a:t>
            </a:r>
          </a:p>
          <a:p>
            <a:r>
              <a:rPr lang="cs-CZ" dirty="0" smtClean="0"/>
              <a:t>Můžeme si zvýraznit texty, které budeme později měnit.</a:t>
            </a:r>
          </a:p>
          <a:p>
            <a:pPr lvl="1"/>
            <a:r>
              <a:rPr lang="cs-CZ" dirty="0" smtClean="0"/>
              <a:t>Např. jména, adresy, apod.</a:t>
            </a:r>
          </a:p>
          <a:p>
            <a:endParaRPr lang="cs-CZ" dirty="0"/>
          </a:p>
        </p:txBody>
      </p:sp>
      <p:pic>
        <p:nvPicPr>
          <p:cNvPr id="10" name="Picture 4"/>
          <p:cNvPicPr>
            <a:picLocks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461" r="12939" b="5514"/>
          <a:stretch/>
        </p:blipFill>
        <p:spPr bwMode="auto">
          <a:xfrm>
            <a:off x="5164465" y="2523102"/>
            <a:ext cx="3979535" cy="42416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Oválný bublinový popisek 3"/>
          <p:cNvSpPr/>
          <p:nvPr/>
        </p:nvSpPr>
        <p:spPr>
          <a:xfrm>
            <a:off x="3923928" y="260648"/>
            <a:ext cx="4392488" cy="2016673"/>
          </a:xfrm>
          <a:prstGeom prst="wedgeEllipseCallout">
            <a:avLst>
              <a:gd name="adj1" fmla="val -28864"/>
              <a:gd name="adj2" fmla="val 59150"/>
            </a:avLst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SHRNUTÍ POSTUPU HROMADNÉ KORESPONDENCE</a:t>
            </a:r>
            <a:endParaRPr lang="cs-CZ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768579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8024" y="2468335"/>
            <a:ext cx="4198962" cy="42607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Nadpis 1"/>
          <p:cNvSpPr txBox="1">
            <a:spLocks/>
          </p:cNvSpPr>
          <p:nvPr/>
        </p:nvSpPr>
        <p:spPr>
          <a:xfrm>
            <a:off x="971600" y="980728"/>
            <a:ext cx="4618856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spcBef>
                <a:spcPct val="0"/>
              </a:spcBef>
              <a:buNone/>
              <a:defRPr sz="40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r>
              <a:rPr lang="cs-CZ" dirty="0"/>
              <a:t>Excel</a:t>
            </a:r>
          </a:p>
        </p:txBody>
      </p:sp>
      <p:sp>
        <p:nvSpPr>
          <p:cNvPr id="9" name="Zástupný symbol pro obsah 2"/>
          <p:cNvSpPr txBox="1">
            <a:spLocks/>
          </p:cNvSpPr>
          <p:nvPr/>
        </p:nvSpPr>
        <p:spPr>
          <a:xfrm>
            <a:off x="539552" y="2468880"/>
            <a:ext cx="4618856" cy="4389120"/>
          </a:xfrm>
          <a:prstGeom prst="rect">
            <a:avLst/>
          </a:prstGeom>
        </p:spPr>
        <p:txBody>
          <a:bodyPr/>
          <a:lstStyle>
            <a:lvl1pPr marL="274320" indent="-274320" algn="l" rtl="0" eaLnBrk="1" latinLnBrk="0" hangingPunct="1">
              <a:spcBef>
                <a:spcPct val="20000"/>
              </a:spcBef>
              <a:buClr>
                <a:schemeClr val="accent3"/>
              </a:buClr>
              <a:buSzPct val="9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46888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46888" algn="l" rtl="0" eaLnBrk="1" latinLnBrk="0" hangingPunct="1">
              <a:spcBef>
                <a:spcPct val="20000"/>
              </a:spcBef>
              <a:buClr>
                <a:schemeClr val="accent2"/>
              </a:buClr>
              <a:buSzPct val="70000"/>
              <a:buFont typeface="Wingdings 2"/>
              <a:buChar char="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88720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SzPct val="6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63040" indent="-210312" algn="l" rtl="0" eaLnBrk="1" latinLnBrk="0" hangingPunct="1">
              <a:spcBef>
                <a:spcPct val="20000"/>
              </a:spcBef>
              <a:buClr>
                <a:schemeClr val="accent4"/>
              </a:buClr>
              <a:buSzPct val="6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210312" algn="l" rtl="0" eaLnBrk="1" latinLnBrk="0" hangingPunct="1">
              <a:spcBef>
                <a:spcPct val="20000"/>
              </a:spcBef>
              <a:buClr>
                <a:schemeClr val="accent5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FontTx/>
              <a:buChar char="•"/>
              <a:defRPr kumimoji="0"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>
              <a:buClr>
                <a:schemeClr val="accent1"/>
              </a:buClr>
              <a:buSzPct val="76000"/>
              <a:buFont typeface="Wingdings 2" pitchFamily="18" charset="2"/>
              <a:buChar char=""/>
            </a:pPr>
            <a:r>
              <a:rPr lang="cs-CZ" sz="2400" dirty="0">
                <a:solidFill>
                  <a:schemeClr val="tx2"/>
                </a:solidFill>
              </a:rPr>
              <a:t>V Excelu vytvoříme zdroj dat</a:t>
            </a:r>
          </a:p>
          <a:p>
            <a:pPr marL="342900">
              <a:buClr>
                <a:schemeClr val="accent1"/>
              </a:buClr>
              <a:buSzPct val="76000"/>
              <a:buFont typeface="Wingdings 2" pitchFamily="18" charset="2"/>
              <a:buChar char=""/>
            </a:pPr>
            <a:r>
              <a:rPr lang="cs-CZ" sz="2400" dirty="0">
                <a:solidFill>
                  <a:schemeClr val="tx2"/>
                </a:solidFill>
              </a:rPr>
              <a:t>Tj. v tabulce napíšeme veškeré hodnoty, které se budou měnit </a:t>
            </a:r>
          </a:p>
          <a:p>
            <a:pPr marL="342900">
              <a:buClr>
                <a:schemeClr val="accent1"/>
              </a:buClr>
              <a:buSzPct val="76000"/>
              <a:buFont typeface="Wingdings 2" pitchFamily="18" charset="2"/>
              <a:buChar char=""/>
            </a:pPr>
            <a:r>
              <a:rPr lang="cs-CZ" sz="2400" dirty="0">
                <a:solidFill>
                  <a:schemeClr val="tx2"/>
                </a:solidFill>
              </a:rPr>
              <a:t>Dodržujeme zásady pro tvorbu databáze</a:t>
            </a:r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396313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16" r="4368" b="6001"/>
          <a:stretch/>
        </p:blipFill>
        <p:spPr bwMode="auto">
          <a:xfrm>
            <a:off x="467543" y="588816"/>
            <a:ext cx="3304693" cy="27792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4"/>
          <p:cNvPicPr>
            <a:picLocks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461" r="12939" b="5514"/>
          <a:stretch/>
        </p:blipFill>
        <p:spPr bwMode="auto">
          <a:xfrm>
            <a:off x="179514" y="476673"/>
            <a:ext cx="3843820" cy="30243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3" y="3704570"/>
            <a:ext cx="3843820" cy="3065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Šipka nahoru 3"/>
          <p:cNvSpPr/>
          <p:nvPr/>
        </p:nvSpPr>
        <p:spPr>
          <a:xfrm>
            <a:off x="1904609" y="2564904"/>
            <a:ext cx="576064" cy="2592288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8" name="Nadpis 1"/>
          <p:cNvSpPr txBox="1">
            <a:spLocks/>
          </p:cNvSpPr>
          <p:nvPr/>
        </p:nvSpPr>
        <p:spPr>
          <a:xfrm>
            <a:off x="4067944" y="704088"/>
            <a:ext cx="4618856" cy="1143000"/>
          </a:xfrm>
          <a:prstGeom prst="rect">
            <a:avLst/>
          </a:prstGeom>
        </p:spPr>
        <p:txBody>
          <a:bodyPr/>
          <a:lstStyle>
            <a:lvl1pPr algn="l" rtl="0" eaLnBrk="1" latinLnBrk="0" hangingPunct="1">
              <a:spcBef>
                <a:spcPct val="0"/>
              </a:spcBef>
              <a:buNone/>
              <a:defRPr kumimoji="0" sz="5000" b="0" kern="120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cs-CZ" sz="4000" dirty="0">
                <a:solidFill>
                  <a:schemeClr val="accent1"/>
                </a:solidFill>
              </a:rPr>
              <a:t>Word</a:t>
            </a:r>
            <a:r>
              <a:rPr lang="cs-CZ" dirty="0" smtClean="0"/>
              <a:t> </a:t>
            </a:r>
            <a:r>
              <a:rPr lang="cs-CZ" sz="4000" dirty="0" smtClean="0">
                <a:solidFill>
                  <a:schemeClr val="accent1"/>
                </a:solidFill>
                <a:sym typeface="Wingdings" panose="05000000000000000000" pitchFamily="2" charset="2"/>
              </a:rPr>
              <a:t> </a:t>
            </a:r>
            <a:r>
              <a:rPr lang="cs-CZ" sz="4000" dirty="0" smtClean="0">
                <a:solidFill>
                  <a:schemeClr val="accent1"/>
                </a:solidFill>
              </a:rPr>
              <a:t>Excel</a:t>
            </a:r>
            <a:endParaRPr lang="cs-CZ" sz="4000" dirty="0">
              <a:solidFill>
                <a:schemeClr val="accent1"/>
              </a:solidFill>
            </a:endParaRPr>
          </a:p>
        </p:txBody>
      </p:sp>
      <p:sp>
        <p:nvSpPr>
          <p:cNvPr id="9" name="Zástupný symbol pro obsah 2"/>
          <p:cNvSpPr txBox="1">
            <a:spLocks/>
          </p:cNvSpPr>
          <p:nvPr/>
        </p:nvSpPr>
        <p:spPr>
          <a:xfrm>
            <a:off x="4067944" y="1935480"/>
            <a:ext cx="4618856" cy="4389120"/>
          </a:xfrm>
          <a:prstGeom prst="rect">
            <a:avLst/>
          </a:prstGeom>
        </p:spPr>
        <p:txBody>
          <a:bodyPr/>
          <a:lstStyle>
            <a:lvl1pPr marL="274320" indent="-274320" algn="l" rtl="0" eaLnBrk="1" latinLnBrk="0" hangingPunct="1">
              <a:spcBef>
                <a:spcPct val="20000"/>
              </a:spcBef>
              <a:buClr>
                <a:schemeClr val="accent3"/>
              </a:buClr>
              <a:buSzPct val="9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46888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46888" algn="l" rtl="0" eaLnBrk="1" latinLnBrk="0" hangingPunct="1">
              <a:spcBef>
                <a:spcPct val="20000"/>
              </a:spcBef>
              <a:buClr>
                <a:schemeClr val="accent2"/>
              </a:buClr>
              <a:buSzPct val="70000"/>
              <a:buFont typeface="Wingdings 2"/>
              <a:buChar char="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88720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SzPct val="6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63040" indent="-210312" algn="l" rtl="0" eaLnBrk="1" latinLnBrk="0" hangingPunct="1">
              <a:spcBef>
                <a:spcPct val="20000"/>
              </a:spcBef>
              <a:buClr>
                <a:schemeClr val="accent4"/>
              </a:buClr>
              <a:buSzPct val="6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210312" algn="l" rtl="0" eaLnBrk="1" latinLnBrk="0" hangingPunct="1">
              <a:spcBef>
                <a:spcPct val="20000"/>
              </a:spcBef>
              <a:buClr>
                <a:schemeClr val="accent5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FontTx/>
              <a:buChar char="•"/>
              <a:defRPr kumimoji="0"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>
              <a:buClr>
                <a:schemeClr val="accent1"/>
              </a:buClr>
              <a:buSzPct val="76000"/>
              <a:buFont typeface="Wingdings 2" pitchFamily="18" charset="2"/>
              <a:buChar char=""/>
            </a:pPr>
            <a:r>
              <a:rPr lang="cs-CZ" sz="2400" dirty="0">
                <a:solidFill>
                  <a:schemeClr val="tx2"/>
                </a:solidFill>
              </a:rPr>
              <a:t>Propojíme zdroj dat           z Excelu s dopisem          ve Wordu </a:t>
            </a:r>
          </a:p>
          <a:p>
            <a:endParaRPr lang="cs-CZ" dirty="0"/>
          </a:p>
        </p:txBody>
      </p:sp>
      <p:sp>
        <p:nvSpPr>
          <p:cNvPr id="10" name="TextovéPole 9"/>
          <p:cNvSpPr txBox="1"/>
          <p:nvPr/>
        </p:nvSpPr>
        <p:spPr>
          <a:xfrm>
            <a:off x="6512086" y="4280029"/>
            <a:ext cx="2063385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sz="3600" dirty="0"/>
              <a:t>Sloučení</a:t>
            </a:r>
          </a:p>
          <a:p>
            <a:r>
              <a:rPr lang="cs-CZ" sz="3600" dirty="0" smtClean="0"/>
              <a:t>Tisk</a:t>
            </a:r>
          </a:p>
          <a:p>
            <a:r>
              <a:rPr lang="cs-CZ" sz="3600" dirty="0" smtClean="0"/>
              <a:t>Email</a:t>
            </a:r>
          </a:p>
        </p:txBody>
      </p:sp>
      <p:sp>
        <p:nvSpPr>
          <p:cNvPr id="11" name="Šipka doprava 10"/>
          <p:cNvSpPr/>
          <p:nvPr/>
        </p:nvSpPr>
        <p:spPr>
          <a:xfrm rot="1632226">
            <a:off x="4107026" y="3901616"/>
            <a:ext cx="2281465" cy="35091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0830381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0" grpId="0"/>
      <p:bldP spid="11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700808"/>
            <a:ext cx="9217024" cy="51845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Nadpis 2"/>
          <p:cNvSpPr>
            <a:spLocks noGrp="1"/>
          </p:cNvSpPr>
          <p:nvPr>
            <p:ph type="title"/>
          </p:nvPr>
        </p:nvSpPr>
        <p:spPr>
          <a:xfrm>
            <a:off x="455613" y="557808"/>
            <a:ext cx="8305800" cy="1143000"/>
          </a:xfrm>
        </p:spPr>
        <p:txBody>
          <a:bodyPr>
            <a:normAutofit fontScale="90000"/>
          </a:bodyPr>
          <a:lstStyle/>
          <a:p>
            <a:r>
              <a:rPr lang="cs-CZ" dirty="0" smtClean="0"/>
              <a:t>Konečný výsledek =&gt; mnoho „stejných“ dokumentů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2072915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ustin">
  <a:themeElements>
    <a:clrScheme name="Vlastní 8">
      <a:dk1>
        <a:sysClr val="windowText" lastClr="000000"/>
      </a:dk1>
      <a:lt1>
        <a:sysClr val="window" lastClr="FFFFFF"/>
      </a:lt1>
      <a:dk2>
        <a:srgbClr val="003399"/>
      </a:dk2>
      <a:lt2>
        <a:srgbClr val="0099FF"/>
      </a:lt2>
      <a:accent1>
        <a:srgbClr val="0000FF"/>
      </a:accent1>
      <a:accent2>
        <a:srgbClr val="6600FF"/>
      </a:accent2>
      <a:accent3>
        <a:srgbClr val="9933FF"/>
      </a:accent3>
      <a:accent4>
        <a:srgbClr val="66CCFF"/>
      </a:accent4>
      <a:accent5>
        <a:srgbClr val="99CCFF"/>
      </a:accent5>
      <a:accent6>
        <a:srgbClr val="CCCCFF"/>
      </a:accent6>
      <a:hlink>
        <a:srgbClr val="FF33CC"/>
      </a:hlink>
      <a:folHlink>
        <a:srgbClr val="990099"/>
      </a:folHlink>
    </a:clrScheme>
    <a:fontScheme name="Austin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Austin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  <a:lumMod val="100000"/>
              </a:schemeClr>
            </a:gs>
          </a:gsLst>
          <a:lin ang="504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75000"/>
                <a:satMod val="120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>
            <a:bevelT w="50800" h="12700" prst="softRound"/>
          </a:sp3d>
        </a:effectStyle>
        <a:effectStyle>
          <a:effectLst>
            <a:outerShdw blurRad="44450" dist="50800" dir="5400000" sx="96000" rotWithShape="0">
              <a:srgbClr val="000000">
                <a:alpha val="3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 contourW="15875" prstMaterial="metal">
            <a:bevelT w="101600" h="25400" prst="softRound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94000"/>
                <a:satMod val="114000"/>
                <a:lumMod val="96000"/>
              </a:schemeClr>
            </a:gs>
            <a:gs pos="62000">
              <a:schemeClr val="phClr">
                <a:tint val="92000"/>
                <a:shade val="66000"/>
                <a:satMod val="110000"/>
                <a:lumMod val="80000"/>
              </a:schemeClr>
            </a:gs>
            <a:gs pos="100000">
              <a:schemeClr val="phClr">
                <a:tint val="89000"/>
                <a:shade val="62000"/>
                <a:satMod val="110000"/>
                <a:lumMod val="7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80000"/>
                <a:shade val="58000"/>
              </a:schemeClr>
              <a:schemeClr val="phClr">
                <a:tint val="73000"/>
                <a:shade val="68000"/>
                <a:satMod val="15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Motiv systému Office">
  <a:themeElements>
    <a:clrScheme name="Kancelář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ncelář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893</TotalTime>
  <Words>239</Words>
  <Application>Microsoft Office PowerPoint</Application>
  <PresentationFormat>Předvádění na obrazovce (4:3)</PresentationFormat>
  <Paragraphs>41</Paragraphs>
  <Slides>22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5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22</vt:i4>
      </vt:variant>
    </vt:vector>
  </HeadingPairs>
  <TitlesOfParts>
    <vt:vector size="28" baseType="lpstr">
      <vt:lpstr>Arial</vt:lpstr>
      <vt:lpstr>Calibri</vt:lpstr>
      <vt:lpstr>Century Gothic</vt:lpstr>
      <vt:lpstr>Wingdings</vt:lpstr>
      <vt:lpstr>Wingdings 2</vt:lpstr>
      <vt:lpstr>Austin</vt:lpstr>
      <vt:lpstr>Hromadná korespondence</vt:lpstr>
      <vt:lpstr>Hromadná korespondence</vt:lpstr>
      <vt:lpstr>Prezentace aplikace PowerPoint</vt:lpstr>
      <vt:lpstr>Prezentace aplikace PowerPoint</vt:lpstr>
      <vt:lpstr>Zdroje dat </vt:lpstr>
      <vt:lpstr>Nový seznam příjemců</vt:lpstr>
      <vt:lpstr>Pole</vt:lpstr>
      <vt:lpstr>Prezentace aplikace PowerPoint</vt:lpstr>
      <vt:lpstr>Tvorba obálky</vt:lpstr>
      <vt:lpstr>Prezentace aplikace PowerPoint</vt:lpstr>
      <vt:lpstr>Prezentace aplikace PowerPoint</vt:lpstr>
      <vt:lpstr>Prezentace aplikace PowerPoint</vt:lpstr>
      <vt:lpstr>Nastavení odesilatele</vt:lpstr>
      <vt:lpstr>Štítky</vt:lpstr>
      <vt:lpstr>Prezentace aplikace PowerPoint</vt:lpstr>
      <vt:lpstr>Prezentace aplikace PowerPoint</vt:lpstr>
      <vt:lpstr>Prezentace aplikace PowerPoint</vt:lpstr>
      <vt:lpstr>Prezentace aplikace PowerPoint</vt:lpstr>
      <vt:lpstr>Word</vt:lpstr>
      <vt:lpstr>Prezentace aplikace PowerPoint</vt:lpstr>
      <vt:lpstr>Prezentace aplikace PowerPoint</vt:lpstr>
      <vt:lpstr>Konečný výsledek =&gt; mnoho „stejných“ dokumentů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Internetové aplikace - Marketing</dc:title>
  <dc:creator>Skřivánková Jitka</dc:creator>
  <cp:lastModifiedBy>Votavová Gabriela</cp:lastModifiedBy>
  <cp:revision>54</cp:revision>
  <dcterms:created xsi:type="dcterms:W3CDTF">2011-08-26T07:49:26Z</dcterms:created>
  <dcterms:modified xsi:type="dcterms:W3CDTF">2018-02-06T11:18:54Z</dcterms:modified>
</cp:coreProperties>
</file>