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0" r:id="rId1"/>
  </p:sldMasterIdLst>
  <p:notesMasterIdLst>
    <p:notesMasterId r:id="rId24"/>
  </p:notesMasterIdLst>
  <p:sldIdLst>
    <p:sldId id="256" r:id="rId2"/>
    <p:sldId id="272" r:id="rId3"/>
    <p:sldId id="273" r:id="rId4"/>
    <p:sldId id="275" r:id="rId5"/>
    <p:sldId id="279" r:id="rId6"/>
    <p:sldId id="280" r:id="rId7"/>
    <p:sldId id="281" r:id="rId8"/>
    <p:sldId id="282" r:id="rId9"/>
    <p:sldId id="267" r:id="rId10"/>
    <p:sldId id="285" r:id="rId11"/>
    <p:sldId id="283" r:id="rId12"/>
    <p:sldId id="284" r:id="rId13"/>
    <p:sldId id="276" r:id="rId14"/>
    <p:sldId id="286" r:id="rId15"/>
    <p:sldId id="277" r:id="rId16"/>
    <p:sldId id="278" r:id="rId17"/>
    <p:sldId id="287" r:id="rId18"/>
    <p:sldId id="288" r:id="rId19"/>
    <p:sldId id="274" r:id="rId20"/>
    <p:sldId id="291" r:id="rId21"/>
    <p:sldId id="289" r:id="rId22"/>
    <p:sldId id="290" r:id="rId2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C208C-2F59-466B-9273-C116DD30FE19}" type="datetimeFigureOut">
              <a:rPr lang="cs-CZ" smtClean="0"/>
              <a:t>11.12.2019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A8277-9B43-44EC-B48D-34398BCB74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584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úhlý trojúhelník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/>
              <a:t>Kliknutím můžete upravit styl předlohy.</a:t>
            </a:r>
            <a:endParaRPr kumimoji="0" lang="en-US"/>
          </a:p>
        </p:txBody>
      </p:sp>
      <p:grpSp>
        <p:nvGrpSpPr>
          <p:cNvPr id="2" name="Skupina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Volný tvar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Volný tvar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Volný tvar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Přímá spojovací čára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11320B0-E047-4E77-A1F9-07757530117E}" type="datetime1">
              <a:rPr lang="cs-CZ" smtClean="0"/>
              <a:t>11.12.2019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816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5282-C860-4716-9B8E-558AFEB1E3D5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3924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931E4-7BFE-4FE4-91EE-3BACD0BE1B21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Dvojitá šipk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vojitá šipk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11282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E829-A211-4D2F-B505-03B456A13B50}" type="datetime1">
              <a:rPr lang="cs-CZ" smtClean="0"/>
              <a:t>11.12.2019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Nadpis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60916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Po kliknutí můžete upravovat styly textu v předloze.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Po kliknutí můžete upravovat styly textu v předloze.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C0537-D98C-4B3A-870A-A5EF270F74D4}" type="datetime1">
              <a:rPr lang="cs-CZ" smtClean="0"/>
              <a:t>11.12.2019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8270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4F1F3-07D1-498E-8371-1B2E96BE0403}" type="datetime1">
              <a:rPr lang="cs-CZ" smtClean="0"/>
              <a:t>11.12.2019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13355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0769-0E68-477E-9A67-96A9F6033D2A}" type="datetime1">
              <a:rPr lang="cs-CZ" smtClean="0"/>
              <a:t>11.12.2019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281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CFC411A-2BAE-4B65-8E6E-EB4039942A61}" type="datetime1">
              <a:rPr lang="cs-CZ" smtClean="0"/>
              <a:t>11.12.2019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819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Po kliknutí můžete upravovat styly textu v předloze.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cs-CZ"/>
              <a:t>Kliknutím na ikonu přidáte obrázek.</a:t>
            </a:r>
            <a:endParaRPr kumimoji="0"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9933B51-AE0F-4376-ADF7-91062AD84AC0}" type="datetime1">
              <a:rPr lang="cs-CZ" smtClean="0"/>
              <a:t>11.12.2019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Volný tvar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Pravoúhlý trojúhelník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Přímá spojovací čára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vojitá šipk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vojitá šipk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23242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26C4-A3FD-4DB9-8636-A5C98C6A7214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80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Po kliknutí můžete upravovat styly textu v předloze.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CE92-E09D-4E5B-85AF-443BB3A5BA8F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91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olný tvar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Volný tvar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Pravoúhlý trojúhelník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Přímá spojovací čára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D680CAF-5141-4E7B-B321-B6AEDCD71E58}" type="datetime1">
              <a:rPr lang="cs-CZ" smtClean="0"/>
              <a:t>11.12.2019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B0DC329-AA71-434E-A9E4-F16C504ED75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999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Formuláře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dirty="0"/>
              <a:t>Další objekt MS Access</a:t>
            </a:r>
          </a:p>
          <a:p>
            <a:pPr>
              <a:lnSpc>
                <a:spcPct val="250000"/>
              </a:lnSpc>
            </a:pPr>
            <a:r>
              <a:rPr lang="cs-CZ" dirty="0"/>
              <a:t>Slouží k přehlednému zadávání dat do databáze či k jejich zobrazení</a:t>
            </a:r>
          </a:p>
          <a:p>
            <a:pPr>
              <a:lnSpc>
                <a:spcPct val="250000"/>
              </a:lnSpc>
            </a:pPr>
            <a:r>
              <a:rPr lang="cs-CZ" dirty="0"/>
              <a:t>Nachází se na kartě Vytvoření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D51FC2-3546-445B-A4BF-B0C1804F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644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Pomocí tlačítka Formulář (automatická tvorba)</a:t>
            </a:r>
          </a:p>
          <a:p>
            <a:pPr>
              <a:lnSpc>
                <a:spcPct val="200000"/>
              </a:lnSpc>
            </a:pPr>
            <a:r>
              <a:rPr lang="cs-CZ" dirty="0"/>
              <a:t>Pomocí Průvodce formulářem</a:t>
            </a:r>
          </a:p>
          <a:p>
            <a:pPr>
              <a:lnSpc>
                <a:spcPct val="200000"/>
              </a:lnSpc>
            </a:pPr>
            <a:r>
              <a:rPr lang="cs-CZ" dirty="0"/>
              <a:t>Návrh formuláře nebo Prázdný formulář</a:t>
            </a:r>
          </a:p>
          <a:p>
            <a:pPr>
              <a:lnSpc>
                <a:spcPct val="200000"/>
              </a:lnSpc>
            </a:pPr>
            <a:r>
              <a:rPr lang="cs-CZ" dirty="0"/>
              <a:t>Rozdělený formulář</a:t>
            </a:r>
          </a:p>
          <a:p>
            <a:pPr>
              <a:lnSpc>
                <a:spcPct val="200000"/>
              </a:lnSpc>
            </a:pPr>
            <a:r>
              <a:rPr lang="cs-CZ" dirty="0"/>
              <a:t>a další …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Tvorba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F5AE6EF-FF15-4D6B-9CBC-825C7125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9292A4A-7010-4EC3-81BA-D3FB092E1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4979194"/>
            <a:ext cx="4581525" cy="1428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85BA5724-D779-4DB4-A6DF-312894C3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Nejjednodušší vytvoření formuláře</a:t>
            </a:r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580A01BA-7F44-46DA-9BD6-936E0341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Pomocí tlačítka Formulář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C22DADE-2467-49D4-9500-BB7A1BC201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9568" b="28042"/>
          <a:stretch/>
        </p:blipFill>
        <p:spPr>
          <a:xfrm>
            <a:off x="7596336" y="210948"/>
            <a:ext cx="936104" cy="1028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6424D3D5-1E08-491C-A839-614772B8DB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36"/>
          <a:stretch/>
        </p:blipFill>
        <p:spPr>
          <a:xfrm>
            <a:off x="359458" y="2092326"/>
            <a:ext cx="8147755" cy="4315618"/>
          </a:xfrm>
          <a:prstGeom prst="rect">
            <a:avLst/>
          </a:prstGeom>
        </p:spPr>
      </p:pic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1B41448-94D4-4031-904C-D94FF8BB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708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cs-CZ" dirty="0"/>
              <a:t>Výběr tabulky</a:t>
            </a:r>
          </a:p>
          <a:p>
            <a:pPr>
              <a:lnSpc>
                <a:spcPct val="200000"/>
              </a:lnSpc>
            </a:pPr>
            <a:r>
              <a:rPr lang="cs-CZ" dirty="0"/>
              <a:t>Výběr atributů</a:t>
            </a:r>
          </a:p>
          <a:p>
            <a:pPr>
              <a:lnSpc>
                <a:spcPct val="200000"/>
              </a:lnSpc>
            </a:pPr>
            <a:r>
              <a:rPr lang="cs-CZ" dirty="0"/>
              <a:t>Podrobný výběr a řazení jednotlivých atributů</a:t>
            </a:r>
          </a:p>
          <a:p>
            <a:pPr>
              <a:lnSpc>
                <a:spcPct val="200000"/>
              </a:lnSpc>
            </a:pPr>
            <a:r>
              <a:rPr lang="cs-CZ" dirty="0"/>
              <a:t>Rozložení formuláře a orientace – styly vzhledu</a:t>
            </a:r>
          </a:p>
          <a:p>
            <a:pPr>
              <a:lnSpc>
                <a:spcPct val="200000"/>
              </a:lnSpc>
            </a:pPr>
            <a:r>
              <a:rPr lang="cs-CZ" dirty="0"/>
              <a:t>Název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7" name="Nadpis 2">
            <a:extLst>
              <a:ext uri="{FF2B5EF4-FFF2-40B4-BE49-F238E27FC236}">
                <a16:creationId xmlns:a16="http://schemas.microsoft.com/office/drawing/2014/main" id="{9D10C59E-96CC-495C-A3A8-16FF544BFE4B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Průvodce formulářem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500D9BA-211D-4E35-BD63-7069E21F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A9D59CE-835C-401D-BD21-82167325FA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66" b="62342"/>
          <a:stretch/>
        </p:blipFill>
        <p:spPr>
          <a:xfrm>
            <a:off x="6481539" y="411967"/>
            <a:ext cx="2205261" cy="538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108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28C29D71-BD07-41BC-A305-0DA9193FE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Výběr tabulky, dotazu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62FC893-96D1-46FE-A67F-B88606F3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6</a:t>
            </a:fld>
            <a:endParaRPr lang="cs-CZ"/>
          </a:p>
        </p:txBody>
      </p:sp>
      <p:sp>
        <p:nvSpPr>
          <p:cNvPr id="6" name="Nadpis 2">
            <a:extLst>
              <a:ext uri="{FF2B5EF4-FFF2-40B4-BE49-F238E27FC236}">
                <a16:creationId xmlns:a16="http://schemas.microsoft.com/office/drawing/2014/main" id="{EB25BD8C-3A94-4578-9B31-162631007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Průvodce formulářem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BD40FE0-28EF-4664-A109-F02D5CCE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060848"/>
            <a:ext cx="7298010" cy="463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4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28C29D71-BD07-41BC-A305-0DA9193FE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Volba rozložení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62FC893-96D1-46FE-A67F-B88606F3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7</a:t>
            </a:fld>
            <a:endParaRPr lang="cs-CZ"/>
          </a:p>
        </p:txBody>
      </p:sp>
      <p:sp>
        <p:nvSpPr>
          <p:cNvPr id="6" name="Nadpis 2">
            <a:extLst>
              <a:ext uri="{FF2B5EF4-FFF2-40B4-BE49-F238E27FC236}">
                <a16:creationId xmlns:a16="http://schemas.microsoft.com/office/drawing/2014/main" id="{EB25BD8C-3A94-4578-9B31-162631007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Průvodce formulářem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F4D8ADE-B65A-4830-A95D-9808F323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41438"/>
            <a:ext cx="7389068" cy="467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7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28C29D71-BD07-41BC-A305-0DA9193FE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Název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62FC893-96D1-46FE-A67F-B88606F3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8</a:t>
            </a:fld>
            <a:endParaRPr lang="cs-CZ"/>
          </a:p>
        </p:txBody>
      </p:sp>
      <p:sp>
        <p:nvSpPr>
          <p:cNvPr id="6" name="Nadpis 2">
            <a:extLst>
              <a:ext uri="{FF2B5EF4-FFF2-40B4-BE49-F238E27FC236}">
                <a16:creationId xmlns:a16="http://schemas.microsoft.com/office/drawing/2014/main" id="{EB25BD8C-3A94-4578-9B31-162631007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Průvodce formulářem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A02DE4A-AD32-47E0-953E-565A9420E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4" y="2051644"/>
            <a:ext cx="716959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3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Umožňuje vytvořit </a:t>
            </a:r>
            <a:r>
              <a:rPr lang="cs-CZ" dirty="0" err="1"/>
              <a:t>formulářu</a:t>
            </a:r>
            <a:r>
              <a:rPr lang="cs-CZ" dirty="0"/>
              <a:t> z více tabulek</a:t>
            </a:r>
          </a:p>
          <a:p>
            <a:pPr>
              <a:lnSpc>
                <a:spcPct val="150000"/>
              </a:lnSpc>
            </a:pPr>
            <a:r>
              <a:rPr lang="cs-CZ" dirty="0"/>
              <a:t>Pracujete v kartě Návrh, která vám umožní vkládat: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Nové objekty – dotazníku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Přidávat pole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Pracovat s vlastnostmi polí a formuláře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Pracovat se záhlavím a zápatím</a:t>
            </a:r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Návrh formuláře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E5B6C0-2171-4775-9B30-07C319F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CB2BD2B-7105-499F-80ED-A3830CF7AC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60" t="2379" r="62279" b="6902"/>
          <a:stretch/>
        </p:blipFill>
        <p:spPr>
          <a:xfrm>
            <a:off x="7524328" y="198066"/>
            <a:ext cx="864096" cy="1296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457200" y="1481328"/>
            <a:ext cx="807524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Úprava pomocí karet </a:t>
            </a:r>
            <a:r>
              <a:rPr lang="cs-CZ" b="1" dirty="0"/>
              <a:t>Nástroje návrhu formuláře</a:t>
            </a:r>
            <a:r>
              <a:rPr lang="cs-CZ" dirty="0"/>
              <a:t>: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Návrh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Uspořádání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Formát</a:t>
            </a:r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Návrh formuláře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745019-93E2-4FF4-9E6E-0C813C38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662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28C29D71-BD07-41BC-A305-0DA9193FE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62FC893-96D1-46FE-A67F-B88606F3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11</a:t>
            </a:fld>
            <a:endParaRPr lang="cs-CZ"/>
          </a:p>
        </p:txBody>
      </p:sp>
      <p:sp>
        <p:nvSpPr>
          <p:cNvPr id="6" name="Nadpis 2">
            <a:extLst>
              <a:ext uri="{FF2B5EF4-FFF2-40B4-BE49-F238E27FC236}">
                <a16:creationId xmlns:a16="http://schemas.microsoft.com/office/drawing/2014/main" id="{EB25BD8C-3A94-4578-9B31-162631007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Návrh formuláře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3A4D5D4-F906-453A-8A63-2560961658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01"/>
          <a:stretch/>
        </p:blipFill>
        <p:spPr>
          <a:xfrm>
            <a:off x="342588" y="1681654"/>
            <a:ext cx="8487564" cy="452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6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28C29D71-BD07-41BC-A305-0DA9193FE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62FC893-96D1-46FE-A67F-B88606F3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12</a:t>
            </a:fld>
            <a:endParaRPr lang="cs-CZ"/>
          </a:p>
        </p:txBody>
      </p:sp>
      <p:sp>
        <p:nvSpPr>
          <p:cNvPr id="6" name="Nadpis 2">
            <a:extLst>
              <a:ext uri="{FF2B5EF4-FFF2-40B4-BE49-F238E27FC236}">
                <a16:creationId xmlns:a16="http://schemas.microsoft.com/office/drawing/2014/main" id="{EB25BD8C-3A94-4578-9B31-162631007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Nástroje návrhu formuláře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ED51D41-142D-4A4D-BD41-D25498E561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483"/>
          <a:stretch/>
        </p:blipFill>
        <p:spPr>
          <a:xfrm>
            <a:off x="342588" y="1681654"/>
            <a:ext cx="8487564" cy="1027266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7C4AA409-A197-4211-9D7B-79F34415A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4" y="3314298"/>
            <a:ext cx="9144000" cy="90558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7E447913-B98C-4FB0-AD0D-CF36361E7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4" y="4716063"/>
            <a:ext cx="9144000" cy="119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46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AD91531-B928-4E95-9FAA-6B72C28A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CB89F07-E74E-48CA-9E2D-5ACD2293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Prázdný formulář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B0616F5-7ADB-4365-B06C-5483CB2AF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49" t="7418" r="44991" b="11942"/>
          <a:stretch/>
        </p:blipFill>
        <p:spPr>
          <a:xfrm>
            <a:off x="7380312" y="297355"/>
            <a:ext cx="864096" cy="1152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09B690-A2A3-48AA-8E84-1DD07DF3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1CC78DFA-FD06-4C7C-9222-0692DBB83E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01"/>
          <a:stretch/>
        </p:blipFill>
        <p:spPr>
          <a:xfrm>
            <a:off x="487556" y="1874373"/>
            <a:ext cx="8229600" cy="43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4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AD91531-B928-4E95-9FAA-6B72C28A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Vytváříme vlastní formulář pomocí karet </a:t>
            </a:r>
            <a:r>
              <a:rPr lang="cs-CZ" b="1" dirty="0"/>
              <a:t>Nástroje rozložení formuláře</a:t>
            </a:r>
            <a:r>
              <a:rPr lang="cs-CZ" dirty="0"/>
              <a:t>: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Návrh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Uspořádání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Formát</a:t>
            </a:r>
          </a:p>
          <a:p>
            <a:pPr lvl="1">
              <a:lnSpc>
                <a:spcPct val="150000"/>
              </a:lnSpc>
            </a:pPr>
            <a:endParaRPr lang="cs-CZ" dirty="0"/>
          </a:p>
          <a:p>
            <a:pPr lvl="1">
              <a:lnSpc>
                <a:spcPct val="150000"/>
              </a:lnSpc>
            </a:pPr>
            <a:r>
              <a:rPr lang="cs-CZ" dirty="0"/>
              <a:t>Stejné karty jako u Návrhu formuláře</a:t>
            </a:r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CB89F07-E74E-48CA-9E2D-5ACD2293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Prázdný formulář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B0616F5-7ADB-4365-B06C-5483CB2AF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49" t="7418" r="44991" b="11942"/>
          <a:stretch/>
        </p:blipFill>
        <p:spPr>
          <a:xfrm>
            <a:off x="7380312" y="297355"/>
            <a:ext cx="864096" cy="1152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09B690-A2A3-48AA-8E84-1DD07DF3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40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AD91531-B928-4E95-9FAA-6B72C28A8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/>
          <a:lstStyle/>
          <a:p>
            <a:r>
              <a:rPr lang="cs-CZ" dirty="0"/>
              <a:t>Další formuláře =&gt; Rozdělený formulář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CB89F07-E74E-48CA-9E2D-5ACD2293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Rozdělený formulář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B0616F5-7ADB-4365-B06C-5483CB2AF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11" t="52778" r="5697" b="16983"/>
          <a:stretch/>
        </p:blipFill>
        <p:spPr>
          <a:xfrm>
            <a:off x="6588224" y="414090"/>
            <a:ext cx="1800200" cy="432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09B690-A2A3-48AA-8E84-1DD07DF3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15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C8C9467-A2BC-47AC-9961-D6DFAD69A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138" t="5600" r="27124" b="38667"/>
          <a:stretch/>
        </p:blipFill>
        <p:spPr>
          <a:xfrm>
            <a:off x="1547664" y="2122187"/>
            <a:ext cx="6048672" cy="443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AD91531-B928-4E95-9FAA-6B72C28A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Automatické vytvoření formuláře a zdrojové tabulky 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CB89F07-E74E-48CA-9E2D-5ACD2293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Rozdělený formulář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09B690-A2A3-48AA-8E84-1DD07DF3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16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75014D9-DD3C-4031-8EFA-6DB8E292A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50" y="2527521"/>
            <a:ext cx="8417747" cy="354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02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AD91531-B928-4E95-9FAA-6B72C28A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CB89F07-E74E-48CA-9E2D-5ACD2293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Navigace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B0616F5-7ADB-4365-B06C-5483CB2AF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23" t="30291" r="18036" b="42919"/>
          <a:stretch/>
        </p:blipFill>
        <p:spPr>
          <a:xfrm>
            <a:off x="6228184" y="486938"/>
            <a:ext cx="1339702" cy="382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09B690-A2A3-48AA-8E84-1DD07DF3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17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62CF524-22AA-4541-BFE4-4FAF1CFF3D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3" t="5999" r="32030" b="32801"/>
          <a:stretch/>
        </p:blipFill>
        <p:spPr>
          <a:xfrm>
            <a:off x="457200" y="1506004"/>
            <a:ext cx="8166702" cy="42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0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4B8CAF7-B23D-4B00-AB3C-295DD69F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Přes </a:t>
            </a:r>
            <a:r>
              <a:rPr lang="cs-CZ" b="1" dirty="0"/>
              <a:t>Návrhové zobrazení =&gt; Nástroje návrhu formuláře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00FCAF9-B882-40C4-8D0D-5CD3266F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18</a:t>
            </a:fld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FF4922E2-DD04-48F4-BD1A-DC2FB537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Formuláře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ABA9AD7-F152-4AFE-BC57-C05FB6AEDE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387" b="43000"/>
          <a:stretch/>
        </p:blipFill>
        <p:spPr>
          <a:xfrm>
            <a:off x="2987824" y="2169245"/>
            <a:ext cx="5040560" cy="441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36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dirty="0"/>
              <a:t>Umožňuje pracovat: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se záhlavím a zápatím sestavy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s tělem sestavy 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vkládat ovládací prvky, formátovat,…</a:t>
            </a:r>
          </a:p>
          <a:p>
            <a:pPr lvl="1"/>
            <a:endParaRPr lang="cs-CZ" dirty="0"/>
          </a:p>
          <a:p>
            <a:pPr>
              <a:buNone/>
            </a:pPr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Návrhové zobrazení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7E4A9C-735D-4203-865A-FB9F7EB4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4B8CAF7-B23D-4B00-AB3C-295DD69F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Nástroje návrhu formuláře </a:t>
            </a:r>
            <a:r>
              <a:rPr lang="cs-CZ" dirty="0"/>
              <a:t>karta</a:t>
            </a:r>
            <a:r>
              <a:rPr lang="cs-CZ" b="1" dirty="0"/>
              <a:t> Návrh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00FCAF9-B882-40C4-8D0D-5CD3266F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20</a:t>
            </a:fld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FF4922E2-DD04-48F4-BD1A-DC2FB537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Formuláře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816CD2E-3EC4-41AD-912F-82FCB55880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676" b="28270"/>
          <a:stretch/>
        </p:blipFill>
        <p:spPr>
          <a:xfrm>
            <a:off x="584688" y="2636912"/>
            <a:ext cx="7974623" cy="377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35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4B8CAF7-B23D-4B00-AB3C-295DD69F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</a:t>
            </a:r>
            <a:r>
              <a:rPr lang="cs-CZ" b="1" dirty="0"/>
              <a:t>Uspořádání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00FCAF9-B882-40C4-8D0D-5CD3266F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21</a:t>
            </a:fld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FF4922E2-DD04-48F4-BD1A-DC2FB537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Formuláře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C490882-EC17-4EFB-9285-E9AACCBE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50" b="5201"/>
          <a:stretch/>
        </p:blipFill>
        <p:spPr>
          <a:xfrm>
            <a:off x="726096" y="2365719"/>
            <a:ext cx="7691808" cy="421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26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44B8CAF7-B23D-4B00-AB3C-295DD69F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</a:t>
            </a:r>
            <a:r>
              <a:rPr lang="cs-CZ" b="1" dirty="0"/>
              <a:t>Formát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00FCAF9-B882-40C4-8D0D-5CD3266F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DC329-AA71-434E-A9E4-F16C504ED751}" type="slidenum">
              <a:rPr lang="cs-CZ" smtClean="0"/>
              <a:pPr/>
              <a:t>22</a:t>
            </a:fld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FF4922E2-DD04-48F4-BD1A-DC2FB537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Formuláře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02EDD64-E8C7-4403-8083-980E88C9CE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55" b="10054"/>
          <a:stretch/>
        </p:blipFill>
        <p:spPr>
          <a:xfrm>
            <a:off x="708055" y="2337040"/>
            <a:ext cx="7727889" cy="407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43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tiv2">
  <a:themeElements>
    <a:clrScheme name="Vlastní 3">
      <a:dk1>
        <a:sysClr val="windowText" lastClr="000000"/>
      </a:dk1>
      <a:lt1>
        <a:sysClr val="window" lastClr="FFFFFF"/>
      </a:lt1>
      <a:dk2>
        <a:srgbClr val="003300"/>
      </a:dk2>
      <a:lt2>
        <a:srgbClr val="66FF33"/>
      </a:lt2>
      <a:accent1>
        <a:srgbClr val="33CC33"/>
      </a:accent1>
      <a:accent2>
        <a:srgbClr val="99CC00"/>
      </a:accent2>
      <a:accent3>
        <a:srgbClr val="CCCC00"/>
      </a:accent3>
      <a:accent4>
        <a:srgbClr val="009900"/>
      </a:accent4>
      <a:accent5>
        <a:srgbClr val="006600"/>
      </a:accent5>
      <a:accent6>
        <a:srgbClr val="336600"/>
      </a:accent6>
      <a:hlink>
        <a:srgbClr val="339933"/>
      </a:hlink>
      <a:folHlink>
        <a:srgbClr val="66FF33"/>
      </a:folHlink>
    </a:clrScheme>
    <a:fontScheme name="Shluk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Shlu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2" id="{75623E63-EEB5-4D30-B6E4-B9BD5FD65133}" vid="{648E1F3F-774D-4DC1-875A-EE0C23025DB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Motiv2</Template>
  <TotalTime>872</TotalTime>
  <Words>236</Words>
  <Application>Microsoft Office PowerPoint</Application>
  <PresentationFormat>Předvádění na obrazovce (4:3)</PresentationFormat>
  <Paragraphs>87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8" baseType="lpstr">
      <vt:lpstr>Calibri</vt:lpstr>
      <vt:lpstr>Lucida Sans Unicode</vt:lpstr>
      <vt:lpstr>Verdana</vt:lpstr>
      <vt:lpstr>Wingdings 2</vt:lpstr>
      <vt:lpstr>Wingdings 3</vt:lpstr>
      <vt:lpstr>Motiv2</vt:lpstr>
      <vt:lpstr>Formuláře</vt:lpstr>
      <vt:lpstr>Úvod</vt:lpstr>
      <vt:lpstr>Tvorba</vt:lpstr>
      <vt:lpstr>Pomocí tlačítka Formulář</vt:lpstr>
      <vt:lpstr>Prezentace aplikace PowerPoint</vt:lpstr>
      <vt:lpstr>Průvodce formulářem</vt:lpstr>
      <vt:lpstr>Průvodce formulářem</vt:lpstr>
      <vt:lpstr>Průvodce formulářem</vt:lpstr>
      <vt:lpstr>Návrh formuláře</vt:lpstr>
      <vt:lpstr>Návrh formuláře</vt:lpstr>
      <vt:lpstr>Návrh formuláře</vt:lpstr>
      <vt:lpstr>Nástroje návrhu formuláře</vt:lpstr>
      <vt:lpstr>Prázdný formulář</vt:lpstr>
      <vt:lpstr>Prázdný formulář</vt:lpstr>
      <vt:lpstr>Rozdělený formulář</vt:lpstr>
      <vt:lpstr>Rozdělený formulář</vt:lpstr>
      <vt:lpstr>Navigace</vt:lpstr>
      <vt:lpstr>Úprava Formuláře</vt:lpstr>
      <vt:lpstr>Návrhové zobrazení</vt:lpstr>
      <vt:lpstr>Úprava Formuláře</vt:lpstr>
      <vt:lpstr>Úprava Formuláře</vt:lpstr>
      <vt:lpstr>Úprava Formuláře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Formuláře</dc:title>
  <dc:creator/>
  <cp:lastModifiedBy>Votavová Gabriela</cp:lastModifiedBy>
  <cp:revision>78</cp:revision>
  <dcterms:created xsi:type="dcterms:W3CDTF">2012-04-20T08:08:42Z</dcterms:created>
  <dcterms:modified xsi:type="dcterms:W3CDTF">2019-12-11T12:34:31Z</dcterms:modified>
</cp:coreProperties>
</file>