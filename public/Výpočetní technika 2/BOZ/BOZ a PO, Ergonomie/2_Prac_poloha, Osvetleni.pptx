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1"/>
  </p:notesMasterIdLst>
  <p:sldIdLst>
    <p:sldId id="256" r:id="rId2"/>
    <p:sldId id="267" r:id="rId3"/>
    <p:sldId id="257" r:id="rId4"/>
    <p:sldId id="261" r:id="rId5"/>
    <p:sldId id="260" r:id="rId6"/>
    <p:sldId id="262" r:id="rId7"/>
    <p:sldId id="268" r:id="rId8"/>
    <p:sldId id="263" r:id="rId9"/>
    <p:sldId id="264" r:id="rId10"/>
    <p:sldId id="266" r:id="rId11"/>
    <p:sldId id="269" r:id="rId12"/>
    <p:sldId id="259" r:id="rId13"/>
    <p:sldId id="265" r:id="rId14"/>
    <p:sldId id="270" r:id="rId15"/>
    <p:sldId id="272" r:id="rId16"/>
    <p:sldId id="271" r:id="rId17"/>
    <p:sldId id="273" r:id="rId18"/>
    <p:sldId id="274" r:id="rId19"/>
    <p:sldId id="275" r:id="rId20"/>
  </p:sldIdLst>
  <p:sldSz cx="12192000" cy="6858000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4996C06C-12A4-4353-9B36-316E0DA77C47}">
          <p14:sldIdLst>
            <p14:sldId id="256"/>
          </p14:sldIdLst>
        </p14:section>
        <p14:section name="Pracovní poloha" id="{F71064D3-DA86-404A-A29B-8A6CA9598D90}">
          <p14:sldIdLst>
            <p14:sldId id="267"/>
            <p14:sldId id="257"/>
            <p14:sldId id="261"/>
            <p14:sldId id="260"/>
            <p14:sldId id="262"/>
            <p14:sldId id="268"/>
            <p14:sldId id="263"/>
          </p14:sldIdLst>
        </p14:section>
        <p14:section name="Osvětlení u pc" id="{D1A70E6E-281B-4231-B9CE-EBCBF731E20E}">
          <p14:sldIdLst>
            <p14:sldId id="264"/>
            <p14:sldId id="266"/>
            <p14:sldId id="269"/>
            <p14:sldId id="259"/>
            <p14:sldId id="265"/>
            <p14:sldId id="270"/>
            <p14:sldId id="272"/>
            <p14:sldId id="271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4ED2B-79CB-4C31-A5E0-B91D3399D015}" v="30" dt="2021-09-13T10:37:41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86410" autoAdjust="0"/>
  </p:normalViewPr>
  <p:slideViewPr>
    <p:cSldViewPr snapToGrid="0">
      <p:cViewPr varScale="1">
        <p:scale>
          <a:sx n="54" d="100"/>
          <a:sy n="54" d="100"/>
        </p:scale>
        <p:origin x="71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C61FB-851D-4775-9087-455AA802938A}" type="datetimeFigureOut">
              <a:rPr lang="cs-CZ" smtClean="0"/>
              <a:t>12.09.2021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4009C-8F6D-40BC-B274-56E95039DF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881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009C-8F6D-40BC-B274-56E95039DF1C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4131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F31B001-A895-4D42-978F-1EBA1845E5D2}" type="datetime1">
              <a:rPr lang="cs-CZ" smtClean="0"/>
              <a:t>12.09.2021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512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E99A-2E34-4BCE-9734-A5F093FBBBF0}" type="datetime1">
              <a:rPr lang="cs-CZ" smtClean="0"/>
              <a:t>12.09.2021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93286" y="6054635"/>
            <a:ext cx="796719" cy="632404"/>
          </a:xfrm>
        </p:spPr>
        <p:txBody>
          <a:bodyPr/>
          <a:lstStyle>
            <a:lvl1pPr>
              <a:defRPr sz="2000"/>
            </a:lvl1pPr>
          </a:lstStyle>
          <a:p>
            <a:fld id="{1CA6DBA2-E34C-48A6-9743-D000D65BB3C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3489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55D6-2555-4471-88BD-F908ACA8BB81}" type="datetime1">
              <a:rPr lang="cs-CZ" smtClean="0"/>
              <a:t>12.09.2021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128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2E7B-3EB7-4962-9976-1A147258F368}" type="datetime1">
              <a:rPr lang="cs-CZ" smtClean="0"/>
              <a:t>12.09.2021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92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781D-2322-4725-A8E5-21E214BE6700}" type="datetime1">
              <a:rPr lang="cs-CZ" smtClean="0"/>
              <a:t>12.09.2021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080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B0A6-0A82-45F3-A33B-D4A912B0CC6C}" type="datetime1">
              <a:rPr lang="cs-CZ" smtClean="0"/>
              <a:t>12.09.2021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764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49A-CD47-4708-806A-F30D5C478934}" type="datetime1">
              <a:rPr lang="cs-CZ" smtClean="0"/>
              <a:t>12.09.2021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737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9B77-C519-4093-BCEB-9B45021135DC}" type="datetime1">
              <a:rPr lang="cs-CZ" smtClean="0"/>
              <a:t>12.09.2021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865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E53D294-6E0B-4143-B234-1AAA2C258F00}" type="datetime1">
              <a:rPr lang="cs-CZ" smtClean="0"/>
              <a:t>12.09.2021</a:t>
            </a:fld>
            <a:endParaRPr lang="cs-CZ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cs-CZ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2296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50147-7229-4EF9-A379-435CD0A249B2}" type="datetime1">
              <a:rPr lang="cs-CZ" smtClean="0"/>
              <a:t>12.09.2021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700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07C3-F59F-46A0-9E75-6EC4D94919CA}" type="datetime1">
              <a:rPr lang="cs-CZ" smtClean="0"/>
              <a:t>12.09.2021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344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2ACAFC1-6F94-438A-9D64-635AA03FB2A8}" type="datetime1">
              <a:rPr lang="cs-CZ" smtClean="0"/>
              <a:t>12.09.2021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576622" cy="7646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000" b="0">
                <a:ln>
                  <a:noFill/>
                </a:ln>
                <a:solidFill>
                  <a:srgbClr val="002060">
                    <a:alpha val="25000"/>
                  </a:srgbClr>
                </a:solidFill>
                <a:latin typeface="+mj-lt"/>
              </a:defRPr>
            </a:lvl1pPr>
          </a:lstStyle>
          <a:p>
            <a:fld id="{1CA6DBA2-E34C-48A6-9743-D000D65BB3C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669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hyperlink" Target="https://zsbozp.vubp.cz/pracovni-prostredi/ergonomie/337-ergonomie-pracovniho-mista" TargetMode="External"/><Relationship Id="rId4" Type="http://schemas.openxmlformats.org/officeDocument/2006/relationships/hyperlink" Target="https://www.bozpinfo.cz/sites/default/files/obsah/super-obsah/metodicke-listy/soubory/pocitac.pdf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Pracovní poloha a osvětlení při práci na </a:t>
            </a:r>
            <a:r>
              <a:rPr lang="cs-CZ" dirty="0" err="1"/>
              <a:t>pc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„aby tělo nebolelo“</a:t>
            </a:r>
          </a:p>
        </p:txBody>
      </p:sp>
    </p:spTree>
    <p:extLst>
      <p:ext uri="{BB962C8B-B14F-4D97-AF65-F5344CB8AC3E}">
        <p14:creationId xmlns:p14="http://schemas.microsoft.com/office/powerpoint/2010/main" val="3622701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262764-CC87-4BF2-A202-4A3BE6D5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Ergonomické zásady při práci na </a:t>
            </a:r>
            <a:r>
              <a:rPr lang="cs-CZ" dirty="0" err="1"/>
              <a:t>pc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38C206-BD35-4965-958D-096DB473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62252"/>
          </a:xfrm>
        </p:spPr>
        <p:txBody>
          <a:bodyPr>
            <a:normAutofit fontScale="92500" lnSpcReduction="20000"/>
          </a:bodyPr>
          <a:lstStyle/>
          <a:p>
            <a:pPr algn="l" fontAlgn="base"/>
            <a:r>
              <a:rPr lang="cs-CZ" sz="2600" i="1" dirty="0">
                <a:solidFill>
                  <a:srgbClr val="000000"/>
                </a:solidFill>
                <a:latin typeface="inherit"/>
              </a:rPr>
              <a:t>Pokud budete poctivě dodržovat tato základní ergonomická pravidla při práci na počítači, v mnoha směrech se vám může ulevit. Důležité je také dbát na ergonomii celého pracovního místa.</a:t>
            </a:r>
          </a:p>
          <a:p>
            <a:pPr algn="l" fontAlgn="base">
              <a:lnSpc>
                <a:spcPct val="160000"/>
              </a:lnSpc>
            </a:pPr>
            <a:r>
              <a:rPr lang="cs-CZ" sz="2600" i="1" dirty="0">
                <a:solidFill>
                  <a:srgbClr val="000000"/>
                </a:solidFill>
                <a:latin typeface="inherit"/>
              </a:rPr>
              <a:t>1. Dispozice kanceláře a její vybavení</a:t>
            </a:r>
            <a:br>
              <a:rPr lang="cs-CZ" sz="2600" i="1" dirty="0">
                <a:solidFill>
                  <a:srgbClr val="000000"/>
                </a:solidFill>
                <a:latin typeface="inherit"/>
              </a:rPr>
            </a:br>
            <a:r>
              <a:rPr lang="cs-CZ" sz="2600" i="1" dirty="0">
                <a:solidFill>
                  <a:srgbClr val="000000"/>
                </a:solidFill>
                <a:latin typeface="inherit"/>
              </a:rPr>
              <a:t>2. Výška a rozměry pracovního stolu</a:t>
            </a:r>
            <a:br>
              <a:rPr lang="cs-CZ" sz="2600" i="1" dirty="0">
                <a:solidFill>
                  <a:srgbClr val="000000"/>
                </a:solidFill>
                <a:latin typeface="inherit"/>
              </a:rPr>
            </a:br>
            <a:r>
              <a:rPr lang="cs-CZ" sz="2600" i="1" dirty="0">
                <a:solidFill>
                  <a:srgbClr val="000000"/>
                </a:solidFill>
                <a:latin typeface="inherit"/>
              </a:rPr>
              <a:t>3. Ergonomická židle a její nastavení</a:t>
            </a:r>
            <a:br>
              <a:rPr lang="cs-CZ" sz="2600" i="1" dirty="0">
                <a:solidFill>
                  <a:srgbClr val="000000"/>
                </a:solidFill>
                <a:latin typeface="inherit"/>
              </a:rPr>
            </a:br>
            <a:r>
              <a:rPr lang="cs-CZ" sz="2600" i="1" dirty="0">
                <a:solidFill>
                  <a:srgbClr val="000000"/>
                </a:solidFill>
                <a:latin typeface="inherit"/>
              </a:rPr>
              <a:t>4. Správné sezení u PC</a:t>
            </a:r>
            <a:br>
              <a:rPr lang="cs-CZ" sz="2600" i="1" dirty="0">
                <a:solidFill>
                  <a:srgbClr val="000000"/>
                </a:solidFill>
                <a:latin typeface="inherit"/>
              </a:rPr>
            </a:br>
            <a:r>
              <a:rPr lang="cs-CZ" sz="2600" i="1" dirty="0">
                <a:solidFill>
                  <a:srgbClr val="000000"/>
                </a:solidFill>
                <a:latin typeface="inherit"/>
              </a:rPr>
              <a:t>5. Přestávky a rozcvičky</a:t>
            </a:r>
          </a:p>
          <a:p>
            <a:endParaRPr lang="cs-CZ" dirty="0"/>
          </a:p>
          <a:p>
            <a:r>
              <a:rPr lang="cs-CZ" sz="1900" dirty="0"/>
              <a:t>Zdroj a více informací dostupných na: https://www.bezpecnostprace.info/pracovni-urazy/ergonomie-pocitacoveho-pracoviste-a-zasady-bezpecnosti-prace-na-pc-aneb-jak-predejit-rsi-syndromu/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AB85F0D-3BBF-4DC1-A8F4-F422B6B1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244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Jaká židle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591001"/>
          </a:xfrm>
        </p:spPr>
        <p:txBody>
          <a:bodyPr>
            <a:normAutofit/>
          </a:bodyPr>
          <a:lstStyle/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Nastavitelná výška -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plosky</a:t>
            </a:r>
            <a:r>
              <a:rPr lang="cs-CZ" i="1" dirty="0">
                <a:solidFill>
                  <a:srgbClr val="000000"/>
                </a:solidFill>
                <a:latin typeface="inherit"/>
              </a:rPr>
              <a:t> nohou na zemi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Prostorný, pohodlný sedák – prokrvování (mravenčení)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Tvrdost sedací plochy</a:t>
            </a:r>
          </a:p>
          <a:p>
            <a:pPr lvl="1"/>
            <a:endParaRPr lang="cs-CZ" i="1" dirty="0">
              <a:solidFill>
                <a:srgbClr val="000000"/>
              </a:solidFill>
              <a:latin typeface="inherit"/>
            </a:endParaRP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Tvarované opěradlo – zakřivení páteře – bederní páteř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Individuální výběr – zkoušet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Výška – min. dolní okraj lopatek</a:t>
            </a:r>
          </a:p>
          <a:p>
            <a:pPr lvl="1"/>
            <a:endParaRPr lang="cs-CZ" i="1" dirty="0">
              <a:solidFill>
                <a:srgbClr val="000000"/>
              </a:solidFill>
              <a:latin typeface="inherit"/>
            </a:endParaRP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Uvolněná ramena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90° předloktí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39B4B695-B25F-478D-A04E-520776113FBE}"/>
              </a:ext>
            </a:extLst>
          </p:cNvPr>
          <p:cNvSpPr txBox="1">
            <a:spLocks/>
          </p:cNvSpPr>
          <p:nvPr/>
        </p:nvSpPr>
        <p:spPr>
          <a:xfrm>
            <a:off x="8403535" y="1788806"/>
            <a:ext cx="2408589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sedák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B1BAB471-E61C-47D6-A3EC-8BBF2A3594C3}"/>
              </a:ext>
            </a:extLst>
          </p:cNvPr>
          <p:cNvSpPr txBox="1">
            <a:spLocks/>
          </p:cNvSpPr>
          <p:nvPr/>
        </p:nvSpPr>
        <p:spPr>
          <a:xfrm>
            <a:off x="8403535" y="3478081"/>
            <a:ext cx="3453978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opěradlo</a:t>
            </a:r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F3EBF89F-4160-4861-9BE4-142B65B964E3}"/>
              </a:ext>
            </a:extLst>
          </p:cNvPr>
          <p:cNvSpPr txBox="1">
            <a:spLocks/>
          </p:cNvSpPr>
          <p:nvPr/>
        </p:nvSpPr>
        <p:spPr>
          <a:xfrm>
            <a:off x="8403535" y="4974879"/>
            <a:ext cx="4920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opěrky rukou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F0FD641-9A4F-49A1-AE74-7A3B648F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251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cs-CZ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cs-CZ" sz="540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Jak se správně usadit </a:t>
            </a:r>
            <a:endParaRPr lang="cs-CZ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567250"/>
          </a:xfrm>
        </p:spPr>
        <p:txBody>
          <a:bodyPr/>
          <a:lstStyle/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Vzpřímený posed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Rovná záda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Opora v opěradle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Hlava hledí zpříma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Ramena volně – tlak dolů a vzad</a:t>
            </a:r>
          </a:p>
          <a:p>
            <a:pPr lvl="1"/>
            <a:endParaRPr lang="cs-CZ" i="1" dirty="0">
              <a:solidFill>
                <a:srgbClr val="000000"/>
              </a:solidFill>
              <a:latin typeface="inherit"/>
            </a:endParaRPr>
          </a:p>
          <a:p>
            <a:pPr lvl="1"/>
            <a:endParaRPr lang="cs-CZ" i="1" dirty="0">
              <a:solidFill>
                <a:srgbClr val="000000"/>
              </a:solidFill>
              <a:latin typeface="inherit"/>
            </a:endParaRP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Mírně od sebe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Kolena ohnutá 90° 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Kyčle - max. úroveň kolen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BAF3615F-9136-4967-BF6B-71F7EA86EFC8}"/>
              </a:ext>
            </a:extLst>
          </p:cNvPr>
          <p:cNvSpPr txBox="1">
            <a:spLocks/>
          </p:cNvSpPr>
          <p:nvPr/>
        </p:nvSpPr>
        <p:spPr>
          <a:xfrm>
            <a:off x="7048131" y="1968509"/>
            <a:ext cx="2345252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chemeClr val="accent1">
                    <a:lumMod val="75000"/>
                  </a:schemeClr>
                </a:solidFill>
              </a:rPr>
              <a:t>trup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8AFCFEAC-EC8E-4BE5-9EFB-7F559BC9323A}"/>
              </a:ext>
            </a:extLst>
          </p:cNvPr>
          <p:cNvSpPr txBox="1">
            <a:spLocks/>
          </p:cNvSpPr>
          <p:nvPr/>
        </p:nvSpPr>
        <p:spPr>
          <a:xfrm>
            <a:off x="7042190" y="4374852"/>
            <a:ext cx="4387809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chemeClr val="accent1">
                    <a:lumMod val="75000"/>
                  </a:schemeClr>
                </a:solidFill>
              </a:rPr>
              <a:t>dolní končetiny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19E702F-CC90-4E55-81EB-B868E23B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8452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911955" y="120015"/>
            <a:ext cx="3401568" cy="1920240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Poloha monitoru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7DFEE3E-355A-4EF8-A1F6-0646956A50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4" r="14838" b="-1"/>
          <a:stretch/>
        </p:blipFill>
        <p:spPr bwMode="auto">
          <a:xfrm>
            <a:off x="633999" y="640080"/>
            <a:ext cx="6278529" cy="558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992" y="2386940"/>
            <a:ext cx="4636008" cy="3390925"/>
          </a:xfrm>
        </p:spPr>
        <p:txBody>
          <a:bodyPr>
            <a:normAutofit/>
          </a:bodyPr>
          <a:lstStyle/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Monitor uprostřed pracovního prostoru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Vzdálenost 50 – 70 cm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Horní okraj ve výšce očí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240C0C6-2D94-4128-872B-1E354084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5</a:t>
            </a:fld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0087ED33-945F-425B-8B29-914767C69167}"/>
              </a:ext>
            </a:extLst>
          </p:cNvPr>
          <p:cNvSpPr txBox="1"/>
          <p:nvPr/>
        </p:nvSpPr>
        <p:spPr>
          <a:xfrm>
            <a:off x="633999" y="6317707"/>
            <a:ext cx="6097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https://www.skolenibozp.cz/content/news/new_big_53.jpg</a:t>
            </a:r>
          </a:p>
        </p:txBody>
      </p:sp>
    </p:spTree>
    <p:extLst>
      <p:ext uri="{BB962C8B-B14F-4D97-AF65-F5344CB8AC3E}">
        <p14:creationId xmlns:p14="http://schemas.microsoft.com/office/powerpoint/2010/main" val="10825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57606" y="499533"/>
            <a:ext cx="10772775" cy="1658198"/>
          </a:xfrm>
        </p:spPr>
        <p:txBody>
          <a:bodyPr/>
          <a:lstStyle/>
          <a:p>
            <a:r>
              <a:rPr lang="cs-CZ" dirty="0"/>
              <a:t>Poloha</a:t>
            </a:r>
            <a:r>
              <a:rPr lang="cs-CZ" baseline="0" dirty="0"/>
              <a:t> klávesnice a myši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971011"/>
          </a:xfrm>
        </p:spPr>
        <p:txBody>
          <a:bodyPr/>
          <a:lstStyle/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Zápěstí v rovině nebo mírně dolů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Neopírat zápěstí o podložku klávesnice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Klávesnice uprostřed pracovního prostoru před monitorem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Předloktí s 90°ohnutím v lokti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Ramena volně svěšená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Paže podél těla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endParaRPr lang="cs-CZ" i="1" dirty="0">
              <a:solidFill>
                <a:srgbClr val="000000"/>
              </a:solidFill>
              <a:latin typeface="inherit"/>
            </a:endParaRP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Vedle klávesnice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Poloha končetin stejně jako u klávesnice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Snadno stisknutelná tlačítka</a:t>
            </a:r>
          </a:p>
          <a:p>
            <a:pPr lvl="1"/>
            <a:r>
              <a:rPr lang="cs-CZ" i="1" dirty="0">
                <a:solidFill>
                  <a:srgbClr val="000000"/>
                </a:solidFill>
                <a:latin typeface="inherit"/>
              </a:rPr>
              <a:t>Myš – opora dlaně – měla by padnout do ruky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endParaRPr lang="cs-CZ" sz="2400" kern="1200" baseline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8D1790B-6FEA-4671-BB9F-769C9E1A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6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FEDE933-1384-407F-B729-3073EBCC7056}"/>
              </a:ext>
            </a:extLst>
          </p:cNvPr>
          <p:cNvSpPr txBox="1">
            <a:spLocks/>
          </p:cNvSpPr>
          <p:nvPr/>
        </p:nvSpPr>
        <p:spPr>
          <a:xfrm>
            <a:off x="8498844" y="4734799"/>
            <a:ext cx="1770898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myš</a:t>
            </a:r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DDB700AC-205E-4096-80C9-BF3FC54B588F}"/>
              </a:ext>
            </a:extLst>
          </p:cNvPr>
          <p:cNvSpPr txBox="1">
            <a:spLocks/>
          </p:cNvSpPr>
          <p:nvPr/>
        </p:nvSpPr>
        <p:spPr>
          <a:xfrm>
            <a:off x="8498844" y="2118010"/>
            <a:ext cx="3061349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klávesnice </a:t>
            </a:r>
          </a:p>
        </p:txBody>
      </p:sp>
    </p:spTree>
    <p:extLst>
      <p:ext uri="{BB962C8B-B14F-4D97-AF65-F5344CB8AC3E}">
        <p14:creationId xmlns:p14="http://schemas.microsoft.com/office/powerpoint/2010/main" val="188142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996CBB6-8D24-4FA5-A518-D9D878A40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E8857F7-F05F-4317-9D97-F35571819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C65CBB-75A8-4920-A7D1-2A51C9A8E3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36065" y="480060"/>
            <a:ext cx="7519869" cy="558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C0754087-28A4-4EE7-AB1D-CC9EB5C21101}"/>
              </a:ext>
            </a:extLst>
          </p:cNvPr>
          <p:cNvSpPr txBox="1"/>
          <p:nvPr/>
        </p:nvSpPr>
        <p:spPr>
          <a:xfrm>
            <a:off x="391884" y="6532900"/>
            <a:ext cx="11552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https://cdn.myshoptet.com/usr/www.ergo-product.cz/user/documents/upload/%C4%8Cl%C3%A1nky/pracovn%C3%AD%20poloha.png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B8EDFB2-D4D7-4271-B5F3-90499F82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136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955458" y="499533"/>
            <a:ext cx="6860490" cy="1875532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cs-CZ" sz="4400" dirty="0"/>
              <a:t>Jak si ergonomicky uspořádat pracovní místo u počítače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F92229B-F02B-4677-BDD4-053C44994F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497"/>
          <a:stretch/>
        </p:blipFill>
        <p:spPr>
          <a:xfrm>
            <a:off x="142504" y="126242"/>
            <a:ext cx="4729827" cy="6605516"/>
          </a:xfrm>
          <a:prstGeom prst="rect">
            <a:avLst/>
          </a:prstGeom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55458" y="2011680"/>
            <a:ext cx="6587613" cy="3864732"/>
          </a:xfrm>
        </p:spPr>
        <p:txBody>
          <a:bodyPr>
            <a:normAutofit/>
          </a:bodyPr>
          <a:lstStyle/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endParaRPr lang="cs-CZ" sz="1700" dirty="0"/>
          </a:p>
          <a:p>
            <a:pPr lvl="1"/>
            <a:r>
              <a:rPr lang="cs-CZ" sz="1700" dirty="0"/>
              <a:t>Zdroj a více informací dostupných na: </a:t>
            </a:r>
            <a:r>
              <a:rPr lang="cs-CZ" sz="1700" dirty="0">
                <a:hlinkClick r:id="rId4"/>
              </a:rPr>
              <a:t>https://www.bozpinfo.cz/</a:t>
            </a:r>
            <a:r>
              <a:rPr lang="cs-CZ" sz="1700" dirty="0" err="1">
                <a:hlinkClick r:id="rId4"/>
              </a:rPr>
              <a:t>sites</a:t>
            </a:r>
            <a:r>
              <a:rPr lang="cs-CZ" sz="1700" dirty="0">
                <a:hlinkClick r:id="rId4"/>
              </a:rPr>
              <a:t>/default/</a:t>
            </a:r>
            <a:r>
              <a:rPr lang="cs-CZ" sz="1700" dirty="0" err="1">
                <a:hlinkClick r:id="rId4"/>
              </a:rPr>
              <a:t>files</a:t>
            </a:r>
            <a:r>
              <a:rPr lang="cs-CZ" sz="1700" dirty="0">
                <a:hlinkClick r:id="rId4"/>
              </a:rPr>
              <a:t>/obsah/super-obsah/</a:t>
            </a:r>
            <a:r>
              <a:rPr lang="cs-CZ" sz="1700" dirty="0" err="1">
                <a:hlinkClick r:id="rId4"/>
              </a:rPr>
              <a:t>metodicke</a:t>
            </a:r>
            <a:r>
              <a:rPr lang="cs-CZ" sz="1700" dirty="0">
                <a:hlinkClick r:id="rId4"/>
              </a:rPr>
              <a:t>-listy/soubory/pocitac.pdf</a:t>
            </a:r>
            <a:r>
              <a:rPr lang="cs-CZ" sz="1700" dirty="0"/>
              <a:t>, </a:t>
            </a:r>
            <a:r>
              <a:rPr lang="cs-CZ" sz="1700" dirty="0">
                <a:hlinkClick r:id="rId5"/>
              </a:rPr>
              <a:t>https://zsbozp.vubp.cz/pracovni-prostredi/ergonomie/337-ergonomie-pracovniho-mista</a:t>
            </a:r>
            <a:r>
              <a:rPr lang="cs-CZ" sz="1700" dirty="0"/>
              <a:t> </a:t>
            </a:r>
          </a:p>
          <a:p>
            <a:pPr lvl="1"/>
            <a:endParaRPr lang="cs-CZ" sz="1700" kern="1200" dirty="0">
              <a:effectLst/>
              <a:latin typeface="+mn-lt"/>
              <a:ea typeface="+mn-ea"/>
              <a:cs typeface="+mn-cs"/>
            </a:endParaRPr>
          </a:p>
          <a:p>
            <a:pPr lvl="1"/>
            <a:endParaRPr lang="cs-CZ" sz="1700" kern="1200" dirty="0">
              <a:effectLst/>
              <a:latin typeface="+mn-lt"/>
              <a:ea typeface="+mn-ea"/>
              <a:cs typeface="+mn-cs"/>
            </a:endParaRPr>
          </a:p>
          <a:p>
            <a:pPr lvl="1"/>
            <a:endParaRPr lang="cs-CZ" sz="1700" dirty="0"/>
          </a:p>
          <a:p>
            <a:endParaRPr lang="cs-CZ" sz="17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CAF4184-3EC0-4931-A535-0B954BB4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926" y="5876412"/>
            <a:ext cx="2926080" cy="139703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A6DBA2-E34C-48A6-9743-D000D65BB3CD}" type="slidenum">
              <a:rPr lang="cs-CZ">
                <a:solidFill>
                  <a:srgbClr val="3A6948"/>
                </a:solidFill>
              </a:rPr>
              <a:pPr>
                <a:spcAft>
                  <a:spcPts val="600"/>
                </a:spcAft>
              </a:pPr>
              <a:t>8</a:t>
            </a:fld>
            <a:endParaRPr lang="cs-CZ">
              <a:solidFill>
                <a:srgbClr val="3A69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94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5CBDD1-0CE6-4107-87A5-656A37AA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Osvětlení pracoviště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BBC943-B474-4C49-AFFD-6C6707F46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/>
          <a:lstStyle/>
          <a:p>
            <a:pPr algn="l" fontAlgn="base"/>
            <a:r>
              <a:rPr lang="cs-CZ" b="1" i="0" dirty="0">
                <a:solidFill>
                  <a:srgbClr val="E06D0A"/>
                </a:solidFill>
                <a:effectLst/>
                <a:latin typeface="Arial" panose="020B0604020202020204" pitchFamily="34" charset="0"/>
              </a:rPr>
              <a:t>Osvětlení za monitor – snížení únavy očí</a:t>
            </a:r>
          </a:p>
          <a:p>
            <a:pPr algn="l" fontAlgn="base"/>
            <a:r>
              <a:rPr lang="cs-CZ" b="0" i="1" dirty="0">
                <a:solidFill>
                  <a:srgbClr val="000000"/>
                </a:solidFill>
                <a:effectLst/>
                <a:latin typeface="inherit"/>
              </a:rPr>
              <a:t>Při práci s počítačem potmě se zvyšuje námaha zraku, protože ten se musí často adaptovat na pohled na světlo (monitor nebo displej notebooku) a přítmí (okolí). Řešením je použití slabšího zdroje světla, který umístíme za notebook nebo monitor, čímž snížíme kontrast scény. Vhodnými zdroji světla jsou osvětlení na bázi LED.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Zdroj a více informací dostupných na: https://www.jaknait.cz/osvetleni-za-monitor/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3A8E2DF-0CF2-4C70-8176-8275448F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705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0DB4EC-4823-4BF6-9CF7-09AE6A06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Neničte si zrak u počítače</a:t>
            </a:r>
            <a:br>
              <a:rPr lang="cs-CZ" b="1" i="0" u="none" strike="noStrike" dirty="0">
                <a:solidFill>
                  <a:srgbClr val="09336D"/>
                </a:solidFill>
                <a:effectLst/>
                <a:latin typeface="arial" panose="020B0604020202020204" pitchFamily="34" charset="0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87F1B02-88F5-4EBD-8C53-49D7E7E2D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cs-CZ" sz="2600" i="1" dirty="0">
                <a:solidFill>
                  <a:srgbClr val="000000"/>
                </a:solidFill>
                <a:latin typeface="inherit"/>
              </a:rPr>
              <a:t>Dobré světlo je základem pro dobrou práci. </a:t>
            </a:r>
          </a:p>
          <a:p>
            <a:pPr algn="just"/>
            <a:r>
              <a:rPr lang="cs-CZ" sz="2600" i="1" dirty="0">
                <a:solidFill>
                  <a:srgbClr val="000000"/>
                </a:solidFill>
                <a:latin typeface="inherit"/>
              </a:rPr>
              <a:t>Denní světlo je nejpřirozenějším a nejvhodnějším zdrojem světla, pokud neoslňuje a nepřesvětluje. </a:t>
            </a:r>
          </a:p>
          <a:p>
            <a:pPr algn="just"/>
            <a:r>
              <a:rPr lang="cs-CZ" sz="2600" i="1" dirty="0">
                <a:solidFill>
                  <a:srgbClr val="000000"/>
                </a:solidFill>
                <a:latin typeface="inherit"/>
              </a:rPr>
              <a:t>Platí to i pro práci na počítači, při níž si dnes ničíme oči nejčastěji. Nedostatek světla má vliv na kvalitu práce, může vést až ke zdravotním problémům a k trvalému poškození zraku. 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Zdroj a více informací dostupných na: https://www.bydleniaz.cz/byt-a-dum/nenicte-si-zrak-u-pocitace-vpustte-svetlo-na-sve-pracoviste/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A70A51D-0883-4BB6-AF73-A0EE6FD1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181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 osvětlení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99724" y="2074325"/>
            <a:ext cx="9905999" cy="4461556"/>
          </a:xfrm>
        </p:spPr>
        <p:txBody>
          <a:bodyPr>
            <a:noAutofit/>
          </a:bodyPr>
          <a:lstStyle/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Nesmí oslňovat, ani zobrazovat odraz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Lépe více slabších zdrojů světla nebo nepřímé osvětlení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Stolní lampa pouze jako doplňkové světlo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Barva světla blízká dennímu osvětlení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Světlo bez zdrojů infračerveného a ultrafialového záření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Nehlučné světlo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Bez blikání (bolesti hlavy, epileptický záchvat)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BFE0A4-1F64-4E7E-913F-6A519E21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928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Intenzita osvětlení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Denní světlo 10 000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r>
              <a:rPr lang="cs-CZ" i="1" dirty="0">
                <a:solidFill>
                  <a:srgbClr val="000000"/>
                </a:solidFill>
                <a:latin typeface="inherit"/>
              </a:rPr>
              <a:t> až 100 000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r>
              <a:rPr lang="cs-CZ" i="1" dirty="0">
                <a:solidFill>
                  <a:srgbClr val="000000"/>
                </a:solidFill>
                <a:latin typeface="inherit"/>
              </a:rPr>
              <a:t> (jasný slunečný den)</a:t>
            </a: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Osvětlení pracoviště dle normy: 300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r>
              <a:rPr lang="cs-CZ" i="1" dirty="0">
                <a:solidFill>
                  <a:srgbClr val="000000"/>
                </a:solidFill>
                <a:latin typeface="inherit"/>
              </a:rPr>
              <a:t> až 1000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endParaRPr lang="cs-CZ" i="1" dirty="0">
              <a:solidFill>
                <a:srgbClr val="000000"/>
              </a:solidFill>
              <a:latin typeface="inherit"/>
            </a:endParaRP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Hlavní zdroj 150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r>
              <a:rPr lang="cs-CZ" i="1" dirty="0">
                <a:solidFill>
                  <a:srgbClr val="000000"/>
                </a:solidFill>
                <a:latin typeface="inherit"/>
              </a:rPr>
              <a:t> – 300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endParaRPr lang="cs-CZ" i="1" dirty="0">
              <a:solidFill>
                <a:srgbClr val="000000"/>
              </a:solidFill>
              <a:latin typeface="inherit"/>
            </a:endParaRP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Pro sledování vzdálenějších předmětů v místnosti 500 </a:t>
            </a:r>
            <a:r>
              <a:rPr lang="cs-CZ" i="1" dirty="0" err="1">
                <a:solidFill>
                  <a:srgbClr val="000000"/>
                </a:solidFill>
                <a:latin typeface="inherit"/>
              </a:rPr>
              <a:t>lx</a:t>
            </a:r>
            <a:endParaRPr lang="cs-CZ" i="1" dirty="0">
              <a:solidFill>
                <a:srgbClr val="000000"/>
              </a:solidFill>
              <a:latin typeface="inherit"/>
            </a:endParaRPr>
          </a:p>
          <a:p>
            <a:r>
              <a:rPr lang="cs-CZ" i="1" dirty="0">
                <a:solidFill>
                  <a:srgbClr val="000000"/>
                </a:solidFill>
                <a:latin typeface="inherit"/>
              </a:rPr>
              <a:t>Není vhodný kontrast tmavé pozadí a LCD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A1E1713-D3BD-4F90-A466-99365A38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5597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A095BA-3C22-413F-B3BA-50E4D460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 pracoviště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DDD466-4C0E-4093-AE1F-47DD7E89D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Pracovní stůl s PC by měl být umístěn bokem k oknu. </a:t>
            </a:r>
          </a:p>
          <a:p>
            <a:pPr marL="0" indent="0">
              <a:buNone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Velmi důležité je, aby se světlo zvenčí neodráželo od povrchu obrazovky a příliš neoslňovalo. Pomoci mohou žaluzie, zástěny apod. </a:t>
            </a:r>
          </a:p>
          <a:p>
            <a:pPr marL="0" indent="0">
              <a:buNone/>
            </a:pPr>
            <a:r>
              <a:rPr lang="cs-CZ" i="1" dirty="0">
                <a:solidFill>
                  <a:srgbClr val="000000"/>
                </a:solidFill>
                <a:latin typeface="inherit"/>
              </a:rPr>
              <a:t>Nevhodná je poloha zády, nebo čelem k oknu. Tím dochází k odleskům na monitoru, oslnění slunečním zářením a tedy zvýšenému namáhání zraku.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Zdroj a více informací dostupných na: https://zdravypodnik.cz/2021/03/02/osvetleni-kancelare/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ACA8B66-FE7D-46B6-9AB8-ECC1434E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540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9BEB36-1077-4A94-82B0-92C0582B0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Předcházení trvalých následků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305D49-58C2-4182-B1D9-AAE7E2174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75359"/>
          </a:xfrm>
        </p:spPr>
        <p:txBody>
          <a:bodyPr/>
          <a:lstStyle/>
          <a:p>
            <a:pPr algn="l"/>
            <a:r>
              <a:rPr lang="cs-CZ" b="1" i="0" dirty="0">
                <a:solidFill>
                  <a:srgbClr val="303B42"/>
                </a:solidFill>
                <a:effectLst/>
                <a:latin typeface="Source Sans Pro" panose="020B0503030403020204" pitchFamily="34" charset="0"/>
              </a:rPr>
              <a:t>Změny poloh</a:t>
            </a:r>
          </a:p>
          <a:p>
            <a:pPr algn="just"/>
            <a:r>
              <a:rPr lang="cs-CZ" b="0" i="1" dirty="0">
                <a:solidFill>
                  <a:srgbClr val="303B42"/>
                </a:solidFill>
                <a:effectLst/>
                <a:latin typeface="inherit"/>
              </a:rPr>
              <a:t>Pokud sedíte u počítače více jak 8 hodin denně, měli byste měnit polohy sezení. Ideální je střídat židli s gymnastickým sedacím míčem a klekačkou. Velmi se osvědčila také metoda “</a:t>
            </a:r>
            <a:r>
              <a:rPr lang="cs-CZ" b="1" i="1" u="none" strike="noStrike" dirty="0">
                <a:solidFill>
                  <a:srgbClr val="0070C0"/>
                </a:solidFill>
                <a:effectLst/>
                <a:latin typeface="inherit"/>
              </a:rPr>
              <a:t>Sedět - ležet - stát</a:t>
            </a:r>
            <a:r>
              <a:rPr lang="cs-CZ" b="0" i="1" dirty="0">
                <a:solidFill>
                  <a:srgbClr val="303B42"/>
                </a:solidFill>
                <a:effectLst/>
                <a:latin typeface="inherit"/>
              </a:rPr>
              <a:t>”.</a:t>
            </a:r>
          </a:p>
          <a:p>
            <a:pPr algn="just"/>
            <a:endParaRPr lang="cs-CZ" i="1" dirty="0">
              <a:solidFill>
                <a:srgbClr val="303B42"/>
              </a:solidFill>
              <a:latin typeface="inherit"/>
            </a:endParaRPr>
          </a:p>
          <a:p>
            <a:pPr algn="just"/>
            <a:endParaRPr lang="cs-CZ" i="1" dirty="0">
              <a:solidFill>
                <a:srgbClr val="303B42"/>
              </a:solidFill>
              <a:latin typeface="inherit"/>
            </a:endParaRPr>
          </a:p>
          <a:p>
            <a:pPr algn="just"/>
            <a:endParaRPr lang="cs-CZ" i="1" dirty="0">
              <a:solidFill>
                <a:srgbClr val="303B42"/>
              </a:solidFill>
              <a:latin typeface="inherit"/>
            </a:endParaRPr>
          </a:p>
          <a:p>
            <a:r>
              <a:rPr lang="cs-CZ" dirty="0"/>
              <a:t>Zdroj a více informací dostupných na: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 http://ergonomicka-encyklopedie.cz/SYST%C3%89M_Sed%C4%9Bt_-_Le%C5%BEet_-_St%C3%A1t</a:t>
            </a:r>
            <a:endParaRPr lang="cs-CZ" b="0" i="1" dirty="0">
              <a:solidFill>
                <a:srgbClr val="303B42"/>
              </a:solidFill>
              <a:effectLst/>
              <a:latin typeface="inherit"/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9128DF2-DB5C-44DE-8378-894A1D97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pPr/>
              <a:t>14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8386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7FAFDD56-A94A-480B-B8A4-56AFCA4B76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6" r="3882"/>
          <a:stretch/>
        </p:blipFill>
        <p:spPr>
          <a:xfrm>
            <a:off x="20" y="10"/>
            <a:ext cx="12191980" cy="421269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D2BFFD5-490F-4B45-91F2-6B826FBAD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rgbClr val="576A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F2E7D64-28D8-4AB6-A6E2-B50A0027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544814"/>
            <a:ext cx="4843555" cy="1807659"/>
          </a:xfrm>
        </p:spPr>
        <p:txBody>
          <a:bodyPr>
            <a:normAutofit/>
          </a:bodyPr>
          <a:lstStyle/>
          <a:p>
            <a:pPr algn="r"/>
            <a:r>
              <a:rPr lang="cs-CZ" b="1" dirty="0">
                <a:solidFill>
                  <a:srgbClr val="303B42"/>
                </a:solidFill>
              </a:rPr>
              <a:t>Změny </a:t>
            </a:r>
            <a:r>
              <a:rPr lang="cs-CZ" b="1" i="0" dirty="0">
                <a:solidFill>
                  <a:srgbClr val="303B42"/>
                </a:solidFill>
                <a:effectLst/>
              </a:rPr>
              <a:t>poloh</a:t>
            </a:r>
            <a:endParaRPr lang="cs-CZ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6CF9A5-BEA4-4284-A8B5-D033E5B4B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76175" y="4900003"/>
            <a:ext cx="0" cy="109728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43D3C50-1233-4616-BA48-A439EAFD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926" y="5876412"/>
            <a:ext cx="2926080" cy="139703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A6DBA2-E34C-48A6-9743-D000D65BB3CD}" type="slidenum">
              <a:rPr lang="cs-CZ">
                <a:solidFill>
                  <a:srgbClr val="FFFFFF">
                    <a:alpha val="25000"/>
                  </a:srgb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cs-CZ" dirty="0">
              <a:solidFill>
                <a:srgbClr val="FFFFFF">
                  <a:alpha val="25000"/>
                </a:srgbClr>
              </a:solidFill>
            </a:endParaRP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DD535DDE-58E7-4A8E-A466-D50D4B6D3085}"/>
              </a:ext>
            </a:extLst>
          </p:cNvPr>
          <p:cNvSpPr txBox="1"/>
          <p:nvPr/>
        </p:nvSpPr>
        <p:spPr>
          <a:xfrm>
            <a:off x="6158003" y="5095582"/>
            <a:ext cx="5788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http://ergonomicka-encyklopedie.cz/SYST%C3%89M_Sed%C4%9Bt_-_Le%C5%BEet_-_St%C3%A1t</a:t>
            </a:r>
          </a:p>
        </p:txBody>
      </p:sp>
    </p:spTree>
    <p:extLst>
      <p:ext uri="{BB962C8B-B14F-4D97-AF65-F5344CB8AC3E}">
        <p14:creationId xmlns:p14="http://schemas.microsoft.com/office/powerpoint/2010/main" val="3249085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9BEB36-1077-4A94-82B0-92C0582B0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Předcházení trvalých následků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305D49-58C2-4182-B1D9-AAE7E217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cs-CZ" b="1" i="0" dirty="0">
                <a:solidFill>
                  <a:srgbClr val="303B42"/>
                </a:solidFill>
                <a:effectLst/>
                <a:latin typeface="Source Sans Pro" panose="020B0503030403020204" pitchFamily="34" charset="0"/>
              </a:rPr>
              <a:t>Přestávky, protahování a sport</a:t>
            </a:r>
          </a:p>
          <a:p>
            <a:pPr algn="just"/>
            <a:r>
              <a:rPr lang="cs-CZ" i="1" dirty="0">
                <a:solidFill>
                  <a:srgbClr val="303B42"/>
                </a:solidFill>
                <a:latin typeface="inherit"/>
              </a:rPr>
              <a:t>Pokud je vaší hlavní pracovní náplní sedět u počítače, je nezbytně nutné tuto činnost kompenzovat. Je nezbytně nutné dělat při práci pravidelné přestávky, protahovat se a sportovat. </a:t>
            </a:r>
          </a:p>
          <a:p>
            <a:pPr algn="just"/>
            <a:r>
              <a:rPr lang="cs-CZ" i="1" dirty="0">
                <a:solidFill>
                  <a:srgbClr val="303B42"/>
                </a:solidFill>
                <a:latin typeface="inherit"/>
              </a:rPr>
              <a:t>Odpočine si nejen tělo, ale také oči a mysl.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9128DF2-DB5C-44DE-8378-894A1D97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pPr/>
              <a:t>16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08071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70">
            <a:extLst>
              <a:ext uri="{FF2B5EF4-FFF2-40B4-BE49-F238E27FC236}">
                <a16:creationId xmlns:a16="http://schemas.microsoft.com/office/drawing/2014/main" id="{7996CBB6-8D24-4FA5-A518-D9D878A40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5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7" name="Rectangle 72">
            <a:extLst>
              <a:ext uri="{FF2B5EF4-FFF2-40B4-BE49-F238E27FC236}">
                <a16:creationId xmlns:a16="http://schemas.microsoft.com/office/drawing/2014/main" id="{EE8857F7-F05F-4317-9D97-F35571819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A4DEFB-BEF0-409F-8410-AFC911B156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70115" y="804333"/>
            <a:ext cx="7473939" cy="526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B88F148-2971-41A8-8AE1-B503B12A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926" y="5876412"/>
            <a:ext cx="2951062" cy="825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1CA6DBA2-E34C-48A6-9743-D000D65BB3CD}" type="slidenum">
              <a:rPr lang="en-US" sz="2400">
                <a:solidFill>
                  <a:schemeClr val="bg1">
                    <a:lumMod val="75000"/>
                    <a:alpha val="40000"/>
                  </a:schemeClr>
                </a:solidFill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sz="2400" dirty="0">
              <a:solidFill>
                <a:schemeClr val="bg1">
                  <a:lumMod val="75000"/>
                  <a:alpha val="40000"/>
                </a:schemeClr>
              </a:solidFill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834E491E-6986-4EF0-A539-EDEFB8B1F6FE}"/>
              </a:ext>
            </a:extLst>
          </p:cNvPr>
          <p:cNvSpPr txBox="1"/>
          <p:nvPr/>
        </p:nvSpPr>
        <p:spPr>
          <a:xfrm>
            <a:off x="9106" y="6458580"/>
            <a:ext cx="12182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https://www.bezpecnostprace.info/wp-content/uploads/2016/06/images_blog_ergonomie_relaxacni-cviky-670.jpg</a:t>
            </a:r>
          </a:p>
        </p:txBody>
      </p:sp>
    </p:spTree>
    <p:extLst>
      <p:ext uri="{BB962C8B-B14F-4D97-AF65-F5344CB8AC3E}">
        <p14:creationId xmlns:p14="http://schemas.microsoft.com/office/powerpoint/2010/main" val="123604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0D5059-5F88-43E9-BDB1-D7FE3A2C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Syndrom RSI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A87056-7D76-4F83-9AD5-4DFC6823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042955"/>
          </a:xfrm>
        </p:spPr>
        <p:txBody>
          <a:bodyPr>
            <a:normAutofit/>
          </a:bodyPr>
          <a:lstStyle/>
          <a:p>
            <a:pPr algn="l" fontAlgn="base"/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RSI 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označuje </a:t>
            </a:r>
            <a:r>
              <a:rPr lang="cs-CZ" b="1" i="1" dirty="0">
                <a:solidFill>
                  <a:srgbClr val="303B42"/>
                </a:solidFill>
                <a:latin typeface="inherit"/>
              </a:rPr>
              <a:t>poškození z opakovaného namáhání</a:t>
            </a:r>
          </a:p>
          <a:p>
            <a:pPr marL="0" indent="0" algn="l" fontAlgn="base">
              <a:buNone/>
            </a:pPr>
            <a:r>
              <a:rPr lang="cs-CZ" i="1" dirty="0">
                <a:solidFill>
                  <a:srgbClr val="303B42"/>
                </a:solidFill>
                <a:latin typeface="inherit"/>
              </a:rPr>
              <a:t> RSI = </a:t>
            </a:r>
            <a:r>
              <a:rPr lang="cs-CZ" i="1" dirty="0" err="1">
                <a:solidFill>
                  <a:srgbClr val="303B42"/>
                </a:solidFill>
                <a:latin typeface="inherit"/>
              </a:rPr>
              <a:t>Repetitive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 </a:t>
            </a:r>
            <a:r>
              <a:rPr lang="cs-CZ" i="1" dirty="0" err="1">
                <a:solidFill>
                  <a:srgbClr val="303B42"/>
                </a:solidFill>
                <a:latin typeface="inherit"/>
              </a:rPr>
              <a:t>Strain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 </a:t>
            </a:r>
            <a:r>
              <a:rPr lang="cs-CZ" i="1" dirty="0" err="1">
                <a:solidFill>
                  <a:srgbClr val="303B42"/>
                </a:solidFill>
                <a:latin typeface="inherit"/>
              </a:rPr>
              <a:t>Injury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 nebo také </a:t>
            </a:r>
            <a:r>
              <a:rPr lang="cs-CZ" i="1" dirty="0" err="1">
                <a:solidFill>
                  <a:srgbClr val="303B42"/>
                </a:solidFill>
                <a:latin typeface="inherit"/>
              </a:rPr>
              <a:t>Repetitive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 Stress </a:t>
            </a:r>
            <a:r>
              <a:rPr lang="cs-CZ" i="1" dirty="0" err="1">
                <a:solidFill>
                  <a:srgbClr val="303B42"/>
                </a:solidFill>
                <a:latin typeface="inherit"/>
              </a:rPr>
              <a:t>Injury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, </a:t>
            </a:r>
          </a:p>
          <a:p>
            <a:pPr algn="l" fontAlgn="base"/>
            <a:r>
              <a:rPr lang="cs-CZ" i="1" dirty="0">
                <a:solidFill>
                  <a:srgbClr val="303B42"/>
                </a:solidFill>
                <a:latin typeface="inherit"/>
              </a:rPr>
              <a:t>Jedná se o soubor poškození, která vznikají v důsledku nedodržování ergonomie práce a pracovního prostředí. Tato poškození lidského zdraví vznikají opakovaným namáháním, zejména pak opakovanými drobnými pohyby, nesprávnou polohou těla při práci, ale také neustálým svalovým napětím.</a:t>
            </a:r>
          </a:p>
          <a:p>
            <a:pPr marL="0" indent="0" algn="l" fontAlgn="base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96AC95-D7F5-4576-A960-8C8A923E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pPr/>
              <a:t>18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76560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0D5059-5F88-43E9-BDB1-D7FE3A2C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Syndrom RSI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A87056-7D76-4F83-9AD5-4DFC6823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75359"/>
          </a:xfrm>
        </p:spPr>
        <p:txBody>
          <a:bodyPr>
            <a:normAutofit/>
          </a:bodyPr>
          <a:lstStyle/>
          <a:p>
            <a:pPr algn="l" fontAlgn="base"/>
            <a:r>
              <a:rPr lang="cs-CZ" b="1" i="0" cap="all" dirty="0">
                <a:solidFill>
                  <a:srgbClr val="003B91"/>
                </a:solidFill>
                <a:effectLst/>
                <a:latin typeface="Open Sans" panose="020B0606030504020204" pitchFamily="34" charset="0"/>
              </a:rPr>
              <a:t>JAK SYNDROMU RSI PŘEDCHÁZET?</a:t>
            </a:r>
          </a:p>
          <a:p>
            <a:pPr algn="l" fontAlgn="base"/>
            <a:r>
              <a:rPr lang="cs-CZ" i="1" dirty="0">
                <a:solidFill>
                  <a:srgbClr val="303B42"/>
                </a:solidFill>
                <a:latin typeface="inherit"/>
              </a:rPr>
              <a:t>Syndromu RSI se dá předcházet preventivním dodržováním základních ergonomických pravidel a ergonomickým přizpůsobením pracoviště, ale také pracovního tempa.</a:t>
            </a:r>
          </a:p>
          <a:p>
            <a:pPr algn="l"/>
            <a:r>
              <a:rPr lang="cs-CZ" i="1" dirty="0">
                <a:solidFill>
                  <a:srgbClr val="303B42"/>
                </a:solidFill>
                <a:latin typeface="inherit"/>
              </a:rPr>
              <a:t>Mezi nejčastější patří: </a:t>
            </a:r>
            <a:r>
              <a:rPr lang="cs-CZ" b="1" i="1" dirty="0">
                <a:solidFill>
                  <a:srgbClr val="303B42"/>
                </a:solidFill>
                <a:latin typeface="inherit"/>
              </a:rPr>
              <a:t>tenisový loket, poškození hybnosti ramenních pletenců, zánět šlach a šlachových pouzder nebo syndrom karpálního tunelu.</a:t>
            </a:r>
          </a:p>
          <a:p>
            <a:endParaRPr lang="cs-CZ" dirty="0"/>
          </a:p>
          <a:p>
            <a:endParaRPr lang="cs-CZ" dirty="0"/>
          </a:p>
          <a:p>
            <a:pPr marL="0" indent="0" algn="l" fontAlgn="base">
              <a:buNone/>
            </a:pPr>
            <a:endParaRPr lang="cs-CZ" dirty="0"/>
          </a:p>
          <a:p>
            <a:pPr marL="0" indent="0" algn="l" fontAlgn="base">
              <a:buNone/>
            </a:pPr>
            <a:r>
              <a:rPr lang="cs-CZ" dirty="0"/>
              <a:t>Zdroj a více informací dostupných na:</a:t>
            </a:r>
            <a:r>
              <a:rPr lang="cs-CZ" i="1" dirty="0">
                <a:solidFill>
                  <a:srgbClr val="303B42"/>
                </a:solidFill>
                <a:latin typeface="inherit"/>
              </a:rPr>
              <a:t> </a:t>
            </a:r>
            <a:r>
              <a:rPr lang="cs-CZ" dirty="0"/>
              <a:t>https://ebozp.vubp.cz/wiki/index.php/Syndrom_RSI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96AC95-D7F5-4576-A960-8C8A923E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pPr/>
              <a:t>19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0585107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ní">
  <a:themeElements>
    <a:clrScheme name="Metropolitní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ní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ní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tropolitní">
    <a:dk1>
      <a:sysClr val="windowText" lastClr="000000"/>
    </a:dk1>
    <a:lt1>
      <a:sysClr val="window" lastClr="FFFFFF"/>
    </a:lt1>
    <a:dk2>
      <a:srgbClr val="162F33"/>
    </a:dk2>
    <a:lt2>
      <a:srgbClr val="EAF0E0"/>
    </a:lt2>
    <a:accent1>
      <a:srgbClr val="50B4C8"/>
    </a:accent1>
    <a:accent2>
      <a:srgbClr val="A8B97F"/>
    </a:accent2>
    <a:accent3>
      <a:srgbClr val="9B9256"/>
    </a:accent3>
    <a:accent4>
      <a:srgbClr val="657689"/>
    </a:accent4>
    <a:accent5>
      <a:srgbClr val="7A855D"/>
    </a:accent5>
    <a:accent6>
      <a:srgbClr val="84AC9D"/>
    </a:accent6>
    <a:hlink>
      <a:srgbClr val="2370CD"/>
    </a:hlink>
    <a:folHlink>
      <a:srgbClr val="877589"/>
    </a:folHlink>
  </a:clrScheme>
</a:themeOverride>
</file>

<file path=ppt/theme/themeOverride2.xml><?xml version="1.0" encoding="utf-8"?>
<a:themeOverride xmlns:a="http://schemas.openxmlformats.org/drawingml/2006/main">
  <a:clrScheme name="Metropolitní">
    <a:dk1>
      <a:sysClr val="windowText" lastClr="000000"/>
    </a:dk1>
    <a:lt1>
      <a:sysClr val="window" lastClr="FFFFFF"/>
    </a:lt1>
    <a:dk2>
      <a:srgbClr val="162F33"/>
    </a:dk2>
    <a:lt2>
      <a:srgbClr val="EAF0E0"/>
    </a:lt2>
    <a:accent1>
      <a:srgbClr val="50B4C8"/>
    </a:accent1>
    <a:accent2>
      <a:srgbClr val="A8B97F"/>
    </a:accent2>
    <a:accent3>
      <a:srgbClr val="9B9256"/>
    </a:accent3>
    <a:accent4>
      <a:srgbClr val="657689"/>
    </a:accent4>
    <a:accent5>
      <a:srgbClr val="7A855D"/>
    </a:accent5>
    <a:accent6>
      <a:srgbClr val="84AC9D"/>
    </a:accent6>
    <a:hlink>
      <a:srgbClr val="2370CD"/>
    </a:hlink>
    <a:folHlink>
      <a:srgbClr val="87758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1330</TotalTime>
  <Words>1053</Words>
  <Application>Microsoft Office PowerPoint</Application>
  <PresentationFormat>Širokoúhlá obrazovka</PresentationFormat>
  <Paragraphs>147</Paragraphs>
  <Slides>19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7" baseType="lpstr">
      <vt:lpstr>Arial</vt:lpstr>
      <vt:lpstr>Arial</vt:lpstr>
      <vt:lpstr>Calibri</vt:lpstr>
      <vt:lpstr>Calibri Light</vt:lpstr>
      <vt:lpstr>inherit</vt:lpstr>
      <vt:lpstr>Open Sans</vt:lpstr>
      <vt:lpstr>Source Sans Pro</vt:lpstr>
      <vt:lpstr>Metropolitní</vt:lpstr>
      <vt:lpstr>Pracovní poloha a osvětlení při práci na pc</vt:lpstr>
      <vt:lpstr>Ergonomické zásady při práci na pc</vt:lpstr>
      <vt:lpstr>Jaká židle</vt:lpstr>
      <vt:lpstr> Jak se správně usadit </vt:lpstr>
      <vt:lpstr>Poloha monitoru</vt:lpstr>
      <vt:lpstr>Poloha klávesnice a myši</vt:lpstr>
      <vt:lpstr>Prezentace aplikace PowerPoint</vt:lpstr>
      <vt:lpstr>Jak si ergonomicky uspořádat pracovní místo u počítače</vt:lpstr>
      <vt:lpstr>Osvětlení pracoviště</vt:lpstr>
      <vt:lpstr>Neničte si zrak u počítače </vt:lpstr>
      <vt:lpstr>Ergonomie osvětlení</vt:lpstr>
      <vt:lpstr>Intenzita osvětlení</vt:lpstr>
      <vt:lpstr>Ergonomie pracoviště</vt:lpstr>
      <vt:lpstr>Předcházení trvalých následků</vt:lpstr>
      <vt:lpstr>Změny poloh</vt:lpstr>
      <vt:lpstr>Předcházení trvalých následků</vt:lpstr>
      <vt:lpstr>Prezentace aplikace PowerPoint</vt:lpstr>
      <vt:lpstr>Syndrom RSI</vt:lpstr>
      <vt:lpstr>Syndrom RSI</vt:lpstr>
    </vt:vector>
  </TitlesOfParts>
  <Company>DELTA - SŠIE a MŠ,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Pracovní poloha</dc:title>
  <dc:creator>Hájek Josef</dc:creator>
  <cp:lastModifiedBy>Votavová Gabriela</cp:lastModifiedBy>
  <cp:revision>10</cp:revision>
  <cp:lastPrinted>2021-09-13T10:37:44Z</cp:lastPrinted>
  <dcterms:created xsi:type="dcterms:W3CDTF">2014-09-18T10:24:13Z</dcterms:created>
  <dcterms:modified xsi:type="dcterms:W3CDTF">2021-09-13T10:52:48Z</dcterms:modified>
</cp:coreProperties>
</file>