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34"/>
  </p:notesMasterIdLst>
  <p:sldIdLst>
    <p:sldId id="256" r:id="rId3"/>
    <p:sldId id="261" r:id="rId4"/>
    <p:sldId id="262" r:id="rId5"/>
    <p:sldId id="285" r:id="rId6"/>
    <p:sldId id="279" r:id="rId7"/>
    <p:sldId id="264" r:id="rId8"/>
    <p:sldId id="282" r:id="rId9"/>
    <p:sldId id="283" r:id="rId10"/>
    <p:sldId id="284" r:id="rId11"/>
    <p:sldId id="287" r:id="rId12"/>
    <p:sldId id="288" r:id="rId13"/>
    <p:sldId id="289" r:id="rId14"/>
    <p:sldId id="294" r:id="rId15"/>
    <p:sldId id="295" r:id="rId16"/>
    <p:sldId id="292" r:id="rId17"/>
    <p:sldId id="269" r:id="rId18"/>
    <p:sldId id="273" r:id="rId19"/>
    <p:sldId id="272" r:id="rId20"/>
    <p:sldId id="271" r:id="rId21"/>
    <p:sldId id="257" r:id="rId22"/>
    <p:sldId id="276" r:id="rId23"/>
    <p:sldId id="278" r:id="rId24"/>
    <p:sldId id="263" r:id="rId25"/>
    <p:sldId id="258" r:id="rId26"/>
    <p:sldId id="259" r:id="rId27"/>
    <p:sldId id="280" r:id="rId28"/>
    <p:sldId id="267" r:id="rId29"/>
    <p:sldId id="281" r:id="rId30"/>
    <p:sldId id="277" r:id="rId31"/>
    <p:sldId id="296" r:id="rId32"/>
    <p:sldId id="29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FB7CA-EE63-4202-98C7-A2600F613182}" v="25" dt="2023-01-05T10:42:12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2" autoAdjust="0"/>
    <p:restoredTop sz="90741" autoAdjust="0"/>
  </p:normalViewPr>
  <p:slideViewPr>
    <p:cSldViewPr>
      <p:cViewPr varScale="1">
        <p:scale>
          <a:sx n="57" d="100"/>
          <a:sy n="57" d="100"/>
        </p:scale>
        <p:origin x="6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-22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7F20E-EB5C-4B17-9FE9-5A87E0DCC2C3}" type="datetimeFigureOut">
              <a:rPr lang="cs-CZ" smtClean="0"/>
              <a:pPr/>
              <a:t>15.11.2023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D3F6A-6F17-4EFA-8F48-CF1BDE9A2D8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8755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cs-CZ" b="0" dirty="0"/>
              <a:t>Znát prostor kde budete prezentovat – popřípadě připravit židle</a:t>
            </a:r>
            <a:r>
              <a:rPr lang="cs-CZ" dirty="0"/>
              <a:t>, plátno, osvětlení, nebo zatemnění (aby každý dobře viděl)</a:t>
            </a:r>
          </a:p>
          <a:p>
            <a:pPr marL="228600" indent="-228600">
              <a:buFont typeface="+mj-lt"/>
              <a:buAutoNum type="arabicPeriod"/>
            </a:pPr>
            <a:r>
              <a:rPr lang="cs-CZ" dirty="0"/>
              <a:t>Připravit techniku (vyzkoušet počítač, projektor, reproduktory, mikrofon)</a:t>
            </a:r>
          </a:p>
          <a:p>
            <a:pPr marL="228600" indent="-228600">
              <a:buFont typeface="+mj-lt"/>
              <a:buAutoNum type="arabicPeriod"/>
            </a:pPr>
            <a:r>
              <a:rPr lang="cs-CZ" dirty="0"/>
              <a:t>Příprava sebe – vhodné oblečení, zbavení se strachu (pomůže naučit se úvod nazpaměť)</a:t>
            </a:r>
          </a:p>
          <a:p>
            <a:pPr marL="228600" indent="-228600">
              <a:buFont typeface="+mj-lt"/>
              <a:buAutoNum type="arabicPeriod"/>
            </a:pPr>
            <a:r>
              <a:rPr lang="cs-CZ" dirty="0"/>
              <a:t>Nečíst text z prezentace, mít připravený výklad</a:t>
            </a:r>
          </a:p>
          <a:p>
            <a:pPr marL="228600" indent="-228600">
              <a:buFont typeface="+mj-lt"/>
              <a:buAutoNum type="arabicPeriod"/>
            </a:pPr>
            <a:r>
              <a:rPr lang="cs-CZ" dirty="0"/>
              <a:t>Být dobře připraven – MÍT ZNALOST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D3F6A-6F17-4EFA-8F48-CF1BDE9A2D8A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326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D3F6A-6F17-4EFA-8F48-CF1BDE9A2D8A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52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D3F6A-6F17-4EFA-8F48-CF1BDE9A2D8A}" type="slidenum">
              <a:rPr lang="cs-CZ" smtClean="0"/>
              <a:pPr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509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265322F-070C-4D7A-A16D-C176363A7336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8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093C-E941-4948-A7C4-25E71A7AB56D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407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6AD0C-1BFA-412D-B0BB-6EAD4517B9DA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08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9BA48-AD97-441D-9C30-70CE5960E56B}" type="datetime1">
              <a:rPr lang="cs-CZ" smtClean="0"/>
              <a:t>15.11.2023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777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F040-2AFD-407B-8BF2-0F56D3DA675E}" type="datetime1">
              <a:rPr lang="cs-CZ" smtClean="0"/>
              <a:t>15.11.2023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710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F44C-452D-4AB9-A7AE-7B5A7AFE3E25}" type="datetime1">
              <a:rPr lang="cs-CZ" smtClean="0"/>
              <a:t>15.11.2023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1259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8C3A-27A8-4F5D-BCF6-81487227B22B}" type="datetime1">
              <a:rPr lang="cs-CZ" smtClean="0"/>
              <a:t>15.11.2023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916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B6-AA27-4C3E-B15F-B23EFAD00753}" type="datetime1">
              <a:rPr lang="cs-CZ" smtClean="0"/>
              <a:t>15.11.2023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9399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FBB4-ED04-4AF8-8825-9DE750AE6DC4}" type="datetime1">
              <a:rPr lang="cs-CZ" smtClean="0"/>
              <a:t>15.11.2023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62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8FE5-7F55-4E64-96B1-46905E735CFA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819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EC9-6703-49C8-BC88-478040A7E487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503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4A15E60-770B-08C1-4FB0-53B89D25A9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0BD6C-8EDF-4771-B475-C4DAB7D28F88}" type="datetime1">
              <a:rPr lang="cs-CZ"/>
              <a:pPr>
                <a:defRPr/>
              </a:pPr>
              <a:t>15.11.2023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86A8E9A-5FD7-7BCC-DF44-70F5F4122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945952-397A-01D3-0414-7BDDDC25B3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184E6A67-AAF8-4994-B22D-345CF772E01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46578742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294D41-3700-5AD3-36EF-80065F24C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94FB791-DD3A-4EE6-29E0-FF3333039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0F0D4B-8F4F-02FD-224E-1F7F226F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322F-070C-4D7A-A16D-C176363A7336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1367A79-1229-5B81-120A-5F916E5F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A5DF269-F728-D2AD-FFEA-6A8E31D1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1909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25FC21-62D6-48C4-FF51-F47DA3D6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215977-5B11-6896-035A-425AAF2BF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1711239-F64C-AEC2-DF68-12331EA9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FF2C-1BE3-4860-B7FF-427BF811E134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91C5AD9-B03D-345E-6D32-68FD300D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78560-7261-1419-B0C8-7A307111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920351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154F1C-428F-DDA3-5D12-C3BC3599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F2E179D-26CA-77E9-36EF-19877EDA1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24A7EB-F640-27BB-905C-48916896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6AD0C-1BFA-412D-B0BB-6EAD4517B9DA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6C4C40-6817-B080-06D9-36FE2C9D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7740F9-CB3A-8B10-FC92-1BDBF886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4166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49B26A-177D-442D-5BB0-5E2B4EE2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E37277-841C-9AC5-00C7-53CB19D69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42975DC-538F-9935-2291-B17A96F99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7EA7E9C-07CB-D4F6-C3B8-B6DCC331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9BA48-AD97-441D-9C30-70CE5960E56B}" type="datetime1">
              <a:rPr lang="cs-CZ" smtClean="0"/>
              <a:t>15.11.2023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5DB13B0-9001-F1BA-4A75-2D3E6E43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C7F02BE-AC40-A969-7135-BDF880BE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1418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C1BE00-74A5-6354-0A93-5963053D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AFAFA9B-A920-420D-D5EA-A121ABCE2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B6C8C35-4F84-11A6-1494-8705AA412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519B867-E254-910A-B62E-882E6D289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020A706-B12C-D07C-F022-35A985319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A5AF8FD-A4DF-7883-2AC4-4CB08F24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F040-2AFD-407B-8BF2-0F56D3DA675E}" type="datetime1">
              <a:rPr lang="cs-CZ" smtClean="0"/>
              <a:t>15.11.2023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C8490C3-F297-3D24-EC6C-5DBDD743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7FD3D9DF-F6FD-1E3F-17B3-16CD306A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03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4491A8-9B3E-57D4-411B-F88A0BFB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09254BE-D10F-8E90-F66B-273E3CB0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F44C-452D-4AB9-A7AE-7B5A7AFE3E25}" type="datetime1">
              <a:rPr lang="cs-CZ" smtClean="0"/>
              <a:t>15.11.2023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7BBE315-F387-0CAB-9646-2FE08A6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1E4A43A-A28E-D338-F888-25EF7195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6789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8CE879A-BAED-AB79-E240-5E7C02D5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8C3A-27A8-4F5D-BCF6-81487227B22B}" type="datetime1">
              <a:rPr lang="cs-CZ" smtClean="0"/>
              <a:t>15.11.2023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3054715-F55C-1DA7-7E81-B4909C3C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9E53A62-B128-3A80-0C5D-499AC0DB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46736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451AA2-6590-58FE-9BB0-24D9C2B7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EC6245-2F99-DA26-1799-72039573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8ED7C7E-C6A1-ED73-66EE-510A545C6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E6A64B2-E9A5-5F35-CD0F-5C970F9B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B6-AA27-4C3E-B15F-B23EFAD00753}" type="datetime1">
              <a:rPr lang="cs-CZ" smtClean="0"/>
              <a:t>15.11.2023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1776E38-3D22-01BC-8F1F-8077DDF2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0184C8E-3496-2560-EAF1-FB0925FD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2107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57FB9B-AB47-3F35-F014-86ADD4D68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83E0EC1-7C51-FB93-D845-652B564EC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B99D5C-955C-C5B2-D264-11FABF557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D1EB1EB-DC7F-6ECB-278A-066EABA3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FBB4-ED04-4AF8-8825-9DE750AE6DC4}" type="datetime1">
              <a:rPr lang="cs-CZ" smtClean="0"/>
              <a:t>15.11.2023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36B6F54-A472-639D-634E-10D30045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2E54368-3ED1-6BE8-BDDB-D8F0BE1E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0487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B83F1A-A4A8-996D-74D7-F25E8E66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16CAEAB-2D49-2275-253C-40CB6B827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611610-6917-F3B9-9A41-7B9040D5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8FE5-7F55-4E64-96B1-46905E735CFA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1F6BB6-1974-59D6-2249-AFC73B7A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3B59212-6B41-CC7F-B6CB-6D602DC6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2568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F8CA7F9A-10FF-1AB7-1C2D-F83496DBF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DF906A4-4E4D-440A-550A-80C9E590C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E19E99A-E06D-95C6-E9CE-9C335715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EC9-6703-49C8-BC88-478040A7E487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D26B64-E66F-F14F-4EA2-E2C372C4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43DCBE-067C-8965-DAB0-A604692D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192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4A15E60-770B-08C1-4FB0-53B89D25A9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0BD6C-8EDF-4771-B475-C4DAB7D28F88}" type="datetime1">
              <a:rPr lang="cs-CZ"/>
              <a:pPr>
                <a:defRPr/>
              </a:pPr>
              <a:t>15.11.2023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86A8E9A-5FD7-7BCC-DF44-70F5F4122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945952-397A-01D3-0414-7BDDDC25B3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184E6A67-AAF8-4994-B22D-345CF772E01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15019825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4C1FF2C-1BE3-4860-B7FF-427BF811E134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672836E-A828-CC95-B7AA-984D1463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039DC98-584D-E054-AB86-EC7B04B1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BE9370-C0E8-3776-3D64-2254CDAAF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1FF2C-1BE3-4860-B7FF-427BF811E134}" type="datetime1">
              <a:rPr lang="cs-CZ" smtClean="0"/>
              <a:t>15.11.2023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6B25F1-B56A-1CAD-A39E-E6908DEC8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FF70CC5-6020-0596-94AB-F059E1CE5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952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5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cs/vizitka-prezentace-poznat-kontakt-1020444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ekhdecoded.com/how-to-make-your-presentations-unforgettable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learning.tul.cz/mod/resource/view.php?id=146711&amp;forceview=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mania.cz/chyby-pri-prezentovani-aneb-na-co-si-dat-pozor/" TargetMode="External"/><Relationship Id="rId2" Type="http://schemas.openxmlformats.org/officeDocument/2006/relationships/hyperlink" Target="https://office.lasakovi.com/power-point/zaklady/chyby-v-tvorbe-prezentaci/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linkedin.com/pulse/7-nej%C4%8Dast%C4%9Bj%C5%A1%C3%ADch-chyb-kter%C3%A9-zni%C4%8D%C3%AD-va%C5%A1i-prezentaci-jan-weisser/?originalSubdomain=cz" TargetMode="External"/><Relationship Id="rId4" Type="http://schemas.openxmlformats.org/officeDocument/2006/relationships/hyperlink" Target="https://www.idnes.cz/finance/prace-a-podnikani/prace-zamestnani-prezentace-projev-technika.A180510_400373_podnikani_kho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dnes.cz/finance/prace-a-podnikani/prace-zamestnani-prezentace-projev-technika.A180510_400373_podnikani_kho" TargetMode="External"/><Relationship Id="rId2" Type="http://schemas.openxmlformats.org/officeDocument/2006/relationships/hyperlink" Target="https://office.lasakovi.com/power-point/zaklady/chyby-v-tvorbe-prezentaci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" y="0"/>
            <a:ext cx="9141545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60208" y="685892"/>
            <a:ext cx="2674805" cy="3794020"/>
          </a:xfrm>
        </p:spPr>
        <p:txBody>
          <a:bodyPr anchor="b">
            <a:normAutofit/>
          </a:bodyPr>
          <a:lstStyle/>
          <a:p>
            <a:r>
              <a:rPr lang="cs-CZ" sz="3500"/>
              <a:t>Prezentace a prezentování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60208" y="4684242"/>
            <a:ext cx="2674805" cy="1463040"/>
          </a:xfrm>
        </p:spPr>
        <p:txBody>
          <a:bodyPr anchor="t">
            <a:normAutofit/>
          </a:bodyPr>
          <a:lstStyle/>
          <a:p>
            <a:pPr algn="r"/>
            <a:r>
              <a:rPr lang="cs-CZ" sz="1400"/>
              <a:t>Ing. Gabriela Votavová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1667" y="4593863"/>
            <a:ext cx="2194560" cy="0"/>
          </a:xfrm>
          <a:prstGeom prst="line">
            <a:avLst/>
          </a:prstGeom>
          <a:ln w="19050">
            <a:solidFill>
              <a:srgbClr val="DB4D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Člověk, který se snaží dostat papír na tabulku s plným počtem papírových a rychlých poznámek">
            <a:extLst>
              <a:ext uri="{FF2B5EF4-FFF2-40B4-BE49-F238E27FC236}">
                <a16:creationId xmlns:a16="http://schemas.microsoft.com/office/drawing/2014/main" id="{895E4315-C54A-3215-A7D7-8F0638B211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02" r="22402" b="-2"/>
          <a:stretch/>
        </p:blipFill>
        <p:spPr>
          <a:xfrm>
            <a:off x="3493693" y="975"/>
            <a:ext cx="5650307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426545" cy="1499616"/>
          </a:xfrm>
        </p:spPr>
        <p:txBody>
          <a:bodyPr>
            <a:normAutofit/>
          </a:bodyPr>
          <a:lstStyle/>
          <a:p>
            <a:r>
              <a:rPr lang="cs-CZ"/>
              <a:t>Co je to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97841" y="2286000"/>
            <a:ext cx="4812016" cy="4459024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cs-CZ" sz="2800" dirty="0"/>
              <a:t>Sdělování informací s využitím slovních i vizuálních prostředků</a:t>
            </a:r>
          </a:p>
          <a:p>
            <a:pPr>
              <a:buNone/>
            </a:pPr>
            <a:endParaRPr lang="cs-CZ" dirty="0"/>
          </a:p>
          <a:p>
            <a:pPr>
              <a:buNone/>
            </a:pPr>
            <a:endParaRPr lang="cs-CZ" dirty="0"/>
          </a:p>
          <a:p>
            <a:pPr>
              <a:buNone/>
            </a:pPr>
            <a:endParaRPr lang="cs-CZ" dirty="0"/>
          </a:p>
          <a:p>
            <a:pPr indent="0">
              <a:buNone/>
            </a:pPr>
            <a:r>
              <a:rPr lang="cs-CZ" i="1" dirty="0"/>
              <a:t>Podle výzkumů si člověk pamatuje až           40 % informací přijatých zrakem, ale asi jen 10 % přijatých sluchem!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3205DC8-F3F4-7660-2451-F5420B7980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041" r="21181" b="3"/>
          <a:stretch/>
        </p:blipFill>
        <p:spPr>
          <a:xfrm>
            <a:off x="5940152" y="585216"/>
            <a:ext cx="2999740" cy="5577840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1D5490-8CA7-D517-95FE-3A3E6932B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Obecné zásady prezentování</a:t>
            </a:r>
          </a:p>
        </p:txBody>
      </p:sp>
      <p:sp>
        <p:nvSpPr>
          <p:cNvPr id="12" name="Zástupný symbol pro obsah 2"/>
          <p:cNvSpPr>
            <a:spLocks noGrp="1"/>
          </p:cNvSpPr>
          <p:nvPr>
            <p:ph idx="1"/>
          </p:nvPr>
        </p:nvSpPr>
        <p:spPr>
          <a:xfrm>
            <a:off x="683568" y="2267838"/>
            <a:ext cx="4550113" cy="4023360"/>
          </a:xfrm>
        </p:spPr>
        <p:txBody>
          <a:bodyPr>
            <a:normAutofit/>
          </a:bodyPr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Uvědomit si „co prezentuji a komu“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Znát prostor prezentování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Mít připravenou techniku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Mít dobrou znalost tématu</a:t>
            </a:r>
          </a:p>
        </p:txBody>
      </p:sp>
      <p:pic>
        <p:nvPicPr>
          <p:cNvPr id="13" name="Picture 5" descr="Více barevných židlí">
            <a:extLst>
              <a:ext uri="{FF2B5EF4-FFF2-40B4-BE49-F238E27FC236}">
                <a16:creationId xmlns:a16="http://schemas.microsoft.com/office/drawing/2014/main" id="{EF5261F6-27A9-8138-C080-692C12F383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988" r="26928" b="2"/>
          <a:stretch/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C3855B4-E85C-D327-BD0C-179EBDAF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cs-CZ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50946" y="476672"/>
            <a:ext cx="5021407" cy="1622321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Příprava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3829" y="2098993"/>
            <a:ext cx="4641142" cy="3785419"/>
          </a:xfrm>
        </p:spPr>
        <p:txBody>
          <a:bodyPr>
            <a:normAutofit/>
          </a:bodyPr>
          <a:lstStyle/>
          <a:p>
            <a:pPr marL="363538" indent="-3635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Stanovit cíle: </a:t>
            </a:r>
            <a:r>
              <a:rPr lang="cs-CZ" sz="2800" b="1" dirty="0"/>
              <a:t>CO</a:t>
            </a:r>
          </a:p>
          <a:p>
            <a:pPr marL="363538" indent="-3635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Podmínky prezentace: </a:t>
            </a:r>
            <a:r>
              <a:rPr lang="cs-CZ" sz="2800" b="1" dirty="0"/>
              <a:t>KDE</a:t>
            </a:r>
          </a:p>
          <a:p>
            <a:pPr marL="363538" indent="-363538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Vymezení publika: </a:t>
            </a:r>
            <a:r>
              <a:rPr lang="cs-CZ" sz="2800" b="1" dirty="0"/>
              <a:t>KOMU</a:t>
            </a:r>
            <a:endParaRPr lang="cs-CZ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3F0025-FD39-4183-9BF5-A888054DD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2" r="24536" b="-2"/>
          <a:stretch/>
        </p:blipFill>
        <p:spPr bwMode="auto"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DEA1BC6-1DAE-478F-93C4-9C13B60F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95729"/>
            <a:ext cx="62864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3EF35A-D726-4DB8-9993-BA3B69B5C5CF}" type="slidenum">
              <a:rPr lang="cs-CZ" smtClean="0"/>
              <a:pPr>
                <a:spcAft>
                  <a:spcPts val="600"/>
                </a:spcAft>
              </a:pPr>
              <a:t>4</a:t>
            </a:fld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B0DB428-6F46-471B-BBE8-961653E4420C}"/>
              </a:ext>
            </a:extLst>
          </p:cNvPr>
          <p:cNvSpPr txBox="1"/>
          <p:nvPr/>
        </p:nvSpPr>
        <p:spPr>
          <a:xfrm>
            <a:off x="5294338" y="6597352"/>
            <a:ext cx="4622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cs-CZ" sz="800" dirty="0"/>
              <a:t>https://www.investujeme.cz/wp-content/uploads/2017/02/prezentace.jpg</a:t>
            </a:r>
            <a:endParaRPr lang="cs-CZ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Obecné zásady prezentování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96234" y="2286000"/>
            <a:ext cx="4610354" cy="4459024"/>
          </a:xfrm>
        </p:spPr>
        <p:txBody>
          <a:bodyPr>
            <a:normAutofit/>
          </a:bodyPr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Mluvit spisovným jazykem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Mluvit zřetelně a plynule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Nepoužívat slang a výplňová slovíčka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Neodchylovat se od tématu</a:t>
            </a:r>
          </a:p>
        </p:txBody>
      </p:sp>
      <p:pic>
        <p:nvPicPr>
          <p:cNvPr id="6" name="Picture 5" descr="Šipky směřující ke světlu">
            <a:extLst>
              <a:ext uri="{FF2B5EF4-FFF2-40B4-BE49-F238E27FC236}">
                <a16:creationId xmlns:a16="http://schemas.microsoft.com/office/drawing/2014/main" id="{F793E36E-DF74-5558-4E82-ED28A81BB1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01" r="52929" b="-1"/>
          <a:stretch/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7AD0A9F-8E5E-87DA-FC4C-09D3F9FB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895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Obecné zásady prezentování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2148840"/>
            <a:ext cx="4610354" cy="4459024"/>
          </a:xfrm>
        </p:spPr>
        <p:txBody>
          <a:bodyPr>
            <a:normAutofit/>
          </a:bodyPr>
          <a:lstStyle/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Udržovat oční kontakt a pozornost posluchačů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Přiměřeně gestikulovat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Dodržovat časový limit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cs-CZ" sz="2800" dirty="0"/>
          </a:p>
        </p:txBody>
      </p:sp>
      <p:pic>
        <p:nvPicPr>
          <p:cNvPr id="6" name="Picture 5" descr="Šipky směřující ke světlu">
            <a:extLst>
              <a:ext uri="{FF2B5EF4-FFF2-40B4-BE49-F238E27FC236}">
                <a16:creationId xmlns:a16="http://schemas.microsoft.com/office/drawing/2014/main" id="{F793E36E-DF74-5558-4E82-ED28A81BB1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01" r="52929" b="-1"/>
          <a:stretch/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7AD0A9F-8E5E-87DA-FC4C-09D3F9FB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cs-CZ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Využití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2274942"/>
            <a:ext cx="6711950" cy="4195762"/>
          </a:xfrm>
        </p:spPr>
        <p:txBody>
          <a:bodyPr vert="horz" lIns="45720" tIns="45720" rIns="45720" bIns="45720" rtlCol="0">
            <a:normAutofit/>
          </a:bodyPr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Školení, přednáška, výuka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Propagační akce (výrobky, služby,…)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Firemní jednání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Samostudium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…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C42B1A8-EA77-4243-9F4D-6F1BADB4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EF35A-D726-4DB8-9993-BA3B69B5C5CF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1FAB525-4E93-8E61-DBE0-15FAE5A83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08417" y="3789625"/>
            <a:ext cx="4831528" cy="2681079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7100DBB8-1D46-ED79-86D7-9D30BBA0585E}"/>
              </a:ext>
            </a:extLst>
          </p:cNvPr>
          <p:cNvSpPr txBox="1"/>
          <p:nvPr/>
        </p:nvSpPr>
        <p:spPr>
          <a:xfrm>
            <a:off x="4932041" y="6449639"/>
            <a:ext cx="3707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hlinkClick r:id="rId3" tooltip="https://tekhdecoded.com/how-to-make-your-presentations-unforgettable/"/>
              </a:rPr>
              <a:t>Tato fotka</a:t>
            </a:r>
            <a:r>
              <a:rPr kumimoji="0" lang="cs-CZ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od autora Neznámý autor s licencí </a:t>
            </a:r>
            <a:r>
              <a:rPr kumimoji="0" lang="cs-CZ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hlinkClick r:id="rId4" tooltip="https://creativecommons.org/licenses/by-nc-sa/3.0/"/>
              </a:rPr>
              <a:t>CC BY-SA-NC</a:t>
            </a:r>
            <a:endParaRPr kumimoji="0" lang="cs-CZ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87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55576" y="836712"/>
            <a:ext cx="7125113" cy="924475"/>
          </a:xfrm>
        </p:spPr>
        <p:txBody>
          <a:bodyPr/>
          <a:lstStyle/>
          <a:p>
            <a:r>
              <a:rPr lang="cs-CZ" dirty="0"/>
              <a:t>Prezentační metody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9826" y="1600388"/>
            <a:ext cx="8388424" cy="5257612"/>
          </a:xfrm>
        </p:spPr>
        <p:txBody>
          <a:bodyPr>
            <a:noAutofit/>
          </a:bodyPr>
          <a:lstStyle/>
          <a:p>
            <a:pPr marL="539750" indent="-36353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cs-CZ" sz="2800" b="1" dirty="0"/>
              <a:t>Živě vedená prezentace:  </a:t>
            </a:r>
          </a:p>
          <a:p>
            <a:pPr marL="539750" lvl="1" indent="-36353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dirty="0"/>
              <a:t>přednášející je přítomen před publikem, snímky se mění podle potřeby</a:t>
            </a:r>
          </a:p>
          <a:p>
            <a:pPr marL="539750" indent="-36353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cs-CZ" sz="2800" b="1" dirty="0"/>
              <a:t>Automatická prezentace: </a:t>
            </a:r>
          </a:p>
          <a:p>
            <a:pPr marL="539750" indent="-36353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dirty="0"/>
              <a:t>přednášející nemusí být přítomen, snímky mají časový limit po kterém se  automaticky mění	</a:t>
            </a:r>
            <a:endParaRPr lang="cs-CZ" sz="2800" dirty="0"/>
          </a:p>
          <a:p>
            <a:pPr marL="539750" indent="-36353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cs-CZ" sz="2800" b="1" dirty="0"/>
              <a:t>Interaktivní prezentace: </a:t>
            </a:r>
          </a:p>
          <a:p>
            <a:pPr marL="539750" indent="-36353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dirty="0"/>
              <a:t>předvádění bez přítomnosti autora, proklikávání na další snímek je v rukou uživatele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cs-CZ" sz="36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1B38963-F0EC-49AB-807A-2840C812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EF35A-D726-4DB8-9993-BA3B69B5C5CF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754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3568" y="548680"/>
            <a:ext cx="4212163" cy="1622321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Publikování</a:t>
            </a:r>
          </a:p>
        </p:txBody>
      </p:sp>
      <p:pic>
        <p:nvPicPr>
          <p:cNvPr id="8" name="Graphic 7" descr="Projector screen">
            <a:extLst>
              <a:ext uri="{FF2B5EF4-FFF2-40B4-BE49-F238E27FC236}">
                <a16:creationId xmlns:a16="http://schemas.microsoft.com/office/drawing/2014/main" id="{B41335D4-EE6B-0B2D-5D30-B09E8D8A8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5248" y="3789040"/>
            <a:ext cx="2905443" cy="2905443"/>
          </a:xfrm>
          <a:prstGeom prst="rect">
            <a:avLst/>
          </a:prstGeom>
          <a:effectLst/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112B330-F207-4E17-A222-B69CE7EC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95729"/>
            <a:ext cx="628649" cy="767687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93EF35A-D726-4DB8-9993-BA3B69B5C5CF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49792" y="2171001"/>
            <a:ext cx="5997922" cy="4378995"/>
          </a:xfrm>
        </p:spPr>
        <p:txBody>
          <a:bodyPr vert="horz" lIns="45720" tIns="45720" rIns="45720" bIns="45720" rtlCol="0">
            <a:normAutofit/>
          </a:bodyPr>
          <a:lstStyle/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Promítání snímků na monitoru počítače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Promítání snímků na větší plochu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Prezentace na Internetu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Papírové podklady</a:t>
            </a:r>
          </a:p>
        </p:txBody>
      </p:sp>
    </p:spTree>
    <p:extLst>
      <p:ext uri="{BB962C8B-B14F-4D97-AF65-F5344CB8AC3E}">
        <p14:creationId xmlns:p14="http://schemas.microsoft.com/office/powerpoint/2010/main" val="283228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B208EA-91A8-F4C6-9567-B5FD1EAA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Neverbální komunikace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9031AE24-00A4-6305-C49B-9152A2F92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00" y="2204864"/>
            <a:ext cx="8236050" cy="4933925"/>
          </a:xfrm>
        </p:spPr>
        <p:txBody>
          <a:bodyPr/>
          <a:lstStyle/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Komunikace beze slov ~ řeč těla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Důležitá součást sociální komunikace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Starší než řeč slov</a:t>
            </a:r>
          </a:p>
          <a:p>
            <a:pPr>
              <a:lnSpc>
                <a:spcPct val="200000"/>
              </a:lnSpc>
            </a:pPr>
            <a:endParaRPr lang="cs-CZ" sz="2400" dirty="0"/>
          </a:p>
          <a:p>
            <a:pPr marL="0" indent="0">
              <a:lnSpc>
                <a:spcPct val="200000"/>
              </a:lnSpc>
              <a:buNone/>
            </a:pPr>
            <a:r>
              <a:rPr lang="cs-CZ" dirty="0"/>
              <a:t>Neverbální ~ nonverbální, neslovní, mimoslovní komunikace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F59EF91-157E-508C-2C20-5A8AF491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84F6-20FE-43D8-B1D6-C8CAC5FAABD4}" type="slidenum">
              <a:rPr lang="cs-CZ" altLang="cs-CZ" smtClean="0"/>
              <a:pPr/>
              <a:t>10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426476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3960BF07-23F7-A766-5B44-7BD26F498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47" y="581889"/>
            <a:ext cx="8371494" cy="5734473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F59EF91-157E-508C-2C20-5A8AF491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6093296"/>
            <a:ext cx="407995" cy="5711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 eaLnBrk="1" hangingPunct="1">
              <a:spcAft>
                <a:spcPts val="600"/>
              </a:spcAft>
            </a:pPr>
            <a:fld id="{C14184F6-20FE-43D8-B1D6-C8CAC5FAABD4}" type="slidenum">
              <a:rPr lang="en-US" altLang="cs-CZ">
                <a:latin typeface="+mn-lt"/>
              </a:rPr>
              <a:pPr defTabSz="457200" eaLnBrk="1" hangingPunct="1">
                <a:spcAft>
                  <a:spcPts val="600"/>
                </a:spcAft>
              </a:pPr>
              <a:t>11</a:t>
            </a:fld>
            <a:endParaRPr lang="en-US" altLang="cs-CZ" dirty="0">
              <a:latin typeface="+mn-lt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667F8EB-3A8E-4BB5-0DC0-56C66FC809DD}"/>
              </a:ext>
            </a:extLst>
          </p:cNvPr>
          <p:cNvSpPr txBox="1"/>
          <p:nvPr/>
        </p:nvSpPr>
        <p:spPr>
          <a:xfrm>
            <a:off x="440497" y="6418191"/>
            <a:ext cx="87193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000" dirty="0"/>
              <a:t>Zdroj: </a:t>
            </a:r>
            <a:r>
              <a:rPr lang="cs-CZ" sz="1000" dirty="0">
                <a:hlinkClick r:id="rId3"/>
              </a:rPr>
              <a:t>https://elearning.tul.cz/mod/resource/view.php?id=146711&amp;forceview=1</a:t>
            </a:r>
            <a:r>
              <a:rPr lang="cs-CZ" sz="1000" dirty="0"/>
              <a:t>, 3.1.2023</a:t>
            </a:r>
          </a:p>
        </p:txBody>
      </p:sp>
    </p:spTree>
    <p:extLst>
      <p:ext uri="{BB962C8B-B14F-4D97-AF65-F5344CB8AC3E}">
        <p14:creationId xmlns:p14="http://schemas.microsoft.com/office/powerpoint/2010/main" val="1281958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B208EA-91A8-F4C6-9567-B5FD1EAA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Neverbální komunikace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9031AE24-00A4-6305-C49B-9152A2F92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30" y="1628800"/>
            <a:ext cx="7587977" cy="4968552"/>
          </a:xfrm>
        </p:spPr>
        <p:txBody>
          <a:bodyPr>
            <a:normAutofit/>
          </a:bodyPr>
          <a:lstStyle/>
          <a:p>
            <a:pPr marL="355600" indent="-3556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Mimika – výrazy obličeje</a:t>
            </a:r>
          </a:p>
          <a:p>
            <a:pPr marL="355600" indent="-3556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Gesta – pohyby rukou</a:t>
            </a:r>
          </a:p>
          <a:p>
            <a:pPr marL="355600" indent="-3556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Haptika – dotyky</a:t>
            </a:r>
          </a:p>
          <a:p>
            <a:pPr marL="355600" indent="-3556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Proxemika – komunikační vzdálenost</a:t>
            </a:r>
          </a:p>
          <a:p>
            <a:pPr marL="355600" indent="-3556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sz="2800" dirty="0" err="1"/>
              <a:t>Posturika</a:t>
            </a:r>
            <a:r>
              <a:rPr lang="cs-CZ" sz="2800" dirty="0"/>
              <a:t> – postoj těla</a:t>
            </a:r>
          </a:p>
          <a:p>
            <a:pPr marL="355600" indent="-3556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Pohledy – zrakový kontakt</a:t>
            </a:r>
          </a:p>
          <a:p>
            <a:pPr marL="355600" indent="-3556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sz="2800" dirty="0" err="1"/>
              <a:t>Kinezika</a:t>
            </a:r>
            <a:r>
              <a:rPr lang="cs-CZ" sz="2800" dirty="0"/>
              <a:t> – dynamika těla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F59EF91-157E-508C-2C20-5A8AF491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84F6-20FE-43D8-B1D6-C8CAC5FAABD4}" type="slidenum">
              <a:rPr lang="cs-CZ" altLang="cs-CZ" smtClean="0"/>
              <a:pPr/>
              <a:t>12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91492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BE554C-CA2A-DEC6-6B14-CD92E94B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Čeho se vyvarovat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7170B6-26FF-8556-9F92-77D0C3374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312" y="1700808"/>
            <a:ext cx="7921376" cy="4968552"/>
          </a:xfrm>
        </p:spPr>
        <p:txBody>
          <a:bodyPr>
            <a:normAutofit fontScale="92500"/>
          </a:bodyPr>
          <a:lstStyle/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sz="2800" dirty="0"/>
              <a:t>Čtení prezentace</a:t>
            </a:r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sz="2800" dirty="0"/>
              <a:t>Monotónní projev</a:t>
            </a:r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sz="2800" dirty="0"/>
              <a:t>Řeč těla: </a:t>
            </a:r>
          </a:p>
          <a:p>
            <a:pPr marL="1079500" lvl="1" indent="-365125" defTabSz="1431925">
              <a:lnSpc>
                <a:spcPct val="14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pl-PL" sz="2400" dirty="0"/>
              <a:t>Přílišný pohyb celým tělem x strnulý postoj</a:t>
            </a:r>
          </a:p>
          <a:p>
            <a:pPr marL="1079500" lvl="1" indent="-365125" defTabSz="1431925">
              <a:lnSpc>
                <a:spcPct val="14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cs-CZ" sz="2400" dirty="0"/>
              <a:t>Přehnaná gestikulace</a:t>
            </a:r>
          </a:p>
          <a:p>
            <a:pPr marL="1079500" lvl="1" indent="-365125" defTabSz="1431925">
              <a:lnSpc>
                <a:spcPct val="14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pl-PL" sz="2400" dirty="0"/>
              <a:t>Oční kontakt – n</a:t>
            </a:r>
            <a:r>
              <a:rPr lang="cs-CZ" sz="2400" dirty="0" err="1"/>
              <a:t>edostatečný</a:t>
            </a:r>
            <a:r>
              <a:rPr lang="cs-CZ" sz="2400" dirty="0"/>
              <a:t> x přehnaný</a:t>
            </a:r>
          </a:p>
          <a:p>
            <a:pPr marL="1079500" lvl="1" indent="-365125" defTabSz="1431925">
              <a:lnSpc>
                <a:spcPct val="14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cs-CZ" sz="2400" dirty="0"/>
              <a:t>Nevhodná mimika (mračení, úšklebky, vytažené obočí,…)</a:t>
            </a:r>
            <a:endParaRPr lang="pl-PL" sz="2400" dirty="0"/>
          </a:p>
          <a:p>
            <a:pPr marL="1079500" lvl="1" indent="-365125" defTabSz="1431925">
              <a:lnSpc>
                <a:spcPct val="14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pl-PL" sz="2400" dirty="0"/>
              <a:t>Ruce – ne v kapsách ani založené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DA82E80-6E1D-A26E-AE99-24F6837A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84F6-20FE-43D8-B1D6-C8CAC5FAABD4}" type="slidenum">
              <a:rPr lang="cs-CZ" altLang="cs-CZ" smtClean="0"/>
              <a:pPr/>
              <a:t>13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78115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BE554C-CA2A-DEC6-6B14-CD92E94B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Čeho se vyvarovat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7170B6-26FF-8556-9F92-77D0C3374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312" y="1700808"/>
            <a:ext cx="7921376" cy="4968552"/>
          </a:xfrm>
        </p:spPr>
        <p:txBody>
          <a:bodyPr/>
          <a:lstStyle/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Kontrolování hodinek</a:t>
            </a:r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Separace, nezapojování se do konverzace</a:t>
            </a:r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sz="2800" dirty="0"/>
              <a:t>Nepřipravenost</a:t>
            </a:r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sz="2800" dirty="0"/>
              <a:t>Nadměrná animace, přechody</a:t>
            </a:r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sz="2800" dirty="0"/>
              <a:t>Nepřehlednost, složitost</a:t>
            </a:r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pl-PL" sz="2800" dirty="0"/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sz="2800" dirty="0"/>
              <a:t>Neznámý cíl prezentace</a:t>
            </a:r>
            <a:endParaRPr lang="cs-CZ" sz="2800" dirty="0"/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DA82E80-6E1D-A26E-AE99-24F6837A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84F6-20FE-43D8-B1D6-C8CAC5FAABD4}" type="slidenum">
              <a:rPr lang="cs-CZ" altLang="cs-CZ" smtClean="0"/>
              <a:pPr/>
              <a:t>14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102705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A7FB63-CBC4-F083-A204-BEF7D563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Chyby prezentování - odkazy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779379-3B56-967C-45F5-B9DC4072EA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568" y="1844824"/>
            <a:ext cx="8174682" cy="4625880"/>
          </a:xfrm>
        </p:spPr>
        <p:txBody>
          <a:bodyPr>
            <a:normAutofit fontScale="92500" lnSpcReduction="20000"/>
          </a:bodyPr>
          <a:lstStyle/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cs-CZ" b="1" dirty="0"/>
              <a:t>Chyby při tvorbě prezentací – PowerPoint</a:t>
            </a:r>
            <a:r>
              <a:rPr lang="cs-CZ" dirty="0"/>
              <a:t> </a:t>
            </a:r>
            <a:r>
              <a:rPr lang="cs-CZ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https://office.lasakovi.com/power-point/zaklady/chyby-v-tvorbe-prezentaci/</a:t>
            </a:r>
            <a:endParaRPr lang="cs-CZ" dirty="0"/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cs-CZ" b="1" dirty="0"/>
              <a:t>Chyby při prezentování aneb na co si dát pozor</a:t>
            </a:r>
            <a:r>
              <a:rPr lang="cs-CZ" dirty="0"/>
              <a:t> </a:t>
            </a:r>
            <a:r>
              <a:rPr lang="cs-CZ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https://prezmania.cz/chyby-pri-prezentovani-aneb-na-co-si-dat-pozor/</a:t>
            </a:r>
            <a:endParaRPr lang="cs-CZ" dirty="0"/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b="1" dirty="0"/>
              <a:t>Pět chyb, které vám zabijí prezentaci </a:t>
            </a:r>
            <a:r>
              <a:rPr lang="pl-PL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https://www.idnes.cz/finance/prace-a-podnikani/prace-zamestnani-prezentace-projev-technika.A180510_400373_podnikani_kho</a:t>
            </a:r>
            <a:endParaRPr lang="pl-PL" dirty="0"/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cs-CZ" b="1" dirty="0"/>
              <a:t>7 nejčastějších chyb, které zničí vaši prezentaci </a:t>
            </a:r>
            <a:r>
              <a:rPr lang="cs-CZ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https://www.linkedin.com/pulse/7-nej%C4%8Dast%C4%9Bj%C5%A1%C3%ADch-chyb-kter%C3%A9-zni%C4%8D%C3%AD-va%C5%A1i-prezentaci-jan-weisser/?originalSubdomain=cz</a:t>
            </a:r>
            <a:endParaRPr lang="cs-CZ" dirty="0"/>
          </a:p>
          <a:p>
            <a:pPr marL="355600" indent="-3556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l-PL" b="1" dirty="0"/>
              <a:t>Pět chyb, které vám zabijí prezentaci  </a:t>
            </a:r>
            <a:r>
              <a:rPr lang="pl-PL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https://www.idnes.cz/finance/prace-a-podnikani/prace-zamestnani-prezentace-projev-technika</a:t>
            </a:r>
            <a:r>
              <a:rPr lang="pl-PL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.A180510_400373_podnikani_kho</a:t>
            </a:r>
            <a:endParaRPr lang="cs-CZ" sz="5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32CA226-DCD3-B351-D92A-FDE30D9F7B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4E6A67-AAF8-4994-B22D-345CF772E01C}" type="slidenum">
              <a:rPr lang="cs-CZ" altLang="cs-CZ" smtClean="0"/>
              <a:pPr/>
              <a:t>15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040511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Způsoby tvorby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196984"/>
            <a:ext cx="4550113" cy="4023360"/>
          </a:xfrm>
        </p:spPr>
        <p:txBody>
          <a:bodyPr vert="horz" lIns="45720" tIns="45720" rIns="45720" bIns="45720" rtlCol="0">
            <a:normAutofit lnSpcReduction="10000"/>
          </a:bodyPr>
          <a:lstStyle/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Nová prezentace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Použití existující prezentace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Použití předlohy snímku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Použití šablony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cs-CZ" sz="2800" dirty="0"/>
          </a:p>
        </p:txBody>
      </p:sp>
      <p:pic>
        <p:nvPicPr>
          <p:cNvPr id="6" name="Picture 5" descr="Abstraktní rozostřená veřejná knihovna s policemi knih">
            <a:extLst>
              <a:ext uri="{FF2B5EF4-FFF2-40B4-BE49-F238E27FC236}">
                <a16:creationId xmlns:a16="http://schemas.microsoft.com/office/drawing/2014/main" id="{660D0727-6A78-35F4-3B60-55CEADBF29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95" r="44235" b="-1"/>
          <a:stretch/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B67127C-80C8-4759-A898-936C6CED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3EF35A-D726-4DB8-9993-BA3B69B5C5CF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cs-CZ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96249" y="764704"/>
            <a:ext cx="7024744" cy="1143000"/>
          </a:xfrm>
        </p:spPr>
        <p:txBody>
          <a:bodyPr/>
          <a:lstStyle/>
          <a:p>
            <a:r>
              <a:rPr lang="cs-CZ" dirty="0"/>
              <a:t>Vzhled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348880"/>
            <a:ext cx="7551502" cy="3888432"/>
          </a:xfrm>
        </p:spPr>
        <p:txBody>
          <a:bodyPr vert="horz" lIns="45720" tIns="45720" rIns="45720" bIns="45720" rtlCol="0">
            <a:normAutofit fontScale="92500" lnSpcReduction="10000"/>
          </a:bodyPr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3000" dirty="0"/>
              <a:t>Vhodný Motiv a typ písma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3000" dirty="0"/>
              <a:t>Vhodná velikost písma:</a:t>
            </a:r>
          </a:p>
          <a:p>
            <a:pPr marL="1079500" lvl="1" indent="-365125" defTabSz="14319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cs-CZ" sz="2600" dirty="0"/>
              <a:t>nadpisy: cca 40 bodů</a:t>
            </a:r>
          </a:p>
          <a:p>
            <a:pPr marL="1079500" lvl="1" indent="-365125" defTabSz="14319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cs-CZ" sz="2600" dirty="0"/>
              <a:t>text: cca 30 bodů (neměl by být menší než 20 bodů)</a:t>
            </a:r>
          </a:p>
          <a:p>
            <a:pPr marL="173736" lvl="1" indent="0" defTabSz="1431925">
              <a:lnSpc>
                <a:spcPct val="150000"/>
              </a:lnSpc>
              <a:buNone/>
            </a:pPr>
            <a:endParaRPr lang="cs-CZ" sz="2600" dirty="0"/>
          </a:p>
          <a:p>
            <a:pPr marL="0" indent="0">
              <a:lnSpc>
                <a:spcPct val="150000"/>
              </a:lnSpc>
              <a:buNone/>
            </a:pPr>
            <a:r>
              <a:rPr lang="cs-CZ" dirty="0"/>
              <a:t>Užití bezpatkového písma (Arial, </a:t>
            </a:r>
            <a:r>
              <a:rPr lang="cs-CZ" dirty="0" err="1"/>
              <a:t>Verdana</a:t>
            </a:r>
            <a:r>
              <a:rPr lang="cs-CZ" dirty="0"/>
              <a:t>, </a:t>
            </a:r>
            <a:r>
              <a:rPr lang="cs-CZ" sz="2000" dirty="0"/>
              <a:t>Calibri, </a:t>
            </a:r>
            <a:r>
              <a:rPr lang="cs-CZ" sz="2000" dirty="0" err="1"/>
              <a:t>Tahoma</a:t>
            </a:r>
            <a:r>
              <a:rPr lang="cs-CZ" sz="2000" dirty="0"/>
              <a:t>, </a:t>
            </a:r>
            <a:r>
              <a:rPr lang="cs-CZ" dirty="0"/>
              <a:t>…)</a:t>
            </a:r>
          </a:p>
          <a:p>
            <a:pPr lvl="1"/>
            <a:endParaRPr lang="cs-CZ" dirty="0"/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cs-CZ" sz="30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936EB9D-AAAD-4FF2-89C9-EF7B1DB3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Zástupný symbol pro číslo snímku 4">
            <a:extLst>
              <a:ext uri="{FF2B5EF4-FFF2-40B4-BE49-F238E27FC236}">
                <a16:creationId xmlns:a16="http://schemas.microsoft.com/office/drawing/2014/main" id="{600C150A-4BA7-4C72-9A48-D2D95A9FA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1E383A-D400-4BA2-A57C-BB6CCA93F61D}" type="slidenum">
              <a:rPr lang="cs-CZ" altLang="cs-CZ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cs-CZ" altLang="cs-CZ" sz="1200">
              <a:latin typeface="Arial" panose="020B0604020202020204" pitchFamily="34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60EBD6B-5BE5-485B-B207-0CDE976566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2139712"/>
            <a:ext cx="6841132" cy="4468152"/>
          </a:xfrm>
        </p:spPr>
        <p:txBody>
          <a:bodyPr vert="horz" lIns="45720" tIns="45720" rIns="45720" bIns="45720" rtlCol="0">
            <a:normAutofit/>
          </a:bodyPr>
          <a:lstStyle/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Jednotná forma celé prezentace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Zvýrazňování důležitých faktů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Méně efektů = vyšší kvalita prezentace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Menší množství použitých typů písma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cs-CZ" sz="2800" dirty="0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8C8A02E-1575-463B-AB03-616AB43E8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dirty="0"/>
              <a:t>Pravidla psaní textu v Prezentacích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E156D8-DC08-49CC-8F04-A27485CD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Pravidla psaní textu v prezentacích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11CBDAF-4675-4D36-883F-E29480E2C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284502"/>
            <a:ext cx="7290055" cy="4023360"/>
          </a:xfrm>
        </p:spPr>
        <p:txBody>
          <a:bodyPr vert="horz" lIns="45720" tIns="45720" rIns="45720" bIns="45720" rtlCol="0">
            <a:noAutofit/>
          </a:bodyPr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Osnova - nepoužívat celé věty</a:t>
            </a:r>
          </a:p>
          <a:p>
            <a:pPr marL="1079500" lvl="1" indent="-365125" defTabSz="1431925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cs-CZ" sz="2400" dirty="0"/>
              <a:t>PP pouze vodítko pro mluvený projev</a:t>
            </a:r>
          </a:p>
          <a:p>
            <a:pPr marL="1079500" lvl="1" indent="-365125" defTabSz="1431925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cs-CZ" sz="2400" dirty="0"/>
              <a:t>není podkladem pro pouhé čtení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5 x 5 ~ pět řádků s pěti slovy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Všechny snímky stejnou úroveň a styl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cs-CZ" sz="2800" dirty="0"/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cs-CZ" sz="2800" dirty="0"/>
          </a:p>
        </p:txBody>
      </p:sp>
      <p:sp>
        <p:nvSpPr>
          <p:cNvPr id="36868" name="Zástupný symbol pro číslo snímku 3">
            <a:extLst>
              <a:ext uri="{FF2B5EF4-FFF2-40B4-BE49-F238E27FC236}">
                <a16:creationId xmlns:a16="http://schemas.microsoft.com/office/drawing/2014/main" id="{A4B43F7B-0D22-4CAB-8809-439B913E4D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C1F94D-C222-4C54-9A56-78553A45329D}" type="slidenum">
              <a:rPr lang="cs-CZ" altLang="cs-CZ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cs-CZ" altLang="cs-CZ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Zásady počítačové prezentace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>
          <a:xfrm>
            <a:off x="624474" y="2193408"/>
            <a:ext cx="8229600" cy="4525963"/>
          </a:xfrm>
        </p:spPr>
        <p:txBody>
          <a:bodyPr>
            <a:normAutofit/>
          </a:bodyPr>
          <a:lstStyle/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Kontrastní barvy pozadí a textu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Stručnost</a:t>
            </a:r>
            <a:r>
              <a:rPr lang="cs-CZ" sz="2800" b="1" dirty="0"/>
              <a:t> </a:t>
            </a:r>
            <a:r>
              <a:rPr lang="cs-CZ" sz="2800" dirty="0"/>
              <a:t>obsahu - netvořit referát, doprovodit mluveným slovem</a:t>
            </a:r>
          </a:p>
          <a:p>
            <a:pPr marL="355600" indent="-355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Text - velké čitelné písmo, nesmí ho být příliš mnoho</a:t>
            </a:r>
            <a:endParaRPr lang="cs-CZ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D6FF252-553C-6D0A-D75A-1E8A6470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Obrazové informace  v prezentacích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2466555"/>
            <a:ext cx="4550113" cy="4023360"/>
          </a:xfrm>
        </p:spPr>
        <p:txBody>
          <a:bodyPr>
            <a:normAutofit/>
          </a:bodyPr>
          <a:lstStyle/>
          <a:p>
            <a:pPr marL="355600" indent="-355600">
              <a:buFont typeface="Wingdings" panose="05000000000000000000" pitchFamily="2" charset="2"/>
              <a:buChar char="Ø"/>
            </a:pPr>
            <a:r>
              <a:rPr lang="cs-CZ" sz="2800" dirty="0"/>
              <a:t>Lépe zapamatovatelné, proto používejte:</a:t>
            </a:r>
          </a:p>
          <a:p>
            <a:pPr marL="1079500" lvl="1" indent="-365125" defTabSz="14319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cs-CZ" sz="2400" dirty="0"/>
              <a:t>obrázky</a:t>
            </a:r>
          </a:p>
          <a:p>
            <a:pPr marL="1079500" lvl="1" indent="-365125" defTabSz="14319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cs-CZ" sz="2400" dirty="0"/>
              <a:t>nákresy </a:t>
            </a:r>
          </a:p>
          <a:p>
            <a:pPr marL="1079500" lvl="1" indent="-365125" defTabSz="14319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cs-CZ" sz="2400" dirty="0"/>
              <a:t>grafy</a:t>
            </a:r>
          </a:p>
          <a:p>
            <a:pPr marL="1079500" lvl="1" indent="-365125" defTabSz="14319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cs-CZ" sz="2400" dirty="0"/>
              <a:t>schémata</a:t>
            </a:r>
          </a:p>
          <a:p>
            <a:pPr marL="1079500" lvl="1" indent="-365125" defTabSz="1431925">
              <a:buFont typeface="Wingdings" panose="05000000000000000000" pitchFamily="2" charset="2"/>
              <a:buChar char="§"/>
            </a:pPr>
            <a:endParaRPr lang="cs-CZ" sz="2400" dirty="0"/>
          </a:p>
        </p:txBody>
      </p:sp>
      <p:pic>
        <p:nvPicPr>
          <p:cNvPr id="6" name="Picture 5" descr="Složité matematické vzorce na černé tabuli">
            <a:extLst>
              <a:ext uri="{FF2B5EF4-FFF2-40B4-BE49-F238E27FC236}">
                <a16:creationId xmlns:a16="http://schemas.microsoft.com/office/drawing/2014/main" id="{CA549D9A-73C5-0834-0986-A86D7C982D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881" r="25078" b="-1"/>
          <a:stretch/>
        </p:blipFill>
        <p:spPr>
          <a:xfrm>
            <a:off x="5664199" y="10"/>
            <a:ext cx="3479801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C518532-EEC7-C939-B042-F35C91EC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965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Obrazové informace </a:t>
            </a:r>
            <a:br>
              <a:rPr lang="cs-CZ" dirty="0"/>
            </a:br>
            <a:r>
              <a:rPr lang="cs-CZ" dirty="0"/>
              <a:t>v prezentacích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348880"/>
            <a:ext cx="4550113" cy="4023360"/>
          </a:xfrm>
        </p:spPr>
        <p:txBody>
          <a:bodyPr>
            <a:normAutofit/>
          </a:bodyPr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Čitelnost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Přehlednost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Stručnost 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Animace (zvětšit na kliknutí)</a:t>
            </a:r>
          </a:p>
          <a:p>
            <a:pPr marL="1079500" lvl="1" indent="-365125" defTabSz="1431925">
              <a:buFont typeface="Wingdings" panose="05000000000000000000" pitchFamily="2" charset="2"/>
              <a:buChar char="§"/>
            </a:pPr>
            <a:endParaRPr lang="cs-CZ" dirty="0"/>
          </a:p>
        </p:txBody>
      </p:sp>
      <p:pic>
        <p:nvPicPr>
          <p:cNvPr id="6" name="Picture 5" descr="Koule spadající do otvorů">
            <a:extLst>
              <a:ext uri="{FF2B5EF4-FFF2-40B4-BE49-F238E27FC236}">
                <a16:creationId xmlns:a16="http://schemas.microsoft.com/office/drawing/2014/main" id="{1D32343F-CDC7-D98F-AA09-571696B6E1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74" r="36655" b="-1"/>
          <a:stretch/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C518532-EEC7-C939-B042-F35C91EC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22</a:t>
            </a:fld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74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Obrázky </a:t>
            </a:r>
            <a:br>
              <a:rPr lang="cs-CZ" dirty="0"/>
            </a:br>
            <a:r>
              <a:rPr lang="cs-CZ" dirty="0"/>
              <a:t>v prezentacích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278855"/>
            <a:ext cx="4550113" cy="4023360"/>
          </a:xfrm>
        </p:spPr>
        <p:txBody>
          <a:bodyPr>
            <a:normAutofit/>
          </a:bodyPr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Kvalitní obrázky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Pozor na velikost</a:t>
            </a: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cs-CZ" sz="2800" dirty="0"/>
              <a:t>Grafická úprava a zarovnávání objektů</a:t>
            </a:r>
          </a:p>
        </p:txBody>
      </p:sp>
      <p:pic>
        <p:nvPicPr>
          <p:cNvPr id="5" name="Picture 5" descr="Objektiv fotoaparátu">
            <a:extLst>
              <a:ext uri="{FF2B5EF4-FFF2-40B4-BE49-F238E27FC236}">
                <a16:creationId xmlns:a16="http://schemas.microsoft.com/office/drawing/2014/main" id="{84BE37C1-CB92-4436-D126-9242D975DC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19" r="44911" b="-1"/>
          <a:stretch/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C518532-EEC7-C939-B042-F35C91EC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23</a:t>
            </a:fld>
            <a:endParaRPr lang="cs-CZ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cs-CZ" dirty="0"/>
              <a:t>Obsah a struktura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298050"/>
            <a:ext cx="6013703" cy="4023360"/>
          </a:xfrm>
        </p:spPr>
        <p:txBody>
          <a:bodyPr vert="horz" lIns="45720" tIns="45720" rIns="45720" bIns="45720" rtlCol="0">
            <a:normAutofit/>
          </a:bodyPr>
          <a:lstStyle/>
          <a:p>
            <a:pPr marL="355600" lvl="1" indent="-35560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cs-CZ" sz="2800" dirty="0"/>
              <a:t>Úvod </a:t>
            </a:r>
          </a:p>
          <a:p>
            <a:pPr marL="355600" lvl="1" indent="-35560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cs-CZ" sz="2800" dirty="0"/>
              <a:t>Obsah - pro delší prezentace</a:t>
            </a:r>
          </a:p>
          <a:p>
            <a:pPr marL="355600" lvl="1" indent="-35560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cs-CZ" sz="2800" dirty="0"/>
              <a:t>Vlastní sdělení, diskuse</a:t>
            </a:r>
          </a:p>
          <a:p>
            <a:pPr marL="355600" lvl="1" indent="-35560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cs-CZ" sz="2800" dirty="0"/>
              <a:t>Poděkování </a:t>
            </a:r>
          </a:p>
          <a:p>
            <a:pPr marL="355600" lvl="1" indent="-35560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cs-CZ" sz="2800" dirty="0"/>
              <a:t>Zdroje (dle citační normy)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69F6BD5-E517-E1E2-FB23-C7DB47DB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 smtClean="0"/>
              <a:pPr>
                <a:spcAft>
                  <a:spcPts val="600"/>
                </a:spcAft>
              </a:pPr>
              <a:t>24</a:t>
            </a:fld>
            <a:endParaRPr 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cs-CZ" dirty="0"/>
              <a:t>Chyby v prezentacích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2092229"/>
            <a:ext cx="4550113" cy="4239344"/>
          </a:xfrm>
        </p:spPr>
        <p:txBody>
          <a:bodyPr>
            <a:noAutofit/>
          </a:bodyPr>
          <a:lstStyle/>
          <a:p>
            <a:pPr marL="355600" lvl="1" indent="-355600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cs-CZ" sz="2800" dirty="0"/>
              <a:t>Velké množství textu</a:t>
            </a:r>
          </a:p>
          <a:p>
            <a:pPr marL="355600" lvl="1" indent="-355600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cs-CZ" sz="2800" dirty="0"/>
              <a:t>Barevná nevyladěnost</a:t>
            </a:r>
          </a:p>
          <a:p>
            <a:pPr marL="355600" lvl="1" indent="-355600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cs-CZ" sz="2800" dirty="0"/>
              <a:t>Špatné využívání plochy</a:t>
            </a:r>
          </a:p>
          <a:p>
            <a:pPr marL="355600" lvl="1" indent="-355600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cs-CZ" sz="2800" dirty="0"/>
              <a:t>Přílišná či nevhodná animace</a:t>
            </a:r>
          </a:p>
          <a:p>
            <a:pPr>
              <a:lnSpc>
                <a:spcPct val="200000"/>
              </a:lnSpc>
              <a:spcAft>
                <a:spcPts val="600"/>
              </a:spcAft>
              <a:buNone/>
            </a:pPr>
            <a:endParaRPr lang="cs-CZ" sz="2800" dirty="0"/>
          </a:p>
        </p:txBody>
      </p:sp>
      <p:pic>
        <p:nvPicPr>
          <p:cNvPr id="6" name="Picture 5" descr="Žárovka na žlutém pozadí s načrtnutými paprsky světla a kabelem">
            <a:extLst>
              <a:ext uri="{FF2B5EF4-FFF2-40B4-BE49-F238E27FC236}">
                <a16:creationId xmlns:a16="http://schemas.microsoft.com/office/drawing/2014/main" id="{35414D20-F2AA-E0D5-3CB7-7A2BF48C10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26" r="12268"/>
          <a:stretch/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BA6DB27-A814-4F14-EC6D-BFAC6EC9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470704"/>
            <a:ext cx="730251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264769-77EF-4CD0-90DE-F7D7F2D423C4}" type="slidenum">
              <a:rPr lang="cs-CZ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25</a:t>
            </a:fld>
            <a:endParaRPr lang="cs-CZ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9F80DEB-B304-F61F-AD4C-21BE1A1235A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755576" y="692696"/>
            <a:ext cx="7056437" cy="1401762"/>
          </a:xfrm>
        </p:spPr>
        <p:txBody>
          <a:bodyPr/>
          <a:lstStyle/>
          <a:p>
            <a:pPr eaLnBrk="1" hangingPunct="1"/>
            <a:r>
              <a:rPr lang="cs-CZ" altLang="cs-CZ" dirty="0"/>
              <a:t>Šablona návrhu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D109271-0238-C127-6FA3-CA2BA5AC30C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61893" y="1944742"/>
            <a:ext cx="8229600" cy="4525962"/>
          </a:xfrm>
        </p:spPr>
        <p:txBody>
          <a:bodyPr/>
          <a:lstStyle/>
          <a:p>
            <a:pPr marL="363538" indent="-363538" eaLnBrk="1" hangingPunct="1">
              <a:buFont typeface="Wingdings" panose="05000000000000000000" pitchFamily="2" charset="2"/>
              <a:buChar char="Ø"/>
            </a:pPr>
            <a:r>
              <a:rPr lang="cs-CZ" altLang="cs-CZ" sz="2800" dirty="0"/>
              <a:t>Prezentace na obrazovce</a:t>
            </a:r>
            <a:endParaRPr lang="cs-CZ" altLang="cs-CZ" sz="1600" dirty="0"/>
          </a:p>
          <a:p>
            <a:pPr marL="981075" lvl="1" indent="-352425" eaLnBrk="1" hangingPunct="1"/>
            <a:r>
              <a:rPr lang="cs-CZ" altLang="cs-CZ" sz="2400" dirty="0"/>
              <a:t>světlý podklad</a:t>
            </a:r>
          </a:p>
          <a:p>
            <a:pPr marL="981075" lvl="1" indent="-352425" eaLnBrk="1" hangingPunct="1"/>
            <a:r>
              <a:rPr lang="cs-CZ" altLang="cs-CZ" sz="2400" dirty="0"/>
              <a:t>tmavé písmo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600" dirty="0"/>
          </a:p>
          <a:p>
            <a:pPr marL="363538" indent="-363538" eaLnBrk="1" hangingPunct="1">
              <a:buFont typeface="Wingdings" panose="05000000000000000000" pitchFamily="2" charset="2"/>
              <a:buChar char="Ø"/>
            </a:pPr>
            <a:r>
              <a:rPr lang="cs-CZ" altLang="cs-CZ" sz="2800" dirty="0"/>
              <a:t>Prezentace na projektoru</a:t>
            </a:r>
          </a:p>
          <a:p>
            <a:pPr marL="981075" lvl="1" indent="-352425"/>
            <a:r>
              <a:rPr lang="cs-CZ" altLang="cs-CZ" sz="2400" dirty="0"/>
              <a:t>tmavý podklad</a:t>
            </a:r>
          </a:p>
          <a:p>
            <a:pPr marL="981075" lvl="1" indent="-352425"/>
            <a:r>
              <a:rPr lang="cs-CZ" altLang="cs-CZ" sz="2400" dirty="0"/>
              <a:t>světlé písmo</a:t>
            </a:r>
          </a:p>
        </p:txBody>
      </p:sp>
      <p:sp>
        <p:nvSpPr>
          <p:cNvPr id="13316" name="Zástupný symbol pro číslo snímku 5">
            <a:extLst>
              <a:ext uri="{FF2B5EF4-FFF2-40B4-BE49-F238E27FC236}">
                <a16:creationId xmlns:a16="http://schemas.microsoft.com/office/drawing/2014/main" id="{1C498E16-46BE-81FA-3046-9AA40370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2B4B74-B383-4555-AF82-11C332BD5495}" type="slidenum">
              <a:rPr lang="cs-CZ" altLang="cs-CZ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cs-CZ" altLang="cs-CZ" sz="1200">
              <a:latin typeface="Arial" panose="020B0604020202020204" pitchFamily="34" charset="0"/>
            </a:endParaRPr>
          </a:p>
        </p:txBody>
      </p:sp>
      <p:pic>
        <p:nvPicPr>
          <p:cNvPr id="13317" name="Obrázek 1">
            <a:extLst>
              <a:ext uri="{FF2B5EF4-FFF2-40B4-BE49-F238E27FC236}">
                <a16:creationId xmlns:a16="http://schemas.microsoft.com/office/drawing/2014/main" id="{D4048E1E-9B58-F684-954A-D232BE087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9" t="21521" r="65372" b="48602"/>
          <a:stretch>
            <a:fillRect/>
          </a:stretch>
        </p:blipFill>
        <p:spPr bwMode="auto">
          <a:xfrm>
            <a:off x="4826998" y="4221088"/>
            <a:ext cx="3871166" cy="2386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29743F2-71D0-BD96-83F3-010A66651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3100" y="782170"/>
            <a:ext cx="7797800" cy="11525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dirty="0"/>
              <a:t>Ukázky chybného formátu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FE8D68E-1D7E-1E62-9B4E-BB0AFBA80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12"/>
          <a:stretch>
            <a:fillRect/>
          </a:stretch>
        </p:blipFill>
        <p:spPr bwMode="auto">
          <a:xfrm>
            <a:off x="5195671" y="2035044"/>
            <a:ext cx="3821113" cy="293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341" name="Group 14">
            <a:extLst>
              <a:ext uri="{FF2B5EF4-FFF2-40B4-BE49-F238E27FC236}">
                <a16:creationId xmlns:a16="http://schemas.microsoft.com/office/drawing/2014/main" id="{3CE177E2-5581-ADC6-CC30-1A3EBD588CB3}"/>
              </a:ext>
            </a:extLst>
          </p:cNvPr>
          <p:cNvGrpSpPr>
            <a:grpSpLocks/>
          </p:cNvGrpSpPr>
          <p:nvPr/>
        </p:nvGrpSpPr>
        <p:grpSpPr bwMode="auto">
          <a:xfrm>
            <a:off x="467544" y="2455863"/>
            <a:ext cx="5203825" cy="3033712"/>
            <a:chOff x="4272" y="1200"/>
            <a:chExt cx="1248" cy="711"/>
          </a:xfrm>
        </p:grpSpPr>
        <p:pic>
          <p:nvPicPr>
            <p:cNvPr id="14343" name="Picture 8">
              <a:extLst>
                <a:ext uri="{FF2B5EF4-FFF2-40B4-BE49-F238E27FC236}">
                  <a16:creationId xmlns:a16="http://schemas.microsoft.com/office/drawing/2014/main" id="{CB56AC51-9E21-FB15-0A21-98C9FAF86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1200"/>
              <a:ext cx="828" cy="6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44" name="Picture 9">
              <a:extLst>
                <a:ext uri="{FF2B5EF4-FFF2-40B4-BE49-F238E27FC236}">
                  <a16:creationId xmlns:a16="http://schemas.microsoft.com/office/drawing/2014/main" id="{69AB304A-EC32-C91C-5EEF-D51A808C46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1296"/>
              <a:ext cx="816" cy="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4342" name="Picture 15">
            <a:extLst>
              <a:ext uri="{FF2B5EF4-FFF2-40B4-BE49-F238E27FC236}">
                <a16:creationId xmlns:a16="http://schemas.microsoft.com/office/drawing/2014/main" id="{122CA3BF-DAD7-5782-5EEE-0925ADF29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849" y="4822956"/>
            <a:ext cx="3821113" cy="18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64D040-E4B0-7125-973D-BE8CABE9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916462"/>
            <a:ext cx="8229600" cy="714375"/>
          </a:xfrm>
        </p:spPr>
        <p:txBody>
          <a:bodyPr>
            <a:normAutofit/>
          </a:bodyPr>
          <a:lstStyle/>
          <a:p>
            <a:pPr defTabSz="457207" eaLnBrk="1" fontAlgn="auto" hangingPunct="1">
              <a:spcAft>
                <a:spcPts val="0"/>
              </a:spcAft>
              <a:defRPr/>
            </a:pPr>
            <a:r>
              <a:rPr lang="cs-CZ" dirty="0"/>
              <a:t>Barevná kombinace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2CC2863-B4B1-B8C4-27DD-BA84990850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271504"/>
            <a:ext cx="8229600" cy="500063"/>
          </a:xfrm>
          <a:solidFill>
            <a:srgbClr val="FF0000"/>
          </a:solidFill>
        </p:spPr>
        <p:txBody>
          <a:bodyPr>
            <a:normAutofit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cs-CZ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9C94539A-3EC8-306F-03A0-166D61A10742}"/>
              </a:ext>
            </a:extLst>
          </p:cNvPr>
          <p:cNvSpPr txBox="1">
            <a:spLocks/>
          </p:cNvSpPr>
          <p:nvPr/>
        </p:nvSpPr>
        <p:spPr>
          <a:xfrm>
            <a:off x="438378" y="3015904"/>
            <a:ext cx="8229600" cy="5000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87A95E79-24CA-954B-591F-B819FFDB74EB}"/>
              </a:ext>
            </a:extLst>
          </p:cNvPr>
          <p:cNvSpPr txBox="1">
            <a:spLocks/>
          </p:cNvSpPr>
          <p:nvPr/>
        </p:nvSpPr>
        <p:spPr>
          <a:xfrm>
            <a:off x="438378" y="3769421"/>
            <a:ext cx="8229600" cy="5000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5C0AFFD8-064E-EDE5-80E4-C490B5BF4706}"/>
              </a:ext>
            </a:extLst>
          </p:cNvPr>
          <p:cNvSpPr txBox="1">
            <a:spLocks/>
          </p:cNvSpPr>
          <p:nvPr/>
        </p:nvSpPr>
        <p:spPr>
          <a:xfrm>
            <a:off x="438378" y="4551372"/>
            <a:ext cx="8229600" cy="50006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6C63084A-75C2-AFBD-4CC6-4A61F7467B92}"/>
              </a:ext>
            </a:extLst>
          </p:cNvPr>
          <p:cNvSpPr txBox="1">
            <a:spLocks/>
          </p:cNvSpPr>
          <p:nvPr/>
        </p:nvSpPr>
        <p:spPr>
          <a:xfrm>
            <a:off x="453876" y="5312446"/>
            <a:ext cx="8229600" cy="500063"/>
          </a:xfrm>
          <a:prstGeom prst="rect">
            <a:avLst/>
          </a:prstGeom>
          <a:solidFill>
            <a:srgbClr val="7030A0"/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EA672623-9542-9675-BD10-C4A707667D5E}"/>
              </a:ext>
            </a:extLst>
          </p:cNvPr>
          <p:cNvSpPr txBox="1">
            <a:spLocks/>
          </p:cNvSpPr>
          <p:nvPr/>
        </p:nvSpPr>
        <p:spPr>
          <a:xfrm>
            <a:off x="428625" y="6040172"/>
            <a:ext cx="8229600" cy="500062"/>
          </a:xfrm>
          <a:prstGeom prst="rect">
            <a:avLst/>
          </a:prstGeom>
          <a:solidFill>
            <a:srgbClr val="0070C0"/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7046EF-1135-4F5C-F88B-A72E1847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43467"/>
            <a:ext cx="3465438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800" cap="all" spc="200" baseline="0"/>
              <a:t>DĚKUJI ZA POZORNOST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CCB5636-34C7-7772-0295-C04B21DDB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47" r="1044"/>
          <a:stretch/>
        </p:blipFill>
        <p:spPr>
          <a:xfrm>
            <a:off x="4696920" y="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FA80FC9-5556-A55B-0A68-2DD5DE68C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20264769-77EF-4CD0-90DE-F7D7F2D423C4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29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7507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29F0FD-A676-68D6-A563-C0E87FA6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8C105D-2551-40A2-8996-AEA40D47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30</a:t>
            </a:fld>
            <a:endParaRPr lang="cs-CZ"/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B3F534CF-3221-AAD7-9DF2-7E128198B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42" y="1844824"/>
            <a:ext cx="7886700" cy="4351338"/>
          </a:xfrm>
        </p:spPr>
        <p:txBody>
          <a:bodyPr>
            <a:normAutofit fontScale="32500" lnSpcReduction="20000"/>
          </a:bodyPr>
          <a:lstStyle/>
          <a:p>
            <a:pPr marL="0" indent="-342900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Pct val="100000"/>
              <a:buFont typeface="Wingdings" panose="05000000000000000000" pitchFamily="2" charset="2"/>
              <a:buChar char="Ø"/>
            </a:pPr>
            <a:r>
              <a:rPr lang="cs-CZ" sz="6200" dirty="0">
                <a:latin typeface="Tw Cen MT" panose="020B0602020104020603" pitchFamily="34" charset="-18"/>
                <a:cs typeface="TH SarabunPSK" panose="020B0502040204020203" pitchFamily="34" charset="-34"/>
              </a:rPr>
              <a:t>Lasák, P., Chyby při tvorbě prezentací – PowerPoint. Office školení konzultace [online], 19.09.2020, [cit. 15.11.2023]. </a:t>
            </a:r>
            <a:r>
              <a:rPr lang="cs-CZ" sz="6200" dirty="0" err="1">
                <a:latin typeface="Tw Cen MT" panose="020B0602020104020603" pitchFamily="34" charset="-18"/>
                <a:cs typeface="TH SarabunPSK" panose="020B0502040204020203" pitchFamily="34" charset="-34"/>
              </a:rPr>
              <a:t>Dostupnné</a:t>
            </a:r>
            <a:r>
              <a:rPr lang="cs-CZ" sz="6200" dirty="0">
                <a:latin typeface="Tw Cen MT" panose="020B0602020104020603" pitchFamily="34" charset="-18"/>
                <a:cs typeface="TH SarabunPSK" panose="020B0502040204020203" pitchFamily="34" charset="-34"/>
              </a:rPr>
              <a:t> z: </a:t>
            </a:r>
            <a:r>
              <a:rPr lang="cs-CZ" sz="6200" dirty="0">
                <a:latin typeface="Tw Cen MT" panose="020B0602020104020603" pitchFamily="34" charset="-18"/>
                <a:cs typeface="TH SarabunPSK" panose="020B0502040204020203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https://office.lasakovi.com/power-point/zaklady/chyby-v-tvorbe-prezentaci/</a:t>
            </a:r>
            <a:endParaRPr lang="cs-CZ" sz="6200" dirty="0">
              <a:latin typeface="Tw Cen MT" panose="020B0602020104020603" pitchFamily="34" charset="-18"/>
              <a:cs typeface="TH SarabunPSK" panose="020B0502040204020203" pitchFamily="34" charset="-34"/>
            </a:endParaRPr>
          </a:p>
          <a:p>
            <a:pPr marL="0" lvl="1" indent="0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Pct val="100000"/>
              <a:buFont typeface="Wingdings" panose="05000000000000000000" pitchFamily="2" charset="2"/>
              <a:buChar char="Ø"/>
            </a:pP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Dvořák. J., </a:t>
            </a:r>
            <a:r>
              <a:rPr lang="pl-PL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Pět chyb, které vám zabijí prezentaci</a:t>
            </a: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, In: Idnes.cz/zpravodajství</a:t>
            </a:r>
            <a:r>
              <a:rPr lang="pl-PL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 </a:t>
            </a: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[online], 25.05.2018, [online]. Dostupné z: </a:t>
            </a: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https://www.idnes.cz/finance/prace-a-podnikani/prace-zamestnani-prezentace-projev-technika.A180510_400373_podnikani_kho</a:t>
            </a:r>
            <a:endParaRPr lang="cs-CZ" sz="5900" dirty="0">
              <a:latin typeface="Tw Cen MT" panose="020B0602020104020603" pitchFamily="34" charset="-18"/>
              <a:cs typeface="TH SarabunPSK" panose="020B0502040204020203" pitchFamily="34" charset="-34"/>
            </a:endParaRPr>
          </a:p>
          <a:p>
            <a:pPr marL="0" lvl="1" indent="0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Pct val="100000"/>
              <a:buFont typeface="Wingdings" panose="05000000000000000000" pitchFamily="2" charset="2"/>
              <a:buChar char="Ø"/>
            </a:pP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Navrátil, P. S počítačem nejen k maturitě - 1. díl. Olomouc: </a:t>
            </a:r>
            <a:r>
              <a:rPr lang="cs-CZ" sz="5900" dirty="0" err="1">
                <a:latin typeface="Tw Cen MT" panose="020B0602020104020603" pitchFamily="34" charset="-18"/>
                <a:cs typeface="TH SarabunPSK" panose="020B0502040204020203" pitchFamily="34" charset="-34"/>
              </a:rPr>
              <a:t>Computer</a:t>
            </a: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 Media, 2008. 120 s. ISBN 80-86686-60-4 . </a:t>
            </a:r>
          </a:p>
          <a:p>
            <a:pPr marL="0" lvl="1" indent="0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Pct val="100000"/>
              <a:buFont typeface="Wingdings" panose="05000000000000000000" pitchFamily="2" charset="2"/>
              <a:buChar char="Ø"/>
            </a:pPr>
            <a:r>
              <a:rPr lang="cs-CZ" sz="5900" dirty="0" err="1">
                <a:latin typeface="Tw Cen MT" panose="020B0602020104020603" pitchFamily="34" charset="-18"/>
                <a:cs typeface="TH SarabunPSK" panose="020B0502040204020203" pitchFamily="34" charset="-34"/>
              </a:rPr>
              <a:t>Nöllke</a:t>
            </a: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 C.: Umění prezentace, Grada </a:t>
            </a:r>
            <a:r>
              <a:rPr lang="cs-CZ" sz="5900" dirty="0" err="1">
                <a:latin typeface="Tw Cen MT" panose="020B0602020104020603" pitchFamily="34" charset="-18"/>
                <a:cs typeface="TH SarabunPSK" panose="020B0502040204020203" pitchFamily="34" charset="-34"/>
              </a:rPr>
              <a:t>Publishing</a:t>
            </a:r>
            <a:r>
              <a:rPr lang="cs-CZ" sz="5900" dirty="0">
                <a:latin typeface="Tw Cen MT" panose="020B0602020104020603" pitchFamily="34" charset="-18"/>
                <a:cs typeface="TH SarabunPSK" panose="020B0502040204020203" pitchFamily="34" charset="-34"/>
              </a:rPr>
              <a:t>, Praha 2003, 112 s. ISBN 8024790572 </a:t>
            </a:r>
          </a:p>
          <a:p>
            <a:pPr marL="0" lvl="1" indent="0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cs-CZ" sz="5900" dirty="0">
              <a:latin typeface="Tw Cen MT" panose="020B0602020104020603" pitchFamily="34" charset="-18"/>
              <a:cs typeface="TH SarabunPSK" panose="020B0502040204020203" pitchFamily="34" charset="-34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pl-PL" sz="1800" b="1" i="0" dirty="0">
              <a:solidFill>
                <a:srgbClr val="263238"/>
              </a:solidFill>
              <a:effectLst/>
              <a:latin typeface="Tw Cen MT" panose="020B0602020104020603" pitchFamily="34" charset="-18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cs-CZ" sz="1800" dirty="0">
              <a:latin typeface="Tw Cen MT" panose="020B0602020104020603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317901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29F0FD-A676-68D6-A563-C0E87FA6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EEBD1E-EB44-0F35-AAC3-59C12D79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176" y="1844824"/>
            <a:ext cx="7416824" cy="453650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cs-CZ" dirty="0">
                <a:latin typeface="Tw Cen MT" panose="020B0602020104020603" pitchFamily="34" charset="-18"/>
                <a:cs typeface="TH SarabunPSK" panose="020B0502040204020203" pitchFamily="34" charset="-34"/>
              </a:rPr>
              <a:t>MAN Komunikační dovednosti v praxi, [online], citováno [03.02.2023] Dostupné z: https://elearning.tul.cz/mod/resource/view.php?id=146711&amp;forceview=1</a:t>
            </a:r>
          </a:p>
          <a:p>
            <a:pPr marL="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cs-CZ" dirty="0" err="1">
                <a:latin typeface="Tw Cen MT" panose="020B0602020104020603" pitchFamily="34" charset="-18"/>
                <a:cs typeface="TH SarabunPSK" panose="020B0502040204020203" pitchFamily="34" charset="-34"/>
              </a:rPr>
              <a:t>Bradberry,T</a:t>
            </a:r>
            <a:r>
              <a:rPr lang="cs-CZ" dirty="0">
                <a:latin typeface="Tw Cen MT" panose="020B0602020104020603" pitchFamily="34" charset="-18"/>
                <a:cs typeface="TH SarabunPSK" panose="020B0502040204020203" pitchFamily="34" charset="-34"/>
              </a:rPr>
              <a:t> Pozor na řeč těla.14 postojů a </a:t>
            </a:r>
            <a:r>
              <a:rPr lang="cs-CZ" dirty="0" err="1">
                <a:latin typeface="Tw Cen MT" panose="020B0602020104020603" pitchFamily="34" charset="-18"/>
                <a:cs typeface="TH SarabunPSK" panose="020B0502040204020203" pitchFamily="34" charset="-34"/>
              </a:rPr>
              <a:t>hgest</a:t>
            </a:r>
            <a:r>
              <a:rPr lang="cs-CZ" dirty="0">
                <a:latin typeface="Tw Cen MT" panose="020B0602020104020603" pitchFamily="34" charset="-18"/>
                <a:cs typeface="TH SarabunPSK" panose="020B0502040204020203" pitchFamily="34" charset="-34"/>
              </a:rPr>
              <a:t>, kterým byste se měli vyhnout. Forbes [online] 2015, [cit. 03.02.2023] Dostupné z: https://forbes.cz/pozor-na-rec-tela-14-postoju-a-gest-kterym-byste-se-meli-vyhnout/, 3.1.2023</a:t>
            </a:r>
          </a:p>
          <a:p>
            <a:pPr marL="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cs-CZ" dirty="0">
                <a:latin typeface="Tw Cen MT" panose="020B0602020104020603" pitchFamily="34" charset="-18"/>
                <a:cs typeface="TH SarabunPSK" panose="020B0502040204020203" pitchFamily="34" charset="-34"/>
              </a:rPr>
              <a:t>ROUBAL, Pavel. Informatika a výpočetní technika pro střední školy: praktická učebnice. Vyd. 1. Brno: CP </a:t>
            </a:r>
            <a:r>
              <a:rPr lang="cs-CZ" dirty="0" err="1">
                <a:latin typeface="Tw Cen MT" panose="020B0602020104020603" pitchFamily="34" charset="-18"/>
                <a:cs typeface="TH SarabunPSK" panose="020B0502040204020203" pitchFamily="34" charset="-34"/>
              </a:rPr>
              <a:t>Books</a:t>
            </a:r>
            <a:r>
              <a:rPr lang="cs-CZ" dirty="0">
                <a:latin typeface="Tw Cen MT" panose="020B0602020104020603" pitchFamily="34" charset="-18"/>
                <a:cs typeface="TH SarabunPSK" panose="020B0502040204020203" pitchFamily="34" charset="-34"/>
              </a:rPr>
              <a:t>, 2005, 92 s. ISBN 80-251-0600-4.</a:t>
            </a:r>
          </a:p>
          <a:p>
            <a:pPr marL="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cs-CZ" dirty="0">
                <a:latin typeface="Tw Cen MT" panose="020B0602020104020603" pitchFamily="34" charset="-18"/>
                <a:cs typeface="TH SarabunPSK" panose="020B0502040204020203" pitchFamily="34" charset="-34"/>
              </a:rPr>
              <a:t>Baronová, Jindřiška. 12. Příprava prezentace, Střední škola a Vyšší odborná škola cestovního ruchu, České Budějovice, 2013</a:t>
            </a:r>
          </a:p>
          <a:p>
            <a:pPr marL="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cs-CZ" dirty="0">
              <a:latin typeface="Tw Cen MT" panose="020B0602020104020603" pitchFamily="34" charset="-18"/>
              <a:cs typeface="TH SarabunPSK" panose="020B0502040204020203" pitchFamily="34" charset="-34"/>
            </a:endParaRPr>
          </a:p>
          <a:p>
            <a:pPr marL="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cs-CZ" dirty="0">
              <a:latin typeface="Tw Cen MT" panose="020B0602020104020603" pitchFamily="34" charset="-18"/>
              <a:cs typeface="TH SarabunPSK" panose="020B0502040204020203" pitchFamily="34" charset="-34"/>
            </a:endParaRPr>
          </a:p>
          <a:p>
            <a:pPr marL="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cs-CZ" dirty="0">
              <a:latin typeface="Tw Cen MT" panose="020B0602020104020603" pitchFamily="34" charset="-18"/>
              <a:cs typeface="TH SarabunPSK" panose="020B0502040204020203" pitchFamily="34" charset="-34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8C105D-2551-40A2-8996-AEA40D47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6736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">
  <a:themeElements>
    <a:clrScheme name="Žluto-oranžová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Integrá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á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Žluto-oranžová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1543</TotalTime>
  <Words>1147</Words>
  <Application>Microsoft Office PowerPoint</Application>
  <PresentationFormat>Předvádění na obrazovce (4:3)</PresentationFormat>
  <Paragraphs>202</Paragraphs>
  <Slides>31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31</vt:i4>
      </vt:variant>
    </vt:vector>
  </HeadingPairs>
  <TitlesOfParts>
    <vt:vector size="41" baseType="lpstr">
      <vt:lpstr>Arial</vt:lpstr>
      <vt:lpstr>Calibri</vt:lpstr>
      <vt:lpstr>Calibri Light</vt:lpstr>
      <vt:lpstr>Tw Cen MT</vt:lpstr>
      <vt:lpstr>Tw Cen MT Condensed</vt:lpstr>
      <vt:lpstr>Wingdings</vt:lpstr>
      <vt:lpstr>Wingdings 2</vt:lpstr>
      <vt:lpstr>Wingdings 3</vt:lpstr>
      <vt:lpstr>Integrál</vt:lpstr>
      <vt:lpstr>Motiv Office</vt:lpstr>
      <vt:lpstr>Prezentace a prezentování</vt:lpstr>
      <vt:lpstr>Co je to prezentace</vt:lpstr>
      <vt:lpstr>Obecné zásady prezentování</vt:lpstr>
      <vt:lpstr>Příprava prezentace</vt:lpstr>
      <vt:lpstr>Obecné zásady prezentování</vt:lpstr>
      <vt:lpstr>Obecné zásady prezentování</vt:lpstr>
      <vt:lpstr>Využití prezentace</vt:lpstr>
      <vt:lpstr>Prezentační metody</vt:lpstr>
      <vt:lpstr>Publikování</vt:lpstr>
      <vt:lpstr>Neverbální komunikace</vt:lpstr>
      <vt:lpstr>Prezentace aplikace PowerPoint</vt:lpstr>
      <vt:lpstr>Neverbální komunikace</vt:lpstr>
      <vt:lpstr>Čeho se vyvarovat</vt:lpstr>
      <vt:lpstr>Čeho se vyvarovat</vt:lpstr>
      <vt:lpstr>Chyby prezentování - odkazy</vt:lpstr>
      <vt:lpstr>Způsoby tvorby Prezentace</vt:lpstr>
      <vt:lpstr>Vzhled prezentace</vt:lpstr>
      <vt:lpstr>Pravidla psaní textu v Prezentacích</vt:lpstr>
      <vt:lpstr>Pravidla psaní textu v prezentacích</vt:lpstr>
      <vt:lpstr>Zásady počítačové prezentace</vt:lpstr>
      <vt:lpstr>Obrazové informace  v prezentacích</vt:lpstr>
      <vt:lpstr>Obrazové informace  v prezentacích</vt:lpstr>
      <vt:lpstr>Obrázky  v prezentacích</vt:lpstr>
      <vt:lpstr>Obsah a struktura prezentace</vt:lpstr>
      <vt:lpstr>Chyby v prezentacích</vt:lpstr>
      <vt:lpstr>Šablona návrhu</vt:lpstr>
      <vt:lpstr>Ukázky chybného formátu</vt:lpstr>
      <vt:lpstr>Barevná kombinace</vt:lpstr>
      <vt:lpstr>DĚKUJI ZA POZORNOST</vt:lpstr>
      <vt:lpstr>Zdroje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Příprava prezentace</dc:title>
  <dc:creator>Jindřiška</dc:creator>
  <cp:lastModifiedBy>Votavová Gabriela</cp:lastModifiedBy>
  <cp:revision>39</cp:revision>
  <dcterms:created xsi:type="dcterms:W3CDTF">2014-03-31T13:30:56Z</dcterms:created>
  <dcterms:modified xsi:type="dcterms:W3CDTF">2023-11-15T11:40:51Z</dcterms:modified>
</cp:coreProperties>
</file>