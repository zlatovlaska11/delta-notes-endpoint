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6" r:id="rId5"/>
    <p:sldId id="263" r:id="rId6"/>
    <p:sldId id="264" r:id="rId7"/>
    <p:sldId id="265" r:id="rId8"/>
    <p:sldId id="266" r:id="rId9"/>
    <p:sldId id="268" r:id="rId10"/>
    <p:sldId id="269" r:id="rId1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E55FC-B6CB-4A59-AAC2-ADAEF3EC9804}" type="datetimeFigureOut">
              <a:rPr lang="cs-CZ" smtClean="0"/>
              <a:t>13.11.2023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E9002-C20C-43D3-A30C-FA9D559810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613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Obdélní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bdélní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 dirty="0"/>
              <a:t>Klepnutím lze upravit styly předlohy textu.</a:t>
            </a:r>
          </a:p>
          <a:p>
            <a:pPr lvl="1" eaLnBrk="1" latinLnBrk="0" hangingPunct="1"/>
            <a:r>
              <a:rPr lang="cs-CZ" dirty="0"/>
              <a:t>Druhá úroveň</a:t>
            </a:r>
          </a:p>
          <a:p>
            <a:pPr lvl="2" eaLnBrk="1" latinLnBrk="0" hangingPunct="1"/>
            <a:r>
              <a:rPr lang="cs-CZ" dirty="0"/>
              <a:t>Třetí úroveň</a:t>
            </a:r>
          </a:p>
          <a:p>
            <a:pPr lvl="3" eaLnBrk="1" latinLnBrk="0" hangingPunct="1"/>
            <a:r>
              <a:rPr lang="cs-CZ" dirty="0"/>
              <a:t>Čtvrtá úroveň</a:t>
            </a:r>
          </a:p>
          <a:p>
            <a:pPr lvl="4" eaLnBrk="1" latinLnBrk="0" hangingPunct="1"/>
            <a:r>
              <a:rPr lang="cs-CZ" dirty="0"/>
              <a:t>Pátá úroveň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7" name="Obdélní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2" name="Zástupný symbol pro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3" name="Zástupný symbol pro číslo snímku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Zástupný symbol pro obsah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11" name="Zástupný symbol pro obsah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8" name="Zástupný symbol pro datum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cs-CZ"/>
          </a:p>
        </p:txBody>
      </p:sp>
      <p:sp>
        <p:nvSpPr>
          <p:cNvPr id="10" name="Zástupný symbol pro číslo snímku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  <p:sp>
        <p:nvSpPr>
          <p:cNvPr id="12" name="Zástupný symbol pro zápatí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1" name="Zástupný symbol pro obsah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13" name="Zástupný symbol pro obsah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endParaRPr lang="cs-CZ"/>
          </a:p>
        </p:txBody>
      </p:sp>
      <p:sp>
        <p:nvSpPr>
          <p:cNvPr id="12" name="Zástupný symbol pro číslo snímku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cs-CZ"/>
          </a:p>
        </p:txBody>
      </p:sp>
      <p:sp>
        <p:nvSpPr>
          <p:cNvPr id="16" name="Zástupný symbol pro tex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15" name="Zástupný symbol pro tex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9" name="Zástupný symbol pro obsah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8" name="Obdélní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Obdélní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1" name="Obdélní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Zástupný symbol pro datum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endParaRPr lang="cs-CZ"/>
          </a:p>
        </p:txBody>
      </p:sp>
      <p:sp>
        <p:nvSpPr>
          <p:cNvPr id="13" name="Zástupný symbol pro číslo snímku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/>
              <a:t>Klepnutím na ikonu přidáte obrázek.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Obdélní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Nadpis a 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44475"/>
            <a:ext cx="8385175" cy="1431925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abulku 2"/>
          <p:cNvSpPr>
            <a:spLocks noGrp="1"/>
          </p:cNvSpPr>
          <p:nvPr>
            <p:ph type="tbl" idx="1"/>
          </p:nvPr>
        </p:nvSpPr>
        <p:spPr>
          <a:xfrm>
            <a:off x="838200" y="1905000"/>
            <a:ext cx="8007350" cy="4191000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838200" y="6245225"/>
            <a:ext cx="1901825" cy="476250"/>
          </a:xfrm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34290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7375" y="6245225"/>
            <a:ext cx="1901825" cy="476250"/>
          </a:xfrm>
        </p:spPr>
        <p:txBody>
          <a:bodyPr/>
          <a:lstStyle>
            <a:lvl1pPr>
              <a:defRPr/>
            </a:lvl1pPr>
          </a:lstStyle>
          <a:p>
            <a:fld id="{D0BB58CF-C9B1-4187-BF7D-FE88E2F0C48C}" type="slidenum">
              <a:rPr lang="cs-CZ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ástupný symbol pro nadpis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3" name="Zástupný symbol pro text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14" name="Zástupný symbol pro datum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Obdélní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Zástupný symbol pro číslo snímku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597055B-0576-4C9A-A81A-D86D6E8310E9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4C455F6D-77AF-44F9-ACFA-2F510BBA63D8}"/>
              </a:ext>
            </a:extLst>
          </p:cNvPr>
          <p:cNvSpPr txBox="1"/>
          <p:nvPr userDrawn="1"/>
        </p:nvSpPr>
        <p:spPr>
          <a:xfrm>
            <a:off x="7236296" y="643076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F7E7B7B-4711-4CF0-B5C4-851278D0B74A}" type="slidenum">
              <a:rPr lang="cs-CZ" smtClean="0"/>
              <a:t>‹#›</a:t>
            </a:fld>
            <a:endParaRPr lang="cs-CZ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puok7ol76s" TargetMode="External"/><Relationship Id="rId2" Type="http://schemas.openxmlformats.org/officeDocument/2006/relationships/hyperlink" Target="https://www.youtube.com/watch?v=-r30OXVMB2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puok7ol76s" TargetMode="External"/><Relationship Id="rId2" Type="http://schemas.openxmlformats.org/officeDocument/2006/relationships/hyperlink" Target="https://www.youtube.com/watch?v=-r30OXVMB2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ffice.lasakovi.com/excel/funkce/ms-excel-datum-a-ca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483768" y="1268760"/>
            <a:ext cx="6477000" cy="1828800"/>
          </a:xfrm>
        </p:spPr>
        <p:txBody>
          <a:bodyPr/>
          <a:lstStyle/>
          <a:p>
            <a:r>
              <a:rPr lang="cs-CZ" dirty="0"/>
              <a:t>Datumové funkce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3E9FC58-CF53-45B9-BCC8-4B1CA985D19F}"/>
              </a:ext>
            </a:extLst>
          </p:cNvPr>
          <p:cNvSpPr txBox="1"/>
          <p:nvPr/>
        </p:nvSpPr>
        <p:spPr>
          <a:xfrm>
            <a:off x="0" y="6381328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MS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061" name="Group 2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5109842"/>
              </p:ext>
            </p:extLst>
          </p:nvPr>
        </p:nvGraphicFramePr>
        <p:xfrm>
          <a:off x="971550" y="1700213"/>
          <a:ext cx="7586663" cy="4168648"/>
        </p:xfrm>
        <a:graphic>
          <a:graphicData uri="http://schemas.openxmlformats.org/drawingml/2006/table">
            <a:tbl>
              <a:tblPr/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6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DATUM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cs-CZ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rok;měsíc;den</a:t>
                      </a: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vrací pořadové číslo konkrétního 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DATUMHODN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(datum) text v „“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převede datum ve formě textu na pořadové číslo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(pořadové číslo)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vrátí pořadové číslo dne            v měsíci ze zadaného 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DEN TÝDNE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cs-CZ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poř.čísl;typ</a:t>
                      </a: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vrátí pořadové číslo dne v týdnu (typ-1-ne, 2-po)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Nadpis 2">
            <a:extLst>
              <a:ext uri="{FF2B5EF4-FFF2-40B4-BE49-F238E27FC236}">
                <a16:creationId xmlns:a16="http://schemas.microsoft.com/office/drawing/2014/main" id="{A4E275F6-F3A2-4B20-9154-D054E77D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</a:t>
            </a:r>
          </a:p>
        </p:txBody>
      </p:sp>
      <p:graphicFrame>
        <p:nvGraphicFramePr>
          <p:cNvPr id="301059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499288"/>
              </p:ext>
            </p:extLst>
          </p:nvPr>
        </p:nvGraphicFramePr>
        <p:xfrm>
          <a:off x="827088" y="1600200"/>
          <a:ext cx="7859712" cy="4637088"/>
        </p:xfrm>
        <a:graphic>
          <a:graphicData uri="http://schemas.openxmlformats.org/drawingml/2006/table">
            <a:tbl>
              <a:tblPr/>
              <a:tblGrid>
                <a:gridCol w="2900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8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DNES()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vrátí pořadové číslo aktuálního 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MĚSÍC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(pořadové číslo)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vrátí pořadové číslo měsíce        v roce z 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NYNÍ()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vrátí pořadové číslo aktuálního data a času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3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(pořadové číslo)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vrátí rok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Funkce </a:t>
            </a:r>
          </a:p>
        </p:txBody>
      </p:sp>
      <p:graphicFrame>
        <p:nvGraphicFramePr>
          <p:cNvPr id="302101" name="Group 2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489183"/>
              </p:ext>
            </p:extLst>
          </p:nvPr>
        </p:nvGraphicFramePr>
        <p:xfrm>
          <a:off x="611188" y="1916113"/>
          <a:ext cx="8075612" cy="3616326"/>
        </p:xfrm>
        <a:graphic>
          <a:graphicData uri="http://schemas.openxmlformats.org/drawingml/2006/table">
            <a:tbl>
              <a:tblPr/>
              <a:tblGrid>
                <a:gridCol w="321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ROK360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(start;konec;metoda)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USA;EU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spočte počet dní mezi dvěma daty na základě roku o 360 dnech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HODINA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(pořadové číslo)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vrátí hodinu obsaženou v zadané časové hodnotě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MINUTA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(pořadové číslo)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převede pořadové číslo            na minutu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Funkce </a:t>
            </a:r>
          </a:p>
        </p:txBody>
      </p:sp>
      <p:graphicFrame>
        <p:nvGraphicFramePr>
          <p:cNvPr id="303121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862243"/>
              </p:ext>
            </p:extLst>
          </p:nvPr>
        </p:nvGraphicFramePr>
        <p:xfrm>
          <a:off x="755650" y="2060575"/>
          <a:ext cx="8153400" cy="2834640"/>
        </p:xfrm>
        <a:graphic>
          <a:graphicData uri="http://schemas.openxmlformats.org/drawingml/2006/table">
            <a:tbl>
              <a:tblPr/>
              <a:tblGrid>
                <a:gridCol w="3008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5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2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SEKUNDA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(pořadové číslo)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převede pořadové číslo na vteřinu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ČAS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(hod;min;sek)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vrátí pořadové číslo konkrétního času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ČASHODN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(čas) jako text v „“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cs-CZ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vrátí </a:t>
                      </a: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desetinné číslo času zadaného jako text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250060-34A0-CAC2-81C3-BD12BB56D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Výuková videa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F8AE06-7E97-88D5-69AF-3E0C0FD68EA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i="1" dirty="0">
                <a:solidFill>
                  <a:srgbClr val="0F0F0F"/>
                </a:solidFill>
                <a:latin typeface="YouTube Sans"/>
              </a:rPr>
              <a:t>Datumové </a:t>
            </a:r>
            <a:r>
              <a:rPr lang="cs-CZ" i="1" dirty="0">
                <a:solidFill>
                  <a:srgbClr val="0F0F0F"/>
                </a:solidFill>
                <a:effectLst/>
                <a:latin typeface="YouTube Sans"/>
              </a:rPr>
              <a:t>funkce v Excelu nejen pro začátečníky | 12 datumových funkcí </a:t>
            </a:r>
            <a:r>
              <a:rPr lang="cs-CZ" dirty="0">
                <a:solidFill>
                  <a:srgbClr val="0F0F0F"/>
                </a:solidFill>
                <a:latin typeface="YouTube Sans"/>
              </a:rPr>
              <a:t>VYSVĚTLENO</a:t>
            </a:r>
          </a:p>
          <a:p>
            <a:r>
              <a:rPr lang="cs-CZ" dirty="0">
                <a:hlinkClick r:id="rId2"/>
              </a:rPr>
              <a:t>https://www.youtube.com/watch?v=-r30OXVMB20</a:t>
            </a:r>
            <a:endParaRPr lang="cs-CZ" dirty="0"/>
          </a:p>
          <a:p>
            <a:endParaRPr lang="cs-CZ" dirty="0"/>
          </a:p>
          <a:p>
            <a:r>
              <a:rPr lang="cs-CZ" b="1" i="0" dirty="0">
                <a:solidFill>
                  <a:srgbClr val="0F0F0F"/>
                </a:solidFill>
                <a:effectLst/>
                <a:latin typeface="YouTube Sans"/>
              </a:rPr>
              <a:t>Datumové a časové funkce v Excelu | </a:t>
            </a:r>
            <a:r>
              <a:rPr lang="cs-CZ" b="1" i="0" dirty="0" err="1">
                <a:solidFill>
                  <a:srgbClr val="0F0F0F"/>
                </a:solidFill>
                <a:effectLst/>
                <a:latin typeface="YouTube Sans"/>
              </a:rPr>
              <a:t>EduTV</a:t>
            </a:r>
            <a:endParaRPr lang="cs-CZ" b="1" i="0" dirty="0">
              <a:solidFill>
                <a:srgbClr val="0F0F0F"/>
              </a:solidFill>
              <a:effectLst/>
              <a:latin typeface="YouTube Sans"/>
            </a:endParaRPr>
          </a:p>
          <a:p>
            <a:r>
              <a:rPr lang="cs-CZ" dirty="0">
                <a:hlinkClick r:id="rId3"/>
              </a:rPr>
              <a:t>https://www.youtube.com/watch?v=Apuok7ol76s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70052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250060-34A0-CAC2-81C3-BD12BB56D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Výuková videa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F8AE06-7E97-88D5-69AF-3E0C0FD68E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85000" lnSpcReduction="20000"/>
          </a:bodyPr>
          <a:lstStyle/>
          <a:p>
            <a:r>
              <a:rPr lang="cs-CZ" dirty="0">
                <a:solidFill>
                  <a:srgbClr val="0F0F0F"/>
                </a:solidFill>
                <a:latin typeface="Roboto" panose="02000000000000000000" pitchFamily="2" charset="0"/>
              </a:rPr>
              <a:t>Akademie Excelu,</a:t>
            </a:r>
            <a:r>
              <a:rPr lang="cs-CZ" b="1" dirty="0">
                <a:solidFill>
                  <a:srgbClr val="0F0F0F"/>
                </a:solidFill>
                <a:latin typeface="YouTube Sans"/>
              </a:rPr>
              <a:t> </a:t>
            </a:r>
            <a:r>
              <a:rPr lang="cs-CZ" i="1" dirty="0">
                <a:solidFill>
                  <a:srgbClr val="0F0F0F"/>
                </a:solidFill>
                <a:latin typeface="YouTube Sans"/>
              </a:rPr>
              <a:t>Datumové </a:t>
            </a:r>
            <a:r>
              <a:rPr lang="cs-CZ" i="1" dirty="0">
                <a:solidFill>
                  <a:srgbClr val="0F0F0F"/>
                </a:solidFill>
                <a:effectLst/>
                <a:latin typeface="YouTube Sans"/>
              </a:rPr>
              <a:t>funkce v Excelu nejen pro začátečníky | 12 datumových funkcí </a:t>
            </a:r>
            <a:r>
              <a:rPr lang="cs-CZ" dirty="0">
                <a:solidFill>
                  <a:srgbClr val="0F0F0F"/>
                </a:solidFill>
                <a:latin typeface="YouTube Sans"/>
              </a:rPr>
              <a:t>VYSVĚTLENO</a:t>
            </a:r>
            <a:r>
              <a:rPr lang="cs-CZ" i="1" dirty="0">
                <a:solidFill>
                  <a:srgbClr val="0F0F0F"/>
                </a:solidFill>
                <a:effectLst/>
                <a:latin typeface="YouTube Sans"/>
              </a:rPr>
              <a:t>,</a:t>
            </a:r>
            <a:r>
              <a:rPr lang="cs-CZ" dirty="0">
                <a:solidFill>
                  <a:srgbClr val="0F0F0F"/>
                </a:solidFill>
                <a:effectLst/>
                <a:latin typeface="YouTube Sans"/>
              </a:rPr>
              <a:t> In: YouTube</a:t>
            </a:r>
            <a:r>
              <a:rPr lang="cs-CZ" dirty="0">
                <a:solidFill>
                  <a:srgbClr val="0F0F0F"/>
                </a:solidFill>
                <a:latin typeface="YouTube Sans"/>
              </a:rPr>
              <a:t> </a:t>
            </a:r>
            <a:r>
              <a:rPr lang="cs-CZ" i="0" dirty="0">
                <a:solidFill>
                  <a:srgbClr val="0F0F0F"/>
                </a:solidFill>
                <a:effectLst/>
                <a:latin typeface="YouTube Sans"/>
              </a:rPr>
              <a:t>[</a:t>
            </a:r>
            <a:r>
              <a:rPr lang="cs-CZ" dirty="0">
                <a:solidFill>
                  <a:srgbClr val="0F0F0F"/>
                </a:solidFill>
                <a:latin typeface="YouTube Sans"/>
              </a:rPr>
              <a:t>online] 9.12.2021, </a:t>
            </a:r>
            <a:r>
              <a:rPr lang="cs-CZ" i="0" dirty="0">
                <a:solidFill>
                  <a:srgbClr val="0F0F0F"/>
                </a:solidFill>
                <a:effectLst/>
                <a:latin typeface="YouTube Sans"/>
              </a:rPr>
              <a:t>[cit. 13.11.2023], Dostupné z: h</a:t>
            </a:r>
            <a:r>
              <a:rPr lang="cs-CZ" dirty="0">
                <a:hlinkClick r:id="rId2"/>
              </a:rPr>
              <a:t>ttps://www.youtube.com/watch?v=-r30OXVMB20</a:t>
            </a:r>
            <a:endParaRPr lang="cs-CZ" dirty="0"/>
          </a:p>
          <a:p>
            <a:endParaRPr lang="cs-CZ" dirty="0"/>
          </a:p>
          <a:p>
            <a:r>
              <a:rPr lang="cs-CZ" i="0" dirty="0">
                <a:solidFill>
                  <a:srgbClr val="0F0F0F"/>
                </a:solidFill>
                <a:effectLst/>
                <a:latin typeface="YouTube Sans"/>
              </a:rPr>
              <a:t>Excel video návody, </a:t>
            </a:r>
            <a:r>
              <a:rPr lang="cs-CZ" i="1" dirty="0">
                <a:solidFill>
                  <a:srgbClr val="0F0F0F"/>
                </a:solidFill>
                <a:effectLst/>
                <a:latin typeface="YouTube Sans"/>
              </a:rPr>
              <a:t>Datumové a časové funkce v Excelu | </a:t>
            </a:r>
            <a:r>
              <a:rPr lang="cs-CZ" i="1" dirty="0" err="1">
                <a:solidFill>
                  <a:srgbClr val="0F0F0F"/>
                </a:solidFill>
                <a:effectLst/>
                <a:latin typeface="YouTube Sans"/>
              </a:rPr>
              <a:t>EduTV</a:t>
            </a:r>
            <a:r>
              <a:rPr lang="cs-CZ" i="1" dirty="0">
                <a:solidFill>
                  <a:srgbClr val="0F0F0F"/>
                </a:solidFill>
                <a:effectLst/>
                <a:latin typeface="YouTube Sans"/>
              </a:rPr>
              <a:t>,</a:t>
            </a:r>
            <a:r>
              <a:rPr lang="cs-CZ" dirty="0">
                <a:solidFill>
                  <a:srgbClr val="0F0F0F"/>
                </a:solidFill>
                <a:effectLst/>
                <a:latin typeface="YouTube Sans"/>
              </a:rPr>
              <a:t> In: YouTube</a:t>
            </a:r>
            <a:r>
              <a:rPr lang="cs-CZ" dirty="0">
                <a:solidFill>
                  <a:srgbClr val="0F0F0F"/>
                </a:solidFill>
                <a:latin typeface="YouTube Sans"/>
              </a:rPr>
              <a:t> </a:t>
            </a:r>
            <a:r>
              <a:rPr lang="cs-CZ" i="0" dirty="0">
                <a:solidFill>
                  <a:srgbClr val="0F0F0F"/>
                </a:solidFill>
                <a:effectLst/>
                <a:latin typeface="YouTube Sans"/>
              </a:rPr>
              <a:t>[</a:t>
            </a:r>
            <a:r>
              <a:rPr lang="cs-CZ" dirty="0">
                <a:solidFill>
                  <a:srgbClr val="0F0F0F"/>
                </a:solidFill>
                <a:latin typeface="YouTube Sans"/>
              </a:rPr>
              <a:t>online] 26</a:t>
            </a:r>
            <a:r>
              <a:rPr lang="cs-CZ" dirty="0">
                <a:latin typeface="YouTube Sans"/>
              </a:rPr>
              <a:t>.8.2015,</a:t>
            </a:r>
            <a:r>
              <a:rPr lang="cs-CZ" dirty="0">
                <a:solidFill>
                  <a:srgbClr val="0F0F0F"/>
                </a:solidFill>
                <a:latin typeface="YouTube Sans"/>
              </a:rPr>
              <a:t> </a:t>
            </a:r>
            <a:r>
              <a:rPr lang="cs-CZ" i="0" dirty="0">
                <a:solidFill>
                  <a:srgbClr val="0F0F0F"/>
                </a:solidFill>
                <a:effectLst/>
                <a:latin typeface="YouTube Sans"/>
              </a:rPr>
              <a:t>[cit. 13.11.2023], Dostupné z: </a:t>
            </a:r>
            <a:r>
              <a:rPr lang="cs-CZ" dirty="0">
                <a:hlinkClick r:id="rId3"/>
              </a:rPr>
              <a:t>https://www.youtube.com/watch?v=Apuok7ol76s</a:t>
            </a:r>
            <a:endParaRPr lang="cs-CZ" dirty="0"/>
          </a:p>
          <a:p>
            <a:endParaRPr lang="cs-CZ" dirty="0"/>
          </a:p>
          <a:p>
            <a:r>
              <a:rPr lang="cs-CZ" sz="3200" dirty="0"/>
              <a:t>Datumové funkce, [online], Jak na Excel, [cit.13.11.2022], Dostupné z: </a:t>
            </a:r>
            <a:r>
              <a:rPr lang="cs-CZ" sz="3200" dirty="0">
                <a:hlinkClick r:id="rId4"/>
              </a:rPr>
              <a:t>https://office.lasakovi.com/excel/funkce/ms-excel-datum-a-cas/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185368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án">
  <a:themeElements>
    <a:clrScheme name="Červená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Mediá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á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0893E2-5E42-428C-B772-3443A37035C3}">
  <ds:schemaRefs>
    <ds:schemaRef ds:uri="http://schemas.microsoft.com/office/2006/documentManagement/types"/>
    <ds:schemaRef ds:uri="c52afa11-cb76-49c2-a807-b2856752eead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a85f2e0-d32a-4312-be8a-c00aff2510cf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B75EE75-02D5-4C05-8754-50AF8A701B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C75C3D-BB1F-42A6-BA76-A136568B84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140</TotalTime>
  <Words>358</Words>
  <Application>Microsoft Office PowerPoint</Application>
  <PresentationFormat>Předvádění na obrazovce (4:3)</PresentationFormat>
  <Paragraphs>59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5" baseType="lpstr">
      <vt:lpstr>Calibri</vt:lpstr>
      <vt:lpstr>Roboto</vt:lpstr>
      <vt:lpstr>Times New Roman</vt:lpstr>
      <vt:lpstr>Tw Cen MT</vt:lpstr>
      <vt:lpstr>Wingdings</vt:lpstr>
      <vt:lpstr>Wingdings 2</vt:lpstr>
      <vt:lpstr>YouTube Sans</vt:lpstr>
      <vt:lpstr>Medián</vt:lpstr>
      <vt:lpstr>Datumové funkce</vt:lpstr>
      <vt:lpstr>Funkce</vt:lpstr>
      <vt:lpstr>Funkce </vt:lpstr>
      <vt:lpstr>Funkce </vt:lpstr>
      <vt:lpstr>Funkce </vt:lpstr>
      <vt:lpstr>Výuková videa</vt:lpstr>
      <vt:lpstr>Výuková videa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Datumové funkce</dc:title>
  <dc:creator>skriji;gabriela.votavova@delta-skola.cz</dc:creator>
  <cp:lastModifiedBy>Votavová Gabriela</cp:lastModifiedBy>
  <cp:revision>7</cp:revision>
  <dcterms:created xsi:type="dcterms:W3CDTF">2012-04-21T10:23:57Z</dcterms:created>
  <dcterms:modified xsi:type="dcterms:W3CDTF">2023-11-13T13:30:27Z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