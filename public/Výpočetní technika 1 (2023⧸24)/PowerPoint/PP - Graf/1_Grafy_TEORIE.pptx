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6" r:id="rId1"/>
  </p:sldMasterIdLst>
  <p:notesMasterIdLst>
    <p:notesMasterId r:id="rId25"/>
  </p:notesMasterIdLst>
  <p:handoutMasterIdLst>
    <p:handoutMasterId r:id="rId26"/>
  </p:handoutMasterIdLst>
  <p:sldIdLst>
    <p:sldId id="282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2" r:id="rId13"/>
    <p:sldId id="286" r:id="rId14"/>
    <p:sldId id="273" r:id="rId15"/>
    <p:sldId id="277" r:id="rId16"/>
    <p:sldId id="281" r:id="rId17"/>
    <p:sldId id="285" r:id="rId18"/>
    <p:sldId id="276" r:id="rId19"/>
    <p:sldId id="278" r:id="rId20"/>
    <p:sldId id="279" r:id="rId21"/>
    <p:sldId id="284" r:id="rId22"/>
    <p:sldId id="283" r:id="rId23"/>
    <p:sldId id="267" r:id="rId24"/>
  </p:sldIdLst>
  <p:sldSz cx="9144000" cy="6858000" type="screen4x3"/>
  <p:notesSz cx="6735763" cy="9866313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 userDrawn="1">
          <p15:clr>
            <a:srgbClr val="A4A3A4"/>
          </p15:clr>
        </p15:guide>
        <p15:guide id="2" pos="212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1208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-2520" y="-72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List1!$B$1</c:f>
              <c:strCache>
                <c:ptCount val="1"/>
                <c:pt idx="0">
                  <c:v>Řada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C6-4980-B3EE-3AAC2115A06F}"/>
            </c:ext>
          </c:extLst>
        </c:ser>
        <c:ser>
          <c:idx val="1"/>
          <c:order val="1"/>
          <c:tx>
            <c:strRef>
              <c:f>List1!$C$1</c:f>
              <c:strCache>
                <c:ptCount val="1"/>
                <c:pt idx="0">
                  <c:v>Řada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2C6-4980-B3EE-3AAC2115A06F}"/>
            </c:ext>
          </c:extLst>
        </c:ser>
        <c:ser>
          <c:idx val="2"/>
          <c:order val="2"/>
          <c:tx>
            <c:strRef>
              <c:f>List1!$D$1</c:f>
              <c:strCache>
                <c:ptCount val="1"/>
                <c:pt idx="0">
                  <c:v>Řada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BA6-48FC-BC6B-B790FF9F96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93498848"/>
        <c:axId val="593499176"/>
      </c:barChart>
      <c:catAx>
        <c:axId val="5934988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593499176"/>
        <c:crosses val="autoZero"/>
        <c:auto val="1"/>
        <c:lblAlgn val="ctr"/>
        <c:lblOffset val="100"/>
        <c:noMultiLvlLbl val="0"/>
      </c:catAx>
      <c:valAx>
        <c:axId val="5934991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5934988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glow rad="25400">
                    <a:srgbClr val="0070C0">
                      <a:alpha val="40000"/>
                    </a:srgbClr>
                  </a:glow>
                </a:effectLst>
                <a:latin typeface="+mn-lt"/>
                <a:ea typeface="+mn-ea"/>
                <a:cs typeface="+mn-cs"/>
              </a:defRPr>
            </a:pPr>
            <a:r>
              <a:rPr lang="cs-CZ" sz="2800" dirty="0">
                <a:effectLst>
                  <a:glow rad="25400">
                    <a:srgbClr val="0070C0">
                      <a:alpha val="40000"/>
                    </a:srgbClr>
                  </a:glow>
                </a:effectLst>
              </a:rPr>
              <a:t>Doprava</a:t>
            </a:r>
          </a:p>
        </c:rich>
      </c:tx>
      <c:overlay val="0"/>
      <c:spPr>
        <a:blipFill>
          <a:blip xmlns:r="http://schemas.openxmlformats.org/officeDocument/2006/relationships" r:embed="rId3"/>
          <a:tile tx="0" ty="0" sx="100000" sy="100000" flip="none" algn="tl"/>
        </a:blipFill>
        <a:ln>
          <a:noFill/>
        </a:ln>
        <a:effectLst/>
        <a:scene3d>
          <a:camera prst="orthographicFront"/>
          <a:lightRig rig="threePt" dir="t"/>
        </a:scene3d>
        <a:sp3d>
          <a:bevelT/>
        </a:sp3d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effectLst>
                <a:glow rad="25400">
                  <a:srgbClr val="0070C0">
                    <a:alpha val="40000"/>
                  </a:srgbClr>
                </a:glow>
              </a:effectLst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view3D>
      <c:rotX val="15"/>
      <c:rotY val="20"/>
      <c:rAngAx val="0"/>
    </c:view3D>
    <c:floor>
      <c:thickness val="0"/>
      <c:spPr>
        <a:pattFill prst="wdUpDiag">
          <a:fgClr>
            <a:schemeClr val="accent6">
              <a:lumMod val="40000"/>
              <a:lumOff val="60000"/>
            </a:schemeClr>
          </a:fgClr>
          <a:bgClr>
            <a:schemeClr val="bg1"/>
          </a:bgClr>
        </a:pattFill>
        <a:ln>
          <a:noFill/>
        </a:ln>
        <a:effectLst/>
        <a:sp3d/>
      </c:spPr>
    </c:floor>
    <c:sideWall>
      <c:thickness val="0"/>
      <c:spPr>
        <a:solidFill>
          <a:schemeClr val="accent6">
            <a:lumMod val="40000"/>
            <a:lumOff val="60000"/>
          </a:schemeClr>
        </a:solidFill>
        <a:ln>
          <a:noFill/>
        </a:ln>
        <a:effectLst/>
        <a:sp3d/>
      </c:spPr>
    </c:sideWall>
    <c:backWall>
      <c:thickness val="0"/>
      <c:spPr>
        <a:solidFill>
          <a:schemeClr val="accent6">
            <a:lumMod val="40000"/>
            <a:lumOff val="60000"/>
          </a:schemeClr>
        </a:solidFill>
        <a:ln>
          <a:noFill/>
        </a:ln>
        <a:effectLst/>
        <a:sp3d/>
      </c:spPr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List1!$B$1</c:f>
              <c:strCache>
                <c:ptCount val="1"/>
                <c:pt idx="0">
                  <c:v>Evropa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List1!$A$2:$A$4</c:f>
              <c:strCache>
                <c:ptCount val="3"/>
                <c:pt idx="0">
                  <c:v>Kola</c:v>
                </c:pt>
                <c:pt idx="1">
                  <c:v>Auta</c:v>
                </c:pt>
                <c:pt idx="2">
                  <c:v>Koloběžky</c:v>
                </c:pt>
              </c:strCache>
            </c:strRef>
          </c:cat>
          <c:val>
            <c:numRef>
              <c:f>List1!$B$2:$B$4</c:f>
              <c:numCache>
                <c:formatCode>General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40-4984-843A-8E1C987A2E07}"/>
            </c:ext>
          </c:extLst>
        </c:ser>
        <c:ser>
          <c:idx val="1"/>
          <c:order val="1"/>
          <c:tx>
            <c:strRef>
              <c:f>List1!$C$1</c:f>
              <c:strCache>
                <c:ptCount val="1"/>
                <c:pt idx="0">
                  <c:v>Asie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List1!$A$2:$A$4</c:f>
              <c:strCache>
                <c:ptCount val="3"/>
                <c:pt idx="0">
                  <c:v>Kola</c:v>
                </c:pt>
                <c:pt idx="1">
                  <c:v>Auta</c:v>
                </c:pt>
                <c:pt idx="2">
                  <c:v>Koloběžky</c:v>
                </c:pt>
              </c:strCache>
            </c:strRef>
          </c:cat>
          <c:val>
            <c:numRef>
              <c:f>List1!$C$2:$C$4</c:f>
              <c:numCache>
                <c:formatCode>General</c:formatCode>
                <c:ptCount val="3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740-4984-843A-8E1C987A2E07}"/>
            </c:ext>
          </c:extLst>
        </c:ser>
        <c:ser>
          <c:idx val="2"/>
          <c:order val="2"/>
          <c:tx>
            <c:strRef>
              <c:f>List1!$D$1</c:f>
              <c:strCache>
                <c:ptCount val="1"/>
                <c:pt idx="0">
                  <c:v>Afrika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List1!$A$2:$A$4</c:f>
              <c:strCache>
                <c:ptCount val="3"/>
                <c:pt idx="0">
                  <c:v>Kola</c:v>
                </c:pt>
                <c:pt idx="1">
                  <c:v>Auta</c:v>
                </c:pt>
                <c:pt idx="2">
                  <c:v>Koloběžky</c:v>
                </c:pt>
              </c:strCache>
            </c:strRef>
          </c:cat>
          <c:val>
            <c:numRef>
              <c:f>List1!$D$2:$D$4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740-4984-843A-8E1C987A2E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38007088"/>
        <c:axId val="295526672"/>
        <c:axId val="426114944"/>
      </c:bar3DChart>
      <c:catAx>
        <c:axId val="380070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295526672"/>
        <c:crosses val="autoZero"/>
        <c:auto val="1"/>
        <c:lblAlgn val="ctr"/>
        <c:lblOffset val="100"/>
        <c:noMultiLvlLbl val="0"/>
      </c:catAx>
      <c:valAx>
        <c:axId val="29552667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00B050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38007088"/>
        <c:crosses val="autoZero"/>
        <c:crossBetween val="between"/>
      </c:valAx>
      <c:serAx>
        <c:axId val="42611494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295526672"/>
        <c:crosses val="autoZero"/>
      </c:ser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8702551788843261"/>
          <c:y val="0.91421296958948783"/>
          <c:w val="0.36584562907960261"/>
          <c:h val="6.638989935310894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rgbClr val="FF0000"/>
        </a:gs>
        <a:gs pos="64000">
          <a:schemeClr val="accent4">
            <a:lumMod val="40000"/>
            <a:lumOff val="60000"/>
          </a:schemeClr>
        </a:gs>
        <a:gs pos="100000">
          <a:schemeClr val="accent6">
            <a:lumMod val="100000"/>
          </a:schemeClr>
        </a:gs>
      </a:gsLst>
      <a:path path="circle">
        <a:fillToRect t="100000" r="100000"/>
      </a:path>
      <a:tileRect l="-100000" b="-100000"/>
    </a:gradFill>
    <a:ln>
      <a:noFill/>
      <a:prstDash val="sysDot"/>
    </a:ln>
    <a:effectLst/>
  </c:spPr>
  <c:txPr>
    <a:bodyPr/>
    <a:lstStyle/>
    <a:p>
      <a:pPr>
        <a:defRPr/>
      </a:pPr>
      <a:endParaRPr lang="cs-CZ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0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407630-FCF3-4690-B8DC-AFED397BE9AE}" type="datetimeFigureOut">
              <a:rPr lang="cs-CZ" smtClean="0"/>
              <a:pPr/>
              <a:t>09.01.2024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6F0C10-84C3-41E4-AF76-DB93037DAD3C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157099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AD2C9C-91F5-4F25-BDD6-0FEE903BAD9E}" type="datetimeFigureOut">
              <a:rPr lang="cs-CZ" smtClean="0"/>
              <a:pPr/>
              <a:t>09.01.2024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FC7146-6E8B-40F6-8838-D8847D0A4AA1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32720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359E4-628D-4628-82E6-6BADE1FDF011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239028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359E4-628D-4628-82E6-6BADE1FDF011}" type="slidenum">
              <a:rPr lang="cs-CZ" smtClean="0"/>
              <a:t>23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73194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891821" y="5617774"/>
            <a:ext cx="7382935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89952" y="1016990"/>
            <a:ext cx="7179733" cy="4831643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90600" y="1009650"/>
            <a:ext cx="7179733" cy="4831643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769521" y="702069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7855433" y="749720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7201" y="1794935"/>
            <a:ext cx="5723468" cy="182809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7200" y="3736622"/>
            <a:ext cx="5712179" cy="1524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70676" y="5357592"/>
            <a:ext cx="1213821" cy="365125"/>
          </a:xfrm>
        </p:spPr>
        <p:txBody>
          <a:bodyPr/>
          <a:lstStyle/>
          <a:p>
            <a:fld id="{D995E82B-8E67-4C49-A9DA-99B25E35DEA8}" type="datetime1">
              <a:rPr lang="cs-CZ" smtClean="0"/>
              <a:t>09.01.2024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74044" y="5357592"/>
            <a:ext cx="5034845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13930" y="5357592"/>
            <a:ext cx="554023" cy="365125"/>
          </a:xfrm>
        </p:spPr>
        <p:txBody>
          <a:bodyPr/>
          <a:lstStyle>
            <a:lvl1pPr algn="ctr">
              <a:defRPr/>
            </a:lvl1pPr>
          </a:lstStyle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520F2-081A-42B6-9691-ECCECBDD1CD6}" type="datetime1">
              <a:rPr lang="cs-CZ" smtClean="0"/>
              <a:t>09.01.2024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979" y="2239430"/>
            <a:ext cx="6254044" cy="1362075"/>
          </a:xfrm>
        </p:spPr>
        <p:txBody>
          <a:bodyPr anchor="b"/>
          <a:lstStyle>
            <a:lvl1pPr algn="ctr">
              <a:defRPr sz="4000" b="0" cap="none" baseline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6267" y="3725334"/>
            <a:ext cx="6231467" cy="1309511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9DC02-F0C7-49CB-81C0-028CFEF84E8D}" type="datetime1">
              <a:rPr lang="cs-CZ" smtClean="0"/>
              <a:t>09.01.2024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C33BC-E0A1-46A2-B8CD-5DB396002177}" type="datetime1">
              <a:rPr lang="cs-CZ" smtClean="0"/>
              <a:t>09.01.2024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298448" y="2121407"/>
            <a:ext cx="3200400" cy="3602736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63440" y="2119313"/>
            <a:ext cx="3200400" cy="3605212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7869" y="2122312"/>
            <a:ext cx="2939521" cy="820208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669" y="2122311"/>
            <a:ext cx="2944368" cy="822960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C698A-99CF-4302-81D2-EDEE67997ABE}" type="datetime1">
              <a:rPr lang="cs-CZ" smtClean="0"/>
              <a:t>09.01.2024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298448" y="2944368"/>
            <a:ext cx="3227832" cy="2779776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45151" y="2944813"/>
            <a:ext cx="3227832" cy="2779776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51EF2-E5B4-40BE-9033-719834095664}" type="datetime1">
              <a:rPr lang="cs-CZ" smtClean="0"/>
              <a:t>09.01.2024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DACF0-9D8E-4529-9FF4-8939DCCD4326}" type="datetime1">
              <a:rPr lang="cs-CZ" smtClean="0"/>
              <a:t>09.01.2024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Freeform 1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 rot="60000">
            <a:off x="4471416" y="603504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 rot="21540000">
            <a:off x="749808" y="576072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9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8976" y="2020042"/>
            <a:ext cx="3064827" cy="1503037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60000">
            <a:off x="4854291" y="1150993"/>
            <a:ext cx="3020792" cy="4625489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48125" y="3623748"/>
            <a:ext cx="3048891" cy="2100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1698" y="5885672"/>
            <a:ext cx="1213821" cy="365125"/>
          </a:xfrm>
        </p:spPr>
        <p:txBody>
          <a:bodyPr/>
          <a:lstStyle/>
          <a:p>
            <a:fld id="{074ACFB0-6D1C-405E-A2C1-580B06895179}" type="datetime1">
              <a:rPr lang="cs-CZ" smtClean="0"/>
              <a:t>09.01.2024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54" y="5829261"/>
            <a:ext cx="3522607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57313" y="5896961"/>
            <a:ext cx="554023" cy="365125"/>
          </a:xfrm>
        </p:spPr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Freeform 3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5058" y="575769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60000">
            <a:off x="4464768" y="603920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5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6424" y="2020824"/>
            <a:ext cx="3063240" cy="1499616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60000">
            <a:off x="4898615" y="1207272"/>
            <a:ext cx="2913863" cy="4539412"/>
          </a:xfrm>
          <a:ln w="101600" cap="rnd">
            <a:solidFill>
              <a:srgbClr val="FFFFFF"/>
            </a:solidFill>
          </a:ln>
          <a:effectLst>
            <a:outerShdw blurRad="889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52144" y="3621024"/>
            <a:ext cx="3044952" cy="210312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5936" y="5888737"/>
            <a:ext cx="1213821" cy="365125"/>
          </a:xfrm>
        </p:spPr>
        <p:txBody>
          <a:bodyPr/>
          <a:lstStyle/>
          <a:p>
            <a:fld id="{8CB9B3F6-8276-4843-8F78-AC22D9AC3687}" type="datetime1">
              <a:rPr lang="cs-CZ" smtClean="0"/>
              <a:t>09.01.2024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69" y="5831037"/>
            <a:ext cx="3319043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62089" y="5900026"/>
            <a:ext cx="554023" cy="365125"/>
          </a:xfrm>
        </p:spPr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77076-F507-4715-9EA9-ECED4D3EF2B0}" type="datetime1">
              <a:rPr lang="cs-CZ" smtClean="0"/>
              <a:t>09.01.2024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925690"/>
            <a:ext cx="1430867" cy="476391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8221" y="1106312"/>
            <a:ext cx="5178779" cy="4402667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5425-40BE-4B57-9D89-AC79877448C0}" type="datetime1">
              <a:rPr lang="cs-CZ" smtClean="0"/>
              <a:t>09.01.2024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913" y="804890"/>
            <a:ext cx="7204226" cy="1059305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5498" y="2010879"/>
            <a:ext cx="3483864" cy="3448595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0328" y="2017343"/>
            <a:ext cx="3483864" cy="3441520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F23B4-ECD6-4DAF-B89D-0D91F8CBEEDF}" type="datetimeFigureOut">
              <a:rPr lang="cs-CZ" smtClean="0"/>
              <a:t>09.01.2024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7452B-115C-4A03-B749-8F5898454E52}" type="slidenum">
              <a:rPr lang="cs-CZ" smtClean="0"/>
              <a:t>‹#›</a:t>
            </a:fld>
            <a:endParaRPr lang="cs-CZ"/>
          </a:p>
        </p:txBody>
      </p:sp>
      <p:cxnSp>
        <p:nvCxnSpPr>
          <p:cNvPr id="35" name="Straight Connector 34"/>
          <p:cNvCxnSpPr/>
          <p:nvPr/>
        </p:nvCxnSpPr>
        <p:spPr>
          <a:xfrm>
            <a:off x="1090422" y="1847088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8302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628650" y="6069330"/>
            <a:ext cx="792099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31520" y="575310"/>
            <a:ext cx="7696200" cy="5715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31520" y="576072"/>
            <a:ext cx="7696200" cy="5715000"/>
          </a:xfrm>
          <a:prstGeom prst="rect">
            <a:avLst/>
          </a:prstGeom>
          <a:blipFill dpi="0" rotWithShape="1">
            <a:blip r:embed="rId14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 rot="1435684">
            <a:off x="543741" y="273091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 rot="4096196">
            <a:off x="8115079" y="298163"/>
            <a:ext cx="566928" cy="566928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5023" y="817582"/>
            <a:ext cx="6965245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0" y="2119257"/>
            <a:ext cx="6196405" cy="36038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cs-CZ" dirty="0"/>
              <a:t>Kliknutím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54588" y="5809152"/>
            <a:ext cx="1213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D155DE96-403F-4599-843E-7D5556108229}" type="datetime1">
              <a:rPr lang="cs-CZ" smtClean="0"/>
              <a:t>09.01.2024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401" y="5809152"/>
            <a:ext cx="5540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0202" y="5809152"/>
            <a:ext cx="5540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D7B1ADF0-6BB3-4819-B72F-CC2D05BBBB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Grafy v PowerPointu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8AB18B5-150E-43A7-A4FB-CE51D8974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AFCE4D8F-D8F0-5E23-305C-CDD9E016B6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Ing. Votavová Gabriela</a:t>
            </a:r>
          </a:p>
        </p:txBody>
      </p:sp>
    </p:spTree>
    <p:extLst>
      <p:ext uri="{BB962C8B-B14F-4D97-AF65-F5344CB8AC3E}">
        <p14:creationId xmlns:p14="http://schemas.microsoft.com/office/powerpoint/2010/main" val="3543441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Výběr typu grafu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1"/>
            <a:r>
              <a:rPr lang="cs-CZ" sz="2100" dirty="0"/>
              <a:t>karta Vložení =&gt; skupina Ilustrace =&gt; Graf</a:t>
            </a:r>
          </a:p>
          <a:p>
            <a:pPr marL="342900" lvl="1" indent="0">
              <a:buNone/>
            </a:pPr>
            <a:endParaRPr lang="cs-CZ" dirty="0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6E01AB23-A360-44DC-8D1E-2A62F9664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7452B-115C-4A03-B749-8F5898454E52}" type="slidenum">
              <a:rPr lang="cs-CZ" smtClean="0"/>
              <a:t>2</a:t>
            </a:fld>
            <a:endParaRPr lang="cs-CZ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F05A27A8-55FD-40F0-869B-990EBC8552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534" t="-1" b="706"/>
          <a:stretch/>
        </p:blipFill>
        <p:spPr>
          <a:xfrm>
            <a:off x="4332258" y="1947846"/>
            <a:ext cx="4560222" cy="4791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383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Typy grafů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half" idx="1"/>
          </p:nvPr>
        </p:nvSpPr>
        <p:spPr>
          <a:xfrm>
            <a:off x="1085499" y="2365408"/>
            <a:ext cx="3029302" cy="3552215"/>
          </a:xfrm>
        </p:spPr>
        <p:txBody>
          <a:bodyPr>
            <a:normAutofit/>
          </a:bodyPr>
          <a:lstStyle/>
          <a:p>
            <a:r>
              <a:rPr lang="cs-CZ" dirty="0"/>
              <a:t>sloupcový</a:t>
            </a:r>
          </a:p>
          <a:p>
            <a:r>
              <a:rPr lang="cs-CZ" dirty="0"/>
              <a:t>spojnicový</a:t>
            </a:r>
          </a:p>
          <a:p>
            <a:r>
              <a:rPr lang="cs-CZ" dirty="0"/>
              <a:t>výsečový</a:t>
            </a:r>
          </a:p>
          <a:p>
            <a:r>
              <a:rPr lang="cs-CZ" dirty="0"/>
              <a:t>pruhový</a:t>
            </a:r>
          </a:p>
          <a:p>
            <a:r>
              <a:rPr lang="cs-CZ" dirty="0"/>
              <a:t>plošný</a:t>
            </a:r>
          </a:p>
          <a:p>
            <a:r>
              <a:rPr lang="cs-CZ" dirty="0"/>
              <a:t>XY bodový</a:t>
            </a:r>
          </a:p>
          <a:p>
            <a:r>
              <a:rPr lang="cs-CZ" dirty="0"/>
              <a:t>burzovní</a:t>
            </a:r>
          </a:p>
        </p:txBody>
      </p:sp>
      <p:sp>
        <p:nvSpPr>
          <p:cNvPr id="8" name="Zástupný symbol pro obsah 7"/>
          <p:cNvSpPr>
            <a:spLocks noGrp="1"/>
          </p:cNvSpPr>
          <p:nvPr>
            <p:ph sz="half" idx="2"/>
          </p:nvPr>
        </p:nvSpPr>
        <p:spPr>
          <a:xfrm>
            <a:off x="4810329" y="2370257"/>
            <a:ext cx="3117935" cy="363049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/>
              <a:t>povrchový</a:t>
            </a:r>
          </a:p>
          <a:p>
            <a:r>
              <a:rPr lang="cs-CZ" dirty="0"/>
              <a:t>paprskový</a:t>
            </a:r>
          </a:p>
          <a:p>
            <a:r>
              <a:rPr lang="cs-CZ" dirty="0"/>
              <a:t>stromová mapa</a:t>
            </a:r>
          </a:p>
          <a:p>
            <a:r>
              <a:rPr lang="cs-CZ" dirty="0"/>
              <a:t>vícevrstvý paprskový</a:t>
            </a:r>
          </a:p>
          <a:p>
            <a:r>
              <a:rPr lang="cs-CZ" dirty="0"/>
              <a:t>histogram</a:t>
            </a:r>
          </a:p>
          <a:p>
            <a:r>
              <a:rPr lang="cs-CZ" dirty="0"/>
              <a:t>krabicový graf</a:t>
            </a:r>
          </a:p>
          <a:p>
            <a:r>
              <a:rPr lang="cs-CZ" dirty="0"/>
              <a:t>vodopádový</a:t>
            </a:r>
          </a:p>
        </p:txBody>
      </p:sp>
    </p:spTree>
    <p:extLst>
      <p:ext uri="{BB962C8B-B14F-4D97-AF65-F5344CB8AC3E}">
        <p14:creationId xmlns:p14="http://schemas.microsoft.com/office/powerpoint/2010/main" val="710396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adpis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Sloupcový graf</a:t>
            </a:r>
          </a:p>
        </p:txBody>
      </p:sp>
      <p:sp>
        <p:nvSpPr>
          <p:cNvPr id="8" name="Zástupný symbol pro obsah 7"/>
          <p:cNvSpPr>
            <a:spLocks noGrp="1"/>
          </p:cNvSpPr>
          <p:nvPr>
            <p:ph idx="1"/>
          </p:nvPr>
        </p:nvSpPr>
        <p:spPr>
          <a:xfrm>
            <a:off x="971600" y="2020067"/>
            <a:ext cx="6196405" cy="3603812"/>
          </a:xfrm>
        </p:spPr>
        <p:txBody>
          <a:bodyPr>
            <a:normAutofit/>
          </a:bodyPr>
          <a:lstStyle/>
          <a:p>
            <a:r>
              <a:rPr lang="cs-CZ" dirty="0"/>
              <a:t>hodnoty zobrazeny jako sloupce</a:t>
            </a:r>
          </a:p>
          <a:p>
            <a:r>
              <a:rPr lang="cs-CZ" dirty="0"/>
              <a:t>vodorovná osa = kategorie</a:t>
            </a:r>
          </a:p>
          <a:p>
            <a:r>
              <a:rPr lang="cs-CZ" dirty="0"/>
              <a:t>svislá osa = hodnoty</a:t>
            </a:r>
          </a:p>
          <a:p>
            <a:r>
              <a:rPr lang="cs-CZ" dirty="0"/>
              <a:t>např. změna dat za určité časové období, porovnání položek</a:t>
            </a:r>
          </a:p>
          <a:p>
            <a:endParaRPr lang="cs-CZ" dirty="0"/>
          </a:p>
        </p:txBody>
      </p:sp>
      <p:pic>
        <p:nvPicPr>
          <p:cNvPr id="9" name="Obrázek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936" y="4221088"/>
            <a:ext cx="4969575" cy="2515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947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adpis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Spojnicový graf</a:t>
            </a:r>
          </a:p>
        </p:txBody>
      </p:sp>
      <p:sp>
        <p:nvSpPr>
          <p:cNvPr id="8" name="Zástupný symbol pro obsah 7"/>
          <p:cNvSpPr>
            <a:spLocks noGrp="1"/>
          </p:cNvSpPr>
          <p:nvPr>
            <p:ph idx="1"/>
          </p:nvPr>
        </p:nvSpPr>
        <p:spPr>
          <a:xfrm>
            <a:off x="907098" y="2020067"/>
            <a:ext cx="8249680" cy="3263504"/>
          </a:xfrm>
        </p:spPr>
        <p:txBody>
          <a:bodyPr>
            <a:normAutofit/>
          </a:bodyPr>
          <a:lstStyle/>
          <a:p>
            <a:r>
              <a:rPr lang="cs-CZ" dirty="0"/>
              <a:t>pro zobrazení souvislých dat v čase a jejich srovnání se společnou stupnicí</a:t>
            </a:r>
          </a:p>
          <a:p>
            <a:r>
              <a:rPr lang="cs-CZ" dirty="0"/>
              <a:t>vodorovná osa = kategorie</a:t>
            </a:r>
          </a:p>
          <a:p>
            <a:r>
              <a:rPr lang="cs-CZ" dirty="0"/>
              <a:t>svislá osa = hodnoty</a:t>
            </a:r>
          </a:p>
          <a:p>
            <a:r>
              <a:rPr lang="cs-CZ" dirty="0"/>
              <a:t>např. trend v průběhu času, je-li důležité pořadí</a:t>
            </a:r>
          </a:p>
          <a:p>
            <a:endParaRPr lang="cs-CZ" dirty="0"/>
          </a:p>
        </p:txBody>
      </p:sp>
      <p:pic>
        <p:nvPicPr>
          <p:cNvPr id="2" name="Obrázek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1" y="4581128"/>
            <a:ext cx="3048391" cy="2112481"/>
          </a:xfrm>
          <a:prstGeom prst="rect">
            <a:avLst/>
          </a:prstGeom>
        </p:spPr>
      </p:pic>
      <p:pic>
        <p:nvPicPr>
          <p:cNvPr id="3" name="Obrázek 2"/>
          <p:cNvPicPr>
            <a:picLocks noChangeAspect="1"/>
          </p:cNvPicPr>
          <p:nvPr/>
        </p:nvPicPr>
        <p:blipFill rotWithShape="1">
          <a:blip r:embed="rId3"/>
          <a:srcRect t="2405"/>
          <a:stretch/>
        </p:blipFill>
        <p:spPr>
          <a:xfrm>
            <a:off x="3345989" y="4791914"/>
            <a:ext cx="5618500" cy="1901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35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adpis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Výsečový graf</a:t>
            </a:r>
          </a:p>
        </p:txBody>
      </p:sp>
      <p:sp>
        <p:nvSpPr>
          <p:cNvPr id="8" name="Zástupný symbol pro obsah 7"/>
          <p:cNvSpPr>
            <a:spLocks noGrp="1"/>
          </p:cNvSpPr>
          <p:nvPr>
            <p:ph idx="1"/>
          </p:nvPr>
        </p:nvSpPr>
        <p:spPr>
          <a:xfrm>
            <a:off x="926301" y="2020067"/>
            <a:ext cx="8249680" cy="3263504"/>
          </a:xfrm>
        </p:spPr>
        <p:txBody>
          <a:bodyPr>
            <a:normAutofit/>
          </a:bodyPr>
          <a:lstStyle/>
          <a:p>
            <a:r>
              <a:rPr lang="cs-CZ" sz="2800" dirty="0"/>
              <a:t>pro jednu datovou řadu</a:t>
            </a:r>
          </a:p>
          <a:p>
            <a:r>
              <a:rPr lang="cs-CZ" sz="2800" dirty="0"/>
              <a:t>žádná z hodnot není záporná, téměř žádná  hodnota není nulová </a:t>
            </a:r>
          </a:p>
          <a:p>
            <a:r>
              <a:rPr lang="cs-CZ" sz="2800" dirty="0"/>
              <a:t>ne více než sedm kategorií</a:t>
            </a:r>
          </a:p>
          <a:p>
            <a:endParaRPr lang="cs-CZ" sz="2800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4221088"/>
            <a:ext cx="3346200" cy="2526145"/>
          </a:xfrm>
          <a:prstGeom prst="rect">
            <a:avLst/>
          </a:prstGeom>
        </p:spPr>
      </p:pic>
      <p:pic>
        <p:nvPicPr>
          <p:cNvPr id="5" name="Obráze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4156" y="4161105"/>
            <a:ext cx="3488267" cy="2586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642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adpis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Pruhový graf</a:t>
            </a:r>
          </a:p>
        </p:txBody>
      </p:sp>
      <p:sp>
        <p:nvSpPr>
          <p:cNvPr id="8" name="Zástupný symbol pro obsah 7"/>
          <p:cNvSpPr>
            <a:spLocks noGrp="1"/>
          </p:cNvSpPr>
          <p:nvPr>
            <p:ph idx="1"/>
          </p:nvPr>
        </p:nvSpPr>
        <p:spPr>
          <a:xfrm>
            <a:off x="927112" y="1992421"/>
            <a:ext cx="8249680" cy="3263504"/>
          </a:xfrm>
        </p:spPr>
        <p:txBody>
          <a:bodyPr>
            <a:normAutofit/>
          </a:bodyPr>
          <a:lstStyle/>
          <a:p>
            <a:r>
              <a:rPr lang="cs-CZ" dirty="0"/>
              <a:t>porovnání jednotlivých položek </a:t>
            </a:r>
          </a:p>
          <a:p>
            <a:r>
              <a:rPr lang="cs-CZ" dirty="0"/>
              <a:t>hodnoty zobrazeny jako vodorovné pruhy</a:t>
            </a:r>
          </a:p>
          <a:p>
            <a:endParaRPr lang="cs-CZ" dirty="0"/>
          </a:p>
        </p:txBody>
      </p:sp>
      <p:pic>
        <p:nvPicPr>
          <p:cNvPr id="2" name="Obrázek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15" y="4077856"/>
            <a:ext cx="4439186" cy="2663511"/>
          </a:xfrm>
          <a:prstGeom prst="rect">
            <a:avLst/>
          </a:prstGeom>
        </p:spPr>
      </p:pic>
      <p:pic>
        <p:nvPicPr>
          <p:cNvPr id="3" name="Obráze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112" y="4139386"/>
            <a:ext cx="3431075" cy="2588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391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adpis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Plošný graf</a:t>
            </a:r>
          </a:p>
        </p:txBody>
      </p:sp>
      <p:sp>
        <p:nvSpPr>
          <p:cNvPr id="8" name="Zástupný symbol pro obsah 7"/>
          <p:cNvSpPr>
            <a:spLocks noGrp="1"/>
          </p:cNvSpPr>
          <p:nvPr>
            <p:ph idx="1"/>
          </p:nvPr>
        </p:nvSpPr>
        <p:spPr>
          <a:xfrm>
            <a:off x="894320" y="2020067"/>
            <a:ext cx="8249680" cy="3263504"/>
          </a:xfrm>
        </p:spPr>
        <p:txBody>
          <a:bodyPr>
            <a:normAutofit/>
          </a:bodyPr>
          <a:lstStyle/>
          <a:p>
            <a:r>
              <a:rPr lang="cs-CZ" dirty="0"/>
              <a:t>ke znázornění změn v průběhu času </a:t>
            </a:r>
          </a:p>
          <a:p>
            <a:r>
              <a:rPr lang="cs-CZ" dirty="0"/>
              <a:t>k upoutání pozornosti na celkovou hodnotu v trendu.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039" y="3333848"/>
            <a:ext cx="4559922" cy="2751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218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adpis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Stromová mapa</a:t>
            </a:r>
          </a:p>
        </p:txBody>
      </p:sp>
      <p:sp>
        <p:nvSpPr>
          <p:cNvPr id="8" name="Zástupný symbol pro obsah 7"/>
          <p:cNvSpPr>
            <a:spLocks noGrp="1"/>
          </p:cNvSpPr>
          <p:nvPr>
            <p:ph idx="1"/>
          </p:nvPr>
        </p:nvSpPr>
        <p:spPr>
          <a:xfrm>
            <a:off x="971600" y="2041278"/>
            <a:ext cx="8249680" cy="3263504"/>
          </a:xfrm>
        </p:spPr>
        <p:txBody>
          <a:bodyPr>
            <a:normAutofit/>
          </a:bodyPr>
          <a:lstStyle/>
          <a:p>
            <a:r>
              <a:rPr lang="cs-CZ" dirty="0"/>
              <a:t>rozdělení hodnot do skupin</a:t>
            </a:r>
          </a:p>
        </p:txBody>
      </p:sp>
      <p:pic>
        <p:nvPicPr>
          <p:cNvPr id="2" name="Obrázek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2473853"/>
            <a:ext cx="5928441" cy="359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627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adpis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Krabicový graf</a:t>
            </a:r>
          </a:p>
        </p:txBody>
      </p:sp>
      <p:sp>
        <p:nvSpPr>
          <p:cNvPr id="8" name="Zástupný symbol pro obsah 7"/>
          <p:cNvSpPr>
            <a:spLocks noGrp="1"/>
          </p:cNvSpPr>
          <p:nvPr>
            <p:ph idx="1"/>
          </p:nvPr>
        </p:nvSpPr>
        <p:spPr>
          <a:xfrm>
            <a:off x="925489" y="2050202"/>
            <a:ext cx="8249680" cy="3263504"/>
          </a:xfrm>
        </p:spPr>
        <p:txBody>
          <a:bodyPr>
            <a:normAutofit/>
          </a:bodyPr>
          <a:lstStyle/>
          <a:p>
            <a:r>
              <a:rPr lang="cs-CZ" dirty="0"/>
              <a:t>pro statistickou analýzu = rozdělení dat do kvartilů </a:t>
            </a:r>
          </a:p>
          <a:p>
            <a:r>
              <a:rPr lang="cs-CZ" dirty="0"/>
              <a:t>zvýrazňuje medián a odlehlé hodnoty</a:t>
            </a:r>
          </a:p>
          <a:p>
            <a:r>
              <a:rPr lang="cs-CZ" dirty="0"/>
              <a:t>např. porovnání klinických testů, studentů</a:t>
            </a:r>
          </a:p>
          <a:p>
            <a:endParaRPr lang="cs-CZ" dirty="0"/>
          </a:p>
        </p:txBody>
      </p:sp>
      <p:pic>
        <p:nvPicPr>
          <p:cNvPr id="1026" name="Picture 2" descr="http://homel.vsb.cz/~hom50/SLBSTATS/JSS/KRASEMN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594496"/>
            <a:ext cx="5150625" cy="3176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6593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adpis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Vodopádový graf</a:t>
            </a:r>
          </a:p>
        </p:txBody>
      </p:sp>
      <p:sp>
        <p:nvSpPr>
          <p:cNvPr id="8" name="Zástupný symbol pro obsah 7"/>
          <p:cNvSpPr>
            <a:spLocks noGrp="1"/>
          </p:cNvSpPr>
          <p:nvPr>
            <p:ph idx="1"/>
          </p:nvPr>
        </p:nvSpPr>
        <p:spPr>
          <a:xfrm>
            <a:off x="971600" y="2020067"/>
            <a:ext cx="8249680" cy="3263504"/>
          </a:xfrm>
        </p:spPr>
        <p:txBody>
          <a:bodyPr>
            <a:normAutofit/>
          </a:bodyPr>
          <a:lstStyle/>
          <a:p>
            <a:r>
              <a:rPr lang="cs-CZ" dirty="0"/>
              <a:t>znázornění přírůstků a úbytků mezi více stavy</a:t>
            </a:r>
          </a:p>
          <a:p>
            <a:r>
              <a:rPr lang="cs-CZ" dirty="0"/>
              <a:t>pomáhá porozumět tomu, jak je počáteční hodnota ovlivněná řadou kladných a záporných hodnot</a:t>
            </a:r>
          </a:p>
        </p:txBody>
      </p:sp>
      <p:pic>
        <p:nvPicPr>
          <p:cNvPr id="2" name="Obrázek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546" y="3573016"/>
            <a:ext cx="5180908" cy="2637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211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Vytváření grafů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463040" y="2119257"/>
            <a:ext cx="6597228" cy="3603812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dirty="0"/>
              <a:t>karta Vložení skupina Ilustrace =&gt; ikona Graf</a:t>
            </a:r>
          </a:p>
          <a:p>
            <a:pPr>
              <a:lnSpc>
                <a:spcPct val="200000"/>
              </a:lnSpc>
            </a:pPr>
            <a:r>
              <a:rPr lang="cs-CZ" dirty="0"/>
              <a:t>zástupný symbol na novém snímku                    s rozložením Nadpis a obsah</a:t>
            </a:r>
          </a:p>
          <a:p>
            <a:pPr lvl="1">
              <a:lnSpc>
                <a:spcPct val="200000"/>
              </a:lnSpc>
              <a:buNone/>
            </a:pPr>
            <a:endParaRPr lang="cs-CZ" sz="240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65A4ECFF-E196-4B32-ABC9-26BF1C21F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12</a:t>
            </a:fld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F603BB1A-6985-4A85-A79C-6EA3AF61EA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9305" t="25902" r="632" b="27945"/>
          <a:stretch/>
        </p:blipFill>
        <p:spPr>
          <a:xfrm>
            <a:off x="6300192" y="3947870"/>
            <a:ext cx="1224136" cy="163218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 10">
            <a:extLst>
              <a:ext uri="{FF2B5EF4-FFF2-40B4-BE49-F238E27FC236}">
                <a16:creationId xmlns:a16="http://schemas.microsoft.com/office/drawing/2014/main" id="{A9E1C755-39C0-456D-B71A-295E288E0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Způsoby vložení grafu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7B61D7F9-56B3-4115-961E-23AC3315F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13</a:t>
            </a:fld>
            <a:endParaRPr lang="cs-CZ"/>
          </a:p>
        </p:txBody>
      </p:sp>
      <p:grpSp>
        <p:nvGrpSpPr>
          <p:cNvPr id="10" name="Skupina 9">
            <a:extLst>
              <a:ext uri="{FF2B5EF4-FFF2-40B4-BE49-F238E27FC236}">
                <a16:creationId xmlns:a16="http://schemas.microsoft.com/office/drawing/2014/main" id="{7EFC3031-EF15-4D84-AB76-8A07A5E3A251}"/>
              </a:ext>
            </a:extLst>
          </p:cNvPr>
          <p:cNvGrpSpPr/>
          <p:nvPr/>
        </p:nvGrpSpPr>
        <p:grpSpPr>
          <a:xfrm>
            <a:off x="179512" y="1772816"/>
            <a:ext cx="4855443" cy="3759786"/>
            <a:chOff x="81711" y="116632"/>
            <a:chExt cx="5281745" cy="3975810"/>
          </a:xfrm>
        </p:grpSpPr>
        <p:pic>
          <p:nvPicPr>
            <p:cNvPr id="6" name="Obrázek 5">
              <a:extLst>
                <a:ext uri="{FF2B5EF4-FFF2-40B4-BE49-F238E27FC236}">
                  <a16:creationId xmlns:a16="http://schemas.microsoft.com/office/drawing/2014/main" id="{46C76387-A669-4160-96F2-EB0B3D30156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462"/>
            <a:stretch/>
          </p:blipFill>
          <p:spPr>
            <a:xfrm>
              <a:off x="81711" y="116632"/>
              <a:ext cx="5281745" cy="3975810"/>
            </a:xfrm>
            <a:prstGeom prst="rect">
              <a:avLst/>
            </a:prstGeom>
          </p:spPr>
        </p:pic>
        <p:sp>
          <p:nvSpPr>
            <p:cNvPr id="7" name="Šipka: doprava 6">
              <a:extLst>
                <a:ext uri="{FF2B5EF4-FFF2-40B4-BE49-F238E27FC236}">
                  <a16:creationId xmlns:a16="http://schemas.microsoft.com/office/drawing/2014/main" id="{DF77A6D4-8C1D-44A8-A686-D2E39AD2DD6A}"/>
                </a:ext>
              </a:extLst>
            </p:cNvPr>
            <p:cNvSpPr/>
            <p:nvPr/>
          </p:nvSpPr>
          <p:spPr>
            <a:xfrm rot="592356">
              <a:off x="919262" y="1827778"/>
              <a:ext cx="1512168" cy="36004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pic>
        <p:nvPicPr>
          <p:cNvPr id="9" name="Obrázek 8">
            <a:extLst>
              <a:ext uri="{FF2B5EF4-FFF2-40B4-BE49-F238E27FC236}">
                <a16:creationId xmlns:a16="http://schemas.microsoft.com/office/drawing/2014/main" id="{39FA08BF-E092-46DA-AD84-AFA082933F9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7637" b="57000"/>
          <a:stretch/>
        </p:blipFill>
        <p:spPr>
          <a:xfrm>
            <a:off x="2987824" y="3848118"/>
            <a:ext cx="6079579" cy="28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7904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0D0D5E3-F95C-46FE-80BF-B726BB457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Tvorba grafu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19BD2625-86B7-4712-8428-9C74C3E8E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14</a:t>
            </a:fld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dirty="0"/>
              <a:t>výběr typu grafu</a:t>
            </a:r>
          </a:p>
          <a:p>
            <a:pPr>
              <a:lnSpc>
                <a:spcPct val="200000"/>
              </a:lnSpc>
            </a:pPr>
            <a:r>
              <a:rPr lang="cs-CZ" dirty="0"/>
              <a:t>vyplnění údajů </a:t>
            </a:r>
            <a:br>
              <a:rPr lang="cs-CZ" dirty="0"/>
            </a:br>
            <a:r>
              <a:rPr lang="cs-CZ" dirty="0"/>
              <a:t>v pomocné tabulce </a:t>
            </a:r>
            <a:br>
              <a:rPr lang="cs-CZ" dirty="0"/>
            </a:br>
            <a:r>
              <a:rPr lang="cs-CZ" dirty="0"/>
              <a:t>v MS Excelu</a:t>
            </a:r>
          </a:p>
          <a:p>
            <a:pPr lvl="1">
              <a:lnSpc>
                <a:spcPct val="200000"/>
              </a:lnSpc>
              <a:buNone/>
            </a:pPr>
            <a:endParaRPr lang="cs-CZ" sz="2400" dirty="0"/>
          </a:p>
          <a:p>
            <a:pPr lvl="1">
              <a:lnSpc>
                <a:spcPct val="200000"/>
              </a:lnSpc>
            </a:pPr>
            <a:endParaRPr lang="cs-CZ" sz="2400" dirty="0"/>
          </a:p>
          <a:p>
            <a:pPr lvl="1">
              <a:lnSpc>
                <a:spcPct val="200000"/>
              </a:lnSpc>
            </a:pPr>
            <a:endParaRPr lang="cs-CZ" sz="2400" dirty="0"/>
          </a:p>
          <a:p>
            <a:pPr lvl="1">
              <a:lnSpc>
                <a:spcPct val="200000"/>
              </a:lnSpc>
            </a:pPr>
            <a:endParaRPr lang="cs-CZ" sz="2400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228E4057-4418-4FC5-99C4-0DA2080BFF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375" t="7980" r="26375" b="13582"/>
          <a:stretch/>
        </p:blipFill>
        <p:spPr>
          <a:xfrm>
            <a:off x="4355976" y="2420888"/>
            <a:ext cx="4635751" cy="432670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BDFA8BC9-97F9-4E3D-8388-6D14F4DC4D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778" r="9051" b="14984"/>
          <a:stretch/>
        </p:blipFill>
        <p:spPr>
          <a:xfrm>
            <a:off x="323631" y="1015562"/>
            <a:ext cx="8787712" cy="4793590"/>
          </a:xfrm>
          <a:prstGeom prst="rect">
            <a:avLst/>
          </a:prstGeom>
        </p:spPr>
      </p:pic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1B357CA-14A1-468F-9663-8D643B112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15</a:t>
            </a:fld>
            <a:endParaRPr lang="cs-CZ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27C37C-EDFA-4069-ACD4-BC4225B47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Úprava grafu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08A0E42C-F2FF-40BB-B5CA-B4F847689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40" y="2119257"/>
            <a:ext cx="6597228" cy="3603812"/>
          </a:xfrm>
        </p:spPr>
        <p:txBody>
          <a:bodyPr/>
          <a:lstStyle/>
          <a:p>
            <a:r>
              <a:rPr lang="cs-CZ" dirty="0"/>
              <a:t>přepis dat v excelové tabulce</a:t>
            </a:r>
          </a:p>
          <a:p>
            <a:r>
              <a:rPr lang="cs-CZ" dirty="0"/>
              <a:t>výběr oblasti grafu =&gt; </a:t>
            </a:r>
            <a:r>
              <a:rPr lang="cs-CZ" b="1" dirty="0"/>
              <a:t>pravý dolní roh tabulky, jen smazání dat nestačí</a:t>
            </a:r>
          </a:p>
          <a:p>
            <a:r>
              <a:rPr lang="cs-CZ" dirty="0"/>
              <a:t>změna oblasti dat v tabulce  =&gt; projeví se ihned v grafu</a:t>
            </a:r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9D1B4EFA-CD65-4944-A5BD-A1B6747633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463" t="9381" r="39094" b="65237"/>
          <a:stretch/>
        </p:blipFill>
        <p:spPr>
          <a:xfrm>
            <a:off x="4418725" y="4281429"/>
            <a:ext cx="4674329" cy="2430738"/>
          </a:xfrm>
          <a:prstGeom prst="rect">
            <a:avLst/>
          </a:prstGeom>
        </p:spPr>
      </p:pic>
      <p:pic>
        <p:nvPicPr>
          <p:cNvPr id="8" name="Obrázek 7">
            <a:extLst>
              <a:ext uri="{FF2B5EF4-FFF2-40B4-BE49-F238E27FC236}">
                <a16:creationId xmlns:a16="http://schemas.microsoft.com/office/drawing/2014/main" id="{C4B64603-B690-457E-940B-2899168EA6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175" t="16028" r="32236" b="55603"/>
          <a:stretch/>
        </p:blipFill>
        <p:spPr>
          <a:xfrm>
            <a:off x="29431" y="4268545"/>
            <a:ext cx="4053809" cy="2456506"/>
          </a:xfrm>
          <a:prstGeom prst="rect">
            <a:avLst/>
          </a:prstGeom>
        </p:spPr>
      </p:pic>
      <p:sp>
        <p:nvSpPr>
          <p:cNvPr id="9" name="Šipka: doprava, šrafovaná 8">
            <a:extLst>
              <a:ext uri="{FF2B5EF4-FFF2-40B4-BE49-F238E27FC236}">
                <a16:creationId xmlns:a16="http://schemas.microsoft.com/office/drawing/2014/main" id="{9110360C-9199-4451-BA9E-B560B228CAFB}"/>
              </a:ext>
            </a:extLst>
          </p:cNvPr>
          <p:cNvSpPr/>
          <p:nvPr/>
        </p:nvSpPr>
        <p:spPr>
          <a:xfrm>
            <a:off x="3378025" y="5697678"/>
            <a:ext cx="1236157" cy="443748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3E88B9C4-B33A-46C6-9E3C-2DFCC30E8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39513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Zástupný obsah 6">
            <a:extLst>
              <a:ext uri="{FF2B5EF4-FFF2-40B4-BE49-F238E27FC236}">
                <a16:creationId xmlns:a16="http://schemas.microsoft.com/office/drawing/2014/main" id="{D0DD9248-ED5D-4688-B2AD-D1CCCDDAD6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8472839"/>
              </p:ext>
            </p:extLst>
          </p:nvPr>
        </p:nvGraphicFramePr>
        <p:xfrm>
          <a:off x="971600" y="683723"/>
          <a:ext cx="6196013" cy="3603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301DA35E-AC21-424F-99B6-5C7847D00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17</a:t>
            </a:fld>
            <a:endParaRPr lang="cs-CZ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34D7D928-6EE4-4F07-85F9-4A37C3CC9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767" y="4409605"/>
            <a:ext cx="4176464" cy="2264427"/>
          </a:xfrm>
          <a:prstGeom prst="rect">
            <a:avLst/>
          </a:prstGeom>
        </p:spPr>
      </p:pic>
      <p:pic>
        <p:nvPicPr>
          <p:cNvPr id="10" name="Obrázek 9">
            <a:extLst>
              <a:ext uri="{FF2B5EF4-FFF2-40B4-BE49-F238E27FC236}">
                <a16:creationId xmlns:a16="http://schemas.microsoft.com/office/drawing/2014/main" id="{9A47B6CD-202A-414C-893A-6961ED31ED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302" y="4869160"/>
            <a:ext cx="4400164" cy="1113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6892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sah 1">
            <a:extLst>
              <a:ext uri="{FF2B5EF4-FFF2-40B4-BE49-F238E27FC236}">
                <a16:creationId xmlns:a16="http://schemas.microsoft.com/office/drawing/2014/main" id="{B5A6B966-4159-4740-B8AB-42AFE22B51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E7B73386-C01E-4F7E-8C7C-C4085C69D0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587" t="3779" r="14563" b="15086"/>
          <a:stretch/>
        </p:blipFill>
        <p:spPr>
          <a:xfrm>
            <a:off x="179512" y="81080"/>
            <a:ext cx="8784976" cy="6695840"/>
          </a:xfrm>
          <a:prstGeom prst="rect">
            <a:avLst/>
          </a:prstGeom>
        </p:spPr>
      </p:pic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298EF4F3-4E34-486C-AA95-7F107120F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18</a:t>
            </a:fld>
            <a:endParaRPr lang="cs-CZ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Úpravy grafu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067686" y="1992233"/>
            <a:ext cx="7213416" cy="455010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sz="2400" dirty="0"/>
              <a:t>1. karty Nástroje grafu =&gt;</a:t>
            </a:r>
            <a:r>
              <a:rPr lang="cs-CZ" dirty="0"/>
              <a:t> karty Návrh a Formát</a:t>
            </a:r>
          </a:p>
          <a:p>
            <a:pPr>
              <a:lnSpc>
                <a:spcPct val="150000"/>
              </a:lnSpc>
            </a:pPr>
            <a:endParaRPr lang="cs-CZ" sz="2400" dirty="0"/>
          </a:p>
          <a:p>
            <a:pPr>
              <a:lnSpc>
                <a:spcPct val="150000"/>
              </a:lnSpc>
            </a:pPr>
            <a:endParaRPr lang="cs-CZ" sz="2400" dirty="0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622A09D8-7551-4E50-AD8D-B8BD4F3BB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4" y="2904162"/>
            <a:ext cx="9144000" cy="1049675"/>
          </a:xfrm>
          <a:prstGeom prst="rect">
            <a:avLst/>
          </a:prstGeom>
        </p:spPr>
      </p:pic>
      <p:pic>
        <p:nvPicPr>
          <p:cNvPr id="5" name="Obrázek 4">
            <a:extLst>
              <a:ext uri="{FF2B5EF4-FFF2-40B4-BE49-F238E27FC236}">
                <a16:creationId xmlns:a16="http://schemas.microsoft.com/office/drawing/2014/main" id="{D0DF6349-C868-4D0F-A705-C9F1FD274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4" y="4222830"/>
            <a:ext cx="9144000" cy="1147948"/>
          </a:xfrm>
          <a:prstGeom prst="rect">
            <a:avLst/>
          </a:prstGeom>
        </p:spPr>
      </p:pic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776898F-24F9-44E0-A5F6-EFC3EEA28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19</a:t>
            </a:fld>
            <a:endParaRPr lang="cs-CZ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5089EFA8-6DF4-4341-AF85-112C33CF05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594" t="8404" r="18" b="7556"/>
          <a:stretch/>
        </p:blipFill>
        <p:spPr>
          <a:xfrm>
            <a:off x="1005745" y="1512340"/>
            <a:ext cx="7132509" cy="531662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1AF0301B-D17C-446E-808A-D8FCC3E3B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9632" y="699215"/>
            <a:ext cx="6196405" cy="3603812"/>
          </a:xfrm>
        </p:spPr>
        <p:txBody>
          <a:bodyPr/>
          <a:lstStyle/>
          <a:p>
            <a:r>
              <a:rPr lang="cs-CZ" dirty="0"/>
              <a:t>2. pravé tlačítko myši =&gt; dialogová okna </a:t>
            </a:r>
            <a:br>
              <a:rPr lang="cs-CZ" dirty="0"/>
            </a:br>
            <a:r>
              <a:rPr lang="cs-CZ" dirty="0"/>
              <a:t>s možnostmi ...Formát oblasti</a:t>
            </a:r>
          </a:p>
          <a:p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045B975-196A-4F9C-A3F6-4DDD83CB4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20</a:t>
            </a:fld>
            <a:endParaRPr lang="cs-CZ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2A576E87-D939-4CA2-8EBB-F151D7D8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21</a:t>
            </a:fld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24DAFE0C-8007-46AC-BF6C-B4F5B5E99E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651" t="21284" b="5390"/>
          <a:stretch/>
        </p:blipFill>
        <p:spPr>
          <a:xfrm>
            <a:off x="150357" y="1156016"/>
            <a:ext cx="8843286" cy="465313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262553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7">
            <a:extLst>
              <a:ext uri="{FF2B5EF4-FFF2-40B4-BE49-F238E27FC236}">
                <a16:creationId xmlns:a16="http://schemas.microsoft.com/office/drawing/2014/main" id="{9BFED1BF-F17D-4935-BD72-6692F9148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218" y="404664"/>
            <a:ext cx="6965245" cy="1202485"/>
          </a:xfrm>
        </p:spPr>
        <p:txBody>
          <a:bodyPr>
            <a:normAutofit/>
          </a:bodyPr>
          <a:lstStyle/>
          <a:p>
            <a:r>
              <a:rPr lang="cs-CZ" dirty="0"/>
              <a:t>Ukázka upraveného grafu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72E5AD2-B4DF-44A3-B468-5285857D2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22</a:t>
            </a:fld>
            <a:endParaRPr lang="cs-CZ"/>
          </a:p>
        </p:txBody>
      </p:sp>
      <p:graphicFrame>
        <p:nvGraphicFramePr>
          <p:cNvPr id="7" name="Zástupný symbol pro obsah 6">
            <a:extLst>
              <a:ext uri="{FF2B5EF4-FFF2-40B4-BE49-F238E27FC236}">
                <a16:creationId xmlns:a16="http://schemas.microsoft.com/office/drawing/2014/main" id="{4995521E-FE5F-47A7-B057-AFDCB924D66F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939373663"/>
              </p:ext>
            </p:extLst>
          </p:nvPr>
        </p:nvGraphicFramePr>
        <p:xfrm>
          <a:off x="1191156" y="1607149"/>
          <a:ext cx="6761688" cy="45831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0041936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7875AD5-66DB-74E5-7B7D-E13D962F7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60986AC-40EA-E6A1-4D06-9B4E0C929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KUBÁLEK, Tomáš a KUBÁLKOVÁ, Markéta. </a:t>
            </a:r>
            <a:r>
              <a:rPr lang="cs-CZ" b="0" i="1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MS Office XP: prezentační program MICROSOFT POWERPOINT : verze 2002 CZ</a:t>
            </a:r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. 2. vyd. Manažerská informatika (</a:t>
            </a:r>
            <a:r>
              <a:rPr lang="cs-CZ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Oeconomica</a:t>
            </a:r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). Praha: </a:t>
            </a:r>
            <a:r>
              <a:rPr lang="cs-CZ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Oeconomica</a:t>
            </a:r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, 2006. ISBN 80-245-1017-0.</a:t>
            </a:r>
          </a:p>
          <a:p>
            <a:r>
              <a:rPr lang="cs-CZ" dirty="0">
                <a:solidFill>
                  <a:srgbClr val="212529"/>
                </a:solidFill>
                <a:latin typeface="Open Sans" panose="020B0606030504020204" pitchFamily="34" charset="0"/>
              </a:rPr>
              <a:t>Microsoft </a:t>
            </a:r>
            <a:r>
              <a:rPr lang="cs-CZ" dirty="0" err="1">
                <a:solidFill>
                  <a:srgbClr val="212529"/>
                </a:solidFill>
                <a:latin typeface="Open Sans" panose="020B0606030504020204" pitchFamily="34" charset="0"/>
              </a:rPr>
              <a:t>Corporation</a:t>
            </a:r>
            <a:r>
              <a:rPr lang="cs-CZ" dirty="0">
                <a:solidFill>
                  <a:srgbClr val="212529"/>
                </a:solidFill>
                <a:latin typeface="Open Sans" panose="020B0606030504020204" pitchFamily="34" charset="0"/>
              </a:rPr>
              <a:t>. (2022). Microsoft PowerPoint (Verze 16.0). Software. https://www.microsoft.com/powerpoint</a:t>
            </a:r>
          </a:p>
        </p:txBody>
      </p:sp>
    </p:spTree>
    <p:extLst>
      <p:ext uri="{BB962C8B-B14F-4D97-AF65-F5344CB8AC3E}">
        <p14:creationId xmlns:p14="http://schemas.microsoft.com/office/powerpoint/2010/main" val="20070983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Špendlík">
  <a:themeElements>
    <a:clrScheme name="Špendlík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Špendlík">
      <a:majorFont>
        <a:latin typeface="Constantia"/>
        <a:ea typeface=""/>
        <a:cs typeface=""/>
        <a:font script="Jpan" typeface="HGS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Arial"/>
        <a:font script="Cyrl" typeface="Arial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Špendlí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  <a:lumMod val="100000"/>
              </a:schemeClr>
            </a:gs>
            <a:gs pos="40000">
              <a:schemeClr val="phClr">
                <a:tint val="60000"/>
                <a:satMod val="130000"/>
                <a:lumMod val="100000"/>
              </a:schemeClr>
            </a:gs>
            <a:gs pos="100000">
              <a:schemeClr val="phClr">
                <a:tint val="96000"/>
                <a:lumMod val="108000"/>
              </a:schemeClr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>
                <a:shade val="76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80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38100" dir="4800000" sx="98000" sy="98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38100" dist="38100" dir="4800000" sx="96000" sy="96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3240000"/>
            </a:lightRig>
          </a:scene3d>
          <a:sp3d>
            <a:bevelT w="28575" h="28575"/>
          </a:sp3d>
        </a:effectStyle>
      </a:effectStyleLst>
      <a:bgFillStyleLst>
        <a:solidFill>
          <a:schemeClr val="phClr">
            <a:tint val="93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satMod val="140000"/>
                <a:lumMod val="50000"/>
              </a:schemeClr>
              <a:schemeClr val="phClr">
                <a:tint val="95000"/>
                <a:satMod val="180000"/>
                <a:lumMod val="16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  <a:shade val="90000"/>
                <a:satMod val="120000"/>
                <a:lumMod val="54000"/>
              </a:schemeClr>
              <a:schemeClr val="phClr">
                <a:tint val="80000"/>
                <a:satMod val="160000"/>
                <a:lumMod val="14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5160</TotalTime>
  <Words>371</Words>
  <Application>Microsoft Office PowerPoint</Application>
  <PresentationFormat>Předvádění na obrazovce (4:3)</PresentationFormat>
  <Paragraphs>84</Paragraphs>
  <Slides>23</Slides>
  <Notes>2</Notes>
  <HiddenSlides>0</HiddenSlides>
  <MMClips>0</MMClips>
  <ScaleCrop>false</ScaleCrop>
  <HeadingPairs>
    <vt:vector size="6" baseType="variant">
      <vt:variant>
        <vt:lpstr>Použitá písma</vt:lpstr>
      </vt:variant>
      <vt:variant>
        <vt:i4>6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23</vt:i4>
      </vt:variant>
    </vt:vector>
  </HeadingPairs>
  <TitlesOfParts>
    <vt:vector size="30" baseType="lpstr">
      <vt:lpstr>Brush Script MT</vt:lpstr>
      <vt:lpstr>Calibri</vt:lpstr>
      <vt:lpstr>Constantia</vt:lpstr>
      <vt:lpstr>Franklin Gothic Book</vt:lpstr>
      <vt:lpstr>Open Sans</vt:lpstr>
      <vt:lpstr>Rage Italic</vt:lpstr>
      <vt:lpstr>Špendlík</vt:lpstr>
      <vt:lpstr>Grafy v PowerPointu</vt:lpstr>
      <vt:lpstr>Výběr typu grafu</vt:lpstr>
      <vt:lpstr>Typy grafů</vt:lpstr>
      <vt:lpstr>Sloupcový graf</vt:lpstr>
      <vt:lpstr>Spojnicový graf</vt:lpstr>
      <vt:lpstr>Výsečový graf</vt:lpstr>
      <vt:lpstr>Pruhový graf</vt:lpstr>
      <vt:lpstr>Plošný graf</vt:lpstr>
      <vt:lpstr>Stromová mapa</vt:lpstr>
      <vt:lpstr>Krabicový graf</vt:lpstr>
      <vt:lpstr>Vodopádový graf</vt:lpstr>
      <vt:lpstr>Vytváření grafů</vt:lpstr>
      <vt:lpstr>Způsoby vložení grafu</vt:lpstr>
      <vt:lpstr>Tvorba grafu</vt:lpstr>
      <vt:lpstr>Prezentace aplikace PowerPoint</vt:lpstr>
      <vt:lpstr>Úprava grafu</vt:lpstr>
      <vt:lpstr>Prezentace aplikace PowerPoint</vt:lpstr>
      <vt:lpstr>Prezentace aplikace PowerPoint</vt:lpstr>
      <vt:lpstr>Úpravy grafu</vt:lpstr>
      <vt:lpstr>Prezentace aplikace PowerPoint</vt:lpstr>
      <vt:lpstr>Prezentace aplikace PowerPoint</vt:lpstr>
      <vt:lpstr>Ukázka upraveného grafu</vt:lpstr>
      <vt:lpstr>Zdroje</vt:lpstr>
    </vt:vector>
  </TitlesOfParts>
  <Company>Univerzita Pardubice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Úvod do PowerPointu</dc:title>
  <dc:creator>UPa</dc:creator>
  <cp:lastModifiedBy>Votavová Gabriela</cp:lastModifiedBy>
  <cp:revision>69</cp:revision>
  <cp:lastPrinted>2018-04-23T12:43:07Z</cp:lastPrinted>
  <dcterms:created xsi:type="dcterms:W3CDTF">2012-06-27T10:00:20Z</dcterms:created>
  <dcterms:modified xsi:type="dcterms:W3CDTF">2024-01-09T19:45:16Z</dcterms:modified>
</cp:coreProperties>
</file>