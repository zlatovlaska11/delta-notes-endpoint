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notesSlides/notesSlide4.xml" ContentType="application/vnd.openxmlformats-officedocument.presentationml.notesSlid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notesSlides/notesSlide5.xml" ContentType="application/vnd.openxmlformats-officedocument.presentationml.notesSlid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notesSlides/notesSlide6.xml" ContentType="application/vnd.openxmlformats-officedocument.presentationml.notesSlid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charts/chart8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ppt/charts/chart9.xml" ContentType="application/vnd.openxmlformats-officedocument.drawingml.chart+xml"/>
  <Override PartName="/ppt/charts/style9.xml" ContentType="application/vnd.ms-office.chartstyle+xml"/>
  <Override PartName="/ppt/charts/colors9.xml" ContentType="application/vnd.ms-office.chartcolorstyle+xml"/>
  <Override PartName="/ppt/charts/chart10.xml" ContentType="application/vnd.openxmlformats-officedocument.drawingml.chart+xml"/>
  <Override PartName="/ppt/charts/style10.xml" ContentType="application/vnd.ms-office.chartstyle+xml"/>
  <Override PartName="/ppt/charts/colors10.xml" ContentType="application/vnd.ms-office.chartcolorstyle+xml"/>
  <Override PartName="/ppt/charts/chart11.xml" ContentType="application/vnd.openxmlformats-officedocument.drawingml.chart+xml"/>
  <Override PartName="/ppt/charts/style11.xml" ContentType="application/vnd.ms-office.chartstyle+xml"/>
  <Override PartName="/ppt/charts/colors11.xml" ContentType="application/vnd.ms-office.chartcolorstyle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charts/style12.xml" ContentType="application/vnd.ms-office.chartstyle+xml"/>
  <Override PartName="/ppt/charts/colors12.xml" ContentType="application/vnd.ms-office.chartcolorstyle+xml"/>
  <Override PartName="/ppt/charts/chart14.xml" ContentType="application/vnd.openxmlformats-officedocument.drawingml.chart+xml"/>
  <Override PartName="/ppt/charts/style13.xml" ContentType="application/vnd.ms-office.chartstyle+xml"/>
  <Override PartName="/ppt/charts/colors13.xml" ContentType="application/vnd.ms-office.chartcolorstyle+xml"/>
  <Override PartName="/ppt/charts/chart15.xml" ContentType="application/vnd.openxmlformats-officedocument.drawingml.chart+xml"/>
  <Override PartName="/ppt/charts/style14.xml" ContentType="application/vnd.ms-office.chartstyle+xml"/>
  <Override PartName="/ppt/charts/colors14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90" r:id="rId1"/>
  </p:sldMasterIdLst>
  <p:notesMasterIdLst>
    <p:notesMasterId r:id="rId26"/>
  </p:notesMasterIdLst>
  <p:sldIdLst>
    <p:sldId id="269" r:id="rId2"/>
    <p:sldId id="257" r:id="rId3"/>
    <p:sldId id="270" r:id="rId4"/>
    <p:sldId id="272" r:id="rId5"/>
    <p:sldId id="273" r:id="rId6"/>
    <p:sldId id="258" r:id="rId7"/>
    <p:sldId id="274" r:id="rId8"/>
    <p:sldId id="275" r:id="rId9"/>
    <p:sldId id="276" r:id="rId10"/>
    <p:sldId id="277" r:id="rId11"/>
    <p:sldId id="260" r:id="rId12"/>
    <p:sldId id="261" r:id="rId13"/>
    <p:sldId id="279" r:id="rId14"/>
    <p:sldId id="263" r:id="rId15"/>
    <p:sldId id="280" r:id="rId16"/>
    <p:sldId id="282" r:id="rId17"/>
    <p:sldId id="281" r:id="rId18"/>
    <p:sldId id="264" r:id="rId19"/>
    <p:sldId id="266" r:id="rId20"/>
    <p:sldId id="267" r:id="rId21"/>
    <p:sldId id="284" r:id="rId22"/>
    <p:sldId id="278" r:id="rId23"/>
    <p:sldId id="285" r:id="rId24"/>
    <p:sldId id="283" r:id="rId2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řední styl 2 – zvýraznění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1526" autoAdjust="0"/>
    <p:restoredTop sz="88746" autoAdjust="0"/>
  </p:normalViewPr>
  <p:slideViewPr>
    <p:cSldViewPr snapToGrid="0">
      <p:cViewPr varScale="1">
        <p:scale>
          <a:sx n="56" d="100"/>
          <a:sy n="56" d="100"/>
        </p:scale>
        <p:origin x="748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4.xlsx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5.xlsx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microsoft.com/office/2011/relationships/chartColorStyle" Target="colors7.xml"/><Relationship Id="rId1" Type="http://schemas.microsoft.com/office/2011/relationships/chartStyle" Target="style7.xml"/><Relationship Id="rId4" Type="http://schemas.openxmlformats.org/officeDocument/2006/relationships/package" Target="../embeddings/Microsoft_Excel_Worksheet6.xlsx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7" Type="http://schemas.openxmlformats.org/officeDocument/2006/relationships/package" Target="../embeddings/Microsoft_Excel_Worksheet7.xlsx"/><Relationship Id="rId2" Type="http://schemas.microsoft.com/office/2011/relationships/chartColorStyle" Target="colors8.xml"/><Relationship Id="rId1" Type="http://schemas.microsoft.com/office/2011/relationships/chartStyle" Target="style8.xml"/><Relationship Id="rId6" Type="http://schemas.openxmlformats.org/officeDocument/2006/relationships/hyperlink" Target="https://fotkyzadarmo.sk/cervene-jablko/" TargetMode="External"/><Relationship Id="rId5" Type="http://schemas.openxmlformats.org/officeDocument/2006/relationships/image" Target="../media/image18.jpg"/><Relationship Id="rId4" Type="http://schemas.openxmlformats.org/officeDocument/2006/relationships/image" Target="../media/image17.jpg"/></Relationships>
</file>

<file path=ppt/charts/_rels/chart9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8.xlsx"/><Relationship Id="rId2" Type="http://schemas.microsoft.com/office/2011/relationships/chartColorStyle" Target="colors9.xml"/><Relationship Id="rId1" Type="http://schemas.microsoft.com/office/2011/relationships/chartStyle" Target="style9.xml"/></Relationships>
</file>

<file path=ppt/charts/_rels/chart10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9.xlsx"/><Relationship Id="rId2" Type="http://schemas.microsoft.com/office/2011/relationships/chartColorStyle" Target="colors10.xml"/><Relationship Id="rId1" Type="http://schemas.microsoft.com/office/2011/relationships/chartStyle" Target="style10.xml"/></Relationships>
</file>

<file path=ppt/charts/_rels/chart1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0.xlsx"/><Relationship Id="rId2" Type="http://schemas.microsoft.com/office/2011/relationships/chartColorStyle" Target="colors11.xml"/><Relationship Id="rId1" Type="http://schemas.microsoft.com/office/2011/relationships/chartStyle" Target="style11.xml"/></Relationships>
</file>

<file path=ppt/charts/_rels/chart1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1.xlsx"/></Relationships>
</file>

<file path=ppt/charts/_rels/chart1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2.xlsx"/><Relationship Id="rId2" Type="http://schemas.microsoft.com/office/2011/relationships/chartColorStyle" Target="colors12.xml"/><Relationship Id="rId1" Type="http://schemas.microsoft.com/office/2011/relationships/chartStyle" Target="style12.xml"/></Relationships>
</file>

<file path=ppt/charts/_rels/chart1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3.xlsx"/><Relationship Id="rId2" Type="http://schemas.microsoft.com/office/2011/relationships/chartColorStyle" Target="colors13.xml"/><Relationship Id="rId1" Type="http://schemas.microsoft.com/office/2011/relationships/chartStyle" Target="style13.xml"/></Relationships>
</file>

<file path=ppt/charts/_rels/chart1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4.xlsx"/><Relationship Id="rId2" Type="http://schemas.microsoft.com/office/2011/relationships/chartColorStyle" Target="colors14.xml"/><Relationship Id="rId1" Type="http://schemas.microsoft.com/office/2011/relationships/chartStyle" Target="style14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cs-CZ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cs-CZ" dirty="0"/>
              <a:t>Sběr – školní rok 2016/2017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cs-CZ"/>
        </a:p>
      </c:txPr>
    </c:title>
    <c:autoTitleDeleted val="0"/>
    <c:view3D>
      <c:rotX val="15"/>
      <c:rotY val="20"/>
      <c:depthPercent val="100"/>
      <c:rAngAx val="1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/>
      <c:bar3DChart>
        <c:barDir val="col"/>
        <c:grouping val="clustered"/>
        <c:varyColors val="0"/>
        <c:ser>
          <c:idx val="0"/>
          <c:order val="0"/>
          <c:tx>
            <c:strRef>
              <c:f>List1!$B$1</c:f>
              <c:strCache>
                <c:ptCount val="1"/>
                <c:pt idx="0">
                  <c:v>třída 7A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  <a:sp3d/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fld id="{E70A5B59-6770-4717-80FC-85D9E8626EE1}" type="SERIESNAME">
                      <a:rPr lang="en-US" smtClean="0"/>
                      <a:pPr/>
                      <a:t>[NÁZEV ŘADY]</a:t>
                    </a:fld>
                    <a:r>
                      <a:rPr lang="en-US" baseline="0" dirty="0"/>
                      <a:t>,</a:t>
                    </a:r>
                  </a:p>
                  <a:p>
                    <a:r>
                      <a:rPr lang="en-US" baseline="0" dirty="0"/>
                      <a:t> </a:t>
                    </a:r>
                    <a:fld id="{0BDE2BF6-8175-4FCB-A07E-9116FDF61A60}" type="VALUE">
                      <a:rPr lang="en-US" baseline="0"/>
                      <a:pPr/>
                      <a:t>[HODNOTA]</a:t>
                    </a:fld>
                    <a:endParaRPr lang="en-US" baseline="0" dirty="0"/>
                  </a:p>
                </c:rich>
              </c:tx>
              <c:showLegendKey val="0"/>
              <c:showVal val="1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3-C0E0-4613-BEBF-52CCB6E5D920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fld id="{2DDB17BD-E8C2-4536-89AB-5A31675DB0AE}" type="SERIESNAME">
                      <a:rPr lang="en-US" smtClean="0"/>
                      <a:pPr/>
                      <a:t>[NÁZEV ŘADY]</a:t>
                    </a:fld>
                    <a:r>
                      <a:rPr lang="en-US" baseline="0" dirty="0"/>
                      <a:t>,</a:t>
                    </a:r>
                  </a:p>
                  <a:p>
                    <a:r>
                      <a:rPr lang="en-US" baseline="0" dirty="0"/>
                      <a:t> </a:t>
                    </a:r>
                    <a:fld id="{FD518CD2-274A-468A-9B3B-0FC37CB84A1B}" type="VALUE">
                      <a:rPr lang="en-US" baseline="0"/>
                      <a:pPr/>
                      <a:t>[HODNOTA]</a:t>
                    </a:fld>
                    <a:endParaRPr lang="en-US" baseline="0" dirty="0"/>
                  </a:p>
                </c:rich>
              </c:tx>
              <c:showLegendKey val="0"/>
              <c:showVal val="1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4-C0E0-4613-BEBF-52CCB6E5D920}"/>
                </c:ext>
              </c:extLst>
            </c:dLbl>
            <c:spPr>
              <a:solidFill>
                <a:prstClr val="white"/>
              </a:solidFill>
              <a:ln>
                <a:solidFill>
                  <a:prstClr val="black">
                    <a:lumMod val="25000"/>
                    <a:lumOff val="75000"/>
                  </a:prstClr>
                </a:solidFill>
              </a:ln>
              <a:effectLst/>
            </c:spPr>
            <c:txPr>
              <a:bodyPr rot="0" spcFirstLastPara="1" vertOverflow="clip" horzOverflow="clip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dk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cs-CZ"/>
              </a:p>
            </c:txPr>
            <c:showLegendKey val="0"/>
            <c:showVal val="1"/>
            <c:showCatName val="1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wedgeRectCallout">
                    <a:avLst/>
                  </a:prstGeom>
                  <a:noFill/>
                  <a:ln>
                    <a:noFill/>
                  </a:ln>
                </c15:spPr>
                <c15:showLeaderLines val="0"/>
              </c:ext>
            </c:extLst>
          </c:dLbls>
          <c:cat>
            <c:strRef>
              <c:f>List1!$A$2:$A$5</c:f>
              <c:strCache>
                <c:ptCount val="2"/>
                <c:pt idx="0">
                  <c:v>papír</c:v>
                </c:pt>
                <c:pt idx="1">
                  <c:v>plasty</c:v>
                </c:pt>
              </c:strCache>
            </c:strRef>
          </c:cat>
          <c:val>
            <c:numRef>
              <c:f>List1!$B$2:$B$5</c:f>
              <c:numCache>
                <c:formatCode>General</c:formatCode>
                <c:ptCount val="4"/>
                <c:pt idx="0">
                  <c:v>93.5</c:v>
                </c:pt>
                <c:pt idx="1">
                  <c:v>150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0E0-4613-BEBF-52CCB6E5D920}"/>
            </c:ext>
          </c:extLst>
        </c:ser>
        <c:ser>
          <c:idx val="1"/>
          <c:order val="1"/>
          <c:tx>
            <c:strRef>
              <c:f>List1!$C$1</c:f>
              <c:strCache>
                <c:ptCount val="1"/>
                <c:pt idx="0">
                  <c:v>třída 7B</c:v>
                </c:pt>
              </c:strCache>
            </c:strRef>
          </c:tx>
          <c:spPr>
            <a:solidFill>
              <a:srgbClr val="FFFF00"/>
            </a:solidFill>
            <a:ln>
              <a:noFill/>
            </a:ln>
            <a:effectLst/>
            <a:sp3d/>
          </c:spPr>
          <c:invertIfNegative val="0"/>
          <c:dLbls>
            <c:dLbl>
              <c:idx val="0"/>
              <c:layout>
                <c:manualLayout>
                  <c:x val="0"/>
                  <c:y val="9.6945644344095777E-2"/>
                </c:manualLayout>
              </c:layout>
              <c:tx>
                <c:rich>
                  <a:bodyPr rot="0" spcFirstLastPara="1" vertOverflow="ellipsis" vert="horz" wrap="square" lIns="38100" tIns="19050" rIns="38100" bIns="19050" anchor="ctr" anchorCtr="1">
                    <a:spAutoFit/>
                  </a:bodyPr>
                  <a:lstStyle/>
                  <a:p>
                    <a:pPr>
                      <a:defRPr sz="1197" b="0" i="0" u="none" strike="noStrike" kern="1200" baseline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defRPr>
                    </a:pPr>
                    <a:fld id="{F70AFF8C-F8B1-4586-831D-43BFA6F14E64}" type="SERIESNAME">
                      <a:rPr lang="en-US" smtClean="0">
                        <a:solidFill>
                          <a:schemeClr val="bg1"/>
                        </a:solidFill>
                      </a:rPr>
                      <a:pPr>
                        <a:defRPr>
                          <a:solidFill>
                            <a:schemeClr val="bg1"/>
                          </a:solidFill>
                        </a:defRPr>
                      </a:pPr>
                      <a:t>[NÁZEV ŘADY]</a:t>
                    </a:fld>
                    <a:endParaRPr lang="en-US" dirty="0">
                      <a:solidFill>
                        <a:schemeClr val="bg1"/>
                      </a:solidFill>
                    </a:endParaRPr>
                  </a:p>
                  <a:p>
                    <a:pPr>
                      <a:defRPr>
                        <a:solidFill>
                          <a:schemeClr val="bg1"/>
                        </a:solidFill>
                      </a:defRPr>
                    </a:pPr>
                    <a:fld id="{ECF62E41-FF85-4B1A-9D05-11A590E790E4}" type="VALUE">
                      <a:rPr lang="en-US" smtClean="0">
                        <a:solidFill>
                          <a:schemeClr val="bg1"/>
                        </a:solidFill>
                      </a:rPr>
                      <a:pPr>
                        <a:defRPr>
                          <a:solidFill>
                            <a:schemeClr val="bg1"/>
                          </a:solidFill>
                        </a:defRPr>
                      </a:pPr>
                      <a:t>[HODNOTA]</a:t>
                    </a:fld>
                    <a:endParaRPr lang="cs-CZ"/>
                  </a:p>
                </c:rich>
              </c:tx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197" b="0" i="0" u="none" strike="noStrike" kern="1200" baseline="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cs-CZ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5-C0E0-4613-BEBF-52CCB6E5D920}"/>
                </c:ext>
              </c:extLst>
            </c:dLbl>
            <c:dLbl>
              <c:idx val="1"/>
              <c:layout>
                <c:manualLayout>
                  <c:x val="-1.2303646636169379E-3"/>
                  <c:y val="9.458111643326414E-2"/>
                </c:manualLayout>
              </c:layout>
              <c:tx>
                <c:rich>
                  <a:bodyPr/>
                  <a:lstStyle/>
                  <a:p>
                    <a:fld id="{F8294A18-BE71-4D65-A3DE-968F919ADE69}" type="SERIESNAME">
                      <a:rPr lang="en-US" sz="1000" b="0" i="0" u="none" strike="noStrike" kern="1200" baseline="0" smtClean="0">
                        <a:solidFill>
                          <a:schemeClr val="bg1"/>
                        </a:solidFill>
                      </a:rPr>
                      <a:pPr/>
                      <a:t>[NÁZEV ŘADY]</a:t>
                    </a:fld>
                    <a:endParaRPr lang="en-US" sz="1000" b="0" i="0" u="none" strike="noStrike" kern="1200" baseline="0" dirty="0">
                      <a:solidFill>
                        <a:schemeClr val="bg1"/>
                      </a:solidFill>
                    </a:endParaRPr>
                  </a:p>
                  <a:p>
                    <a:fld id="{A82BFE10-7C83-45F7-9411-165259CB3708}" type="VALUE">
                      <a:rPr lang="en-US" sz="1000" b="0" i="0" u="none" strike="noStrike" kern="1200" baseline="0" smtClean="0">
                        <a:solidFill>
                          <a:schemeClr val="bg1"/>
                        </a:solidFill>
                      </a:rPr>
                      <a:pPr/>
                      <a:t>[HODNOTA]</a:t>
                    </a:fld>
                    <a:endParaRPr lang="cs-CZ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6-C0E0-4613-BEBF-52CCB6E5D920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cs-CZ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List1!$A$2:$A$5</c:f>
              <c:strCache>
                <c:ptCount val="2"/>
                <c:pt idx="0">
                  <c:v>papír</c:v>
                </c:pt>
                <c:pt idx="1">
                  <c:v>plasty</c:v>
                </c:pt>
              </c:strCache>
            </c:strRef>
          </c:cat>
          <c:val>
            <c:numRef>
              <c:f>List1!$C$2:$C$5</c:f>
              <c:numCache>
                <c:formatCode>General</c:formatCode>
                <c:ptCount val="4"/>
                <c:pt idx="0">
                  <c:v>127</c:v>
                </c:pt>
                <c:pt idx="1">
                  <c:v>135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0E0-4613-BEBF-52CCB6E5D920}"/>
            </c:ext>
          </c:extLst>
        </c:ser>
        <c:ser>
          <c:idx val="2"/>
          <c:order val="2"/>
          <c:tx>
            <c:strRef>
              <c:f>List1!$D$1</c:f>
              <c:strCache>
                <c:ptCount val="1"/>
                <c:pt idx="0">
                  <c:v>Sloupec1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  <a:sp3d/>
          </c:spPr>
          <c:invertIfNegative val="0"/>
          <c:cat>
            <c:strRef>
              <c:f>List1!$A$2:$A$5</c:f>
              <c:strCache>
                <c:ptCount val="2"/>
                <c:pt idx="0">
                  <c:v>papír</c:v>
                </c:pt>
                <c:pt idx="1">
                  <c:v>plasty</c:v>
                </c:pt>
              </c:strCache>
            </c:strRef>
          </c:cat>
          <c:val>
            <c:numRef>
              <c:f>List1!$D$2:$D$5</c:f>
              <c:numCache>
                <c:formatCode>General</c:formatCode>
                <c:ptCount val="4"/>
              </c:numCache>
            </c:numRef>
          </c:val>
          <c:extLst>
            <c:ext xmlns:c16="http://schemas.microsoft.com/office/drawing/2014/chart" uri="{C3380CC4-5D6E-409C-BE32-E72D297353CC}">
              <c16:uniqueId val="{00000000-16D4-4446-9F6D-FD44DFF8E50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00"/>
        <c:shape val="box"/>
        <c:axId val="1912916207"/>
        <c:axId val="1909814655"/>
        <c:axId val="0"/>
      </c:bar3DChart>
      <c:catAx>
        <c:axId val="1912916207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33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cs-CZ" dirty="0"/>
                  <a:t>Druhotná surovina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33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cs-CZ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cs-CZ"/>
          </a:p>
        </c:txPr>
        <c:crossAx val="1909814655"/>
        <c:crosses val="autoZero"/>
        <c:auto val="1"/>
        <c:lblAlgn val="ctr"/>
        <c:lblOffset val="100"/>
        <c:noMultiLvlLbl val="0"/>
      </c:catAx>
      <c:valAx>
        <c:axId val="190981465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cs-CZ"/>
          </a:p>
        </c:txPr>
        <c:crossAx val="1912916207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.91379542019520554"/>
          <c:y val="0.45459538552138129"/>
          <c:w val="8.6204590668204698E-2"/>
          <c:h val="0.17142566917323321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cs-CZ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cs-CZ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cs-CZ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cs-CZ" dirty="0"/>
              <a:t>Sběr – školní rok 2016/2017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cs-CZ"/>
        </a:p>
      </c:txPr>
    </c:title>
    <c:autoTitleDeleted val="0"/>
    <c:view3D>
      <c:rotX val="15"/>
      <c:rotY val="20"/>
      <c:rAngAx val="0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>
        <c:manualLayout>
          <c:layoutTarget val="inner"/>
          <c:xMode val="edge"/>
          <c:yMode val="edge"/>
          <c:x val="9.3095784470337201E-2"/>
          <c:y val="0.11309536997507562"/>
          <c:w val="0.79369003122704262"/>
          <c:h val="0.77148010696602953"/>
        </c:manualLayout>
      </c:layout>
      <c:area3DChart>
        <c:grouping val="standard"/>
        <c:varyColors val="0"/>
        <c:ser>
          <c:idx val="0"/>
          <c:order val="0"/>
          <c:tx>
            <c:strRef>
              <c:f>List1!$B$1</c:f>
              <c:strCache>
                <c:ptCount val="1"/>
                <c:pt idx="0">
                  <c:v>třída 7A</c:v>
                </c:pt>
              </c:strCache>
            </c:strRef>
          </c:tx>
          <c:spPr>
            <a:solidFill>
              <a:srgbClr val="FFFF00"/>
            </a:solidFill>
            <a:ln>
              <a:noFill/>
            </a:ln>
            <a:effectLst/>
            <a:sp3d/>
          </c:spPr>
          <c:dLbls>
            <c:dLbl>
              <c:idx val="0"/>
              <c:tx>
                <c:rich>
                  <a:bodyPr rot="0" spcFirstLastPara="1" vertOverflow="ellipsis" vert="horz" wrap="square" lIns="38100" tIns="19050" rIns="38100" bIns="19050" anchor="ctr" anchorCtr="1">
                    <a:spAutoFit/>
                  </a:bodyPr>
                  <a:lstStyle/>
                  <a:p>
                    <a:pPr>
                      <a:defRPr sz="1197" b="0" i="0" u="none" strike="noStrike" kern="1200" baseline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ea typeface="+mn-ea"/>
                        <a:cs typeface="+mn-cs"/>
                      </a:defRPr>
                    </a:pPr>
                    <a:fld id="{9EE4350E-3118-4FDB-8DD2-F95011DDC295}" type="SERIESNAME">
                      <a:rPr lang="en-US" smtClean="0"/>
                      <a:pPr>
                        <a:defRPr/>
                      </a:pPr>
                      <a:t>[NÁZEV ŘADY]</a:t>
                    </a:fld>
                    <a:endParaRPr lang="en-US" dirty="0"/>
                  </a:p>
                  <a:p>
                    <a:pPr>
                      <a:defRPr/>
                    </a:pPr>
                    <a:fld id="{F780EB99-86DC-4680-95E2-CCF1B6398E8C}" type="VALUE">
                      <a:rPr lang="en-US" smtClean="0"/>
                      <a:pPr>
                        <a:defRPr/>
                      </a:pPr>
                      <a:t>[HODNOTA]</a:t>
                    </a:fld>
                    <a:endParaRPr lang="cs-CZ"/>
                  </a:p>
                </c:rich>
              </c:tx>
              <c:spPr>
                <a:noFill/>
                <a:ln>
                  <a:solidFill>
                    <a:schemeClr val="tx1"/>
                  </a:solidFill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197" b="0" i="0" u="none" strike="noStrike" kern="1200" baseline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cs-CZ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3-4338-4851-9492-53046D51986D}"/>
                </c:ext>
              </c:extLst>
            </c:dLbl>
            <c:dLbl>
              <c:idx val="1"/>
              <c:tx>
                <c:rich>
                  <a:bodyPr rot="0" spcFirstLastPara="1" vertOverflow="ellipsis" vert="horz" wrap="square" lIns="38100" tIns="19050" rIns="38100" bIns="19050" anchor="ctr" anchorCtr="1">
                    <a:spAutoFit/>
                  </a:bodyPr>
                  <a:lstStyle/>
                  <a:p>
                    <a:pPr>
                      <a:defRPr sz="1197" b="0" i="0" u="none" strike="noStrike" kern="1200" baseline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ea typeface="+mn-ea"/>
                        <a:cs typeface="+mn-cs"/>
                      </a:defRPr>
                    </a:pPr>
                    <a:fld id="{1126C1AD-2A9A-45B4-B072-4933DB9A2647}" type="SERIESNAME">
                      <a:rPr lang="en-US" smtClean="0"/>
                      <a:pPr>
                        <a:defRPr/>
                      </a:pPr>
                      <a:t>[NÁZEV ŘADY]</a:t>
                    </a:fld>
                    <a:endParaRPr lang="en-US" dirty="0"/>
                  </a:p>
                  <a:p>
                    <a:pPr>
                      <a:defRPr/>
                    </a:pPr>
                    <a:fld id="{0F930019-1D72-4735-A6AB-18F3D8FC165A}" type="VALUE">
                      <a:rPr lang="en-US" smtClean="0"/>
                      <a:pPr>
                        <a:defRPr/>
                      </a:pPr>
                      <a:t>[HODNOTA]</a:t>
                    </a:fld>
                    <a:endParaRPr lang="cs-CZ"/>
                  </a:p>
                </c:rich>
              </c:tx>
              <c:spPr>
                <a:noFill/>
                <a:ln>
                  <a:solidFill>
                    <a:schemeClr val="tx1"/>
                  </a:solidFill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197" b="0" i="0" u="none" strike="noStrike" kern="1200" baseline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cs-CZ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2-4338-4851-9492-53046D51986D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cs-CZ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List1!$A$2:$A$5</c:f>
              <c:strCache>
                <c:ptCount val="2"/>
                <c:pt idx="0">
                  <c:v>papír</c:v>
                </c:pt>
                <c:pt idx="1">
                  <c:v>plasty</c:v>
                </c:pt>
              </c:strCache>
            </c:strRef>
          </c:cat>
          <c:val>
            <c:numRef>
              <c:f>List1!$B$2:$B$5</c:f>
              <c:numCache>
                <c:formatCode>General</c:formatCode>
                <c:ptCount val="2"/>
                <c:pt idx="0">
                  <c:v>93.5</c:v>
                </c:pt>
                <c:pt idx="1">
                  <c:v>150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0E0-4613-BEBF-52CCB6E5D920}"/>
            </c:ext>
          </c:extLst>
        </c:ser>
        <c:ser>
          <c:idx val="1"/>
          <c:order val="1"/>
          <c:tx>
            <c:strRef>
              <c:f>List1!$C$1</c:f>
              <c:strCache>
                <c:ptCount val="1"/>
                <c:pt idx="0">
                  <c:v>třída 7B</c:v>
                </c:pt>
              </c:strCache>
            </c:strRef>
          </c:tx>
          <c:spPr>
            <a:solidFill>
              <a:schemeClr val="accent2">
                <a:lumMod val="75000"/>
              </a:schemeClr>
            </a:solidFill>
            <a:ln>
              <a:noFill/>
            </a:ln>
            <a:effectLst/>
            <a:sp3d/>
          </c:spPr>
          <c:dLbls>
            <c:dLbl>
              <c:idx val="0"/>
              <c:tx>
                <c:rich>
                  <a:bodyPr/>
                  <a:lstStyle/>
                  <a:p>
                    <a:fld id="{EF79F42B-3328-4E94-99CE-1875B7ED99C9}" type="SERIESNAME">
                      <a:rPr lang="en-US" smtClean="0"/>
                      <a:pPr/>
                      <a:t>[NÁZEV ŘADY]</a:t>
                    </a:fld>
                    <a:endParaRPr lang="en-US" dirty="0"/>
                  </a:p>
                  <a:p>
                    <a:fld id="{E43A4FCB-2085-4A55-95B7-B6BDA6DB951C}" type="VALUE">
                      <a:rPr lang="en-US" smtClean="0"/>
                      <a:pPr/>
                      <a:t>[HODNOTA]</a:t>
                    </a:fld>
                    <a:endParaRPr lang="cs-CZ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1-4338-4851-9492-53046D51986D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fld id="{06A14FA0-AE53-45E1-AB59-D9A5B0D42DD5}" type="SERIESNAME">
                      <a:rPr lang="en-US" smtClean="0"/>
                      <a:pPr/>
                      <a:t>[NÁZEV ŘADY]</a:t>
                    </a:fld>
                    <a:endParaRPr lang="en-US" dirty="0"/>
                  </a:p>
                  <a:p>
                    <a:fld id="{07A2D849-D0C2-4A53-A58A-A1BEE410F3BE}" type="VALUE">
                      <a:rPr lang="en-US" smtClean="0"/>
                      <a:pPr/>
                      <a:t>[HODNOTA]</a:t>
                    </a:fld>
                    <a:endParaRPr lang="cs-CZ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0-4338-4851-9492-53046D51986D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cs-CZ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List1!$A$2:$A$5</c:f>
              <c:strCache>
                <c:ptCount val="2"/>
                <c:pt idx="0">
                  <c:v>papír</c:v>
                </c:pt>
                <c:pt idx="1">
                  <c:v>plasty</c:v>
                </c:pt>
              </c:strCache>
            </c:strRef>
          </c:cat>
          <c:val>
            <c:numRef>
              <c:f>List1!$C$2:$C$5</c:f>
              <c:numCache>
                <c:formatCode>General</c:formatCode>
                <c:ptCount val="2"/>
                <c:pt idx="0">
                  <c:v>127</c:v>
                </c:pt>
                <c:pt idx="1">
                  <c:v>135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0E0-4613-BEBF-52CCB6E5D920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axId val="1912916207"/>
        <c:axId val="1909814655"/>
        <c:axId val="1227343072"/>
      </c:area3DChart>
      <c:catAx>
        <c:axId val="1912916207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33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cs-CZ" dirty="0"/>
                  <a:t>Druhotná surovina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33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cs-CZ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cs-CZ"/>
          </a:p>
        </c:txPr>
        <c:crossAx val="1909814655"/>
        <c:crosses val="autoZero"/>
        <c:auto val="1"/>
        <c:lblAlgn val="ctr"/>
        <c:lblOffset val="100"/>
        <c:noMultiLvlLbl val="0"/>
      </c:catAx>
      <c:valAx>
        <c:axId val="190981465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33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cs-CZ" dirty="0"/>
                  <a:t>Množství</a:t>
                </a:r>
                <a:r>
                  <a:rPr lang="cs-CZ" baseline="0" dirty="0"/>
                  <a:t> v kilogramech</a:t>
                </a:r>
                <a:endParaRPr lang="cs-CZ" dirty="0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33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cs-CZ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cs-CZ"/>
          </a:p>
        </c:txPr>
        <c:crossAx val="1912916207"/>
        <c:crosses val="autoZero"/>
        <c:crossBetween val="midCat"/>
      </c:valAx>
      <c:serAx>
        <c:axId val="1227343072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cs-CZ"/>
          </a:p>
        </c:txPr>
        <c:crossAx val="1909814655"/>
        <c:crosses val="autoZero"/>
      </c:serAx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.91379542019520554"/>
          <c:y val="0.45459538552138129"/>
          <c:w val="7.7491931475711234E-2"/>
          <c:h val="0.11854561626574375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cs-CZ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cs-CZ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cs-CZ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cs-CZ" dirty="0"/>
              <a:t>Sběr – školní rok 2016/2017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cs-CZ"/>
        </a:p>
      </c:txPr>
    </c:title>
    <c:autoTitleDeleted val="0"/>
    <c:view3D>
      <c:rotX val="15"/>
      <c:rotY val="20"/>
      <c:rAngAx val="0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>
        <c:manualLayout>
          <c:layoutTarget val="inner"/>
          <c:xMode val="edge"/>
          <c:yMode val="edge"/>
          <c:x val="9.4436465887128063E-2"/>
          <c:y val="0.10730236562573053"/>
          <c:w val="0.79369003122704262"/>
          <c:h val="0.77148010696602953"/>
        </c:manualLayout>
      </c:layout>
      <c:bar3DChart>
        <c:barDir val="col"/>
        <c:grouping val="standard"/>
        <c:varyColors val="0"/>
        <c:ser>
          <c:idx val="0"/>
          <c:order val="0"/>
          <c:tx>
            <c:strRef>
              <c:f>List1!$B$1</c:f>
              <c:strCache>
                <c:ptCount val="1"/>
                <c:pt idx="0">
                  <c:v>třída 7A</c:v>
                </c:pt>
              </c:strCache>
            </c:strRef>
          </c:tx>
          <c:spPr>
            <a:solidFill>
              <a:srgbClr val="FFFF00"/>
            </a:solidFill>
            <a:ln>
              <a:noFill/>
            </a:ln>
            <a:effectLst/>
            <a:sp3d/>
          </c:spPr>
          <c:invertIfNegative val="0"/>
          <c:dLbls>
            <c:dLbl>
              <c:idx val="0"/>
              <c:tx>
                <c:rich>
                  <a:bodyPr rot="0" spcFirstLastPara="1" vertOverflow="ellipsis" vert="horz" wrap="square" lIns="38100" tIns="19050" rIns="38100" bIns="19050" anchor="ctr" anchorCtr="1">
                    <a:spAutoFit/>
                  </a:bodyPr>
                  <a:lstStyle/>
                  <a:p>
                    <a:pPr>
                      <a:defRPr sz="1197" b="0" i="0" u="none" strike="noStrike" kern="1200" baseline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ea typeface="+mn-ea"/>
                        <a:cs typeface="+mn-cs"/>
                      </a:defRPr>
                    </a:pPr>
                    <a:fld id="{9EE4350E-3118-4FDB-8DD2-F95011DDC295}" type="SERIESNAME">
                      <a:rPr lang="en-US" smtClean="0"/>
                      <a:pPr>
                        <a:defRPr/>
                      </a:pPr>
                      <a:t>[NÁZEV ŘADY]</a:t>
                    </a:fld>
                    <a:endParaRPr lang="en-US" dirty="0"/>
                  </a:p>
                  <a:p>
                    <a:pPr>
                      <a:defRPr/>
                    </a:pPr>
                    <a:fld id="{F780EB99-86DC-4680-95E2-CCF1B6398E8C}" type="VALUE">
                      <a:rPr lang="en-US" smtClean="0"/>
                      <a:pPr>
                        <a:defRPr/>
                      </a:pPr>
                      <a:t>[HODNOTA]</a:t>
                    </a:fld>
                    <a:endParaRPr lang="cs-CZ"/>
                  </a:p>
                </c:rich>
              </c:tx>
              <c:spPr>
                <a:noFill/>
                <a:ln>
                  <a:solidFill>
                    <a:schemeClr val="tx1"/>
                  </a:solidFill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197" b="0" i="0" u="none" strike="noStrike" kern="1200" baseline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cs-CZ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3-4338-4851-9492-53046D51986D}"/>
                </c:ext>
              </c:extLst>
            </c:dLbl>
            <c:dLbl>
              <c:idx val="1"/>
              <c:tx>
                <c:rich>
                  <a:bodyPr rot="0" spcFirstLastPara="1" vertOverflow="ellipsis" vert="horz" wrap="square" lIns="38100" tIns="19050" rIns="38100" bIns="19050" anchor="ctr" anchorCtr="1">
                    <a:spAutoFit/>
                  </a:bodyPr>
                  <a:lstStyle/>
                  <a:p>
                    <a:pPr>
                      <a:defRPr sz="1197" b="0" i="0" u="none" strike="noStrike" kern="1200" baseline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ea typeface="+mn-ea"/>
                        <a:cs typeface="+mn-cs"/>
                      </a:defRPr>
                    </a:pPr>
                    <a:fld id="{1126C1AD-2A9A-45B4-B072-4933DB9A2647}" type="SERIESNAME">
                      <a:rPr lang="en-US" smtClean="0"/>
                      <a:pPr>
                        <a:defRPr/>
                      </a:pPr>
                      <a:t>[NÁZEV ŘADY]</a:t>
                    </a:fld>
                    <a:endParaRPr lang="en-US" dirty="0"/>
                  </a:p>
                  <a:p>
                    <a:pPr>
                      <a:defRPr/>
                    </a:pPr>
                    <a:fld id="{0F930019-1D72-4735-A6AB-18F3D8FC165A}" type="VALUE">
                      <a:rPr lang="en-US" smtClean="0"/>
                      <a:pPr>
                        <a:defRPr/>
                      </a:pPr>
                      <a:t>[HODNOTA]</a:t>
                    </a:fld>
                    <a:endParaRPr lang="cs-CZ"/>
                  </a:p>
                </c:rich>
              </c:tx>
              <c:spPr>
                <a:noFill/>
                <a:ln>
                  <a:solidFill>
                    <a:schemeClr val="tx1"/>
                  </a:solidFill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197" b="0" i="0" u="none" strike="noStrike" kern="1200" baseline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cs-CZ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2-4338-4851-9492-53046D51986D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cs-CZ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List1!$A$2:$A$5</c:f>
              <c:strCache>
                <c:ptCount val="2"/>
                <c:pt idx="0">
                  <c:v>papír</c:v>
                </c:pt>
                <c:pt idx="1">
                  <c:v>plasty</c:v>
                </c:pt>
              </c:strCache>
            </c:strRef>
          </c:cat>
          <c:val>
            <c:numRef>
              <c:f>List1!$B$2:$B$5</c:f>
              <c:numCache>
                <c:formatCode>General</c:formatCode>
                <c:ptCount val="2"/>
                <c:pt idx="0">
                  <c:v>93.5</c:v>
                </c:pt>
                <c:pt idx="1">
                  <c:v>150</c:v>
                </c:pt>
              </c:numCache>
            </c:numRef>
          </c:val>
          <c:shape val="cylinder"/>
          <c:extLst>
            <c:ext xmlns:c16="http://schemas.microsoft.com/office/drawing/2014/chart" uri="{C3380CC4-5D6E-409C-BE32-E72D297353CC}">
              <c16:uniqueId val="{00000000-C0E0-4613-BEBF-52CCB6E5D920}"/>
            </c:ext>
          </c:extLst>
        </c:ser>
        <c:ser>
          <c:idx val="1"/>
          <c:order val="1"/>
          <c:tx>
            <c:strRef>
              <c:f>List1!$C$1</c:f>
              <c:strCache>
                <c:ptCount val="1"/>
                <c:pt idx="0">
                  <c:v>třída 7B</c:v>
                </c:pt>
              </c:strCache>
            </c:strRef>
          </c:tx>
          <c:spPr>
            <a:solidFill>
              <a:schemeClr val="accent2">
                <a:lumMod val="75000"/>
              </a:schemeClr>
            </a:solidFill>
            <a:ln>
              <a:noFill/>
            </a:ln>
            <a:effectLst/>
            <a:sp3d/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fld id="{EF79F42B-3328-4E94-99CE-1875B7ED99C9}" type="SERIESNAME">
                      <a:rPr lang="en-US" smtClean="0"/>
                      <a:pPr/>
                      <a:t>[NÁZEV ŘADY]</a:t>
                    </a:fld>
                    <a:endParaRPr lang="en-US" dirty="0"/>
                  </a:p>
                  <a:p>
                    <a:fld id="{E43A4FCB-2085-4A55-95B7-B6BDA6DB951C}" type="VALUE">
                      <a:rPr lang="en-US" smtClean="0"/>
                      <a:pPr/>
                      <a:t>[HODNOTA]</a:t>
                    </a:fld>
                    <a:endParaRPr lang="cs-CZ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1-4338-4851-9492-53046D51986D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fld id="{06A14FA0-AE53-45E1-AB59-D9A5B0D42DD5}" type="SERIESNAME">
                      <a:rPr lang="en-US" smtClean="0"/>
                      <a:pPr/>
                      <a:t>[NÁZEV ŘADY]</a:t>
                    </a:fld>
                    <a:endParaRPr lang="en-US" dirty="0"/>
                  </a:p>
                  <a:p>
                    <a:fld id="{07A2D849-D0C2-4A53-A58A-A1BEE410F3BE}" type="VALUE">
                      <a:rPr lang="en-US" smtClean="0"/>
                      <a:pPr/>
                      <a:t>[HODNOTA]</a:t>
                    </a:fld>
                    <a:endParaRPr lang="cs-CZ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0-4338-4851-9492-53046D51986D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cs-CZ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List1!$A$2:$A$5</c:f>
              <c:strCache>
                <c:ptCount val="2"/>
                <c:pt idx="0">
                  <c:v>papír</c:v>
                </c:pt>
                <c:pt idx="1">
                  <c:v>plasty</c:v>
                </c:pt>
              </c:strCache>
            </c:strRef>
          </c:cat>
          <c:val>
            <c:numRef>
              <c:f>List1!$C$2:$C$5</c:f>
              <c:numCache>
                <c:formatCode>General</c:formatCode>
                <c:ptCount val="2"/>
                <c:pt idx="0">
                  <c:v>127</c:v>
                </c:pt>
                <c:pt idx="1">
                  <c:v>135</c:v>
                </c:pt>
              </c:numCache>
            </c:numRef>
          </c:val>
          <c:shape val="pyramid"/>
          <c:extLst>
            <c:ext xmlns:c16="http://schemas.microsoft.com/office/drawing/2014/chart" uri="{C3380CC4-5D6E-409C-BE32-E72D297353CC}">
              <c16:uniqueId val="{00000001-C0E0-4613-BEBF-52CCB6E5D920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shape val="box"/>
        <c:axId val="1912916207"/>
        <c:axId val="1909814655"/>
        <c:axId val="1227343072"/>
      </c:bar3DChart>
      <c:catAx>
        <c:axId val="1912916207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33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cs-CZ" dirty="0"/>
                  <a:t>Druhotná surovina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33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cs-CZ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cs-CZ"/>
          </a:p>
        </c:txPr>
        <c:crossAx val="1909814655"/>
        <c:crosses val="autoZero"/>
        <c:auto val="1"/>
        <c:lblAlgn val="ctr"/>
        <c:lblOffset val="100"/>
        <c:noMultiLvlLbl val="0"/>
      </c:catAx>
      <c:valAx>
        <c:axId val="190981465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33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cs-CZ" dirty="0"/>
                  <a:t>Množství</a:t>
                </a:r>
                <a:r>
                  <a:rPr lang="cs-CZ" baseline="0" dirty="0"/>
                  <a:t> v kilogramech</a:t>
                </a:r>
                <a:endParaRPr lang="cs-CZ" dirty="0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33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cs-CZ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cs-CZ"/>
          </a:p>
        </c:txPr>
        <c:crossAx val="1912916207"/>
        <c:crosses val="autoZero"/>
        <c:crossBetween val="between"/>
      </c:valAx>
      <c:serAx>
        <c:axId val="1227343072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cs-CZ"/>
          </a:p>
        </c:txPr>
        <c:crossAx val="1909814655"/>
        <c:crosses val="autoZero"/>
      </c:serAx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.91379542019520554"/>
          <c:y val="0.45459538552138129"/>
          <c:w val="8.6204535835315704E-2"/>
          <c:h val="0.12726117107385487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cs-CZ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cs-CZ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cs-CZ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cs-CZ" dirty="0"/>
              <a:t>Sběr – školní rok 2016/2017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cs-CZ"/>
        </a:p>
      </c:txPr>
    </c:title>
    <c:autoTitleDeleted val="0"/>
    <c:view3D>
      <c:rotX val="15"/>
      <c:rotY val="20"/>
      <c:rAngAx val="0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>
        <c:manualLayout>
          <c:layoutTarget val="inner"/>
          <c:xMode val="edge"/>
          <c:yMode val="edge"/>
          <c:x val="9.4436465887128063E-2"/>
          <c:y val="0.10730236562573053"/>
          <c:w val="0.79369003122704262"/>
          <c:h val="0.77148010696602953"/>
        </c:manualLayout>
      </c:layout>
      <c:bar3DChart>
        <c:barDir val="col"/>
        <c:grouping val="standard"/>
        <c:varyColors val="0"/>
        <c:ser>
          <c:idx val="0"/>
          <c:order val="0"/>
          <c:tx>
            <c:strRef>
              <c:f>List1!$B$1</c:f>
              <c:strCache>
                <c:ptCount val="1"/>
                <c:pt idx="0">
                  <c:v>třída 7A</c:v>
                </c:pt>
              </c:strCache>
            </c:strRef>
          </c:tx>
          <c:spPr>
            <a:solidFill>
              <a:srgbClr val="FFFF00"/>
            </a:solidFill>
            <a:ln>
              <a:noFill/>
            </a:ln>
            <a:effectLst/>
            <a:sp3d/>
          </c:spPr>
          <c:invertIfNegative val="0"/>
          <c:dLbls>
            <c:dLbl>
              <c:idx val="0"/>
              <c:tx>
                <c:rich>
                  <a:bodyPr rot="0" spcFirstLastPara="1" vertOverflow="ellipsis" vert="horz" wrap="square" lIns="38100" tIns="19050" rIns="38100" bIns="19050" anchor="ctr" anchorCtr="1">
                    <a:spAutoFit/>
                  </a:bodyPr>
                  <a:lstStyle/>
                  <a:p>
                    <a:pPr>
                      <a:defRPr sz="1197" b="0" i="0" u="none" strike="noStrike" kern="1200" baseline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ea typeface="+mn-ea"/>
                        <a:cs typeface="+mn-cs"/>
                      </a:defRPr>
                    </a:pPr>
                    <a:fld id="{9EE4350E-3118-4FDB-8DD2-F95011DDC295}" type="SERIESNAME">
                      <a:rPr lang="en-US" smtClean="0"/>
                      <a:pPr>
                        <a:defRPr/>
                      </a:pPr>
                      <a:t>[NÁZEV ŘADY]</a:t>
                    </a:fld>
                    <a:endParaRPr lang="en-US" dirty="0"/>
                  </a:p>
                  <a:p>
                    <a:pPr>
                      <a:defRPr/>
                    </a:pPr>
                    <a:fld id="{F780EB99-86DC-4680-95E2-CCF1B6398E8C}" type="VALUE">
                      <a:rPr lang="en-US" smtClean="0"/>
                      <a:pPr>
                        <a:defRPr/>
                      </a:pPr>
                      <a:t>[HODNOTA]</a:t>
                    </a:fld>
                    <a:endParaRPr lang="cs-CZ"/>
                  </a:p>
                </c:rich>
              </c:tx>
              <c:spPr>
                <a:noFill/>
                <a:ln>
                  <a:solidFill>
                    <a:schemeClr val="tx1"/>
                  </a:solidFill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197" b="0" i="0" u="none" strike="noStrike" kern="1200" baseline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cs-CZ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3-4338-4851-9492-53046D51986D}"/>
                </c:ext>
              </c:extLst>
            </c:dLbl>
            <c:dLbl>
              <c:idx val="1"/>
              <c:tx>
                <c:rich>
                  <a:bodyPr rot="0" spcFirstLastPara="1" vertOverflow="ellipsis" vert="horz" wrap="square" lIns="38100" tIns="19050" rIns="38100" bIns="19050" anchor="ctr" anchorCtr="1">
                    <a:spAutoFit/>
                  </a:bodyPr>
                  <a:lstStyle/>
                  <a:p>
                    <a:pPr>
                      <a:defRPr sz="1197" b="0" i="0" u="none" strike="noStrike" kern="1200" baseline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ea typeface="+mn-ea"/>
                        <a:cs typeface="+mn-cs"/>
                      </a:defRPr>
                    </a:pPr>
                    <a:fld id="{1126C1AD-2A9A-45B4-B072-4933DB9A2647}" type="SERIESNAME">
                      <a:rPr lang="en-US" smtClean="0"/>
                      <a:pPr>
                        <a:defRPr/>
                      </a:pPr>
                      <a:t>[NÁZEV ŘADY]</a:t>
                    </a:fld>
                    <a:endParaRPr lang="en-US" dirty="0"/>
                  </a:p>
                  <a:p>
                    <a:pPr>
                      <a:defRPr/>
                    </a:pPr>
                    <a:fld id="{0F930019-1D72-4735-A6AB-18F3D8FC165A}" type="VALUE">
                      <a:rPr lang="en-US" smtClean="0"/>
                      <a:pPr>
                        <a:defRPr/>
                      </a:pPr>
                      <a:t>[HODNOTA]</a:t>
                    </a:fld>
                    <a:endParaRPr lang="cs-CZ"/>
                  </a:p>
                </c:rich>
              </c:tx>
              <c:spPr>
                <a:noFill/>
                <a:ln>
                  <a:solidFill>
                    <a:schemeClr val="tx1"/>
                  </a:solidFill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197" b="0" i="0" u="none" strike="noStrike" kern="1200" baseline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cs-CZ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2-4338-4851-9492-53046D51986D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cs-CZ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List1!$A$2:$A$5</c:f>
              <c:strCache>
                <c:ptCount val="2"/>
                <c:pt idx="0">
                  <c:v>papír</c:v>
                </c:pt>
                <c:pt idx="1">
                  <c:v>plasty</c:v>
                </c:pt>
              </c:strCache>
            </c:strRef>
          </c:cat>
          <c:val>
            <c:numRef>
              <c:f>List1!$B$2:$B$5</c:f>
              <c:numCache>
                <c:formatCode>General</c:formatCode>
                <c:ptCount val="2"/>
                <c:pt idx="0">
                  <c:v>93.5</c:v>
                </c:pt>
                <c:pt idx="1">
                  <c:v>150</c:v>
                </c:pt>
              </c:numCache>
            </c:numRef>
          </c:val>
          <c:shape val="cylinder"/>
          <c:extLst>
            <c:ext xmlns:c16="http://schemas.microsoft.com/office/drawing/2014/chart" uri="{C3380CC4-5D6E-409C-BE32-E72D297353CC}">
              <c16:uniqueId val="{00000000-C0E0-4613-BEBF-52CCB6E5D920}"/>
            </c:ext>
          </c:extLst>
        </c:ser>
        <c:ser>
          <c:idx val="1"/>
          <c:order val="1"/>
          <c:tx>
            <c:strRef>
              <c:f>List1!$C$1</c:f>
              <c:strCache>
                <c:ptCount val="1"/>
                <c:pt idx="0">
                  <c:v>třída 7B</c:v>
                </c:pt>
              </c:strCache>
            </c:strRef>
          </c:tx>
          <c:spPr>
            <a:solidFill>
              <a:schemeClr val="accent2">
                <a:lumMod val="75000"/>
              </a:schemeClr>
            </a:solidFill>
            <a:ln>
              <a:noFill/>
            </a:ln>
            <a:effectLst/>
            <a:sp3d/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fld id="{EF79F42B-3328-4E94-99CE-1875B7ED99C9}" type="SERIESNAME">
                      <a:rPr lang="en-US" smtClean="0"/>
                      <a:pPr/>
                      <a:t>[NÁZEV ŘADY]</a:t>
                    </a:fld>
                    <a:endParaRPr lang="en-US" dirty="0"/>
                  </a:p>
                  <a:p>
                    <a:fld id="{E43A4FCB-2085-4A55-95B7-B6BDA6DB951C}" type="VALUE">
                      <a:rPr lang="en-US" smtClean="0"/>
                      <a:pPr/>
                      <a:t>[HODNOTA]</a:t>
                    </a:fld>
                    <a:endParaRPr lang="cs-CZ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1-4338-4851-9492-53046D51986D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fld id="{06A14FA0-AE53-45E1-AB59-D9A5B0D42DD5}" type="SERIESNAME">
                      <a:rPr lang="en-US" smtClean="0"/>
                      <a:pPr/>
                      <a:t>[NÁZEV ŘADY]</a:t>
                    </a:fld>
                    <a:endParaRPr lang="en-US" dirty="0"/>
                  </a:p>
                  <a:p>
                    <a:fld id="{07A2D849-D0C2-4A53-A58A-A1BEE410F3BE}" type="VALUE">
                      <a:rPr lang="en-US" smtClean="0"/>
                      <a:pPr/>
                      <a:t>[HODNOTA]</a:t>
                    </a:fld>
                    <a:endParaRPr lang="cs-CZ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0-4338-4851-9492-53046D51986D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cs-CZ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List1!$A$2:$A$5</c:f>
              <c:strCache>
                <c:ptCount val="2"/>
                <c:pt idx="0">
                  <c:v>papír</c:v>
                </c:pt>
                <c:pt idx="1">
                  <c:v>plasty</c:v>
                </c:pt>
              </c:strCache>
            </c:strRef>
          </c:cat>
          <c:val>
            <c:numRef>
              <c:f>List1!$C$2:$C$5</c:f>
              <c:numCache>
                <c:formatCode>General</c:formatCode>
                <c:ptCount val="2"/>
                <c:pt idx="0">
                  <c:v>127</c:v>
                </c:pt>
                <c:pt idx="1">
                  <c:v>135</c:v>
                </c:pt>
              </c:numCache>
            </c:numRef>
          </c:val>
          <c:shape val="pyramid"/>
          <c:extLst>
            <c:ext xmlns:c16="http://schemas.microsoft.com/office/drawing/2014/chart" uri="{C3380CC4-5D6E-409C-BE32-E72D297353CC}">
              <c16:uniqueId val="{00000001-C0E0-4613-BEBF-52CCB6E5D920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shape val="box"/>
        <c:axId val="1912916207"/>
        <c:axId val="1909814655"/>
        <c:axId val="1227343072"/>
      </c:bar3DChart>
      <c:catAx>
        <c:axId val="1912916207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33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cs-CZ" dirty="0"/>
                  <a:t>Druhotná surovina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33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cs-CZ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cs-CZ"/>
          </a:p>
        </c:txPr>
        <c:crossAx val="1909814655"/>
        <c:crosses val="autoZero"/>
        <c:auto val="1"/>
        <c:lblAlgn val="ctr"/>
        <c:lblOffset val="100"/>
        <c:noMultiLvlLbl val="0"/>
      </c:catAx>
      <c:valAx>
        <c:axId val="190981465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33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cs-CZ" dirty="0"/>
                  <a:t>Množství</a:t>
                </a:r>
                <a:r>
                  <a:rPr lang="cs-CZ" baseline="0" dirty="0"/>
                  <a:t> v kilogramech</a:t>
                </a:r>
                <a:endParaRPr lang="cs-CZ" dirty="0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33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cs-CZ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cs-CZ"/>
          </a:p>
        </c:txPr>
        <c:crossAx val="1912916207"/>
        <c:crosses val="autoZero"/>
        <c:crossBetween val="between"/>
      </c:valAx>
      <c:serAx>
        <c:axId val="1227343072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cs-CZ"/>
          </a:p>
        </c:txPr>
        <c:crossAx val="1909814655"/>
        <c:crosses val="autoZero"/>
      </c:serAx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.91379542019520554"/>
          <c:y val="0.45459538552138129"/>
          <c:w val="8.6204535835315704E-2"/>
          <c:h val="0.12726117107385487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cs-CZ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cs-CZ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cs-CZ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128" b="0" i="0" u="none" strike="noStrike" kern="1200" cap="none" spc="5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cs-CZ"/>
              <a:t>Sběr – školní rok 2016/2017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128" b="0" i="0" u="none" strike="noStrike" kern="1200" cap="none" spc="5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cs-CZ"/>
        </a:p>
      </c:txPr>
    </c:title>
    <c:autoTitleDeleted val="0"/>
    <c:view3D>
      <c:rotX val="15"/>
      <c:rotY val="20"/>
      <c:depthPercent val="100"/>
      <c:rAngAx val="1"/>
    </c:view3D>
    <c:floor>
      <c:thickness val="0"/>
      <c:spPr>
        <a:solidFill>
          <a:schemeClr val="lt1">
            <a:alpha val="27000"/>
          </a:schemeClr>
        </a:solidFill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>
        <c:manualLayout>
          <c:layoutTarget val="inner"/>
          <c:xMode val="edge"/>
          <c:yMode val="edge"/>
          <c:x val="9.4436465887128063E-2"/>
          <c:y val="0.10730236562573053"/>
          <c:w val="0.79369003122704262"/>
          <c:h val="0.77148010696602953"/>
        </c:manualLayout>
      </c:layout>
      <c:bar3DChart>
        <c:barDir val="col"/>
        <c:grouping val="standard"/>
        <c:varyColors val="0"/>
        <c:ser>
          <c:idx val="0"/>
          <c:order val="0"/>
          <c:tx>
            <c:strRef>
              <c:f>List1!$B$1</c:f>
              <c:strCache>
                <c:ptCount val="1"/>
                <c:pt idx="0">
                  <c:v>třída 7A</c:v>
                </c:pt>
              </c:strCache>
            </c:strRef>
          </c:tx>
          <c:spPr>
            <a:solidFill>
              <a:schemeClr val="accent1"/>
            </a:solidFill>
            <a:ln>
              <a:solidFill>
                <a:schemeClr val="accent1">
                  <a:lumMod val="75000"/>
                </a:schemeClr>
              </a:solidFill>
            </a:ln>
            <a:effectLst/>
            <a:scene3d>
              <a:camera prst="orthographicFront"/>
              <a:lightRig rig="threePt" dir="t"/>
            </a:scene3d>
            <a:sp3d prstMaterial="translucentPowder">
              <a:contourClr>
                <a:schemeClr val="accent1">
                  <a:lumMod val="75000"/>
                </a:schemeClr>
              </a:contourClr>
            </a:sp3d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fld id="{9EE4350E-3118-4FDB-8DD2-F95011DDC295}" type="SERIESNAME">
                      <a:rPr lang="en-US"/>
                      <a:pPr/>
                      <a:t>[NÁZEV ŘADY]</a:t>
                    </a:fld>
                    <a:endParaRPr lang="en-US"/>
                  </a:p>
                  <a:p>
                    <a:fld id="{F780EB99-86DC-4680-95E2-CCF1B6398E8C}" type="VALUE">
                      <a:rPr lang="en-US"/>
                      <a:pPr/>
                      <a:t>[HODNOTA]</a:t>
                    </a:fld>
                    <a:endParaRPr lang="cs-CZ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3-4338-4851-9492-53046D51986D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fld id="{1126C1AD-2A9A-45B4-B072-4933DB9A2647}" type="SERIESNAME">
                      <a:rPr lang="en-US"/>
                      <a:pPr/>
                      <a:t>[NÁZEV ŘADY]</a:t>
                    </a:fld>
                    <a:endParaRPr lang="en-US"/>
                  </a:p>
                  <a:p>
                    <a:fld id="{0F930019-1D72-4735-A6AB-18F3D8FC165A}" type="VALUE">
                      <a:rPr lang="en-US"/>
                      <a:pPr/>
                      <a:t>[HODNOTA]</a:t>
                    </a:fld>
                    <a:endParaRPr lang="cs-CZ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2-4338-4851-9492-53046D51986D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cs-CZ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List1!$A$2:$A$5</c:f>
              <c:strCache>
                <c:ptCount val="2"/>
                <c:pt idx="0">
                  <c:v>papír</c:v>
                </c:pt>
                <c:pt idx="1">
                  <c:v>plasty</c:v>
                </c:pt>
              </c:strCache>
            </c:strRef>
          </c:cat>
          <c:val>
            <c:numRef>
              <c:f>List1!$B$2:$B$5</c:f>
              <c:numCache>
                <c:formatCode>General</c:formatCode>
                <c:ptCount val="2"/>
                <c:pt idx="0">
                  <c:v>93.5</c:v>
                </c:pt>
                <c:pt idx="1">
                  <c:v>150</c:v>
                </c:pt>
              </c:numCache>
            </c:numRef>
          </c:val>
          <c:shape val="cylinder"/>
          <c:extLst>
            <c:ext xmlns:c16="http://schemas.microsoft.com/office/drawing/2014/chart" uri="{C3380CC4-5D6E-409C-BE32-E72D297353CC}">
              <c16:uniqueId val="{00000000-C0E0-4613-BEBF-52CCB6E5D920}"/>
            </c:ext>
          </c:extLst>
        </c:ser>
        <c:ser>
          <c:idx val="1"/>
          <c:order val="1"/>
          <c:tx>
            <c:strRef>
              <c:f>List1!$C$1</c:f>
              <c:strCache>
                <c:ptCount val="1"/>
                <c:pt idx="0">
                  <c:v>třída 7B</c:v>
                </c:pt>
              </c:strCache>
            </c:strRef>
          </c:tx>
          <c:spPr>
            <a:solidFill>
              <a:schemeClr val="accent2"/>
            </a:solidFill>
            <a:ln>
              <a:solidFill>
                <a:schemeClr val="accent2">
                  <a:lumMod val="75000"/>
                </a:schemeClr>
              </a:solidFill>
            </a:ln>
            <a:effectLst/>
            <a:scene3d>
              <a:camera prst="orthographicFront"/>
              <a:lightRig rig="threePt" dir="t"/>
            </a:scene3d>
            <a:sp3d prstMaterial="translucentPowder">
              <a:contourClr>
                <a:schemeClr val="accent2">
                  <a:lumMod val="75000"/>
                </a:schemeClr>
              </a:contourClr>
            </a:sp3d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fld id="{EF79F42B-3328-4E94-99CE-1875B7ED99C9}" type="SERIESNAME">
                      <a:rPr lang="en-US" smtClean="0"/>
                      <a:pPr/>
                      <a:t>[NÁZEV ŘADY]</a:t>
                    </a:fld>
                    <a:endParaRPr lang="en-US" dirty="0"/>
                  </a:p>
                  <a:p>
                    <a:fld id="{E43A4FCB-2085-4A55-95B7-B6BDA6DB951C}" type="VALUE">
                      <a:rPr lang="en-US" smtClean="0"/>
                      <a:pPr/>
                      <a:t>[HODNOTA]</a:t>
                    </a:fld>
                    <a:endParaRPr lang="cs-CZ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1-4338-4851-9492-53046D51986D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fld id="{06A14FA0-AE53-45E1-AB59-D9A5B0D42DD5}" type="SERIESNAME">
                      <a:rPr lang="en-US" smtClean="0"/>
                      <a:pPr/>
                      <a:t>[NÁZEV ŘADY]</a:t>
                    </a:fld>
                    <a:endParaRPr lang="en-US" dirty="0"/>
                  </a:p>
                  <a:p>
                    <a:fld id="{07A2D849-D0C2-4A53-A58A-A1BEE410F3BE}" type="VALUE">
                      <a:rPr lang="en-US" smtClean="0"/>
                      <a:pPr/>
                      <a:t>[HODNOTA]</a:t>
                    </a:fld>
                    <a:endParaRPr lang="cs-CZ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0-4338-4851-9492-53046D51986D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cs-CZ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List1!$A$2:$A$5</c:f>
              <c:strCache>
                <c:ptCount val="2"/>
                <c:pt idx="0">
                  <c:v>papír</c:v>
                </c:pt>
                <c:pt idx="1">
                  <c:v>plasty</c:v>
                </c:pt>
              </c:strCache>
            </c:strRef>
          </c:cat>
          <c:val>
            <c:numRef>
              <c:f>List1!$C$2:$C$5</c:f>
              <c:numCache>
                <c:formatCode>General</c:formatCode>
                <c:ptCount val="2"/>
                <c:pt idx="0">
                  <c:v>127</c:v>
                </c:pt>
                <c:pt idx="1">
                  <c:v>135</c:v>
                </c:pt>
              </c:numCache>
            </c:numRef>
          </c:val>
          <c:shape val="pyramid"/>
          <c:extLst>
            <c:ext xmlns:c16="http://schemas.microsoft.com/office/drawing/2014/chart" uri="{C3380CC4-5D6E-409C-BE32-E72D297353CC}">
              <c16:uniqueId val="{00000001-C0E0-4613-BEBF-52CCB6E5D920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shape val="box"/>
        <c:axId val="1912916207"/>
        <c:axId val="1909814655"/>
        <c:axId val="1227343072"/>
      </c:bar3DChart>
      <c:catAx>
        <c:axId val="1912916207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cs-CZ"/>
                  <a:t>Druhotná surovina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197" b="0" i="0" u="none" strike="noStrike" kern="1200" baseline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cs-CZ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pPr>
            <a:endParaRPr lang="cs-CZ"/>
          </a:p>
        </c:txPr>
        <c:crossAx val="1909814655"/>
        <c:crosses val="autoZero"/>
        <c:auto val="1"/>
        <c:lblAlgn val="ctr"/>
        <c:lblOffset val="100"/>
        <c:noMultiLvlLbl val="0"/>
      </c:catAx>
      <c:valAx>
        <c:axId val="190981465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5000"/>
                  <a:lumOff val="9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cs-CZ"/>
                  <a:t>Množství v kilogramech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197" b="0" i="0" u="none" strike="noStrike" kern="1200" baseline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cs-CZ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pPr>
            <a:endParaRPr lang="cs-CZ"/>
          </a:p>
        </c:txPr>
        <c:crossAx val="1912916207"/>
        <c:crosses val="autoZero"/>
        <c:crossBetween val="between"/>
      </c:valAx>
      <c:serAx>
        <c:axId val="1227343072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pPr>
            <a:endParaRPr lang="cs-CZ"/>
          </a:p>
        </c:txPr>
        <c:crossAx val="1909814655"/>
        <c:crosses val="autoZero"/>
      </c:ser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50000"/>
                  <a:lumOff val="50000"/>
                </a:schemeClr>
              </a:solidFill>
              <a:latin typeface="+mn-lt"/>
              <a:ea typeface="+mn-ea"/>
              <a:cs typeface="+mn-cs"/>
            </a:defRPr>
          </a:pPr>
          <a:endParaRPr lang="cs-CZ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cs-CZ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cs-CZ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cs-CZ" sz="2800" b="1" dirty="0">
                <a:solidFill>
                  <a:schemeClr val="bg1"/>
                </a:solidFill>
              </a:rPr>
              <a:t>Volby</a:t>
            </a:r>
            <a:r>
              <a:rPr lang="cs-CZ" sz="2800" b="1" baseline="0" dirty="0">
                <a:solidFill>
                  <a:schemeClr val="bg1"/>
                </a:solidFill>
              </a:rPr>
              <a:t> v Kocourkově</a:t>
            </a:r>
            <a:endParaRPr lang="en-US" sz="2800" b="1" dirty="0">
              <a:solidFill>
                <a:schemeClr val="bg1"/>
              </a:solidFill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cs-CZ"/>
        </a:p>
      </c:txPr>
    </c:title>
    <c:autoTitleDeleted val="0"/>
    <c:view3D>
      <c:rotX val="15"/>
      <c:rotY val="20"/>
      <c:depthPercent val="100"/>
      <c:rAngAx val="1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/>
      <c:bar3DChart>
        <c:barDir val="col"/>
        <c:grouping val="clustered"/>
        <c:varyColors val="0"/>
        <c:ser>
          <c:idx val="0"/>
          <c:order val="0"/>
          <c:tx>
            <c:strRef>
              <c:f>List1!$B$1</c:f>
              <c:strCache>
                <c:ptCount val="1"/>
                <c:pt idx="0">
                  <c:v>Řada 1</c:v>
                </c:pt>
              </c:strCache>
            </c:strRef>
          </c:tx>
          <c:spPr>
            <a:solidFill>
              <a:srgbClr val="FFFF00"/>
            </a:solidFill>
            <a:ln>
              <a:noFill/>
            </a:ln>
            <a:effectLst/>
            <a:sp3d/>
          </c:spPr>
          <c:invertIfNegative val="0"/>
          <c:dPt>
            <c:idx val="1"/>
            <c:invertIfNegative val="0"/>
            <c:bubble3D val="0"/>
            <c:spPr>
              <a:solidFill>
                <a:schemeClr val="bg2">
                  <a:lumMod val="60000"/>
                  <a:lumOff val="40000"/>
                </a:schemeClr>
              </a:solidFill>
              <a:ln>
                <a:noFill/>
              </a:ln>
              <a:effectLst/>
              <a:sp3d/>
            </c:spPr>
            <c:extLst>
              <c:ext xmlns:c16="http://schemas.microsoft.com/office/drawing/2014/chart" uri="{C3380CC4-5D6E-409C-BE32-E72D297353CC}">
                <c16:uniqueId val="{00000003-6ABD-44B7-A65C-78BF28A4C0DD}"/>
              </c:ext>
            </c:extLst>
          </c:dPt>
          <c:dPt>
            <c:idx val="2"/>
            <c:invertIfNegative val="0"/>
            <c:bubble3D val="0"/>
            <c:spPr>
              <a:solidFill>
                <a:srgbClr val="FF0000"/>
              </a:solidFill>
              <a:ln>
                <a:noFill/>
              </a:ln>
              <a:effectLst/>
              <a:sp3d/>
            </c:spPr>
            <c:extLst>
              <c:ext xmlns:c16="http://schemas.microsoft.com/office/drawing/2014/chart" uri="{C3380CC4-5D6E-409C-BE32-E72D297353CC}">
                <c16:uniqueId val="{00000004-6ABD-44B7-A65C-78BF28A4C0DD}"/>
              </c:ext>
            </c:extLst>
          </c:dPt>
          <c:dLbls>
            <c:dLbl>
              <c:idx val="0"/>
              <c:layout>
                <c:manualLayout>
                  <c:x val="-5.0023450954419348E-3"/>
                  <c:y val="6.8376068376068383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6ABD-44B7-A65C-78BF28A4C0DD}"/>
                </c:ext>
              </c:extLst>
            </c:dLbl>
            <c:dLbl>
              <c:idx val="1"/>
              <c:layout>
                <c:manualLayout>
                  <c:x val="3.7517588215814166E-3"/>
                  <c:y val="7.0818070818070775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6ABD-44B7-A65C-78BF28A4C0DD}"/>
                </c:ext>
              </c:extLst>
            </c:dLbl>
            <c:dLbl>
              <c:idx val="2"/>
              <c:layout>
                <c:manualLayout>
                  <c:x val="-6.252931369302361E-3"/>
                  <c:y val="8.0586080586080591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6ABD-44B7-A65C-78BF28A4C0DD}"/>
                </c:ext>
              </c:extLst>
            </c:dLbl>
            <c:spPr>
              <a:solidFill>
                <a:srgbClr val="00B050"/>
              </a:solidFill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cs-CZ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List1!$A$2:$A$4</c:f>
              <c:strCache>
                <c:ptCount val="3"/>
                <c:pt idx="0">
                  <c:v>Žlutí</c:v>
                </c:pt>
                <c:pt idx="1">
                  <c:v>Modří</c:v>
                </c:pt>
                <c:pt idx="2">
                  <c:v>Červení</c:v>
                </c:pt>
              </c:strCache>
            </c:strRef>
          </c:cat>
          <c:val>
            <c:numRef>
              <c:f>List1!$B$2:$B$4</c:f>
              <c:numCache>
                <c:formatCode>General</c:formatCode>
                <c:ptCount val="3"/>
                <c:pt idx="0">
                  <c:v>200</c:v>
                </c:pt>
                <c:pt idx="1">
                  <c:v>223</c:v>
                </c:pt>
                <c:pt idx="2">
                  <c:v>178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ABD-44B7-A65C-78BF28A4C0D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0"/>
        <c:gapDepth val="100"/>
        <c:shape val="box"/>
        <c:axId val="1083286719"/>
        <c:axId val="956535535"/>
        <c:axId val="0"/>
      </c:bar3DChart>
      <c:catAx>
        <c:axId val="108328671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1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cs-CZ"/>
          </a:p>
        </c:txPr>
        <c:crossAx val="956535535"/>
        <c:crosses val="autoZero"/>
        <c:auto val="1"/>
        <c:lblAlgn val="ctr"/>
        <c:lblOffset val="100"/>
        <c:noMultiLvlLbl val="0"/>
      </c:catAx>
      <c:valAx>
        <c:axId val="95653553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cs-CZ"/>
          </a:p>
        </c:txPr>
        <c:crossAx val="1083286719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cs-CZ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cs-CZ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rgbClr val="FF0000"/>
                </a:solidFill>
                <a:latin typeface="+mn-lt"/>
                <a:ea typeface="+mn-ea"/>
                <a:cs typeface="+mn-cs"/>
              </a:defRPr>
            </a:pPr>
            <a:r>
              <a:rPr lang="cs-CZ" sz="2800" b="1" dirty="0">
                <a:solidFill>
                  <a:srgbClr val="FF0000"/>
                </a:solidFill>
              </a:rPr>
              <a:t>Volby</a:t>
            </a:r>
            <a:r>
              <a:rPr lang="cs-CZ" sz="2800" b="1" baseline="0" dirty="0">
                <a:solidFill>
                  <a:srgbClr val="FF0000"/>
                </a:solidFill>
              </a:rPr>
              <a:t> v Kocourkově</a:t>
            </a:r>
            <a:endParaRPr lang="en-US" sz="2800" b="1" dirty="0">
              <a:solidFill>
                <a:srgbClr val="FF0000"/>
              </a:solidFill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rgbClr val="FF0000"/>
              </a:solidFill>
              <a:latin typeface="+mn-lt"/>
              <a:ea typeface="+mn-ea"/>
              <a:cs typeface="+mn-cs"/>
            </a:defRPr>
          </a:pPr>
          <a:endParaRPr lang="cs-CZ"/>
        </a:p>
      </c:txPr>
    </c:title>
    <c:autoTitleDeleted val="0"/>
    <c:view3D>
      <c:rotX val="15"/>
      <c:rotY val="20"/>
      <c:depthPercent val="100"/>
      <c:rAngAx val="1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/>
      <c:bar3DChart>
        <c:barDir val="col"/>
        <c:grouping val="clustered"/>
        <c:varyColors val="0"/>
        <c:ser>
          <c:idx val="0"/>
          <c:order val="0"/>
          <c:tx>
            <c:strRef>
              <c:f>List1!$B$1</c:f>
              <c:strCache>
                <c:ptCount val="1"/>
                <c:pt idx="0">
                  <c:v>Řada 1</c:v>
                </c:pt>
              </c:strCache>
            </c:strRef>
          </c:tx>
          <c:spPr>
            <a:solidFill>
              <a:srgbClr val="FFFF00"/>
            </a:solidFill>
            <a:ln>
              <a:noFill/>
            </a:ln>
            <a:effectLst/>
            <a:sp3d/>
          </c:spPr>
          <c:invertIfNegative val="0"/>
          <c:dPt>
            <c:idx val="0"/>
            <c:invertIfNegative val="0"/>
            <c:bubble3D val="0"/>
            <c:spPr>
              <a:blipFill>
                <a:blip xmlns:r="http://schemas.openxmlformats.org/officeDocument/2006/relationships" r:embed="rId3"/>
                <a:tile tx="0" ty="0" sx="100000" sy="100000" flip="none" algn="tl"/>
              </a:blipFill>
              <a:ln>
                <a:noFill/>
              </a:ln>
              <a:effectLst/>
              <a:sp3d/>
            </c:spPr>
            <c:extLst>
              <c:ext xmlns:c16="http://schemas.microsoft.com/office/drawing/2014/chart" uri="{C3380CC4-5D6E-409C-BE32-E72D297353CC}">
                <c16:uniqueId val="{00000005-6ABD-44B7-A65C-78BF28A4C0DD}"/>
              </c:ext>
            </c:extLst>
          </c:dPt>
          <c:dPt>
            <c:idx val="1"/>
            <c:invertIfNegative val="0"/>
            <c:bubble3D val="0"/>
            <c:spPr>
              <a:gradFill flip="none" rotWithShape="1">
                <a:gsLst>
                  <a:gs pos="0">
                    <a:schemeClr val="accent1">
                      <a:lumMod val="67000"/>
                    </a:schemeClr>
                  </a:gs>
                  <a:gs pos="48000">
                    <a:schemeClr val="accent1">
                      <a:lumMod val="97000"/>
                      <a:lumOff val="3000"/>
                    </a:schemeClr>
                  </a:gs>
                  <a:gs pos="100000">
                    <a:schemeClr val="accent1">
                      <a:lumMod val="60000"/>
                      <a:lumOff val="40000"/>
                    </a:schemeClr>
                  </a:gs>
                </a:gsLst>
                <a:lin ang="16200000" scaled="1"/>
                <a:tileRect/>
              </a:gradFill>
              <a:ln>
                <a:noFill/>
              </a:ln>
              <a:effectLst/>
              <a:sp3d/>
            </c:spPr>
            <c:extLst>
              <c:ext xmlns:c16="http://schemas.microsoft.com/office/drawing/2014/chart" uri="{C3380CC4-5D6E-409C-BE32-E72D297353CC}">
                <c16:uniqueId val="{00000003-6ABD-44B7-A65C-78BF28A4C0DD}"/>
              </c:ext>
            </c:extLst>
          </c:dPt>
          <c:dPt>
            <c:idx val="2"/>
            <c:invertIfNegative val="0"/>
            <c:bubble3D val="0"/>
            <c:spPr>
              <a:pattFill prst="wdDnDiag">
                <a:fgClr>
                  <a:srgbClr val="FF0000"/>
                </a:fgClr>
                <a:bgClr>
                  <a:schemeClr val="bg1"/>
                </a:bgClr>
              </a:pattFill>
              <a:ln>
                <a:noFill/>
              </a:ln>
              <a:effectLst/>
              <a:sp3d/>
            </c:spPr>
            <c:extLst>
              <c:ext xmlns:c16="http://schemas.microsoft.com/office/drawing/2014/chart" uri="{C3380CC4-5D6E-409C-BE32-E72D297353CC}">
                <c16:uniqueId val="{00000004-6ABD-44B7-A65C-78BF28A4C0DD}"/>
              </c:ext>
            </c:extLst>
          </c:dPt>
          <c:cat>
            <c:strRef>
              <c:f>List1!$A$2:$A$4</c:f>
              <c:strCache>
                <c:ptCount val="3"/>
                <c:pt idx="0">
                  <c:v>Žlutí</c:v>
                </c:pt>
                <c:pt idx="1">
                  <c:v>Modří</c:v>
                </c:pt>
                <c:pt idx="2">
                  <c:v>Červení</c:v>
                </c:pt>
              </c:strCache>
            </c:strRef>
          </c:cat>
          <c:val>
            <c:numRef>
              <c:f>List1!$B$2:$B$4</c:f>
              <c:numCache>
                <c:formatCode>General</c:formatCode>
                <c:ptCount val="3"/>
                <c:pt idx="0">
                  <c:v>200</c:v>
                </c:pt>
                <c:pt idx="1">
                  <c:v>223</c:v>
                </c:pt>
                <c:pt idx="2">
                  <c:v>178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ABD-44B7-A65C-78BF28A4C0D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8"/>
        <c:gapDepth val="92"/>
        <c:shape val="box"/>
        <c:axId val="1083286719"/>
        <c:axId val="956535535"/>
        <c:axId val="0"/>
      </c:bar3DChart>
      <c:catAx>
        <c:axId val="108328671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1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cs-CZ"/>
          </a:p>
        </c:txPr>
        <c:crossAx val="956535535"/>
        <c:crosses val="autoZero"/>
        <c:auto val="1"/>
        <c:lblAlgn val="ctr"/>
        <c:lblOffset val="100"/>
        <c:noMultiLvlLbl val="0"/>
      </c:catAx>
      <c:valAx>
        <c:axId val="95653553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cs-CZ"/>
          </a:p>
        </c:txPr>
        <c:crossAx val="1083286719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cs-CZ"/>
    </a:p>
  </c:txPr>
  <c:externalData r:id="rId4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cs-CZ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rgbClr val="0070C0"/>
                </a:solidFill>
                <a:latin typeface="+mn-lt"/>
                <a:ea typeface="+mn-ea"/>
                <a:cs typeface="+mn-cs"/>
              </a:defRPr>
            </a:pPr>
            <a:r>
              <a:rPr lang="cs-CZ" sz="2800" b="1" dirty="0">
                <a:solidFill>
                  <a:srgbClr val="0070C0"/>
                </a:solidFill>
              </a:rPr>
              <a:t>Volby</a:t>
            </a:r>
            <a:r>
              <a:rPr lang="cs-CZ" sz="2800" b="1" baseline="0" dirty="0">
                <a:solidFill>
                  <a:srgbClr val="0070C0"/>
                </a:solidFill>
              </a:rPr>
              <a:t> v Kocourkově</a:t>
            </a:r>
            <a:endParaRPr lang="en-US" sz="2800" b="1" dirty="0">
              <a:solidFill>
                <a:srgbClr val="0070C0"/>
              </a:solidFill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rgbClr val="0070C0"/>
              </a:solidFill>
              <a:latin typeface="+mn-lt"/>
              <a:ea typeface="+mn-ea"/>
              <a:cs typeface="+mn-cs"/>
            </a:defRPr>
          </a:pPr>
          <a:endParaRPr lang="cs-CZ"/>
        </a:p>
      </c:txPr>
    </c:title>
    <c:autoTitleDeleted val="0"/>
    <c:view3D>
      <c:rotX val="15"/>
      <c:rotY val="20"/>
      <c:depthPercent val="100"/>
      <c:rAngAx val="1"/>
    </c:view3D>
    <c:floor>
      <c:thickness val="0"/>
      <c:spPr>
        <a:solidFill>
          <a:srgbClr val="FFFF00"/>
        </a:solidFill>
        <a:ln>
          <a:noFill/>
        </a:ln>
        <a:effectLst/>
        <a:sp3d/>
      </c:spPr>
    </c:floor>
    <c:sideWall>
      <c:thickness val="0"/>
      <c:spPr>
        <a:blipFill>
          <a:blip xmlns:r="http://schemas.openxmlformats.org/officeDocument/2006/relationships" r:embed="rId3">
            <a:alphaModFix amt="99000"/>
          </a:blip>
          <a:tile tx="0" ty="0" sx="100000" sy="100000" flip="none" algn="tl"/>
        </a:blipFill>
        <a:ln>
          <a:noFill/>
        </a:ln>
        <a:effectLst/>
        <a:sp3d/>
      </c:spPr>
    </c:sideWall>
    <c:backWall>
      <c:thickness val="0"/>
      <c:spPr>
        <a:blipFill>
          <a:blip xmlns:r="http://schemas.openxmlformats.org/officeDocument/2006/relationships" r:embed="rId3">
            <a:alphaModFix amt="99000"/>
          </a:blip>
          <a:tile tx="0" ty="0" sx="100000" sy="100000" flip="none" algn="tl"/>
        </a:blipFill>
        <a:ln>
          <a:noFill/>
        </a:ln>
        <a:effectLst/>
        <a:sp3d/>
      </c:spPr>
    </c:backWall>
    <c:plotArea>
      <c:layout/>
      <c:bar3DChart>
        <c:barDir val="col"/>
        <c:grouping val="clustered"/>
        <c:varyColors val="0"/>
        <c:ser>
          <c:idx val="0"/>
          <c:order val="0"/>
          <c:tx>
            <c:strRef>
              <c:f>List1!$A$2</c:f>
              <c:strCache>
                <c:ptCount val="1"/>
                <c:pt idx="0">
                  <c:v>Žlutí</c:v>
                </c:pt>
              </c:strCache>
            </c:strRef>
          </c:tx>
          <c:spPr>
            <a:gradFill flip="none" rotWithShape="1">
              <a:gsLst>
                <a:gs pos="21000">
                  <a:srgbClr val="FFFF00"/>
                </a:gs>
                <a:gs pos="0">
                  <a:schemeClr val="accent1">
                    <a:lumMod val="5000"/>
                    <a:lumOff val="95000"/>
                  </a:schemeClr>
                </a:gs>
                <a:gs pos="43000">
                  <a:srgbClr val="00B0F0"/>
                </a:gs>
                <a:gs pos="68000">
                  <a:schemeClr val="accent1">
                    <a:lumMod val="45000"/>
                    <a:lumOff val="55000"/>
                  </a:schemeClr>
                </a:gs>
                <a:gs pos="100000">
                  <a:srgbClr val="C00000"/>
                </a:gs>
              </a:gsLst>
              <a:path path="rect">
                <a:fillToRect l="100000" t="100000"/>
              </a:path>
              <a:tileRect r="-100000" b="-100000"/>
            </a:gradFill>
            <a:ln>
              <a:noFill/>
            </a:ln>
            <a:effectLst/>
            <a:sp3d/>
          </c:spPr>
          <c:invertIfNegative val="0"/>
          <c:cat>
            <c:strRef>
              <c:f>List1!$B$1</c:f>
              <c:strCache>
                <c:ptCount val="1"/>
                <c:pt idx="0">
                  <c:v>Řada 1</c:v>
                </c:pt>
              </c:strCache>
            </c:strRef>
          </c:cat>
          <c:val>
            <c:numRef>
              <c:f>List1!$B$2</c:f>
              <c:numCache>
                <c:formatCode>General</c:formatCode>
                <c:ptCount val="1"/>
                <c:pt idx="0">
                  <c:v>200</c:v>
                </c:pt>
              </c:numCache>
            </c:numRef>
          </c:val>
          <c:shape val="cylinder"/>
          <c:extLst>
            <c:ext xmlns:c16="http://schemas.microsoft.com/office/drawing/2014/chart" uri="{C3380CC4-5D6E-409C-BE32-E72D297353CC}">
              <c16:uniqueId val="{00000005-4936-4880-AC90-7F4EC695AFFB}"/>
            </c:ext>
          </c:extLst>
        </c:ser>
        <c:ser>
          <c:idx val="1"/>
          <c:order val="1"/>
          <c:tx>
            <c:strRef>
              <c:f>List1!$A$3</c:f>
              <c:strCache>
                <c:ptCount val="1"/>
                <c:pt idx="0">
                  <c:v>Modří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  <a:sp3d/>
          </c:spPr>
          <c:invertIfNegative val="0"/>
          <c:dPt>
            <c:idx val="0"/>
            <c:invertIfNegative val="0"/>
            <c:bubble3D val="0"/>
            <c:spPr>
              <a:pattFill prst="wdUpDiag">
                <a:fgClr>
                  <a:srgbClr val="FF0000"/>
                </a:fgClr>
                <a:bgClr>
                  <a:schemeClr val="bg1"/>
                </a:bgClr>
              </a:pattFill>
              <a:ln>
                <a:noFill/>
              </a:ln>
              <a:effectLst/>
              <a:sp3d/>
            </c:spPr>
            <c:extLst>
              <c:ext xmlns:c16="http://schemas.microsoft.com/office/drawing/2014/chart" uri="{C3380CC4-5D6E-409C-BE32-E72D297353CC}">
                <c16:uniqueId val="{00000001-8A90-42CD-9909-CDA3B7C71B7A}"/>
              </c:ext>
            </c:extLst>
          </c:dPt>
          <c:dLbls>
            <c:dLbl>
              <c:idx val="0"/>
              <c:layout>
                <c:manualLayout>
                  <c:x val="3.7517588215814166E-3"/>
                  <c:y val="7.0818070818070775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8A90-42CD-9909-CDA3B7C71B7A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cs-CZ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List1!$B$1</c:f>
              <c:strCache>
                <c:ptCount val="1"/>
                <c:pt idx="0">
                  <c:v>Řada 1</c:v>
                </c:pt>
              </c:strCache>
            </c:strRef>
          </c:cat>
          <c:val>
            <c:numRef>
              <c:f>List1!$B$3</c:f>
              <c:numCache>
                <c:formatCode>General</c:formatCode>
                <c:ptCount val="1"/>
                <c:pt idx="0">
                  <c:v>223</c:v>
                </c:pt>
              </c:numCache>
            </c:numRef>
          </c:val>
          <c:shape val="pyramid"/>
          <c:extLst>
            <c:ext xmlns:c16="http://schemas.microsoft.com/office/drawing/2014/chart" uri="{C3380CC4-5D6E-409C-BE32-E72D297353CC}">
              <c16:uniqueId val="{00000006-4936-4880-AC90-7F4EC695AFFB}"/>
            </c:ext>
          </c:extLst>
        </c:ser>
        <c:ser>
          <c:idx val="2"/>
          <c:order val="2"/>
          <c:tx>
            <c:strRef>
              <c:f>List1!$A$4</c:f>
              <c:strCache>
                <c:ptCount val="1"/>
                <c:pt idx="0">
                  <c:v>Červení</c:v>
                </c:pt>
              </c:strCache>
            </c:strRef>
          </c:tx>
          <c:spPr>
            <a:blipFill>
              <a:blip xmlns:r="http://schemas.openxmlformats.org/officeDocument/2006/relationships" r:embed="rId4"/>
              <a:stretch>
                <a:fillRect/>
              </a:stretch>
            </a:blipFill>
            <a:ln>
              <a:noFill/>
            </a:ln>
            <a:effectLst/>
            <a:sp3d/>
          </c:spPr>
          <c:invertIfNegative val="0"/>
          <c:dPt>
            <c:idx val="0"/>
            <c:invertIfNegative val="0"/>
            <c:bubble3D val="0"/>
            <c:spPr>
              <a:blipFill>
                <a:blip xmlns:r="http://schemas.openxmlformats.org/officeDocument/2006/relationships" r:embed="rId5">
                  <a:extLst>
                    <a:ext uri="{837473B0-CC2E-450A-ABE3-18F120FF3D39}">
                      <a1611:picAttrSrcUrl xmlns:a1611="http://schemas.microsoft.com/office/drawing/2016/11/main" r:id="rId6"/>
                    </a:ext>
                  </a:extLst>
                </a:blip>
                <a:stretch>
                  <a:fillRect/>
                </a:stretch>
              </a:blipFill>
              <a:ln>
                <a:noFill/>
              </a:ln>
              <a:effectLst/>
              <a:sp3d/>
            </c:spPr>
            <c:extLst>
              <c:ext xmlns:c16="http://schemas.microsoft.com/office/drawing/2014/chart" uri="{C3380CC4-5D6E-409C-BE32-E72D297353CC}">
                <c16:uniqueId val="{00000003-8A90-42CD-9909-CDA3B7C71B7A}"/>
              </c:ext>
            </c:extLst>
          </c:dPt>
          <c:dLbls>
            <c:dLbl>
              <c:idx val="0"/>
              <c:layout>
                <c:manualLayout>
                  <c:x val="-6.252931369302361E-3"/>
                  <c:y val="8.0586080586080591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8A90-42CD-9909-CDA3B7C71B7A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cs-CZ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List1!$B$1</c:f>
              <c:strCache>
                <c:ptCount val="1"/>
                <c:pt idx="0">
                  <c:v>Řada 1</c:v>
                </c:pt>
              </c:strCache>
            </c:strRef>
          </c:cat>
          <c:val>
            <c:numRef>
              <c:f>List1!$B$4</c:f>
              <c:numCache>
                <c:formatCode>General</c:formatCode>
                <c:ptCount val="1"/>
                <c:pt idx="0">
                  <c:v>178</c:v>
                </c:pt>
              </c:numCache>
            </c:numRef>
          </c:val>
          <c:shape val="coneToMax"/>
          <c:extLst>
            <c:ext xmlns:c16="http://schemas.microsoft.com/office/drawing/2014/chart" uri="{C3380CC4-5D6E-409C-BE32-E72D297353CC}">
              <c16:uniqueId val="{00000007-4936-4880-AC90-7F4EC695AFF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0"/>
        <c:gapDepth val="100"/>
        <c:shape val="box"/>
        <c:axId val="1083286719"/>
        <c:axId val="956535535"/>
        <c:axId val="0"/>
      </c:bar3DChart>
      <c:catAx>
        <c:axId val="108328671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1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cs-CZ"/>
          </a:p>
        </c:txPr>
        <c:crossAx val="956535535"/>
        <c:crosses val="autoZero"/>
        <c:auto val="1"/>
        <c:lblAlgn val="ctr"/>
        <c:lblOffset val="100"/>
        <c:noMultiLvlLbl val="0"/>
      </c:catAx>
      <c:valAx>
        <c:axId val="95653553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cs-CZ"/>
          </a:p>
        </c:txPr>
        <c:crossAx val="1083286719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cs-CZ"/>
    </a:p>
  </c:txPr>
  <c:externalData r:id="rId7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cs-CZ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cs-CZ" sz="2800" b="1" dirty="0">
                <a:solidFill>
                  <a:schemeClr val="bg1"/>
                </a:solidFill>
              </a:rPr>
              <a:t>Volby</a:t>
            </a:r>
            <a:r>
              <a:rPr lang="cs-CZ" sz="2800" b="1" baseline="0" dirty="0">
                <a:solidFill>
                  <a:schemeClr val="bg1"/>
                </a:solidFill>
              </a:rPr>
              <a:t> v Kocourkově</a:t>
            </a:r>
            <a:endParaRPr lang="en-US" sz="2800" b="1" dirty="0">
              <a:solidFill>
                <a:schemeClr val="bg1"/>
              </a:solidFill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cs-CZ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List1!$B$1</c:f>
              <c:strCache>
                <c:ptCount val="1"/>
                <c:pt idx="0">
                  <c:v>Řada 1</c:v>
                </c:pt>
              </c:strCache>
            </c:strRef>
          </c:tx>
          <c:spPr>
            <a:solidFill>
              <a:srgbClr val="FFFF00"/>
            </a:solidFill>
          </c:spPr>
          <c:explosion val="28"/>
          <c:dPt>
            <c:idx val="0"/>
            <c:bubble3D val="0"/>
            <c:spPr>
              <a:solidFill>
                <a:srgbClr val="FFFF0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6ABD-44B7-A65C-78BF28A4C0DD}"/>
              </c:ext>
            </c:extLst>
          </c:dPt>
          <c:dPt>
            <c:idx val="1"/>
            <c:bubble3D val="0"/>
            <c:spPr>
              <a:solidFill>
                <a:schemeClr val="bg2">
                  <a:lumMod val="60000"/>
                  <a:lumOff val="4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6ABD-44B7-A65C-78BF28A4C0DD}"/>
              </c:ext>
            </c:extLst>
          </c:dPt>
          <c:dPt>
            <c:idx val="2"/>
            <c:bubble3D val="0"/>
            <c:spPr>
              <a:solidFill>
                <a:srgbClr val="FF000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4-6ABD-44B7-A65C-78BF28A4C0DD}"/>
              </c:ext>
            </c:extLst>
          </c:dPt>
          <c:dLbls>
            <c:dLbl>
              <c:idx val="0"/>
              <c:layout>
                <c:manualLayout>
                  <c:x val="2.9518464217034027E-2"/>
                  <c:y val="-5.0322363550710007E-2"/>
                </c:manualLayout>
              </c:layout>
              <c:tx>
                <c:rich>
                  <a:bodyPr/>
                  <a:lstStyle/>
                  <a:p>
                    <a:fld id="{D1629797-2940-4967-917E-3BEB550D7F5C}" type="VALUE">
                      <a:rPr lang="en-US" smtClean="0"/>
                      <a:pPr/>
                      <a:t>[HODNOTA]</a:t>
                    </a:fld>
                    <a:endParaRPr lang="en-US" dirty="0"/>
                  </a:p>
                  <a:p>
                    <a:fld id="{446E6193-C152-4615-8A89-7928AAE942D7}" type="PERCENTAGE">
                      <a:rPr lang="en-US" smtClean="0"/>
                      <a:pPr/>
                      <a:t>[PROCENTO]</a:t>
                    </a:fld>
                    <a:endParaRPr lang="cs-CZ"/>
                  </a:p>
                </c:rich>
              </c:tx>
              <c:dLblPos val="bestFi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5-6ABD-44B7-A65C-78BF28A4C0DD}"/>
                </c:ext>
              </c:extLst>
            </c:dLbl>
            <c:dLbl>
              <c:idx val="1"/>
              <c:layout>
                <c:manualLayout>
                  <c:x val="-0.17768713817314161"/>
                  <c:y val="-5.982559872323652E-2"/>
                </c:manualLayout>
              </c:layout>
              <c:tx>
                <c:rich>
                  <a:bodyPr/>
                  <a:lstStyle/>
                  <a:p>
                    <a:fld id="{47C57E3F-A94E-46D4-BB01-8CBBAD0C517C}" type="VALUE">
                      <a:rPr lang="en-US" smtClean="0"/>
                      <a:pPr/>
                      <a:t>[HODNOTA]</a:t>
                    </a:fld>
                    <a:endParaRPr lang="en-US" dirty="0"/>
                  </a:p>
                  <a:p>
                    <a:fld id="{E036131D-6C04-4FC3-91E7-A5656CEA5282}" type="PERCENTAGE">
                      <a:rPr lang="en-US" smtClean="0"/>
                      <a:pPr/>
                      <a:t>[PROCENTO]</a:t>
                    </a:fld>
                    <a:endParaRPr lang="cs-CZ"/>
                  </a:p>
                </c:rich>
              </c:tx>
              <c:dLblPos val="bestFi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3-6ABD-44B7-A65C-78BF28A4C0DD}"/>
                </c:ext>
              </c:extLst>
            </c:dLbl>
            <c:dLbl>
              <c:idx val="2"/>
              <c:layout>
                <c:manualLayout>
                  <c:x val="-2.5821160057613625E-2"/>
                  <c:y val="-1.2065030332746867E-2"/>
                </c:manualLayout>
              </c:layout>
              <c:tx>
                <c:rich>
                  <a:bodyPr/>
                  <a:lstStyle/>
                  <a:p>
                    <a:fld id="{E291E191-3529-41FF-9775-023C48C95E60}" type="VALUE">
                      <a:rPr lang="en-US" smtClean="0"/>
                      <a:pPr/>
                      <a:t>[HODNOTA]</a:t>
                    </a:fld>
                    <a:endParaRPr lang="en-US" dirty="0"/>
                  </a:p>
                  <a:p>
                    <a:fld id="{23AC15CE-3205-4EB4-96A2-519048E34F0E}" type="PERCENTAGE">
                      <a:rPr lang="en-US" smtClean="0"/>
                      <a:pPr/>
                      <a:t>[PROCENTO]</a:t>
                    </a:fld>
                    <a:endParaRPr lang="cs-CZ"/>
                  </a:p>
                </c:rich>
              </c:tx>
              <c:dLblPos val="bestFi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4-6ABD-44B7-A65C-78BF28A4C0DD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2000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cs-CZ"/>
              </a:p>
            </c:txPr>
            <c:dLblPos val="bestFit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bg1"/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List1!$A$2:$A$4</c:f>
              <c:strCache>
                <c:ptCount val="3"/>
                <c:pt idx="0">
                  <c:v>Žlutí</c:v>
                </c:pt>
                <c:pt idx="1">
                  <c:v>Modří</c:v>
                </c:pt>
                <c:pt idx="2">
                  <c:v>Červení</c:v>
                </c:pt>
              </c:strCache>
            </c:strRef>
          </c:cat>
          <c:val>
            <c:numRef>
              <c:f>List1!$B$2:$B$4</c:f>
              <c:numCache>
                <c:formatCode>General</c:formatCode>
                <c:ptCount val="3"/>
                <c:pt idx="0">
                  <c:v>200</c:v>
                </c:pt>
                <c:pt idx="1">
                  <c:v>223</c:v>
                </c:pt>
                <c:pt idx="2">
                  <c:v>178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ABD-44B7-A65C-78BF28A4C0DD}"/>
            </c:ext>
          </c:extLst>
        </c:ser>
        <c:dLbls>
          <c:dLblPos val="bestFit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cs-CZ"/>
    </a:p>
  </c:txPr>
  <c:externalData r:id="rId3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cs-CZ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128" b="1" i="0" u="none" strike="noStrike" kern="1200" spc="100" baseline="0">
                <a:solidFill>
                  <a:schemeClr val="lt1">
                    <a:lumMod val="95000"/>
                  </a:schemeClr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pPr>
            <a:r>
              <a:rPr lang="cs-CZ"/>
              <a:t>Volby v Kocourkově</a:t>
            </a:r>
            <a:endParaRPr lang="en-US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128" b="1" i="0" u="none" strike="noStrike" kern="1200" spc="100" baseline="0">
              <a:solidFill>
                <a:schemeClr val="lt1">
                  <a:lumMod val="95000"/>
                </a:schemeClr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+mn-lt"/>
              <a:ea typeface="+mn-ea"/>
              <a:cs typeface="+mn-cs"/>
            </a:defRPr>
          </a:pPr>
          <a:endParaRPr lang="cs-CZ"/>
        </a:p>
      </c:txPr>
    </c:title>
    <c:autoTitleDeleted val="0"/>
    <c:view3D>
      <c:rotX val="30"/>
      <c:rotY val="0"/>
      <c:depthPercent val="100"/>
      <c:rAngAx val="0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/>
      <c:pie3DChart>
        <c:varyColors val="1"/>
        <c:ser>
          <c:idx val="0"/>
          <c:order val="0"/>
          <c:tx>
            <c:strRef>
              <c:f>List1!$B$1</c:f>
              <c:strCache>
                <c:ptCount val="1"/>
                <c:pt idx="0">
                  <c:v>Řada 1</c:v>
                </c:pt>
              </c:strCache>
            </c:strRef>
          </c:tx>
          <c:dPt>
            <c:idx val="0"/>
            <c:bubble3D val="0"/>
            <c:spPr>
              <a:gradFill rotWithShape="1">
                <a:gsLst>
                  <a:gs pos="0">
                    <a:schemeClr val="accent1">
                      <a:shade val="85000"/>
                      <a:satMod val="130000"/>
                    </a:schemeClr>
                  </a:gs>
                  <a:gs pos="34000">
                    <a:schemeClr val="accent1">
                      <a:shade val="87000"/>
                      <a:satMod val="125000"/>
                    </a:schemeClr>
                  </a:gs>
                  <a:gs pos="70000">
                    <a:schemeClr val="accent1">
                      <a:tint val="100000"/>
                      <a:shade val="90000"/>
                      <a:satMod val="130000"/>
                    </a:schemeClr>
                  </a:gs>
                  <a:gs pos="100000">
                    <a:schemeClr val="accent1">
                      <a:tint val="100000"/>
                      <a:shade val="100000"/>
                      <a:satMod val="110000"/>
                    </a:schemeClr>
                  </a:gs>
                </a:gsLst>
                <a:path path="circle">
                  <a:fillToRect l="100000" t="100000" r="100000" b="100000"/>
                </a:path>
              </a:gradFill>
              <a:ln>
                <a:noFill/>
              </a:ln>
              <a:effectLst>
                <a:outerShdw blurRad="44450" dist="25400" dir="2700000" algn="br" rotWithShape="0">
                  <a:srgbClr val="000000">
                    <a:alpha val="60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threePt" dir="t">
                  <a:rot lat="0" lon="0" rev="19800000"/>
                </a:lightRig>
              </a:scene3d>
              <a:sp3d prstMaterial="flat">
                <a:bevelT w="25400" h="31750"/>
              </a:sp3d>
            </c:spPr>
            <c:extLst>
              <c:ext xmlns:c16="http://schemas.microsoft.com/office/drawing/2014/chart" uri="{C3380CC4-5D6E-409C-BE32-E72D297353CC}">
                <c16:uniqueId val="{00000001-8F80-458C-AD11-901835C331A3}"/>
              </c:ext>
            </c:extLst>
          </c:dPt>
          <c:dPt>
            <c:idx val="1"/>
            <c:bubble3D val="0"/>
            <c:spPr>
              <a:gradFill rotWithShape="1">
                <a:gsLst>
                  <a:gs pos="0">
                    <a:schemeClr val="accent2">
                      <a:shade val="85000"/>
                      <a:satMod val="130000"/>
                    </a:schemeClr>
                  </a:gs>
                  <a:gs pos="34000">
                    <a:schemeClr val="accent2">
                      <a:shade val="87000"/>
                      <a:satMod val="125000"/>
                    </a:schemeClr>
                  </a:gs>
                  <a:gs pos="70000">
                    <a:schemeClr val="accent2">
                      <a:tint val="100000"/>
                      <a:shade val="90000"/>
                      <a:satMod val="130000"/>
                    </a:schemeClr>
                  </a:gs>
                  <a:gs pos="100000">
                    <a:schemeClr val="accent2">
                      <a:tint val="100000"/>
                      <a:shade val="100000"/>
                      <a:satMod val="110000"/>
                    </a:schemeClr>
                  </a:gs>
                </a:gsLst>
                <a:path path="circle">
                  <a:fillToRect l="100000" t="100000" r="100000" b="100000"/>
                </a:path>
              </a:gradFill>
              <a:ln>
                <a:noFill/>
              </a:ln>
              <a:effectLst>
                <a:outerShdw blurRad="44450" dist="25400" dir="2700000" algn="br" rotWithShape="0">
                  <a:srgbClr val="000000">
                    <a:alpha val="60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threePt" dir="t">
                  <a:rot lat="0" lon="0" rev="19800000"/>
                </a:lightRig>
              </a:scene3d>
              <a:sp3d prstMaterial="flat">
                <a:bevelT w="25400" h="31750"/>
              </a:sp3d>
            </c:spPr>
            <c:extLst>
              <c:ext xmlns:c16="http://schemas.microsoft.com/office/drawing/2014/chart" uri="{C3380CC4-5D6E-409C-BE32-E72D297353CC}">
                <c16:uniqueId val="{00000003-8F80-458C-AD11-901835C331A3}"/>
              </c:ext>
            </c:extLst>
          </c:dPt>
          <c:dPt>
            <c:idx val="2"/>
            <c:bubble3D val="0"/>
            <c:spPr>
              <a:gradFill rotWithShape="1">
                <a:gsLst>
                  <a:gs pos="0">
                    <a:schemeClr val="accent3">
                      <a:shade val="85000"/>
                      <a:satMod val="130000"/>
                    </a:schemeClr>
                  </a:gs>
                  <a:gs pos="34000">
                    <a:schemeClr val="accent3">
                      <a:shade val="87000"/>
                      <a:satMod val="125000"/>
                    </a:schemeClr>
                  </a:gs>
                  <a:gs pos="70000">
                    <a:schemeClr val="accent3">
                      <a:tint val="100000"/>
                      <a:shade val="90000"/>
                      <a:satMod val="130000"/>
                    </a:schemeClr>
                  </a:gs>
                  <a:gs pos="100000">
                    <a:schemeClr val="accent3">
                      <a:tint val="100000"/>
                      <a:shade val="100000"/>
                      <a:satMod val="110000"/>
                    </a:schemeClr>
                  </a:gs>
                </a:gsLst>
                <a:path path="circle">
                  <a:fillToRect l="100000" t="100000" r="100000" b="100000"/>
                </a:path>
              </a:gradFill>
              <a:ln>
                <a:noFill/>
              </a:ln>
              <a:effectLst>
                <a:outerShdw blurRad="44450" dist="25400" dir="2700000" algn="br" rotWithShape="0">
                  <a:srgbClr val="000000">
                    <a:alpha val="60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threePt" dir="t">
                  <a:rot lat="0" lon="0" rev="19800000"/>
                </a:lightRig>
              </a:scene3d>
              <a:sp3d prstMaterial="flat">
                <a:bevelT w="25400" h="31750"/>
              </a:sp3d>
            </c:spPr>
            <c:extLst>
              <c:ext xmlns:c16="http://schemas.microsoft.com/office/drawing/2014/chart" uri="{C3380CC4-5D6E-409C-BE32-E72D297353CC}">
                <c16:uniqueId val="{00000005-8F80-458C-AD11-901835C331A3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fld id="{D1629797-2940-4967-917E-3BEB550D7F5C}" type="VALUE">
                      <a:rPr lang="en-US" smtClean="0"/>
                      <a:pPr/>
                      <a:t>[HODNOTA]</a:t>
                    </a:fld>
                    <a:endParaRPr lang="en-US" dirty="0"/>
                  </a:p>
                  <a:p>
                    <a:fld id="{446E6193-C152-4615-8A89-7928AAE942D7}" type="PERCENTAGE">
                      <a:rPr lang="en-US" smtClean="0"/>
                      <a:pPr/>
                      <a:t>[PROCENTO]</a:t>
                    </a:fld>
                    <a:endParaRPr lang="cs-CZ"/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1-8F80-458C-AD11-901835C331A3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fld id="{47C57E3F-A94E-46D4-BB01-8CBBAD0C517C}" type="VALUE">
                      <a:rPr lang="en-US" smtClean="0"/>
                      <a:pPr/>
                      <a:t>[HODNOTA]</a:t>
                    </a:fld>
                    <a:endParaRPr lang="en-US" dirty="0"/>
                  </a:p>
                  <a:p>
                    <a:fld id="{E036131D-6C04-4FC3-91E7-A5656CEA5282}" type="PERCENTAGE">
                      <a:rPr lang="en-US" smtClean="0"/>
                      <a:pPr/>
                      <a:t>[PROCENTO]</a:t>
                    </a:fld>
                    <a:endParaRPr lang="cs-CZ"/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3-8F80-458C-AD11-901835C331A3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fld id="{E291E191-3529-41FF-9775-023C48C95E60}" type="VALUE">
                      <a:rPr lang="en-US" smtClean="0"/>
                      <a:pPr/>
                      <a:t>[HODNOTA]</a:t>
                    </a:fld>
                    <a:endParaRPr lang="en-US" dirty="0"/>
                  </a:p>
                  <a:p>
                    <a:fld id="{23AC15CE-3205-4EB4-96A2-519048E34F0E}" type="PERCENTAGE">
                      <a:rPr lang="en-US" smtClean="0"/>
                      <a:pPr/>
                      <a:t>[PROCENTO]</a:t>
                    </a:fld>
                    <a:endParaRPr lang="cs-CZ"/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5-8F80-458C-AD11-901835C331A3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lt1">
                        <a:lumMod val="8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cs-CZ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>
                  <a:solidFill>
                    <a:schemeClr val="lt1">
                      <a:lumMod val="95000"/>
                      <a:alpha val="54000"/>
                    </a:schemeClr>
                  </a:solidFill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List1!$A$2:$A$4</c:f>
              <c:strCache>
                <c:ptCount val="3"/>
                <c:pt idx="0">
                  <c:v>Žlutí</c:v>
                </c:pt>
                <c:pt idx="1">
                  <c:v>Modří</c:v>
                </c:pt>
                <c:pt idx="2">
                  <c:v>Červení</c:v>
                </c:pt>
              </c:strCache>
            </c:strRef>
          </c:cat>
          <c:val>
            <c:numRef>
              <c:f>List1!$B$2:$B$4</c:f>
              <c:numCache>
                <c:formatCode>General</c:formatCode>
                <c:ptCount val="3"/>
                <c:pt idx="0">
                  <c:v>200</c:v>
                </c:pt>
                <c:pt idx="1">
                  <c:v>223</c:v>
                </c:pt>
                <c:pt idx="2">
                  <c:v>178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8F80-458C-AD11-901835C331A3}"/>
            </c:ext>
          </c:extLst>
        </c:ser>
        <c:dLbls>
          <c:dLblPos val="bestFit"/>
          <c:showLegendKey val="0"/>
          <c:showVal val="1"/>
          <c:showCatName val="0"/>
          <c:showSerName val="0"/>
          <c:showPercent val="0"/>
          <c:showBubbleSize val="0"/>
          <c:showLeaderLines val="1"/>
        </c:dLbls>
      </c:pie3DChart>
      <c:spPr>
        <a:noFill/>
        <a:ln>
          <a:solidFill>
            <a:schemeClr val="accent1"/>
          </a:solidFill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lt1">
                  <a:lumMod val="85000"/>
                </a:schemeClr>
              </a:solidFill>
              <a:latin typeface="+mn-lt"/>
              <a:ea typeface="+mn-ea"/>
              <a:cs typeface="+mn-cs"/>
            </a:defRPr>
          </a:pPr>
          <a:endParaRPr lang="cs-CZ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gradFill flip="none" rotWithShape="1">
      <a:gsLst>
        <a:gs pos="0">
          <a:schemeClr val="dk1">
            <a:lumMod val="65000"/>
            <a:lumOff val="35000"/>
          </a:schemeClr>
        </a:gs>
        <a:gs pos="100000">
          <a:schemeClr val="dk1">
            <a:lumMod val="85000"/>
            <a:lumOff val="15000"/>
          </a:schemeClr>
        </a:gs>
      </a:gsLst>
      <a:path path="circle">
        <a:fillToRect l="50000" t="50000" r="50000" b="50000"/>
      </a:path>
      <a:tileRect/>
    </a:gradFill>
    <a:ln>
      <a:noFill/>
    </a:ln>
    <a:effectLst/>
  </c:spPr>
  <c:txPr>
    <a:bodyPr/>
    <a:lstStyle/>
    <a:p>
      <a:pPr>
        <a:defRPr/>
      </a:pPr>
      <a:endParaRPr lang="cs-CZ"/>
    </a:p>
  </c:txPr>
  <c:externalData r:id="rId3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cs-CZ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cs-CZ" sz="2800" b="1" dirty="0">
                <a:solidFill>
                  <a:schemeClr val="bg1"/>
                </a:solidFill>
              </a:rPr>
              <a:t>Volby</a:t>
            </a:r>
            <a:r>
              <a:rPr lang="cs-CZ" sz="2800" b="1" baseline="0" dirty="0">
                <a:solidFill>
                  <a:schemeClr val="bg1"/>
                </a:solidFill>
              </a:rPr>
              <a:t> v Kocourkově</a:t>
            </a:r>
            <a:endParaRPr lang="en-US" sz="2800" b="1" dirty="0">
              <a:solidFill>
                <a:schemeClr val="bg1"/>
              </a:solidFill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cs-CZ"/>
        </a:p>
      </c:txPr>
    </c:title>
    <c:autoTitleDeleted val="0"/>
    <c:plotArea>
      <c:layout/>
      <c:radarChart>
        <c:radarStyle val="marker"/>
        <c:varyColors val="0"/>
        <c:ser>
          <c:idx val="0"/>
          <c:order val="0"/>
          <c:tx>
            <c:strRef>
              <c:f>List1!$B$1</c:f>
              <c:strCache>
                <c:ptCount val="1"/>
                <c:pt idx="0">
                  <c:v>Řada 1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dPt>
            <c:idx val="0"/>
            <c:marker>
              <c:symbol val="none"/>
            </c:marker>
            <c:bubble3D val="0"/>
            <c:spPr>
              <a:ln w="28575" cap="rnd">
                <a:solidFill>
                  <a:schemeClr val="accent1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1-C90E-4247-B2E4-D6154E4DCA5F}"/>
              </c:ext>
            </c:extLst>
          </c:dPt>
          <c:dPt>
            <c:idx val="1"/>
            <c:marker>
              <c:symbol val="none"/>
            </c:marker>
            <c:bubble3D val="0"/>
            <c:spPr>
              <a:ln w="28575" cap="rnd">
                <a:solidFill>
                  <a:schemeClr val="accent1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3-C90E-4247-B2E4-D6154E4DCA5F}"/>
              </c:ext>
            </c:extLst>
          </c:dPt>
          <c:dPt>
            <c:idx val="2"/>
            <c:marker>
              <c:symbol val="none"/>
            </c:marker>
            <c:bubble3D val="0"/>
            <c:spPr>
              <a:ln w="28575" cap="rnd">
                <a:solidFill>
                  <a:schemeClr val="accent1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5-C90E-4247-B2E4-D6154E4DCA5F}"/>
              </c:ext>
            </c:extLst>
          </c:dPt>
          <c:cat>
            <c:strRef>
              <c:f>List1!$A$2:$A$4</c:f>
              <c:strCache>
                <c:ptCount val="3"/>
                <c:pt idx="0">
                  <c:v>Žlutí</c:v>
                </c:pt>
                <c:pt idx="1">
                  <c:v>Modří</c:v>
                </c:pt>
                <c:pt idx="2">
                  <c:v>Červení</c:v>
                </c:pt>
              </c:strCache>
            </c:strRef>
          </c:cat>
          <c:val>
            <c:numRef>
              <c:f>List1!$B$2:$B$4</c:f>
              <c:numCache>
                <c:formatCode>General</c:formatCode>
                <c:ptCount val="3"/>
                <c:pt idx="0">
                  <c:v>200</c:v>
                </c:pt>
                <c:pt idx="1">
                  <c:v>223</c:v>
                </c:pt>
                <c:pt idx="2">
                  <c:v>178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C90E-4247-B2E4-D6154E4DCA5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013448767"/>
        <c:axId val="1024142799"/>
      </c:radarChart>
      <c:catAx>
        <c:axId val="1013448767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cs-CZ"/>
          </a:p>
        </c:txPr>
        <c:crossAx val="1024142799"/>
        <c:crosses val="autoZero"/>
        <c:auto val="1"/>
        <c:lblAlgn val="ctr"/>
        <c:lblOffset val="100"/>
        <c:noMultiLvlLbl val="0"/>
      </c:catAx>
      <c:valAx>
        <c:axId val="1024142799"/>
        <c:scaling>
          <c:orientation val="minMax"/>
        </c:scaling>
        <c:delete val="1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out"/>
        <c:minorTickMark val="none"/>
        <c:tickLblPos val="nextTo"/>
        <c:crossAx val="1013448767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cs-CZ"/>
    </a:p>
  </c:txPr>
  <c:externalData r:id="rId3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cs-CZ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cs-CZ" dirty="0"/>
              <a:t>Prodej</a:t>
            </a:r>
            <a:r>
              <a:rPr lang="cs-CZ" baseline="0" dirty="0"/>
              <a:t> zájezdů</a:t>
            </a:r>
            <a:endParaRPr lang="cs-CZ" dirty="0"/>
          </a:p>
        </c:rich>
      </c:tx>
      <c:overlay val="0"/>
      <c:spPr>
        <a:noFill/>
        <a:ln>
          <a:noFill/>
        </a:ln>
        <a:effectLst/>
      </c:spPr>
    </c:title>
    <c:autoTitleDeleted val="0"/>
    <c:view3D>
      <c:rotX val="15"/>
      <c:rotY val="20"/>
      <c:rAngAx val="0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/>
      <c:surface3DChart>
        <c:wireframe val="0"/>
        <c:ser>
          <c:idx val="0"/>
          <c:order val="0"/>
          <c:tx>
            <c:strRef>
              <c:f>List1!$B$1</c:f>
              <c:strCache>
                <c:ptCount val="1"/>
                <c:pt idx="0">
                  <c:v>2015</c:v>
                </c:pt>
              </c:strCache>
            </c:strRef>
          </c:tx>
          <c:spPr>
            <a:solidFill>
              <a:schemeClr val="accent1"/>
            </a:solidFill>
            <a:ln/>
            <a:effectLst/>
            <a:sp3d/>
          </c:spPr>
          <c:cat>
            <c:strRef>
              <c:f>List1!$A$2:$A$6</c:f>
              <c:strCache>
                <c:ptCount val="5"/>
                <c:pt idx="0">
                  <c:v>Praha</c:v>
                </c:pt>
                <c:pt idx="1">
                  <c:v>Pardubice</c:v>
                </c:pt>
                <c:pt idx="2">
                  <c:v>Brno</c:v>
                </c:pt>
                <c:pt idx="3">
                  <c:v>Kolín</c:v>
                </c:pt>
                <c:pt idx="4">
                  <c:v>Ostrava</c:v>
                </c:pt>
              </c:strCache>
            </c:strRef>
          </c:cat>
          <c:val>
            <c:numRef>
              <c:f>List1!$B$2:$B$6</c:f>
              <c:numCache>
                <c:formatCode>General</c:formatCode>
                <c:ptCount val="5"/>
                <c:pt idx="0">
                  <c:v>5250</c:v>
                </c:pt>
                <c:pt idx="1">
                  <c:v>3515</c:v>
                </c:pt>
                <c:pt idx="2">
                  <c:v>4890</c:v>
                </c:pt>
                <c:pt idx="3">
                  <c:v>2859</c:v>
                </c:pt>
                <c:pt idx="4">
                  <c:v>3956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C83-4990-8A47-FEE86518E73B}"/>
            </c:ext>
          </c:extLst>
        </c:ser>
        <c:ser>
          <c:idx val="1"/>
          <c:order val="1"/>
          <c:tx>
            <c:strRef>
              <c:f>List1!$C$1</c:f>
              <c:strCache>
                <c:ptCount val="1"/>
                <c:pt idx="0">
                  <c:v>2016</c:v>
                </c:pt>
              </c:strCache>
            </c:strRef>
          </c:tx>
          <c:spPr>
            <a:solidFill>
              <a:schemeClr val="accent2"/>
            </a:solidFill>
            <a:ln/>
            <a:effectLst/>
            <a:sp3d/>
          </c:spPr>
          <c:cat>
            <c:strRef>
              <c:f>List1!$A$2:$A$6</c:f>
              <c:strCache>
                <c:ptCount val="5"/>
                <c:pt idx="0">
                  <c:v>Praha</c:v>
                </c:pt>
                <c:pt idx="1">
                  <c:v>Pardubice</c:v>
                </c:pt>
                <c:pt idx="2">
                  <c:v>Brno</c:v>
                </c:pt>
                <c:pt idx="3">
                  <c:v>Kolín</c:v>
                </c:pt>
                <c:pt idx="4">
                  <c:v>Ostrava</c:v>
                </c:pt>
              </c:strCache>
            </c:strRef>
          </c:cat>
          <c:val>
            <c:numRef>
              <c:f>List1!$C$2:$C$6</c:f>
              <c:numCache>
                <c:formatCode>General</c:formatCode>
                <c:ptCount val="5"/>
                <c:pt idx="0">
                  <c:v>6820</c:v>
                </c:pt>
                <c:pt idx="1">
                  <c:v>3985</c:v>
                </c:pt>
                <c:pt idx="2">
                  <c:v>5680</c:v>
                </c:pt>
                <c:pt idx="3">
                  <c:v>2956</c:v>
                </c:pt>
                <c:pt idx="4">
                  <c:v>4522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BC83-4990-8A47-FEE86518E73B}"/>
            </c:ext>
          </c:extLst>
        </c:ser>
        <c:ser>
          <c:idx val="2"/>
          <c:order val="2"/>
          <c:tx>
            <c:strRef>
              <c:f>List1!$D$1</c:f>
              <c:strCache>
                <c:ptCount val="1"/>
                <c:pt idx="0">
                  <c:v>2017</c:v>
                </c:pt>
              </c:strCache>
            </c:strRef>
          </c:tx>
          <c:spPr>
            <a:solidFill>
              <a:schemeClr val="accent3"/>
            </a:solidFill>
            <a:ln/>
            <a:effectLst/>
            <a:sp3d/>
          </c:spPr>
          <c:cat>
            <c:strRef>
              <c:f>List1!$A$2:$A$6</c:f>
              <c:strCache>
                <c:ptCount val="5"/>
                <c:pt idx="0">
                  <c:v>Praha</c:v>
                </c:pt>
                <c:pt idx="1">
                  <c:v>Pardubice</c:v>
                </c:pt>
                <c:pt idx="2">
                  <c:v>Brno</c:v>
                </c:pt>
                <c:pt idx="3">
                  <c:v>Kolín</c:v>
                </c:pt>
                <c:pt idx="4">
                  <c:v>Ostrava</c:v>
                </c:pt>
              </c:strCache>
            </c:strRef>
          </c:cat>
          <c:val>
            <c:numRef>
              <c:f>List1!$D$2:$D$6</c:f>
              <c:numCache>
                <c:formatCode>General</c:formatCode>
                <c:ptCount val="5"/>
                <c:pt idx="0">
                  <c:v>7021</c:v>
                </c:pt>
                <c:pt idx="1">
                  <c:v>4145</c:v>
                </c:pt>
                <c:pt idx="2">
                  <c:v>6112</c:v>
                </c:pt>
                <c:pt idx="3">
                  <c:v>3025</c:v>
                </c:pt>
                <c:pt idx="4">
                  <c:v>5085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BC83-4990-8A47-FEE86518E73B}"/>
            </c:ext>
          </c:extLst>
        </c:ser>
        <c:bandFmts>
          <c:bandFmt>
            <c:idx val="0"/>
            <c:spPr>
              <a:solidFill>
                <a:schemeClr val="accent1"/>
              </a:solidFill>
              <a:ln/>
              <a:effectLst/>
              <a:sp3d/>
            </c:spPr>
          </c:bandFmt>
          <c:bandFmt>
            <c:idx val="1"/>
            <c:spPr>
              <a:solidFill>
                <a:schemeClr val="accent2"/>
              </a:solidFill>
              <a:ln/>
              <a:effectLst/>
              <a:sp3d/>
            </c:spPr>
          </c:bandFmt>
          <c:bandFmt>
            <c:idx val="2"/>
            <c:spPr>
              <a:solidFill>
                <a:schemeClr val="accent3"/>
              </a:solidFill>
              <a:ln/>
              <a:effectLst/>
              <a:sp3d/>
            </c:spPr>
          </c:bandFmt>
          <c:bandFmt>
            <c:idx val="3"/>
            <c:spPr>
              <a:solidFill>
                <a:schemeClr val="accent4"/>
              </a:solidFill>
              <a:ln/>
              <a:effectLst/>
              <a:sp3d/>
            </c:spPr>
          </c:bandFmt>
          <c:bandFmt>
            <c:idx val="4"/>
            <c:spPr>
              <a:solidFill>
                <a:schemeClr val="accent5"/>
              </a:solidFill>
              <a:ln/>
              <a:effectLst/>
              <a:sp3d/>
            </c:spPr>
          </c:bandFmt>
          <c:bandFmt>
            <c:idx val="5"/>
            <c:spPr>
              <a:solidFill>
                <a:schemeClr val="accent6"/>
              </a:solidFill>
              <a:ln/>
              <a:effectLst/>
              <a:sp3d/>
            </c:spPr>
          </c:bandFmt>
          <c:bandFmt>
            <c:idx val="6"/>
            <c:spPr>
              <a:solidFill>
                <a:schemeClr val="accent1">
                  <a:lumMod val="60000"/>
                </a:schemeClr>
              </a:solidFill>
              <a:ln/>
              <a:effectLst/>
              <a:sp3d/>
            </c:spPr>
          </c:bandFmt>
          <c:bandFmt>
            <c:idx val="7"/>
            <c:spPr>
              <a:solidFill>
                <a:schemeClr val="accent2">
                  <a:lumMod val="60000"/>
                </a:schemeClr>
              </a:solidFill>
              <a:ln/>
              <a:effectLst/>
              <a:sp3d/>
            </c:spPr>
          </c:bandFmt>
          <c:bandFmt>
            <c:idx val="8"/>
            <c:spPr>
              <a:solidFill>
                <a:schemeClr val="accent3">
                  <a:lumMod val="60000"/>
                </a:schemeClr>
              </a:solidFill>
              <a:ln/>
              <a:effectLst/>
              <a:sp3d/>
            </c:spPr>
          </c:bandFmt>
          <c:bandFmt>
            <c:idx val="9"/>
            <c:spPr>
              <a:solidFill>
                <a:schemeClr val="accent4">
                  <a:lumMod val="60000"/>
                </a:schemeClr>
              </a:solidFill>
              <a:ln/>
              <a:effectLst/>
              <a:sp3d/>
            </c:spPr>
          </c:bandFmt>
          <c:bandFmt>
            <c:idx val="10"/>
            <c:spPr>
              <a:solidFill>
                <a:schemeClr val="accent5">
                  <a:lumMod val="60000"/>
                </a:schemeClr>
              </a:solidFill>
              <a:ln/>
              <a:effectLst/>
              <a:sp3d/>
            </c:spPr>
          </c:bandFmt>
          <c:bandFmt>
            <c:idx val="11"/>
            <c:spPr>
              <a:solidFill>
                <a:schemeClr val="accent6">
                  <a:lumMod val="60000"/>
                </a:schemeClr>
              </a:solidFill>
              <a:ln/>
              <a:effectLst/>
              <a:sp3d/>
            </c:spPr>
          </c:bandFmt>
          <c:bandFmt>
            <c:idx val="12"/>
            <c:spPr>
              <a:solidFill>
                <a:schemeClr val="accent1">
                  <a:lumMod val="80000"/>
                  <a:lumOff val="20000"/>
                </a:schemeClr>
              </a:solidFill>
              <a:ln/>
              <a:effectLst/>
              <a:sp3d/>
            </c:spPr>
          </c:bandFmt>
          <c:bandFmt>
            <c:idx val="13"/>
            <c:spPr>
              <a:solidFill>
                <a:schemeClr val="accent2">
                  <a:lumMod val="80000"/>
                  <a:lumOff val="20000"/>
                </a:schemeClr>
              </a:solidFill>
              <a:ln/>
              <a:effectLst/>
              <a:sp3d/>
            </c:spPr>
          </c:bandFmt>
          <c:bandFmt>
            <c:idx val="14"/>
            <c:spPr>
              <a:solidFill>
                <a:schemeClr val="accent3">
                  <a:lumMod val="80000"/>
                  <a:lumOff val="20000"/>
                </a:schemeClr>
              </a:solidFill>
              <a:ln/>
              <a:effectLst/>
              <a:sp3d/>
            </c:spPr>
          </c:bandFmt>
        </c:bandFmts>
        <c:axId val="1058005743"/>
        <c:axId val="1100811775"/>
        <c:axId val="1327495343"/>
      </c:surface3DChart>
      <c:catAx>
        <c:axId val="105800574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cs-CZ"/>
          </a:p>
        </c:txPr>
        <c:crossAx val="1100811775"/>
        <c:crosses val="autoZero"/>
        <c:auto val="1"/>
        <c:lblAlgn val="ctr"/>
        <c:lblOffset val="100"/>
        <c:noMultiLvlLbl val="0"/>
      </c:catAx>
      <c:valAx>
        <c:axId val="110081177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cs-CZ"/>
          </a:p>
        </c:txPr>
        <c:crossAx val="1058005743"/>
        <c:crosses val="autoZero"/>
        <c:crossBetween val="midCat"/>
      </c:valAx>
      <c:serAx>
        <c:axId val="1327495343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cs-CZ"/>
          </a:p>
        </c:txPr>
        <c:crossAx val="1100811775"/>
        <c:crosses val="autoZero"/>
      </c:ser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rtl="0"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cs-CZ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cs-CZ"/>
    </a:p>
  </c:tx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cs-CZ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cs-CZ" dirty="0"/>
              <a:t>Prodej</a:t>
            </a:r>
            <a:r>
              <a:rPr lang="cs-CZ" baseline="0" dirty="0"/>
              <a:t> zájezdů</a:t>
            </a:r>
            <a:endParaRPr lang="cs-CZ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cs-CZ"/>
        </a:p>
      </c:txPr>
    </c:title>
    <c:autoTitleDeleted val="0"/>
    <c:view3D>
      <c:rotX val="15"/>
      <c:rotY val="20"/>
      <c:rAngAx val="0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/>
      <c:line3DChart>
        <c:grouping val="standard"/>
        <c:varyColors val="0"/>
        <c:ser>
          <c:idx val="0"/>
          <c:order val="0"/>
          <c:tx>
            <c:strRef>
              <c:f>List1!$B$1</c:f>
              <c:strCache>
                <c:ptCount val="1"/>
                <c:pt idx="0">
                  <c:v>2015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  <a:sp3d/>
          </c:spPr>
          <c:cat>
            <c:strRef>
              <c:f>List1!$A$2:$A$6</c:f>
              <c:strCache>
                <c:ptCount val="5"/>
                <c:pt idx="0">
                  <c:v>Praha</c:v>
                </c:pt>
                <c:pt idx="1">
                  <c:v>Pardubice</c:v>
                </c:pt>
                <c:pt idx="2">
                  <c:v>Brno</c:v>
                </c:pt>
                <c:pt idx="3">
                  <c:v>Kolín</c:v>
                </c:pt>
                <c:pt idx="4">
                  <c:v>Ostrava</c:v>
                </c:pt>
              </c:strCache>
            </c:strRef>
          </c:cat>
          <c:val>
            <c:numRef>
              <c:f>List1!$B$2:$B$6</c:f>
              <c:numCache>
                <c:formatCode>General</c:formatCode>
                <c:ptCount val="5"/>
                <c:pt idx="0">
                  <c:v>5250</c:v>
                </c:pt>
                <c:pt idx="1">
                  <c:v>3515</c:v>
                </c:pt>
                <c:pt idx="2">
                  <c:v>4890</c:v>
                </c:pt>
                <c:pt idx="3">
                  <c:v>2859</c:v>
                </c:pt>
                <c:pt idx="4">
                  <c:v>3956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F173-4E50-B7A4-F676AEA7BE6C}"/>
            </c:ext>
          </c:extLst>
        </c:ser>
        <c:ser>
          <c:idx val="1"/>
          <c:order val="1"/>
          <c:tx>
            <c:strRef>
              <c:f>List1!$C$1</c:f>
              <c:strCache>
                <c:ptCount val="1"/>
                <c:pt idx="0">
                  <c:v>2016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  <a:sp3d/>
          </c:spPr>
          <c:cat>
            <c:strRef>
              <c:f>List1!$A$2:$A$6</c:f>
              <c:strCache>
                <c:ptCount val="5"/>
                <c:pt idx="0">
                  <c:v>Praha</c:v>
                </c:pt>
                <c:pt idx="1">
                  <c:v>Pardubice</c:v>
                </c:pt>
                <c:pt idx="2">
                  <c:v>Brno</c:v>
                </c:pt>
                <c:pt idx="3">
                  <c:v>Kolín</c:v>
                </c:pt>
                <c:pt idx="4">
                  <c:v>Ostrava</c:v>
                </c:pt>
              </c:strCache>
            </c:strRef>
          </c:cat>
          <c:val>
            <c:numRef>
              <c:f>List1!$C$2:$C$6</c:f>
              <c:numCache>
                <c:formatCode>General</c:formatCode>
                <c:ptCount val="5"/>
                <c:pt idx="0">
                  <c:v>6820</c:v>
                </c:pt>
                <c:pt idx="1">
                  <c:v>3985</c:v>
                </c:pt>
                <c:pt idx="2">
                  <c:v>5680</c:v>
                </c:pt>
                <c:pt idx="3">
                  <c:v>2956</c:v>
                </c:pt>
                <c:pt idx="4">
                  <c:v>4522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F173-4E50-B7A4-F676AEA7BE6C}"/>
            </c:ext>
          </c:extLst>
        </c:ser>
        <c:ser>
          <c:idx val="2"/>
          <c:order val="2"/>
          <c:tx>
            <c:strRef>
              <c:f>List1!$D$1</c:f>
              <c:strCache>
                <c:ptCount val="1"/>
                <c:pt idx="0">
                  <c:v>2017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  <a:sp3d/>
          </c:spPr>
          <c:cat>
            <c:strRef>
              <c:f>List1!$A$2:$A$6</c:f>
              <c:strCache>
                <c:ptCount val="5"/>
                <c:pt idx="0">
                  <c:v>Praha</c:v>
                </c:pt>
                <c:pt idx="1">
                  <c:v>Pardubice</c:v>
                </c:pt>
                <c:pt idx="2">
                  <c:v>Brno</c:v>
                </c:pt>
                <c:pt idx="3">
                  <c:v>Kolín</c:v>
                </c:pt>
                <c:pt idx="4">
                  <c:v>Ostrava</c:v>
                </c:pt>
              </c:strCache>
            </c:strRef>
          </c:cat>
          <c:val>
            <c:numRef>
              <c:f>List1!$D$2:$D$6</c:f>
              <c:numCache>
                <c:formatCode>General</c:formatCode>
                <c:ptCount val="5"/>
                <c:pt idx="0">
                  <c:v>7021</c:v>
                </c:pt>
                <c:pt idx="1">
                  <c:v>4145</c:v>
                </c:pt>
                <c:pt idx="2">
                  <c:v>6112</c:v>
                </c:pt>
                <c:pt idx="3">
                  <c:v>3025</c:v>
                </c:pt>
                <c:pt idx="4">
                  <c:v>5085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F173-4E50-B7A4-F676AEA7BE6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058005743"/>
        <c:axId val="1100811775"/>
        <c:axId val="1327495343"/>
      </c:line3DChart>
      <c:catAx>
        <c:axId val="105800574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cs-CZ"/>
          </a:p>
        </c:txPr>
        <c:crossAx val="1100811775"/>
        <c:crosses val="autoZero"/>
        <c:auto val="1"/>
        <c:lblAlgn val="ctr"/>
        <c:lblOffset val="100"/>
        <c:noMultiLvlLbl val="0"/>
      </c:catAx>
      <c:valAx>
        <c:axId val="110081177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cs-CZ"/>
          </a:p>
        </c:txPr>
        <c:crossAx val="1058005743"/>
        <c:crosses val="autoZero"/>
        <c:crossBetween val="between"/>
      </c:valAx>
      <c:serAx>
        <c:axId val="1327495343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cs-CZ"/>
          </a:p>
        </c:txPr>
        <c:crossAx val="1100811775"/>
        <c:crosses val="autoZero"/>
      </c:ser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cs-CZ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cs-CZ"/>
    </a:p>
  </c:txPr>
  <c:externalData r:id="rId3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cs-CZ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128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cs-CZ"/>
              <a:t>Prodej zájezdů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128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cs-CZ"/>
        </a:p>
      </c:txPr>
    </c:title>
    <c:autoTitleDeleted val="0"/>
    <c:plotArea>
      <c:layout>
        <c:manualLayout>
          <c:layoutTarget val="inner"/>
          <c:xMode val="edge"/>
          <c:yMode val="edge"/>
          <c:x val="5.1359865283297265E-2"/>
          <c:y val="0.15174104027369392"/>
          <c:w val="0.88334784170787428"/>
          <c:h val="0.70822135731085323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List1!$B$1</c:f>
              <c:strCache>
                <c:ptCount val="1"/>
                <c:pt idx="0">
                  <c:v>2015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shade val="85000"/>
                    <a:satMod val="130000"/>
                  </a:schemeClr>
                </a:gs>
                <a:gs pos="34000">
                  <a:schemeClr val="accent1">
                    <a:shade val="87000"/>
                    <a:satMod val="125000"/>
                  </a:schemeClr>
                </a:gs>
                <a:gs pos="70000">
                  <a:schemeClr val="accent1">
                    <a:tint val="100000"/>
                    <a:shade val="90000"/>
                    <a:satMod val="130000"/>
                  </a:schemeClr>
                </a:gs>
                <a:gs pos="100000">
                  <a:schemeClr val="accent1">
                    <a:tint val="100000"/>
                    <a:shade val="100000"/>
                    <a:satMod val="110000"/>
                  </a:schemeClr>
                </a:gs>
              </a:gsLst>
              <a:path path="circle">
                <a:fillToRect l="100000" t="100000" r="100000" b="100000"/>
              </a:path>
            </a:gradFill>
            <a:ln>
              <a:noFill/>
            </a:ln>
            <a:effectLst>
              <a:outerShdw blurRad="44450" dist="25400" dir="2700000" algn="br" rotWithShape="0">
                <a:srgbClr val="000000">
                  <a:alpha val="60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9800000"/>
              </a:lightRig>
            </a:scene3d>
            <a:sp3d prstMaterial="flat">
              <a:bevelT w="25400" h="31750"/>
            </a:sp3d>
          </c:spPr>
          <c:invertIfNegative val="0"/>
          <c:cat>
            <c:strRef>
              <c:f>List1!$A$2:$A$6</c:f>
              <c:strCache>
                <c:ptCount val="5"/>
                <c:pt idx="0">
                  <c:v>Praha</c:v>
                </c:pt>
                <c:pt idx="1">
                  <c:v>Pardubice</c:v>
                </c:pt>
                <c:pt idx="2">
                  <c:v>Brno</c:v>
                </c:pt>
                <c:pt idx="3">
                  <c:v>Kolín</c:v>
                </c:pt>
                <c:pt idx="4">
                  <c:v>Ostrava</c:v>
                </c:pt>
              </c:strCache>
            </c:strRef>
          </c:cat>
          <c:val>
            <c:numRef>
              <c:f>List1!$B$2:$B$6</c:f>
              <c:numCache>
                <c:formatCode>General</c:formatCode>
                <c:ptCount val="5"/>
                <c:pt idx="0">
                  <c:v>5250</c:v>
                </c:pt>
                <c:pt idx="1">
                  <c:v>3515</c:v>
                </c:pt>
                <c:pt idx="2">
                  <c:v>4890</c:v>
                </c:pt>
                <c:pt idx="3">
                  <c:v>2859</c:v>
                </c:pt>
                <c:pt idx="4">
                  <c:v>3956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C83-4990-8A47-FEE86518E73B}"/>
            </c:ext>
          </c:extLst>
        </c:ser>
        <c:ser>
          <c:idx val="1"/>
          <c:order val="1"/>
          <c:tx>
            <c:strRef>
              <c:f>List1!$C$1</c:f>
              <c:strCache>
                <c:ptCount val="1"/>
                <c:pt idx="0">
                  <c:v>2016</c:v>
                </c:pt>
              </c:strCache>
            </c:strRef>
          </c:tx>
          <c:spPr>
            <a:gradFill rotWithShape="1">
              <a:gsLst>
                <a:gs pos="0">
                  <a:schemeClr val="accent2">
                    <a:shade val="85000"/>
                    <a:satMod val="130000"/>
                  </a:schemeClr>
                </a:gs>
                <a:gs pos="34000">
                  <a:schemeClr val="accent2">
                    <a:shade val="87000"/>
                    <a:satMod val="125000"/>
                  </a:schemeClr>
                </a:gs>
                <a:gs pos="70000">
                  <a:schemeClr val="accent2">
                    <a:tint val="100000"/>
                    <a:shade val="90000"/>
                    <a:satMod val="130000"/>
                  </a:schemeClr>
                </a:gs>
                <a:gs pos="100000">
                  <a:schemeClr val="accent2">
                    <a:tint val="100000"/>
                    <a:shade val="100000"/>
                    <a:satMod val="110000"/>
                  </a:schemeClr>
                </a:gs>
              </a:gsLst>
              <a:path path="circle">
                <a:fillToRect l="100000" t="100000" r="100000" b="100000"/>
              </a:path>
            </a:gradFill>
            <a:ln>
              <a:noFill/>
            </a:ln>
            <a:effectLst>
              <a:outerShdw blurRad="44450" dist="25400" dir="2700000" algn="br" rotWithShape="0">
                <a:srgbClr val="000000">
                  <a:alpha val="60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9800000"/>
              </a:lightRig>
            </a:scene3d>
            <a:sp3d prstMaterial="flat">
              <a:bevelT w="25400" h="31750"/>
            </a:sp3d>
          </c:spPr>
          <c:invertIfNegative val="0"/>
          <c:cat>
            <c:strRef>
              <c:f>List1!$A$2:$A$6</c:f>
              <c:strCache>
                <c:ptCount val="5"/>
                <c:pt idx="0">
                  <c:v>Praha</c:v>
                </c:pt>
                <c:pt idx="1">
                  <c:v>Pardubice</c:v>
                </c:pt>
                <c:pt idx="2">
                  <c:v>Brno</c:v>
                </c:pt>
                <c:pt idx="3">
                  <c:v>Kolín</c:v>
                </c:pt>
                <c:pt idx="4">
                  <c:v>Ostrava</c:v>
                </c:pt>
              </c:strCache>
            </c:strRef>
          </c:cat>
          <c:val>
            <c:numRef>
              <c:f>List1!$C$2:$C$6</c:f>
              <c:numCache>
                <c:formatCode>General</c:formatCode>
                <c:ptCount val="5"/>
                <c:pt idx="0">
                  <c:v>6820</c:v>
                </c:pt>
                <c:pt idx="1">
                  <c:v>3985</c:v>
                </c:pt>
                <c:pt idx="2">
                  <c:v>5680</c:v>
                </c:pt>
                <c:pt idx="3">
                  <c:v>2956</c:v>
                </c:pt>
                <c:pt idx="4">
                  <c:v>4522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BC83-4990-8A47-FEE86518E73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058005743"/>
        <c:axId val="1100811775"/>
      </c:barChart>
      <c:lineChart>
        <c:grouping val="standard"/>
        <c:varyColors val="0"/>
        <c:ser>
          <c:idx val="2"/>
          <c:order val="2"/>
          <c:tx>
            <c:strRef>
              <c:f>List1!$D$1</c:f>
              <c:strCache>
                <c:ptCount val="1"/>
                <c:pt idx="0">
                  <c:v>2017</c:v>
                </c:pt>
              </c:strCache>
            </c:strRef>
          </c:tx>
          <c:spPr>
            <a:ln w="34925" cap="rnd">
              <a:solidFill>
                <a:schemeClr val="accent3"/>
              </a:solidFill>
              <a:round/>
            </a:ln>
            <a:effectLst>
              <a:outerShdw blurRad="44450" dist="25400" dir="2700000" algn="br" rotWithShape="0">
                <a:srgbClr val="000000">
                  <a:alpha val="60000"/>
                </a:srgbClr>
              </a:outerShdw>
            </a:effectLst>
          </c:spPr>
          <c:marker>
            <c:symbol val="none"/>
          </c:marker>
          <c:cat>
            <c:strRef>
              <c:f>List1!$A$2:$A$6</c:f>
              <c:strCache>
                <c:ptCount val="5"/>
                <c:pt idx="0">
                  <c:v>Praha</c:v>
                </c:pt>
                <c:pt idx="1">
                  <c:v>Pardubice</c:v>
                </c:pt>
                <c:pt idx="2">
                  <c:v>Brno</c:v>
                </c:pt>
                <c:pt idx="3">
                  <c:v>Kolín</c:v>
                </c:pt>
                <c:pt idx="4">
                  <c:v>Ostrava</c:v>
                </c:pt>
              </c:strCache>
            </c:strRef>
          </c:cat>
          <c:val>
            <c:numRef>
              <c:f>List1!$D$2:$D$6</c:f>
              <c:numCache>
                <c:formatCode>General</c:formatCode>
                <c:ptCount val="5"/>
                <c:pt idx="0">
                  <c:v>7021</c:v>
                </c:pt>
                <c:pt idx="1">
                  <c:v>4145</c:v>
                </c:pt>
                <c:pt idx="2">
                  <c:v>6112</c:v>
                </c:pt>
                <c:pt idx="3">
                  <c:v>3025</c:v>
                </c:pt>
                <c:pt idx="4">
                  <c:v>5085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BC83-4990-8A47-FEE86518E73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576749456"/>
        <c:axId val="1063171360"/>
      </c:lineChart>
      <c:catAx>
        <c:axId val="105800574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cs-CZ"/>
          </a:p>
        </c:txPr>
        <c:crossAx val="1100811775"/>
        <c:crosses val="autoZero"/>
        <c:auto val="1"/>
        <c:lblAlgn val="ctr"/>
        <c:lblOffset val="100"/>
        <c:noMultiLvlLbl val="0"/>
      </c:catAx>
      <c:valAx>
        <c:axId val="110081177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cs-CZ"/>
          </a:p>
        </c:txPr>
        <c:crossAx val="1058005743"/>
        <c:crosses val="autoZero"/>
        <c:crossBetween val="between"/>
      </c:valAx>
      <c:valAx>
        <c:axId val="1063171360"/>
        <c:scaling>
          <c:orientation val="minMax"/>
        </c:scaling>
        <c:delete val="0"/>
        <c:axPos val="r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cs-CZ"/>
          </a:p>
        </c:txPr>
        <c:crossAx val="576749456"/>
        <c:crosses val="max"/>
        <c:crossBetween val="between"/>
      </c:valAx>
      <c:catAx>
        <c:axId val="576749456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1063171360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cs-CZ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cs-CZ"/>
    </a:p>
  </c:txPr>
  <c:externalData r:id="rId3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cs-CZ"/>
  <c:roundedCorners val="0"/>
  <mc:AlternateContent xmlns:mc="http://schemas.openxmlformats.org/markup-compatibility/2006">
    <mc:Choice xmlns:c14="http://schemas.microsoft.com/office/drawing/2007/8/2/chart" Requires="c14">
      <c14:style val="107"/>
    </mc:Choice>
    <mc:Fallback>
      <c:style val="7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128" b="1" i="0" u="none" strike="noStrike" kern="1200" spc="100" baseline="0">
                <a:solidFill>
                  <a:schemeClr val="lt1">
                    <a:lumMod val="95000"/>
                  </a:schemeClr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pPr>
            <a:r>
              <a:rPr lang="cs-CZ"/>
              <a:t>Prodej zájezdů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128" b="1" i="0" u="none" strike="noStrike" kern="1200" spc="100" baseline="0">
              <a:solidFill>
                <a:schemeClr val="lt1">
                  <a:lumMod val="95000"/>
                </a:schemeClr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+mn-lt"/>
              <a:ea typeface="+mn-ea"/>
              <a:cs typeface="+mn-cs"/>
            </a:defRPr>
          </a:pPr>
          <a:endParaRPr lang="cs-CZ"/>
        </a:p>
      </c:txPr>
    </c:title>
    <c:autoTitleDeleted val="0"/>
    <c:view3D>
      <c:rotX val="15"/>
      <c:rotY val="20"/>
      <c:depthPercent val="100"/>
      <c:rAngAx val="1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>
        <c:manualLayout>
          <c:layoutTarget val="inner"/>
          <c:xMode val="edge"/>
          <c:yMode val="edge"/>
          <c:x val="5.1359865283297265E-2"/>
          <c:y val="0.15174104027369392"/>
          <c:w val="0.88334784170787428"/>
          <c:h val="0.70822135731085323"/>
        </c:manualLayout>
      </c:layout>
      <c:bar3DChart>
        <c:barDir val="col"/>
        <c:grouping val="clustered"/>
        <c:varyColors val="0"/>
        <c:ser>
          <c:idx val="0"/>
          <c:order val="0"/>
          <c:tx>
            <c:strRef>
              <c:f>List1!$B$1</c:f>
              <c:strCache>
                <c:ptCount val="1"/>
                <c:pt idx="0">
                  <c:v>2015</c:v>
                </c:pt>
              </c:strCache>
            </c:strRef>
          </c:tx>
          <c:spPr>
            <a:gradFill rotWithShape="1">
              <a:gsLst>
                <a:gs pos="0">
                  <a:schemeClr val="accent5">
                    <a:tint val="65000"/>
                    <a:shade val="85000"/>
                    <a:satMod val="130000"/>
                  </a:schemeClr>
                </a:gs>
                <a:gs pos="34000">
                  <a:schemeClr val="accent5">
                    <a:tint val="65000"/>
                    <a:shade val="87000"/>
                    <a:satMod val="125000"/>
                  </a:schemeClr>
                </a:gs>
                <a:gs pos="70000">
                  <a:schemeClr val="accent5">
                    <a:tint val="65000"/>
                    <a:tint val="100000"/>
                    <a:shade val="90000"/>
                    <a:satMod val="130000"/>
                  </a:schemeClr>
                </a:gs>
                <a:gs pos="100000">
                  <a:schemeClr val="accent5">
                    <a:tint val="65000"/>
                    <a:tint val="100000"/>
                    <a:shade val="100000"/>
                    <a:satMod val="110000"/>
                  </a:schemeClr>
                </a:gs>
              </a:gsLst>
              <a:path path="circle">
                <a:fillToRect l="100000" t="100000" r="100000" b="100000"/>
              </a:path>
            </a:gradFill>
            <a:ln>
              <a:noFill/>
            </a:ln>
            <a:effectLst>
              <a:outerShdw blurRad="44450" dist="25400" dir="2700000" algn="br" rotWithShape="0">
                <a:srgbClr val="000000">
                  <a:alpha val="60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9800000"/>
              </a:lightRig>
            </a:scene3d>
            <a:sp3d prstMaterial="flat">
              <a:bevelT w="25400" h="31750"/>
            </a:sp3d>
          </c:spPr>
          <c:invertIfNegative val="0"/>
          <c:cat>
            <c:strRef>
              <c:f>List1!$A$2:$A$6</c:f>
              <c:strCache>
                <c:ptCount val="5"/>
                <c:pt idx="0">
                  <c:v>Praha</c:v>
                </c:pt>
                <c:pt idx="1">
                  <c:v>Pardubice</c:v>
                </c:pt>
                <c:pt idx="2">
                  <c:v>Brno</c:v>
                </c:pt>
                <c:pt idx="3">
                  <c:v>Kolín</c:v>
                </c:pt>
                <c:pt idx="4">
                  <c:v>Ostrava</c:v>
                </c:pt>
              </c:strCache>
            </c:strRef>
          </c:cat>
          <c:val>
            <c:numRef>
              <c:f>List1!$B$2:$B$6</c:f>
              <c:numCache>
                <c:formatCode>General</c:formatCode>
                <c:ptCount val="5"/>
                <c:pt idx="0">
                  <c:v>5250</c:v>
                </c:pt>
                <c:pt idx="1">
                  <c:v>3515</c:v>
                </c:pt>
                <c:pt idx="2">
                  <c:v>4890</c:v>
                </c:pt>
                <c:pt idx="3">
                  <c:v>2859</c:v>
                </c:pt>
                <c:pt idx="4">
                  <c:v>3956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6E5-4B16-A1DE-EB6B505D8200}"/>
            </c:ext>
          </c:extLst>
        </c:ser>
        <c:ser>
          <c:idx val="1"/>
          <c:order val="1"/>
          <c:tx>
            <c:strRef>
              <c:f>List1!$C$1</c:f>
              <c:strCache>
                <c:ptCount val="1"/>
                <c:pt idx="0">
                  <c:v>2016</c:v>
                </c:pt>
              </c:strCache>
            </c:strRef>
          </c:tx>
          <c:spPr>
            <a:gradFill rotWithShape="1">
              <a:gsLst>
                <a:gs pos="0">
                  <a:schemeClr val="accent5">
                    <a:shade val="85000"/>
                    <a:satMod val="130000"/>
                  </a:schemeClr>
                </a:gs>
                <a:gs pos="34000">
                  <a:schemeClr val="accent5">
                    <a:shade val="87000"/>
                    <a:satMod val="125000"/>
                  </a:schemeClr>
                </a:gs>
                <a:gs pos="70000">
                  <a:schemeClr val="accent5">
                    <a:tint val="100000"/>
                    <a:shade val="90000"/>
                    <a:satMod val="130000"/>
                  </a:schemeClr>
                </a:gs>
                <a:gs pos="100000">
                  <a:schemeClr val="accent5">
                    <a:tint val="100000"/>
                    <a:shade val="100000"/>
                    <a:satMod val="110000"/>
                  </a:schemeClr>
                </a:gs>
              </a:gsLst>
              <a:path path="circle">
                <a:fillToRect l="100000" t="100000" r="100000" b="100000"/>
              </a:path>
            </a:gradFill>
            <a:ln>
              <a:noFill/>
            </a:ln>
            <a:effectLst>
              <a:outerShdw blurRad="44450" dist="25400" dir="2700000" algn="br" rotWithShape="0">
                <a:srgbClr val="000000">
                  <a:alpha val="60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9800000"/>
              </a:lightRig>
            </a:scene3d>
            <a:sp3d prstMaterial="flat">
              <a:bevelT w="25400" h="31750"/>
            </a:sp3d>
          </c:spPr>
          <c:invertIfNegative val="0"/>
          <c:cat>
            <c:strRef>
              <c:f>List1!$A$2:$A$6</c:f>
              <c:strCache>
                <c:ptCount val="5"/>
                <c:pt idx="0">
                  <c:v>Praha</c:v>
                </c:pt>
                <c:pt idx="1">
                  <c:v>Pardubice</c:v>
                </c:pt>
                <c:pt idx="2">
                  <c:v>Brno</c:v>
                </c:pt>
                <c:pt idx="3">
                  <c:v>Kolín</c:v>
                </c:pt>
                <c:pt idx="4">
                  <c:v>Ostrava</c:v>
                </c:pt>
              </c:strCache>
            </c:strRef>
          </c:cat>
          <c:val>
            <c:numRef>
              <c:f>List1!$C$2:$C$6</c:f>
              <c:numCache>
                <c:formatCode>General</c:formatCode>
                <c:ptCount val="5"/>
                <c:pt idx="0">
                  <c:v>6820</c:v>
                </c:pt>
                <c:pt idx="1">
                  <c:v>3985</c:v>
                </c:pt>
                <c:pt idx="2">
                  <c:v>5680</c:v>
                </c:pt>
                <c:pt idx="3">
                  <c:v>2956</c:v>
                </c:pt>
                <c:pt idx="4">
                  <c:v>4522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46E5-4B16-A1DE-EB6B505D8200}"/>
            </c:ext>
          </c:extLst>
        </c:ser>
        <c:ser>
          <c:idx val="2"/>
          <c:order val="2"/>
          <c:tx>
            <c:strRef>
              <c:f>List1!$D$1</c:f>
              <c:strCache>
                <c:ptCount val="1"/>
                <c:pt idx="0">
                  <c:v>2017</c:v>
                </c:pt>
              </c:strCache>
            </c:strRef>
          </c:tx>
          <c:spPr>
            <a:gradFill rotWithShape="1">
              <a:gsLst>
                <a:gs pos="0">
                  <a:schemeClr val="accent5">
                    <a:shade val="65000"/>
                    <a:shade val="85000"/>
                    <a:satMod val="130000"/>
                  </a:schemeClr>
                </a:gs>
                <a:gs pos="34000">
                  <a:schemeClr val="accent5">
                    <a:shade val="65000"/>
                    <a:shade val="87000"/>
                    <a:satMod val="125000"/>
                  </a:schemeClr>
                </a:gs>
                <a:gs pos="70000">
                  <a:schemeClr val="accent5">
                    <a:shade val="65000"/>
                    <a:tint val="100000"/>
                    <a:shade val="90000"/>
                    <a:satMod val="130000"/>
                  </a:schemeClr>
                </a:gs>
                <a:gs pos="100000">
                  <a:schemeClr val="accent5">
                    <a:shade val="65000"/>
                    <a:tint val="100000"/>
                    <a:shade val="100000"/>
                    <a:satMod val="110000"/>
                  </a:schemeClr>
                </a:gs>
              </a:gsLst>
              <a:path path="circle">
                <a:fillToRect l="100000" t="100000" r="100000" b="100000"/>
              </a:path>
            </a:gradFill>
            <a:ln>
              <a:noFill/>
            </a:ln>
            <a:effectLst>
              <a:outerShdw blurRad="44450" dist="25400" dir="2700000" algn="br" rotWithShape="0">
                <a:srgbClr val="000000">
                  <a:alpha val="60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9800000"/>
              </a:lightRig>
            </a:scene3d>
            <a:sp3d prstMaterial="flat">
              <a:bevelT w="25400" h="31750"/>
            </a:sp3d>
          </c:spPr>
          <c:invertIfNegative val="0"/>
          <c:cat>
            <c:strRef>
              <c:f>List1!$A$2:$A$6</c:f>
              <c:strCache>
                <c:ptCount val="5"/>
                <c:pt idx="0">
                  <c:v>Praha</c:v>
                </c:pt>
                <c:pt idx="1">
                  <c:v>Pardubice</c:v>
                </c:pt>
                <c:pt idx="2">
                  <c:v>Brno</c:v>
                </c:pt>
                <c:pt idx="3">
                  <c:v>Kolín</c:v>
                </c:pt>
                <c:pt idx="4">
                  <c:v>Ostrava</c:v>
                </c:pt>
              </c:strCache>
            </c:strRef>
          </c:cat>
          <c:val>
            <c:numRef>
              <c:f>List1!$D$2:$D$6</c:f>
              <c:numCache>
                <c:formatCode>General</c:formatCode>
                <c:ptCount val="5"/>
                <c:pt idx="0">
                  <c:v>7021</c:v>
                </c:pt>
                <c:pt idx="1">
                  <c:v>4145</c:v>
                </c:pt>
                <c:pt idx="2">
                  <c:v>6112</c:v>
                </c:pt>
                <c:pt idx="3">
                  <c:v>3025</c:v>
                </c:pt>
                <c:pt idx="4">
                  <c:v>5085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46E5-4B16-A1DE-EB6B505D820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shape val="box"/>
        <c:axId val="1058005743"/>
        <c:axId val="1100811775"/>
        <c:axId val="0"/>
      </c:bar3DChart>
      <c:catAx>
        <c:axId val="105800574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cs-CZ"/>
          </a:p>
        </c:txPr>
        <c:crossAx val="1100811775"/>
        <c:crosses val="autoZero"/>
        <c:auto val="1"/>
        <c:lblAlgn val="ctr"/>
        <c:lblOffset val="100"/>
        <c:noMultiLvlLbl val="0"/>
      </c:catAx>
      <c:valAx>
        <c:axId val="1100811775"/>
        <c:scaling>
          <c:orientation val="minMax"/>
          <c:max val="7000"/>
          <c:min val="0"/>
        </c:scaling>
        <c:delete val="0"/>
        <c:axPos val="l"/>
        <c:majorGridlines>
          <c:spPr>
            <a:ln w="9525" cap="flat" cmpd="sng" algn="ctr">
              <a:solidFill>
                <a:schemeClr val="dk1">
                  <a:lumMod val="50000"/>
                  <a:lumOff val="50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cs-CZ"/>
          </a:p>
        </c:txPr>
        <c:crossAx val="105800574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lt1">
                  <a:lumMod val="85000"/>
                </a:schemeClr>
              </a:solidFill>
              <a:latin typeface="+mn-lt"/>
              <a:ea typeface="+mn-ea"/>
              <a:cs typeface="+mn-cs"/>
            </a:defRPr>
          </a:pPr>
          <a:endParaRPr lang="cs-CZ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gradFill flip="none" rotWithShape="1">
      <a:gsLst>
        <a:gs pos="0">
          <a:schemeClr val="dk1">
            <a:lumMod val="65000"/>
            <a:lumOff val="35000"/>
          </a:schemeClr>
        </a:gs>
        <a:gs pos="100000">
          <a:schemeClr val="dk1">
            <a:lumMod val="85000"/>
            <a:lumOff val="15000"/>
          </a:schemeClr>
        </a:gs>
      </a:gsLst>
      <a:path path="circle">
        <a:fillToRect l="50000" t="50000" r="50000" b="50000"/>
      </a:path>
      <a:tileRect/>
    </a:gradFill>
    <a:ln>
      <a:noFill/>
    </a:ln>
    <a:effectLst/>
  </c:spPr>
  <c:txPr>
    <a:bodyPr/>
    <a:lstStyle/>
    <a:p>
      <a:pPr>
        <a:defRPr/>
      </a:pPr>
      <a:endParaRPr lang="cs-CZ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2">
  <a:schemeClr val="accent2"/>
  <a:schemeClr val="accent4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4.xml><?xml version="1.0" encoding="utf-8"?>
<cs:colorStyle xmlns:cs="http://schemas.microsoft.com/office/drawing/2012/chartStyle" xmlns:a="http://schemas.openxmlformats.org/drawingml/2006/main" meth="withinLinearReversed" id="25">
  <a:schemeClr val="accent5"/>
</cs:colorStyle>
</file>

<file path=ppt/charts/style1.xml><?xml version="1.0" encoding="utf-8"?>
<cs:chartStyle xmlns:cs="http://schemas.microsoft.com/office/drawing/2012/chartStyle" xmlns:a="http://schemas.openxmlformats.org/drawingml/2006/main" id="28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8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8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8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92">
  <cs:axisTitle>
    <cs:lnRef idx="0"/>
    <cs:fillRef idx="0"/>
    <cs:effectRef idx="0"/>
    <cs:fontRef idx="minor">
      <a:schemeClr val="tx1">
        <a:lumMod val="50000"/>
        <a:lumOff val="50000"/>
      </a:schemeClr>
    </cs:fontRef>
    <cs:defRPr sz="1197" kern="1200"/>
  </cs:axisTitle>
  <cs:categoryAxis>
    <cs:lnRef idx="0"/>
    <cs:fillRef idx="0"/>
    <cs:effectRef idx="0"/>
    <cs:fontRef idx="minor">
      <a:schemeClr val="tx1">
        <a:lumMod val="50000"/>
        <a:lumOff val="50000"/>
      </a:schemeClr>
    </cs:fontRef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50000"/>
        <a:lumOff val="50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>
        <a:solidFill>
          <a:schemeClr val="phClr">
            <a:lumMod val="75000"/>
          </a:schemeClr>
        </a:solidFill>
      </a:ln>
    </cs:spPr>
  </cs:dataPoint>
  <cs:dataPoint3D>
    <cs:lnRef idx="0">
      <cs:styleClr val="auto"/>
    </cs:lnRef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>
        <a:solidFill>
          <a:schemeClr val="phClr">
            <a:lumMod val="75000"/>
          </a:schemeClr>
        </a:solidFill>
      </a:ln>
      <a:scene3d>
        <a:camera prst="orthographicFront"/>
        <a:lightRig rig="threePt" dir="t"/>
      </a:scene3d>
      <a:sp3d prstMaterial="translucentPowder"/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>
            <a:alpha val="70000"/>
          </a:schemeClr>
        </a:solidFill>
        <a:round/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dk1"/>
    </cs:fontRef>
    <cs:spPr>
      <a:solidFill>
        <a:schemeClr val="phClr">
          <a:alpha val="70000"/>
        </a:schemeClr>
      </a:solidFill>
      <a:ln>
        <a:solidFill>
          <a:schemeClr val="phClr">
            <a:lumMod val="75000"/>
          </a:schemeClr>
        </a:solidFill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50000"/>
        <a:lumOff val="50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solidFill>
        <a:schemeClr val="lt1">
          <a:alpha val="27000"/>
        </a:schemeClr>
      </a:solidFill>
      <a:sp3d/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50000"/>
        <a:lumOff val="50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50000"/>
        <a:lumOff val="50000"/>
      </a:schemeClr>
    </cs:fontRef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128" b="0" kern="1200" cap="none" spc="5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5875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50000"/>
        <a:lumOff val="50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tx1">
        <a:lumMod val="50000"/>
        <a:lumOff val="50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sp3d/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8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8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8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9.xml><?xml version="1.0" encoding="utf-8"?>
<cs:chartStyle xmlns:cs="http://schemas.microsoft.com/office/drawing/2012/chartStyle" xmlns:a="http://schemas.openxmlformats.org/drawingml/2006/main" id="28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0.xml><?xml version="1.0" encoding="utf-8"?>
<cs:chartStyle xmlns:cs="http://schemas.microsoft.com/office/drawing/2012/chartStyle" xmlns:a="http://schemas.openxmlformats.org/drawingml/2006/main" id="268">
  <cs:axisTitle>
    <cs:lnRef idx="0"/>
    <cs:fillRef idx="0"/>
    <cs:effectRef idx="0"/>
    <cs:fontRef idx="minor">
      <a:schemeClr val="lt1">
        <a:lumMod val="85000"/>
      </a:schemeClr>
    </cs:fontRef>
    <cs:defRPr sz="1197" b="1" kern="1200" cap="all"/>
  </cs:axisTitle>
  <cs:category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1197" kern="120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dk1">
              <a:lumMod val="65000"/>
              <a:lumOff val="35000"/>
            </a:schemeClr>
          </a:gs>
          <a:gs pos="100000">
            <a:schemeClr val="dk1">
              <a:lumMod val="85000"/>
              <a:lumOff val="15000"/>
            </a:schemeClr>
          </a:gs>
        </a:gsLst>
        <a:path path="circle">
          <a:fillToRect l="50000" t="50000" r="50000" b="50000"/>
        </a:path>
        <a:tileRect/>
      </a:gradFill>
    </cs:spPr>
    <cs:defRPr sz="1330" kern="1200"/>
  </cs:chartArea>
  <cs:dataLabel>
    <cs:lnRef idx="0"/>
    <cs:fillRef idx="0"/>
    <cs:effectRef idx="0"/>
    <cs:fontRef idx="minor">
      <a:schemeClr val="lt1">
        <a:lumMod val="8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lt1">
        <a:lumMod val="85000"/>
      </a:schemeClr>
    </cs:fontRef>
    <cs:spPr>
      <a:ln w="9525">
        <a:solidFill>
          <a:schemeClr val="lt1">
            <a:lumMod val="95000"/>
            <a:alpha val="54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>
        <a:solidFill>
          <a:schemeClr val="lt1">
            <a:lumMod val="95000"/>
            <a:alpha val="54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5000"/>
            <a:alpha val="10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>
        <a:solidFill>
          <a:schemeClr val="lt1">
            <a:lumMod val="95000"/>
            <a:alpha val="5000"/>
          </a:schemeClr>
        </a:solidFill>
      </a:ln>
    </cs:spPr>
  </cs:gridlineMinor>
  <cs:hiLo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</a:ln>
    </cs:spPr>
  </cs:leaderLine>
  <cs:legend>
    <cs:lnRef idx="0"/>
    <cs:fillRef idx="0"/>
    <cs:effectRef idx="0"/>
    <cs:fontRef idx="minor">
      <a:schemeClr val="lt1">
        <a:lumMod val="85000"/>
      </a:schemeClr>
    </cs:fontRef>
    <cs:defRPr sz="1197" kern="1200"/>
  </cs:legend>
  <cs:plotArea>
    <cs:lnRef idx="0"/>
    <cs:fillRef idx="0"/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54000"/>
          </a:schemeClr>
        </a:solidFill>
        <a:round/>
      </a:ln>
    </cs:spPr>
  </cs:seriesLine>
  <cs:title>
    <cs:lnRef idx="0"/>
    <cs:fillRef idx="0"/>
    <cs:effectRef idx="0"/>
    <cs:fontRef idx="minor">
      <a:schemeClr val="lt1">
        <a:lumMod val="95000"/>
      </a:schemeClr>
    </cs:fontRef>
    <cs:defRPr sz="2128" b="1" kern="1200" spc="100" baseline="0">
      <a:effectLst>
        <a:outerShdw blurRad="50800" dist="38100" dir="5400000" algn="t" rotWithShape="0">
          <a:prstClr val="black">
            <a:alpha val="40000"/>
          </a:prstClr>
        </a:outerShdw>
      </a:effectLst>
    </cs:defRPr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lt1">
        <a:lumMod val="8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>
        <a:solidFill>
          <a:schemeClr val="lt1">
            <a:lumMod val="95000"/>
            <a:alpha val="54000"/>
          </a:schemeClr>
        </a:solidFill>
      </a:ln>
    </cs:spPr>
  </cs:upBar>
  <cs:valueAxis>
    <cs:lnRef idx="0"/>
    <cs:fillRef idx="0"/>
    <cs:effectRef idx="0"/>
    <cs:fontRef idx="minor">
      <a:schemeClr val="lt1">
        <a:lumMod val="85000"/>
      </a:schemeClr>
    </cs:fontRef>
    <cs:defRPr sz="1197" kern="1200"/>
  </cs:valueAxis>
  <cs:wall>
    <cs:lnRef idx="0"/>
    <cs:fillRef idx="0"/>
    <cs:effectRef idx="0"/>
    <cs:fontRef idx="minor">
      <a:schemeClr val="tx1"/>
    </cs:fontRef>
  </cs:wall>
</cs:chartStyle>
</file>

<file path=ppt/charts/style11.xml><?xml version="1.0" encoding="utf-8"?>
<cs:chartStyle xmlns:cs="http://schemas.microsoft.com/office/drawing/2012/chartStyle" xmlns:a="http://schemas.openxmlformats.org/drawingml/2006/main" id="28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2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3.xml><?xml version="1.0" encoding="utf-8"?>
<cs:chartStyle xmlns:cs="http://schemas.microsoft.com/office/drawing/2012/chartStyle" xmlns:a="http://schemas.openxmlformats.org/drawingml/2006/main" id="35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128" b="1" kern="1200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lt1"/>
    </cs:fontRef>
  </cs:wall>
</cs:chartStyle>
</file>

<file path=ppt/charts/style14.xml><?xml version="1.0" encoding="utf-8"?>
<cs:chartStyle xmlns:cs="http://schemas.microsoft.com/office/drawing/2012/chartStyle" xmlns:a="http://schemas.openxmlformats.org/drawingml/2006/main" id="294">
  <cs:axisTitle>
    <cs:lnRef idx="0"/>
    <cs:fillRef idx="0"/>
    <cs:effectRef idx="0"/>
    <cs:fontRef idx="minor">
      <a:schemeClr val="lt1">
        <a:lumMod val="85000"/>
      </a:schemeClr>
    </cs:fontRef>
    <cs:defRPr sz="1197" b="1" kern="1200" cap="all"/>
  </cs:axisTitle>
  <cs:categoryAxis>
    <cs:lnRef idx="0"/>
    <cs:fillRef idx="0"/>
    <cs:effectRef idx="0"/>
    <cs:fontRef idx="minor">
      <a:schemeClr val="lt1">
        <a:lumMod val="85000"/>
      </a:schemeClr>
    </cs:fontRef>
    <cs:spPr/>
    <cs:defRPr sz="1197" kern="120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dk1">
              <a:lumMod val="65000"/>
              <a:lumOff val="35000"/>
            </a:schemeClr>
          </a:gs>
          <a:gs pos="100000">
            <a:schemeClr val="dk1">
              <a:lumMod val="85000"/>
              <a:lumOff val="15000"/>
            </a:schemeClr>
          </a:gs>
        </a:gsLst>
        <a:path path="circle">
          <a:fillToRect l="50000" t="50000" r="50000" b="50000"/>
        </a:path>
        <a:tileRect/>
      </a:gradFill>
    </cs:spPr>
    <cs:defRPr sz="1330" kern="1200"/>
  </cs:chartArea>
  <cs:dataLabel>
    <cs:lnRef idx="0"/>
    <cs:fillRef idx="0"/>
    <cs:effectRef idx="0"/>
    <cs:fontRef idx="minor">
      <a:schemeClr val="lt1">
        <a:lumMod val="8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lt1">
        <a:lumMod val="85000"/>
      </a:schemeClr>
    </cs:fontRef>
    <cs:spPr>
      <a:ln w="9525">
        <a:solidFill>
          <a:schemeClr val="lt1">
            <a:lumMod val="95000"/>
            <a:alpha val="54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>
        <a:solidFill>
          <a:schemeClr val="lt1">
            <a:lumMod val="95000"/>
            <a:alpha val="54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dk1">
            <a:lumMod val="50000"/>
            <a:lumOff val="50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>
        <a:solidFill>
          <a:schemeClr val="dk1">
            <a:lumMod val="60000"/>
            <a:lumOff val="40000"/>
          </a:schemeClr>
        </a:solidFill>
      </a:ln>
    </cs:spPr>
  </cs:gridlineMinor>
  <cs:hiLo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</a:ln>
    </cs:spPr>
  </cs:leaderLine>
  <cs:legend>
    <cs:lnRef idx="0"/>
    <cs:fillRef idx="0"/>
    <cs:effectRef idx="0"/>
    <cs:fontRef idx="minor">
      <a:schemeClr val="lt1">
        <a:lumMod val="85000"/>
      </a:schemeClr>
    </cs:fontRef>
    <cs:defRPr sz="1197" kern="1200"/>
  </cs:legend>
  <cs:plotArea>
    <cs:lnRef idx="0"/>
    <cs:fillRef idx="0"/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lt1">
        <a:lumMod val="85000"/>
      </a:schemeClr>
    </cs:fontRef>
    <cs:spPr/>
    <cs:defRPr sz="1197" kern="1200"/>
  </cs:seriesAxis>
  <cs:seriesLine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54000"/>
          </a:schemeClr>
        </a:solidFill>
        <a:round/>
      </a:ln>
    </cs:spPr>
  </cs:seriesLine>
  <cs:title>
    <cs:lnRef idx="0"/>
    <cs:fillRef idx="0"/>
    <cs:effectRef idx="0"/>
    <cs:fontRef idx="minor">
      <a:schemeClr val="lt1">
        <a:lumMod val="95000"/>
      </a:schemeClr>
    </cs:fontRef>
    <cs:defRPr sz="2128" b="1" kern="1200" spc="100" baseline="0">
      <a:effectLst>
        <a:outerShdw blurRad="50800" dist="38100" dir="5400000" algn="t" rotWithShape="0">
          <a:prstClr val="black">
            <a:alpha val="40000"/>
          </a:prstClr>
        </a:outerShdw>
      </a:effectLst>
    </cs:defRPr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lt1">
        <a:lumMod val="8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>
        <a:solidFill>
          <a:schemeClr val="lt1">
            <a:lumMod val="95000"/>
            <a:alpha val="54000"/>
          </a:schemeClr>
        </a:solidFill>
      </a:ln>
    </cs:spPr>
  </cs:upBar>
  <cs:valueAxis>
    <cs:lnRef idx="0"/>
    <cs:fillRef idx="0"/>
    <cs:effectRef idx="0"/>
    <cs:fontRef idx="minor">
      <a:schemeClr val="lt1">
        <a:lumMod val="85000"/>
      </a:schemeClr>
    </cs:fontRef>
    <cs:defRPr sz="1197" kern="1200"/>
  </cs:valueAxis>
  <cs:wall>
    <cs:lnRef idx="0"/>
    <cs:fillRef idx="0"/>
    <cs:effectRef idx="0"/>
    <cs:fontRef idx="minor">
      <a:schemeClr val="tx1"/>
    </cs:fontRef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záhlaví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Zástupný symbol pro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F70BED2-2CD8-4EB9-91AB-C6B1DF8407AA}" type="datetimeFigureOut">
              <a:rPr lang="cs-CZ" smtClean="0"/>
              <a:t>10.01.2024</a:t>
            </a:fld>
            <a:endParaRPr lang="cs-CZ"/>
          </a:p>
        </p:txBody>
      </p:sp>
      <p:sp>
        <p:nvSpPr>
          <p:cNvPr id="4" name="Zástupný symbol pro obrázek snímku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Zástupný symbol pro poznámky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3B2A8AA-3CFA-4058-A9E8-501629B9885F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7840722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3B2A8AA-3CFA-4058-A9E8-501629B9885F}" type="slidenum">
              <a:rPr lang="cs-CZ" smtClean="0"/>
              <a:t>4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12618947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3B2A8AA-3CFA-4058-A9E8-501629B9885F}" type="slidenum">
              <a:rPr lang="cs-CZ" smtClean="0"/>
              <a:t>5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69507156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3B2A8AA-3CFA-4058-A9E8-501629B9885F}" type="slidenum">
              <a:rPr lang="cs-CZ" smtClean="0"/>
              <a:t>6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67951721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3B2A8AA-3CFA-4058-A9E8-501629B9885F}" type="slidenum">
              <a:rPr lang="cs-CZ" smtClean="0"/>
              <a:t>7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29081749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3B2A8AA-3CFA-4058-A9E8-501629B9885F}" type="slidenum">
              <a:rPr lang="cs-CZ" smtClean="0"/>
              <a:t>8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51887015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3B2A8AA-3CFA-4058-A9E8-501629B9885F}" type="slidenum">
              <a:rPr lang="cs-CZ" smtClean="0"/>
              <a:t>9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5682153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cs-CZ"/>
              <a:t>Kliknutím můžete upravit styl předlohy.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F2DFF-DFBA-45D7-BD53-EA41F0A3186F}" type="datetime1">
              <a:rPr lang="cs-CZ" smtClean="0"/>
              <a:t>10.01.2024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CBEFC5-2588-4AC4-AECB-CCA272DE9DCC}" type="slidenum">
              <a:rPr lang="cs-CZ" smtClean="0"/>
              <a:t>‹#›</a:t>
            </a:fld>
            <a:endParaRPr lang="cs-CZ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496645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7C5BFA-7940-4C84-96A8-45C2D6FF4C61}" type="datetime1">
              <a:rPr lang="cs-CZ" smtClean="0"/>
              <a:t>10.01.2024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CBEFC5-2588-4AC4-AECB-CCA272DE9DCC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3428039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Záhlaví oddílu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1F632D-4E03-4280-ADEF-645E5836C865}" type="datetime1">
              <a:rPr lang="cs-CZ" smtClean="0"/>
              <a:t>10.01.2024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CBEFC5-2588-4AC4-AECB-CCA272DE9DCC}" type="slidenum">
              <a:rPr lang="cs-CZ" smtClean="0"/>
              <a:t>‹#›</a:t>
            </a:fld>
            <a:endParaRPr lang="cs-CZ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876085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0D10B-2A89-4A40-8D20-277FE0B5353D}" type="datetime1">
              <a:rPr lang="cs-CZ" smtClean="0"/>
              <a:t>10.01.2024</a:t>
            </a:fld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CBEFC5-2588-4AC4-AECB-CCA272DE9DCC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7909778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041592-F96D-45D0-BDF6-A1D1F0E5A092}" type="datetime1">
              <a:rPr lang="cs-CZ" smtClean="0"/>
              <a:t>10.01.2024</a:t>
            </a:fld>
            <a:endParaRPr lang="cs-CZ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CBEFC5-2588-4AC4-AECB-CCA272DE9DCC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6159558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Jenom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4A086B-D1F5-4744-9FA8-56EA25590E9F}" type="datetime1">
              <a:rPr lang="cs-CZ" smtClean="0"/>
              <a:t>10.01.2024</a:t>
            </a:fld>
            <a:endParaRPr lang="cs-CZ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CBEFC5-2588-4AC4-AECB-CCA272DE9DCC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1627990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58B628-844A-4E5C-909D-F279BE5D7174}" type="datetime1">
              <a:rPr lang="cs-CZ" smtClean="0"/>
              <a:t>10.01.2024</a:t>
            </a:fld>
            <a:endParaRPr lang="cs-CZ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cs-CZ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CBEFC5-2588-4AC4-AECB-CCA272DE9DCC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960797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1F94FED8-A547-483E-BCB3-165D9366CD51}" type="datetime1">
              <a:rPr lang="cs-CZ" smtClean="0"/>
              <a:t>10.01.2024</a:t>
            </a:fld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6CBEFC5-2588-4AC4-AECB-CCA272DE9DCC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781895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Obrázek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cs-CZ"/>
              <a:t>Kliknutím na ikonu přidáte obrázek.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A346B3-C3E6-4C94-8444-857BE4D38885}" type="datetime1">
              <a:rPr lang="cs-CZ" smtClean="0"/>
              <a:t>10.01.2024</a:t>
            </a:fld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CBEFC5-2588-4AC4-AECB-CCA272DE9DCC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5265494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62D017-2BF7-46AF-A599-DDF556A7C899}" type="datetime1">
              <a:rPr lang="cs-CZ" smtClean="0"/>
              <a:t>10.01.2024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CBEFC5-2588-4AC4-AECB-CCA272DE9DCC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2820188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EEDCFD-D31B-4C05-AF8A-BA1F4EA9ADFA}" type="datetime1">
              <a:rPr lang="cs-CZ" smtClean="0"/>
              <a:t>10.01.2024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CBEFC5-2588-4AC4-AECB-CCA272DE9DCC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0537306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7A3D50CB-9031-44E1-8002-1FE173F072DB}" type="datetime1">
              <a:rPr lang="cs-CZ" smtClean="0"/>
              <a:t>10.01.2024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B6CBEFC5-2588-4AC4-AECB-CCA272DE9DCC}" type="slidenum">
              <a:rPr lang="cs-CZ" smtClean="0"/>
              <a:t>‹#›</a:t>
            </a:fld>
            <a:endParaRPr lang="cs-CZ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93369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  <p:sldLayoutId id="2147483699" r:id="rId9"/>
    <p:sldLayoutId id="2147483700" r:id="rId10"/>
    <p:sldLayoutId id="2147483701" r:id="rId11"/>
  </p:sldLayoutIdLst>
  <p:hf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chart" Target="../charts/chart6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7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8.xml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0.xml"/><Relationship Id="rId2" Type="http://schemas.openxmlformats.org/officeDocument/2006/relationships/chart" Target="../charts/chart9.xml"/><Relationship Id="rId1" Type="http://schemas.openxmlformats.org/officeDocument/2006/relationships/slideLayout" Target="../slideLayouts/slideLayout6.xml"/><Relationship Id="rId4" Type="http://schemas.openxmlformats.org/officeDocument/2006/relationships/chart" Target="../charts/chart1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3.xml"/><Relationship Id="rId2" Type="http://schemas.openxmlformats.org/officeDocument/2006/relationships/chart" Target="../charts/chart12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chart" Target="../charts/chart14.xml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5.xml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microsoft.com/powerpoint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E5CDDCCE-52CB-19D8-7B89-A605FD25E0A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cs-CZ" dirty="0"/>
              <a:t>Grafy</a:t>
            </a:r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FE61062A-8DEB-DFED-077F-107B7F2465D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cs-CZ" dirty="0"/>
              <a:t>Možnosti zobrazení a další úpravy jako animace</a:t>
            </a:r>
          </a:p>
          <a:p>
            <a:endParaRPr lang="cs-CZ" dirty="0"/>
          </a:p>
          <a:p>
            <a:r>
              <a:rPr lang="cs-CZ" sz="1700" dirty="0"/>
              <a:t>Ing. Votavová Gabriela</a:t>
            </a:r>
          </a:p>
        </p:txBody>
      </p:sp>
      <p:pic>
        <p:nvPicPr>
          <p:cNvPr id="6" name="Obrázek 5">
            <a:extLst>
              <a:ext uri="{FF2B5EF4-FFF2-40B4-BE49-F238E27FC236}">
                <a16:creationId xmlns:a16="http://schemas.microsoft.com/office/drawing/2014/main" id="{BEC4DAEF-0CA0-9A43-97CE-33A6F9E8A2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85373" y="936171"/>
            <a:ext cx="2492160" cy="12083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47070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Nadpis 3">
            <a:extLst>
              <a:ext uri="{FF2B5EF4-FFF2-40B4-BE49-F238E27FC236}">
                <a16:creationId xmlns:a16="http://schemas.microsoft.com/office/drawing/2014/main" id="{003C83DE-91CB-A685-2F33-A64477C3C5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Ukázka chybně vloženého grafu</a:t>
            </a:r>
          </a:p>
        </p:txBody>
      </p:sp>
      <p:sp>
        <p:nvSpPr>
          <p:cNvPr id="3" name="Zástupný symbol pro číslo snímku 2">
            <a:extLst>
              <a:ext uri="{FF2B5EF4-FFF2-40B4-BE49-F238E27FC236}">
                <a16:creationId xmlns:a16="http://schemas.microsoft.com/office/drawing/2014/main" id="{20D1A7F4-DC3C-A068-359C-AB5A59FE1C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CBEFC5-2588-4AC4-AECB-CCA272DE9DCC}" type="slidenum">
              <a:rPr lang="cs-CZ" smtClean="0"/>
              <a:t>2</a:t>
            </a:fld>
            <a:endParaRPr lang="cs-CZ"/>
          </a:p>
        </p:txBody>
      </p:sp>
      <p:graphicFrame>
        <p:nvGraphicFramePr>
          <p:cNvPr id="6" name="Zástupný symbol pro obsah 5">
            <a:extLst>
              <a:ext uri="{FF2B5EF4-FFF2-40B4-BE49-F238E27FC236}">
                <a16:creationId xmlns:a16="http://schemas.microsoft.com/office/drawing/2014/main" id="{DFB35F0C-B1B4-4E49-B4AB-32E5303A34D4}"/>
              </a:ext>
            </a:extLst>
          </p:cNvPr>
          <p:cNvGraphicFramePr>
            <a:graphicFrameLocks noGrp="1"/>
          </p:cNvGraphicFramePr>
          <p:nvPr>
            <p:ph idx="4294967295"/>
            <p:extLst>
              <p:ext uri="{D42A27DB-BD31-4B8C-83A1-F6EECF244321}">
                <p14:modId xmlns:p14="http://schemas.microsoft.com/office/powerpoint/2010/main" val="845159957"/>
              </p:ext>
            </p:extLst>
          </p:nvPr>
        </p:nvGraphicFramePr>
        <p:xfrm>
          <a:off x="1347107" y="1824479"/>
          <a:ext cx="8972550" cy="454818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5273743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9531B568-58E8-C173-EDDF-811C72D70C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Správný výběr dat</a:t>
            </a:r>
          </a:p>
        </p:txBody>
      </p:sp>
      <p:pic>
        <p:nvPicPr>
          <p:cNvPr id="5" name="Obrázek 4">
            <a:extLst>
              <a:ext uri="{FF2B5EF4-FFF2-40B4-BE49-F238E27FC236}">
                <a16:creationId xmlns:a16="http://schemas.microsoft.com/office/drawing/2014/main" id="{7563C0E3-7A11-5E26-7A0F-97B61ED5D95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10486"/>
          <a:stretch/>
        </p:blipFill>
        <p:spPr>
          <a:xfrm>
            <a:off x="198946" y="1698172"/>
            <a:ext cx="5557634" cy="4234544"/>
          </a:xfrm>
          <a:prstGeom prst="rect">
            <a:avLst/>
          </a:prstGeom>
        </p:spPr>
      </p:pic>
      <p:pic>
        <p:nvPicPr>
          <p:cNvPr id="7" name="Obrázek 6">
            <a:extLst>
              <a:ext uri="{FF2B5EF4-FFF2-40B4-BE49-F238E27FC236}">
                <a16:creationId xmlns:a16="http://schemas.microsoft.com/office/drawing/2014/main" id="{FD2081D3-DD52-AFED-3605-6904A073DA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5422" y="2710447"/>
            <a:ext cx="5678087" cy="4046978"/>
          </a:xfrm>
          <a:prstGeom prst="rect">
            <a:avLst/>
          </a:prstGeom>
        </p:spPr>
      </p:pic>
      <p:sp>
        <p:nvSpPr>
          <p:cNvPr id="8" name="Šipka: doleva 7">
            <a:extLst>
              <a:ext uri="{FF2B5EF4-FFF2-40B4-BE49-F238E27FC236}">
                <a16:creationId xmlns:a16="http://schemas.microsoft.com/office/drawing/2014/main" id="{DD008418-4679-A739-A123-FC3F76C7FAED}"/>
              </a:ext>
            </a:extLst>
          </p:cNvPr>
          <p:cNvSpPr/>
          <p:nvPr/>
        </p:nvSpPr>
        <p:spPr>
          <a:xfrm rot="12489731">
            <a:off x="4660193" y="2588394"/>
            <a:ext cx="1895738" cy="1121065"/>
          </a:xfrm>
          <a:prstGeom prst="leftArrow">
            <a:avLst/>
          </a:prstGeom>
          <a:gradFill flip="none" rotWithShape="1">
            <a:gsLst>
              <a:gs pos="0">
                <a:srgbClr val="FF0000">
                  <a:shade val="30000"/>
                  <a:satMod val="115000"/>
                </a:srgbClr>
              </a:gs>
              <a:gs pos="50000">
                <a:srgbClr val="FF0000">
                  <a:shade val="67500"/>
                  <a:satMod val="115000"/>
                </a:srgbClr>
              </a:gs>
              <a:gs pos="100000">
                <a:srgbClr val="FF0000">
                  <a:shade val="100000"/>
                  <a:satMod val="115000"/>
                </a:srgbClr>
              </a:gs>
            </a:gsLst>
            <a:lin ang="10800000" scaled="1"/>
            <a:tileRect/>
          </a:gra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9" name="Zástupný symbol pro číslo snímku 8">
            <a:extLst>
              <a:ext uri="{FF2B5EF4-FFF2-40B4-BE49-F238E27FC236}">
                <a16:creationId xmlns:a16="http://schemas.microsoft.com/office/drawing/2014/main" id="{1C3EBDDB-B2B4-09F7-AA2D-294EC73080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CBEFC5-2588-4AC4-AECB-CCA272DE9DCC}" type="slidenum">
              <a:rPr lang="cs-CZ" smtClean="0"/>
              <a:t>3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7565728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14E52518-202C-207D-F1B3-7ADF6B17A1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Změna stylu grafu</a:t>
            </a:r>
          </a:p>
        </p:txBody>
      </p:sp>
      <p:pic>
        <p:nvPicPr>
          <p:cNvPr id="5" name="Obrázek 4">
            <a:extLst>
              <a:ext uri="{FF2B5EF4-FFF2-40B4-BE49-F238E27FC236}">
                <a16:creationId xmlns:a16="http://schemas.microsoft.com/office/drawing/2014/main" id="{1603A07D-112A-7F4A-75AD-2768FD03E9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5230" y="1810395"/>
            <a:ext cx="6032203" cy="4576354"/>
          </a:xfrm>
          <a:prstGeom prst="rect">
            <a:avLst/>
          </a:prstGeom>
        </p:spPr>
      </p:pic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65BBB761-5BC2-D288-D9F0-333C5FAD2B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CBEFC5-2588-4AC4-AECB-CCA272DE9DCC}" type="slidenum">
              <a:rPr lang="cs-CZ" smtClean="0"/>
              <a:t>4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4049050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14E52518-202C-207D-F1B3-7ADF6B17A1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Změna barevného formátu grafu</a:t>
            </a:r>
          </a:p>
        </p:txBody>
      </p:sp>
      <p:pic>
        <p:nvPicPr>
          <p:cNvPr id="4" name="Obrázek 3">
            <a:extLst>
              <a:ext uri="{FF2B5EF4-FFF2-40B4-BE49-F238E27FC236}">
                <a16:creationId xmlns:a16="http://schemas.microsoft.com/office/drawing/2014/main" id="{28C04588-1CA9-1FE7-79BA-19833CBA18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1737360"/>
            <a:ext cx="10140404" cy="5422512"/>
          </a:xfrm>
          <a:prstGeom prst="rect">
            <a:avLst/>
          </a:prstGeom>
        </p:spPr>
      </p:pic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003112B6-1E9A-4032-B04C-91D5726048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CBEFC5-2588-4AC4-AECB-CCA272DE9DCC}" type="slidenum">
              <a:rPr lang="cs-CZ" smtClean="0"/>
              <a:t>5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9097946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14E52518-202C-207D-F1B3-7ADF6B17A1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Změna typu grafu</a:t>
            </a:r>
          </a:p>
        </p:txBody>
      </p:sp>
      <p:graphicFrame>
        <p:nvGraphicFramePr>
          <p:cNvPr id="6" name="Zástupný symbol pro obsah 5">
            <a:extLst>
              <a:ext uri="{FF2B5EF4-FFF2-40B4-BE49-F238E27FC236}">
                <a16:creationId xmlns:a16="http://schemas.microsoft.com/office/drawing/2014/main" id="{DFB35F0C-B1B4-4E49-B4AB-32E5303A34D4}"/>
              </a:ext>
            </a:extLst>
          </p:cNvPr>
          <p:cNvGraphicFramePr>
            <a:graphicFrameLocks noGrp="1"/>
          </p:cNvGraphicFramePr>
          <p:nvPr>
            <p:ph idx="4294967295"/>
            <p:extLst>
              <p:ext uri="{D42A27DB-BD31-4B8C-83A1-F6EECF244321}">
                <p14:modId xmlns:p14="http://schemas.microsoft.com/office/powerpoint/2010/main" val="787130642"/>
              </p:ext>
            </p:extLst>
          </p:nvPr>
        </p:nvGraphicFramePr>
        <p:xfrm>
          <a:off x="2850016" y="2137956"/>
          <a:ext cx="9472612" cy="43846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" name="Zástupný symbol pro číslo snímku 2">
            <a:extLst>
              <a:ext uri="{FF2B5EF4-FFF2-40B4-BE49-F238E27FC236}">
                <a16:creationId xmlns:a16="http://schemas.microsoft.com/office/drawing/2014/main" id="{057BFC8A-A7A4-67D0-D1AE-8DA2F05A9E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CBEFC5-2588-4AC4-AECB-CCA272DE9DCC}" type="slidenum">
              <a:rPr lang="cs-CZ" smtClean="0"/>
              <a:t>6</a:t>
            </a:fld>
            <a:endParaRPr lang="cs-CZ"/>
          </a:p>
        </p:txBody>
      </p:sp>
      <p:pic>
        <p:nvPicPr>
          <p:cNvPr id="5" name="Obrázek 4">
            <a:extLst>
              <a:ext uri="{FF2B5EF4-FFF2-40B4-BE49-F238E27FC236}">
                <a16:creationId xmlns:a16="http://schemas.microsoft.com/office/drawing/2014/main" id="{D3F87815-550F-9C5B-65E7-2DB9D5D5B8F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7371" y="1835677"/>
            <a:ext cx="3586127" cy="21005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6205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14E52518-202C-207D-F1B3-7ADF6B17A1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Úprava datové řady na jiný tvar</a:t>
            </a:r>
          </a:p>
        </p:txBody>
      </p:sp>
      <p:graphicFrame>
        <p:nvGraphicFramePr>
          <p:cNvPr id="6" name="Zástupný symbol pro obsah 5">
            <a:extLst>
              <a:ext uri="{FF2B5EF4-FFF2-40B4-BE49-F238E27FC236}">
                <a16:creationId xmlns:a16="http://schemas.microsoft.com/office/drawing/2014/main" id="{DFB35F0C-B1B4-4E49-B4AB-32E5303A34D4}"/>
              </a:ext>
            </a:extLst>
          </p:cNvPr>
          <p:cNvGraphicFramePr>
            <a:graphicFrameLocks noGrp="1"/>
          </p:cNvGraphicFramePr>
          <p:nvPr>
            <p:ph idx="4294967295"/>
            <p:extLst>
              <p:ext uri="{D42A27DB-BD31-4B8C-83A1-F6EECF244321}">
                <p14:modId xmlns:p14="http://schemas.microsoft.com/office/powerpoint/2010/main" val="1782553095"/>
              </p:ext>
            </p:extLst>
          </p:nvPr>
        </p:nvGraphicFramePr>
        <p:xfrm>
          <a:off x="3853542" y="1908310"/>
          <a:ext cx="8011887" cy="408438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" name="Zástupný symbol pro číslo snímku 2">
            <a:extLst>
              <a:ext uri="{FF2B5EF4-FFF2-40B4-BE49-F238E27FC236}">
                <a16:creationId xmlns:a16="http://schemas.microsoft.com/office/drawing/2014/main" id="{057BFC8A-A7A4-67D0-D1AE-8DA2F05A9E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CBEFC5-2588-4AC4-AECB-CCA272DE9DCC}" type="slidenum">
              <a:rPr lang="cs-CZ" smtClean="0"/>
              <a:t>7</a:t>
            </a:fld>
            <a:endParaRPr lang="cs-CZ"/>
          </a:p>
        </p:txBody>
      </p:sp>
      <p:pic>
        <p:nvPicPr>
          <p:cNvPr id="5" name="Obrázek 4">
            <a:extLst>
              <a:ext uri="{FF2B5EF4-FFF2-40B4-BE49-F238E27FC236}">
                <a16:creationId xmlns:a16="http://schemas.microsoft.com/office/drawing/2014/main" id="{7AA299DC-2018-00C5-F992-6CE618F8124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6571" y="1908310"/>
            <a:ext cx="2883048" cy="43436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77737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14E52518-202C-207D-F1B3-7ADF6B17A1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Animace</a:t>
            </a:r>
          </a:p>
        </p:txBody>
      </p:sp>
      <p:graphicFrame>
        <p:nvGraphicFramePr>
          <p:cNvPr id="6" name="Zástupný symbol pro obsah 5">
            <a:extLst>
              <a:ext uri="{FF2B5EF4-FFF2-40B4-BE49-F238E27FC236}">
                <a16:creationId xmlns:a16="http://schemas.microsoft.com/office/drawing/2014/main" id="{DFB35F0C-B1B4-4E49-B4AB-32E5303A34D4}"/>
              </a:ext>
            </a:extLst>
          </p:cNvPr>
          <p:cNvGraphicFramePr>
            <a:graphicFrameLocks noGrp="1"/>
          </p:cNvGraphicFramePr>
          <p:nvPr>
            <p:ph idx="4294967295"/>
            <p:extLst>
              <p:ext uri="{D42A27DB-BD31-4B8C-83A1-F6EECF244321}">
                <p14:modId xmlns:p14="http://schemas.microsoft.com/office/powerpoint/2010/main" val="3293343341"/>
              </p:ext>
            </p:extLst>
          </p:nvPr>
        </p:nvGraphicFramePr>
        <p:xfrm>
          <a:off x="259929" y="2060746"/>
          <a:ext cx="5471797" cy="420531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" name="Zástupný symbol pro číslo snímku 2">
            <a:extLst>
              <a:ext uri="{FF2B5EF4-FFF2-40B4-BE49-F238E27FC236}">
                <a16:creationId xmlns:a16="http://schemas.microsoft.com/office/drawing/2014/main" id="{057BFC8A-A7A4-67D0-D1AE-8DA2F05A9E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CBEFC5-2588-4AC4-AECB-CCA272DE9DCC}" type="slidenum">
              <a:rPr lang="cs-CZ" smtClean="0"/>
              <a:t>8</a:t>
            </a:fld>
            <a:endParaRPr lang="cs-CZ"/>
          </a:p>
        </p:txBody>
      </p:sp>
      <p:pic>
        <p:nvPicPr>
          <p:cNvPr id="7" name="Obrázek 6">
            <a:extLst>
              <a:ext uri="{FF2B5EF4-FFF2-40B4-BE49-F238E27FC236}">
                <a16:creationId xmlns:a16="http://schemas.microsoft.com/office/drawing/2014/main" id="{DAC85D4C-A209-7135-C1D0-A0DBF341218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17742" y="199080"/>
            <a:ext cx="5014329" cy="64598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10283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chart seriesIdx="0" categoryIdx="0" bldStep="ptIn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6">
                                            <p:graphicEl>
                                              <a:chart seriesIdx="0" categoryIdx="0" bldStep="ptInSeries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">
                                            <p:graphicEl>
                                              <a:chart seriesIdx="0" categoryIdx="0" bldStep="ptIn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6">
                                            <p:graphicEl>
                                              <a:chart seriesIdx="0" categoryIdx="0" bldStep="ptIn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chart seriesIdx="0" categoryIdx="1" bldStep="ptIn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6">
                                            <p:graphicEl>
                                              <a:chart seriesIdx="0" categoryIdx="1" bldStep="ptInSeries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6">
                                            <p:graphicEl>
                                              <a:chart seriesIdx="0" categoryIdx="1" bldStep="ptIn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6">
                                            <p:graphicEl>
                                              <a:chart seriesIdx="0" categoryIdx="1" bldStep="ptIn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chart seriesIdx="1" categoryIdx="0" bldStep="ptIn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6">
                                            <p:graphicEl>
                                              <a:chart seriesIdx="1" categoryIdx="0" bldStep="ptInSeries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6">
                                            <p:graphicEl>
                                              <a:chart seriesIdx="1" categoryIdx="0" bldStep="ptIn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6">
                                            <p:graphicEl>
                                              <a:chart seriesIdx="1" categoryIdx="0" bldStep="ptIn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chart seriesIdx="1" categoryIdx="1" bldStep="ptIn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6">
                                            <p:graphicEl>
                                              <a:chart seriesIdx="1" categoryIdx="1" bldStep="ptInSeries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6">
                                            <p:graphicEl>
                                              <a:chart seriesIdx="1" categoryIdx="1" bldStep="ptIn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6">
                                            <p:graphicEl>
                                              <a:chart seriesIdx="1" categoryIdx="1" bldStep="ptIn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6" grpId="0">
        <p:bldSub>
          <a:bldChart bld="seriesEl"/>
        </p:bldSub>
      </p:bldGraphic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14E52518-202C-207D-F1B3-7ADF6B17A1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Animace částí grafu</a:t>
            </a:r>
          </a:p>
        </p:txBody>
      </p:sp>
      <p:graphicFrame>
        <p:nvGraphicFramePr>
          <p:cNvPr id="6" name="Zástupný symbol pro obsah 5">
            <a:extLst>
              <a:ext uri="{FF2B5EF4-FFF2-40B4-BE49-F238E27FC236}">
                <a16:creationId xmlns:a16="http://schemas.microsoft.com/office/drawing/2014/main" id="{DFB35F0C-B1B4-4E49-B4AB-32E5303A34D4}"/>
              </a:ext>
            </a:extLst>
          </p:cNvPr>
          <p:cNvGraphicFramePr>
            <a:graphicFrameLocks noGrp="1"/>
          </p:cNvGraphicFramePr>
          <p:nvPr>
            <p:ph idx="4294967295"/>
            <p:extLst>
              <p:ext uri="{D42A27DB-BD31-4B8C-83A1-F6EECF244321}">
                <p14:modId xmlns:p14="http://schemas.microsoft.com/office/powerpoint/2010/main" val="3152889042"/>
              </p:ext>
            </p:extLst>
          </p:nvPr>
        </p:nvGraphicFramePr>
        <p:xfrm>
          <a:off x="1578428" y="1973624"/>
          <a:ext cx="8011887" cy="408438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" name="Zástupný symbol pro číslo snímku 2">
            <a:extLst>
              <a:ext uri="{FF2B5EF4-FFF2-40B4-BE49-F238E27FC236}">
                <a16:creationId xmlns:a16="http://schemas.microsoft.com/office/drawing/2014/main" id="{057BFC8A-A7A4-67D0-D1AE-8DA2F05A9E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CBEFC5-2588-4AC4-AECB-CCA272DE9DCC}" type="slidenum">
              <a:rPr lang="cs-CZ" smtClean="0"/>
              <a:t>9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7805854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chart seriesIdx="-4" categoryIdx="0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>
                                            <p:graphicEl>
                                              <a:chart seriesIdx="-4" categoryIdx="0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>
                                            <p:graphicEl>
                                              <a:chart seriesIdx="-4" categoryIdx="0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chart seriesIdx="-4" categoryIdx="1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6">
                                            <p:graphicEl>
                                              <a:chart seriesIdx="-4" categoryIdx="1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6">
                                            <p:graphicEl>
                                              <a:chart seriesIdx="-4" categoryIdx="1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6" grpId="0">
        <p:bldSub>
          <a:bldChart bld="category"/>
        </p:bldSub>
      </p:bldGraphic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3A005D5-5AA3-A6E8-899D-5FEBA80E10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cs-CZ" sz="7200" dirty="0"/>
              <a:t>Další ukázky úpravy grafů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1CAAEAA8-2390-ABA0-CF75-509A08283F3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cs-CZ" dirty="0"/>
              <a:t>Změna tvaru, prohození řádku a sloupce, barevné úpravy</a:t>
            </a:r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280193A1-4883-84DB-3EDF-10DAB1842E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CBEFC5-2588-4AC4-AECB-CCA272DE9DCC}" type="slidenum">
              <a:rPr lang="cs-CZ" smtClean="0"/>
              <a:t>10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7460248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10000">
              <a:schemeClr val="accent6">
                <a:lumMod val="60000"/>
                <a:lumOff val="40000"/>
              </a:schemeClr>
            </a:gs>
            <a:gs pos="100000">
              <a:schemeClr val="bg2">
                <a:shade val="96000"/>
                <a:satMod val="120000"/>
                <a:lumMod val="90000"/>
              </a:schemeClr>
            </a:gs>
          </a:gsLst>
          <a:lin ang="612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FAF7DAE0-402F-4735-8D5E-1795B279BD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>
                <a:solidFill>
                  <a:schemeClr val="bg1"/>
                </a:solidFill>
              </a:rPr>
              <a:t>Výsledek voleb v Kocourkově</a:t>
            </a:r>
          </a:p>
        </p:txBody>
      </p:sp>
      <p:graphicFrame>
        <p:nvGraphicFramePr>
          <p:cNvPr id="4" name="Zástupný symbol pro obsah 3">
            <a:extLst>
              <a:ext uri="{FF2B5EF4-FFF2-40B4-BE49-F238E27FC236}">
                <a16:creationId xmlns:a16="http://schemas.microsoft.com/office/drawing/2014/main" id="{A9E608E0-4F78-4A7B-813F-905102397EB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93999433"/>
              </p:ext>
            </p:extLst>
          </p:nvPr>
        </p:nvGraphicFramePr>
        <p:xfrm>
          <a:off x="944563" y="2238148"/>
          <a:ext cx="10058400" cy="1190852"/>
        </p:xfrm>
        <a:graphic>
          <a:graphicData uri="http://schemas.openxmlformats.org/drawingml/2006/table">
            <a:tbl>
              <a:tblPr firstRow="1" bandRow="1"/>
              <a:tblGrid>
                <a:gridCol w="2514600">
                  <a:extLst>
                    <a:ext uri="{9D8B030D-6E8A-4147-A177-3AD203B41FA5}">
                      <a16:colId xmlns:a16="http://schemas.microsoft.com/office/drawing/2014/main" val="627769126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1172357913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515200964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1784356965"/>
                    </a:ext>
                  </a:extLst>
                </a:gridCol>
              </a:tblGrid>
              <a:tr h="595426">
                <a:tc>
                  <a:txBody>
                    <a:bodyPr/>
                    <a:lstStyle/>
                    <a:p>
                      <a:r>
                        <a:rPr lang="cs-CZ" b="1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Strana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cs-CZ" b="1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Žlutí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cs-CZ" b="1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Modří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cs-CZ" b="1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Červení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0218108"/>
                  </a:ext>
                </a:extLst>
              </a:tr>
              <a:tr h="595426">
                <a:tc>
                  <a:txBody>
                    <a:bodyPr/>
                    <a:lstStyle/>
                    <a:p>
                      <a:r>
                        <a:rPr lang="cs-CZ" b="1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Počet hlasů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cs-CZ" b="1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cs-CZ" b="1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223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cs-CZ" b="1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178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47440589"/>
                  </a:ext>
                </a:extLst>
              </a:tr>
            </a:tbl>
          </a:graphicData>
        </a:graphic>
      </p:graphicFrame>
      <p:sp>
        <p:nvSpPr>
          <p:cNvPr id="3" name="Zástupný symbol pro číslo snímku 2">
            <a:extLst>
              <a:ext uri="{FF2B5EF4-FFF2-40B4-BE49-F238E27FC236}">
                <a16:creationId xmlns:a16="http://schemas.microsoft.com/office/drawing/2014/main" id="{2789CE1F-87B8-2B30-F05E-D50C8CE4A2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CBEFC5-2588-4AC4-AECB-CCA272DE9DCC}" type="slidenum">
              <a:rPr lang="cs-CZ" smtClean="0"/>
              <a:t>11</a:t>
            </a:fld>
            <a:endParaRPr lang="cs-CZ"/>
          </a:p>
        </p:txBody>
      </p:sp>
      <p:sp>
        <p:nvSpPr>
          <p:cNvPr id="6" name="TextovéPole 5">
            <a:extLst>
              <a:ext uri="{FF2B5EF4-FFF2-40B4-BE49-F238E27FC236}">
                <a16:creationId xmlns:a16="http://schemas.microsoft.com/office/drawing/2014/main" id="{6E2B0CA8-A1B9-3697-6960-F49BBF97FFB3}"/>
              </a:ext>
            </a:extLst>
          </p:cNvPr>
          <p:cNvSpPr txBox="1"/>
          <p:nvPr/>
        </p:nvSpPr>
        <p:spPr>
          <a:xfrm>
            <a:off x="1115685" y="4036451"/>
            <a:ext cx="6776457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cs-CZ" sz="2800" dirty="0"/>
              <a:t>Zdroj dat = tabulka, jako součást Powerpointu = &gt; Tabulka kterou vytvoříte do vnořeného MS Excelu po příkazu Vložení =&gt; Graf</a:t>
            </a:r>
          </a:p>
        </p:txBody>
      </p:sp>
    </p:spTree>
    <p:extLst>
      <p:ext uri="{BB962C8B-B14F-4D97-AF65-F5344CB8AC3E}">
        <p14:creationId xmlns:p14="http://schemas.microsoft.com/office/powerpoint/2010/main" val="88968146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číslo snímku 1">
            <a:extLst>
              <a:ext uri="{FF2B5EF4-FFF2-40B4-BE49-F238E27FC236}">
                <a16:creationId xmlns:a16="http://schemas.microsoft.com/office/drawing/2014/main" id="{2A208254-8140-B697-69FA-3E17AC3572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CBEFC5-2588-4AC4-AECB-CCA272DE9DCC}" type="slidenum">
              <a:rPr lang="cs-CZ" smtClean="0"/>
              <a:t>12</a:t>
            </a:fld>
            <a:endParaRPr lang="cs-CZ"/>
          </a:p>
        </p:txBody>
      </p:sp>
      <p:graphicFrame>
        <p:nvGraphicFramePr>
          <p:cNvPr id="6" name="Zástupný symbol pro obsah 5">
            <a:extLst>
              <a:ext uri="{FF2B5EF4-FFF2-40B4-BE49-F238E27FC236}">
                <a16:creationId xmlns:a16="http://schemas.microsoft.com/office/drawing/2014/main" id="{B7A01A56-57F1-4DAD-B6F7-87F3AF658FCE}"/>
              </a:ext>
            </a:extLst>
          </p:cNvPr>
          <p:cNvGraphicFramePr>
            <a:graphicFrameLocks noGrp="1"/>
          </p:cNvGraphicFramePr>
          <p:nvPr>
            <p:ph idx="4294967295"/>
            <p:extLst>
              <p:ext uri="{D42A27DB-BD31-4B8C-83A1-F6EECF244321}">
                <p14:modId xmlns:p14="http://schemas.microsoft.com/office/powerpoint/2010/main" val="2115052443"/>
              </p:ext>
            </p:extLst>
          </p:nvPr>
        </p:nvGraphicFramePr>
        <p:xfrm>
          <a:off x="0" y="835025"/>
          <a:ext cx="8070850" cy="50704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pic>
        <p:nvPicPr>
          <p:cNvPr id="4" name="Obrázek 3">
            <a:extLst>
              <a:ext uri="{FF2B5EF4-FFF2-40B4-BE49-F238E27FC236}">
                <a16:creationId xmlns:a16="http://schemas.microsoft.com/office/drawing/2014/main" id="{339EBE58-DCC9-6246-9C0F-A752CB9FA3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32520" y="1001263"/>
            <a:ext cx="3149269" cy="46928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244140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Nadpis 4">
            <a:extLst>
              <a:ext uri="{FF2B5EF4-FFF2-40B4-BE49-F238E27FC236}">
                <a16:creationId xmlns:a16="http://schemas.microsoft.com/office/drawing/2014/main" id="{AD80A2C4-403F-BF63-B7FF-A9C79EF38B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Oddálení řad v grafu </a:t>
            </a:r>
          </a:p>
        </p:txBody>
      </p:sp>
      <p:sp>
        <p:nvSpPr>
          <p:cNvPr id="2" name="Zástupný symbol pro číslo snímku 1">
            <a:extLst>
              <a:ext uri="{FF2B5EF4-FFF2-40B4-BE49-F238E27FC236}">
                <a16:creationId xmlns:a16="http://schemas.microsoft.com/office/drawing/2014/main" id="{8FF46D7C-D296-CFF3-3D6D-D24F9C3077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CBEFC5-2588-4AC4-AECB-CCA272DE9DCC}" type="slidenum">
              <a:rPr lang="cs-CZ" smtClean="0"/>
              <a:t>13</a:t>
            </a:fld>
            <a:endParaRPr lang="cs-CZ"/>
          </a:p>
        </p:txBody>
      </p:sp>
      <p:pic>
        <p:nvPicPr>
          <p:cNvPr id="4" name="Obrázek 3">
            <a:extLst>
              <a:ext uri="{FF2B5EF4-FFF2-40B4-BE49-F238E27FC236}">
                <a16:creationId xmlns:a16="http://schemas.microsoft.com/office/drawing/2014/main" id="{B6311F20-C5B2-E127-1318-9BA5E38C1B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562" y="1929520"/>
            <a:ext cx="10934876" cy="42136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547198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adpis 2">
            <a:extLst>
              <a:ext uri="{FF2B5EF4-FFF2-40B4-BE49-F238E27FC236}">
                <a16:creationId xmlns:a16="http://schemas.microsoft.com/office/drawing/2014/main" id="{27995FCE-8A62-7BD1-ABA9-DEBEC46DDC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Výsledný graf</a:t>
            </a:r>
          </a:p>
        </p:txBody>
      </p:sp>
      <p:sp>
        <p:nvSpPr>
          <p:cNvPr id="2" name="Zástupný symbol pro číslo snímku 1">
            <a:extLst>
              <a:ext uri="{FF2B5EF4-FFF2-40B4-BE49-F238E27FC236}">
                <a16:creationId xmlns:a16="http://schemas.microsoft.com/office/drawing/2014/main" id="{8DCFE379-FC20-5274-B9CF-BAFB518638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CBEFC5-2588-4AC4-AECB-CCA272DE9DCC}" type="slidenum">
              <a:rPr lang="cs-CZ" smtClean="0"/>
              <a:t>14</a:t>
            </a:fld>
            <a:endParaRPr lang="cs-CZ"/>
          </a:p>
        </p:txBody>
      </p:sp>
      <p:graphicFrame>
        <p:nvGraphicFramePr>
          <p:cNvPr id="6" name="Zástupný symbol pro obsah 5">
            <a:extLst>
              <a:ext uri="{FF2B5EF4-FFF2-40B4-BE49-F238E27FC236}">
                <a16:creationId xmlns:a16="http://schemas.microsoft.com/office/drawing/2014/main" id="{B7A01A56-57F1-4DAD-B6F7-87F3AF658FCE}"/>
              </a:ext>
            </a:extLst>
          </p:cNvPr>
          <p:cNvGraphicFramePr>
            <a:graphicFrameLocks noGrp="1"/>
          </p:cNvGraphicFramePr>
          <p:nvPr>
            <p:ph idx="4294967295"/>
            <p:extLst>
              <p:ext uri="{D42A27DB-BD31-4B8C-83A1-F6EECF244321}">
                <p14:modId xmlns:p14="http://schemas.microsoft.com/office/powerpoint/2010/main" val="35974566"/>
              </p:ext>
            </p:extLst>
          </p:nvPr>
        </p:nvGraphicFramePr>
        <p:xfrm>
          <a:off x="1632209" y="1926114"/>
          <a:ext cx="8519709" cy="434491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31719058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Nadpis 4">
            <a:extLst>
              <a:ext uri="{FF2B5EF4-FFF2-40B4-BE49-F238E27FC236}">
                <a16:creationId xmlns:a16="http://schemas.microsoft.com/office/drawing/2014/main" id="{AD80A2C4-403F-BF63-B7FF-A9C79EF38B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Oddálení řad v grafu a změna jejich tvaru </a:t>
            </a:r>
          </a:p>
        </p:txBody>
      </p:sp>
      <p:sp>
        <p:nvSpPr>
          <p:cNvPr id="2" name="Zástupný symbol pro číslo snímku 1">
            <a:extLst>
              <a:ext uri="{FF2B5EF4-FFF2-40B4-BE49-F238E27FC236}">
                <a16:creationId xmlns:a16="http://schemas.microsoft.com/office/drawing/2014/main" id="{8FF46D7C-D296-CFF3-3D6D-D24F9C3077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CBEFC5-2588-4AC4-AECB-CCA272DE9DCC}" type="slidenum">
              <a:rPr lang="cs-CZ" smtClean="0"/>
              <a:t>15</a:t>
            </a:fld>
            <a:endParaRPr lang="cs-CZ"/>
          </a:p>
        </p:txBody>
      </p:sp>
      <p:pic>
        <p:nvPicPr>
          <p:cNvPr id="10" name="Obrázek 9">
            <a:extLst>
              <a:ext uri="{FF2B5EF4-FFF2-40B4-BE49-F238E27FC236}">
                <a16:creationId xmlns:a16="http://schemas.microsoft.com/office/drawing/2014/main" id="{30F3872A-6F4F-88BF-3E3A-D983E48DA6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92622"/>
            <a:ext cx="12192000" cy="50594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266975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ástupný symbol pro číslo snímku 2">
            <a:extLst>
              <a:ext uri="{FF2B5EF4-FFF2-40B4-BE49-F238E27FC236}">
                <a16:creationId xmlns:a16="http://schemas.microsoft.com/office/drawing/2014/main" id="{B0A200F8-470C-D792-D758-CE1B3F986B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CBEFC5-2588-4AC4-AECB-CCA272DE9DCC}" type="slidenum">
              <a:rPr lang="cs-CZ" smtClean="0"/>
              <a:t>16</a:t>
            </a:fld>
            <a:endParaRPr lang="cs-CZ"/>
          </a:p>
        </p:txBody>
      </p:sp>
      <p:pic>
        <p:nvPicPr>
          <p:cNvPr id="5" name="Obrázek 4">
            <a:extLst>
              <a:ext uri="{FF2B5EF4-FFF2-40B4-BE49-F238E27FC236}">
                <a16:creationId xmlns:a16="http://schemas.microsoft.com/office/drawing/2014/main" id="{6C9F0E0B-9F7F-05F2-1A8A-B13AB45601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75560" y="2459497"/>
            <a:ext cx="8316686" cy="4432319"/>
          </a:xfrm>
          <a:prstGeom prst="rect">
            <a:avLst/>
          </a:prstGeom>
        </p:spPr>
      </p:pic>
      <p:pic>
        <p:nvPicPr>
          <p:cNvPr id="4" name="Obrázek 3">
            <a:extLst>
              <a:ext uri="{FF2B5EF4-FFF2-40B4-BE49-F238E27FC236}">
                <a16:creationId xmlns:a16="http://schemas.microsoft.com/office/drawing/2014/main" id="{B9B0B8B6-9CDB-BCEC-338D-ACCE533601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6770" y="180227"/>
            <a:ext cx="6504972" cy="3519814"/>
          </a:xfrm>
          <a:prstGeom prst="rect">
            <a:avLst/>
          </a:prstGeom>
        </p:spPr>
      </p:pic>
      <p:sp>
        <p:nvSpPr>
          <p:cNvPr id="6" name="Šipka: doleva 5">
            <a:extLst>
              <a:ext uri="{FF2B5EF4-FFF2-40B4-BE49-F238E27FC236}">
                <a16:creationId xmlns:a16="http://schemas.microsoft.com/office/drawing/2014/main" id="{665FDFBC-BC5B-B558-1ACA-1BCB093D20CD}"/>
              </a:ext>
            </a:extLst>
          </p:cNvPr>
          <p:cNvSpPr/>
          <p:nvPr/>
        </p:nvSpPr>
        <p:spPr>
          <a:xfrm rot="12489731">
            <a:off x="2501386" y="3257753"/>
            <a:ext cx="1895738" cy="1121065"/>
          </a:xfrm>
          <a:prstGeom prst="leftArrow">
            <a:avLst/>
          </a:prstGeom>
          <a:gradFill flip="none" rotWithShape="1">
            <a:gsLst>
              <a:gs pos="0">
                <a:srgbClr val="FF0000">
                  <a:shade val="30000"/>
                  <a:satMod val="115000"/>
                </a:srgbClr>
              </a:gs>
              <a:gs pos="50000">
                <a:srgbClr val="FF0000">
                  <a:shade val="67500"/>
                  <a:satMod val="115000"/>
                </a:srgbClr>
              </a:gs>
              <a:gs pos="100000">
                <a:srgbClr val="FF0000">
                  <a:shade val="100000"/>
                  <a:satMod val="115000"/>
                </a:srgbClr>
              </a:gs>
            </a:gsLst>
            <a:lin ang="10800000" scaled="1"/>
            <a:tileRect/>
          </a:gra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66266742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Nadpis 3">
            <a:extLst>
              <a:ext uri="{FF2B5EF4-FFF2-40B4-BE49-F238E27FC236}">
                <a16:creationId xmlns:a16="http://schemas.microsoft.com/office/drawing/2014/main" id="{A1AFB0CD-1207-F124-01DA-7277FB796F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Výsledný graf</a:t>
            </a:r>
          </a:p>
        </p:txBody>
      </p:sp>
      <p:sp>
        <p:nvSpPr>
          <p:cNvPr id="2" name="Zástupný symbol pro číslo snímku 1">
            <a:extLst>
              <a:ext uri="{FF2B5EF4-FFF2-40B4-BE49-F238E27FC236}">
                <a16:creationId xmlns:a16="http://schemas.microsoft.com/office/drawing/2014/main" id="{8FF46D7C-D296-CFF3-3D6D-D24F9C3077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CBEFC5-2588-4AC4-AECB-CCA272DE9DCC}" type="slidenum">
              <a:rPr lang="cs-CZ" smtClean="0"/>
              <a:t>17</a:t>
            </a:fld>
            <a:endParaRPr lang="cs-CZ"/>
          </a:p>
        </p:txBody>
      </p:sp>
      <p:graphicFrame>
        <p:nvGraphicFramePr>
          <p:cNvPr id="3" name="Zástupný symbol pro obsah 5">
            <a:extLst>
              <a:ext uri="{FF2B5EF4-FFF2-40B4-BE49-F238E27FC236}">
                <a16:creationId xmlns:a16="http://schemas.microsoft.com/office/drawing/2014/main" id="{437446B4-EE9D-79A4-51A8-872F252AD0C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281745954"/>
              </p:ext>
            </p:extLst>
          </p:nvPr>
        </p:nvGraphicFramePr>
        <p:xfrm>
          <a:off x="1676695" y="1805651"/>
          <a:ext cx="8879775" cy="501925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414747478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adpis 2">
            <a:extLst>
              <a:ext uri="{FF2B5EF4-FFF2-40B4-BE49-F238E27FC236}">
                <a16:creationId xmlns:a16="http://schemas.microsoft.com/office/drawing/2014/main" id="{1CD7E029-822C-888C-776B-7DF955C522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>
                <a:solidFill>
                  <a:schemeClr val="bg1"/>
                </a:solidFill>
              </a:rPr>
              <a:t>Grafy ze stejného zdroje</a:t>
            </a:r>
          </a:p>
        </p:txBody>
      </p:sp>
      <p:sp>
        <p:nvSpPr>
          <p:cNvPr id="2" name="Zástupný symbol pro číslo snímku 1">
            <a:extLst>
              <a:ext uri="{FF2B5EF4-FFF2-40B4-BE49-F238E27FC236}">
                <a16:creationId xmlns:a16="http://schemas.microsoft.com/office/drawing/2014/main" id="{B423885A-BAAF-0F8E-C041-515EB7FC2E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CBEFC5-2588-4AC4-AECB-CCA272DE9DCC}" type="slidenum">
              <a:rPr lang="cs-CZ" smtClean="0"/>
              <a:t>18</a:t>
            </a:fld>
            <a:endParaRPr lang="cs-CZ"/>
          </a:p>
        </p:txBody>
      </p:sp>
      <p:graphicFrame>
        <p:nvGraphicFramePr>
          <p:cNvPr id="6" name="Zástupný symbol pro obsah 5">
            <a:extLst>
              <a:ext uri="{FF2B5EF4-FFF2-40B4-BE49-F238E27FC236}">
                <a16:creationId xmlns:a16="http://schemas.microsoft.com/office/drawing/2014/main" id="{B7A01A56-57F1-4DAD-B6F7-87F3AF658FCE}"/>
              </a:ext>
            </a:extLst>
          </p:cNvPr>
          <p:cNvGraphicFramePr>
            <a:graphicFrameLocks noGrp="1"/>
          </p:cNvGraphicFramePr>
          <p:nvPr>
            <p:ph idx="4294967295"/>
            <p:extLst>
              <p:ext uri="{D42A27DB-BD31-4B8C-83A1-F6EECF244321}">
                <p14:modId xmlns:p14="http://schemas.microsoft.com/office/powerpoint/2010/main" val="3039684958"/>
              </p:ext>
            </p:extLst>
          </p:nvPr>
        </p:nvGraphicFramePr>
        <p:xfrm>
          <a:off x="0" y="1819275"/>
          <a:ext cx="4691063" cy="36925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4" name="Zástupný symbol pro obsah 5">
            <a:extLst>
              <a:ext uri="{FF2B5EF4-FFF2-40B4-BE49-F238E27FC236}">
                <a16:creationId xmlns:a16="http://schemas.microsoft.com/office/drawing/2014/main" id="{AE14FDEB-8530-98F3-9A54-B60657D2C65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141780476"/>
              </p:ext>
            </p:extLst>
          </p:nvPr>
        </p:nvGraphicFramePr>
        <p:xfrm>
          <a:off x="4039926" y="3206337"/>
          <a:ext cx="4379679" cy="352497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7" name="Zástupný symbol pro obsah 5">
            <a:extLst>
              <a:ext uri="{FF2B5EF4-FFF2-40B4-BE49-F238E27FC236}">
                <a16:creationId xmlns:a16="http://schemas.microsoft.com/office/drawing/2014/main" id="{0551113E-098F-4350-A4AB-A186295D766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19590857"/>
              </p:ext>
            </p:extLst>
          </p:nvPr>
        </p:nvGraphicFramePr>
        <p:xfrm>
          <a:off x="7957457" y="2158773"/>
          <a:ext cx="4943706" cy="378062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187421995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adpis 2">
            <a:extLst>
              <a:ext uri="{FF2B5EF4-FFF2-40B4-BE49-F238E27FC236}">
                <a16:creationId xmlns:a16="http://schemas.microsoft.com/office/drawing/2014/main" id="{E924CD0F-7185-DCA2-EBFC-DCD5E5F0F3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Ukázky grafů v praxi</a:t>
            </a:r>
          </a:p>
        </p:txBody>
      </p:sp>
      <p:sp>
        <p:nvSpPr>
          <p:cNvPr id="2" name="Zástupný symbol pro číslo snímku 1">
            <a:extLst>
              <a:ext uri="{FF2B5EF4-FFF2-40B4-BE49-F238E27FC236}">
                <a16:creationId xmlns:a16="http://schemas.microsoft.com/office/drawing/2014/main" id="{92571CFF-CC82-B237-48BB-E2C21F7F8E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CBEFC5-2588-4AC4-AECB-CCA272DE9DCC}" type="slidenum">
              <a:rPr lang="cs-CZ" smtClean="0"/>
              <a:t>19</a:t>
            </a:fld>
            <a:endParaRPr lang="cs-CZ"/>
          </a:p>
        </p:txBody>
      </p:sp>
      <p:sp>
        <p:nvSpPr>
          <p:cNvPr id="6" name="Zástupný obsah 5">
            <a:extLst>
              <a:ext uri="{FF2B5EF4-FFF2-40B4-BE49-F238E27FC236}">
                <a16:creationId xmlns:a16="http://schemas.microsoft.com/office/drawing/2014/main" id="{327B0240-C003-C066-E2D5-4E18CC41A9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Tabulka se vstupními daty pro graf</a:t>
            </a:r>
          </a:p>
        </p:txBody>
      </p:sp>
      <p:graphicFrame>
        <p:nvGraphicFramePr>
          <p:cNvPr id="7" name="Zástupný symbol pro obsah 3">
            <a:extLst>
              <a:ext uri="{FF2B5EF4-FFF2-40B4-BE49-F238E27FC236}">
                <a16:creationId xmlns:a16="http://schemas.microsoft.com/office/drawing/2014/main" id="{15E64208-2A9F-459B-8B86-C1A293A08D9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566765259"/>
              </p:ext>
            </p:extLst>
          </p:nvPr>
        </p:nvGraphicFramePr>
        <p:xfrm>
          <a:off x="1097280" y="2646363"/>
          <a:ext cx="10058400" cy="27177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14600">
                  <a:extLst>
                    <a:ext uri="{9D8B030D-6E8A-4147-A177-3AD203B41FA5}">
                      <a16:colId xmlns:a16="http://schemas.microsoft.com/office/drawing/2014/main" val="2695982974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3184661497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3253721080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3382311442"/>
                    </a:ext>
                  </a:extLst>
                </a:gridCol>
              </a:tblGrid>
              <a:tr h="447784">
                <a:tc>
                  <a:txBody>
                    <a:bodyPr/>
                    <a:lstStyle/>
                    <a:p>
                      <a:pPr algn="ctr"/>
                      <a:r>
                        <a:rPr lang="cs-CZ" dirty="0"/>
                        <a:t>Pobočky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cs-CZ" dirty="0"/>
                        <a:t>2011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cs-CZ" dirty="0"/>
                        <a:t>2012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cs-CZ" dirty="0"/>
                        <a:t>2013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48000159"/>
                  </a:ext>
                </a:extLst>
              </a:tr>
              <a:tr h="454003">
                <a:tc>
                  <a:txBody>
                    <a:bodyPr/>
                    <a:lstStyle/>
                    <a:p>
                      <a:r>
                        <a:rPr lang="cs-CZ" dirty="0"/>
                        <a:t>Praha</a:t>
                      </a:r>
                      <a:endParaRPr lang="cs-CZ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cs-CZ" dirty="0"/>
                        <a:t>5 250</a:t>
                      </a:r>
                      <a:endParaRPr lang="cs-CZ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cs-CZ" dirty="0"/>
                        <a:t>6 820</a:t>
                      </a:r>
                      <a:endParaRPr lang="cs-CZ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cs-CZ" dirty="0"/>
                        <a:t>7 021</a:t>
                      </a:r>
                      <a:endParaRPr lang="cs-CZ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90733008"/>
                  </a:ext>
                </a:extLst>
              </a:tr>
              <a:tr h="454003">
                <a:tc>
                  <a:txBody>
                    <a:bodyPr/>
                    <a:lstStyle/>
                    <a:p>
                      <a:r>
                        <a:rPr lang="cs-CZ" dirty="0"/>
                        <a:t>Pardubice</a:t>
                      </a:r>
                      <a:endParaRPr lang="cs-CZ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cs-CZ" dirty="0"/>
                        <a:t>3 515</a:t>
                      </a:r>
                      <a:endParaRPr lang="cs-CZ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cs-CZ" dirty="0"/>
                        <a:t>9 985</a:t>
                      </a:r>
                      <a:endParaRPr lang="cs-CZ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cs-CZ" dirty="0"/>
                        <a:t>4 145</a:t>
                      </a:r>
                      <a:endParaRPr lang="cs-CZ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14181298"/>
                  </a:ext>
                </a:extLst>
              </a:tr>
              <a:tr h="454003">
                <a:tc>
                  <a:txBody>
                    <a:bodyPr/>
                    <a:lstStyle/>
                    <a:p>
                      <a:r>
                        <a:rPr lang="cs-CZ" dirty="0"/>
                        <a:t>Brno</a:t>
                      </a:r>
                      <a:endParaRPr lang="cs-CZ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cs-CZ" dirty="0"/>
                        <a:t>4 890</a:t>
                      </a:r>
                      <a:endParaRPr lang="cs-CZ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cs-CZ" dirty="0"/>
                        <a:t>5 680</a:t>
                      </a:r>
                      <a:endParaRPr lang="cs-CZ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cs-CZ" dirty="0"/>
                        <a:t>6 112</a:t>
                      </a:r>
                      <a:endParaRPr lang="cs-CZ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80705098"/>
                  </a:ext>
                </a:extLst>
              </a:tr>
              <a:tr h="454003">
                <a:tc>
                  <a:txBody>
                    <a:bodyPr/>
                    <a:lstStyle/>
                    <a:p>
                      <a:r>
                        <a:rPr lang="cs-CZ" dirty="0"/>
                        <a:t>Kolín</a:t>
                      </a:r>
                      <a:endParaRPr lang="cs-CZ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cs-CZ" dirty="0"/>
                        <a:t>2 859</a:t>
                      </a:r>
                      <a:endParaRPr lang="cs-CZ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cs-CZ" dirty="0"/>
                        <a:t>2 956</a:t>
                      </a:r>
                      <a:endParaRPr lang="cs-CZ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cs-CZ" dirty="0"/>
                        <a:t>3 025</a:t>
                      </a:r>
                      <a:endParaRPr lang="cs-CZ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56153820"/>
                  </a:ext>
                </a:extLst>
              </a:tr>
              <a:tr h="454003">
                <a:tc>
                  <a:txBody>
                    <a:bodyPr/>
                    <a:lstStyle/>
                    <a:p>
                      <a:r>
                        <a:rPr lang="cs-CZ" dirty="0"/>
                        <a:t>Ostrava</a:t>
                      </a:r>
                      <a:endParaRPr lang="cs-CZ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cs-CZ" dirty="0"/>
                        <a:t>3 956</a:t>
                      </a:r>
                      <a:endParaRPr lang="cs-CZ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cs-CZ" dirty="0"/>
                        <a:t>4 522</a:t>
                      </a:r>
                      <a:endParaRPr lang="cs-CZ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cs-CZ" dirty="0"/>
                        <a:t>5 085</a:t>
                      </a:r>
                      <a:endParaRPr lang="cs-CZ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015414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5671966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Nadpis 3">
            <a:extLst>
              <a:ext uri="{FF2B5EF4-FFF2-40B4-BE49-F238E27FC236}">
                <a16:creationId xmlns:a16="http://schemas.microsoft.com/office/drawing/2014/main" id="{7583CAE5-0149-4C26-52E9-5C13F54E74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9234" y="263633"/>
            <a:ext cx="10058400" cy="1450757"/>
          </a:xfrm>
        </p:spPr>
        <p:txBody>
          <a:bodyPr/>
          <a:lstStyle/>
          <a:p>
            <a:r>
              <a:rPr lang="cs-CZ" dirty="0"/>
              <a:t>Prostorový spojnicový x povrchový </a:t>
            </a:r>
          </a:p>
        </p:txBody>
      </p:sp>
      <p:graphicFrame>
        <p:nvGraphicFramePr>
          <p:cNvPr id="6" name="Zástupný symbol pro obsah 5">
            <a:extLst>
              <a:ext uri="{FF2B5EF4-FFF2-40B4-BE49-F238E27FC236}">
                <a16:creationId xmlns:a16="http://schemas.microsoft.com/office/drawing/2014/main" id="{4BD61389-8356-4B9E-A6D2-247E4F8B9DD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21381981"/>
              </p:ext>
            </p:extLst>
          </p:nvPr>
        </p:nvGraphicFramePr>
        <p:xfrm>
          <a:off x="6378766" y="2159306"/>
          <a:ext cx="4776597" cy="402156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2" name="Zástupný symbol pro číslo snímku 1">
            <a:extLst>
              <a:ext uri="{FF2B5EF4-FFF2-40B4-BE49-F238E27FC236}">
                <a16:creationId xmlns:a16="http://schemas.microsoft.com/office/drawing/2014/main" id="{E620CB2E-A650-8DEB-FCA3-CF0D556857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CBEFC5-2588-4AC4-AECB-CCA272DE9DCC}" type="slidenum">
              <a:rPr lang="cs-CZ" smtClean="0"/>
              <a:t>20</a:t>
            </a:fld>
            <a:endParaRPr lang="cs-CZ"/>
          </a:p>
        </p:txBody>
      </p:sp>
      <p:graphicFrame>
        <p:nvGraphicFramePr>
          <p:cNvPr id="3" name="Zástupný symbol pro obsah 5">
            <a:extLst>
              <a:ext uri="{FF2B5EF4-FFF2-40B4-BE49-F238E27FC236}">
                <a16:creationId xmlns:a16="http://schemas.microsoft.com/office/drawing/2014/main" id="{A7414741-85F4-BB3D-6F27-451C2980E05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674887573"/>
              </p:ext>
            </p:extLst>
          </p:nvPr>
        </p:nvGraphicFramePr>
        <p:xfrm>
          <a:off x="409599" y="1984690"/>
          <a:ext cx="5315638" cy="402156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58496494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adpis 2">
            <a:extLst>
              <a:ext uri="{FF2B5EF4-FFF2-40B4-BE49-F238E27FC236}">
                <a16:creationId xmlns:a16="http://schemas.microsoft.com/office/drawing/2014/main" id="{4CBEE015-3368-710E-C0D1-CA69579B28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Kombinovaný graf s vedlejší osou </a:t>
            </a:r>
          </a:p>
        </p:txBody>
      </p:sp>
      <p:sp>
        <p:nvSpPr>
          <p:cNvPr id="2" name="Zástupný symbol pro číslo snímku 1">
            <a:extLst>
              <a:ext uri="{FF2B5EF4-FFF2-40B4-BE49-F238E27FC236}">
                <a16:creationId xmlns:a16="http://schemas.microsoft.com/office/drawing/2014/main" id="{E620CB2E-A650-8DEB-FCA3-CF0D556857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CBEFC5-2588-4AC4-AECB-CCA272DE9DCC}" type="slidenum">
              <a:rPr lang="cs-CZ" smtClean="0"/>
              <a:t>21</a:t>
            </a:fld>
            <a:endParaRPr lang="cs-CZ"/>
          </a:p>
        </p:txBody>
      </p:sp>
      <p:graphicFrame>
        <p:nvGraphicFramePr>
          <p:cNvPr id="6" name="Zástupný symbol pro obsah 5">
            <a:extLst>
              <a:ext uri="{FF2B5EF4-FFF2-40B4-BE49-F238E27FC236}">
                <a16:creationId xmlns:a16="http://schemas.microsoft.com/office/drawing/2014/main" id="{4BD61389-8356-4B9E-A6D2-247E4F8B9DD7}"/>
              </a:ext>
            </a:extLst>
          </p:cNvPr>
          <p:cNvGraphicFramePr>
            <a:graphicFrameLocks noGrp="1"/>
          </p:cNvGraphicFramePr>
          <p:nvPr>
            <p:ph idx="4294967295"/>
            <p:extLst>
              <p:ext uri="{D42A27DB-BD31-4B8C-83A1-F6EECF244321}">
                <p14:modId xmlns:p14="http://schemas.microsoft.com/office/powerpoint/2010/main" val="2256547187"/>
              </p:ext>
            </p:extLst>
          </p:nvPr>
        </p:nvGraphicFramePr>
        <p:xfrm>
          <a:off x="342900" y="2229702"/>
          <a:ext cx="6915150" cy="358901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pic>
        <p:nvPicPr>
          <p:cNvPr id="5" name="Obrázek 4">
            <a:extLst>
              <a:ext uri="{FF2B5EF4-FFF2-40B4-BE49-F238E27FC236}">
                <a16:creationId xmlns:a16="http://schemas.microsoft.com/office/drawing/2014/main" id="{7A001E4D-6B73-3738-52F8-D232865FF8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97127" y="2125980"/>
            <a:ext cx="4419131" cy="41473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107468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adpis 2">
            <a:extLst>
              <a:ext uri="{FF2B5EF4-FFF2-40B4-BE49-F238E27FC236}">
                <a16:creationId xmlns:a16="http://schemas.microsoft.com/office/drawing/2014/main" id="{4CBEE015-3368-710E-C0D1-CA69579B28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Posunutí mezí osy</a:t>
            </a:r>
          </a:p>
        </p:txBody>
      </p:sp>
      <p:sp>
        <p:nvSpPr>
          <p:cNvPr id="2" name="Zástupný symbol pro číslo snímku 1">
            <a:extLst>
              <a:ext uri="{FF2B5EF4-FFF2-40B4-BE49-F238E27FC236}">
                <a16:creationId xmlns:a16="http://schemas.microsoft.com/office/drawing/2014/main" id="{E620CB2E-A650-8DEB-FCA3-CF0D556857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CBEFC5-2588-4AC4-AECB-CCA272DE9DCC}" type="slidenum">
              <a:rPr lang="cs-CZ" smtClean="0"/>
              <a:t>22</a:t>
            </a:fld>
            <a:endParaRPr lang="cs-CZ"/>
          </a:p>
        </p:txBody>
      </p:sp>
      <p:grpSp>
        <p:nvGrpSpPr>
          <p:cNvPr id="9" name="Skupina 8">
            <a:extLst>
              <a:ext uri="{FF2B5EF4-FFF2-40B4-BE49-F238E27FC236}">
                <a16:creationId xmlns:a16="http://schemas.microsoft.com/office/drawing/2014/main" id="{333262C3-D932-0D78-8EE2-6FE2F21A443B}"/>
              </a:ext>
            </a:extLst>
          </p:cNvPr>
          <p:cNvGrpSpPr/>
          <p:nvPr/>
        </p:nvGrpSpPr>
        <p:grpSpPr>
          <a:xfrm>
            <a:off x="73660" y="1897380"/>
            <a:ext cx="12118339" cy="4927530"/>
            <a:chOff x="73661" y="2023110"/>
            <a:chExt cx="12044678" cy="4834890"/>
          </a:xfrm>
        </p:grpSpPr>
        <p:pic>
          <p:nvPicPr>
            <p:cNvPr id="7" name="Obrázek 6">
              <a:extLst>
                <a:ext uri="{FF2B5EF4-FFF2-40B4-BE49-F238E27FC236}">
                  <a16:creationId xmlns:a16="http://schemas.microsoft.com/office/drawing/2014/main" id="{A9A3B3E8-0154-246E-1457-0690C354D8C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3661" y="2023110"/>
              <a:ext cx="12044678" cy="4834890"/>
            </a:xfrm>
            <a:prstGeom prst="rect">
              <a:avLst/>
            </a:prstGeom>
          </p:spPr>
        </p:pic>
        <p:sp>
          <p:nvSpPr>
            <p:cNvPr id="8" name="Obdélník 7">
              <a:extLst>
                <a:ext uri="{FF2B5EF4-FFF2-40B4-BE49-F238E27FC236}">
                  <a16:creationId xmlns:a16="http://schemas.microsoft.com/office/drawing/2014/main" id="{962FA92B-F137-4AA7-D69D-2D888D511B42}"/>
                </a:ext>
              </a:extLst>
            </p:cNvPr>
            <p:cNvSpPr/>
            <p:nvPr/>
          </p:nvSpPr>
          <p:spPr>
            <a:xfrm>
              <a:off x="674370" y="2400300"/>
              <a:ext cx="7292340" cy="10287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</p:grpSp>
      <p:pic>
        <p:nvPicPr>
          <p:cNvPr id="11" name="Obrázek 10">
            <a:extLst>
              <a:ext uri="{FF2B5EF4-FFF2-40B4-BE49-F238E27FC236}">
                <a16:creationId xmlns:a16="http://schemas.microsoft.com/office/drawing/2014/main" id="{DBA3ADD6-7261-0926-0806-5A6D029826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37328" y="1968073"/>
            <a:ext cx="2978303" cy="4375375"/>
          </a:xfrm>
          <a:prstGeom prst="rect">
            <a:avLst/>
          </a:prstGeom>
        </p:spPr>
      </p:pic>
      <p:sp>
        <p:nvSpPr>
          <p:cNvPr id="12" name="Šipka: doleva 11">
            <a:extLst>
              <a:ext uri="{FF2B5EF4-FFF2-40B4-BE49-F238E27FC236}">
                <a16:creationId xmlns:a16="http://schemas.microsoft.com/office/drawing/2014/main" id="{3D6E6BB7-387B-3AD8-0EAE-9E77DF19EA7C}"/>
              </a:ext>
            </a:extLst>
          </p:cNvPr>
          <p:cNvSpPr/>
          <p:nvPr/>
        </p:nvSpPr>
        <p:spPr>
          <a:xfrm rot="10800000">
            <a:off x="7362778" y="3643932"/>
            <a:ext cx="1578722" cy="800408"/>
          </a:xfrm>
          <a:prstGeom prst="leftArrow">
            <a:avLst/>
          </a:prstGeom>
          <a:gradFill flip="none" rotWithShape="1">
            <a:gsLst>
              <a:gs pos="0">
                <a:srgbClr val="FF0000">
                  <a:shade val="30000"/>
                  <a:satMod val="115000"/>
                </a:srgbClr>
              </a:gs>
              <a:gs pos="50000">
                <a:srgbClr val="FF0000">
                  <a:shade val="67500"/>
                  <a:satMod val="115000"/>
                </a:srgbClr>
              </a:gs>
              <a:gs pos="100000">
                <a:srgbClr val="FF0000">
                  <a:shade val="100000"/>
                  <a:satMod val="115000"/>
                </a:srgbClr>
              </a:gs>
            </a:gsLst>
            <a:lin ang="10800000" scaled="1"/>
            <a:tileRect/>
          </a:gra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2174423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číslo snímku 1">
            <a:extLst>
              <a:ext uri="{FF2B5EF4-FFF2-40B4-BE49-F238E27FC236}">
                <a16:creationId xmlns:a16="http://schemas.microsoft.com/office/drawing/2014/main" id="{E620CB2E-A650-8DEB-FCA3-CF0D556857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CBEFC5-2588-4AC4-AECB-CCA272DE9DCC}" type="slidenum">
              <a:rPr lang="cs-CZ" smtClean="0"/>
              <a:t>23</a:t>
            </a:fld>
            <a:endParaRPr lang="cs-CZ"/>
          </a:p>
        </p:txBody>
      </p:sp>
      <p:pic>
        <p:nvPicPr>
          <p:cNvPr id="6" name="Obrázek 5">
            <a:extLst>
              <a:ext uri="{FF2B5EF4-FFF2-40B4-BE49-F238E27FC236}">
                <a16:creationId xmlns:a16="http://schemas.microsoft.com/office/drawing/2014/main" id="{107B191A-01AF-FBBE-A9F4-2E8E6D47C3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412930"/>
            <a:ext cx="12257406" cy="4411980"/>
          </a:xfrm>
          <a:prstGeom prst="rect">
            <a:avLst/>
          </a:prstGeom>
        </p:spPr>
      </p:pic>
      <p:graphicFrame>
        <p:nvGraphicFramePr>
          <p:cNvPr id="4" name="Zástupný symbol pro obsah 5">
            <a:extLst>
              <a:ext uri="{FF2B5EF4-FFF2-40B4-BE49-F238E27FC236}">
                <a16:creationId xmlns:a16="http://schemas.microsoft.com/office/drawing/2014/main" id="{6E75959A-3573-31C4-7467-F050BA6CE32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470368757"/>
              </p:ext>
            </p:extLst>
          </p:nvPr>
        </p:nvGraphicFramePr>
        <p:xfrm>
          <a:off x="1586866" y="445770"/>
          <a:ext cx="4299584" cy="2788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Šipka: doleva 7">
            <a:extLst>
              <a:ext uri="{FF2B5EF4-FFF2-40B4-BE49-F238E27FC236}">
                <a16:creationId xmlns:a16="http://schemas.microsoft.com/office/drawing/2014/main" id="{0EDB3B25-467B-D4A2-5990-C64929C30699}"/>
              </a:ext>
            </a:extLst>
          </p:cNvPr>
          <p:cNvSpPr/>
          <p:nvPr/>
        </p:nvSpPr>
        <p:spPr>
          <a:xfrm rot="16200000">
            <a:off x="1442038" y="3223107"/>
            <a:ext cx="1578722" cy="800408"/>
          </a:xfrm>
          <a:prstGeom prst="leftArrow">
            <a:avLst/>
          </a:prstGeom>
          <a:gradFill flip="none" rotWithShape="1">
            <a:gsLst>
              <a:gs pos="0">
                <a:srgbClr val="FF0000">
                  <a:shade val="30000"/>
                  <a:satMod val="115000"/>
                </a:srgbClr>
              </a:gs>
              <a:gs pos="50000">
                <a:srgbClr val="FF0000">
                  <a:shade val="67500"/>
                  <a:satMod val="115000"/>
                </a:srgbClr>
              </a:gs>
              <a:gs pos="100000">
                <a:srgbClr val="FF0000">
                  <a:shade val="100000"/>
                  <a:satMod val="115000"/>
                </a:srgbClr>
              </a:gs>
            </a:gsLst>
            <a:lin ang="10800000" scaled="1"/>
            <a:tileRect/>
          </a:gra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9" name="Šipka: doleva 8">
            <a:extLst>
              <a:ext uri="{FF2B5EF4-FFF2-40B4-BE49-F238E27FC236}">
                <a16:creationId xmlns:a16="http://schemas.microsoft.com/office/drawing/2014/main" id="{F78FE49A-6102-90FA-6F4E-D513E030FA63}"/>
              </a:ext>
            </a:extLst>
          </p:cNvPr>
          <p:cNvSpPr/>
          <p:nvPr/>
        </p:nvSpPr>
        <p:spPr>
          <a:xfrm rot="18033376">
            <a:off x="10317371" y="3461240"/>
            <a:ext cx="1578722" cy="800408"/>
          </a:xfrm>
          <a:prstGeom prst="leftArrow">
            <a:avLst/>
          </a:prstGeom>
          <a:gradFill flip="none" rotWithShape="1">
            <a:gsLst>
              <a:gs pos="0">
                <a:srgbClr val="FF0000">
                  <a:shade val="30000"/>
                  <a:satMod val="115000"/>
                </a:srgbClr>
              </a:gs>
              <a:gs pos="50000">
                <a:srgbClr val="FF0000">
                  <a:shade val="67500"/>
                  <a:satMod val="115000"/>
                </a:srgbClr>
              </a:gs>
              <a:gs pos="100000">
                <a:srgbClr val="FF0000">
                  <a:shade val="100000"/>
                  <a:satMod val="115000"/>
                </a:srgbClr>
              </a:gs>
            </a:gsLst>
            <a:lin ang="10800000" scaled="1"/>
            <a:tileRect/>
          </a:gra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92141430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46EF7927-6C98-80FC-C6D5-072FDD6268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Zdroje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2B3E5C10-CA69-F28C-687E-23A1F051E3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cs-CZ" b="0" i="0" dirty="0">
                <a:solidFill>
                  <a:srgbClr val="212529"/>
                </a:solidFill>
                <a:effectLst/>
                <a:latin typeface="Open Sans" panose="020B0606030504020204" pitchFamily="34" charset="0"/>
              </a:rPr>
              <a:t>KUBÁLEK, Tomáš a KUBÁLKOVÁ, Markéta. </a:t>
            </a:r>
            <a:r>
              <a:rPr lang="cs-CZ" b="0" i="1" dirty="0">
                <a:solidFill>
                  <a:srgbClr val="212529"/>
                </a:solidFill>
                <a:effectLst/>
                <a:latin typeface="Open Sans" panose="020B0606030504020204" pitchFamily="34" charset="0"/>
              </a:rPr>
              <a:t>MS Office XP: prezentační program MICROSOFT POWERPOINT : verze 2002 CZ</a:t>
            </a:r>
            <a:r>
              <a:rPr lang="cs-CZ" b="0" i="0" dirty="0">
                <a:solidFill>
                  <a:srgbClr val="212529"/>
                </a:solidFill>
                <a:effectLst/>
                <a:latin typeface="Open Sans" panose="020B0606030504020204" pitchFamily="34" charset="0"/>
              </a:rPr>
              <a:t>. 2. vyd. Manažerská informatika (</a:t>
            </a:r>
            <a:r>
              <a:rPr lang="cs-CZ" b="0" i="0" dirty="0" err="1">
                <a:solidFill>
                  <a:srgbClr val="212529"/>
                </a:solidFill>
                <a:effectLst/>
                <a:latin typeface="Open Sans" panose="020B0606030504020204" pitchFamily="34" charset="0"/>
              </a:rPr>
              <a:t>Oeconomica</a:t>
            </a:r>
            <a:r>
              <a:rPr lang="cs-CZ" b="0" i="0" dirty="0">
                <a:solidFill>
                  <a:srgbClr val="212529"/>
                </a:solidFill>
                <a:effectLst/>
                <a:latin typeface="Open Sans" panose="020B0606030504020204" pitchFamily="34" charset="0"/>
              </a:rPr>
              <a:t>). Praha: </a:t>
            </a:r>
            <a:r>
              <a:rPr lang="cs-CZ" b="0" i="0" dirty="0" err="1">
                <a:solidFill>
                  <a:srgbClr val="212529"/>
                </a:solidFill>
                <a:effectLst/>
                <a:latin typeface="Open Sans" panose="020B0606030504020204" pitchFamily="34" charset="0"/>
              </a:rPr>
              <a:t>Oeconomica</a:t>
            </a:r>
            <a:r>
              <a:rPr lang="cs-CZ" b="0" i="0" dirty="0">
                <a:solidFill>
                  <a:srgbClr val="212529"/>
                </a:solidFill>
                <a:effectLst/>
                <a:latin typeface="Open Sans" panose="020B0606030504020204" pitchFamily="34" charset="0"/>
              </a:rPr>
              <a:t>, 2006. ISBN 80-245-1017-0.</a:t>
            </a:r>
          </a:p>
          <a:p>
            <a:pPr marL="0" indent="0">
              <a:buNone/>
            </a:pPr>
            <a:r>
              <a:rPr lang="cs-CZ" b="0" i="0" dirty="0">
                <a:solidFill>
                  <a:srgbClr val="212529"/>
                </a:solidFill>
                <a:effectLst/>
                <a:latin typeface="Open Sans" panose="020B0606030504020204" pitchFamily="34" charset="0"/>
              </a:rPr>
              <a:t>BÁRTEK, Květoslav a KUBRICKÝ, Jan. </a:t>
            </a:r>
            <a:r>
              <a:rPr lang="cs-CZ" b="0" i="1" dirty="0">
                <a:solidFill>
                  <a:srgbClr val="212529"/>
                </a:solidFill>
                <a:effectLst/>
                <a:latin typeface="Open Sans" panose="020B0606030504020204" pitchFamily="34" charset="0"/>
              </a:rPr>
              <a:t>Pokročilé použití MS PowerPoint při tvorbě elektronických výukových materiálů</a:t>
            </a:r>
            <a:r>
              <a:rPr lang="cs-CZ" b="0" i="0" dirty="0">
                <a:solidFill>
                  <a:srgbClr val="212529"/>
                </a:solidFill>
                <a:effectLst/>
                <a:latin typeface="Open Sans" panose="020B0606030504020204" pitchFamily="34" charset="0"/>
              </a:rPr>
              <a:t>. Olomouc: Univerzita Palackého v Olomouci, 2015. ISBN 978-80-244-4558-8.</a:t>
            </a:r>
          </a:p>
          <a:p>
            <a:pPr marL="0" indent="0">
              <a:buNone/>
            </a:pPr>
            <a:r>
              <a:rPr lang="cs-CZ" dirty="0">
                <a:solidFill>
                  <a:srgbClr val="212529"/>
                </a:solidFill>
                <a:latin typeface="Open Sans" panose="020B0606030504020204" pitchFamily="34" charset="0"/>
              </a:rPr>
              <a:t>Microsoft </a:t>
            </a:r>
            <a:r>
              <a:rPr lang="cs-CZ" dirty="0" err="1">
                <a:solidFill>
                  <a:srgbClr val="212529"/>
                </a:solidFill>
                <a:latin typeface="Open Sans" panose="020B0606030504020204" pitchFamily="34" charset="0"/>
              </a:rPr>
              <a:t>Corporation</a:t>
            </a:r>
            <a:r>
              <a:rPr lang="cs-CZ" dirty="0">
                <a:solidFill>
                  <a:srgbClr val="212529"/>
                </a:solidFill>
                <a:latin typeface="Open Sans" panose="020B0606030504020204" pitchFamily="34" charset="0"/>
              </a:rPr>
              <a:t>. (2022). Microsoft PowerPoint (Verze 16.0). Software. </a:t>
            </a:r>
            <a:r>
              <a:rPr lang="cs-CZ" dirty="0">
                <a:solidFill>
                  <a:srgbClr val="212529"/>
                </a:solidFill>
                <a:latin typeface="Open Sans" panose="020B0606030504020204" pitchFamily="34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https://www.microsoft.com/powerpoint</a:t>
            </a:r>
            <a:endParaRPr lang="cs-CZ" dirty="0">
              <a:solidFill>
                <a:srgbClr val="212529"/>
              </a:solidFill>
              <a:latin typeface="Open Sans" panose="020B0606030504020204" pitchFamily="34" charset="0"/>
            </a:endParaRPr>
          </a:p>
          <a:p>
            <a:pPr marL="0" indent="0">
              <a:buNone/>
            </a:pPr>
            <a:endParaRPr lang="cs-CZ" dirty="0">
              <a:solidFill>
                <a:srgbClr val="212529"/>
              </a:solidFill>
              <a:latin typeface="Open Sans" panose="020B0606030504020204" pitchFamily="34" charset="0"/>
            </a:endParaRPr>
          </a:p>
          <a:p>
            <a:pPr marL="0" indent="0">
              <a:buNone/>
            </a:pPr>
            <a:endParaRPr lang="cs-CZ" dirty="0"/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499B62A3-E242-086B-7701-636DE20201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CBEFC5-2588-4AC4-AECB-CCA272DE9DCC}" type="slidenum">
              <a:rPr lang="cs-CZ" smtClean="0"/>
              <a:t>24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953597502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ktiva">
  <a:themeElements>
    <a:clrScheme name="Retrospektiva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ktiva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ktiva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Motiv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220</TotalTime>
  <Words>420</Words>
  <Application>Microsoft Office PowerPoint</Application>
  <PresentationFormat>Širokoúhlá obrazovka</PresentationFormat>
  <Paragraphs>167</Paragraphs>
  <Slides>24</Slides>
  <Notes>6</Notes>
  <HiddenSlides>0</HiddenSlides>
  <MMClips>0</MMClips>
  <ScaleCrop>false</ScaleCrop>
  <HeadingPairs>
    <vt:vector size="6" baseType="variant">
      <vt:variant>
        <vt:lpstr>Použitá písma</vt:lpstr>
      </vt:variant>
      <vt:variant>
        <vt:i4>4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24</vt:i4>
      </vt:variant>
    </vt:vector>
  </HeadingPairs>
  <TitlesOfParts>
    <vt:vector size="29" baseType="lpstr">
      <vt:lpstr>Calibri</vt:lpstr>
      <vt:lpstr>Calibri Light</vt:lpstr>
      <vt:lpstr>Open Sans</vt:lpstr>
      <vt:lpstr>Times New Roman</vt:lpstr>
      <vt:lpstr>Retrospektiva</vt:lpstr>
      <vt:lpstr>Grafy</vt:lpstr>
      <vt:lpstr>Ukázka chybně vloženého grafu</vt:lpstr>
      <vt:lpstr>Správný výběr dat</vt:lpstr>
      <vt:lpstr>Změna stylu grafu</vt:lpstr>
      <vt:lpstr>Změna barevného formátu grafu</vt:lpstr>
      <vt:lpstr>Změna typu grafu</vt:lpstr>
      <vt:lpstr>Úprava datové řady na jiný tvar</vt:lpstr>
      <vt:lpstr>Animace</vt:lpstr>
      <vt:lpstr>Animace částí grafu</vt:lpstr>
      <vt:lpstr>Další ukázky úpravy grafů</vt:lpstr>
      <vt:lpstr>Výsledek voleb v Kocourkově</vt:lpstr>
      <vt:lpstr>Prezentace aplikace PowerPoint</vt:lpstr>
      <vt:lpstr>Oddálení řad v grafu </vt:lpstr>
      <vt:lpstr>Výsledný graf</vt:lpstr>
      <vt:lpstr>Oddálení řad v grafu a změna jejich tvaru </vt:lpstr>
      <vt:lpstr>Prezentace aplikace PowerPoint</vt:lpstr>
      <vt:lpstr>Výsledný graf</vt:lpstr>
      <vt:lpstr>Grafy ze stejného zdroje</vt:lpstr>
      <vt:lpstr>Ukázky grafů v praxi</vt:lpstr>
      <vt:lpstr>Prostorový spojnicový x povrchový </vt:lpstr>
      <vt:lpstr>Kombinovaný graf s vedlejší osou </vt:lpstr>
      <vt:lpstr>Posunutí mezí osy</vt:lpstr>
      <vt:lpstr>Prezentace aplikace PowerPoint</vt:lpstr>
      <vt:lpstr>Zdroje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Prezentace aplikace PowerPoint</dc:title>
  <dc:creator>Půhoný Matěj</dc:creator>
  <cp:lastModifiedBy>Votavová Gabriela</cp:lastModifiedBy>
  <cp:revision>17</cp:revision>
  <dcterms:created xsi:type="dcterms:W3CDTF">2018-04-04T09:59:30Z</dcterms:created>
  <dcterms:modified xsi:type="dcterms:W3CDTF">2024-01-10T17:18:54Z</dcterms:modified>
</cp:coreProperties>
</file>