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56" r:id="rId1"/>
  </p:sldMasterIdLst>
  <p:notesMasterIdLst>
    <p:notesMasterId r:id="rId12"/>
  </p:notesMasterIdLst>
  <p:handoutMasterIdLst>
    <p:handoutMasterId r:id="rId13"/>
  </p:handoutMasterIdLst>
  <p:sldIdLst>
    <p:sldId id="282" r:id="rId2"/>
    <p:sldId id="272" r:id="rId3"/>
    <p:sldId id="273" r:id="rId4"/>
    <p:sldId id="277" r:id="rId5"/>
    <p:sldId id="281" r:id="rId6"/>
    <p:sldId id="276" r:id="rId7"/>
    <p:sldId id="278" r:id="rId8"/>
    <p:sldId id="279" r:id="rId9"/>
    <p:sldId id="284" r:id="rId10"/>
    <p:sldId id="283" r:id="rId11"/>
  </p:sldIdLst>
  <p:sldSz cx="9144000" cy="6858000" type="screen4x3"/>
  <p:notesSz cx="6735763" cy="9866313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08" userDrawn="1">
          <p15:clr>
            <a:srgbClr val="A4A3A4"/>
          </p15:clr>
        </p15:guide>
        <p15:guide id="2" pos="2122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666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8" d="100"/>
          <a:sy n="58" d="100"/>
        </p:scale>
        <p:origin x="-2520" y="-72"/>
      </p:cViewPr>
      <p:guideLst>
        <p:guide orient="horz" pos="3108"/>
        <p:guide pos="212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cs-CZ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8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glow rad="25400">
                    <a:srgbClr val="0070C0">
                      <a:alpha val="40000"/>
                    </a:srgbClr>
                  </a:glow>
                </a:effectLst>
                <a:latin typeface="+mn-lt"/>
                <a:ea typeface="+mn-ea"/>
                <a:cs typeface="+mn-cs"/>
              </a:defRPr>
            </a:pPr>
            <a:r>
              <a:rPr lang="cs-CZ" sz="2800" dirty="0">
                <a:effectLst>
                  <a:glow rad="25400">
                    <a:srgbClr val="0070C0">
                      <a:alpha val="40000"/>
                    </a:srgbClr>
                  </a:glow>
                </a:effectLst>
              </a:rPr>
              <a:t>Doprava</a:t>
            </a:r>
          </a:p>
        </c:rich>
      </c:tx>
      <c:overlay val="0"/>
      <c:spPr>
        <a:blipFill>
          <a:blip xmlns:r="http://schemas.openxmlformats.org/officeDocument/2006/relationships" r:embed="rId3"/>
          <a:tile tx="0" ty="0" sx="100000" sy="100000" flip="none" algn="tl"/>
        </a:blipFill>
        <a:ln>
          <a:noFill/>
        </a:ln>
        <a:effectLst/>
        <a:scene3d>
          <a:camera prst="orthographicFront"/>
          <a:lightRig rig="threePt" dir="t"/>
        </a:scene3d>
        <a:sp3d>
          <a:bevelT/>
        </a:sp3d>
      </c:spPr>
      <c:txPr>
        <a:bodyPr rot="0" spcFirstLastPara="1" vertOverflow="ellipsis" vert="horz" wrap="square" anchor="ctr" anchorCtr="1"/>
        <a:lstStyle/>
        <a:p>
          <a:pPr>
            <a:defRPr sz="28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effectLst>
                <a:glow rad="25400">
                  <a:srgbClr val="0070C0">
                    <a:alpha val="40000"/>
                  </a:srgbClr>
                </a:glow>
              </a:effectLst>
              <a:latin typeface="+mn-lt"/>
              <a:ea typeface="+mn-ea"/>
              <a:cs typeface="+mn-cs"/>
            </a:defRPr>
          </a:pPr>
          <a:endParaRPr lang="cs-CZ"/>
        </a:p>
      </c:txPr>
    </c:title>
    <c:autoTitleDeleted val="0"/>
    <c:view3D>
      <c:rotX val="15"/>
      <c:rotY val="20"/>
      <c:rAngAx val="0"/>
    </c:view3D>
    <c:floor>
      <c:thickness val="0"/>
      <c:spPr>
        <a:pattFill prst="wdUpDiag">
          <a:fgClr>
            <a:schemeClr val="accent6">
              <a:lumMod val="40000"/>
              <a:lumOff val="60000"/>
            </a:schemeClr>
          </a:fgClr>
          <a:bgClr>
            <a:schemeClr val="bg1"/>
          </a:bgClr>
        </a:pattFill>
        <a:ln>
          <a:noFill/>
        </a:ln>
        <a:effectLst/>
        <a:sp3d/>
      </c:spPr>
    </c:floor>
    <c:sideWall>
      <c:thickness val="0"/>
      <c:spPr>
        <a:solidFill>
          <a:schemeClr val="accent6">
            <a:lumMod val="40000"/>
            <a:lumOff val="60000"/>
          </a:schemeClr>
        </a:solidFill>
        <a:ln>
          <a:noFill/>
        </a:ln>
        <a:effectLst/>
        <a:sp3d/>
      </c:spPr>
    </c:sideWall>
    <c:backWall>
      <c:thickness val="0"/>
      <c:spPr>
        <a:solidFill>
          <a:schemeClr val="accent6">
            <a:lumMod val="40000"/>
            <a:lumOff val="60000"/>
          </a:schemeClr>
        </a:solidFill>
        <a:ln>
          <a:noFill/>
        </a:ln>
        <a:effectLst/>
        <a:sp3d/>
      </c:spPr>
    </c:backWall>
    <c:plotArea>
      <c:layout/>
      <c:bar3DChart>
        <c:barDir val="col"/>
        <c:grouping val="standard"/>
        <c:varyColors val="0"/>
        <c:ser>
          <c:idx val="0"/>
          <c:order val="0"/>
          <c:tx>
            <c:strRef>
              <c:f>List1!$B$1</c:f>
              <c:strCache>
                <c:ptCount val="1"/>
                <c:pt idx="0">
                  <c:v>Evropa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cat>
            <c:strRef>
              <c:f>List1!$A$2:$A$4</c:f>
              <c:strCache>
                <c:ptCount val="3"/>
                <c:pt idx="0">
                  <c:v>Kola</c:v>
                </c:pt>
                <c:pt idx="1">
                  <c:v>Auta</c:v>
                </c:pt>
                <c:pt idx="2">
                  <c:v>Koloběžky</c:v>
                </c:pt>
              </c:strCache>
            </c:strRef>
          </c:cat>
          <c:val>
            <c:numRef>
              <c:f>List1!$B$2:$B$4</c:f>
              <c:numCache>
                <c:formatCode>General</c:formatCode>
                <c:ptCount val="3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740-4984-843A-8E1C987A2E07}"/>
            </c:ext>
          </c:extLst>
        </c:ser>
        <c:ser>
          <c:idx val="1"/>
          <c:order val="1"/>
          <c:tx>
            <c:strRef>
              <c:f>List1!$C$1</c:f>
              <c:strCache>
                <c:ptCount val="1"/>
                <c:pt idx="0">
                  <c:v>Asie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  <a:sp3d/>
          </c:spPr>
          <c:invertIfNegative val="0"/>
          <c:cat>
            <c:strRef>
              <c:f>List1!$A$2:$A$4</c:f>
              <c:strCache>
                <c:ptCount val="3"/>
                <c:pt idx="0">
                  <c:v>Kola</c:v>
                </c:pt>
                <c:pt idx="1">
                  <c:v>Auta</c:v>
                </c:pt>
                <c:pt idx="2">
                  <c:v>Koloběžky</c:v>
                </c:pt>
              </c:strCache>
            </c:strRef>
          </c:cat>
          <c:val>
            <c:numRef>
              <c:f>List1!$C$2:$C$4</c:f>
              <c:numCache>
                <c:formatCode>General</c:formatCode>
                <c:ptCount val="3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740-4984-843A-8E1C987A2E07}"/>
            </c:ext>
          </c:extLst>
        </c:ser>
        <c:ser>
          <c:idx val="2"/>
          <c:order val="2"/>
          <c:tx>
            <c:strRef>
              <c:f>List1!$D$1</c:f>
              <c:strCache>
                <c:ptCount val="1"/>
                <c:pt idx="0">
                  <c:v>Afrika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  <a:sp3d/>
          </c:spPr>
          <c:invertIfNegative val="0"/>
          <c:cat>
            <c:strRef>
              <c:f>List1!$A$2:$A$4</c:f>
              <c:strCache>
                <c:ptCount val="3"/>
                <c:pt idx="0">
                  <c:v>Kola</c:v>
                </c:pt>
                <c:pt idx="1">
                  <c:v>Auta</c:v>
                </c:pt>
                <c:pt idx="2">
                  <c:v>Koloběžky</c:v>
                </c:pt>
              </c:strCache>
            </c:strRef>
          </c:cat>
          <c:val>
            <c:numRef>
              <c:f>List1!$D$2:$D$4</c:f>
              <c:numCache>
                <c:formatCode>General</c:formatCode>
                <c:ptCount val="3"/>
                <c:pt idx="0">
                  <c:v>2</c:v>
                </c:pt>
                <c:pt idx="1">
                  <c:v>2</c:v>
                </c:pt>
                <c:pt idx="2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740-4984-843A-8E1C987A2E0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38007088"/>
        <c:axId val="295526672"/>
        <c:axId val="426114944"/>
      </c:bar3DChart>
      <c:catAx>
        <c:axId val="380070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pPr>
            <a:endParaRPr lang="cs-CZ"/>
          </a:p>
        </c:txPr>
        <c:crossAx val="295526672"/>
        <c:crosses val="autoZero"/>
        <c:auto val="1"/>
        <c:lblAlgn val="ctr"/>
        <c:lblOffset val="100"/>
        <c:noMultiLvlLbl val="0"/>
      </c:catAx>
      <c:valAx>
        <c:axId val="295526672"/>
        <c:scaling>
          <c:orientation val="minMax"/>
        </c:scaling>
        <c:delete val="0"/>
        <c:axPos val="l"/>
        <c:majorGridlines>
          <c:spPr>
            <a:ln w="12700" cap="flat" cmpd="sng" algn="ctr">
              <a:solidFill>
                <a:srgbClr val="00B050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cs-CZ"/>
          </a:p>
        </c:txPr>
        <c:crossAx val="38007088"/>
        <c:crosses val="autoZero"/>
        <c:crossBetween val="between"/>
      </c:valAx>
      <c:serAx>
        <c:axId val="42611494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pPr>
            <a:endParaRPr lang="cs-CZ"/>
          </a:p>
        </c:txPr>
        <c:crossAx val="295526672"/>
        <c:crosses val="autoZero"/>
      </c:ser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8702551788843261"/>
          <c:y val="0.91421296958948783"/>
          <c:w val="0.36584562907960261"/>
          <c:h val="6.638989935310894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cs-CZ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 flip="none" rotWithShape="1">
      <a:gsLst>
        <a:gs pos="0">
          <a:srgbClr val="FF0000"/>
        </a:gs>
        <a:gs pos="64000">
          <a:schemeClr val="accent4">
            <a:lumMod val="40000"/>
            <a:lumOff val="60000"/>
          </a:schemeClr>
        </a:gs>
        <a:gs pos="100000">
          <a:schemeClr val="accent6">
            <a:lumMod val="100000"/>
          </a:schemeClr>
        </a:gs>
      </a:gsLst>
      <a:path path="circle">
        <a:fillToRect t="100000" r="100000"/>
      </a:path>
      <a:tileRect l="-100000" b="-100000"/>
    </a:gradFill>
    <a:ln>
      <a:noFill/>
      <a:prstDash val="sysDot"/>
    </a:ln>
    <a:effectLst/>
  </c:spPr>
  <c:txPr>
    <a:bodyPr/>
    <a:lstStyle/>
    <a:p>
      <a:pPr>
        <a:defRPr/>
      </a:pPr>
      <a:endParaRPr lang="cs-CZ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0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quarter" idx="1"/>
          </p:nvPr>
        </p:nvSpPr>
        <p:spPr>
          <a:xfrm>
            <a:off x="3815373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407630-FCF3-4690-B8DC-AFED397BE9AE}" type="datetimeFigureOut">
              <a:rPr lang="cs-CZ" smtClean="0"/>
              <a:pPr/>
              <a:t>27.4.2018</a:t>
            </a:fld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2"/>
          </p:nvPr>
        </p:nvSpPr>
        <p:spPr>
          <a:xfrm>
            <a:off x="0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3"/>
          </p:nvPr>
        </p:nvSpPr>
        <p:spPr>
          <a:xfrm>
            <a:off x="3815373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6F0C10-84C3-41E4-AF76-DB93037DAD3C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1570994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AD2C9C-91F5-4F25-BDD6-0FEE903BAD9E}" type="datetimeFigureOut">
              <a:rPr lang="cs-CZ" smtClean="0"/>
              <a:pPr/>
              <a:t>27.4.2018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901700" y="739775"/>
            <a:ext cx="4932363" cy="37004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73577" y="4686499"/>
            <a:ext cx="5388610" cy="44398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15373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FC7146-6E8B-40F6-8838-D8847D0A4AA1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327202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Freeform 9"/>
          <p:cNvSpPr/>
          <p:nvPr/>
        </p:nvSpPr>
        <p:spPr>
          <a:xfrm rot="10800000">
            <a:off x="891821" y="5617774"/>
            <a:ext cx="7382935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989952" y="1016990"/>
            <a:ext cx="7179733" cy="4831643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990600" y="1009650"/>
            <a:ext cx="7179733" cy="4831643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435684">
            <a:off x="769521" y="702069"/>
            <a:ext cx="567831" cy="567830"/>
          </a:xfrm>
          <a:prstGeom prst="rect">
            <a:avLst/>
          </a:prstGeom>
          <a:noFill/>
        </p:spPr>
      </p:pic>
      <p:pic>
        <p:nvPicPr>
          <p:cNvPr id="14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4096196">
            <a:off x="7855433" y="749720"/>
            <a:ext cx="566928" cy="566928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27201" y="1794935"/>
            <a:ext cx="5723468" cy="1828090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27200" y="3736622"/>
            <a:ext cx="5712179" cy="1524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/>
              <a:t>Kliknutím lze upravit styl předlohy.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70676" y="5357592"/>
            <a:ext cx="1213821" cy="365125"/>
          </a:xfrm>
        </p:spPr>
        <p:txBody>
          <a:bodyPr/>
          <a:lstStyle/>
          <a:p>
            <a:fld id="{D995E82B-8E67-4C49-A9DA-99B25E35DEA8}" type="datetime1">
              <a:rPr lang="cs-CZ" smtClean="0"/>
              <a:t>27.4.2018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74044" y="5357592"/>
            <a:ext cx="5034845" cy="365125"/>
          </a:xfrm>
        </p:spPr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13930" y="5357592"/>
            <a:ext cx="554023" cy="365125"/>
          </a:xfrm>
        </p:spPr>
        <p:txBody>
          <a:bodyPr/>
          <a:lstStyle>
            <a:lvl1pPr algn="ctr">
              <a:defRPr/>
            </a:lvl1pPr>
          </a:lstStyle>
          <a:p>
            <a:fld id="{D93EF35A-D726-4DB8-9993-BA3B69B5C5CF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520F2-081A-42B6-9691-ECCECBDD1CD6}" type="datetime1">
              <a:rPr lang="cs-CZ" smtClean="0"/>
              <a:t>27.4.2018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979" y="2239430"/>
            <a:ext cx="6254044" cy="1362075"/>
          </a:xfrm>
        </p:spPr>
        <p:txBody>
          <a:bodyPr anchor="b"/>
          <a:lstStyle>
            <a:lvl1pPr algn="ctr">
              <a:defRPr sz="4000" b="0" cap="none" baseline="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6267" y="3725334"/>
            <a:ext cx="6231467" cy="1309511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9DC02-F0C7-49CB-81C0-028CFEF84E8D}" type="datetime1">
              <a:rPr lang="cs-CZ" smtClean="0"/>
              <a:t>27.4.2018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C33BC-E0A1-46A2-B8CD-5DB396002177}" type="datetime1">
              <a:rPr lang="cs-CZ" smtClean="0"/>
              <a:t>27.4.2018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298448" y="2121407"/>
            <a:ext cx="3200400" cy="3602736"/>
          </a:xfrm>
        </p:spPr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63440" y="2119313"/>
            <a:ext cx="3200400" cy="3605212"/>
          </a:xfrm>
        </p:spPr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7869" y="2122312"/>
            <a:ext cx="2939521" cy="820208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10669" y="2122311"/>
            <a:ext cx="2944368" cy="822960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C698A-99CF-4302-81D2-EDEE67997ABE}" type="datetime1">
              <a:rPr lang="cs-CZ" smtClean="0"/>
              <a:t>27.4.2018</a:t>
            </a:fld>
            <a:endParaRPr lang="cs-C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1298448" y="2944368"/>
            <a:ext cx="3227832" cy="2779776"/>
          </a:xfrm>
        </p:spPr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45151" y="2944813"/>
            <a:ext cx="3227832" cy="2779776"/>
          </a:xfrm>
        </p:spPr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51EF2-E5B4-40BE-9033-719834095664}" type="datetime1">
              <a:rPr lang="cs-CZ" smtClean="0"/>
              <a:t>27.4.2018</a:t>
            </a:fld>
            <a:endParaRPr lang="cs-C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DACF0-9D8E-4529-9FF4-8939DCCD4326}" type="datetime1">
              <a:rPr lang="cs-CZ" smtClean="0"/>
              <a:t>27.4.2018</a:t>
            </a:fld>
            <a:endParaRPr lang="cs-CZ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Freeform 10"/>
          <p:cNvSpPr/>
          <p:nvPr/>
        </p:nvSpPr>
        <p:spPr>
          <a:xfrm rot="10800000">
            <a:off x="632177" y="6058038"/>
            <a:ext cx="7721601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 rot="60000">
            <a:off x="4468872" y="605163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 rot="60000">
            <a:off x="4471416" y="603504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 rot="21540000">
            <a:off x="749204" y="576868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 rot="21540000">
            <a:off x="749808" y="576072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435684">
            <a:off x="2371106" y="293953"/>
            <a:ext cx="567831" cy="567830"/>
          </a:xfrm>
          <a:prstGeom prst="rect">
            <a:avLst/>
          </a:prstGeom>
          <a:noFill/>
        </p:spPr>
      </p:pic>
      <p:pic>
        <p:nvPicPr>
          <p:cNvPr id="19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4096196">
            <a:off x="6279647" y="333163"/>
            <a:ext cx="566928" cy="566928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-60000">
            <a:off x="1108976" y="2020042"/>
            <a:ext cx="3064827" cy="1503037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 rot="60000">
            <a:off x="4854291" y="1150993"/>
            <a:ext cx="3020792" cy="4625489"/>
          </a:xfrm>
        </p:spPr>
        <p:txBody>
          <a:bodyPr anchor="ctr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-60000">
            <a:off x="1148125" y="3623748"/>
            <a:ext cx="3048891" cy="2100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 rot="60000">
            <a:off x="6341698" y="5885672"/>
            <a:ext cx="1213821" cy="365125"/>
          </a:xfrm>
        </p:spPr>
        <p:txBody>
          <a:bodyPr/>
          <a:lstStyle/>
          <a:p>
            <a:fld id="{074ACFB0-6D1C-405E-A2C1-580B06895179}" type="datetime1">
              <a:rPr lang="cs-CZ" smtClean="0"/>
              <a:t>27.4.2018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 rot="-60000">
            <a:off x="914554" y="5829261"/>
            <a:ext cx="3522607" cy="365125"/>
          </a:xfrm>
        </p:spPr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 rot="60000">
            <a:off x="7557313" y="5896961"/>
            <a:ext cx="554023" cy="365125"/>
          </a:xfrm>
        </p:spPr>
        <p:txBody>
          <a:bodyPr/>
          <a:lstStyle/>
          <a:p>
            <a:fld id="{D93EF35A-D726-4DB8-9993-BA3B69B5C5CF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1" name="Freeform 30"/>
          <p:cNvSpPr/>
          <p:nvPr/>
        </p:nvSpPr>
        <p:spPr>
          <a:xfrm rot="10800000">
            <a:off x="632177" y="6058038"/>
            <a:ext cx="7721601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 rot="21540000">
            <a:off x="749204" y="576868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 rot="21540000">
            <a:off x="745058" y="575769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 rot="60000">
            <a:off x="4468872" y="605163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 rot="60000">
            <a:off x="4464768" y="603920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435684">
            <a:off x="2371106" y="293953"/>
            <a:ext cx="567831" cy="567830"/>
          </a:xfrm>
          <a:prstGeom prst="rect">
            <a:avLst/>
          </a:prstGeom>
          <a:noFill/>
        </p:spPr>
      </p:pic>
      <p:pic>
        <p:nvPicPr>
          <p:cNvPr id="15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4096196">
            <a:off x="6279647" y="333163"/>
            <a:ext cx="566928" cy="566928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-60000">
            <a:off x="1106424" y="2020824"/>
            <a:ext cx="3063240" cy="1499616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60000">
            <a:off x="4898615" y="1207272"/>
            <a:ext cx="2913863" cy="4539412"/>
          </a:xfrm>
          <a:ln w="101600" cap="rnd">
            <a:solidFill>
              <a:srgbClr val="FFFFFF"/>
            </a:solidFill>
          </a:ln>
          <a:effectLst>
            <a:outerShdw blurRad="889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cs-CZ"/>
              <a:t>Kliknutím na ikonu přidáte obrázek.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-60000">
            <a:off x="1152144" y="3621024"/>
            <a:ext cx="3044952" cy="210312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 rot="60000">
            <a:off x="6345936" y="5888737"/>
            <a:ext cx="1213821" cy="365125"/>
          </a:xfrm>
        </p:spPr>
        <p:txBody>
          <a:bodyPr/>
          <a:lstStyle/>
          <a:p>
            <a:fld id="{8CB9B3F6-8276-4843-8F78-AC22D9AC3687}" type="datetime1">
              <a:rPr lang="cs-CZ" smtClean="0"/>
              <a:t>27.4.2018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 rot="-60000">
            <a:off x="914569" y="5831037"/>
            <a:ext cx="3319043" cy="365125"/>
          </a:xfrm>
        </p:spPr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 rot="60000">
            <a:off x="7562089" y="5900026"/>
            <a:ext cx="554023" cy="365125"/>
          </a:xfrm>
        </p:spPr>
        <p:txBody>
          <a:bodyPr/>
          <a:lstStyle/>
          <a:p>
            <a:fld id="{D93EF35A-D726-4DB8-9993-BA3B69B5C5CF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77076-F507-4715-9EA9-ECED4D3EF2B0}" type="datetime1">
              <a:rPr lang="cs-CZ" smtClean="0"/>
              <a:t>27.4.2018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1" y="925690"/>
            <a:ext cx="1430867" cy="476391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8221" y="1106312"/>
            <a:ext cx="5178779" cy="4402667"/>
          </a:xfrm>
        </p:spPr>
        <p:txBody>
          <a:bodyPr vert="eaVert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05425-40BE-4B57-9D89-AC79877448C0}" type="datetime1">
              <a:rPr lang="cs-CZ" smtClean="0"/>
              <a:t>27.4.2018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Freeform 9"/>
          <p:cNvSpPr/>
          <p:nvPr/>
        </p:nvSpPr>
        <p:spPr>
          <a:xfrm rot="10800000">
            <a:off x="628650" y="6069330"/>
            <a:ext cx="7920991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31520" y="575310"/>
            <a:ext cx="7696200" cy="57150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31520" y="576072"/>
            <a:ext cx="7696200" cy="5715000"/>
          </a:xfrm>
          <a:prstGeom prst="rect">
            <a:avLst/>
          </a:prstGeom>
          <a:blipFill dpi="0" rotWithShape="1">
            <a:blip r:embed="rId13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 rot="1435684">
            <a:off x="543741" y="273091"/>
            <a:ext cx="567831" cy="567830"/>
          </a:xfrm>
          <a:prstGeom prst="rect">
            <a:avLst/>
          </a:prstGeom>
          <a:noFill/>
        </p:spPr>
      </p:pic>
      <p:pic>
        <p:nvPicPr>
          <p:cNvPr id="14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 rot="4096196">
            <a:off x="8115079" y="298163"/>
            <a:ext cx="566928" cy="566928"/>
          </a:xfrm>
          <a:prstGeom prst="rect">
            <a:avLst/>
          </a:prstGeom>
          <a:noFill/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5023" y="817582"/>
            <a:ext cx="6965245" cy="12024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63040" y="2119257"/>
            <a:ext cx="6196405" cy="36038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54588" y="5809152"/>
            <a:ext cx="12138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  <a:latin typeface="Rage Italic" pitchFamily="66" charset="0"/>
              </a:defRPr>
            </a:lvl1pPr>
          </a:lstStyle>
          <a:p>
            <a:fld id="{D155DE96-403F-4599-843E-7D5556108229}" type="datetime1">
              <a:rPr lang="cs-CZ" smtClean="0"/>
              <a:t>27.4.2018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4401" y="5809152"/>
            <a:ext cx="55401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2"/>
                </a:solidFill>
                <a:latin typeface="Rage Italic" pitchFamily="66" charset="0"/>
              </a:defRPr>
            </a:lvl1pPr>
          </a:lstStyle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70202" y="5809152"/>
            <a:ext cx="5540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2"/>
                </a:solidFill>
                <a:latin typeface="Rage Italic" pitchFamily="66" charset="0"/>
              </a:defRPr>
            </a:lvl1pPr>
          </a:lstStyle>
          <a:p>
            <a:fld id="{D93EF35A-D726-4DB8-9993-BA3B69B5C5CF}" type="slidenum">
              <a:rPr lang="cs-CZ" smtClean="0"/>
              <a:pPr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1168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Nadpis 4">
            <a:extLst>
              <a:ext uri="{FF2B5EF4-FFF2-40B4-BE49-F238E27FC236}">
                <a16:creationId xmlns:a16="http://schemas.microsoft.com/office/drawing/2014/main" id="{D7B1ADF0-6BB3-4819-B72F-CC2D05BBBB0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/>
              <a:t>Tvorba grafů</a:t>
            </a:r>
          </a:p>
        </p:txBody>
      </p:sp>
      <p:sp>
        <p:nvSpPr>
          <p:cNvPr id="6" name="Podnadpis 5">
            <a:extLst>
              <a:ext uri="{FF2B5EF4-FFF2-40B4-BE49-F238E27FC236}">
                <a16:creationId xmlns:a16="http://schemas.microsoft.com/office/drawing/2014/main" id="{C8F4B80F-D862-4FCC-AF4B-6D1A43DD710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cs-CZ" dirty="0"/>
              <a:t>Součást prezentace Grafické objekty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88AB18B5-150E-43A7-A4FB-CE51D8974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434417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Grafy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cs-CZ" dirty="0"/>
              <a:t>Karta Vložení skupina Ilustrace ikona Graf.</a:t>
            </a:r>
          </a:p>
          <a:p>
            <a:pPr>
              <a:lnSpc>
                <a:spcPct val="200000"/>
              </a:lnSpc>
            </a:pPr>
            <a:r>
              <a:rPr lang="cs-CZ" dirty="0"/>
              <a:t>Textové pole snímku ikona Graf..</a:t>
            </a:r>
          </a:p>
          <a:p>
            <a:pPr lvl="1">
              <a:lnSpc>
                <a:spcPct val="200000"/>
              </a:lnSpc>
              <a:buNone/>
            </a:pPr>
            <a:endParaRPr lang="cs-CZ" sz="2400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65A4ECFF-E196-4B32-ABC9-26BF1C21F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2</a:t>
            </a:fld>
            <a:endParaRPr lang="cs-CZ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F603BB1A-6985-4A85-A79C-6EA3AF61EA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1357" y="3887386"/>
            <a:ext cx="6539770" cy="190109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0D0D5E3-F95C-46FE-80BF-B726BB457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Tvorba grafu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19BD2625-86B7-4712-8428-9C74C3E8E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3</a:t>
            </a:fld>
            <a:endParaRPr lang="cs-CZ"/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cs-CZ" dirty="0"/>
              <a:t>Výběr typu grafu.</a:t>
            </a:r>
          </a:p>
          <a:p>
            <a:pPr>
              <a:lnSpc>
                <a:spcPct val="200000"/>
              </a:lnSpc>
            </a:pPr>
            <a:r>
              <a:rPr lang="cs-CZ" dirty="0"/>
              <a:t>Vyplnění údajů </a:t>
            </a:r>
            <a:br>
              <a:rPr lang="cs-CZ" dirty="0"/>
            </a:br>
            <a:r>
              <a:rPr lang="cs-CZ" dirty="0"/>
              <a:t>v pomocné tabulce </a:t>
            </a:r>
            <a:br>
              <a:rPr lang="cs-CZ" dirty="0"/>
            </a:br>
            <a:r>
              <a:rPr lang="cs-CZ" dirty="0"/>
              <a:t>v Excelu.</a:t>
            </a:r>
          </a:p>
          <a:p>
            <a:pPr lvl="1">
              <a:lnSpc>
                <a:spcPct val="200000"/>
              </a:lnSpc>
              <a:buNone/>
            </a:pPr>
            <a:endParaRPr lang="cs-CZ" sz="2400" dirty="0"/>
          </a:p>
          <a:p>
            <a:pPr lvl="1">
              <a:lnSpc>
                <a:spcPct val="200000"/>
              </a:lnSpc>
            </a:pPr>
            <a:endParaRPr lang="cs-CZ" sz="2400" dirty="0"/>
          </a:p>
          <a:p>
            <a:pPr lvl="1">
              <a:lnSpc>
                <a:spcPct val="200000"/>
              </a:lnSpc>
            </a:pPr>
            <a:endParaRPr lang="cs-CZ" sz="2400" dirty="0"/>
          </a:p>
          <a:p>
            <a:pPr lvl="1">
              <a:lnSpc>
                <a:spcPct val="200000"/>
              </a:lnSpc>
            </a:pPr>
            <a:endParaRPr lang="cs-CZ" sz="2400" dirty="0"/>
          </a:p>
        </p:txBody>
      </p:sp>
      <p:sp>
        <p:nvSpPr>
          <p:cNvPr id="6" name="Zástupný symbol pro obsah 5">
            <a:extLst>
              <a:ext uri="{FF2B5EF4-FFF2-40B4-BE49-F238E27FC236}">
                <a16:creationId xmlns:a16="http://schemas.microsoft.com/office/drawing/2014/main" id="{9BDF6124-C3C8-4DA4-9CC2-8A2E47F35F55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228E4057-4418-4FC5-99C4-0DA2080BFF9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375" t="7980" r="26375" b="13582"/>
          <a:stretch/>
        </p:blipFill>
        <p:spPr>
          <a:xfrm>
            <a:off x="4355976" y="1847574"/>
            <a:ext cx="4635751" cy="432670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ázek 4">
            <a:extLst>
              <a:ext uri="{FF2B5EF4-FFF2-40B4-BE49-F238E27FC236}">
                <a16:creationId xmlns:a16="http://schemas.microsoft.com/office/drawing/2014/main" id="{BDFA8BC9-97F9-4E3D-8388-6D14F4DC4D9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778" r="9051" b="14984"/>
          <a:stretch/>
        </p:blipFill>
        <p:spPr>
          <a:xfrm>
            <a:off x="178144" y="1032205"/>
            <a:ext cx="8787712" cy="4793590"/>
          </a:xfrm>
          <a:prstGeom prst="rect">
            <a:avLst/>
          </a:prstGeom>
        </p:spPr>
      </p:pic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31B357CA-14A1-468F-9663-8D643B112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4</a:t>
            </a:fld>
            <a:endParaRPr lang="cs-CZ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827C37C-EDFA-4069-ACD4-BC4225B47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Úprava grafu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08A0E42C-F2FF-40BB-B5CA-B4F8476891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Přepis dat v excelové tabulce.</a:t>
            </a:r>
          </a:p>
          <a:p>
            <a:r>
              <a:rPr lang="cs-CZ" dirty="0"/>
              <a:t>Výběr oblasti Grafu =&gt; </a:t>
            </a:r>
            <a:r>
              <a:rPr lang="cs-CZ" b="1" dirty="0"/>
              <a:t>pravý dolní roh tabulky, jen smazání dat nestačí. </a:t>
            </a:r>
          </a:p>
          <a:p>
            <a:r>
              <a:rPr lang="cs-CZ" dirty="0"/>
              <a:t>Změna oblasti dat v tabulce se následně projeví v grafu.</a:t>
            </a:r>
          </a:p>
        </p:txBody>
      </p:sp>
      <p:pic>
        <p:nvPicPr>
          <p:cNvPr id="7" name="Obrázek 6">
            <a:extLst>
              <a:ext uri="{FF2B5EF4-FFF2-40B4-BE49-F238E27FC236}">
                <a16:creationId xmlns:a16="http://schemas.microsoft.com/office/drawing/2014/main" id="{9D1B4EFA-CD65-4944-A5BD-A1B67476338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463" t="9381" r="39094" b="65237"/>
          <a:stretch/>
        </p:blipFill>
        <p:spPr>
          <a:xfrm>
            <a:off x="4418725" y="4281429"/>
            <a:ext cx="4674329" cy="2430738"/>
          </a:xfrm>
          <a:prstGeom prst="rect">
            <a:avLst/>
          </a:prstGeom>
        </p:spPr>
      </p:pic>
      <p:pic>
        <p:nvPicPr>
          <p:cNvPr id="8" name="Obrázek 7">
            <a:extLst>
              <a:ext uri="{FF2B5EF4-FFF2-40B4-BE49-F238E27FC236}">
                <a16:creationId xmlns:a16="http://schemas.microsoft.com/office/drawing/2014/main" id="{C4B64603-B690-457E-940B-2899168EA6B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9175" t="16028" r="32236" b="55603"/>
          <a:stretch/>
        </p:blipFill>
        <p:spPr>
          <a:xfrm>
            <a:off x="29431" y="4268545"/>
            <a:ext cx="4053809" cy="2456506"/>
          </a:xfrm>
          <a:prstGeom prst="rect">
            <a:avLst/>
          </a:prstGeom>
        </p:spPr>
      </p:pic>
      <p:sp>
        <p:nvSpPr>
          <p:cNvPr id="9" name="Šipka: doprava, šrafovaná 8">
            <a:extLst>
              <a:ext uri="{FF2B5EF4-FFF2-40B4-BE49-F238E27FC236}">
                <a16:creationId xmlns:a16="http://schemas.microsoft.com/office/drawing/2014/main" id="{9110360C-9199-4451-BA9E-B560B228CAFB}"/>
              </a:ext>
            </a:extLst>
          </p:cNvPr>
          <p:cNvSpPr/>
          <p:nvPr/>
        </p:nvSpPr>
        <p:spPr>
          <a:xfrm>
            <a:off x="3378025" y="5697678"/>
            <a:ext cx="1236157" cy="443748"/>
          </a:xfrm>
          <a:prstGeom prst="strip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0" name="Zástupný symbol pro číslo snímku 9">
            <a:extLst>
              <a:ext uri="{FF2B5EF4-FFF2-40B4-BE49-F238E27FC236}">
                <a16:creationId xmlns:a16="http://schemas.microsoft.com/office/drawing/2014/main" id="{3E88B9C4-B33A-46C6-9E3C-2DFCC30E8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39513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sah 1">
            <a:extLst>
              <a:ext uri="{FF2B5EF4-FFF2-40B4-BE49-F238E27FC236}">
                <a16:creationId xmlns:a16="http://schemas.microsoft.com/office/drawing/2014/main" id="{B5A6B966-4159-4740-B8AB-42AFE22B51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3" name="Obrázek 2">
            <a:extLst>
              <a:ext uri="{FF2B5EF4-FFF2-40B4-BE49-F238E27FC236}">
                <a16:creationId xmlns:a16="http://schemas.microsoft.com/office/drawing/2014/main" id="{E7B73386-C01E-4F7E-8C7C-C4085C69D0F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587" t="3779" r="14563" b="15086"/>
          <a:stretch/>
        </p:blipFill>
        <p:spPr>
          <a:xfrm>
            <a:off x="179512" y="81080"/>
            <a:ext cx="8784976" cy="6695840"/>
          </a:xfrm>
          <a:prstGeom prst="rect">
            <a:avLst/>
          </a:prstGeom>
        </p:spPr>
      </p:pic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298EF4F3-4E34-486C-AA95-7F107120F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6</a:t>
            </a:fld>
            <a:endParaRPr lang="cs-CZ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Úpravy grafu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1463040" y="2119256"/>
            <a:ext cx="7213416" cy="455010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cs-CZ" sz="2400" dirty="0"/>
              <a:t>1. Karty Nástroje grafu =&gt;</a:t>
            </a:r>
            <a:r>
              <a:rPr lang="cs-CZ" dirty="0"/>
              <a:t> karty Návrh a Formát.</a:t>
            </a:r>
          </a:p>
          <a:p>
            <a:pPr>
              <a:lnSpc>
                <a:spcPct val="150000"/>
              </a:lnSpc>
            </a:pPr>
            <a:endParaRPr lang="cs-CZ" sz="2400" dirty="0"/>
          </a:p>
          <a:p>
            <a:pPr>
              <a:lnSpc>
                <a:spcPct val="150000"/>
              </a:lnSpc>
            </a:pPr>
            <a:endParaRPr lang="cs-CZ" sz="2400" dirty="0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622A09D8-7551-4E50-AD8D-B8BD4F3BB5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4" y="2904162"/>
            <a:ext cx="9144000" cy="1049675"/>
          </a:xfrm>
          <a:prstGeom prst="rect">
            <a:avLst/>
          </a:prstGeom>
        </p:spPr>
      </p:pic>
      <p:pic>
        <p:nvPicPr>
          <p:cNvPr id="5" name="Obrázek 4">
            <a:extLst>
              <a:ext uri="{FF2B5EF4-FFF2-40B4-BE49-F238E27FC236}">
                <a16:creationId xmlns:a16="http://schemas.microsoft.com/office/drawing/2014/main" id="{D0DF6349-C868-4D0F-A705-C9F1FD2746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4" y="4222830"/>
            <a:ext cx="9144000" cy="1147948"/>
          </a:xfrm>
          <a:prstGeom prst="rect">
            <a:avLst/>
          </a:prstGeom>
        </p:spPr>
      </p:pic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E776898F-24F9-44E0-A5F6-EFC3EEA28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7</a:t>
            </a:fld>
            <a:endParaRPr lang="cs-CZ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ek 1">
            <a:extLst>
              <a:ext uri="{FF2B5EF4-FFF2-40B4-BE49-F238E27FC236}">
                <a16:creationId xmlns:a16="http://schemas.microsoft.com/office/drawing/2014/main" id="{5089EFA8-6DF4-4341-AF85-112C33CF053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6594" t="8404" r="18" b="7556"/>
          <a:stretch/>
        </p:blipFill>
        <p:spPr>
          <a:xfrm>
            <a:off x="1005745" y="1512340"/>
            <a:ext cx="7132509" cy="531662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4" name="Zástupný symbol pro obsah 3">
            <a:extLst>
              <a:ext uri="{FF2B5EF4-FFF2-40B4-BE49-F238E27FC236}">
                <a16:creationId xmlns:a16="http://schemas.microsoft.com/office/drawing/2014/main" id="{1AF0301B-D17C-446E-808A-D8FCC3E3BD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9632" y="699215"/>
            <a:ext cx="6196405" cy="3603812"/>
          </a:xfrm>
        </p:spPr>
        <p:txBody>
          <a:bodyPr/>
          <a:lstStyle/>
          <a:p>
            <a:r>
              <a:rPr lang="cs-CZ" dirty="0"/>
              <a:t>2. Pravé tlačítko myši =&gt; dialogová okna </a:t>
            </a:r>
            <a:br>
              <a:rPr lang="cs-CZ" dirty="0"/>
            </a:br>
            <a:r>
              <a:rPr lang="cs-CZ" dirty="0"/>
              <a:t>s možnostmi ...Formát oblasti</a:t>
            </a:r>
          </a:p>
          <a:p>
            <a:endParaRPr lang="cs-CZ" dirty="0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1045B975-196A-4F9C-A3F6-4DDD83CB4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8</a:t>
            </a:fld>
            <a:endParaRPr lang="cs-CZ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2A576E87-D939-4CA2-8EBB-F151D7D8C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9</a:t>
            </a:fld>
            <a:endParaRPr lang="cs-CZ"/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24DAFE0C-8007-46AC-BF6C-B4F5B5E99E7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651" t="21284" b="5390"/>
          <a:stretch/>
        </p:blipFill>
        <p:spPr>
          <a:xfrm>
            <a:off x="150357" y="1156016"/>
            <a:ext cx="8843286" cy="465313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262553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Nadpis 7">
            <a:extLst>
              <a:ext uri="{FF2B5EF4-FFF2-40B4-BE49-F238E27FC236}">
                <a16:creationId xmlns:a16="http://schemas.microsoft.com/office/drawing/2014/main" id="{9BFED1BF-F17D-4935-BD72-6692F9148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6218" y="404664"/>
            <a:ext cx="6965245" cy="1202485"/>
          </a:xfrm>
        </p:spPr>
        <p:txBody>
          <a:bodyPr>
            <a:normAutofit/>
          </a:bodyPr>
          <a:lstStyle/>
          <a:p>
            <a:r>
              <a:rPr lang="cs-CZ" dirty="0"/>
              <a:t>Ukázka grafu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A72E5AD2-B4DF-44A3-B468-5285857D2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10</a:t>
            </a:fld>
            <a:endParaRPr lang="cs-CZ"/>
          </a:p>
        </p:txBody>
      </p:sp>
      <p:graphicFrame>
        <p:nvGraphicFramePr>
          <p:cNvPr id="7" name="Zástupný symbol pro obsah 6">
            <a:extLst>
              <a:ext uri="{FF2B5EF4-FFF2-40B4-BE49-F238E27FC236}">
                <a16:creationId xmlns:a16="http://schemas.microsoft.com/office/drawing/2014/main" id="{4995521E-FE5F-47A7-B057-AFDCB924D66F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3939373663"/>
              </p:ext>
            </p:extLst>
          </p:nvPr>
        </p:nvGraphicFramePr>
        <p:xfrm>
          <a:off x="1191156" y="1607149"/>
          <a:ext cx="6761688" cy="45831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00419361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Špendlík">
  <a:themeElements>
    <a:clrScheme name="Špendlík">
      <a:dk1>
        <a:sysClr val="windowText" lastClr="000000"/>
      </a:dk1>
      <a:lt1>
        <a:sysClr val="window" lastClr="FFFFFF"/>
      </a:lt1>
      <a:dk2>
        <a:srgbClr val="465E9C"/>
      </a:dk2>
      <a:lt2>
        <a:srgbClr val="CCDDEA"/>
      </a:lt2>
      <a:accent1>
        <a:srgbClr val="FDA023"/>
      </a:accent1>
      <a:accent2>
        <a:srgbClr val="AA2B1E"/>
      </a:accent2>
      <a:accent3>
        <a:srgbClr val="71685C"/>
      </a:accent3>
      <a:accent4>
        <a:srgbClr val="64A73B"/>
      </a:accent4>
      <a:accent5>
        <a:srgbClr val="EB5605"/>
      </a:accent5>
      <a:accent6>
        <a:srgbClr val="B9CA1A"/>
      </a:accent6>
      <a:hlink>
        <a:srgbClr val="D83E2C"/>
      </a:hlink>
      <a:folHlink>
        <a:srgbClr val="ED7D27"/>
      </a:folHlink>
    </a:clrScheme>
    <a:fontScheme name="Špendlík">
      <a:majorFont>
        <a:latin typeface="Constantia"/>
        <a:ea typeface=""/>
        <a:cs typeface=""/>
        <a:font script="Jpan" typeface="HGS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Grek" typeface="Arial"/>
        <a:font script="Cyrl" typeface="Arial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Špendlí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  <a:lumMod val="100000"/>
              </a:schemeClr>
            </a:gs>
            <a:gs pos="40000">
              <a:schemeClr val="phClr">
                <a:tint val="60000"/>
                <a:satMod val="130000"/>
                <a:lumMod val="100000"/>
              </a:schemeClr>
            </a:gs>
            <a:gs pos="100000">
              <a:schemeClr val="phClr">
                <a:tint val="96000"/>
                <a:lumMod val="108000"/>
              </a:schemeClr>
            </a:gs>
          </a:gsLst>
          <a:lin ang="5400000" scaled="0"/>
        </a:gradFill>
        <a:gradFill rotWithShape="1">
          <a:gsLst>
            <a:gs pos="0">
              <a:schemeClr val="phClr"/>
            </a:gs>
            <a:gs pos="100000">
              <a:schemeClr val="phClr">
                <a:shade val="76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80000"/>
              <a:lumMod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38100" dir="4800000" sx="98000" sy="98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38100" dist="38100" dir="4800000" sx="96000" sy="96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3240000"/>
            </a:lightRig>
          </a:scene3d>
          <a:sp3d>
            <a:bevelT w="28575" h="28575"/>
          </a:sp3d>
        </a:effectStyle>
      </a:effectStyleLst>
      <a:bgFillStyleLst>
        <a:solidFill>
          <a:schemeClr val="phClr">
            <a:tint val="93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satMod val="140000"/>
                <a:lumMod val="50000"/>
              </a:schemeClr>
              <a:schemeClr val="phClr">
                <a:tint val="95000"/>
                <a:satMod val="180000"/>
                <a:lumMod val="160000"/>
              </a:schemeClr>
            </a:duotone>
          </a:blip>
          <a:stretch/>
        </a:blipFill>
        <a:blipFill rotWithShape="1">
          <a:blip xmlns:r="http://schemas.openxmlformats.org/officeDocument/2006/relationships" r:embed="rId2">
            <a:duotone>
              <a:schemeClr val="phClr">
                <a:tint val="98000"/>
                <a:shade val="90000"/>
                <a:satMod val="120000"/>
                <a:lumMod val="54000"/>
              </a:schemeClr>
              <a:schemeClr val="phClr">
                <a:tint val="80000"/>
                <a:satMod val="160000"/>
                <a:lumMod val="140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otiv sady Office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Motiv sady Office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5114</TotalTime>
  <Words>95</Words>
  <Application>Microsoft Office PowerPoint</Application>
  <PresentationFormat>Předvádění na obrazovce (4:3)</PresentationFormat>
  <Paragraphs>29</Paragraphs>
  <Slides>10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5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10</vt:i4>
      </vt:variant>
    </vt:vector>
  </HeadingPairs>
  <TitlesOfParts>
    <vt:vector size="16" baseType="lpstr">
      <vt:lpstr>Brush Script MT</vt:lpstr>
      <vt:lpstr>Calibri</vt:lpstr>
      <vt:lpstr>Constantia</vt:lpstr>
      <vt:lpstr>Franklin Gothic Book</vt:lpstr>
      <vt:lpstr>Rage Italic</vt:lpstr>
      <vt:lpstr>Špendlík</vt:lpstr>
      <vt:lpstr>Tvorba grafů</vt:lpstr>
      <vt:lpstr>Grafy</vt:lpstr>
      <vt:lpstr>Tvorba grafu</vt:lpstr>
      <vt:lpstr>Prezentace aplikace PowerPoint</vt:lpstr>
      <vt:lpstr>Úprava grafu</vt:lpstr>
      <vt:lpstr>Prezentace aplikace PowerPoint</vt:lpstr>
      <vt:lpstr>Úpravy grafu</vt:lpstr>
      <vt:lpstr>Prezentace aplikace PowerPoint</vt:lpstr>
      <vt:lpstr>Prezentace aplikace PowerPoint</vt:lpstr>
      <vt:lpstr>Ukázka grafu</vt:lpstr>
    </vt:vector>
  </TitlesOfParts>
  <Company>Univerzita Pardubice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Úvod do PowerPointu</dc:title>
  <dc:creator>UPa</dc:creator>
  <cp:lastModifiedBy>Votavová Gabriela</cp:lastModifiedBy>
  <cp:revision>65</cp:revision>
  <cp:lastPrinted>2018-04-23T12:43:07Z</cp:lastPrinted>
  <dcterms:created xsi:type="dcterms:W3CDTF">2012-06-27T10:00:20Z</dcterms:created>
  <dcterms:modified xsi:type="dcterms:W3CDTF">2018-04-27T07:20:17Z</dcterms:modified>
</cp:coreProperties>
</file>