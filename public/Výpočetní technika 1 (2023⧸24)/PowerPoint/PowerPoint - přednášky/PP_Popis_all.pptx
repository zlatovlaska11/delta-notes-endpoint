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6"/>
  </p:notesMasterIdLst>
  <p:handoutMasterIdLst>
    <p:handoutMasterId r:id="rId37"/>
  </p:handoutMasterIdLst>
  <p:sldIdLst>
    <p:sldId id="287" r:id="rId5"/>
    <p:sldId id="290" r:id="rId6"/>
    <p:sldId id="292" r:id="rId7"/>
    <p:sldId id="297" r:id="rId8"/>
    <p:sldId id="293" r:id="rId9"/>
    <p:sldId id="294" r:id="rId10"/>
    <p:sldId id="295" r:id="rId11"/>
    <p:sldId id="296" r:id="rId12"/>
    <p:sldId id="298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10" r:id="rId23"/>
    <p:sldId id="291" r:id="rId24"/>
    <p:sldId id="311" r:id="rId25"/>
    <p:sldId id="312" r:id="rId26"/>
    <p:sldId id="313" r:id="rId27"/>
    <p:sldId id="314" r:id="rId28"/>
    <p:sldId id="315" r:id="rId29"/>
    <p:sldId id="316" r:id="rId30"/>
    <p:sldId id="299" r:id="rId31"/>
    <p:sldId id="317" r:id="rId32"/>
    <p:sldId id="318" r:id="rId33"/>
    <p:sldId id="319" r:id="rId34"/>
    <p:sldId id="289" r:id="rId35"/>
  </p:sldIdLst>
  <p:sldSz cx="9144000" cy="6858000" type="screen4x3"/>
  <p:notesSz cx="6761163" cy="99425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423EFD6C-FB89-4093-914F-FF9E3EEA0487}">
          <p14:sldIdLst>
            <p14:sldId id="287"/>
            <p14:sldId id="290"/>
            <p14:sldId id="292"/>
            <p14:sldId id="297"/>
            <p14:sldId id="293"/>
            <p14:sldId id="294"/>
            <p14:sldId id="295"/>
            <p14:sldId id="296"/>
            <p14:sldId id="298"/>
          </p14:sldIdLst>
        </p14:section>
        <p14:section name="Výchozí oddíl" id="{D0CAAE1A-73DD-4FA1-B5AE-AD32566EE6E7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Výchozí oddíl" id="{CC0FAC7A-D8B1-4188-9D65-418702036DB2}">
          <p14:sldIdLst>
            <p14:sldId id="310"/>
            <p14:sldId id="291"/>
            <p14:sldId id="311"/>
            <p14:sldId id="312"/>
            <p14:sldId id="313"/>
            <p14:sldId id="314"/>
            <p14:sldId id="315"/>
            <p14:sldId id="316"/>
            <p14:sldId id="299"/>
            <p14:sldId id="317"/>
            <p14:sldId id="318"/>
            <p14:sldId id="319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2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briela Votavová" initials="GV" lastIdx="2" clrIdx="0">
    <p:extLst>
      <p:ext uri="{19B8F6BF-5375-455C-9EA6-DF929625EA0E}">
        <p15:presenceInfo xmlns:p15="http://schemas.microsoft.com/office/powerpoint/2012/main" userId="Gabriela Votavová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Střední styl 4 – zvýraznění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 autoAdjust="0"/>
    <p:restoredTop sz="94676" autoAdjust="0"/>
  </p:normalViewPr>
  <p:slideViewPr>
    <p:cSldViewPr>
      <p:cViewPr varScale="1">
        <p:scale>
          <a:sx n="60" d="100"/>
          <a:sy n="60" d="100"/>
        </p:scale>
        <p:origin x="1436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3360" y="-90"/>
      </p:cViewPr>
      <p:guideLst>
        <p:guide orient="horz" pos="3131"/>
        <p:guide pos="2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FC76F22F-8914-4C7B-8F24-D1BFE70238A9}"/>
    <pc:docChg chg="undo custSel modSld">
      <pc:chgData name="Votavová Gabriela" userId="f151b92f-625a-445a-9d4b-1ed80f6e2b7e" providerId="ADAL" clId="{FC76F22F-8914-4C7B-8F24-D1BFE70238A9}" dt="2020-01-29T12:30:25.144" v="8" actId="1592"/>
      <pc:docMkLst>
        <pc:docMk/>
      </pc:docMkLst>
      <pc:sldChg chg="modSp">
        <pc:chgData name="Votavová Gabriela" userId="f151b92f-625a-445a-9d4b-1ed80f6e2b7e" providerId="ADAL" clId="{FC76F22F-8914-4C7B-8F24-D1BFE70238A9}" dt="2020-01-29T12:29:32.540" v="5" actId="6549"/>
        <pc:sldMkLst>
          <pc:docMk/>
          <pc:sldMk cId="4178861749" sldId="287"/>
        </pc:sldMkLst>
        <pc:spChg chg="mod">
          <ac:chgData name="Votavová Gabriela" userId="f151b92f-625a-445a-9d4b-1ed80f6e2b7e" providerId="ADAL" clId="{FC76F22F-8914-4C7B-8F24-D1BFE70238A9}" dt="2020-01-29T12:29:32.540" v="5" actId="6549"/>
          <ac:spMkLst>
            <pc:docMk/>
            <pc:sldMk cId="4178861749" sldId="287"/>
            <ac:spMk id="2" creationId="{00000000-0000-0000-0000-000000000000}"/>
          </ac:spMkLst>
        </pc:spChg>
      </pc:sldChg>
      <pc:sldChg chg="modSp">
        <pc:chgData name="Votavová Gabriela" userId="f151b92f-625a-445a-9d4b-1ed80f6e2b7e" providerId="ADAL" clId="{FC76F22F-8914-4C7B-8F24-D1BFE70238A9}" dt="2020-01-29T12:29:50.465" v="6" actId="1076"/>
        <pc:sldMkLst>
          <pc:docMk/>
          <pc:sldMk cId="277462740" sldId="290"/>
        </pc:sldMkLst>
        <pc:picChg chg="mod">
          <ac:chgData name="Votavová Gabriela" userId="f151b92f-625a-445a-9d4b-1ed80f6e2b7e" providerId="ADAL" clId="{FC76F22F-8914-4C7B-8F24-D1BFE70238A9}" dt="2020-01-29T12:29:50.465" v="6" actId="1076"/>
          <ac:picMkLst>
            <pc:docMk/>
            <pc:sldMk cId="277462740" sldId="290"/>
            <ac:picMk id="5" creationId="{00000000-0000-0000-0000-000000000000}"/>
          </ac:picMkLst>
        </pc:picChg>
      </pc:sldChg>
      <pc:sldChg chg="modSp">
        <pc:chgData name="Votavová Gabriela" userId="f151b92f-625a-445a-9d4b-1ed80f6e2b7e" providerId="ADAL" clId="{FC76F22F-8914-4C7B-8F24-D1BFE70238A9}" dt="2020-01-29T12:29:58.919" v="7" actId="1076"/>
        <pc:sldMkLst>
          <pc:docMk/>
          <pc:sldMk cId="4247893816" sldId="292"/>
        </pc:sldMkLst>
        <pc:picChg chg="mod">
          <ac:chgData name="Votavová Gabriela" userId="f151b92f-625a-445a-9d4b-1ed80f6e2b7e" providerId="ADAL" clId="{FC76F22F-8914-4C7B-8F24-D1BFE70238A9}" dt="2020-01-29T12:29:58.919" v="7" actId="1076"/>
          <ac:picMkLst>
            <pc:docMk/>
            <pc:sldMk cId="4247893816" sldId="292"/>
            <ac:picMk id="7" creationId="{00000000-0000-0000-0000-000000000000}"/>
          </ac:picMkLst>
        </pc:picChg>
      </pc:sldChg>
      <pc:sldChg chg="delCm">
        <pc:chgData name="Votavová Gabriela" userId="f151b92f-625a-445a-9d4b-1ed80f6e2b7e" providerId="ADAL" clId="{FC76F22F-8914-4C7B-8F24-D1BFE70238A9}" dt="2020-01-29T12:30:25.144" v="8" actId="1592"/>
        <pc:sldMkLst>
          <pc:docMk/>
          <pc:sldMk cId="4169682912" sldId="308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image" Target="../media/image43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image" Target="../media/image4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307959-8F38-4A72-B95A-B6654D09C656}" type="doc">
      <dgm:prSet loTypeId="urn:microsoft.com/office/officeart/2008/layout/AlternatingHexagons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7A212535-173D-41B9-B89A-F4A8EAC6C64C}">
      <dgm:prSet phldrT="[Text]"/>
      <dgm:spPr>
        <a:solidFill>
          <a:srgbClr val="92D050"/>
        </a:solidFill>
      </dgm:spPr>
      <dgm:t>
        <a:bodyPr/>
        <a:lstStyle/>
        <a:p>
          <a:r>
            <a:rPr lang="cs-CZ" b="1" dirty="0"/>
            <a:t>Den</a:t>
          </a:r>
        </a:p>
      </dgm:t>
    </dgm:pt>
    <dgm:pt modelId="{ABD63FF4-A75E-46FF-9862-92D7C4A1C558}" type="parTrans" cxnId="{04FF62C7-782B-4F48-8365-4E7C1B70439D}">
      <dgm:prSet/>
      <dgm:spPr/>
      <dgm:t>
        <a:bodyPr/>
        <a:lstStyle/>
        <a:p>
          <a:endParaRPr lang="cs-CZ"/>
        </a:p>
      </dgm:t>
    </dgm:pt>
    <dgm:pt modelId="{D1084557-BD5E-4378-B0D7-90E8A0625E09}" type="sibTrans" cxnId="{04FF62C7-782B-4F48-8365-4E7C1B70439D}">
      <dgm:prSet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endParaRPr lang="cs-CZ"/>
        </a:p>
      </dgm:t>
    </dgm:pt>
    <dgm:pt modelId="{F418170B-9AAF-4209-999B-1923117734A4}">
      <dgm:prSet phldrT="[Text]"/>
      <dgm:spPr>
        <a:solidFill>
          <a:srgbClr val="002060"/>
        </a:solidFill>
      </dgm:spPr>
      <dgm:t>
        <a:bodyPr>
          <a:scene3d>
            <a:camera prst="orthographicFront"/>
            <a:lightRig rig="brightRoom" dir="t"/>
          </a:scene3d>
          <a:sp3d contourW="6350" prstMaterial="plastic">
            <a:bevelT w="20320" h="20320" prst="angle"/>
            <a:contourClr>
              <a:schemeClr val="accent1">
                <a:tint val="100000"/>
                <a:shade val="100000"/>
                <a:hueMod val="100000"/>
                <a:satMod val="100000"/>
              </a:schemeClr>
            </a:contourClr>
          </a:sp3d>
        </a:bodyPr>
        <a:lstStyle/>
        <a:p>
          <a:r>
            <a:rPr lang="cs-CZ" b="1" i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rPr>
            <a:t>Noc</a:t>
          </a:r>
        </a:p>
      </dgm:t>
    </dgm:pt>
    <dgm:pt modelId="{1EC75FFC-2DEC-4C25-A2E2-5A39C96145B8}" type="parTrans" cxnId="{819F7247-C4E4-45EC-B464-238499B03C9D}">
      <dgm:prSet/>
      <dgm:spPr/>
      <dgm:t>
        <a:bodyPr/>
        <a:lstStyle/>
        <a:p>
          <a:endParaRPr lang="cs-CZ"/>
        </a:p>
      </dgm:t>
    </dgm:pt>
    <dgm:pt modelId="{7C911608-46BF-4E8F-804F-FA70A42D46FF}" type="sibTrans" cxnId="{819F7247-C4E4-45EC-B464-238499B03C9D}">
      <dgm:prSet/>
      <dgm:spPr>
        <a:blipFill rotWithShape="0">
          <a:blip xmlns:r="http://schemas.openxmlformats.org/officeDocument/2006/relationships" r:embed="rId2"/>
          <a:tile tx="0" ty="0" sx="100000" sy="100000" flip="none" algn="tl"/>
        </a:blipFill>
      </dgm:spPr>
      <dgm:t>
        <a:bodyPr/>
        <a:lstStyle/>
        <a:p>
          <a:endParaRPr lang="cs-CZ"/>
        </a:p>
      </dgm:t>
    </dgm:pt>
    <dgm:pt modelId="{CF1CFA19-AE0B-4516-9037-68CDB4484059}">
      <dgm:prSet phldrT="[Text]" custT="1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lin ang="13500000" scaled="1"/>
          <a:tileRect/>
        </a:gradFill>
      </dgm:spPr>
      <dgm:t>
        <a:bodyPr>
          <a:scene3d>
            <a:camera prst="orthographicFront"/>
            <a:lightRig rig="flat" dir="tl">
              <a:rot lat="0" lon="0" rev="6600000"/>
            </a:lightRig>
          </a:scene3d>
          <a:sp3d extrusionH="25400" contourW="8890">
            <a:bevelT w="38100" h="31750"/>
            <a:contourClr>
              <a:schemeClr val="accent2">
                <a:shade val="75000"/>
              </a:schemeClr>
            </a:contourClr>
          </a:sp3d>
        </a:bodyPr>
        <a:lstStyle/>
        <a:p>
          <a:r>
            <a:rPr lang="cs-CZ" sz="4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rPr>
            <a:t>?</a:t>
          </a:r>
          <a:endParaRPr lang="cs-CZ" sz="1200" dirty="0"/>
        </a:p>
      </dgm:t>
    </dgm:pt>
    <dgm:pt modelId="{E765D2D9-A1B5-4351-B1D2-2CB5D35226C0}" type="parTrans" cxnId="{7C20A546-62B4-4183-82E8-FDF0A8348FC5}">
      <dgm:prSet/>
      <dgm:spPr/>
      <dgm:t>
        <a:bodyPr/>
        <a:lstStyle/>
        <a:p>
          <a:endParaRPr lang="cs-CZ"/>
        </a:p>
      </dgm:t>
    </dgm:pt>
    <dgm:pt modelId="{BD6D6332-3E9A-4520-B371-3F4CAF4DE12E}" type="sibTrans" cxnId="{7C20A546-62B4-4183-82E8-FDF0A8348FC5}">
      <dgm:prSet/>
      <dgm:spPr>
        <a:blipFill rotWithShape="0">
          <a:blip xmlns:r="http://schemas.openxmlformats.org/officeDocument/2006/relationships" r:embed="rId3"/>
          <a:tile tx="0" ty="0" sx="100000" sy="100000" flip="none" algn="tl"/>
        </a:blipFill>
      </dgm:spPr>
      <dgm:t>
        <a:bodyPr/>
        <a:lstStyle/>
        <a:p>
          <a:endParaRPr lang="cs-CZ"/>
        </a:p>
      </dgm:t>
    </dgm:pt>
    <dgm:pt modelId="{22E3BF4A-8521-424F-A5EC-E2564097654C}" type="pres">
      <dgm:prSet presAssocID="{55307959-8F38-4A72-B95A-B6654D09C656}" presName="Name0" presStyleCnt="0">
        <dgm:presLayoutVars>
          <dgm:chMax/>
          <dgm:chPref/>
          <dgm:dir/>
          <dgm:animLvl val="lvl"/>
        </dgm:presLayoutVars>
      </dgm:prSet>
      <dgm:spPr/>
    </dgm:pt>
    <dgm:pt modelId="{E5DB2272-4B96-4891-B6AA-225D2CAB6B59}" type="pres">
      <dgm:prSet presAssocID="{7A212535-173D-41B9-B89A-F4A8EAC6C64C}" presName="composite" presStyleCnt="0"/>
      <dgm:spPr/>
    </dgm:pt>
    <dgm:pt modelId="{9CD24A26-CDDB-4915-84FE-ED5AA932ED23}" type="pres">
      <dgm:prSet presAssocID="{7A212535-173D-41B9-B89A-F4A8EAC6C64C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C031D5EC-2D9D-481D-BF54-16ECA15718C2}" type="pres">
      <dgm:prSet presAssocID="{7A212535-173D-41B9-B89A-F4A8EAC6C64C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C8BE3E9-D67A-49B9-A351-E0A14BC5C4E1}" type="pres">
      <dgm:prSet presAssocID="{7A212535-173D-41B9-B89A-F4A8EAC6C64C}" presName="BalanceSpacing" presStyleCnt="0"/>
      <dgm:spPr/>
    </dgm:pt>
    <dgm:pt modelId="{B99D0A75-DA1E-489A-82B2-F2907197F4E0}" type="pres">
      <dgm:prSet presAssocID="{7A212535-173D-41B9-B89A-F4A8EAC6C64C}" presName="BalanceSpacing1" presStyleCnt="0"/>
      <dgm:spPr/>
    </dgm:pt>
    <dgm:pt modelId="{9BEDC24E-6A47-4365-A810-27EB4BFD3D53}" type="pres">
      <dgm:prSet presAssocID="{D1084557-BD5E-4378-B0D7-90E8A0625E09}" presName="Accent1Text" presStyleLbl="node1" presStyleIdx="1" presStyleCnt="6"/>
      <dgm:spPr/>
    </dgm:pt>
    <dgm:pt modelId="{51657A21-5F72-4F65-B27D-63EA870500AC}" type="pres">
      <dgm:prSet presAssocID="{D1084557-BD5E-4378-B0D7-90E8A0625E09}" presName="spaceBetweenRectangles" presStyleCnt="0"/>
      <dgm:spPr/>
    </dgm:pt>
    <dgm:pt modelId="{91BE813C-9D04-4EFB-AD88-5F382EA00664}" type="pres">
      <dgm:prSet presAssocID="{F418170B-9AAF-4209-999B-1923117734A4}" presName="composite" presStyleCnt="0"/>
      <dgm:spPr/>
    </dgm:pt>
    <dgm:pt modelId="{417F6E25-F31C-4B27-99BD-2C882081DD42}" type="pres">
      <dgm:prSet presAssocID="{F418170B-9AAF-4209-999B-1923117734A4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C954437A-F61F-4C0F-89C0-223F17EB1036}" type="pres">
      <dgm:prSet presAssocID="{F418170B-9AAF-4209-999B-1923117734A4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2A7BB58D-7B4D-465F-8056-802B728509DB}" type="pres">
      <dgm:prSet presAssocID="{F418170B-9AAF-4209-999B-1923117734A4}" presName="BalanceSpacing" presStyleCnt="0"/>
      <dgm:spPr/>
    </dgm:pt>
    <dgm:pt modelId="{B7BB2B09-F41A-48B3-B4C8-868E13690E81}" type="pres">
      <dgm:prSet presAssocID="{F418170B-9AAF-4209-999B-1923117734A4}" presName="BalanceSpacing1" presStyleCnt="0"/>
      <dgm:spPr/>
    </dgm:pt>
    <dgm:pt modelId="{130CE29F-30DA-4D69-924B-EBE8B8EBCA0B}" type="pres">
      <dgm:prSet presAssocID="{7C911608-46BF-4E8F-804F-FA70A42D46FF}" presName="Accent1Text" presStyleLbl="node1" presStyleIdx="3" presStyleCnt="6"/>
      <dgm:spPr/>
    </dgm:pt>
    <dgm:pt modelId="{B2D7FB8D-21B7-4F54-BFE2-EDE7BC677178}" type="pres">
      <dgm:prSet presAssocID="{7C911608-46BF-4E8F-804F-FA70A42D46FF}" presName="spaceBetweenRectangles" presStyleCnt="0"/>
      <dgm:spPr/>
    </dgm:pt>
    <dgm:pt modelId="{63A53D26-B370-47A7-A719-D45353A9FB65}" type="pres">
      <dgm:prSet presAssocID="{CF1CFA19-AE0B-4516-9037-68CDB4484059}" presName="composite" presStyleCnt="0"/>
      <dgm:spPr/>
    </dgm:pt>
    <dgm:pt modelId="{C8082EB5-FD68-47F5-AE78-F4E38418E8A8}" type="pres">
      <dgm:prSet presAssocID="{CF1CFA19-AE0B-4516-9037-68CDB4484059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ED601BC1-E247-4F96-B913-A51BCE05406E}" type="pres">
      <dgm:prSet presAssocID="{CF1CFA19-AE0B-4516-9037-68CDB448405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72AC73DB-BF78-4A79-8DBA-8A42A2060940}" type="pres">
      <dgm:prSet presAssocID="{CF1CFA19-AE0B-4516-9037-68CDB4484059}" presName="BalanceSpacing" presStyleCnt="0"/>
      <dgm:spPr/>
    </dgm:pt>
    <dgm:pt modelId="{1CC11AAC-58B7-4826-95C7-FAF0A833F0BB}" type="pres">
      <dgm:prSet presAssocID="{CF1CFA19-AE0B-4516-9037-68CDB4484059}" presName="BalanceSpacing1" presStyleCnt="0"/>
      <dgm:spPr/>
    </dgm:pt>
    <dgm:pt modelId="{EE5C6A47-D18F-40F4-9390-7AA56C5E80E9}" type="pres">
      <dgm:prSet presAssocID="{BD6D6332-3E9A-4520-B371-3F4CAF4DE12E}" presName="Accent1Text" presStyleLbl="node1" presStyleIdx="5" presStyleCnt="6"/>
      <dgm:spPr/>
    </dgm:pt>
  </dgm:ptLst>
  <dgm:cxnLst>
    <dgm:cxn modelId="{9659D932-1771-43C5-B0AC-029B9CE68C72}" type="presOf" srcId="{CF1CFA19-AE0B-4516-9037-68CDB4484059}" destId="{C8082EB5-FD68-47F5-AE78-F4E38418E8A8}" srcOrd="0" destOrd="0" presId="urn:microsoft.com/office/officeart/2008/layout/AlternatingHexagons"/>
    <dgm:cxn modelId="{7C20A546-62B4-4183-82E8-FDF0A8348FC5}" srcId="{55307959-8F38-4A72-B95A-B6654D09C656}" destId="{CF1CFA19-AE0B-4516-9037-68CDB4484059}" srcOrd="2" destOrd="0" parTransId="{E765D2D9-A1B5-4351-B1D2-2CB5D35226C0}" sibTransId="{BD6D6332-3E9A-4520-B371-3F4CAF4DE12E}"/>
    <dgm:cxn modelId="{9B7DCC46-1BBB-4CF5-ABD9-3E9D21715A2A}" type="presOf" srcId="{BD6D6332-3E9A-4520-B371-3F4CAF4DE12E}" destId="{EE5C6A47-D18F-40F4-9390-7AA56C5E80E9}" srcOrd="0" destOrd="0" presId="urn:microsoft.com/office/officeart/2008/layout/AlternatingHexagons"/>
    <dgm:cxn modelId="{819F7247-C4E4-45EC-B464-238499B03C9D}" srcId="{55307959-8F38-4A72-B95A-B6654D09C656}" destId="{F418170B-9AAF-4209-999B-1923117734A4}" srcOrd="1" destOrd="0" parTransId="{1EC75FFC-2DEC-4C25-A2E2-5A39C96145B8}" sibTransId="{7C911608-46BF-4E8F-804F-FA70A42D46FF}"/>
    <dgm:cxn modelId="{9E9E1048-C9E2-4169-BE45-37333A4AFC9A}" type="presOf" srcId="{7C911608-46BF-4E8F-804F-FA70A42D46FF}" destId="{130CE29F-30DA-4D69-924B-EBE8B8EBCA0B}" srcOrd="0" destOrd="0" presId="urn:microsoft.com/office/officeart/2008/layout/AlternatingHexagons"/>
    <dgm:cxn modelId="{45E0A853-2DBE-4ABD-982B-927B8D69A811}" type="presOf" srcId="{7A212535-173D-41B9-B89A-F4A8EAC6C64C}" destId="{9CD24A26-CDDB-4915-84FE-ED5AA932ED23}" srcOrd="0" destOrd="0" presId="urn:microsoft.com/office/officeart/2008/layout/AlternatingHexagons"/>
    <dgm:cxn modelId="{2441127C-FE7D-450C-B254-B86CFAE08D01}" type="presOf" srcId="{55307959-8F38-4A72-B95A-B6654D09C656}" destId="{22E3BF4A-8521-424F-A5EC-E2564097654C}" srcOrd="0" destOrd="0" presId="urn:microsoft.com/office/officeart/2008/layout/AlternatingHexagons"/>
    <dgm:cxn modelId="{2D1AA89B-8BAB-46D5-9D8D-65C84BE3CD8C}" type="presOf" srcId="{F418170B-9AAF-4209-999B-1923117734A4}" destId="{417F6E25-F31C-4B27-99BD-2C882081DD42}" srcOrd="0" destOrd="0" presId="urn:microsoft.com/office/officeart/2008/layout/AlternatingHexagons"/>
    <dgm:cxn modelId="{04FF62C7-782B-4F48-8365-4E7C1B70439D}" srcId="{55307959-8F38-4A72-B95A-B6654D09C656}" destId="{7A212535-173D-41B9-B89A-F4A8EAC6C64C}" srcOrd="0" destOrd="0" parTransId="{ABD63FF4-A75E-46FF-9862-92D7C4A1C558}" sibTransId="{D1084557-BD5E-4378-B0D7-90E8A0625E09}"/>
    <dgm:cxn modelId="{B22FC8EF-9581-410B-9AFE-BB5399A4C380}" type="presOf" srcId="{D1084557-BD5E-4378-B0D7-90E8A0625E09}" destId="{9BEDC24E-6A47-4365-A810-27EB4BFD3D53}" srcOrd="0" destOrd="0" presId="urn:microsoft.com/office/officeart/2008/layout/AlternatingHexagons"/>
    <dgm:cxn modelId="{BB876CCB-9570-4C14-8598-1FD0D95C2A20}" type="presParOf" srcId="{22E3BF4A-8521-424F-A5EC-E2564097654C}" destId="{E5DB2272-4B96-4891-B6AA-225D2CAB6B59}" srcOrd="0" destOrd="0" presId="urn:microsoft.com/office/officeart/2008/layout/AlternatingHexagons"/>
    <dgm:cxn modelId="{C323B461-D87B-40BB-A2EF-A1641CAFDC3F}" type="presParOf" srcId="{E5DB2272-4B96-4891-B6AA-225D2CAB6B59}" destId="{9CD24A26-CDDB-4915-84FE-ED5AA932ED23}" srcOrd="0" destOrd="0" presId="urn:microsoft.com/office/officeart/2008/layout/AlternatingHexagons"/>
    <dgm:cxn modelId="{BD42B57F-4B5F-49D1-B105-8756A4E267ED}" type="presParOf" srcId="{E5DB2272-4B96-4891-B6AA-225D2CAB6B59}" destId="{C031D5EC-2D9D-481D-BF54-16ECA15718C2}" srcOrd="1" destOrd="0" presId="urn:microsoft.com/office/officeart/2008/layout/AlternatingHexagons"/>
    <dgm:cxn modelId="{C0D416BB-2988-4748-A9C5-5E153C1FA3DB}" type="presParOf" srcId="{E5DB2272-4B96-4891-B6AA-225D2CAB6B59}" destId="{7C8BE3E9-D67A-49B9-A351-E0A14BC5C4E1}" srcOrd="2" destOrd="0" presId="urn:microsoft.com/office/officeart/2008/layout/AlternatingHexagons"/>
    <dgm:cxn modelId="{ED1987FA-9F15-44FF-A56C-86CEA2EE2F00}" type="presParOf" srcId="{E5DB2272-4B96-4891-B6AA-225D2CAB6B59}" destId="{B99D0A75-DA1E-489A-82B2-F2907197F4E0}" srcOrd="3" destOrd="0" presId="urn:microsoft.com/office/officeart/2008/layout/AlternatingHexagons"/>
    <dgm:cxn modelId="{6B837A5E-41C7-442A-8AD0-051902C69F45}" type="presParOf" srcId="{E5DB2272-4B96-4891-B6AA-225D2CAB6B59}" destId="{9BEDC24E-6A47-4365-A810-27EB4BFD3D53}" srcOrd="4" destOrd="0" presId="urn:microsoft.com/office/officeart/2008/layout/AlternatingHexagons"/>
    <dgm:cxn modelId="{E30C0C62-D921-4708-9E62-36164BBDBFDF}" type="presParOf" srcId="{22E3BF4A-8521-424F-A5EC-E2564097654C}" destId="{51657A21-5F72-4F65-B27D-63EA870500AC}" srcOrd="1" destOrd="0" presId="urn:microsoft.com/office/officeart/2008/layout/AlternatingHexagons"/>
    <dgm:cxn modelId="{BB1DDD5D-0603-4085-8957-24CF5503DB51}" type="presParOf" srcId="{22E3BF4A-8521-424F-A5EC-E2564097654C}" destId="{91BE813C-9D04-4EFB-AD88-5F382EA00664}" srcOrd="2" destOrd="0" presId="urn:microsoft.com/office/officeart/2008/layout/AlternatingHexagons"/>
    <dgm:cxn modelId="{A5C1FCA2-5525-4CB5-A4B1-22A88A2E0B0A}" type="presParOf" srcId="{91BE813C-9D04-4EFB-AD88-5F382EA00664}" destId="{417F6E25-F31C-4B27-99BD-2C882081DD42}" srcOrd="0" destOrd="0" presId="urn:microsoft.com/office/officeart/2008/layout/AlternatingHexagons"/>
    <dgm:cxn modelId="{A69716BA-6869-4B46-AB92-FE42810856A2}" type="presParOf" srcId="{91BE813C-9D04-4EFB-AD88-5F382EA00664}" destId="{C954437A-F61F-4C0F-89C0-223F17EB1036}" srcOrd="1" destOrd="0" presId="urn:microsoft.com/office/officeart/2008/layout/AlternatingHexagons"/>
    <dgm:cxn modelId="{792BE186-B9C5-4AF0-A23E-2825E8996968}" type="presParOf" srcId="{91BE813C-9D04-4EFB-AD88-5F382EA00664}" destId="{2A7BB58D-7B4D-465F-8056-802B728509DB}" srcOrd="2" destOrd="0" presId="urn:microsoft.com/office/officeart/2008/layout/AlternatingHexagons"/>
    <dgm:cxn modelId="{F8CD965C-ACD4-4322-969D-7F0E6577ABD6}" type="presParOf" srcId="{91BE813C-9D04-4EFB-AD88-5F382EA00664}" destId="{B7BB2B09-F41A-48B3-B4C8-868E13690E81}" srcOrd="3" destOrd="0" presId="urn:microsoft.com/office/officeart/2008/layout/AlternatingHexagons"/>
    <dgm:cxn modelId="{B4D31A7F-056A-4AC1-8AB5-F56C68A8F363}" type="presParOf" srcId="{91BE813C-9D04-4EFB-AD88-5F382EA00664}" destId="{130CE29F-30DA-4D69-924B-EBE8B8EBCA0B}" srcOrd="4" destOrd="0" presId="urn:microsoft.com/office/officeart/2008/layout/AlternatingHexagons"/>
    <dgm:cxn modelId="{77FD9C99-96FA-4795-AD3E-FC43820D12CF}" type="presParOf" srcId="{22E3BF4A-8521-424F-A5EC-E2564097654C}" destId="{B2D7FB8D-21B7-4F54-BFE2-EDE7BC677178}" srcOrd="3" destOrd="0" presId="urn:microsoft.com/office/officeart/2008/layout/AlternatingHexagons"/>
    <dgm:cxn modelId="{5D928667-61CD-423C-B765-46DEFC335C74}" type="presParOf" srcId="{22E3BF4A-8521-424F-A5EC-E2564097654C}" destId="{63A53D26-B370-47A7-A719-D45353A9FB65}" srcOrd="4" destOrd="0" presId="urn:microsoft.com/office/officeart/2008/layout/AlternatingHexagons"/>
    <dgm:cxn modelId="{17516BFE-1D9F-44C9-AC90-4FA1011D8514}" type="presParOf" srcId="{63A53D26-B370-47A7-A719-D45353A9FB65}" destId="{C8082EB5-FD68-47F5-AE78-F4E38418E8A8}" srcOrd="0" destOrd="0" presId="urn:microsoft.com/office/officeart/2008/layout/AlternatingHexagons"/>
    <dgm:cxn modelId="{65803848-4ABB-4D86-9B68-E5381328A406}" type="presParOf" srcId="{63A53D26-B370-47A7-A719-D45353A9FB65}" destId="{ED601BC1-E247-4F96-B913-A51BCE05406E}" srcOrd="1" destOrd="0" presId="urn:microsoft.com/office/officeart/2008/layout/AlternatingHexagons"/>
    <dgm:cxn modelId="{FC350D59-5FE6-4EB7-AAFC-B0FBD8C72392}" type="presParOf" srcId="{63A53D26-B370-47A7-A719-D45353A9FB65}" destId="{72AC73DB-BF78-4A79-8DBA-8A42A2060940}" srcOrd="2" destOrd="0" presId="urn:microsoft.com/office/officeart/2008/layout/AlternatingHexagons"/>
    <dgm:cxn modelId="{D00E4F13-78D1-46A5-9FD3-0918BC39BA04}" type="presParOf" srcId="{63A53D26-B370-47A7-A719-D45353A9FB65}" destId="{1CC11AAC-58B7-4826-95C7-FAF0A833F0BB}" srcOrd="3" destOrd="0" presId="urn:microsoft.com/office/officeart/2008/layout/AlternatingHexagons"/>
    <dgm:cxn modelId="{AD68BE4C-4873-45ED-B1A2-231C4AC64966}" type="presParOf" srcId="{63A53D26-B370-47A7-A719-D45353A9FB65}" destId="{EE5C6A47-D18F-40F4-9390-7AA56C5E80E9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D24A26-CDDB-4915-84FE-ED5AA932ED23}">
      <dsp:nvSpPr>
        <dsp:cNvPr id="0" name=""/>
        <dsp:cNvSpPr/>
      </dsp:nvSpPr>
      <dsp:spPr>
        <a:xfrm rot="5400000">
          <a:off x="1067057" y="73443"/>
          <a:ext cx="700003" cy="609003"/>
        </a:xfrm>
        <a:prstGeom prst="hexagon">
          <a:avLst>
            <a:gd name="adj" fmla="val 25000"/>
            <a:gd name="vf" fmla="val 115470"/>
          </a:avLst>
        </a:prstGeom>
        <a:solidFill>
          <a:srgbClr val="92D050"/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 dirty="0"/>
            <a:t>Den</a:t>
          </a:r>
        </a:p>
      </dsp:txBody>
      <dsp:txXfrm rot="-5400000">
        <a:off x="1207460" y="137027"/>
        <a:ext cx="419197" cy="481835"/>
      </dsp:txXfrm>
    </dsp:sp>
    <dsp:sp modelId="{C031D5EC-2D9D-481D-BF54-16ECA15718C2}">
      <dsp:nvSpPr>
        <dsp:cNvPr id="0" name=""/>
        <dsp:cNvSpPr/>
      </dsp:nvSpPr>
      <dsp:spPr>
        <a:xfrm>
          <a:off x="1740040" y="167943"/>
          <a:ext cx="781203" cy="420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DC24E-6A47-4365-A810-27EB4BFD3D53}">
      <dsp:nvSpPr>
        <dsp:cNvPr id="0" name=""/>
        <dsp:cNvSpPr/>
      </dsp:nvSpPr>
      <dsp:spPr>
        <a:xfrm rot="5400000">
          <a:off x="409333" y="73443"/>
          <a:ext cx="700003" cy="609003"/>
        </a:xfrm>
        <a:prstGeom prst="hexagon">
          <a:avLst>
            <a:gd name="adj" fmla="val 25000"/>
            <a:gd name="vf" fmla="val 115470"/>
          </a:avLst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3400" kern="1200"/>
        </a:p>
      </dsp:txBody>
      <dsp:txXfrm rot="-5400000">
        <a:off x="549736" y="137027"/>
        <a:ext cx="419197" cy="481835"/>
      </dsp:txXfrm>
    </dsp:sp>
    <dsp:sp modelId="{417F6E25-F31C-4B27-99BD-2C882081DD42}">
      <dsp:nvSpPr>
        <dsp:cNvPr id="0" name=""/>
        <dsp:cNvSpPr/>
      </dsp:nvSpPr>
      <dsp:spPr>
        <a:xfrm rot="5400000">
          <a:off x="736935" y="667606"/>
          <a:ext cx="700003" cy="609003"/>
        </a:xfrm>
        <a:prstGeom prst="hexagon">
          <a:avLst>
            <a:gd name="adj" fmla="val 25000"/>
            <a:gd name="vf" fmla="val 115470"/>
          </a:avLst>
        </a:prstGeom>
        <a:solidFill>
          <a:srgbClr val="002060"/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  <a:scene3d>
            <a:camera prst="orthographicFront"/>
            <a:lightRig rig="brightRoom" dir="t"/>
          </a:scene3d>
          <a:sp3d contourW="6350" prstMaterial="plastic">
            <a:bevelT w="20320" h="20320" prst="angle"/>
            <a:contourClr>
              <a:schemeClr val="accent1">
                <a:tint val="100000"/>
                <a:shade val="100000"/>
                <a:hueMod val="100000"/>
                <a:satMod val="100000"/>
              </a:schemeClr>
            </a:contourClr>
          </a:sp3d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i="1" kern="1200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rPr>
            <a:t>Noc</a:t>
          </a:r>
        </a:p>
      </dsp:txBody>
      <dsp:txXfrm rot="-5400000">
        <a:off x="877338" y="731190"/>
        <a:ext cx="419197" cy="481835"/>
      </dsp:txXfrm>
    </dsp:sp>
    <dsp:sp modelId="{C954437A-F61F-4C0F-89C0-223F17EB1036}">
      <dsp:nvSpPr>
        <dsp:cNvPr id="0" name=""/>
        <dsp:cNvSpPr/>
      </dsp:nvSpPr>
      <dsp:spPr>
        <a:xfrm>
          <a:off x="1231" y="762106"/>
          <a:ext cx="756003" cy="420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0CE29F-30DA-4D69-924B-EBE8B8EBCA0B}">
      <dsp:nvSpPr>
        <dsp:cNvPr id="0" name=""/>
        <dsp:cNvSpPr/>
      </dsp:nvSpPr>
      <dsp:spPr>
        <a:xfrm rot="5400000">
          <a:off x="1394658" y="667606"/>
          <a:ext cx="700003" cy="609003"/>
        </a:xfrm>
        <a:prstGeom prst="hexagon">
          <a:avLst>
            <a:gd name="adj" fmla="val 25000"/>
            <a:gd name="vf" fmla="val 115470"/>
          </a:avLst>
        </a:prstGeom>
        <a:blipFill rotWithShape="0">
          <a:blip xmlns:r="http://schemas.openxmlformats.org/officeDocument/2006/relationships" r:embed="rId2"/>
          <a:tile tx="0" ty="0" sx="100000" sy="100000" flip="none" algn="tl"/>
        </a:blip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3400" kern="1200"/>
        </a:p>
      </dsp:txBody>
      <dsp:txXfrm rot="-5400000">
        <a:off x="1535061" y="731190"/>
        <a:ext cx="419197" cy="481835"/>
      </dsp:txXfrm>
    </dsp:sp>
    <dsp:sp modelId="{C8082EB5-FD68-47F5-AE78-F4E38418E8A8}">
      <dsp:nvSpPr>
        <dsp:cNvPr id="0" name=""/>
        <dsp:cNvSpPr/>
      </dsp:nvSpPr>
      <dsp:spPr>
        <a:xfrm rot="5400000">
          <a:off x="1067057" y="1261769"/>
          <a:ext cx="700003" cy="609003"/>
        </a:xfrm>
        <a:prstGeom prst="hexagon">
          <a:avLst>
            <a:gd name="adj" fmla="val 25000"/>
            <a:gd name="vf" fmla="val 115470"/>
          </a:avLst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lin ang="13500000" scaled="1"/>
          <a:tileRect/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  <a:scene3d>
            <a:camera prst="orthographicFront"/>
            <a:lightRig rig="flat" dir="tl">
              <a:rot lat="0" lon="0" rev="6600000"/>
            </a:lightRig>
          </a:scene3d>
          <a:sp3d extrusionH="25400" contourW="8890">
            <a:bevelT w="38100" h="31750"/>
            <a:contourClr>
              <a:schemeClr val="accent2">
                <a:shade val="75000"/>
              </a:schemeClr>
            </a:contourClr>
          </a:sp3d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rPr>
            <a:t>?</a:t>
          </a:r>
          <a:endParaRPr lang="cs-CZ" sz="1200" kern="1200" dirty="0"/>
        </a:p>
      </dsp:txBody>
      <dsp:txXfrm rot="-5400000">
        <a:off x="1207460" y="1325353"/>
        <a:ext cx="419197" cy="481835"/>
      </dsp:txXfrm>
    </dsp:sp>
    <dsp:sp modelId="{ED601BC1-E247-4F96-B913-A51BCE05406E}">
      <dsp:nvSpPr>
        <dsp:cNvPr id="0" name=""/>
        <dsp:cNvSpPr/>
      </dsp:nvSpPr>
      <dsp:spPr>
        <a:xfrm>
          <a:off x="1740040" y="1356269"/>
          <a:ext cx="781203" cy="420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5C6A47-D18F-40F4-9390-7AA56C5E80E9}">
      <dsp:nvSpPr>
        <dsp:cNvPr id="0" name=""/>
        <dsp:cNvSpPr/>
      </dsp:nvSpPr>
      <dsp:spPr>
        <a:xfrm rot="5400000">
          <a:off x="409333" y="1261769"/>
          <a:ext cx="700003" cy="609003"/>
        </a:xfrm>
        <a:prstGeom prst="hexagon">
          <a:avLst>
            <a:gd name="adj" fmla="val 25000"/>
            <a:gd name="vf" fmla="val 115470"/>
          </a:avLst>
        </a:prstGeom>
        <a:blipFill rotWithShape="0">
          <a:blip xmlns:r="http://schemas.openxmlformats.org/officeDocument/2006/relationships" r:embed="rId3"/>
          <a:tile tx="0" ty="0" sx="100000" sy="100000" flip="none" algn="tl"/>
        </a:blip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3400" kern="1200"/>
        </a:p>
      </dsp:txBody>
      <dsp:txXfrm rot="-5400000">
        <a:off x="549736" y="1325353"/>
        <a:ext cx="419197" cy="481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0F644-8C3F-427F-A565-E301B03B4143}" type="datetimeFigureOut">
              <a:rPr lang="cs-CZ" smtClean="0"/>
              <a:t>29.01.2020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4FAC7-373E-49BA-93F6-0196466CA8F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7175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0EA3D-3C58-4EF1-859C-6AD72CC78455}" type="datetimeFigureOut">
              <a:rPr lang="cs-CZ" smtClean="0"/>
              <a:pPr/>
              <a:t>29.01.2020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F3394-C4F2-49DE-B09C-E4DB072ED21B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032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F3394-C4F2-49DE-B09C-E4DB072ED21B}" type="slidenum">
              <a:rPr lang="cs-CZ" smtClean="0"/>
              <a:pPr/>
              <a:t>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63883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F3394-C4F2-49DE-B09C-E4DB072ED21B}" type="slidenum">
              <a:rPr lang="cs-CZ" smtClean="0"/>
              <a:pPr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8971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F3394-C4F2-49DE-B09C-E4DB072ED21B}" type="slidenum">
              <a:rPr lang="cs-CZ" smtClean="0"/>
              <a:pPr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800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F3394-C4F2-49DE-B09C-E4DB072ED21B}" type="slidenum">
              <a:rPr lang="cs-CZ" smtClean="0"/>
              <a:pPr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079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99A3-3D56-4F4F-8CB0-33533673223D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39BEE-BD23-49EA-A24C-C7276CAA1E98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E709B-A0DE-4944-8D95-7EA982CA5747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3A78-5A73-44F1-9A25-3B1E6B55A0B7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7A56-E6DA-4924-9D6D-43B5A260E16E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F471-12F9-41B5-9324-F8A50D3F861A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B4BD1-167B-49B2-8D08-543E4DF250E3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A43F-6E85-462D-8462-C75D2C05364D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s odříznutým a zakulaceným jedním rohem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Pravoúhlý trojúhelník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BE67-9EDB-4E09-820F-B0EFE34A8176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 dirty="0"/>
              <a:t>Klepnutím na ikonu přidáte obrázek.</a:t>
            </a:r>
            <a:endParaRPr kumimoji="0" lang="en-US" dirty="0"/>
          </a:p>
        </p:txBody>
      </p:sp>
      <p:sp>
        <p:nvSpPr>
          <p:cNvPr id="10" name="Volný tvar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Volný tvar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10B5-33AE-4693-91F0-0943F7A862AB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D236-5D99-41AB-A6B8-3A48856FEC08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olný tvar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53433CC-5E5C-49B7-993D-946C254249C4}" type="datetime1">
              <a:rPr lang="cs-CZ" smtClean="0"/>
              <a:t>29.01.2020</a:t>
            </a:fld>
            <a:endParaRPr lang="cs-CZ" dirty="0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8328209-796F-4796-B99A-A032907A9AF1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" name="Skupina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Volný tvar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Volný tvar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aha.cz/mesto-praha/historie-prahy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hyperlink" Target="http://www.kamvpraze.info/intro-pamatky-large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eg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3" Type="http://schemas.openxmlformats.org/officeDocument/2006/relationships/image" Target="../media/image51.jpeg"/><Relationship Id="rId7" Type="http://schemas.openxmlformats.org/officeDocument/2006/relationships/image" Target="../media/image55.jpeg"/><Relationship Id="rId12" Type="http://schemas.openxmlformats.org/officeDocument/2006/relationships/image" Target="../media/image60.gif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11" Type="http://schemas.openxmlformats.org/officeDocument/2006/relationships/image" Target="../media/image59.png"/><Relationship Id="rId5" Type="http://schemas.openxmlformats.org/officeDocument/2006/relationships/image" Target="../media/image53.wmf"/><Relationship Id="rId10" Type="http://schemas.openxmlformats.org/officeDocument/2006/relationships/image" Target="../media/image58.jpeg"/><Relationship Id="rId4" Type="http://schemas.openxmlformats.org/officeDocument/2006/relationships/image" Target="../media/image52.jpeg"/><Relationship Id="rId9" Type="http://schemas.openxmlformats.org/officeDocument/2006/relationships/image" Target="../media/image57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755576" y="1124744"/>
            <a:ext cx="8208912" cy="5544616"/>
          </a:xfrm>
          <a:effectLst/>
        </p:spPr>
        <p:txBody>
          <a:bodyPr>
            <a:norm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cs-CZ" sz="72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/>
              </a:rPr>
              <a:t>P</a:t>
            </a:r>
            <a:r>
              <a:rPr lang="cs-CZ" sz="60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/>
              </a:rPr>
              <a:t>ower</a:t>
            </a:r>
            <a:r>
              <a:rPr lang="cs-CZ" sz="72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/>
              </a:rPr>
              <a:t>P</a:t>
            </a:r>
            <a:r>
              <a:rPr lang="cs-CZ" sz="60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/>
              </a:rPr>
              <a:t>oint</a:t>
            </a:r>
            <a:br>
              <a:rPr lang="cs-CZ" sz="60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/>
              </a:rPr>
            </a:br>
            <a:br>
              <a:rPr lang="cs-CZ" sz="60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/>
              </a:rPr>
            </a:br>
            <a:r>
              <a:rPr lang="cs-CZ" sz="4000" dirty="0">
                <a:solidFill>
                  <a:schemeClr val="accent1">
                    <a:lumMod val="75000"/>
                  </a:schemeClr>
                </a:solidFill>
              </a:rPr>
              <a:t>Stručný popis programu </a:t>
            </a:r>
            <a:br>
              <a:rPr lang="cs-CZ" sz="4000" dirty="0"/>
            </a:br>
            <a:endParaRPr lang="cs-CZ" sz="4000" dirty="0">
              <a:ln/>
              <a:solidFill>
                <a:schemeClr val="accent3">
                  <a:lumMod val="75000"/>
                </a:schemeClr>
              </a:solidFill>
              <a:effectLst/>
            </a:endParaRPr>
          </a:p>
        </p:txBody>
      </p:sp>
      <p:pic>
        <p:nvPicPr>
          <p:cNvPr id="4" name="Obrázek 3"/>
          <p:cNvPicPr/>
          <p:nvPr/>
        </p:nvPicPr>
        <p:blipFill rotWithShape="1">
          <a:blip r:embed="rId2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 l="65785" t="35273" r="15608" b="31807"/>
          <a:stretch/>
        </p:blipFill>
        <p:spPr bwMode="auto">
          <a:xfrm>
            <a:off x="611560" y="1052736"/>
            <a:ext cx="2520280" cy="23762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ovéPole 1"/>
          <p:cNvSpPr txBox="1"/>
          <p:nvPr/>
        </p:nvSpPr>
        <p:spPr>
          <a:xfrm>
            <a:off x="4139952" y="6354178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cs-CZ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/>
              <a:t>Ing. Votavová Gabriela</a:t>
            </a:r>
          </a:p>
        </p:txBody>
      </p:sp>
    </p:spTree>
    <p:extLst>
      <p:ext uri="{BB962C8B-B14F-4D97-AF65-F5344CB8AC3E}">
        <p14:creationId xmlns:p14="http://schemas.microsoft.com/office/powerpoint/2010/main" val="417886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Snímek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Domů =&gt; sektor Snímky</a:t>
            </a:r>
          </a:p>
          <a:p>
            <a:pPr lvl="1"/>
            <a:r>
              <a:rPr lang="cs-CZ" dirty="0"/>
              <a:t>Vložit nový snímek</a:t>
            </a:r>
          </a:p>
          <a:p>
            <a:pPr lvl="1"/>
            <a:r>
              <a:rPr lang="cs-CZ" dirty="0"/>
              <a:t>Změna rozložení snímku</a:t>
            </a:r>
          </a:p>
          <a:p>
            <a:pPr lvl="1"/>
            <a:r>
              <a:rPr lang="cs-CZ" dirty="0"/>
              <a:t>Vytvoření oddílů</a:t>
            </a:r>
          </a:p>
          <a:p>
            <a:pPr lvl="1"/>
            <a:r>
              <a:rPr lang="cs-CZ" dirty="0"/>
              <a:t>Obnovit</a:t>
            </a:r>
          </a:p>
          <a:p>
            <a:pPr lvl="1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</a:t>
            </a:fld>
            <a:endParaRPr lang="cs-CZ" dirty="0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r="67904" b="4117"/>
          <a:stretch/>
        </p:blipFill>
        <p:spPr bwMode="auto">
          <a:xfrm>
            <a:off x="5148064" y="717962"/>
            <a:ext cx="3767708" cy="58326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Obrázek 8"/>
          <p:cNvPicPr/>
          <p:nvPr/>
        </p:nvPicPr>
        <p:blipFill rotWithShape="1">
          <a:blip r:embed="rId3"/>
          <a:srcRect l="10092" t="5167" r="74025" b="75000"/>
          <a:stretch/>
        </p:blipFill>
        <p:spPr bwMode="auto">
          <a:xfrm>
            <a:off x="1497995" y="4221088"/>
            <a:ext cx="3074005" cy="24122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746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Oddíl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Umožní rychlé přesouvání větších bloků snímků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3</a:t>
            </a:fld>
            <a:endParaRPr lang="cs-CZ" dirty="0"/>
          </a:p>
        </p:txBody>
      </p:sp>
      <p:pic>
        <p:nvPicPr>
          <p:cNvPr id="6" name="Obrázek 5"/>
          <p:cNvPicPr/>
          <p:nvPr/>
        </p:nvPicPr>
        <p:blipFill rotWithShape="1">
          <a:blip r:embed="rId2"/>
          <a:srcRect r="60265" b="24117"/>
          <a:stretch/>
        </p:blipFill>
        <p:spPr bwMode="auto">
          <a:xfrm>
            <a:off x="313274" y="2492896"/>
            <a:ext cx="3663280" cy="3744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Obrázek 6"/>
          <p:cNvPicPr/>
          <p:nvPr/>
        </p:nvPicPr>
        <p:blipFill rotWithShape="1">
          <a:blip r:embed="rId3"/>
          <a:srcRect r="74770" b="68235"/>
          <a:stretch/>
        </p:blipFill>
        <p:spPr bwMode="auto">
          <a:xfrm>
            <a:off x="4150206" y="4450680"/>
            <a:ext cx="4680520" cy="2088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Obrázek 7"/>
          <p:cNvPicPr/>
          <p:nvPr/>
        </p:nvPicPr>
        <p:blipFill rotWithShape="1">
          <a:blip r:embed="rId2"/>
          <a:srcRect l="14276" t="53786" r="74130" b="24117"/>
          <a:stretch/>
        </p:blipFill>
        <p:spPr bwMode="auto">
          <a:xfrm>
            <a:off x="5508104" y="2420888"/>
            <a:ext cx="2083618" cy="2088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4789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Domů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Formátování písma, odstavců</a:t>
            </a:r>
          </a:p>
          <a:p>
            <a:r>
              <a:rPr lang="cs-CZ" dirty="0"/>
              <a:t>Uspořádání obrazců na snímku</a:t>
            </a:r>
          </a:p>
          <a:p>
            <a:r>
              <a:rPr lang="cs-CZ" dirty="0"/>
              <a:t>Úpravy: Najít, Nahradit,…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4</a:t>
            </a:fld>
            <a:endParaRPr lang="cs-CZ" dirty="0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t="2354" r="44157" b="84706"/>
          <a:stretch/>
        </p:blipFill>
        <p:spPr bwMode="auto">
          <a:xfrm>
            <a:off x="82513" y="3428999"/>
            <a:ext cx="8737959" cy="13681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2"/>
          <a:srcRect l="55510" t="2354" r="10266" b="84706"/>
          <a:stretch/>
        </p:blipFill>
        <p:spPr bwMode="auto">
          <a:xfrm>
            <a:off x="3563888" y="5085184"/>
            <a:ext cx="5508104" cy="13681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14838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Vložení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vložit a následně upravit vložené objekty</a:t>
            </a:r>
          </a:p>
          <a:p>
            <a:pPr lvl="1"/>
            <a:r>
              <a:rPr lang="cs-CZ" dirty="0"/>
              <a:t>tabulky, obrázky, obrazce, diagramy, grafy, hypertext, textové obrazce, WordArt, pole datum, číslo snímku, rovnice, symboly, video i zvuk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5</a:t>
            </a:fld>
            <a:endParaRPr lang="cs-CZ" dirty="0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t="2439" r="36755" b="84642"/>
          <a:stretch/>
        </p:blipFill>
        <p:spPr bwMode="auto">
          <a:xfrm>
            <a:off x="84987" y="4077072"/>
            <a:ext cx="8974026" cy="13976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19162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Návrh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6</a:t>
            </a:fld>
            <a:endParaRPr lang="cs-CZ" dirty="0"/>
          </a:p>
        </p:txBody>
      </p:sp>
      <p:pic>
        <p:nvPicPr>
          <p:cNvPr id="5" name="Zástupný symbol pro obsah 4"/>
          <p:cNvPicPr>
            <a:picLocks noGrp="1"/>
          </p:cNvPicPr>
          <p:nvPr>
            <p:ph idx="1"/>
          </p:nvPr>
        </p:nvPicPr>
        <p:blipFill rotWithShape="1">
          <a:blip r:embed="rId2"/>
          <a:srcRect t="2354" r="2128" b="84412"/>
          <a:stretch/>
        </p:blipFill>
        <p:spPr bwMode="auto">
          <a:xfrm>
            <a:off x="98236" y="3284984"/>
            <a:ext cx="8938260" cy="11521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Zástupný symbol pro obsah 2"/>
          <p:cNvSpPr txBox="1">
            <a:spLocks/>
          </p:cNvSpPr>
          <p:nvPr/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Úprava vzhledu stránky</a:t>
            </a:r>
          </a:p>
          <a:p>
            <a:r>
              <a:rPr lang="cs-CZ" dirty="0"/>
              <a:t>Přiřazení Motivu a jeho následné úpravy (barvy, písmo, pozadí,…)</a:t>
            </a:r>
          </a:p>
        </p:txBody>
      </p:sp>
      <p:pic>
        <p:nvPicPr>
          <p:cNvPr id="8" name="Obrázek 7"/>
          <p:cNvPicPr/>
          <p:nvPr/>
        </p:nvPicPr>
        <p:blipFill rotWithShape="1">
          <a:blip r:embed="rId3"/>
          <a:srcRect l="17537" t="62941" r="50863" b="12647"/>
          <a:stretch/>
        </p:blipFill>
        <p:spPr bwMode="auto">
          <a:xfrm>
            <a:off x="323528" y="4581128"/>
            <a:ext cx="5040560" cy="2088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Obrázek 10"/>
          <p:cNvPicPr/>
          <p:nvPr/>
        </p:nvPicPr>
        <p:blipFill rotWithShape="1">
          <a:blip r:embed="rId4"/>
          <a:srcRect l="80572" t="5018" b="45294"/>
          <a:stretch/>
        </p:blipFill>
        <p:spPr bwMode="auto">
          <a:xfrm>
            <a:off x="6012160" y="4230370"/>
            <a:ext cx="2232248" cy="2583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79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7</a:t>
            </a:fld>
            <a:endParaRPr lang="cs-CZ" dirty="0"/>
          </a:p>
        </p:txBody>
      </p:sp>
      <p:sp>
        <p:nvSpPr>
          <p:cNvPr id="7" name="Zástupný symbol pro obsah 2"/>
          <p:cNvSpPr txBox="1">
            <a:spLocks/>
          </p:cNvSpPr>
          <p:nvPr/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dirty="0"/>
          </a:p>
        </p:txBody>
      </p:sp>
      <p:pic>
        <p:nvPicPr>
          <p:cNvPr id="9" name="Obrázek 8"/>
          <p:cNvPicPr/>
          <p:nvPr/>
        </p:nvPicPr>
        <p:blipFill rotWithShape="1">
          <a:blip r:embed="rId2"/>
          <a:srcRect l="84211" t="5318" r="1164" b="34118"/>
          <a:stretch/>
        </p:blipFill>
        <p:spPr bwMode="auto">
          <a:xfrm rot="20588435">
            <a:off x="5856580" y="258083"/>
            <a:ext cx="2505382" cy="48965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Každý snímek může mít vlastní</a:t>
            </a:r>
          </a:p>
        </p:txBody>
      </p:sp>
      <p:pic>
        <p:nvPicPr>
          <p:cNvPr id="11" name="Obrázek 10"/>
          <p:cNvPicPr/>
          <p:nvPr/>
        </p:nvPicPr>
        <p:blipFill rotWithShape="1">
          <a:blip r:embed="rId3"/>
          <a:srcRect l="6826" t="2059" r="16379" b="46140"/>
          <a:stretch/>
        </p:blipFill>
        <p:spPr bwMode="auto">
          <a:xfrm>
            <a:off x="107504" y="2492896"/>
            <a:ext cx="8928992" cy="30963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Obrázek 9"/>
          <p:cNvPicPr/>
          <p:nvPr/>
        </p:nvPicPr>
        <p:blipFill rotWithShape="1">
          <a:blip r:embed="rId4"/>
          <a:srcRect l="78708" t="4131" b="63529"/>
          <a:stretch/>
        </p:blipFill>
        <p:spPr bwMode="auto">
          <a:xfrm>
            <a:off x="4572000" y="4328902"/>
            <a:ext cx="3392377" cy="2529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96707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Zobrazení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/>
          <a:lstStyle/>
          <a:p>
            <a:r>
              <a:rPr lang="cs-CZ" dirty="0"/>
              <a:t>Vzhled samotných předloh snímků a poznámek              na monitoru</a:t>
            </a:r>
          </a:p>
          <a:p>
            <a:r>
              <a:rPr lang="cs-CZ" dirty="0"/>
              <a:t>Přizpůsobení velikosti snímků velikosti monitoru</a:t>
            </a:r>
          </a:p>
          <a:p>
            <a:r>
              <a:rPr lang="cs-CZ" dirty="0"/>
              <a:t>Uspořádání více prezentací, zobrazení pravítek, barvy,…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8</a:t>
            </a:fld>
            <a:endParaRPr lang="cs-CZ" dirty="0"/>
          </a:p>
        </p:txBody>
      </p:sp>
      <p:pic>
        <p:nvPicPr>
          <p:cNvPr id="5" name="Obrázek 4"/>
          <p:cNvPicPr/>
          <p:nvPr/>
        </p:nvPicPr>
        <p:blipFill rotWithShape="1">
          <a:blip r:embed="rId3"/>
          <a:srcRect l="-153" t="2355" r="38079" b="84706"/>
          <a:stretch/>
        </p:blipFill>
        <p:spPr bwMode="auto">
          <a:xfrm>
            <a:off x="88012" y="3861048"/>
            <a:ext cx="8948484" cy="1440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3"/>
          <a:srcRect l="72134" t="91001"/>
          <a:stretch/>
        </p:blipFill>
        <p:spPr bwMode="auto">
          <a:xfrm>
            <a:off x="2195736" y="5517232"/>
            <a:ext cx="6192688" cy="1139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82067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Záložky Snímky x Osnova	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Umožňují různé zobrazení prezentace</a:t>
            </a:r>
          </a:p>
          <a:p>
            <a:r>
              <a:rPr lang="cs-CZ" dirty="0"/>
              <a:t>Do Osnovy lze psát</a:t>
            </a:r>
          </a:p>
          <a:p>
            <a:r>
              <a:rPr lang="cs-CZ" dirty="0"/>
              <a:t>Snímky ukazují vzhled                                     samotných snímků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9</a:t>
            </a:fld>
            <a:endParaRPr lang="cs-CZ" dirty="0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r="84944" b="48044"/>
          <a:stretch/>
        </p:blipFill>
        <p:spPr bwMode="auto">
          <a:xfrm>
            <a:off x="4139952" y="2833043"/>
            <a:ext cx="2160240" cy="3476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3"/>
          <a:srcRect t="14707" r="65422" b="6764"/>
          <a:stretch/>
        </p:blipFill>
        <p:spPr bwMode="auto">
          <a:xfrm>
            <a:off x="6444208" y="1772816"/>
            <a:ext cx="2592288" cy="4536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28509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Přechody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přechod snímku na následující snímek</a:t>
            </a:r>
          </a:p>
          <a:p>
            <a:r>
              <a:rPr lang="cs-CZ" dirty="0"/>
              <a:t>Každý snímek může mít vlastní styl přechodu</a:t>
            </a:r>
          </a:p>
          <a:p>
            <a:r>
              <a:rPr lang="cs-CZ" dirty="0"/>
              <a:t>Užití časování, zvukového efektu při přechodu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pPr lvl="1"/>
            <a:r>
              <a:rPr lang="cs-CZ" dirty="0"/>
              <a:t>Hvězdička pod číslem snímku</a:t>
            </a:r>
          </a:p>
          <a:p>
            <a:pPr marL="393192" lvl="1" indent="0">
              <a:buNone/>
            </a:pPr>
            <a:r>
              <a:rPr lang="cs-CZ" dirty="0"/>
              <a:t>   upozorňuje na vloženou animaci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10</a:t>
            </a:fld>
            <a:endParaRPr lang="cs-CZ"/>
          </a:p>
        </p:txBody>
      </p:sp>
      <p:pic>
        <p:nvPicPr>
          <p:cNvPr id="7" name="Obrázek 6"/>
          <p:cNvPicPr/>
          <p:nvPr/>
        </p:nvPicPr>
        <p:blipFill rotWithShape="1">
          <a:blip r:embed="rId2"/>
          <a:srcRect t="2648" r="898" b="84705"/>
          <a:stretch/>
        </p:blipFill>
        <p:spPr bwMode="auto">
          <a:xfrm>
            <a:off x="107504" y="3428999"/>
            <a:ext cx="8964488" cy="10801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Obrázek 9"/>
          <p:cNvPicPr/>
          <p:nvPr/>
        </p:nvPicPr>
        <p:blipFill rotWithShape="1">
          <a:blip r:embed="rId3"/>
          <a:srcRect t="15588" r="85772" b="55000"/>
          <a:stretch/>
        </p:blipFill>
        <p:spPr bwMode="auto">
          <a:xfrm>
            <a:off x="5868144" y="4725144"/>
            <a:ext cx="1944216" cy="20162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Obrázek 10"/>
          <p:cNvPicPr/>
          <p:nvPr/>
        </p:nvPicPr>
        <p:blipFill rotWithShape="1">
          <a:blip r:embed="rId4"/>
          <a:srcRect t="2941" r="86599" b="65588"/>
          <a:stretch/>
        </p:blipFill>
        <p:spPr bwMode="auto">
          <a:xfrm>
            <a:off x="7236296" y="4653136"/>
            <a:ext cx="1763688" cy="18722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9168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77">
        <p:fade/>
      </p:transition>
    </mc:Choice>
    <mc:Fallback xmlns="">
      <p:transition spd="slow" advTm="677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Možnosti efektu přechodu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změnit vlastnosti efektu přechodu</a:t>
            </a:r>
          </a:p>
          <a:p>
            <a:pPr lvl="1"/>
            <a:r>
              <a:rPr lang="cs-CZ" dirty="0"/>
              <a:t>Směr</a:t>
            </a:r>
          </a:p>
          <a:p>
            <a:pPr lvl="1"/>
            <a:r>
              <a:rPr lang="cs-CZ" dirty="0"/>
              <a:t>Barva</a:t>
            </a:r>
          </a:p>
          <a:p>
            <a:pPr lvl="1"/>
            <a:r>
              <a:rPr lang="cs-CZ" dirty="0"/>
              <a:t>…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11</a:t>
            </a:fld>
            <a:endParaRPr lang="cs-CZ"/>
          </a:p>
        </p:txBody>
      </p:sp>
      <p:pic>
        <p:nvPicPr>
          <p:cNvPr id="6" name="Obrázek 5"/>
          <p:cNvPicPr/>
          <p:nvPr/>
        </p:nvPicPr>
        <p:blipFill rotWithShape="1">
          <a:blip r:embed="rId2"/>
          <a:srcRect l="76436" t="5097" r="14461" b="46668"/>
          <a:stretch/>
        </p:blipFill>
        <p:spPr bwMode="auto">
          <a:xfrm>
            <a:off x="6516216" y="2345442"/>
            <a:ext cx="2016224" cy="4320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Obrázek 7"/>
          <p:cNvPicPr/>
          <p:nvPr/>
        </p:nvPicPr>
        <p:blipFill rotWithShape="1">
          <a:blip r:embed="rId3"/>
          <a:srcRect l="76436" t="5605" r="12446" b="66176"/>
          <a:stretch/>
        </p:blipFill>
        <p:spPr bwMode="auto">
          <a:xfrm>
            <a:off x="3491880" y="3345974"/>
            <a:ext cx="2047279" cy="3395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Obrázek 8"/>
          <p:cNvPicPr/>
          <p:nvPr/>
        </p:nvPicPr>
        <p:blipFill rotWithShape="1">
          <a:blip r:embed="rId4"/>
          <a:srcRect l="76532" t="5015" r="9548" b="76286"/>
          <a:stretch/>
        </p:blipFill>
        <p:spPr bwMode="auto">
          <a:xfrm>
            <a:off x="632193" y="3861048"/>
            <a:ext cx="2684694" cy="2180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Obrázek 9"/>
          <p:cNvPicPr/>
          <p:nvPr/>
        </p:nvPicPr>
        <p:blipFill rotWithShape="1">
          <a:blip r:embed="rId5"/>
          <a:srcRect l="76436" t="5606" r="14935" b="76176"/>
          <a:stretch/>
        </p:blipFill>
        <p:spPr bwMode="auto">
          <a:xfrm>
            <a:off x="4211960" y="2411477"/>
            <a:ext cx="2005301" cy="1953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594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 advTm="4354">
        <p:checker/>
      </p:transition>
    </mc:Choice>
    <mc:Fallback xmlns="">
      <p:transition spd="slow" advTm="4354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přiřazení animace k jednotlivým objektům prezentace, měnit pořadí animací a jejich časování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sz="1600" dirty="0"/>
          </a:p>
          <a:p>
            <a:r>
              <a:rPr lang="cs-CZ" dirty="0"/>
              <a:t>Možnosti efektu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12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t="2648" r="35066" b="84990"/>
          <a:stretch/>
        </p:blipFill>
        <p:spPr bwMode="auto">
          <a:xfrm>
            <a:off x="107504" y="2852936"/>
            <a:ext cx="7992888" cy="13681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2"/>
          <a:srcRect l="64790" t="2490" r="2402" b="85148"/>
          <a:stretch/>
        </p:blipFill>
        <p:spPr bwMode="auto">
          <a:xfrm>
            <a:off x="3707904" y="4442419"/>
            <a:ext cx="5331048" cy="1290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Obrázek 6"/>
          <p:cNvPicPr/>
          <p:nvPr/>
        </p:nvPicPr>
        <p:blipFill rotWithShape="1">
          <a:blip r:embed="rId3"/>
          <a:srcRect l="52281" t="5294" r="29520" b="68530"/>
          <a:stretch/>
        </p:blipFill>
        <p:spPr bwMode="auto">
          <a:xfrm>
            <a:off x="899592" y="5013176"/>
            <a:ext cx="2160240" cy="17008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099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61"/>
    </mc:Choice>
    <mc:Fallback xmlns="">
      <p:transition spd="slow" advTm="706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Přidat animaci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Podokno animací</a:t>
            </a:r>
          </a:p>
          <a:p>
            <a:r>
              <a:rPr lang="cs-CZ" dirty="0"/>
              <a:t>Možnosti efektu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13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3"/>
          <a:srcRect l="64689" t="5600" r="7958" b="8235"/>
          <a:stretch/>
        </p:blipFill>
        <p:spPr bwMode="auto">
          <a:xfrm>
            <a:off x="4283968" y="803598"/>
            <a:ext cx="3816424" cy="56886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4"/>
          <a:srcRect l="82434" t="14737" b="6786"/>
          <a:stretch/>
        </p:blipFill>
        <p:spPr bwMode="auto">
          <a:xfrm>
            <a:off x="6876256" y="1946151"/>
            <a:ext cx="2088048" cy="45791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Obrázek 6"/>
          <p:cNvPicPr/>
          <p:nvPr/>
        </p:nvPicPr>
        <p:blipFill rotWithShape="1">
          <a:blip r:embed="rId4"/>
          <a:srcRect l="56913" t="4706" r="18727" b="47863"/>
          <a:stretch/>
        </p:blipFill>
        <p:spPr bwMode="auto">
          <a:xfrm>
            <a:off x="395536" y="3140968"/>
            <a:ext cx="2952328" cy="33843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6398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9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96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7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79" tmFilter="0, 0; 0.125,0.2665; 0.25,0.4; 0.375,0.465; 0.5,0.5;  0.625,0.535; 0.75,0.6; 0.875,0.7335; 1,1">
                                          <p:stCondLst>
                                            <p:cond delay="107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39" tmFilter="0, 0; 0.125,0.2665; 0.25,0.4; 0.375,0.465; 0.5,0.5;  0.625,0.535; 0.75,0.6; 0.875,0.7335; 1,1">
                                          <p:stCondLst>
                                            <p:cond delay="215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67" tmFilter="0, 0; 0.125,0.2665; 0.25,0.4; 0.375,0.465; 0.5,0.5;  0.625,0.535; 0.75,0.6; 0.875,0.7335; 1,1">
                                          <p:stCondLst>
                                            <p:cond delay="269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42">
                                          <p:stCondLst>
                                            <p:cond delay="10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70" decel="50000">
                                          <p:stCondLst>
                                            <p:cond delay="10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42">
                                          <p:stCondLst>
                                            <p:cond delay="21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70" decel="50000">
                                          <p:stCondLst>
                                            <p:cond delay="217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42">
                                          <p:stCondLst>
                                            <p:cond delay="2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70" decel="50000">
                                          <p:stCondLst>
                                            <p:cond delay="271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42">
                                          <p:stCondLst>
                                            <p:cond delay="29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70" decel="50000">
                                          <p:stCondLst>
                                            <p:cond delay="298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xit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5" presetClass="exit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Časování animace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Nastavení časového sledu</a:t>
            </a:r>
          </a:p>
          <a:p>
            <a:pPr lvl="1"/>
            <a:r>
              <a:rPr lang="cs-CZ" dirty="0"/>
              <a:t>Automaticky</a:t>
            </a:r>
          </a:p>
          <a:p>
            <a:pPr lvl="1"/>
            <a:r>
              <a:rPr lang="cs-CZ" dirty="0"/>
              <a:t>Po kliku myší</a:t>
            </a:r>
          </a:p>
          <a:p>
            <a:pPr lvl="1"/>
            <a:r>
              <a:rPr lang="cs-CZ" dirty="0"/>
              <a:t>Nastavení zpoždění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14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l="56749" t="5007" r="18891" b="47648"/>
          <a:stretch/>
        </p:blipFill>
        <p:spPr bwMode="auto">
          <a:xfrm>
            <a:off x="4087936" y="2447801"/>
            <a:ext cx="4516512" cy="4149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6807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35480"/>
            <a:ext cx="8507288" cy="4389120"/>
          </a:xfrm>
        </p:spPr>
        <p:txBody>
          <a:bodyPr/>
          <a:lstStyle/>
          <a:p>
            <a:r>
              <a:rPr lang="cs-CZ" dirty="0"/>
              <a:t>Karta umožňuje spustit prezentaci v různých režimech</a:t>
            </a:r>
          </a:p>
          <a:p>
            <a:r>
              <a:rPr lang="cs-CZ" dirty="0"/>
              <a:t>Nastavení prezentace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15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l="52280" t="12353" r="14300" b="45000"/>
          <a:stretch/>
        </p:blipFill>
        <p:spPr bwMode="auto">
          <a:xfrm>
            <a:off x="2915816" y="2924944"/>
            <a:ext cx="5642545" cy="3831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53703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Časování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Nastavení časového průběhu celé prezentace</a:t>
            </a:r>
          </a:p>
          <a:p>
            <a:r>
              <a:rPr lang="cs-CZ" dirty="0"/>
              <a:t>Komentář</a:t>
            </a:r>
          </a:p>
          <a:p>
            <a:r>
              <a:rPr lang="cs-CZ" dirty="0"/>
              <a:t>Záznam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16</a:t>
            </a:fld>
            <a:endParaRPr lang="cs-CZ" dirty="0"/>
          </a:p>
        </p:txBody>
      </p:sp>
      <p:pic>
        <p:nvPicPr>
          <p:cNvPr id="6" name="Obrázek 5"/>
          <p:cNvPicPr/>
          <p:nvPr/>
        </p:nvPicPr>
        <p:blipFill rotWithShape="1">
          <a:blip r:embed="rId2"/>
          <a:srcRect l="15552" t="2059" r="60790" b="74706"/>
          <a:stretch/>
        </p:blipFill>
        <p:spPr bwMode="auto">
          <a:xfrm>
            <a:off x="395536" y="3601576"/>
            <a:ext cx="4857501" cy="2851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Obrázek 6"/>
          <p:cNvPicPr/>
          <p:nvPr/>
        </p:nvPicPr>
        <p:blipFill rotWithShape="1">
          <a:blip r:embed="rId3"/>
          <a:srcRect r="88088" b="94706"/>
          <a:stretch/>
        </p:blipFill>
        <p:spPr bwMode="auto">
          <a:xfrm>
            <a:off x="5654342" y="4383928"/>
            <a:ext cx="3059832" cy="720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Obrázek 7"/>
          <p:cNvPicPr/>
          <p:nvPr/>
        </p:nvPicPr>
        <p:blipFill rotWithShape="1">
          <a:blip r:embed="rId4"/>
          <a:srcRect l="16888" t="20294" r="26987" b="55276"/>
          <a:stretch/>
        </p:blipFill>
        <p:spPr bwMode="auto">
          <a:xfrm>
            <a:off x="3736474" y="2636912"/>
            <a:ext cx="5222309" cy="141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3001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Revize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kontrolu pravopisu</a:t>
            </a:r>
          </a:p>
          <a:p>
            <a:r>
              <a:rPr lang="cs-CZ" dirty="0"/>
              <a:t>Vložit komentář, poznámku k vybrané informaci</a:t>
            </a:r>
          </a:p>
          <a:p>
            <a:r>
              <a:rPr lang="cs-CZ" dirty="0"/>
              <a:t>Přeložit</a:t>
            </a:r>
          </a:p>
          <a:p>
            <a:r>
              <a:rPr lang="cs-CZ" dirty="0"/>
              <a:t>Sloučit s jinou prezentací,…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17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t="2649" r="39570" b="77647"/>
          <a:stretch/>
        </p:blipFill>
        <p:spPr bwMode="auto">
          <a:xfrm>
            <a:off x="323528" y="3974326"/>
            <a:ext cx="8568952" cy="15429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99037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Komentář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18</a:t>
            </a:fld>
            <a:endParaRPr lang="cs-CZ"/>
          </a:p>
        </p:txBody>
      </p:sp>
      <p:sp>
        <p:nvSpPr>
          <p:cNvPr id="7" name="Zástupný symbol pro obsah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Aktivace sektoru Komentář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 rotWithShape="1">
          <a:blip r:embed="rId3"/>
          <a:srcRect l="19007" t="4720" r="-362" b="38188"/>
          <a:stretch/>
        </p:blipFill>
        <p:spPr>
          <a:xfrm>
            <a:off x="539552" y="2564904"/>
            <a:ext cx="8212637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682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Vložení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Vložením objektu program otevře pomocnou kartu Nástroje konkrétního objektu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19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t="3235" r="36303" b="85000"/>
          <a:stretch/>
        </p:blipFill>
        <p:spPr bwMode="auto">
          <a:xfrm>
            <a:off x="238954" y="2924944"/>
            <a:ext cx="8640959" cy="1080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3"/>
          <a:srcRect t="2353" r="87261" b="59706"/>
          <a:stretch/>
        </p:blipFill>
        <p:spPr bwMode="auto">
          <a:xfrm>
            <a:off x="1259632" y="4149080"/>
            <a:ext cx="2160240" cy="2636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Obrázek 6"/>
          <p:cNvPicPr/>
          <p:nvPr/>
        </p:nvPicPr>
        <p:blipFill rotWithShape="1">
          <a:blip r:embed="rId4"/>
          <a:srcRect l="27133" t="26176" r="26873" b="30588"/>
          <a:stretch/>
        </p:blipFill>
        <p:spPr bwMode="auto">
          <a:xfrm>
            <a:off x="3923927" y="4149080"/>
            <a:ext cx="4955985" cy="2376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681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Obrázek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Nástroje obrázku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20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3"/>
          <a:srcRect r="25678" b="85000"/>
          <a:stretch/>
        </p:blipFill>
        <p:spPr bwMode="auto">
          <a:xfrm>
            <a:off x="107504" y="2636912"/>
            <a:ext cx="8712968" cy="1296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3"/>
          <a:srcRect l="74142" b="85000"/>
          <a:stretch/>
        </p:blipFill>
        <p:spPr bwMode="auto">
          <a:xfrm>
            <a:off x="4283968" y="4077072"/>
            <a:ext cx="4716016" cy="1440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Obrázek 8"/>
          <p:cNvPicPr/>
          <p:nvPr/>
        </p:nvPicPr>
        <p:blipFill rotWithShape="1">
          <a:blip r:embed="rId4"/>
          <a:srcRect l="8106" t="2648" r="60128" b="48823"/>
          <a:stretch/>
        </p:blipFill>
        <p:spPr bwMode="auto">
          <a:xfrm>
            <a:off x="467544" y="4725144"/>
            <a:ext cx="2592288" cy="2060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Obrázek 7"/>
          <p:cNvPicPr/>
          <p:nvPr/>
        </p:nvPicPr>
        <p:blipFill rotWithShape="1">
          <a:blip r:embed="rId5"/>
          <a:srcRect l="65184" t="7941" r="24502" b="55000"/>
          <a:stretch/>
        </p:blipFill>
        <p:spPr bwMode="auto">
          <a:xfrm>
            <a:off x="2627784" y="4129151"/>
            <a:ext cx="1360130" cy="2544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08182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Smart Art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21</a:t>
            </a:fld>
            <a:endParaRPr lang="cs-CZ"/>
          </a:p>
        </p:txBody>
      </p:sp>
      <p:pic>
        <p:nvPicPr>
          <p:cNvPr id="6" name="Zástupný symbol pro obsah 4"/>
          <p:cNvPicPr>
            <a:picLocks/>
          </p:cNvPicPr>
          <p:nvPr/>
        </p:nvPicPr>
        <p:blipFill rotWithShape="1">
          <a:blip r:embed="rId2"/>
          <a:srcRect l="47592" t="2574" b="85000"/>
          <a:stretch/>
        </p:blipFill>
        <p:spPr bwMode="auto">
          <a:xfrm>
            <a:off x="1763688" y="2996952"/>
            <a:ext cx="7301880" cy="13967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Zástupný symbol pro obsah 4"/>
          <p:cNvPicPr>
            <a:picLocks noGrp="1"/>
          </p:cNvPicPr>
          <p:nvPr>
            <p:ph idx="1"/>
          </p:nvPr>
        </p:nvPicPr>
        <p:blipFill rotWithShape="1">
          <a:blip r:embed="rId2"/>
          <a:srcRect r="52084" b="85000"/>
          <a:stretch/>
        </p:blipFill>
        <p:spPr bwMode="auto">
          <a:xfrm>
            <a:off x="179512" y="1988840"/>
            <a:ext cx="5976664" cy="1368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7" name="Diagram 6"/>
          <p:cNvGraphicFramePr/>
          <p:nvPr/>
        </p:nvGraphicFramePr>
        <p:xfrm>
          <a:off x="6225988" y="836712"/>
          <a:ext cx="2522476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Obrázek 7"/>
          <p:cNvPicPr/>
          <p:nvPr/>
        </p:nvPicPr>
        <p:blipFill rotWithShape="1">
          <a:blip r:embed="rId8"/>
          <a:srcRect r="8774" b="84706"/>
          <a:stretch/>
        </p:blipFill>
        <p:spPr bwMode="auto">
          <a:xfrm>
            <a:off x="71754" y="4725144"/>
            <a:ext cx="9000492" cy="1296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70825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Záhlaví a zápatí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Jméno autora, číslo snímku, datum,….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22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l="17437" t="35906" r="55033" b="24737"/>
          <a:stretch/>
        </p:blipFill>
        <p:spPr bwMode="auto">
          <a:xfrm>
            <a:off x="2016368" y="2583180"/>
            <a:ext cx="5333121" cy="399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20166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pravidla prezentací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Text bodově</a:t>
            </a:r>
          </a:p>
          <a:p>
            <a:r>
              <a:rPr lang="cs-CZ" dirty="0"/>
              <a:t>Správná volba barvy a velikosti textu</a:t>
            </a:r>
          </a:p>
          <a:p>
            <a:r>
              <a:rPr lang="cs-CZ" dirty="0"/>
              <a:t>Názornost</a:t>
            </a:r>
          </a:p>
          <a:p>
            <a:r>
              <a:rPr lang="cs-CZ" dirty="0"/>
              <a:t>Vhodně rozložené objekty</a:t>
            </a:r>
          </a:p>
          <a:p>
            <a:r>
              <a:rPr lang="cs-CZ" dirty="0"/>
              <a:t>Dodržování Autorského zákona</a:t>
            </a:r>
          </a:p>
          <a:p>
            <a:r>
              <a:rPr lang="cs-CZ" dirty="0"/>
              <a:t>…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23</a:t>
            </a:fld>
            <a:endParaRPr lang="cs-CZ"/>
          </a:p>
        </p:txBody>
      </p:sp>
      <p:sp>
        <p:nvSpPr>
          <p:cNvPr id="6" name="Zástupný symbol pro obsah 11"/>
          <p:cNvSpPr txBox="1">
            <a:spLocks/>
          </p:cNvSpPr>
          <p:nvPr/>
        </p:nvSpPr>
        <p:spPr>
          <a:xfrm>
            <a:off x="5220072" y="2060848"/>
            <a:ext cx="3888432" cy="463679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1200"/>
              </a:spcBef>
              <a:buFont typeface="Wingdings 2"/>
              <a:buNone/>
            </a:pPr>
            <a:r>
              <a:rPr lang="cs-CZ" sz="12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12 Velikost textu</a:t>
            </a:r>
          </a:p>
          <a:p>
            <a:pPr algn="r">
              <a:spcBef>
                <a:spcPts val="1200"/>
              </a:spcBef>
              <a:buFont typeface="Wingdings 2"/>
              <a:buNone/>
            </a:pPr>
            <a:r>
              <a:rPr lang="cs-CZ" sz="14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14 Velikost textu </a:t>
            </a:r>
          </a:p>
          <a:p>
            <a:pPr algn="r">
              <a:spcBef>
                <a:spcPts val="1200"/>
              </a:spcBef>
              <a:buFont typeface="Wingdings 2"/>
              <a:buNone/>
            </a:pPr>
            <a:r>
              <a:rPr lang="cs-CZ" sz="18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18 Velikost textu </a:t>
            </a:r>
          </a:p>
          <a:p>
            <a:pPr algn="r">
              <a:spcBef>
                <a:spcPts val="1200"/>
              </a:spcBef>
              <a:buFont typeface="Wingdings 2"/>
              <a:buNone/>
            </a:pPr>
            <a:r>
              <a:rPr lang="cs-CZ" sz="22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22 Velikost textu </a:t>
            </a:r>
          </a:p>
          <a:p>
            <a:pPr algn="r">
              <a:spcBef>
                <a:spcPts val="1200"/>
              </a:spcBef>
              <a:buFont typeface="Wingdings 2"/>
              <a:buNone/>
            </a:pPr>
            <a:r>
              <a:rPr lang="cs-CZ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26 Velikost textu </a:t>
            </a:r>
          </a:p>
          <a:p>
            <a:pPr algn="r">
              <a:spcBef>
                <a:spcPts val="1200"/>
              </a:spcBef>
              <a:buFont typeface="Wingdings 2"/>
              <a:buNone/>
            </a:pPr>
            <a:r>
              <a:rPr lang="cs-CZ" sz="30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30 Velikost textu </a:t>
            </a:r>
          </a:p>
          <a:p>
            <a:pPr algn="r">
              <a:spcBef>
                <a:spcPts val="1200"/>
              </a:spcBef>
              <a:buFont typeface="Wingdings 2"/>
              <a:buNone/>
            </a:pPr>
            <a:r>
              <a:rPr lang="cs-CZ" sz="36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36 Velikost textu </a:t>
            </a:r>
          </a:p>
          <a:p>
            <a:pPr algn="r">
              <a:spcBef>
                <a:spcPts val="1200"/>
              </a:spcBef>
              <a:buFont typeface="Wingdings 2"/>
              <a:buNone/>
            </a:pPr>
            <a:r>
              <a:rPr lang="cs-CZ" sz="42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42 Velikost textu </a:t>
            </a:r>
          </a:p>
          <a:p>
            <a:pPr algn="r">
              <a:spcBef>
                <a:spcPts val="1200"/>
              </a:spcBef>
              <a:buFont typeface="Wingdings 2"/>
              <a:buNone/>
            </a:pPr>
            <a:endParaRPr lang="cs-CZ" sz="1200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66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28596" y="2280862"/>
            <a:ext cx="8229600" cy="500066"/>
          </a:xfrm>
          <a:solidFill>
            <a:srgbClr val="FF0000"/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cs-CZ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5" name="Zástupný symbol pro obsah 2"/>
          <p:cNvSpPr txBox="1">
            <a:spLocks/>
          </p:cNvSpPr>
          <p:nvPr/>
        </p:nvSpPr>
        <p:spPr>
          <a:xfrm>
            <a:off x="428596" y="3072950"/>
            <a:ext cx="8229600" cy="5000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>
            <a:normAutofit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7" name="Zástupný symbol pro obsah 2"/>
          <p:cNvSpPr txBox="1">
            <a:spLocks/>
          </p:cNvSpPr>
          <p:nvPr/>
        </p:nvSpPr>
        <p:spPr>
          <a:xfrm>
            <a:off x="428596" y="3793030"/>
            <a:ext cx="8229600" cy="5000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>
            <a:normAutofit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9" name="Zástupný symbol pro obsah 2"/>
          <p:cNvSpPr txBox="1">
            <a:spLocks/>
          </p:cNvSpPr>
          <p:nvPr/>
        </p:nvSpPr>
        <p:spPr>
          <a:xfrm>
            <a:off x="428596" y="4513110"/>
            <a:ext cx="8229600" cy="50006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vert="horz">
            <a:normAutofit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11" name="Zástupný symbol pro obsah 2"/>
          <p:cNvSpPr txBox="1">
            <a:spLocks/>
          </p:cNvSpPr>
          <p:nvPr/>
        </p:nvSpPr>
        <p:spPr>
          <a:xfrm>
            <a:off x="428596" y="5301208"/>
            <a:ext cx="8229600" cy="500066"/>
          </a:xfrm>
          <a:prstGeom prst="rect">
            <a:avLst/>
          </a:prstGeom>
          <a:solidFill>
            <a:srgbClr val="7030A0"/>
          </a:solidFill>
        </p:spPr>
        <p:txBody>
          <a:bodyPr vert="horz">
            <a:normAutofit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13" name="Zástupný symbol pro obsah 2"/>
          <p:cNvSpPr txBox="1">
            <a:spLocks/>
          </p:cNvSpPr>
          <p:nvPr/>
        </p:nvSpPr>
        <p:spPr>
          <a:xfrm>
            <a:off x="428596" y="6072206"/>
            <a:ext cx="8229600" cy="500066"/>
          </a:xfrm>
          <a:prstGeom prst="rect">
            <a:avLst/>
          </a:prstGeom>
          <a:solidFill>
            <a:srgbClr val="0070C0"/>
          </a:solidFill>
        </p:spPr>
        <p:txBody>
          <a:bodyPr vert="horz">
            <a:normAutofit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10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cs-CZ" dirty="0"/>
              <a:t>Volba barevné kombinace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7510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67524"/>
          </a:xfrm>
        </p:spPr>
        <p:txBody>
          <a:bodyPr>
            <a:normAutofit/>
          </a:bodyPr>
          <a:lstStyle/>
          <a:p>
            <a:r>
              <a:rPr lang="cs-CZ" dirty="0"/>
              <a:t>Použitý font</a:t>
            </a:r>
          </a:p>
        </p:txBody>
      </p:sp>
      <p:sp>
        <p:nvSpPr>
          <p:cNvPr id="12" name="Zástupný symbol pro obsah 11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636792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buNone/>
            </a:pPr>
            <a:r>
              <a:rPr lang="cs-CZ" sz="3000" dirty="0" err="1">
                <a:latin typeface="Arial" pitchFamily="34" charset="0"/>
                <a:cs typeface="Arial" pitchFamily="34" charset="0"/>
              </a:rPr>
              <a:t>Arial</a:t>
            </a:r>
            <a:r>
              <a:rPr lang="cs-CZ" sz="3000" dirty="0">
                <a:latin typeface="Arial" pitchFamily="34" charset="0"/>
                <a:cs typeface="Arial" pitchFamily="34" charset="0"/>
              </a:rPr>
              <a:t> je nejběžnější font pro psaní prezentace</a:t>
            </a:r>
          </a:p>
          <a:p>
            <a:pPr>
              <a:spcBef>
                <a:spcPts val="1200"/>
              </a:spcBef>
              <a:buNone/>
            </a:pPr>
            <a:r>
              <a:rPr lang="cs-CZ" sz="3000" dirty="0" err="1">
                <a:latin typeface="Times New Roman" pitchFamily="18" charset="0"/>
                <a:cs typeface="Times New Roman" pitchFamily="18" charset="0"/>
              </a:rPr>
              <a:t>Times</a:t>
            </a: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 New Roman je vhodný pro nadpisy</a:t>
            </a:r>
          </a:p>
          <a:p>
            <a:pPr>
              <a:spcBef>
                <a:spcPts val="1200"/>
              </a:spcBef>
              <a:buNone/>
            </a:pPr>
            <a:r>
              <a:rPr lang="cs-CZ" sz="3000" dirty="0" err="1">
                <a:latin typeface="Verdana" pitchFamily="34" charset="0"/>
                <a:cs typeface="Times New Roman" pitchFamily="18" charset="0"/>
              </a:rPr>
              <a:t>Verdana</a:t>
            </a:r>
            <a:r>
              <a:rPr lang="cs-CZ" sz="3000" dirty="0">
                <a:latin typeface="Verdana" pitchFamily="34" charset="0"/>
                <a:cs typeface="Times New Roman" pitchFamily="18" charset="0"/>
              </a:rPr>
              <a:t> je často používaný typ písma</a:t>
            </a:r>
          </a:p>
          <a:p>
            <a:pPr>
              <a:spcBef>
                <a:spcPts val="1200"/>
              </a:spcBef>
              <a:buNone/>
            </a:pPr>
            <a:r>
              <a:rPr lang="cs-CZ" sz="3000" dirty="0" err="1">
                <a:latin typeface="Algerian" pitchFamily="82" charset="0"/>
                <a:cs typeface="Times New Roman" pitchFamily="18" charset="0"/>
              </a:rPr>
              <a:t>Algerian</a:t>
            </a:r>
            <a:r>
              <a:rPr lang="cs-CZ" sz="3000" dirty="0">
                <a:latin typeface="Algerian" pitchFamily="82" charset="0"/>
                <a:cs typeface="Times New Roman" pitchFamily="18" charset="0"/>
              </a:rPr>
              <a:t> je špatně čitelný</a:t>
            </a:r>
          </a:p>
          <a:p>
            <a:pPr>
              <a:spcBef>
                <a:spcPts val="1200"/>
              </a:spcBef>
              <a:buNone/>
            </a:pPr>
            <a:r>
              <a:rPr lang="cs-CZ" sz="3000" dirty="0" err="1">
                <a:latin typeface="Edwardian Script ITC" pitchFamily="66" charset="0"/>
                <a:cs typeface="Times New Roman" pitchFamily="18" charset="0"/>
              </a:rPr>
              <a:t>Edwardian</a:t>
            </a:r>
            <a:r>
              <a:rPr lang="cs-CZ" sz="3000" dirty="0">
                <a:latin typeface="Edwardian Script ITC" pitchFamily="66" charset="0"/>
                <a:cs typeface="Times New Roman" pitchFamily="18" charset="0"/>
              </a:rPr>
              <a:t> </a:t>
            </a:r>
            <a:r>
              <a:rPr lang="cs-CZ" sz="3000" dirty="0" err="1">
                <a:latin typeface="Edwardian Script ITC" pitchFamily="66" charset="0"/>
                <a:cs typeface="Times New Roman" pitchFamily="18" charset="0"/>
              </a:rPr>
              <a:t>Script</a:t>
            </a:r>
            <a:r>
              <a:rPr lang="cs-CZ" sz="3000" dirty="0">
                <a:latin typeface="Edwardian Script ITC" pitchFamily="66" charset="0"/>
                <a:cs typeface="Times New Roman" pitchFamily="18" charset="0"/>
              </a:rPr>
              <a:t> ITC  je příliš ozdobný a nevhodný pro </a:t>
            </a:r>
            <a:r>
              <a:rPr lang="cs-CZ" sz="3000" dirty="0" err="1">
                <a:latin typeface="Edwardian Script ITC" pitchFamily="66" charset="0"/>
                <a:cs typeface="Times New Roman" pitchFamily="18" charset="0"/>
              </a:rPr>
              <a:t>čwštinu</a:t>
            </a:r>
            <a:r>
              <a:rPr lang="cs-CZ" sz="3000" dirty="0">
                <a:latin typeface="Edwardian Script ITC" pitchFamily="66" charset="0"/>
                <a:cs typeface="Times New Roman" pitchFamily="18" charset="0"/>
              </a:rPr>
              <a:t> a její </a:t>
            </a:r>
            <a:r>
              <a:rPr lang="cs-CZ" sz="3000" dirty="0" err="1">
                <a:latin typeface="Edwardian Script ITC" pitchFamily="66" charset="0"/>
                <a:cs typeface="Times New Roman" pitchFamily="18" charset="0"/>
              </a:rPr>
              <a:t>doakritiku</a:t>
            </a:r>
            <a:endParaRPr lang="cs-CZ" sz="3000" dirty="0">
              <a:latin typeface="Edwardian Script ITC" pitchFamily="66" charset="0"/>
              <a:cs typeface="Times New Roman" pitchFamily="18" charset="0"/>
            </a:endParaRPr>
          </a:p>
          <a:p>
            <a:pPr>
              <a:spcBef>
                <a:spcPts val="1200"/>
              </a:spcBef>
              <a:buNone/>
            </a:pPr>
            <a:r>
              <a:rPr lang="cs-CZ" sz="3000" dirty="0" err="1">
                <a:latin typeface="Blackadder ITC" pitchFamily="82" charset="0"/>
                <a:cs typeface="Times New Roman" pitchFamily="18" charset="0"/>
              </a:rPr>
              <a:t>Blackadder</a:t>
            </a:r>
            <a:r>
              <a:rPr lang="cs-CZ" sz="3000" dirty="0">
                <a:latin typeface="Blackadder ITC" pitchFamily="82" charset="0"/>
                <a:cs typeface="Times New Roman" pitchFamily="18" charset="0"/>
              </a:rPr>
              <a:t> ITC je také příliš ozdobný a pro prezentace nevhodný</a:t>
            </a:r>
          </a:p>
          <a:p>
            <a:pPr>
              <a:spcBef>
                <a:spcPts val="1200"/>
              </a:spcBef>
              <a:buNone/>
            </a:pPr>
            <a:r>
              <a:rPr lang="cs-CZ" sz="3000" dirty="0">
                <a:latin typeface="Brush Script MT" panose="03060802040406070304" pitchFamily="66" charset="0"/>
                <a:cs typeface="Times New Roman" pitchFamily="18" charset="0"/>
              </a:rPr>
              <a:t>Ozdobný font snižuje čitelnost textu a často nemá  českou diakritiku</a:t>
            </a:r>
            <a:endParaRPr lang="cs-CZ" sz="3000" dirty="0">
              <a:latin typeface="Blackadder ITC" pitchFamily="82" charset="0"/>
              <a:cs typeface="Times New Roman" pitchFamily="18" charset="0"/>
            </a:endParaRPr>
          </a:p>
          <a:p>
            <a:pPr>
              <a:spcBef>
                <a:spcPts val="1200"/>
              </a:spcBef>
              <a:buNone/>
            </a:pPr>
            <a:endParaRPr lang="cs-CZ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2054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38962"/>
          </a:xfrm>
        </p:spPr>
        <p:txBody>
          <a:bodyPr>
            <a:normAutofit/>
          </a:bodyPr>
          <a:lstStyle/>
          <a:p>
            <a:r>
              <a:rPr lang="cs-CZ" dirty="0"/>
              <a:t>Příliš mnoho textu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80588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cs-CZ" sz="1400" dirty="0"/>
              <a:t>Praha je slavná již jedenáct století, po které je naším hlavním městem. Její kořeny však sahají snad až do 4. století našeho letopočtu. Praha se stala dějištěm mnoha a mnoha historických událostí a stojí v popředí české státnosti, vždy byla sídlem českých knížat, králů i císařů a nyní prezidentů a stále si zachovává velmi atraktivní charisma města, kde historii potkáváte na každém rohu. Nemá velkého smyslu argumentovat jejím pradávným osidlování před sedmi tisíci lety, stačí snad jen uvést, že v evropském konceptu začala Praha nabírat významu v šestém století n. l. v souvislostech s migrací v Evropě.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cs-CZ" sz="1400" b="1" dirty="0"/>
              <a:t>Přirozenou dominantou se stává Hrad</a:t>
            </a:r>
            <a:r>
              <a:rPr lang="cs-CZ" sz="1400" dirty="0"/>
              <a:t> budovaný na vyvýšenině (prapředci používali i název Sviní vrch), který byl obehnán obranným valem a vyrůstá tu knížecí palác, kde byla nastolována (volena) pohanská a později křesťanská knížata Čechů, která důkladně likvidovala pohanskou minulost. Praha se tak stává centrem, do kterého přicházejí řemeslníci a obchodníci. Praha tak dává na srozuměnou tehdejšímu světu, že je centrem rodícího se silného státu. </a:t>
            </a:r>
            <a:br>
              <a:rPr lang="cs-CZ" sz="1400" dirty="0"/>
            </a:br>
            <a:r>
              <a:rPr lang="cs-CZ" sz="1400" dirty="0"/>
              <a:t>Významný rozkvět města nastal listinou, která je známá jako </a:t>
            </a:r>
            <a:r>
              <a:rPr lang="cs-CZ" sz="1400" b="1" dirty="0"/>
              <a:t>Zlatá bula sicilská</a:t>
            </a:r>
            <a:r>
              <a:rPr lang="cs-CZ" sz="1400" dirty="0"/>
              <a:t> 1212 n. l. Málo se však už ví, že obsahuje tři listiny. Zjednodušeně lze říci, že se jedná potvrzení dědičných nároků Přemyslovců na český trůn a byla vydána v Basileji Přemyslu Otakaru I. Fridrichem II. Sicilským.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cs-CZ" sz="1400" dirty="0"/>
              <a:t>Dalším neprávem opomíjeným a snad národem nedoceněným králem byl </a:t>
            </a:r>
            <a:r>
              <a:rPr lang="cs-CZ" sz="1400" b="1" dirty="0"/>
              <a:t>Přemysl Otakar II., král železný a zlatý</a:t>
            </a:r>
            <a:r>
              <a:rPr lang="cs-CZ" sz="1400" dirty="0"/>
              <a:t>, který položil základy obrovské říše, se kterou by muselo být počítáno. Přemysl Otakar II. udělil roku 1257 městská práva pražskému podhradí. Bohužel přišel o život v bitvě na Moravském poli (blízko rakouských </a:t>
            </a:r>
            <a:r>
              <a:rPr lang="cs-CZ" sz="1400" dirty="0" err="1"/>
              <a:t>Dürenkrut</a:t>
            </a:r>
            <a:r>
              <a:rPr lang="cs-CZ" sz="1400" dirty="0"/>
              <a:t> (Suché Kruty), dne 26. srpna 1278. Na Moravském poli tak skončil sen o Velkých Čechách a některým evropským mocnostem se i jistým způsobem ulevilo.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cs-CZ" sz="1400" dirty="0"/>
              <a:t>Zdroj: </a:t>
            </a:r>
            <a:r>
              <a:rPr lang="cs-CZ" sz="1400" dirty="0">
                <a:hlinkClick r:id="rId2"/>
              </a:rPr>
              <a:t>http://www.praha.cz/</a:t>
            </a:r>
            <a:r>
              <a:rPr lang="cs-CZ" sz="1400" dirty="0" err="1">
                <a:hlinkClick r:id="rId2"/>
              </a:rPr>
              <a:t>mesto-praha</a:t>
            </a:r>
            <a:r>
              <a:rPr lang="cs-CZ" sz="1400" dirty="0">
                <a:hlinkClick r:id="rId2"/>
              </a:rPr>
              <a:t>/historie-prahy</a:t>
            </a:r>
            <a:r>
              <a:rPr lang="cs-CZ" sz="1400" dirty="0"/>
              <a:t>, 2. 9. 2012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059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24648"/>
          </a:xfrm>
        </p:spPr>
        <p:txBody>
          <a:bodyPr>
            <a:normAutofit fontScale="90000"/>
          </a:bodyPr>
          <a:lstStyle/>
          <a:p>
            <a:r>
              <a:rPr lang="cs-CZ" dirty="0"/>
              <a:t>Nekvalitní obrázky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Obdélník 3"/>
          <p:cNvSpPr/>
          <p:nvPr/>
        </p:nvSpPr>
        <p:spPr>
          <a:xfrm>
            <a:off x="5220072" y="6527154"/>
            <a:ext cx="33843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800" dirty="0"/>
              <a:t>Zdroj: </a:t>
            </a:r>
            <a:r>
              <a:rPr lang="cs-CZ" sz="800" dirty="0">
                <a:hlinkClick r:id="rId2"/>
              </a:rPr>
              <a:t>http://www.kamvpraze.info/intro-pamatky-large.jpg</a:t>
            </a:r>
            <a:r>
              <a:rPr lang="cs-CZ" sz="800" dirty="0"/>
              <a:t>, 2. 9. 2012</a:t>
            </a:r>
          </a:p>
        </p:txBody>
      </p:sp>
      <p:pic>
        <p:nvPicPr>
          <p:cNvPr id="8" name="Picture 4" descr="http://www.kamvpraze.info/intro-pamatky-large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79" y="1412777"/>
            <a:ext cx="6332429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27</a:t>
            </a:fld>
            <a:endParaRPr lang="cs-CZ"/>
          </a:p>
        </p:txBody>
      </p:sp>
      <p:pic>
        <p:nvPicPr>
          <p:cNvPr id="2052" name="Picture 4" descr="http://www.kamvpraze.info/intro-pamatky-large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861048"/>
            <a:ext cx="3834707" cy="261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602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24648"/>
          </a:xfrm>
        </p:spPr>
        <p:txBody>
          <a:bodyPr>
            <a:normAutofit fontScale="90000"/>
          </a:bodyPr>
          <a:lstStyle/>
          <a:p>
            <a:r>
              <a:rPr lang="cs-CZ" dirty="0"/>
              <a:t>Příliš mnoho objektů</a:t>
            </a:r>
          </a:p>
        </p:txBody>
      </p:sp>
      <p:pic>
        <p:nvPicPr>
          <p:cNvPr id="3075" name="Picture 3" descr="C:\Users\Votavova\AppData\Local\Microsoft\Windows\Temporary Internet Files\Content.IE5\BOGI710E\MP90040049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163" y="2684748"/>
            <a:ext cx="3390880" cy="271270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68155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cs-CZ" b="1" dirty="0">
                <a:solidFill>
                  <a:schemeClr val="bg2">
                    <a:lumMod val="25000"/>
                  </a:schemeClr>
                </a:solidFill>
              </a:rPr>
              <a:t>Dopravní prostředky</a:t>
            </a:r>
          </a:p>
          <a:p>
            <a:pPr>
              <a:buNone/>
            </a:pPr>
            <a:endParaRPr lang="cs-CZ" b="1" dirty="0"/>
          </a:p>
          <a:p>
            <a:r>
              <a:rPr lang="cs-CZ" dirty="0"/>
              <a:t>Auto</a:t>
            </a:r>
          </a:p>
          <a:p>
            <a:r>
              <a:rPr lang="cs-CZ" dirty="0"/>
              <a:t>Motorka</a:t>
            </a:r>
          </a:p>
          <a:p>
            <a:r>
              <a:rPr lang="cs-CZ" dirty="0"/>
              <a:t>Trolejbus</a:t>
            </a:r>
          </a:p>
          <a:p>
            <a:r>
              <a:rPr lang="cs-CZ" dirty="0"/>
              <a:t>Autobus</a:t>
            </a:r>
          </a:p>
          <a:p>
            <a:r>
              <a:rPr lang="cs-CZ" dirty="0"/>
              <a:t>Vlak </a:t>
            </a:r>
          </a:p>
          <a:p>
            <a:r>
              <a:rPr lang="cs-CZ" dirty="0"/>
              <a:t>Tramvaj</a:t>
            </a:r>
          </a:p>
          <a:p>
            <a:r>
              <a:rPr lang="cs-CZ" dirty="0"/>
              <a:t>Letadlo</a:t>
            </a:r>
          </a:p>
          <a:p>
            <a:r>
              <a:rPr lang="cs-CZ" dirty="0"/>
              <a:t>Vrtulník</a:t>
            </a:r>
          </a:p>
          <a:p>
            <a:r>
              <a:rPr lang="cs-CZ" dirty="0"/>
              <a:t>Trajekt</a:t>
            </a:r>
          </a:p>
          <a:p>
            <a:r>
              <a:rPr lang="cs-CZ" dirty="0"/>
              <a:t>Loď</a:t>
            </a:r>
          </a:p>
          <a:p>
            <a:r>
              <a:rPr lang="cs-CZ" dirty="0"/>
              <a:t>Tanker</a:t>
            </a:r>
          </a:p>
          <a:p>
            <a:pPr>
              <a:buNone/>
            </a:pPr>
            <a:endParaRPr lang="cs-CZ" b="1" dirty="0"/>
          </a:p>
          <a:p>
            <a:pPr>
              <a:buNone/>
            </a:pPr>
            <a:endParaRPr lang="cs-CZ" b="1" dirty="0"/>
          </a:p>
          <a:p>
            <a:pPr>
              <a:buNone/>
            </a:pPr>
            <a:endParaRPr lang="cs-CZ" b="1" dirty="0"/>
          </a:p>
        </p:txBody>
      </p:sp>
      <p:pic>
        <p:nvPicPr>
          <p:cNvPr id="3074" name="Picture 2" descr="C:\Users\Votavova\AppData\Local\Microsoft\Windows\Temporary Internet Files\Content.IE5\BLNF5947\MP900442259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196752"/>
            <a:ext cx="4031940" cy="26879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076" name="Picture 4" descr="C:\Users\Votavova\AppData\Local\Microsoft\Windows\Temporary Internet Files\Content.IE5\I69WRX84\MP900401906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644" y="3124684"/>
            <a:ext cx="2382768" cy="15878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077" name="Picture 5" descr="C:\Users\Votavova\AppData\Local\Microsoft\Windows\Temporary Internet Files\Content.IE5\BLNF5947\MC900311904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203" y="1340768"/>
            <a:ext cx="1828800" cy="174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C:\Users\Votavova\AppData\Local\Microsoft\Windows\Temporary Internet Files\Content.IE5\I69WRX84\MP900448342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677" y="4154080"/>
            <a:ext cx="1657829" cy="248674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80" name="Picture 8" descr="C:\Users\Votavova\AppData\Local\Microsoft\Windows\Temporary Internet Files\Content.IE5\BLNF5947\MP900422428[1]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716" y="4495801"/>
            <a:ext cx="3275856" cy="23621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81" name="Picture 9" descr="C:\Users\Votavova\AppData\Local\Microsoft\Windows\Temporary Internet Files\Content.IE5\I69WRX84\MP900399327[1]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984" y="404664"/>
            <a:ext cx="1950720" cy="12999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3078" name="Picture 6" descr="C:\Users\Votavova\AppData\Local\Microsoft\Windows\Temporary Internet Files\Content.IE5\GV41K2WU\MC900339342[1].wmf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896" y="3519360"/>
            <a:ext cx="1427994" cy="142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11" descr="C:\Users\Votavova\AppData\Local\Microsoft\Windows\Temporary Internet Files\Content.IE5\BOGI710E\MC900382589[1]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209" y="4945913"/>
            <a:ext cx="1867463" cy="186746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C:\Users\Votavova\AppData\Local\Microsoft\Windows\Temporary Internet Files\Content.IE5\I69WRX84\MC900434719[1]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984" y="4355109"/>
            <a:ext cx="2285714" cy="228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5" name="Picture 13" descr="C:\Users\Votavova\AppData\Local\Microsoft\Windows\Temporary Internet Files\Content.IE5\GV41K2WU\MM900395776[1].gif"/>
          <p:cNvPicPr>
            <a:picLocks noChangeAspect="1" noChangeArrowheads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285" y="2348880"/>
            <a:ext cx="2230667" cy="15800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163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1143000"/>
          </a:xfrm>
        </p:spPr>
        <p:txBody>
          <a:bodyPr>
            <a:normAutofit/>
          </a:bodyPr>
          <a:lstStyle/>
          <a:p>
            <a:r>
              <a:rPr lang="cs-CZ" dirty="0"/>
              <a:t>Špatná animace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28596" y="1785926"/>
            <a:ext cx="4214842" cy="438912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sz="3600" b="1" dirty="0">
                <a:solidFill>
                  <a:schemeClr val="accent1"/>
                </a:solidFill>
              </a:rPr>
              <a:t>Česká města</a:t>
            </a:r>
          </a:p>
          <a:p>
            <a:pPr>
              <a:buFont typeface="Arial" pitchFamily="34" charset="0"/>
              <a:buChar char="•"/>
            </a:pPr>
            <a:r>
              <a:rPr lang="cs-CZ" sz="3600" dirty="0"/>
              <a:t>Praha</a:t>
            </a:r>
          </a:p>
          <a:p>
            <a:pPr>
              <a:buFont typeface="Arial" pitchFamily="34" charset="0"/>
              <a:buChar char="•"/>
            </a:pPr>
            <a:r>
              <a:rPr lang="cs-CZ" sz="3600" dirty="0"/>
              <a:t>Brno</a:t>
            </a:r>
          </a:p>
          <a:p>
            <a:pPr>
              <a:buFont typeface="Arial" pitchFamily="34" charset="0"/>
              <a:buChar char="•"/>
            </a:pPr>
            <a:r>
              <a:rPr lang="cs-CZ" sz="3600" dirty="0"/>
              <a:t>Ostrava</a:t>
            </a:r>
          </a:p>
          <a:p>
            <a:pPr>
              <a:buFont typeface="Arial" pitchFamily="34" charset="0"/>
              <a:buChar char="•"/>
            </a:pPr>
            <a:r>
              <a:rPr lang="cs-CZ" sz="3600" dirty="0"/>
              <a:t>Plzeň</a:t>
            </a:r>
          </a:p>
          <a:p>
            <a:pPr>
              <a:buFont typeface="Arial" pitchFamily="34" charset="0"/>
              <a:buChar char="•"/>
            </a:pPr>
            <a:r>
              <a:rPr lang="cs-CZ" sz="3600" dirty="0"/>
              <a:t>Liberec </a:t>
            </a:r>
          </a:p>
          <a:p>
            <a:pPr>
              <a:buFont typeface="Arial" pitchFamily="34" charset="0"/>
              <a:buChar char="•"/>
            </a:pPr>
            <a:r>
              <a:rPr lang="cs-CZ" sz="3600" dirty="0"/>
              <a:t>Olomouc </a:t>
            </a:r>
          </a:p>
          <a:p>
            <a:pPr>
              <a:buFont typeface="Arial" pitchFamily="34" charset="0"/>
              <a:buChar char="•"/>
            </a:pPr>
            <a:r>
              <a:rPr lang="cs-CZ" sz="3600" dirty="0"/>
              <a:t>Ústí nad Labem </a:t>
            </a:r>
          </a:p>
          <a:p>
            <a:pPr>
              <a:buNone/>
            </a:pPr>
            <a:endParaRPr lang="cs-CZ" sz="3600" b="1" dirty="0">
              <a:solidFill>
                <a:schemeClr val="accent1"/>
              </a:solidFill>
            </a:endParaRPr>
          </a:p>
          <a:p>
            <a:pPr>
              <a:buNone/>
            </a:pPr>
            <a:endParaRPr lang="cs-CZ" sz="3600" b="1" dirty="0">
              <a:solidFill>
                <a:schemeClr val="accent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4714876" y="1714488"/>
            <a:ext cx="4429124" cy="438912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cs-CZ" sz="3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indent="457200">
              <a:buClr>
                <a:schemeClr val="tx2">
                  <a:lumMod val="40000"/>
                  <a:lumOff val="60000"/>
                </a:schemeClr>
              </a:buClr>
              <a:buFont typeface="Arial" pitchFamily="34" charset="0"/>
              <a:buChar char="•"/>
            </a:pPr>
            <a:r>
              <a:rPr lang="cs-CZ" sz="3600" dirty="0"/>
              <a:t>Hradec Králové</a:t>
            </a:r>
          </a:p>
          <a:p>
            <a:pPr indent="457200">
              <a:buClr>
                <a:schemeClr val="tx2">
                  <a:lumMod val="40000"/>
                  <a:lumOff val="60000"/>
                </a:schemeClr>
              </a:buClr>
              <a:buFont typeface="Arial" pitchFamily="34" charset="0"/>
              <a:buChar char="•"/>
            </a:pPr>
            <a:r>
              <a:rPr lang="cs-CZ" sz="3600" dirty="0"/>
              <a:t>České Budějovice </a:t>
            </a:r>
          </a:p>
          <a:p>
            <a:pPr indent="457200">
              <a:buClr>
                <a:schemeClr val="tx2">
                  <a:lumMod val="40000"/>
                  <a:lumOff val="60000"/>
                </a:schemeClr>
              </a:buClr>
              <a:buFont typeface="Arial" pitchFamily="34" charset="0"/>
              <a:buChar char="•"/>
            </a:pPr>
            <a:r>
              <a:rPr lang="cs-CZ" sz="3600" dirty="0"/>
              <a:t>Pardubice </a:t>
            </a:r>
          </a:p>
          <a:p>
            <a:pPr indent="457200">
              <a:buClr>
                <a:schemeClr val="tx2">
                  <a:lumMod val="40000"/>
                  <a:lumOff val="60000"/>
                </a:schemeClr>
              </a:buClr>
              <a:buFont typeface="Arial" pitchFamily="34" charset="0"/>
              <a:buChar char="•"/>
            </a:pPr>
            <a:r>
              <a:rPr lang="cs-CZ" sz="3600" dirty="0"/>
              <a:t>Havířov </a:t>
            </a:r>
          </a:p>
          <a:p>
            <a:pPr indent="457200">
              <a:buClr>
                <a:schemeClr val="tx2">
                  <a:lumMod val="40000"/>
                  <a:lumOff val="60000"/>
                </a:schemeClr>
              </a:buClr>
              <a:buFont typeface="Arial" pitchFamily="34" charset="0"/>
              <a:buChar char="•"/>
            </a:pPr>
            <a:r>
              <a:rPr lang="cs-CZ" sz="3600" dirty="0"/>
              <a:t>Zlín </a:t>
            </a:r>
          </a:p>
          <a:p>
            <a:pPr indent="457200">
              <a:buClr>
                <a:schemeClr val="tx2">
                  <a:lumMod val="40000"/>
                  <a:lumOff val="60000"/>
                </a:schemeClr>
              </a:buClr>
              <a:buFont typeface="Arial" pitchFamily="34" charset="0"/>
              <a:buChar char="•"/>
            </a:pPr>
            <a:r>
              <a:rPr lang="cs-CZ" sz="3600" dirty="0"/>
              <a:t>Kladno </a:t>
            </a:r>
          </a:p>
          <a:p>
            <a:pPr indent="457200">
              <a:buClr>
                <a:schemeClr val="tx2">
                  <a:lumMod val="40000"/>
                  <a:lumOff val="60000"/>
                </a:schemeClr>
              </a:buClr>
              <a:buFont typeface="Arial" pitchFamily="34" charset="0"/>
              <a:buChar char="•"/>
            </a:pPr>
            <a:r>
              <a:rPr lang="cs-CZ" sz="3600" dirty="0"/>
              <a:t>Most </a:t>
            </a:r>
          </a:p>
          <a:p>
            <a:pPr indent="457200">
              <a:buClr>
                <a:schemeClr val="tx2">
                  <a:lumMod val="40000"/>
                  <a:lumOff val="60000"/>
                </a:schemeClr>
              </a:buClr>
              <a:buFont typeface="Arial" pitchFamily="34" charset="0"/>
              <a:buChar char="•"/>
            </a:pPr>
            <a:r>
              <a:rPr lang="cs-CZ" sz="3600" dirty="0"/>
              <a:t>Karviná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cs-CZ" sz="3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cs-CZ" sz="3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5202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20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6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00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Prázdná plocha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Školní docházka</a:t>
            </a:r>
          </a:p>
          <a:p>
            <a:pPr lvl="1"/>
            <a:r>
              <a:rPr lang="cs-CZ" dirty="0"/>
              <a:t>povinná</a:t>
            </a:r>
          </a:p>
          <a:p>
            <a:pPr lvl="1"/>
            <a:r>
              <a:rPr lang="cs-CZ" dirty="0"/>
              <a:t>nepovinná</a:t>
            </a:r>
          </a:p>
          <a:p>
            <a:pPr lvl="1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30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4289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cs-CZ" dirty="0"/>
              <a:t>Zdroje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NAVRÁTIL, Pavel. </a:t>
            </a:r>
            <a:r>
              <a:rPr lang="cs-CZ" i="1" dirty="0">
                <a:solidFill>
                  <a:schemeClr val="tx1"/>
                </a:solidFill>
              </a:rPr>
              <a:t>S počítačem nejen k maturitě - 1. díl</a:t>
            </a:r>
            <a:r>
              <a:rPr lang="cs-CZ" dirty="0">
                <a:solidFill>
                  <a:schemeClr val="tx1"/>
                </a:solidFill>
              </a:rPr>
              <a:t>. Olomouc: </a:t>
            </a:r>
            <a:r>
              <a:rPr lang="cs-CZ" dirty="0" err="1">
                <a:solidFill>
                  <a:schemeClr val="tx1"/>
                </a:solidFill>
              </a:rPr>
              <a:t>Computer</a:t>
            </a:r>
            <a:r>
              <a:rPr lang="cs-CZ" dirty="0">
                <a:solidFill>
                  <a:schemeClr val="tx1"/>
                </a:solidFill>
              </a:rPr>
              <a:t> Media, 2008. 120 s. ISBN 80-86686-60-4 . </a:t>
            </a:r>
          </a:p>
          <a:p>
            <a:endParaRPr lang="cs-CZ" sz="1600" dirty="0">
              <a:solidFill>
                <a:schemeClr val="tx1"/>
              </a:solidFill>
            </a:endParaRPr>
          </a:p>
          <a:p>
            <a:r>
              <a:rPr lang="cs-CZ" dirty="0">
                <a:solidFill>
                  <a:schemeClr val="tx1"/>
                </a:solidFill>
              </a:rPr>
              <a:t>Kliparty MS Office – office.microsoft.com</a:t>
            </a:r>
          </a:p>
          <a:p>
            <a:pPr marL="0" indent="0">
              <a:buNone/>
            </a:pPr>
            <a:endParaRPr lang="cs-CZ" sz="1600" dirty="0">
              <a:solidFill>
                <a:schemeClr val="tx1"/>
              </a:solidFill>
            </a:endParaRPr>
          </a:p>
          <a:p>
            <a:r>
              <a:rPr lang="cs-CZ" dirty="0"/>
              <a:t>MS PowerPoint 2010</a:t>
            </a:r>
            <a:endParaRPr lang="cs-CZ" dirty="0">
              <a:solidFill>
                <a:schemeClr val="tx1"/>
              </a:solidFill>
            </a:endParaRPr>
          </a:p>
          <a:p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32" y="5669647"/>
            <a:ext cx="652463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31</a:t>
            </a:fld>
            <a:endParaRPr lang="cs-CZ"/>
          </a:p>
        </p:txBody>
      </p:sp>
      <p:pic>
        <p:nvPicPr>
          <p:cNvPr id="5122" name="Picture 2" descr="C:\Users\Votavova\AppData\Local\Microsoft\Windows\Temporary Internet Files\Content.IE5\GV41K2WU\MC90039840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4537864"/>
            <a:ext cx="1379830" cy="197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5057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ok">
  <a:themeElements>
    <a:clrScheme name="Arkýř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Tok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ok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0CB9FE-D556-4BC6-A2AA-E8D2975840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370F12-353C-47C9-8DA0-85692ED1A0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73B194-B15E-4E75-9656-507D7B210E2B}">
  <ds:schemaRefs>
    <ds:schemaRef ds:uri="http://schemas.microsoft.com/office/infopath/2007/PartnerControls"/>
    <ds:schemaRef ds:uri="ea85f2e0-d32a-4312-be8a-c00aff2510cf"/>
    <ds:schemaRef ds:uri="http://purl.org/dc/elements/1.1/"/>
    <ds:schemaRef ds:uri="http://schemas.microsoft.com/office/2006/metadata/properties"/>
    <ds:schemaRef ds:uri="c52afa11-cb76-49c2-a807-b2856752eead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3656</TotalTime>
  <Words>660</Words>
  <Application>Microsoft Office PowerPoint</Application>
  <PresentationFormat>Předvádění na obrazovce (4:3)</PresentationFormat>
  <Paragraphs>197</Paragraphs>
  <Slides>31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11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31</vt:i4>
      </vt:variant>
    </vt:vector>
  </HeadingPairs>
  <TitlesOfParts>
    <vt:vector size="43" baseType="lpstr">
      <vt:lpstr>Algerian</vt:lpstr>
      <vt:lpstr>Arial</vt:lpstr>
      <vt:lpstr>Blackadder ITC</vt:lpstr>
      <vt:lpstr>Brush Script MT</vt:lpstr>
      <vt:lpstr>Calibri</vt:lpstr>
      <vt:lpstr>Constantia</vt:lpstr>
      <vt:lpstr>Edwardian Script ITC</vt:lpstr>
      <vt:lpstr>Times New Roman</vt:lpstr>
      <vt:lpstr>Verdana</vt:lpstr>
      <vt:lpstr>Wingdings</vt:lpstr>
      <vt:lpstr>Wingdings 2</vt:lpstr>
      <vt:lpstr>Tok</vt:lpstr>
      <vt:lpstr>PowerPoint  Stručný popis programu  </vt:lpstr>
      <vt:lpstr>Snímek</vt:lpstr>
      <vt:lpstr>Oddíl</vt:lpstr>
      <vt:lpstr>Karta Domů</vt:lpstr>
      <vt:lpstr>Karta Vložení</vt:lpstr>
      <vt:lpstr>Karta Návrh</vt:lpstr>
      <vt:lpstr>Motiv</vt:lpstr>
      <vt:lpstr>Zobrazení</vt:lpstr>
      <vt:lpstr>Záložky Snímky x Osnova </vt:lpstr>
      <vt:lpstr>Přechody</vt:lpstr>
      <vt:lpstr>Možnosti efektu přechodu</vt:lpstr>
      <vt:lpstr>Animace</vt:lpstr>
      <vt:lpstr>Přidat animaci</vt:lpstr>
      <vt:lpstr>Časování animace</vt:lpstr>
      <vt:lpstr>Prezentace</vt:lpstr>
      <vt:lpstr>Časování prezentace</vt:lpstr>
      <vt:lpstr>Revize</vt:lpstr>
      <vt:lpstr>Komentář </vt:lpstr>
      <vt:lpstr>Karta Vložení</vt:lpstr>
      <vt:lpstr>Obrázek </vt:lpstr>
      <vt:lpstr>Smart Art</vt:lpstr>
      <vt:lpstr>Záhlaví a zápatí</vt:lpstr>
      <vt:lpstr>Základní pravidla prezentací</vt:lpstr>
      <vt:lpstr>Volba barevné kombinace</vt:lpstr>
      <vt:lpstr>Použitý font</vt:lpstr>
      <vt:lpstr>Příliš mnoho textu</vt:lpstr>
      <vt:lpstr>Nekvalitní obrázky</vt:lpstr>
      <vt:lpstr>Příliš mnoho objektů</vt:lpstr>
      <vt:lpstr>Špatná animace</vt:lpstr>
      <vt:lpstr>Prázdná plocha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Počítačové síťě</dc:title>
  <dc:creator>Gabriela Votavová</dc:creator>
  <cp:lastModifiedBy>Votavová Gabriela</cp:lastModifiedBy>
  <cp:revision>314</cp:revision>
  <cp:lastPrinted>2013-11-15T13:03:35Z</cp:lastPrinted>
  <dcterms:created xsi:type="dcterms:W3CDTF">2009-11-23T15:00:52Z</dcterms:created>
  <dcterms:modified xsi:type="dcterms:W3CDTF">2020-01-29T12:30:34Z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