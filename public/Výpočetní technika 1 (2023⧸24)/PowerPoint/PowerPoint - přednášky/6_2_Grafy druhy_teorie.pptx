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2" autoAdjust="0"/>
    <p:restoredTop sz="94660"/>
  </p:normalViewPr>
  <p:slideViewPr>
    <p:cSldViewPr snapToGrid="0">
      <p:cViewPr varScale="1">
        <p:scale>
          <a:sx n="69" d="100"/>
          <a:sy n="69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6AE331-3DDB-468E-90D9-E145F83BD096}" type="datetimeFigureOut">
              <a:rPr lang="cs-CZ" smtClean="0"/>
              <a:t>27.4.2018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F359E4-628D-4628-82E6-6BADE1FDF01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92429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F359E4-628D-4628-82E6-6BADE1FDF011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23902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F23B4-ECD6-4DAF-B89D-0D91F8CBEEDF}" type="datetimeFigureOut">
              <a:rPr lang="cs-CZ" smtClean="0"/>
              <a:t>27.4.2018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007452B-115C-4A03-B749-8F5898454E52}" type="slidenum">
              <a:rPr lang="cs-CZ" smtClean="0"/>
              <a:t>‹#›</a:t>
            </a:fld>
            <a:endParaRPr lang="cs-CZ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1669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F23B4-ECD6-4DAF-B89D-0D91F8CBEEDF}" type="datetimeFigureOut">
              <a:rPr lang="cs-CZ" smtClean="0"/>
              <a:t>27.4.2018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7452B-115C-4A03-B749-8F5898454E52}" type="slidenum">
              <a:rPr lang="cs-CZ" smtClean="0"/>
              <a:t>‹#›</a:t>
            </a:fld>
            <a:endParaRPr lang="cs-CZ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020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F23B4-ECD6-4DAF-B89D-0D91F8CBEEDF}" type="datetimeFigureOut">
              <a:rPr lang="cs-CZ" smtClean="0"/>
              <a:t>27.4.2018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7452B-115C-4A03-B749-8F5898454E52}" type="slidenum">
              <a:rPr lang="cs-CZ" smtClean="0"/>
              <a:t>‹#›</a:t>
            </a:fld>
            <a:endParaRPr lang="cs-CZ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9535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F23B4-ECD6-4DAF-B89D-0D91F8CBEEDF}" type="datetimeFigureOut">
              <a:rPr lang="cs-CZ" smtClean="0"/>
              <a:t>27.4.2018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7452B-115C-4A03-B749-8F5898454E52}" type="slidenum">
              <a:rPr lang="cs-CZ" smtClean="0"/>
              <a:t>‹#›</a:t>
            </a:fld>
            <a:endParaRPr lang="cs-CZ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471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F23B4-ECD6-4DAF-B89D-0D91F8CBEEDF}" type="datetimeFigureOut">
              <a:rPr lang="cs-CZ" smtClean="0"/>
              <a:t>27.4.2018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7452B-115C-4A03-B749-8F5898454E52}" type="slidenum">
              <a:rPr lang="cs-CZ" smtClean="0"/>
              <a:t>‹#›</a:t>
            </a:fld>
            <a:endParaRPr lang="cs-CZ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3396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F23B4-ECD6-4DAF-B89D-0D91F8CBEEDF}" type="datetimeFigureOut">
              <a:rPr lang="cs-CZ" smtClean="0"/>
              <a:t>27.4.2018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7452B-115C-4A03-B749-8F5898454E52}" type="slidenum">
              <a:rPr lang="cs-CZ" smtClean="0"/>
              <a:t>‹#›</a:t>
            </a:fld>
            <a:endParaRPr lang="cs-CZ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4114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F23B4-ECD6-4DAF-B89D-0D91F8CBEEDF}" type="datetimeFigureOut">
              <a:rPr lang="cs-CZ" smtClean="0"/>
              <a:t>27.4.2018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7452B-115C-4A03-B749-8F5898454E5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85137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F23B4-ECD6-4DAF-B89D-0D91F8CBEEDF}" type="datetimeFigureOut">
              <a:rPr lang="cs-CZ" smtClean="0"/>
              <a:t>27.4.2018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7452B-115C-4A03-B749-8F5898454E52}" type="slidenum">
              <a:rPr lang="cs-CZ" smtClean="0"/>
              <a:t>‹#›</a:t>
            </a:fld>
            <a:endParaRPr lang="cs-CZ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7286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66F23B4-ECD6-4DAF-B89D-0D91F8CBEEDF}" type="datetimeFigureOut">
              <a:rPr lang="cs-CZ" smtClean="0"/>
              <a:t>27.4.2018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7452B-115C-4A03-B749-8F5898454E52}" type="slidenum">
              <a:rPr lang="cs-CZ" smtClean="0"/>
              <a:t>‹#›</a:t>
            </a:fld>
            <a:endParaRPr lang="cs-CZ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4473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F23B4-ECD6-4DAF-B89D-0D91F8CBEEDF}" type="datetimeFigureOut">
              <a:rPr lang="cs-CZ" smtClean="0"/>
              <a:t>27.4.2018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7452B-115C-4A03-B749-8F5898454E52}" type="slidenum">
              <a:rPr lang="cs-CZ" smtClean="0"/>
              <a:t>‹#›</a:t>
            </a:fld>
            <a:endParaRPr lang="cs-CZ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4871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F23B4-ECD6-4DAF-B89D-0D91F8CBEEDF}" type="datetimeFigureOut">
              <a:rPr lang="cs-CZ" smtClean="0"/>
              <a:t>27.4.2018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7452B-115C-4A03-B749-8F5898454E52}" type="slidenum">
              <a:rPr lang="cs-CZ" smtClean="0"/>
              <a:t>‹#›</a:t>
            </a:fld>
            <a:endParaRPr lang="cs-CZ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785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6F23B4-ECD6-4DAF-B89D-0D91F8CBEEDF}" type="datetimeFigureOut">
              <a:rPr lang="cs-CZ" smtClean="0"/>
              <a:t>27.4.2018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007452B-115C-4A03-B749-8F5898454E52}" type="slidenum">
              <a:rPr lang="cs-CZ" smtClean="0"/>
              <a:t>‹#›</a:t>
            </a:fld>
            <a:endParaRPr lang="cs-CZ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201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PowerPoint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graf</a:t>
            </a:r>
          </a:p>
        </p:txBody>
      </p:sp>
    </p:spTree>
    <p:extLst>
      <p:ext uri="{BB962C8B-B14F-4D97-AF65-F5344CB8AC3E}">
        <p14:creationId xmlns:p14="http://schemas.microsoft.com/office/powerpoint/2010/main" val="2459985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Výběr typu grafu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1"/>
            <a:r>
              <a:rPr lang="cs-CZ" sz="2800" dirty="0"/>
              <a:t>karta Vložení =&gt; skupina Ilustrace =&gt; Graf</a:t>
            </a:r>
          </a:p>
          <a:p>
            <a:pPr marL="457200" lvl="1" indent="0">
              <a:buNone/>
            </a:pPr>
            <a:endParaRPr lang="cs-CZ" dirty="0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6E01AB23-A360-44DC-8D1E-2A62F9664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7452B-115C-4A03-B749-8F5898454E52}" type="slidenum">
              <a:rPr lang="cs-CZ" smtClean="0"/>
              <a:t>2</a:t>
            </a:fld>
            <a:endParaRPr lang="cs-CZ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F05A27A8-55FD-40F0-869B-990EBC8552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534" t="-1" b="706"/>
          <a:stretch/>
        </p:blipFill>
        <p:spPr>
          <a:xfrm>
            <a:off x="6687671" y="495955"/>
            <a:ext cx="5278508" cy="554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383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Typy grafů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039069" cy="4736286"/>
          </a:xfrm>
        </p:spPr>
        <p:txBody>
          <a:bodyPr>
            <a:normAutofit/>
          </a:bodyPr>
          <a:lstStyle/>
          <a:p>
            <a:r>
              <a:rPr lang="cs-CZ" sz="2400" dirty="0"/>
              <a:t>sloupcový</a:t>
            </a:r>
          </a:p>
          <a:p>
            <a:r>
              <a:rPr lang="cs-CZ" sz="2400" dirty="0"/>
              <a:t>spojnicový</a:t>
            </a:r>
          </a:p>
          <a:p>
            <a:r>
              <a:rPr lang="cs-CZ" sz="2400" dirty="0"/>
              <a:t>výsečový</a:t>
            </a:r>
          </a:p>
          <a:p>
            <a:r>
              <a:rPr lang="cs-CZ" sz="2400" dirty="0"/>
              <a:t>pruhový</a:t>
            </a:r>
          </a:p>
          <a:p>
            <a:r>
              <a:rPr lang="cs-CZ" sz="2400" dirty="0"/>
              <a:t>plošný</a:t>
            </a:r>
          </a:p>
          <a:p>
            <a:r>
              <a:rPr lang="cs-CZ" sz="2400" dirty="0"/>
              <a:t>XY bodový</a:t>
            </a:r>
          </a:p>
          <a:p>
            <a:r>
              <a:rPr lang="cs-CZ" sz="2400" dirty="0"/>
              <a:t>burzovní</a:t>
            </a:r>
          </a:p>
        </p:txBody>
      </p:sp>
      <p:sp>
        <p:nvSpPr>
          <p:cNvPr id="8" name="Zástupný symbol pro obsah 7"/>
          <p:cNvSpPr>
            <a:spLocks noGrp="1"/>
          </p:cNvSpPr>
          <p:nvPr>
            <p:ph sz="half" idx="2"/>
          </p:nvPr>
        </p:nvSpPr>
        <p:spPr>
          <a:xfrm>
            <a:off x="6413771" y="2017342"/>
            <a:ext cx="4157247" cy="4840657"/>
          </a:xfrm>
        </p:spPr>
        <p:txBody>
          <a:bodyPr>
            <a:normAutofit/>
          </a:bodyPr>
          <a:lstStyle/>
          <a:p>
            <a:r>
              <a:rPr lang="cs-CZ" sz="2400" dirty="0"/>
              <a:t>povrchový</a:t>
            </a:r>
          </a:p>
          <a:p>
            <a:r>
              <a:rPr lang="cs-CZ" sz="2400" dirty="0"/>
              <a:t>paprskový</a:t>
            </a:r>
          </a:p>
          <a:p>
            <a:r>
              <a:rPr lang="cs-CZ" sz="2400" dirty="0"/>
              <a:t>stromová mapa</a:t>
            </a:r>
          </a:p>
          <a:p>
            <a:r>
              <a:rPr lang="cs-CZ" sz="2400" dirty="0"/>
              <a:t>vícevrstvý paprskový</a:t>
            </a:r>
          </a:p>
          <a:p>
            <a:r>
              <a:rPr lang="cs-CZ" sz="2400" dirty="0"/>
              <a:t>histogram</a:t>
            </a:r>
          </a:p>
          <a:p>
            <a:r>
              <a:rPr lang="cs-CZ" sz="2400" dirty="0"/>
              <a:t>krabicový graf</a:t>
            </a:r>
          </a:p>
          <a:p>
            <a:r>
              <a:rPr lang="cs-CZ" sz="2400" dirty="0"/>
              <a:t>vodopádový</a:t>
            </a:r>
          </a:p>
        </p:txBody>
      </p:sp>
    </p:spTree>
    <p:extLst>
      <p:ext uri="{BB962C8B-B14F-4D97-AF65-F5344CB8AC3E}">
        <p14:creationId xmlns:p14="http://schemas.microsoft.com/office/powerpoint/2010/main" val="710396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Sloupcový graf</a:t>
            </a:r>
          </a:p>
        </p:txBody>
      </p:sp>
      <p:sp>
        <p:nvSpPr>
          <p:cNvPr id="8" name="Zástupný symbol pro obsah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400" dirty="0"/>
              <a:t>hodnoty zobrazeny</a:t>
            </a:r>
            <a:r>
              <a:rPr lang="cs-CZ" sz="2400" baseline="0" dirty="0"/>
              <a:t> jako sloupce</a:t>
            </a:r>
          </a:p>
          <a:p>
            <a:r>
              <a:rPr lang="cs-CZ" sz="2400" baseline="0" dirty="0"/>
              <a:t>vodorovná osa = kategorie</a:t>
            </a:r>
          </a:p>
          <a:p>
            <a:r>
              <a:rPr lang="cs-CZ" sz="2400" dirty="0"/>
              <a:t>svislá osa = hodnoty</a:t>
            </a:r>
          </a:p>
          <a:p>
            <a:r>
              <a:rPr lang="cs-CZ" sz="2400" baseline="0" dirty="0"/>
              <a:t>např. změna dat za určité časové období, porovnání položek</a:t>
            </a:r>
          </a:p>
          <a:p>
            <a:endParaRPr lang="cs-CZ" sz="2400" baseline="0" dirty="0"/>
          </a:p>
        </p:txBody>
      </p:sp>
      <p:pic>
        <p:nvPicPr>
          <p:cNvPr id="9" name="Obrázek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36" y="4647248"/>
            <a:ext cx="3876675" cy="1962150"/>
          </a:xfrm>
          <a:prstGeom prst="rect">
            <a:avLst/>
          </a:prstGeom>
        </p:spPr>
      </p:pic>
      <p:pic>
        <p:nvPicPr>
          <p:cNvPr id="10" name="Obrázek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516" y="4647248"/>
            <a:ext cx="3236633" cy="19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947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Spojnicový graf</a:t>
            </a:r>
          </a:p>
        </p:txBody>
      </p:sp>
      <p:sp>
        <p:nvSpPr>
          <p:cNvPr id="8" name="Zástupný symbol pro obsah 7"/>
          <p:cNvSpPr>
            <a:spLocks noGrp="1"/>
          </p:cNvSpPr>
          <p:nvPr>
            <p:ph idx="1"/>
          </p:nvPr>
        </p:nvSpPr>
        <p:spPr>
          <a:xfrm>
            <a:off x="838199" y="1825625"/>
            <a:ext cx="10999573" cy="4351338"/>
          </a:xfrm>
        </p:spPr>
        <p:txBody>
          <a:bodyPr>
            <a:normAutofit/>
          </a:bodyPr>
          <a:lstStyle/>
          <a:p>
            <a:r>
              <a:rPr lang="cs-CZ" sz="2400" dirty="0"/>
              <a:t>pro zobrazení souvislých dat v čase a jejich srovnání se společnou stupnicí</a:t>
            </a:r>
          </a:p>
          <a:p>
            <a:r>
              <a:rPr lang="cs-CZ" sz="2400" baseline="0" dirty="0"/>
              <a:t>vodorovná osa = kategorie</a:t>
            </a:r>
          </a:p>
          <a:p>
            <a:r>
              <a:rPr lang="cs-CZ" sz="2400" dirty="0"/>
              <a:t>svislá osa = hodnoty</a:t>
            </a:r>
          </a:p>
          <a:p>
            <a:r>
              <a:rPr lang="cs-CZ" sz="2400" baseline="0" dirty="0"/>
              <a:t>např. trend</a:t>
            </a:r>
            <a:r>
              <a:rPr lang="cs-CZ" sz="2400" dirty="0"/>
              <a:t> v průběhu času, je-li důležité pořadí</a:t>
            </a:r>
            <a:endParaRPr lang="cs-CZ" sz="2400" baseline="0" dirty="0"/>
          </a:p>
          <a:p>
            <a:endParaRPr lang="cs-CZ" sz="2400" baseline="0" dirty="0"/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196" y="4541812"/>
            <a:ext cx="3116962" cy="2160000"/>
          </a:xfrm>
          <a:prstGeom prst="rect">
            <a:avLst/>
          </a:prstGeom>
        </p:spPr>
      </p:pic>
      <p:pic>
        <p:nvPicPr>
          <p:cNvPr id="3" name="Obrázek 2"/>
          <p:cNvPicPr>
            <a:picLocks noChangeAspect="1"/>
          </p:cNvPicPr>
          <p:nvPr/>
        </p:nvPicPr>
        <p:blipFill rotWithShape="1">
          <a:blip r:embed="rId3"/>
          <a:srcRect t="2405"/>
          <a:stretch/>
        </p:blipFill>
        <p:spPr>
          <a:xfrm>
            <a:off x="4972146" y="4541812"/>
            <a:ext cx="6381655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35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Výsečový graf</a:t>
            </a:r>
          </a:p>
        </p:txBody>
      </p:sp>
      <p:sp>
        <p:nvSpPr>
          <p:cNvPr id="8" name="Zástupný symbol pro obsah 7"/>
          <p:cNvSpPr>
            <a:spLocks noGrp="1"/>
          </p:cNvSpPr>
          <p:nvPr>
            <p:ph idx="1"/>
          </p:nvPr>
        </p:nvSpPr>
        <p:spPr>
          <a:xfrm>
            <a:off x="838199" y="1825625"/>
            <a:ext cx="10999573" cy="4351338"/>
          </a:xfrm>
        </p:spPr>
        <p:txBody>
          <a:bodyPr>
            <a:normAutofit/>
          </a:bodyPr>
          <a:lstStyle/>
          <a:p>
            <a:r>
              <a:rPr lang="cs-CZ" sz="2400" dirty="0"/>
              <a:t>pro jednu datovou řadu</a:t>
            </a:r>
          </a:p>
          <a:p>
            <a:r>
              <a:rPr lang="cs-CZ" sz="2400" dirty="0"/>
              <a:t>žádná z hodnot není záporná, téměř žádná hodnota není nulová </a:t>
            </a:r>
          </a:p>
          <a:p>
            <a:r>
              <a:rPr lang="cs-CZ" sz="2400" dirty="0"/>
              <a:t>ne více než sedm kategorií</a:t>
            </a:r>
            <a:endParaRPr lang="cs-CZ" sz="2400" baseline="0" dirty="0"/>
          </a:p>
          <a:p>
            <a:endParaRPr lang="cs-CZ" sz="2400" baseline="0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070" y="4136881"/>
            <a:ext cx="3338060" cy="2520000"/>
          </a:xfrm>
          <a:prstGeom prst="rect">
            <a:avLst/>
          </a:prstGeom>
        </p:spPr>
      </p:pic>
      <p:pic>
        <p:nvPicPr>
          <p:cNvPr id="5" name="Obrázek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136881"/>
            <a:ext cx="3399071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642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Pruhový graf</a:t>
            </a:r>
          </a:p>
        </p:txBody>
      </p:sp>
      <p:sp>
        <p:nvSpPr>
          <p:cNvPr id="8" name="Zástupný symbol pro obsah 7"/>
          <p:cNvSpPr>
            <a:spLocks noGrp="1"/>
          </p:cNvSpPr>
          <p:nvPr>
            <p:ph idx="1"/>
          </p:nvPr>
        </p:nvSpPr>
        <p:spPr>
          <a:xfrm>
            <a:off x="838199" y="1825625"/>
            <a:ext cx="10999573" cy="4351338"/>
          </a:xfrm>
        </p:spPr>
        <p:txBody>
          <a:bodyPr>
            <a:normAutofit/>
          </a:bodyPr>
          <a:lstStyle/>
          <a:p>
            <a:r>
              <a:rPr lang="cs-CZ" sz="2400" dirty="0"/>
              <a:t>porovnání jednotlivých položek </a:t>
            </a:r>
          </a:p>
          <a:p>
            <a:r>
              <a:rPr lang="cs-CZ" sz="2400" dirty="0"/>
              <a:t>hodnoty zobrazeny jako vodorovné pruhy</a:t>
            </a:r>
          </a:p>
          <a:p>
            <a:endParaRPr lang="cs-CZ" sz="2400" baseline="0" dirty="0"/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016" y="3380509"/>
            <a:ext cx="4200000" cy="2520000"/>
          </a:xfrm>
          <a:prstGeom prst="rect">
            <a:avLst/>
          </a:prstGeom>
        </p:spPr>
      </p:pic>
      <p:pic>
        <p:nvPicPr>
          <p:cNvPr id="3" name="Obráze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657" y="3380509"/>
            <a:ext cx="3340214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391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Plošný graf</a:t>
            </a:r>
          </a:p>
        </p:txBody>
      </p:sp>
      <p:sp>
        <p:nvSpPr>
          <p:cNvPr id="8" name="Zástupný symbol pro obsah 7"/>
          <p:cNvSpPr>
            <a:spLocks noGrp="1"/>
          </p:cNvSpPr>
          <p:nvPr>
            <p:ph idx="1"/>
          </p:nvPr>
        </p:nvSpPr>
        <p:spPr>
          <a:xfrm>
            <a:off x="838199" y="1825625"/>
            <a:ext cx="10999573" cy="4351338"/>
          </a:xfrm>
        </p:spPr>
        <p:txBody>
          <a:bodyPr>
            <a:normAutofit/>
          </a:bodyPr>
          <a:lstStyle/>
          <a:p>
            <a:r>
              <a:rPr lang="cs-CZ" sz="2400" dirty="0"/>
              <a:t>ke znázornění změn v průběhu času </a:t>
            </a:r>
          </a:p>
          <a:p>
            <a:r>
              <a:rPr lang="cs-CZ" sz="2400" dirty="0"/>
              <a:t>k upoutání pozornosti na celkovou hodnotu v trendu.</a:t>
            </a:r>
            <a:endParaRPr lang="cs-CZ" sz="2400" baseline="0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526" y="3985433"/>
            <a:ext cx="4761379" cy="2872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218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Stromová mapa</a:t>
            </a:r>
          </a:p>
        </p:txBody>
      </p:sp>
      <p:sp>
        <p:nvSpPr>
          <p:cNvPr id="8" name="Zástupný symbol pro obsah 7"/>
          <p:cNvSpPr>
            <a:spLocks noGrp="1"/>
          </p:cNvSpPr>
          <p:nvPr>
            <p:ph idx="1"/>
          </p:nvPr>
        </p:nvSpPr>
        <p:spPr>
          <a:xfrm>
            <a:off x="838199" y="1825625"/>
            <a:ext cx="10999573" cy="4351338"/>
          </a:xfrm>
        </p:spPr>
        <p:txBody>
          <a:bodyPr>
            <a:normAutofit/>
          </a:bodyPr>
          <a:lstStyle/>
          <a:p>
            <a:r>
              <a:rPr lang="cs-CZ" sz="2400" baseline="0" dirty="0"/>
              <a:t>rozdělení hodnot</a:t>
            </a:r>
            <a:r>
              <a:rPr lang="cs-CZ" sz="2400" dirty="0"/>
              <a:t> do skupin</a:t>
            </a:r>
            <a:endParaRPr lang="cs-CZ" sz="2400" baseline="0" dirty="0"/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588" y="3050042"/>
            <a:ext cx="4747255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627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Krabicový graf</a:t>
            </a:r>
          </a:p>
        </p:txBody>
      </p:sp>
      <p:sp>
        <p:nvSpPr>
          <p:cNvPr id="8" name="Zástupný symbol pro obsah 7"/>
          <p:cNvSpPr>
            <a:spLocks noGrp="1"/>
          </p:cNvSpPr>
          <p:nvPr>
            <p:ph idx="1"/>
          </p:nvPr>
        </p:nvSpPr>
        <p:spPr>
          <a:xfrm>
            <a:off x="838199" y="1825625"/>
            <a:ext cx="10999573" cy="4351338"/>
          </a:xfrm>
        </p:spPr>
        <p:txBody>
          <a:bodyPr>
            <a:normAutofit/>
          </a:bodyPr>
          <a:lstStyle/>
          <a:p>
            <a:r>
              <a:rPr lang="cs-CZ" sz="2400" baseline="0" dirty="0"/>
              <a:t>pro statistickou analýzu = </a:t>
            </a:r>
            <a:r>
              <a:rPr lang="cs-CZ" sz="2400" dirty="0"/>
              <a:t>rozdělení dat do kvartilů </a:t>
            </a:r>
          </a:p>
          <a:p>
            <a:r>
              <a:rPr lang="cs-CZ" sz="2400" dirty="0"/>
              <a:t>zvýrazňuje medián a odlehlé hodnoty</a:t>
            </a:r>
            <a:endParaRPr lang="cs-CZ" sz="2400" baseline="0" dirty="0"/>
          </a:p>
          <a:p>
            <a:r>
              <a:rPr lang="cs-CZ" sz="2400" dirty="0"/>
              <a:t>např. porovnání klinických testů, studentů</a:t>
            </a:r>
            <a:endParaRPr lang="cs-CZ" sz="2400" baseline="0" dirty="0"/>
          </a:p>
          <a:p>
            <a:endParaRPr lang="cs-CZ" sz="2400" baseline="0" dirty="0"/>
          </a:p>
        </p:txBody>
      </p:sp>
      <p:pic>
        <p:nvPicPr>
          <p:cNvPr id="1026" name="Picture 2" descr="http://homel.vsb.cz/~hom50/SLBSTATS/JSS/KRASEMN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2317" y="3766271"/>
            <a:ext cx="4695825" cy="2895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593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Vodopádový graf</a:t>
            </a:r>
          </a:p>
        </p:txBody>
      </p:sp>
      <p:sp>
        <p:nvSpPr>
          <p:cNvPr id="8" name="Zástupný symbol pro obsah 7"/>
          <p:cNvSpPr>
            <a:spLocks noGrp="1"/>
          </p:cNvSpPr>
          <p:nvPr>
            <p:ph idx="1"/>
          </p:nvPr>
        </p:nvSpPr>
        <p:spPr>
          <a:xfrm>
            <a:off x="838199" y="1825625"/>
            <a:ext cx="10999573" cy="4351338"/>
          </a:xfrm>
        </p:spPr>
        <p:txBody>
          <a:bodyPr>
            <a:normAutofit/>
          </a:bodyPr>
          <a:lstStyle/>
          <a:p>
            <a:r>
              <a:rPr lang="cs-CZ" sz="2400" dirty="0"/>
              <a:t>znázornění přírůstků a úbytků mezi více stavy</a:t>
            </a:r>
          </a:p>
          <a:p>
            <a:r>
              <a:rPr lang="cs-CZ" sz="2400" dirty="0"/>
              <a:t>pomáhá porozumět tomu, jak je počáteční hodnota ovlivněná řadou kladných a záporných hodnot</a:t>
            </a:r>
            <a:endParaRPr lang="cs-CZ" sz="2400" baseline="0" dirty="0"/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0800" y="3656963"/>
            <a:ext cx="49504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211732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e">
  <a:themeElements>
    <a:clrScheme name="Galerie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e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e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188</TotalTime>
  <Words>191</Words>
  <Application>Microsoft Office PowerPoint</Application>
  <PresentationFormat>Širokoúhlá obrazovka</PresentationFormat>
  <Paragraphs>50</Paragraphs>
  <Slides>11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5" baseType="lpstr">
      <vt:lpstr>Arial</vt:lpstr>
      <vt:lpstr>Calibri</vt:lpstr>
      <vt:lpstr>Gill Sans MT</vt:lpstr>
      <vt:lpstr>Galerie</vt:lpstr>
      <vt:lpstr>PowerPoint</vt:lpstr>
      <vt:lpstr>Výběr typu grafu</vt:lpstr>
      <vt:lpstr>Typy grafů</vt:lpstr>
      <vt:lpstr>Sloupcový graf</vt:lpstr>
      <vt:lpstr>Spojnicový graf</vt:lpstr>
      <vt:lpstr>Výsečový graf</vt:lpstr>
      <vt:lpstr>Pruhový graf</vt:lpstr>
      <vt:lpstr>Plošný graf</vt:lpstr>
      <vt:lpstr>Stromová mapa</vt:lpstr>
      <vt:lpstr>Krabicový graf</vt:lpstr>
      <vt:lpstr>Vodopádový graf</vt:lpstr>
    </vt:vector>
  </TitlesOfParts>
  <Company>DELTA - SŠIE, ZŠ a MŠ s.r.o.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</dc:title>
  <dc:creator>Buhrová Jitka</dc:creator>
  <cp:lastModifiedBy>Votavová Gabriela</cp:lastModifiedBy>
  <cp:revision>14</cp:revision>
  <dcterms:created xsi:type="dcterms:W3CDTF">2018-02-24T17:00:09Z</dcterms:created>
  <dcterms:modified xsi:type="dcterms:W3CDTF">2018-04-27T07:18:38Z</dcterms:modified>
</cp:coreProperties>
</file>