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4"/>
  </p:sldMasterIdLst>
  <p:notesMasterIdLst>
    <p:notesMasterId r:id="rId15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792913" cy="99250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FBD543-3147-4929-A795-0A5A13EDA3A9}" v="1" dt="2020-04-29T07:45:50.6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64" d="100"/>
          <a:sy n="64" d="100"/>
        </p:scale>
        <p:origin x="48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otavová Gabriela" userId="f151b92f-625a-445a-9d4b-1ed80f6e2b7e" providerId="ADAL" clId="{9DD18090-E215-4E16-9010-A6069A4D3D3C}"/>
    <pc:docChg chg="custSel modSld modNotesMaster">
      <pc:chgData name="Votavová Gabriela" userId="f151b92f-625a-445a-9d4b-1ed80f6e2b7e" providerId="ADAL" clId="{9DD18090-E215-4E16-9010-A6069A4D3D3C}" dt="2020-04-29T07:47:04.246" v="1" actId="313"/>
      <pc:docMkLst>
        <pc:docMk/>
      </pc:docMkLst>
      <pc:sldChg chg="modSp">
        <pc:chgData name="Votavová Gabriela" userId="f151b92f-625a-445a-9d4b-1ed80f6e2b7e" providerId="ADAL" clId="{9DD18090-E215-4E16-9010-A6069A4D3D3C}" dt="2020-04-29T07:47:04.246" v="1" actId="313"/>
        <pc:sldMkLst>
          <pc:docMk/>
          <pc:sldMk cId="2441446783" sldId="260"/>
        </pc:sldMkLst>
        <pc:spChg chg="mod">
          <ac:chgData name="Votavová Gabriela" userId="f151b92f-625a-445a-9d4b-1ed80f6e2b7e" providerId="ADAL" clId="{9DD18090-E215-4E16-9010-A6069A4D3D3C}" dt="2020-04-29T07:47:04.246" v="1" actId="313"/>
          <ac:spMkLst>
            <pc:docMk/>
            <pc:sldMk cId="2441446783" sldId="260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3596" cy="497976"/>
          </a:xfrm>
          <a:prstGeom prst="rect">
            <a:avLst/>
          </a:prstGeom>
        </p:spPr>
        <p:txBody>
          <a:bodyPr vert="horz" lIns="92071" tIns="46035" rIns="92071" bIns="4603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7745" y="1"/>
            <a:ext cx="2943596" cy="497976"/>
          </a:xfrm>
          <a:prstGeom prst="rect">
            <a:avLst/>
          </a:prstGeom>
        </p:spPr>
        <p:txBody>
          <a:bodyPr vert="horz" lIns="92071" tIns="46035" rIns="92071" bIns="46035" rtlCol="0"/>
          <a:lstStyle>
            <a:lvl1pPr algn="r">
              <a:defRPr sz="1200"/>
            </a:lvl1pPr>
          </a:lstStyle>
          <a:p>
            <a:fld id="{FDAB8003-3E34-4227-9CCC-940D4E9C11C9}" type="datetimeFigureOut">
              <a:rPr lang="en-US" smtClean="0"/>
              <a:t>4/29/2020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1537" cy="33480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071" tIns="46035" rIns="92071" bIns="4603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292" y="4776431"/>
            <a:ext cx="5434330" cy="3907989"/>
          </a:xfrm>
          <a:prstGeom prst="rect">
            <a:avLst/>
          </a:prstGeom>
        </p:spPr>
        <p:txBody>
          <a:bodyPr vert="horz" lIns="92071" tIns="46035" rIns="92071" bIns="46035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7076"/>
            <a:ext cx="2943596" cy="497975"/>
          </a:xfrm>
          <a:prstGeom prst="rect">
            <a:avLst/>
          </a:prstGeom>
        </p:spPr>
        <p:txBody>
          <a:bodyPr vert="horz" lIns="92071" tIns="46035" rIns="92071" bIns="4603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7745" y="9427076"/>
            <a:ext cx="2943596" cy="497975"/>
          </a:xfrm>
          <a:prstGeom prst="rect">
            <a:avLst/>
          </a:prstGeom>
        </p:spPr>
        <p:txBody>
          <a:bodyPr vert="horz" lIns="92071" tIns="46035" rIns="92071" bIns="46035" rtlCol="0" anchor="b"/>
          <a:lstStyle>
            <a:lvl1pPr algn="r">
              <a:defRPr sz="1200"/>
            </a:lvl1pPr>
          </a:lstStyle>
          <a:p>
            <a:fld id="{8FDB932F-69BE-496B-9824-15FBB1191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286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0F22F161-950A-43E2-99CF-6D52A68948B2}" type="datetime1">
              <a:rPr lang="en-US" smtClean="0"/>
              <a:t>4/29/2020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9B5F0-CD5B-44E6-BD5E-E2848D0CCBF7}" type="datetime1">
              <a:rPr lang="en-US" smtClean="0"/>
              <a:t>4/29/2020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67E64-DB85-485A-925F-0DCC4A7D23EF}" type="datetime1">
              <a:rPr lang="en-US" smtClean="0"/>
              <a:t>4/29/2020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92CC8-18F8-4E05-A09A-021128067A0C}" type="datetime1">
              <a:rPr lang="en-US" smtClean="0"/>
              <a:t>4/29/2020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5887E-0340-4B26-9F4D-D85A130EB822}" type="datetime1">
              <a:rPr lang="en-US" smtClean="0"/>
              <a:t>4/29/2020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45D9F-A1D3-49E0-9807-8B8D48F23A33}" type="datetime1">
              <a:rPr lang="en-US" smtClean="0"/>
              <a:t>4/29/2020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2C846-7B1F-40EA-82AC-2F8BE0FD61F1}" type="datetime1">
              <a:rPr lang="en-US" smtClean="0"/>
              <a:t>4/29/2020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AB10E-8A28-45E6-ACD0-E9BEFB6CA548}" type="datetime1">
              <a:rPr lang="en-US" smtClean="0"/>
              <a:t>4/29/2020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FD586-4621-4125-84FA-68BFB3FAA259}" type="datetime1">
              <a:rPr lang="en-US" smtClean="0"/>
              <a:t>4/29/2020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tický obrázek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624A5-B2DC-40A4-95DB-24A91B011394}" type="datetime1">
              <a:rPr lang="en-US" smtClean="0"/>
              <a:t>4/29/2020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ázev a popis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6C800-DD50-44C2-AE59-2BF8E457C654}" type="datetime1">
              <a:rPr lang="en-US" smtClean="0"/>
              <a:t>4/29/2020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ce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1456D-5C24-4847-B96D-3F20B161ECC1}" type="datetime1">
              <a:rPr lang="en-US" smtClean="0"/>
              <a:t>4/29/2020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187BB-3F40-43E9-8231-C14995612D00}" type="datetime1">
              <a:rPr lang="en-US" smtClean="0"/>
              <a:t>4/29/2020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 s citac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D9996-697E-4BDA-8555-157727FF65D5}" type="datetime1">
              <a:rPr lang="en-US" smtClean="0"/>
              <a:t>4/29/2020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avda nebo neprav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675BE-8DD1-45EE-A853-FADD99219D0C}" type="datetime1">
              <a:rPr lang="en-US" smtClean="0"/>
              <a:t>4/29/2020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0BF88-525C-41B1-BA75-319D354E7474}" type="datetime1">
              <a:rPr lang="en-US" smtClean="0"/>
              <a:t>4/29/2020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7FDFF-FF7A-476A-ADAF-A4814E66BBA0}" type="datetime1">
              <a:rPr lang="en-US" smtClean="0"/>
              <a:t>4/29/2020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B3748F1-749E-488B-AB14-D059174E6601}" type="datetime1">
              <a:rPr lang="en-US" smtClean="0"/>
              <a:t>4/29/2020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bezpecnyinternet.cz/zacatecnik/e-mail/spam.aspx" TargetMode="External"/><Relationship Id="rId2" Type="http://schemas.openxmlformats.org/officeDocument/2006/relationships/hyperlink" Target="http://www.hoax.cz/cze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internetembezpecne.cz/internetem-bezpecne/malware/co-to-je-malware/" TargetMode="External"/><Relationship Id="rId4" Type="http://schemas.openxmlformats.org/officeDocument/2006/relationships/hyperlink" Target="https://www.e-bezpeci.cz/index.php/temata/kyberikana/17-cojekybersikan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2692398" y="2057400"/>
            <a:ext cx="6815669" cy="1329264"/>
          </a:xfrm>
        </p:spPr>
        <p:txBody>
          <a:bodyPr/>
          <a:lstStyle/>
          <a:p>
            <a:r>
              <a:rPr lang="cs-CZ" b="1" dirty="0">
                <a:solidFill>
                  <a:schemeClr val="accent4">
                    <a:lumMod val="75000"/>
                  </a:schemeClr>
                </a:solidFill>
              </a:rPr>
              <a:t>NEBEZPEČÍ NA INTERNETU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574463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solidFill>
                  <a:srgbClr val="FF0000"/>
                </a:solidFill>
              </a:rPr>
              <a:t>Co je Virus?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Jako VIRUS se v oblasti počítačové bezpečnosti označuje program, který se dokáže sám šířit bez vědomí uživatele.</a:t>
            </a:r>
          </a:p>
          <a:p>
            <a:r>
              <a:rPr lang="cs-CZ" dirty="0"/>
              <a:t>Viry jsou jen jedním z druhů tzv. malwaru, zákeřného softwaru.</a:t>
            </a:r>
          </a:p>
          <a:p>
            <a:endParaRPr lang="cs-CZ" dirty="0"/>
          </a:p>
        </p:txBody>
      </p:sp>
      <p:pic>
        <p:nvPicPr>
          <p:cNvPr id="5" name="Obráze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1599" y="4021766"/>
            <a:ext cx="2641601" cy="185410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94E25-9E6F-407D-A008-4CAB9E333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1532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solidFill>
                  <a:srgbClr val="FF0000"/>
                </a:solidFill>
              </a:rPr>
              <a:t>Co je Spam?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SPAM je nevyžádané sdělení masově šířené internetem. </a:t>
            </a:r>
          </a:p>
          <a:p>
            <a:r>
              <a:rPr lang="cs-CZ" dirty="0"/>
              <a:t>Původně se používalo především pro nevyžádané reklamní e-maily, postupem času tento fenomén postihl i ostatní druhy internetové komunikace – např. diskuzní fóra, komentáře nebo instant messaging.</a:t>
            </a:r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8601" y="4422530"/>
            <a:ext cx="1689100" cy="155916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058018-49DB-4C49-AE24-7704CD10E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4275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8612" y="4346576"/>
            <a:ext cx="2543175" cy="1800225"/>
          </a:xfrm>
          <a:prstGeom prst="rect">
            <a:avLst/>
          </a:prstGeom>
        </p:spPr>
      </p:pic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solidFill>
                  <a:srgbClr val="FF0000"/>
                </a:solidFill>
              </a:rPr>
              <a:t>Co je </a:t>
            </a:r>
            <a:r>
              <a:rPr lang="cs-CZ" dirty="0" err="1">
                <a:solidFill>
                  <a:srgbClr val="FF0000"/>
                </a:solidFill>
              </a:rPr>
              <a:t>Hoax</a:t>
            </a:r>
            <a:r>
              <a:rPr lang="cs-CZ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Jako HOAX můžeme také označit šířenou zprávu, která obsahuje nepřesné, zkreslující informace, účelově upravené polopravdy nebo směsku polopravd a lží.</a:t>
            </a:r>
          </a:p>
          <a:p>
            <a:r>
              <a:rPr lang="cs-CZ" dirty="0"/>
              <a:t>V praxi můžeme použít následující pravidlo: „Jestliže zpráva obsahuje výzvu k hromadnému rozeslání na další adresy, je to podezřelé a s největší pravděpodobností Hoax.“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97FE53-E0A5-4E2C-802F-D1A33F7DA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8394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solidFill>
                  <a:srgbClr val="FF0000"/>
                </a:solidFill>
              </a:rPr>
              <a:t>Co je </a:t>
            </a:r>
            <a:r>
              <a:rPr lang="cs-CZ" dirty="0" err="1">
                <a:solidFill>
                  <a:srgbClr val="FF0000"/>
                </a:solidFill>
              </a:rPr>
              <a:t>Phishing</a:t>
            </a:r>
            <a:r>
              <a:rPr lang="cs-CZ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Slovem PHISHING označujeme podvodné e-mailové útoky na uživatele Internetu, jejichž cílem je vylákat důvěrné informace.</a:t>
            </a:r>
          </a:p>
          <a:p>
            <a:r>
              <a:rPr lang="cs-CZ" dirty="0"/>
              <a:t>Nejčastěji jsou to údaje k platebním kartám včetně </a:t>
            </a:r>
            <a:r>
              <a:rPr lang="cs-CZ" dirty="0" err="1"/>
              <a:t>PINu</a:t>
            </a:r>
            <a:r>
              <a:rPr lang="cs-CZ" dirty="0"/>
              <a:t> nebo různé přihlašovací údaje k účtům. Nemusí jít jenom o účty přímo bankovní, ale také ostatních organizací, kde dochází k manipulaci s penězi nebo je možné jakýmkoliv způsobem zneužit jejich služeb.</a:t>
            </a:r>
          </a:p>
          <a:p>
            <a:r>
              <a:rPr lang="cs-CZ" dirty="0"/>
              <a:t>Příkladem může být </a:t>
            </a:r>
            <a:r>
              <a:rPr lang="cs-CZ" dirty="0" err="1"/>
              <a:t>PayPal</a:t>
            </a:r>
            <a:r>
              <a:rPr lang="cs-CZ" dirty="0"/>
              <a:t>, </a:t>
            </a:r>
            <a:r>
              <a:rPr lang="cs-CZ" dirty="0" err="1"/>
              <a:t>eBay</a:t>
            </a:r>
            <a:r>
              <a:rPr lang="cs-CZ" dirty="0"/>
              <a:t>, Skype, Google.</a:t>
            </a:r>
            <a:br>
              <a:rPr lang="cs-CZ" dirty="0"/>
            </a:br>
            <a:endParaRPr lang="cs-CZ" dirty="0"/>
          </a:p>
        </p:txBody>
      </p:sp>
      <p:pic>
        <p:nvPicPr>
          <p:cNvPr id="5" name="Obráze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0400" y="958849"/>
            <a:ext cx="2123440" cy="132715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3D033A-E6EF-41DC-85C0-7ECAFEEA3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1446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3472" y="4203700"/>
            <a:ext cx="2143125" cy="1943101"/>
          </a:xfrm>
          <a:prstGeom prst="rect">
            <a:avLst/>
          </a:prstGeom>
        </p:spPr>
      </p:pic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solidFill>
                  <a:srgbClr val="FF0000"/>
                </a:solidFill>
              </a:rPr>
              <a:t>Co je </a:t>
            </a:r>
            <a:r>
              <a:rPr lang="cs-CZ" dirty="0" err="1">
                <a:solidFill>
                  <a:srgbClr val="FF0000"/>
                </a:solidFill>
              </a:rPr>
              <a:t>Malware</a:t>
            </a:r>
            <a:r>
              <a:rPr lang="cs-CZ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MALWARE je zkratka pro škodlivý software, který má za úkol zajistit útočníkovi tajný přístup k vašemu zařízení. </a:t>
            </a:r>
          </a:p>
          <a:p>
            <a:r>
              <a:rPr lang="cs-CZ" dirty="0"/>
              <a:t>Mezi nejrozšířenější typy </a:t>
            </a:r>
            <a:r>
              <a:rPr lang="cs-CZ" dirty="0" err="1"/>
              <a:t>malware</a:t>
            </a:r>
            <a:r>
              <a:rPr lang="cs-CZ" dirty="0"/>
              <a:t> patří </a:t>
            </a:r>
            <a:r>
              <a:rPr lang="cs-CZ" dirty="0" err="1"/>
              <a:t>spyware</a:t>
            </a:r>
            <a:r>
              <a:rPr lang="cs-CZ" dirty="0"/>
              <a:t>, </a:t>
            </a:r>
            <a:r>
              <a:rPr lang="cs-CZ" dirty="0" err="1"/>
              <a:t>adware</a:t>
            </a:r>
            <a:r>
              <a:rPr lang="cs-CZ" dirty="0"/>
              <a:t>, </a:t>
            </a:r>
            <a:r>
              <a:rPr lang="cs-CZ" dirty="0" err="1"/>
              <a:t>phishing</a:t>
            </a:r>
            <a:r>
              <a:rPr lang="cs-CZ" dirty="0"/>
              <a:t>, viry, trojské koně, červi, </a:t>
            </a:r>
            <a:r>
              <a:rPr lang="cs-CZ" dirty="0" err="1"/>
              <a:t>rootkity</a:t>
            </a:r>
            <a:r>
              <a:rPr lang="cs-CZ" dirty="0"/>
              <a:t>, </a:t>
            </a:r>
            <a:r>
              <a:rPr lang="cs-CZ" dirty="0" err="1"/>
              <a:t>ransomware</a:t>
            </a:r>
            <a:r>
              <a:rPr lang="cs-CZ" dirty="0"/>
              <a:t> a změny nastavení prohlížeče.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2525C7-93E5-46A0-965A-717CE891E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849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solidFill>
                  <a:srgbClr val="FF0000"/>
                </a:solidFill>
              </a:rPr>
              <a:t>Co je </a:t>
            </a:r>
            <a:r>
              <a:rPr lang="cs-CZ" dirty="0" err="1">
                <a:solidFill>
                  <a:srgbClr val="FF0000"/>
                </a:solidFill>
              </a:rPr>
              <a:t>Spyware</a:t>
            </a:r>
            <a:r>
              <a:rPr lang="cs-CZ" dirty="0">
                <a:solidFill>
                  <a:srgbClr val="FF0000"/>
                </a:solidFill>
              </a:rPr>
              <a:t> ?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/>
              <a:t>Spy</a:t>
            </a:r>
            <a:r>
              <a:rPr lang="cs-CZ" dirty="0"/>
              <a:t> totiž znamená špión. Tento software tedy slouží ke špehování uživatele a jeho počinů na počítači.</a:t>
            </a:r>
          </a:p>
          <a:p>
            <a:r>
              <a:rPr lang="cs-CZ" dirty="0"/>
              <a:t>Většinou o tom uživatel ani neví, ale program si na počítač nainstaluje sám.</a:t>
            </a:r>
          </a:p>
          <a:p>
            <a:r>
              <a:rPr lang="cs-CZ" dirty="0"/>
              <a:t>Člověk, který nemá příliš zkušeností s danou problematikou, bez problémů odsouhlasí instalování a SPYWARE má ihned ve svém počítači.</a:t>
            </a:r>
          </a:p>
          <a:p>
            <a:endParaRPr lang="cs-CZ" dirty="0"/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500" y="644921"/>
            <a:ext cx="1609174" cy="164107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258565-706E-457A-820A-51C899BDA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65829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416142">
            <a:off x="703837" y="984887"/>
            <a:ext cx="3066020" cy="1298353"/>
          </a:xfrm>
          <a:prstGeom prst="rect">
            <a:avLst/>
          </a:prstGeom>
        </p:spPr>
      </p:pic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solidFill>
                  <a:srgbClr val="FF0000"/>
                </a:solidFill>
              </a:rPr>
              <a:t>Co je Kyberšikana ?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KYBERŠIKANA je palčivý problém, který se rychle rozšiřuje i do českých škol a dětských kolektivů. Obecně se jako kyberšikana označuje užití komunikační a informační technologie, zejména mobilních telefonů a Internetu, k úmyslnému ublížení druhým. </a:t>
            </a:r>
          </a:p>
          <a:p>
            <a:r>
              <a:rPr lang="cs-CZ" dirty="0"/>
              <a:t>Kybernetická šikana má stejný cíl jako klasická fyzická šikana: ublížení a ponížení oběti. </a:t>
            </a:r>
          </a:p>
          <a:p>
            <a:endParaRPr lang="cs-CZ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4397D2-E36B-421F-A326-5596B608E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44995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solidFill>
                  <a:srgbClr val="FF0000"/>
                </a:solidFill>
              </a:rPr>
              <a:t>Způsoby ochrany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Nikde se nepřihlašujte na svoje osobní účty (např. kavárna, u svých kamarádů nebo mobilu), pouze na svém počítači.</a:t>
            </a:r>
          </a:p>
          <a:p>
            <a:r>
              <a:rPr lang="cs-CZ" dirty="0"/>
              <a:t>Nikdy neposílejte někomu svoje fotky…</a:t>
            </a:r>
          </a:p>
          <a:p>
            <a:r>
              <a:rPr lang="cs-CZ" dirty="0"/>
              <a:t>Nepište nikde na sociálních stránkách, že jedete na dovolenou nebo někam jinam. Pro někoho je to signál, že byt je volný a může vás vykrást, </a:t>
            </a:r>
            <a:r>
              <a:rPr lang="cs-CZ" dirty="0" err="1"/>
              <a:t>apod</a:t>
            </a:r>
            <a:r>
              <a:rPr lang="cs-CZ" dirty="0"/>
              <a:t>…</a:t>
            </a:r>
          </a:p>
          <a:p>
            <a:endParaRPr lang="cs-CZ" dirty="0"/>
          </a:p>
          <a:p>
            <a:endParaRPr lang="cs-C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84BE93-F557-42B0-9A67-1985F9784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59895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B8290-9AEF-45BF-8776-FCC2EA4AD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19378"/>
            <a:ext cx="9601196" cy="1303867"/>
          </a:xfrm>
        </p:spPr>
        <p:txBody>
          <a:bodyPr/>
          <a:lstStyle/>
          <a:p>
            <a:r>
              <a:rPr lang="cs-CZ" dirty="0"/>
              <a:t>Zdroje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28E40-850D-4163-BE39-B2B7929C88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http://www.hoax.cz/cze/</a:t>
            </a:r>
            <a:endParaRPr lang="cs-CZ" dirty="0"/>
          </a:p>
          <a:p>
            <a:r>
              <a:rPr lang="en-US" dirty="0">
                <a:hlinkClick r:id="rId3"/>
              </a:rPr>
              <a:t>http://www.bezpecnyinternet.cz/zacatecnik/e-mail/spam.aspx</a:t>
            </a:r>
            <a:endParaRPr lang="cs-CZ" dirty="0"/>
          </a:p>
          <a:p>
            <a:r>
              <a:rPr lang="en-US" dirty="0">
                <a:hlinkClick r:id="rId4"/>
              </a:rPr>
              <a:t>https://www.e-bezpeci.cz/index.php/temata/kyberikana/17-cojekybersikana</a:t>
            </a:r>
            <a:endParaRPr lang="cs-CZ" dirty="0"/>
          </a:p>
          <a:p>
            <a:r>
              <a:rPr lang="en-US" dirty="0">
                <a:hlinkClick r:id="rId5"/>
              </a:rPr>
              <a:t>http://www.internetembezpecne.cz/internetem-bezpecne/malware/</a:t>
            </a:r>
            <a:r>
              <a:rPr lang="en-US">
                <a:hlinkClick r:id="rId5"/>
              </a:rPr>
              <a:t>co-to-je-malware/</a:t>
            </a:r>
            <a:endParaRPr lang="cs-CZ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733426-DA80-456F-8025-75597449E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788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ka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9746E8B3FF2B2428A148D03C368DE4A" ma:contentTypeVersion="13" ma:contentTypeDescription="Vytvoří nový dokument" ma:contentTypeScope="" ma:versionID="9d94cbd9914ef4824ad723384dcde04a">
  <xsd:schema xmlns:xsd="http://www.w3.org/2001/XMLSchema" xmlns:xs="http://www.w3.org/2001/XMLSchema" xmlns:p="http://schemas.microsoft.com/office/2006/metadata/properties" xmlns:ns3="ea85f2e0-d32a-4312-be8a-c00aff2510cf" xmlns:ns4="c52afa11-cb76-49c2-a807-b2856752eead" targetNamespace="http://schemas.microsoft.com/office/2006/metadata/properties" ma:root="true" ma:fieldsID="f78cee60d32ecf43d3cd1d8f83bcfaea" ns3:_="" ns4:_="">
    <xsd:import namespace="ea85f2e0-d32a-4312-be8a-c00aff2510cf"/>
    <xsd:import namespace="c52afa11-cb76-49c2-a807-b2856752eea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ServiceEventHashCode" minOccurs="0"/>
                <xsd:element ref="ns3:MediaServiceGenerationTim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85f2e0-d32a-4312-be8a-c00aff2510c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2afa11-cb76-49c2-a807-b2856752eead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460D4C9-E8E8-49E4-B631-DA43951D291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a85f2e0-d32a-4312-be8a-c00aff2510cf"/>
    <ds:schemaRef ds:uri="c52afa11-cb76-49c2-a807-b2856752eea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40AD24E-7897-4DD1-B15F-0ACE57A6A2C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D5655EF-C170-42ED-AD92-C7D075E66C51}">
  <ds:schemaRefs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http://purl.org/dc/terms/"/>
    <ds:schemaRef ds:uri="http://schemas.microsoft.com/office/2006/documentManagement/types"/>
    <ds:schemaRef ds:uri="c52afa11-cb76-49c2-a807-b2856752eead"/>
    <ds:schemaRef ds:uri="ea85f2e0-d32a-4312-be8a-c00aff2510cf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82</TotalTime>
  <Words>466</Words>
  <Application>Microsoft Office PowerPoint</Application>
  <PresentationFormat>Širokoúhlá obrazovka</PresentationFormat>
  <Paragraphs>42</Paragraphs>
  <Slides>10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10</vt:i4>
      </vt:variant>
    </vt:vector>
  </HeadingPairs>
  <TitlesOfParts>
    <vt:vector size="14" baseType="lpstr">
      <vt:lpstr>Arial</vt:lpstr>
      <vt:lpstr>Calibri</vt:lpstr>
      <vt:lpstr>Garamond</vt:lpstr>
      <vt:lpstr>Organika</vt:lpstr>
      <vt:lpstr>NEBEZPEČÍ NA INTERNETU</vt:lpstr>
      <vt:lpstr>Co je Virus?</vt:lpstr>
      <vt:lpstr>Co je Spam?</vt:lpstr>
      <vt:lpstr>Co je Hoax?</vt:lpstr>
      <vt:lpstr>Co je Phishing?</vt:lpstr>
      <vt:lpstr>Co je Malware?</vt:lpstr>
      <vt:lpstr>Co je Spyware ?</vt:lpstr>
      <vt:lpstr>Co je Kyberšikana ?</vt:lpstr>
      <vt:lpstr>Způsoby ochrany</vt:lpstr>
      <vt:lpstr>Zdroje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NEBEZPEČÍ NA INTERNETU</dc:title>
  <dc:creator>Marie Kubíková</dc:creator>
  <cp:lastModifiedBy>Votavová Gabriela</cp:lastModifiedBy>
  <cp:revision>15</cp:revision>
  <cp:lastPrinted>2020-04-29T07:45:56Z</cp:lastPrinted>
  <dcterms:created xsi:type="dcterms:W3CDTF">2017-03-29T08:10:15Z</dcterms:created>
  <dcterms:modified xsi:type="dcterms:W3CDTF">2020-04-29T07:47:53Z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0x01010019746E8B3FF2B2428A148D03C368DE4A</vt:lpwstr>
  </property>
</Properties>
</file>