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6" r:id="rId10"/>
    <p:sldId id="267" r:id="rId11"/>
    <p:sldId id="268" r:id="rId12"/>
  </p:sldIdLst>
  <p:sldSz cx="9144000" cy="6858000" type="screen4x3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křivánková Jitka" initials="SJ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65" autoAdjust="0"/>
    <p:restoredTop sz="94291" autoAdjust="0"/>
  </p:normalViewPr>
  <p:slideViewPr>
    <p:cSldViewPr>
      <p:cViewPr varScale="1">
        <p:scale>
          <a:sx n="59" d="100"/>
          <a:sy n="59" d="100"/>
        </p:scale>
        <p:origin x="1264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2520" y="-72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07630-FCF3-4690-B8DC-AFED397BE9AE}" type="datetimeFigureOut">
              <a:rPr lang="cs-CZ" smtClean="0"/>
              <a:pPr/>
              <a:t>28.11.2023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F0C10-84C3-41E4-AF76-DB93037DAD3C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48621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AD2C9C-91F5-4F25-BDD6-0FEE903BAD9E}" type="datetimeFigureOut">
              <a:rPr lang="cs-CZ" smtClean="0"/>
              <a:pPr/>
              <a:t>28.11.2023</a:t>
            </a:fld>
            <a:endParaRPr lang="cs-CZ" dirty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C7146-6E8B-40F6-8838-D8847D0A4AA1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61811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4</a:t>
            </a:fld>
            <a:endParaRPr lang="cs-CZ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EE7835E2-7B4B-4B8E-A765-3263A2627936}" type="datetime1">
              <a:rPr lang="cs-CZ" smtClean="0"/>
              <a:t>28.11.2023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943447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643ED7E0-539B-42AB-B208-253ECA85E13B}" type="datetime1">
              <a:rPr lang="cs-CZ" smtClean="0"/>
              <a:t>28.11.2023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84347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8302F-7671-471C-A6F3-69331CD0F102}" type="datetime1">
              <a:rPr lang="cs-CZ" smtClean="0"/>
              <a:t>28.11.2023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52058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563B5-11EB-49B9-AEAA-A4E5D6A731D1}" type="datetime1">
              <a:rPr lang="cs-CZ" smtClean="0"/>
              <a:t>28.11.2023</a:t>
            </a:fld>
            <a:endParaRPr lang="cs-C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0442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2D1A-CE6F-4E4B-96B0-B55691F8538B}" type="datetime1">
              <a:rPr lang="cs-CZ" smtClean="0"/>
              <a:t>28.11.2023</a:t>
            </a:fld>
            <a:endParaRPr lang="cs-CZ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11356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8E246-539E-4237-B606-BA1D5BE44176}" type="datetime1">
              <a:rPr lang="cs-CZ" smtClean="0"/>
              <a:t>28.11.2023</a:t>
            </a:fld>
            <a:endParaRPr lang="cs-CZ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1626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B7259-3471-478A-873D-F3316FD6AF7A}" type="datetime1">
              <a:rPr lang="cs-CZ" smtClean="0"/>
              <a:t>28.11.2023</a:t>
            </a:fld>
            <a:endParaRPr lang="cs-CZ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83122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69AC-43B1-4B8D-A921-38ADDC68FC7E}" type="datetime1">
              <a:rPr lang="cs-CZ" smtClean="0"/>
              <a:t>28.11.2023</a:t>
            </a:fld>
            <a:endParaRPr lang="cs-C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8791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 dirty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3648-123C-454F-B9E5-D9F99510D14F}" type="datetime1">
              <a:rPr lang="cs-CZ" smtClean="0"/>
              <a:t>28.11.2023</a:t>
            </a:fld>
            <a:endParaRPr lang="cs-C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67685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 dirty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48B30-2CFC-4458-8ED1-2F99E5A5CDCA}" type="datetime1">
              <a:rPr lang="cs-CZ" smtClean="0"/>
              <a:t>28.11.2023</a:t>
            </a:fld>
            <a:endParaRPr lang="cs-C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4010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C13D-6F57-423B-916B-4FA2E08D5D07}" type="datetime1">
              <a:rPr lang="cs-CZ" smtClean="0"/>
              <a:t>28.11.2023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96585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EDA0C-06B9-4B14-A371-C93309092347}" type="datetime1">
              <a:rPr lang="cs-CZ" smtClean="0"/>
              <a:t>28.11.2023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27541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263F-A3AC-408F-8262-56BCF06396EB}" type="datetime1">
              <a:rPr lang="cs-CZ" smtClean="0"/>
              <a:t>28.11.2023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368232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cs-CZ"/>
              <a:t>Upravte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AA07-D28B-421E-97AB-54189C1CF822}" type="datetime1">
              <a:rPr lang="cs-CZ" smtClean="0"/>
              <a:t>28.11.2023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55375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cs-CZ"/>
              <a:t>Upravte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B0C9-268E-4765-ADCE-C191BF2C4BC3}" type="datetime1">
              <a:rPr lang="cs-CZ" smtClean="0"/>
              <a:t>28.11.2023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45832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52126-4062-4CFE-A544-02513C340329}" type="datetime1">
              <a:rPr lang="cs-CZ" smtClean="0"/>
              <a:t>28.11.2023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054095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0CF0-95FB-4CAE-A8E4-2FD9ABFA976C}" type="datetime1">
              <a:rPr lang="cs-CZ" smtClean="0"/>
              <a:t>28.11.2023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11787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9D7B804-45B6-454B-B8AA-68C2FB60CBE5}" type="datetime1">
              <a:rPr lang="cs-CZ" smtClean="0"/>
              <a:t>28.11.2023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02490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Tabulky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Tabulka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26378" y="1988840"/>
            <a:ext cx="7704667" cy="407436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800" dirty="0"/>
              <a:t>Je svislým a vodorovným dělením rozčleněna </a:t>
            </a:r>
            <a:br>
              <a:rPr lang="cs-CZ" sz="2800" dirty="0"/>
            </a:br>
            <a:r>
              <a:rPr lang="cs-CZ" sz="2800" dirty="0"/>
              <a:t>na buňky.</a:t>
            </a:r>
          </a:p>
          <a:p>
            <a:pPr>
              <a:lnSpc>
                <a:spcPct val="200000"/>
              </a:lnSpc>
            </a:pPr>
            <a:r>
              <a:rPr lang="cs-CZ" sz="2800" dirty="0"/>
              <a:t>Slouží  k zpřehlednění daných informací.</a:t>
            </a:r>
          </a:p>
          <a:p>
            <a:pPr>
              <a:lnSpc>
                <a:spcPct val="200000"/>
              </a:lnSpc>
            </a:pPr>
            <a:r>
              <a:rPr lang="cs-CZ" sz="2800" dirty="0"/>
              <a:t> Jedním ze způsobů prezentace dat.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F898113-4F2D-45FF-B75F-81A3BC3ED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</a:t>
            </a:fld>
            <a:endParaRPr lang="cs-CZ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Vložení tabulky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82332" y="1268760"/>
            <a:ext cx="7408333" cy="5410199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cs-CZ" sz="2800" dirty="0"/>
              <a:t>Karta Vložení =&gt; další postup je stejný jako ve Wordu.</a:t>
            </a:r>
          </a:p>
          <a:p>
            <a:pPr lvl="1">
              <a:lnSpc>
                <a:spcPct val="150000"/>
              </a:lnSpc>
            </a:pPr>
            <a:r>
              <a:rPr lang="cs-CZ" sz="2800" dirty="0"/>
              <a:t>V rozložení snímku automatické textové pole samo nabízí tlačítko pro vložní tabulky.</a:t>
            </a:r>
          </a:p>
          <a:p>
            <a:pPr lvl="1">
              <a:lnSpc>
                <a:spcPct val="150000"/>
              </a:lnSpc>
            </a:pPr>
            <a:r>
              <a:rPr lang="cs-CZ" sz="2800" dirty="0"/>
              <a:t>Vložení kopie tabulky z jiného programu.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ACF74DC-F110-4759-8362-58616934E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3</a:t>
            </a:fld>
            <a:endParaRPr lang="cs-CZ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9C5D3EEE-77B9-4716-BD08-9392E5D8CA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t="3778" r="39684" b="35811"/>
          <a:stretch/>
        </p:blipFill>
        <p:spPr>
          <a:xfrm>
            <a:off x="899592" y="1160748"/>
            <a:ext cx="8056206" cy="45365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5F2354FB-7A90-4E67-BA31-8B81BB286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4</a:t>
            </a:fld>
            <a:endParaRPr lang="cs-CZ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l="34727" t="26385" r="19529" b="18471"/>
          <a:stretch/>
        </p:blipFill>
        <p:spPr bwMode="auto">
          <a:xfrm>
            <a:off x="929088" y="661466"/>
            <a:ext cx="7645940" cy="57606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Obdélník 2"/>
          <p:cNvSpPr/>
          <p:nvPr/>
        </p:nvSpPr>
        <p:spPr>
          <a:xfrm>
            <a:off x="3995936" y="3429000"/>
            <a:ext cx="432048" cy="5040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12BB522C-8E72-44E6-96A5-96EC44216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5</a:t>
            </a:fld>
            <a:endParaRPr lang="cs-CZ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Zadání a úprava dat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982133" y="1864294"/>
            <a:ext cx="7704667" cy="4993705"/>
          </a:xfrm>
        </p:spPr>
        <p:txBody>
          <a:bodyPr>
            <a:noAutofit/>
          </a:bodyPr>
          <a:lstStyle/>
          <a:p>
            <a:r>
              <a:rPr lang="cs-CZ" sz="2800" dirty="0"/>
              <a:t>Potup stejný jako v MS Wordu. </a:t>
            </a:r>
          </a:p>
          <a:p>
            <a:r>
              <a:rPr lang="cs-CZ" sz="2800" dirty="0"/>
              <a:t>Přemisťování dat z buňky do buňky:</a:t>
            </a:r>
          </a:p>
          <a:p>
            <a:pPr lvl="1"/>
            <a:r>
              <a:rPr lang="cs-CZ" sz="2800" dirty="0"/>
              <a:t>Pomocí myši (levé i pravé tlačítko)</a:t>
            </a:r>
          </a:p>
          <a:p>
            <a:pPr lvl="1"/>
            <a:r>
              <a:rPr lang="cs-CZ" sz="2800" dirty="0"/>
              <a:t>Přes klávesnici</a:t>
            </a:r>
          </a:p>
          <a:p>
            <a:r>
              <a:rPr lang="cs-CZ" sz="2800" dirty="0"/>
              <a:t>Označení tabulky a buněk v ní můžete použít :</a:t>
            </a:r>
          </a:p>
          <a:p>
            <a:pPr lvl="1"/>
            <a:r>
              <a:rPr lang="cs-CZ" sz="2800" dirty="0"/>
              <a:t>Myš a její levé tlačítko</a:t>
            </a:r>
          </a:p>
          <a:p>
            <a:pPr lvl="1"/>
            <a:r>
              <a:rPr lang="cs-CZ" sz="2800" dirty="0"/>
              <a:t>Klávesu shift + šipky</a:t>
            </a:r>
          </a:p>
          <a:p>
            <a:endParaRPr lang="cs-CZ" sz="28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BD1936E-356E-4338-87DF-D33B823A5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6</a:t>
            </a:fld>
            <a:endParaRPr lang="cs-CZ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619672" y="476672"/>
            <a:ext cx="7416824" cy="6858000"/>
          </a:xfrm>
        </p:spPr>
        <p:txBody>
          <a:bodyPr>
            <a:noAutofit/>
          </a:bodyPr>
          <a:lstStyle/>
          <a:p>
            <a:r>
              <a:rPr lang="cs-CZ" sz="2800" dirty="0"/>
              <a:t>Pro úpravu tabulky můžete používat:</a:t>
            </a:r>
          </a:p>
          <a:p>
            <a:pPr lvl="1"/>
            <a:r>
              <a:rPr lang="cs-CZ" sz="2800" dirty="0"/>
              <a:t>Pravé tlačítko myši</a:t>
            </a:r>
          </a:p>
          <a:p>
            <a:pPr lvl="1"/>
            <a:r>
              <a:rPr lang="cs-CZ" sz="2800" dirty="0"/>
              <a:t>Karty Návrh a Rozložení (zobrazí se při </a:t>
            </a:r>
          </a:p>
          <a:p>
            <a:pPr marL="457200" lvl="1" indent="0">
              <a:buNone/>
            </a:pPr>
            <a:r>
              <a:rPr lang="cs-CZ" sz="2800" dirty="0"/>
              <a:t>    označení tabulky)</a:t>
            </a:r>
          </a:p>
          <a:p>
            <a:r>
              <a:rPr lang="cs-CZ" sz="2800" dirty="0"/>
              <a:t>V tabulce můžete upravovat:</a:t>
            </a:r>
          </a:p>
          <a:p>
            <a:pPr lvl="1"/>
            <a:r>
              <a:rPr lang="cs-CZ" sz="2800" dirty="0"/>
              <a:t>Vkládat sloupce/řádky</a:t>
            </a:r>
          </a:p>
          <a:p>
            <a:pPr lvl="1"/>
            <a:r>
              <a:rPr lang="cs-CZ" sz="2800" dirty="0"/>
              <a:t>Odstraňovat sloupce/řádky</a:t>
            </a:r>
          </a:p>
          <a:p>
            <a:pPr lvl="1"/>
            <a:r>
              <a:rPr lang="cs-CZ" sz="2800" dirty="0"/>
              <a:t>Měnit velikost buněk</a:t>
            </a:r>
          </a:p>
          <a:p>
            <a:pPr lvl="1"/>
            <a:r>
              <a:rPr lang="cs-CZ" sz="2800" dirty="0"/>
              <a:t>Slučovat buňky</a:t>
            </a:r>
          </a:p>
          <a:p>
            <a:pPr lvl="1"/>
            <a:r>
              <a:rPr lang="cs-CZ" sz="2800" dirty="0"/>
              <a:t>Kopírovat buňky</a:t>
            </a:r>
          </a:p>
          <a:p>
            <a:pPr lvl="1"/>
            <a:r>
              <a:rPr lang="cs-CZ" sz="2800" dirty="0"/>
              <a:t>Formátovat tabulku/buňky</a:t>
            </a:r>
          </a:p>
          <a:p>
            <a:pPr lvl="1"/>
            <a:endParaRPr lang="cs-CZ" sz="2800" dirty="0"/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35C586AC-1945-4F2E-BB7B-BBD54ADEA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7</a:t>
            </a:fld>
            <a:endParaRPr lang="cs-CZ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Nástroje tabulky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F24C3A2D-6F77-4E72-B39A-44652F8E9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844824"/>
            <a:ext cx="7704667" cy="4154992"/>
          </a:xfrm>
        </p:spPr>
        <p:txBody>
          <a:bodyPr/>
          <a:lstStyle/>
          <a:p>
            <a:r>
              <a:rPr lang="cs-CZ" dirty="0"/>
              <a:t>Karta Návrh 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Karta Rozložení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245A12B3-3F22-4434-8853-D296DE055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438" y="3225300"/>
            <a:ext cx="9144000" cy="1028421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440D5B38-71E1-41A3-9755-9B45926C7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38" y="5185494"/>
            <a:ext cx="9144000" cy="898311"/>
          </a:xfrm>
          <a:prstGeom prst="rect">
            <a:avLst/>
          </a:prstGeom>
        </p:spPr>
      </p:pic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CAAAC6D8-0947-43AC-9900-2D4CDD340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8</a:t>
            </a:fld>
            <a:endParaRPr lang="cs-CZ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Pravé tlačítko myši</a:t>
            </a:r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62F29B9F-A2E6-4E23-BC65-24E8689699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812" t="24788" r="8263" b="10782"/>
          <a:stretch/>
        </p:blipFill>
        <p:spPr>
          <a:xfrm>
            <a:off x="2699792" y="1848156"/>
            <a:ext cx="4248472" cy="51428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98C4F8E-71F7-47E0-BFBD-820062E0B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9</a:t>
            </a:fld>
            <a:endParaRPr lang="cs-CZ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Zarovnání textu v tabulce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982132" y="1916832"/>
            <a:ext cx="7704667" cy="5301208"/>
          </a:xfrm>
        </p:spPr>
        <p:txBody>
          <a:bodyPr>
            <a:noAutofit/>
          </a:bodyPr>
          <a:lstStyle/>
          <a:p>
            <a:r>
              <a:rPr lang="cs-CZ" sz="2800" dirty="0"/>
              <a:t>Pro zarovnání textu v tabulce může využít:</a:t>
            </a:r>
          </a:p>
          <a:p>
            <a:pPr lvl="1"/>
            <a:r>
              <a:rPr lang="cs-CZ" sz="2800" dirty="0"/>
              <a:t>Kartu Domů</a:t>
            </a:r>
          </a:p>
          <a:p>
            <a:pPr lvl="1"/>
            <a:r>
              <a:rPr lang="cs-CZ" sz="2800" dirty="0"/>
              <a:t>Kartu  Rozložení</a:t>
            </a:r>
          </a:p>
          <a:p>
            <a:pPr lvl="1"/>
            <a:r>
              <a:rPr lang="cs-CZ" sz="2800" dirty="0"/>
              <a:t>Klávesové zkratky:</a:t>
            </a:r>
          </a:p>
          <a:p>
            <a:pPr lvl="2"/>
            <a:r>
              <a:rPr lang="cs-CZ" sz="2800" dirty="0"/>
              <a:t>Ctrl + E na střed</a:t>
            </a:r>
          </a:p>
          <a:p>
            <a:pPr lvl="2"/>
            <a:r>
              <a:rPr lang="cs-CZ" sz="2800" dirty="0"/>
              <a:t>Ctrl + L vlevo</a:t>
            </a:r>
          </a:p>
          <a:p>
            <a:pPr lvl="2"/>
            <a:r>
              <a:rPr lang="cs-CZ" sz="2800" dirty="0"/>
              <a:t>Ctrl + R vpravo</a:t>
            </a:r>
          </a:p>
          <a:p>
            <a:endParaRPr lang="cs-CZ" sz="28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9F45311-837E-4784-AFF2-983D66D52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10</a:t>
            </a:fld>
            <a:endParaRPr lang="cs-CZ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3CE243-7250-8913-C63D-90C93558A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5587250-8A6F-A5FA-B55D-8A54B01FF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2667000"/>
            <a:ext cx="7838339" cy="3332816"/>
          </a:xfrm>
        </p:spPr>
        <p:txBody>
          <a:bodyPr/>
          <a:lstStyle/>
          <a:p>
            <a:r>
              <a:rPr lang="cs-CZ" dirty="0">
                <a:solidFill>
                  <a:schemeClr val="tx1"/>
                </a:solidFill>
              </a:rPr>
              <a:t>NAVRÁTIL, Pavel. </a:t>
            </a:r>
            <a:r>
              <a:rPr lang="cs-CZ" i="1" dirty="0">
                <a:solidFill>
                  <a:schemeClr val="tx1"/>
                </a:solidFill>
              </a:rPr>
              <a:t>S počítačem nejen k maturitě - 1. díl</a:t>
            </a:r>
            <a:r>
              <a:rPr lang="cs-CZ" dirty="0">
                <a:solidFill>
                  <a:schemeClr val="tx1"/>
                </a:solidFill>
              </a:rPr>
              <a:t>. Olomouc: </a:t>
            </a:r>
            <a:r>
              <a:rPr lang="cs-CZ" dirty="0" err="1">
                <a:solidFill>
                  <a:schemeClr val="tx1"/>
                </a:solidFill>
              </a:rPr>
              <a:t>Computer</a:t>
            </a:r>
            <a:r>
              <a:rPr lang="cs-CZ" dirty="0">
                <a:solidFill>
                  <a:schemeClr val="tx1"/>
                </a:solidFill>
              </a:rPr>
              <a:t> Media, 2008. 120 s. ISBN 80-86686-60-4.</a:t>
            </a:r>
          </a:p>
          <a:p>
            <a:r>
              <a:rPr lang="cs-CZ" b="0" i="0" dirty="0" err="1">
                <a:solidFill>
                  <a:srgbClr val="212529"/>
                </a:solidFill>
                <a:effectLst/>
                <a:latin typeface="-apple-system"/>
              </a:rPr>
              <a:t>Vime</a:t>
            </a:r>
            <a:r>
              <a:rPr lang="cs-CZ" b="0" i="0" dirty="0">
                <a:solidFill>
                  <a:srgbClr val="212529"/>
                </a:solidFill>
                <a:effectLst/>
                <a:latin typeface="-apple-system"/>
              </a:rPr>
              <a:t>, </a:t>
            </a:r>
            <a:r>
              <a:rPr lang="cs-CZ" b="0" i="1" dirty="0">
                <a:solidFill>
                  <a:srgbClr val="212529"/>
                </a:solidFill>
                <a:effectLst/>
                <a:latin typeface="-apple-system"/>
              </a:rPr>
              <a:t>Video tutoriál PowerPoint 2010: Vytvoření tabulky, </a:t>
            </a:r>
            <a:r>
              <a:rPr lang="cs-CZ" b="0" dirty="0">
                <a:solidFill>
                  <a:srgbClr val="212529"/>
                </a:solidFill>
                <a:effectLst/>
                <a:latin typeface="-apple-system"/>
              </a:rPr>
              <a:t>In: YouTube, [online] 18.03.2013 [cit. 10.7.2022]</a:t>
            </a:r>
            <a:r>
              <a:rPr lang="cs-CZ" b="0" i="1" dirty="0">
                <a:solidFill>
                  <a:srgbClr val="212529"/>
                </a:solidFill>
                <a:effectLst/>
                <a:latin typeface="-apple-system"/>
              </a:rPr>
              <a:t>, Dostupné z: </a:t>
            </a:r>
            <a:r>
              <a:rPr lang="cs-CZ" b="0" i="0" dirty="0">
                <a:solidFill>
                  <a:srgbClr val="212529"/>
                </a:solidFill>
                <a:effectLst/>
                <a:latin typeface="-apple-system"/>
              </a:rPr>
              <a:t>https://www.youtube.com/watch?v=xhSG0zrqUgk</a:t>
            </a:r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185F10D-E0DE-69A3-CB12-A6FEF2C4A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11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615681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axa">
  <a:themeElements>
    <a:clrScheme name="Paralaxa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axa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ax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TM03457496[[fn=Paralaxa]]</Template>
  <TotalTime>939</TotalTime>
  <Words>268</Words>
  <Application>Microsoft Office PowerPoint</Application>
  <PresentationFormat>Předvádění na obrazovce (4:3)</PresentationFormat>
  <Paragraphs>57</Paragraphs>
  <Slides>11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6" baseType="lpstr">
      <vt:lpstr>-apple-system</vt:lpstr>
      <vt:lpstr>Arial</vt:lpstr>
      <vt:lpstr>Calibri</vt:lpstr>
      <vt:lpstr>Corbel</vt:lpstr>
      <vt:lpstr>Paralaxa</vt:lpstr>
      <vt:lpstr>Tabulky</vt:lpstr>
      <vt:lpstr>Tabulka</vt:lpstr>
      <vt:lpstr>Vložení tabulky</vt:lpstr>
      <vt:lpstr>Prezentace aplikace PowerPoint</vt:lpstr>
      <vt:lpstr>Prezentace aplikace PowerPoint</vt:lpstr>
      <vt:lpstr>Zadání a úprava dat</vt:lpstr>
      <vt:lpstr>Prezentace aplikace PowerPoint</vt:lpstr>
      <vt:lpstr>Nástroje tabulky</vt:lpstr>
      <vt:lpstr>Pravé tlačítko myši</vt:lpstr>
      <vt:lpstr>Zarovnání textu v tabulce</vt:lpstr>
      <vt:lpstr>Zdroje</vt:lpstr>
    </vt:vector>
  </TitlesOfParts>
  <Company>Univerzita Pardubice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Úvod do PowerPointu</dc:title>
  <dc:creator>UPa</dc:creator>
  <cp:lastModifiedBy>Votavová Gabriela</cp:lastModifiedBy>
  <cp:revision>51</cp:revision>
  <cp:lastPrinted>2018-04-17T14:27:51Z</cp:lastPrinted>
  <dcterms:created xsi:type="dcterms:W3CDTF">2012-06-27T10:00:20Z</dcterms:created>
  <dcterms:modified xsi:type="dcterms:W3CDTF">2023-11-28T10:11:35Z</dcterms:modified>
</cp:coreProperties>
</file>