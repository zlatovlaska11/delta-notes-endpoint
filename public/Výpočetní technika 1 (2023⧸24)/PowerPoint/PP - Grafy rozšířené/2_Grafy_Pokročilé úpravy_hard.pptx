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1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2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3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37"/>
  </p:notesMasterIdLst>
  <p:sldIdLst>
    <p:sldId id="269" r:id="rId2"/>
    <p:sldId id="257" r:id="rId3"/>
    <p:sldId id="270" r:id="rId4"/>
    <p:sldId id="272" r:id="rId5"/>
    <p:sldId id="273" r:id="rId6"/>
    <p:sldId id="291" r:id="rId7"/>
    <p:sldId id="258" r:id="rId8"/>
    <p:sldId id="274" r:id="rId9"/>
    <p:sldId id="275" r:id="rId10"/>
    <p:sldId id="276" r:id="rId11"/>
    <p:sldId id="277" r:id="rId12"/>
    <p:sldId id="260" r:id="rId13"/>
    <p:sldId id="297" r:id="rId14"/>
    <p:sldId id="296" r:id="rId15"/>
    <p:sldId id="299" r:id="rId16"/>
    <p:sldId id="298" r:id="rId17"/>
    <p:sldId id="261" r:id="rId18"/>
    <p:sldId id="287" r:id="rId19"/>
    <p:sldId id="286" r:id="rId20"/>
    <p:sldId id="279" r:id="rId21"/>
    <p:sldId id="263" r:id="rId22"/>
    <p:sldId id="289" r:id="rId23"/>
    <p:sldId id="280" r:id="rId24"/>
    <p:sldId id="282" r:id="rId25"/>
    <p:sldId id="281" r:id="rId26"/>
    <p:sldId id="264" r:id="rId27"/>
    <p:sldId id="266" r:id="rId28"/>
    <p:sldId id="267" r:id="rId29"/>
    <p:sldId id="284" r:id="rId30"/>
    <p:sldId id="278" r:id="rId31"/>
    <p:sldId id="285" r:id="rId32"/>
    <p:sldId id="292" r:id="rId33"/>
    <p:sldId id="293" r:id="rId34"/>
    <p:sldId id="300" r:id="rId35"/>
    <p:sldId id="283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9" autoAdjust="0"/>
    <p:restoredTop sz="92165" autoAdjust="0"/>
  </p:normalViewPr>
  <p:slideViewPr>
    <p:cSldViewPr snapToGrid="0">
      <p:cViewPr varScale="1">
        <p:scale>
          <a:sx n="58" d="100"/>
          <a:sy n="58" d="100"/>
        </p:scale>
        <p:origin x="6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microsoft.com/office/2011/relationships/chartColorStyle" Target="colors13.xml"/><Relationship Id="rId1" Type="http://schemas.microsoft.com/office/2011/relationships/chartStyle" Target="style13.xml"/><Relationship Id="rId6" Type="http://schemas.openxmlformats.org/officeDocument/2006/relationships/package" Target="../embeddings/Microsoft_Excel_Worksheet12.xlsx"/><Relationship Id="rId5" Type="http://schemas.openxmlformats.org/officeDocument/2006/relationships/hyperlink" Target="https://fotkyzadarmo.sk/cervene-jablko/" TargetMode="External"/><Relationship Id="rId4" Type="http://schemas.openxmlformats.org/officeDocument/2006/relationships/image" Target="../media/image28.jpg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Relationship Id="rId6" Type="http://schemas.openxmlformats.org/officeDocument/2006/relationships/hyperlink" Target="https://fotkyzadarmo.sk/cervene-jablko/" TargetMode="External"/><Relationship Id="rId5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Relationship Id="rId6" Type="http://schemas.openxmlformats.org/officeDocument/2006/relationships/hyperlink" Target="https://fotkyzadarmo.sk/cervene-jablko/" TargetMode="External"/><Relationship Id="rId5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/>
              <a:t>Sběr – školní rok 2016/2017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třída 7A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70A5B59-6770-4717-80FC-85D9E8626EE1}" type="SERIESNAME">
                      <a:rPr lang="en-US" smtClean="0"/>
                      <a:pPr/>
                      <a:t>[NÁZEV ŘADY]</a:t>
                    </a:fld>
                    <a:r>
                      <a:rPr lang="en-US" baseline="0" dirty="0"/>
                      <a:t>,</a:t>
                    </a:r>
                  </a:p>
                  <a:p>
                    <a:r>
                      <a:rPr lang="en-US" baseline="0" dirty="0"/>
                      <a:t> </a:t>
                    </a:r>
                    <a:fld id="{0BDE2BF6-8175-4FCB-A07E-9116FDF61A60}" type="VALUE">
                      <a:rPr lang="en-US" baseline="0"/>
                      <a:pPr/>
                      <a:t>[HODNOTA]</a:t>
                    </a:fld>
                    <a:endParaRPr lang="en-US" baseline="0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0E0-4613-BEBF-52CCB6E5D92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DDB17BD-E8C2-4536-89AB-5A31675DB0AE}" type="SERIESNAME">
                      <a:rPr lang="en-US" smtClean="0"/>
                      <a:pPr/>
                      <a:t>[NÁZEV ŘADY]</a:t>
                    </a:fld>
                    <a:r>
                      <a:rPr lang="en-US" baseline="0" dirty="0"/>
                      <a:t>,</a:t>
                    </a:r>
                  </a:p>
                  <a:p>
                    <a:r>
                      <a:rPr lang="en-US" baseline="0" dirty="0"/>
                      <a:t> </a:t>
                    </a:r>
                    <a:fld id="{FD518CD2-274A-468A-9B3B-0FC37CB84A1B}" type="VALUE">
                      <a:rPr lang="en-US" baseline="0"/>
                      <a:pPr/>
                      <a:t>[HODNOTA]</a:t>
                    </a:fld>
                    <a:endParaRPr lang="en-US" baseline="0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0E0-4613-BEBF-52CCB6E5D920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93.5</c:v>
                </c:pt>
                <c:pt idx="1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E0-4613-BEBF-52CCB6E5D920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třída 7B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9.6945644344095777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70AFF8C-F8B1-4586-831D-43BFA6F14E64}" type="SERIESNAME">
                      <a:rPr lang="en-US" smtClean="0">
                        <a:solidFill>
                          <a:schemeClr val="bg1"/>
                        </a:solidFill>
                      </a:rPr>
                      <a:pPr>
                        <a:defRPr>
                          <a:solidFill>
                            <a:schemeClr val="bg1"/>
                          </a:solidFill>
                        </a:defRPr>
                      </a:pPr>
                      <a:t>[NÁZEV ŘADY]</a:t>
                    </a:fld>
                    <a:endParaRPr lang="en-US" dirty="0">
                      <a:solidFill>
                        <a:schemeClr val="bg1"/>
                      </a:solidFill>
                    </a:endParaRPr>
                  </a:p>
                  <a:p>
                    <a:pPr>
                      <a:defRPr>
                        <a:solidFill>
                          <a:schemeClr val="bg1"/>
                        </a:solidFill>
                      </a:defRPr>
                    </a:pPr>
                    <a:fld id="{ECF62E41-FF85-4B1A-9D05-11A590E790E4}" type="VALUE">
                      <a:rPr lang="en-US" smtClean="0">
                        <a:solidFill>
                          <a:schemeClr val="bg1"/>
                        </a:solidFill>
                      </a:rPr>
                      <a:pPr>
                        <a:defRPr>
                          <a:solidFill>
                            <a:schemeClr val="bg1"/>
                          </a:solidFill>
                        </a:defRPr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0E0-4613-BEBF-52CCB6E5D920}"/>
                </c:ext>
              </c:extLst>
            </c:dLbl>
            <c:dLbl>
              <c:idx val="1"/>
              <c:layout>
                <c:manualLayout>
                  <c:x val="-1.2303646636169379E-3"/>
                  <c:y val="9.458111643326414E-2"/>
                </c:manualLayout>
              </c:layout>
              <c:tx>
                <c:rich>
                  <a:bodyPr/>
                  <a:lstStyle/>
                  <a:p>
                    <a:fld id="{F8294A18-BE71-4D65-A3DE-968F919ADE69}" type="SERIESNAME">
                      <a:rPr lang="en-US" sz="1000" b="0" i="0" u="none" strike="noStrike" kern="1200" baseline="0" smtClean="0">
                        <a:solidFill>
                          <a:schemeClr val="bg1"/>
                        </a:solidFill>
                      </a:rPr>
                      <a:pPr/>
                      <a:t>[NÁZEV ŘADY]</a:t>
                    </a:fld>
                    <a:endParaRPr lang="en-US" sz="1000" b="0" i="0" u="none" strike="noStrike" kern="1200" baseline="0" dirty="0">
                      <a:solidFill>
                        <a:schemeClr val="bg1"/>
                      </a:solidFill>
                    </a:endParaRPr>
                  </a:p>
                  <a:p>
                    <a:fld id="{A82BFE10-7C83-45F7-9411-165259CB3708}" type="VALUE">
                      <a:rPr lang="en-US" sz="1000" b="0" i="0" u="none" strike="noStrike" kern="1200" baseline="0" smtClean="0">
                        <a:solidFill>
                          <a:schemeClr val="bg1"/>
                        </a:solidFill>
                      </a:rPr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C0E0-4613-BEBF-52CCB6E5D9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127</c:v>
                </c:pt>
                <c:pt idx="1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E0-4613-BEBF-52CCB6E5D920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Sloupec1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16D4-4446-9F6D-FD44DFF8E5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shape val="box"/>
        <c:axId val="1912916207"/>
        <c:axId val="1909814655"/>
        <c:axId val="0"/>
      </c:bar3DChart>
      <c:catAx>
        <c:axId val="19129162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Druhotná surovina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  <c:auto val="1"/>
        <c:lblAlgn val="ctr"/>
        <c:lblOffset val="100"/>
        <c:noMultiLvlLbl val="0"/>
      </c:catAx>
      <c:valAx>
        <c:axId val="190981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12916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1379542019520554"/>
          <c:y val="0.45459538552138129"/>
          <c:w val="8.6204590668204698E-2"/>
          <c:h val="0.1714256691732332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/>
              <a:t>Sběr – školní rok 2016/2017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3095784470337201E-2"/>
          <c:y val="0.11309536997507562"/>
          <c:w val="0.79369003122704262"/>
          <c:h val="0.77148010696602953"/>
        </c:manualLayout>
      </c:layout>
      <c:area3DChart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třída 7A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EE4350E-3118-4FDB-8DD2-F95011DDC295}" type="SERIESNAME">
                      <a:rPr lang="en-US" smtClean="0"/>
                      <a:pPr>
                        <a:defRPr/>
                      </a:pPr>
                      <a:t>[NÁZEV ŘADY]</a:t>
                    </a:fld>
                    <a:endParaRPr lang="en-US" dirty="0"/>
                  </a:p>
                  <a:p>
                    <a:pPr>
                      <a:defRPr/>
                    </a:pPr>
                    <a:fld id="{F780EB99-86DC-4680-95E2-CCF1B6398E8C}" type="VALUE">
                      <a:rPr lang="en-US" smtClean="0"/>
                      <a:pPr>
                        <a:defRPr/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338-4851-9492-53046D51986D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126C1AD-2A9A-45B4-B072-4933DB9A2647}" type="SERIESNAME">
                      <a:rPr lang="en-US" smtClean="0"/>
                      <a:pPr>
                        <a:defRPr/>
                      </a:pPr>
                      <a:t>[NÁZEV ŘADY]</a:t>
                    </a:fld>
                    <a:endParaRPr lang="en-US" dirty="0"/>
                  </a:p>
                  <a:p>
                    <a:pPr>
                      <a:defRPr/>
                    </a:pPr>
                    <a:fld id="{0F930019-1D72-4735-A6AB-18F3D8FC165A}" type="VALUE">
                      <a:rPr lang="en-US" smtClean="0"/>
                      <a:pPr>
                        <a:defRPr/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2"/>
                <c:pt idx="0">
                  <c:v>93.5</c:v>
                </c:pt>
                <c:pt idx="1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E0-4613-BEBF-52CCB6E5D920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třída 7B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  <a:sp3d/>
          </c:spPr>
          <c:dLbls>
            <c:dLbl>
              <c:idx val="0"/>
              <c:tx>
                <c:rich>
                  <a:bodyPr/>
                  <a:lstStyle/>
                  <a:p>
                    <a:fld id="{EF79F42B-3328-4E94-99CE-1875B7ED99C9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E43A4FCB-2085-4A55-95B7-B6BDA6DB951C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38-4851-9492-53046D5198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6A14FA0-AE53-45E1-AB59-D9A5B0D42DD5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07A2D849-D0C2-4A53-A58A-A1BEE410F3BE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2"/>
                <c:pt idx="0">
                  <c:v>127</c:v>
                </c:pt>
                <c:pt idx="1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E0-4613-BEBF-52CCB6E5D9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12916207"/>
        <c:axId val="1909814655"/>
        <c:axId val="1227343072"/>
      </c:area3DChart>
      <c:catAx>
        <c:axId val="19129162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Druhotná surovina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  <c:auto val="1"/>
        <c:lblAlgn val="ctr"/>
        <c:lblOffset val="100"/>
        <c:noMultiLvlLbl val="0"/>
      </c:catAx>
      <c:valAx>
        <c:axId val="190981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Množství</a:t>
                </a:r>
                <a:r>
                  <a:rPr lang="cs-CZ" baseline="0" dirty="0"/>
                  <a:t> v kilogramech</a:t>
                </a:r>
                <a:endParaRPr lang="cs-CZ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12916207"/>
        <c:crosses val="autoZero"/>
        <c:crossBetween val="midCat"/>
      </c:valAx>
      <c:serAx>
        <c:axId val="122734307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</c:ser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1379542019520554"/>
          <c:y val="0.45459538552138129"/>
          <c:w val="7.7491931475711234E-2"/>
          <c:h val="0.118545616265743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/>
              <a:t>Sběr – školní rok 2016/2017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4436465887128063E-2"/>
          <c:y val="0.10730236562573053"/>
          <c:w val="0.79369003122704262"/>
          <c:h val="0.77148010696602953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třída 7A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EE4350E-3118-4FDB-8DD2-F95011DDC295}" type="SERIESNAME">
                      <a:rPr lang="en-US" smtClean="0"/>
                      <a:pPr>
                        <a:defRPr/>
                      </a:pPr>
                      <a:t>[NÁZEV ŘADY]</a:t>
                    </a:fld>
                    <a:endParaRPr lang="en-US" dirty="0"/>
                  </a:p>
                  <a:p>
                    <a:pPr>
                      <a:defRPr/>
                    </a:pPr>
                    <a:fld id="{F780EB99-86DC-4680-95E2-CCF1B6398E8C}" type="VALUE">
                      <a:rPr lang="en-US" smtClean="0"/>
                      <a:pPr>
                        <a:defRPr/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338-4851-9492-53046D51986D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126C1AD-2A9A-45B4-B072-4933DB9A2647}" type="SERIESNAME">
                      <a:rPr lang="en-US" smtClean="0"/>
                      <a:pPr>
                        <a:defRPr/>
                      </a:pPr>
                      <a:t>[NÁZEV ŘADY]</a:t>
                    </a:fld>
                    <a:endParaRPr lang="en-US" dirty="0"/>
                  </a:p>
                  <a:p>
                    <a:pPr>
                      <a:defRPr/>
                    </a:pPr>
                    <a:fld id="{0F930019-1D72-4735-A6AB-18F3D8FC165A}" type="VALUE">
                      <a:rPr lang="en-US" smtClean="0"/>
                      <a:pPr>
                        <a:defRPr/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2"/>
                <c:pt idx="0">
                  <c:v>93.5</c:v>
                </c:pt>
                <c:pt idx="1">
                  <c:v>150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C0E0-4613-BEBF-52CCB6E5D920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třída 7B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F79F42B-3328-4E94-99CE-1875B7ED99C9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E43A4FCB-2085-4A55-95B7-B6BDA6DB951C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38-4851-9492-53046D5198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6A14FA0-AE53-45E1-AB59-D9A5B0D42DD5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07A2D849-D0C2-4A53-A58A-A1BEE410F3BE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2"/>
                <c:pt idx="0">
                  <c:v>127</c:v>
                </c:pt>
                <c:pt idx="1">
                  <c:v>135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1-C0E0-4613-BEBF-52CCB6E5D9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912916207"/>
        <c:axId val="1909814655"/>
        <c:axId val="1227343072"/>
      </c:bar3DChart>
      <c:catAx>
        <c:axId val="19129162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Druhotná surovina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  <c:auto val="1"/>
        <c:lblAlgn val="ctr"/>
        <c:lblOffset val="100"/>
        <c:noMultiLvlLbl val="0"/>
      </c:catAx>
      <c:valAx>
        <c:axId val="190981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Množství</a:t>
                </a:r>
                <a:r>
                  <a:rPr lang="cs-CZ" baseline="0" dirty="0"/>
                  <a:t> v kilogramech</a:t>
                </a:r>
                <a:endParaRPr lang="cs-CZ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12916207"/>
        <c:crosses val="autoZero"/>
        <c:crossBetween val="between"/>
      </c:valAx>
      <c:serAx>
        <c:axId val="122734307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</c:ser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1379542019520554"/>
          <c:y val="0.45459538552138129"/>
          <c:w val="8.6204535835315704E-2"/>
          <c:h val="0.127261171073854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/>
              <a:t>Sběr – školní rok 2016/2017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4436465887128063E-2"/>
          <c:y val="0.10730236562573053"/>
          <c:w val="0.79369003122704262"/>
          <c:h val="0.77148010696602953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třída 7A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EE4350E-3118-4FDB-8DD2-F95011DDC295}" type="SERIESNAME">
                      <a:rPr lang="en-US" smtClean="0"/>
                      <a:pPr>
                        <a:defRPr/>
                      </a:pPr>
                      <a:t>[NÁZEV ŘADY]</a:t>
                    </a:fld>
                    <a:endParaRPr lang="en-US" dirty="0"/>
                  </a:p>
                  <a:p>
                    <a:pPr>
                      <a:defRPr/>
                    </a:pPr>
                    <a:fld id="{F780EB99-86DC-4680-95E2-CCF1B6398E8C}" type="VALUE">
                      <a:rPr lang="en-US" smtClean="0"/>
                      <a:pPr>
                        <a:defRPr/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338-4851-9492-53046D51986D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126C1AD-2A9A-45B4-B072-4933DB9A2647}" type="SERIESNAME">
                      <a:rPr lang="en-US" smtClean="0"/>
                      <a:pPr>
                        <a:defRPr/>
                      </a:pPr>
                      <a:t>[NÁZEV ŘADY]</a:t>
                    </a:fld>
                    <a:endParaRPr lang="en-US" dirty="0"/>
                  </a:p>
                  <a:p>
                    <a:pPr>
                      <a:defRPr/>
                    </a:pPr>
                    <a:fld id="{0F930019-1D72-4735-A6AB-18F3D8FC165A}" type="VALUE">
                      <a:rPr lang="en-US" smtClean="0"/>
                      <a:pPr>
                        <a:defRPr/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solidFill>
                    <a:schemeClr val="tx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2"/>
                <c:pt idx="0">
                  <c:v>93.5</c:v>
                </c:pt>
                <c:pt idx="1">
                  <c:v>150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C0E0-4613-BEBF-52CCB6E5D920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třída 7B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F79F42B-3328-4E94-99CE-1875B7ED99C9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E43A4FCB-2085-4A55-95B7-B6BDA6DB951C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38-4851-9492-53046D5198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6A14FA0-AE53-45E1-AB59-D9A5B0D42DD5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07A2D849-D0C2-4A53-A58A-A1BEE410F3BE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2"/>
                <c:pt idx="0">
                  <c:v>127</c:v>
                </c:pt>
                <c:pt idx="1">
                  <c:v>135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1-C0E0-4613-BEBF-52CCB6E5D9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912916207"/>
        <c:axId val="1909814655"/>
        <c:axId val="1227343072"/>
      </c:bar3DChart>
      <c:catAx>
        <c:axId val="19129162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Druhotná surovina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  <c:auto val="1"/>
        <c:lblAlgn val="ctr"/>
        <c:lblOffset val="100"/>
        <c:noMultiLvlLbl val="0"/>
      </c:catAx>
      <c:valAx>
        <c:axId val="190981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Množství</a:t>
                </a:r>
                <a:r>
                  <a:rPr lang="cs-CZ" baseline="0" dirty="0"/>
                  <a:t> v kilogramech</a:t>
                </a:r>
                <a:endParaRPr lang="cs-CZ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12916207"/>
        <c:crosses val="autoZero"/>
        <c:crossBetween val="between"/>
      </c:valAx>
      <c:serAx>
        <c:axId val="122734307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</c:ser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1379542019520554"/>
          <c:y val="0.45459538552138129"/>
          <c:w val="8.6204535835315704E-2"/>
          <c:h val="0.127261171073854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/>
              <a:t>Sběr – školní rok 2016/2017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solidFill>
          <a:schemeClr val="lt1">
            <a:alpha val="27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4436465887128063E-2"/>
          <c:y val="0.10730236562573053"/>
          <c:w val="0.79369003122704262"/>
          <c:h val="0.77148010696602953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třída 7A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translucentPowder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EE4350E-3118-4FDB-8DD2-F95011DDC295}" type="SERIESNAME">
                      <a:rPr lang="en-US"/>
                      <a:pPr/>
                      <a:t>[NÁZEV ŘADY]</a:t>
                    </a:fld>
                    <a:endParaRPr lang="en-US"/>
                  </a:p>
                  <a:p>
                    <a:fld id="{F780EB99-86DC-4680-95E2-CCF1B6398E8C}" type="VALUE">
                      <a:rPr lang="en-US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338-4851-9492-53046D5198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126C1AD-2A9A-45B4-B072-4933DB9A2647}" type="SERIESNAME">
                      <a:rPr lang="en-US"/>
                      <a:pPr/>
                      <a:t>[NÁZEV ŘADY]</a:t>
                    </a:fld>
                    <a:endParaRPr lang="en-US"/>
                  </a:p>
                  <a:p>
                    <a:fld id="{0F930019-1D72-4735-A6AB-18F3D8FC165A}" type="VALUE">
                      <a:rPr lang="en-US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2"/>
                <c:pt idx="0">
                  <c:v>93.5</c:v>
                </c:pt>
                <c:pt idx="1">
                  <c:v>150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C0E0-4613-BEBF-52CCB6E5D920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třída 7B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translucentPowder">
              <a:contourClr>
                <a:schemeClr val="accent2">
                  <a:lumMod val="75000"/>
                </a:schemeClr>
              </a:contourClr>
            </a:sp3d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F79F42B-3328-4E94-99CE-1875B7ED99C9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E43A4FCB-2085-4A55-95B7-B6BDA6DB951C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38-4851-9492-53046D5198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6A14FA0-AE53-45E1-AB59-D9A5B0D42DD5}" type="SERIESNAME">
                      <a:rPr lang="en-US" smtClean="0"/>
                      <a:pPr/>
                      <a:t>[NÁZEV ŘADY]</a:t>
                    </a:fld>
                    <a:endParaRPr lang="en-US" dirty="0"/>
                  </a:p>
                  <a:p>
                    <a:fld id="{07A2D849-D0C2-4A53-A58A-A1BEE410F3BE}" type="VALUE">
                      <a:rPr lang="en-US" smtClean="0"/>
                      <a:pPr/>
                      <a:t>[HODNOTA]</a:t>
                    </a:fld>
                    <a:endParaRPr lang="cs-C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38-4851-9492-53046D5198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List1!$A$2:$A$5</c:f>
              <c:strCache>
                <c:ptCount val="2"/>
                <c:pt idx="0">
                  <c:v>papír</c:v>
                </c:pt>
                <c:pt idx="1">
                  <c:v>plasty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2"/>
                <c:pt idx="0">
                  <c:v>127</c:v>
                </c:pt>
                <c:pt idx="1">
                  <c:v>135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1-C0E0-4613-BEBF-52CCB6E5D9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912916207"/>
        <c:axId val="1909814655"/>
        <c:axId val="1227343072"/>
      </c:bar3DChart>
      <c:catAx>
        <c:axId val="19129162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/>
                  <a:t>Druhotná surovina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  <c:auto val="1"/>
        <c:lblAlgn val="ctr"/>
        <c:lblOffset val="100"/>
        <c:noMultiLvlLbl val="0"/>
      </c:catAx>
      <c:valAx>
        <c:axId val="190981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/>
                  <a:t>Množství v kilogramech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12916207"/>
        <c:crosses val="autoZero"/>
        <c:crossBetween val="between"/>
      </c:valAx>
      <c:serAx>
        <c:axId val="122734307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90981465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List1!$A$1</c:f>
              <c:strCache>
                <c:ptCount val="1"/>
                <c:pt idx="0">
                  <c:v>Strana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val>
            <c:numRef>
              <c:f>List1!$A$2:$A$5</c:f>
              <c:numCache>
                <c:formatCode>General</c:formatCode>
                <c:ptCount val="4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EF-4015-8E94-64D99482A268}"/>
            </c:ext>
          </c:extLst>
        </c:ser>
        <c:ser>
          <c:idx val="1"/>
          <c:order val="1"/>
          <c:tx>
            <c:strRef>
              <c:f>List1!$B$1</c:f>
              <c:strCache>
                <c:ptCount val="1"/>
                <c:pt idx="0">
                  <c:v>Žlutí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val>
            <c:numRef>
              <c:f>List1!$B$2:$B$5</c:f>
              <c:numCache>
                <c:formatCode>General</c:formatCode>
                <c:ptCount val="4"/>
                <c:pt idx="0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EF-4015-8E94-64D99482A268}"/>
            </c:ext>
          </c:extLst>
        </c:ser>
        <c:ser>
          <c:idx val="2"/>
          <c:order val="2"/>
          <c:tx>
            <c:strRef>
              <c:f>List1!$C$1</c:f>
              <c:strCache>
                <c:ptCount val="1"/>
                <c:pt idx="0">
                  <c:v>Modří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val>
            <c:numRef>
              <c:f>List1!$C$2:$C$5</c:f>
              <c:numCache>
                <c:formatCode>General</c:formatCode>
                <c:ptCount val="4"/>
                <c:pt idx="0">
                  <c:v>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EF-4015-8E94-64D99482A268}"/>
            </c:ext>
          </c:extLst>
        </c:ser>
        <c:ser>
          <c:idx val="3"/>
          <c:order val="3"/>
          <c:tx>
            <c:strRef>
              <c:f>List1!$D$1</c:f>
              <c:strCache>
                <c:ptCount val="1"/>
                <c:pt idx="0">
                  <c:v>Červení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val>
            <c:numRef>
              <c:f>List1!$D$2:$D$5</c:f>
              <c:numCache>
                <c:formatCode>General</c:formatCode>
                <c:ptCount val="4"/>
                <c:pt idx="0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4EF-4015-8E94-64D99482A2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139297007"/>
        <c:axId val="2130295919"/>
        <c:axId val="1775083679"/>
      </c:bar3DChart>
      <c:catAx>
        <c:axId val="2139297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2130295919"/>
        <c:crosses val="autoZero"/>
        <c:auto val="1"/>
        <c:lblAlgn val="ctr"/>
        <c:lblOffset val="100"/>
        <c:noMultiLvlLbl val="0"/>
      </c:catAx>
      <c:valAx>
        <c:axId val="2130295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2139297007"/>
        <c:crosses val="autoZero"/>
        <c:crossBetween val="between"/>
      </c:valAx>
      <c:serAx>
        <c:axId val="177508367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2130295919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/>
              <a:t>Volby</a:t>
            </a:r>
            <a:r>
              <a:rPr lang="cs-CZ" baseline="0" dirty="0"/>
              <a:t> v Kocourkově</a:t>
            </a:r>
            <a:endParaRPr lang="cs-CZ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0232420650131609"/>
          <c:y val="0.11986872087517701"/>
          <c:w val="0.78447662177956501"/>
          <c:h val="0.72994991511053853"/>
        </c:manualLayout>
      </c:layout>
      <c:bar3DChart>
        <c:barDir val="col"/>
        <c:grouping val="standard"/>
        <c:varyColors val="0"/>
        <c:ser>
          <c:idx val="1"/>
          <c:order val="1"/>
          <c:tx>
            <c:strRef>
              <c:f>List1!$B$1</c:f>
              <c:strCache>
                <c:ptCount val="1"/>
                <c:pt idx="0">
                  <c:v>Žlutí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val>
            <c:numRef>
              <c:f>List1!$B$2</c:f>
              <c:numCache>
                <c:formatCode>General</c:formatCode>
                <c:ptCount val="1"/>
                <c:pt idx="0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EF-4015-8E94-64D99482A268}"/>
            </c:ext>
          </c:extLst>
        </c:ser>
        <c:ser>
          <c:idx val="2"/>
          <c:order val="2"/>
          <c:tx>
            <c:strRef>
              <c:f>List1!$C$1</c:f>
              <c:strCache>
                <c:ptCount val="1"/>
                <c:pt idx="0">
                  <c:v>Modří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val>
            <c:numRef>
              <c:f>List1!$C$2</c:f>
              <c:numCache>
                <c:formatCode>General</c:formatCode>
                <c:ptCount val="1"/>
                <c:pt idx="0">
                  <c:v>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EF-4015-8E94-64D99482A268}"/>
            </c:ext>
          </c:extLst>
        </c:ser>
        <c:ser>
          <c:idx val="3"/>
          <c:order val="3"/>
          <c:tx>
            <c:strRef>
              <c:f>List1!$D$1</c:f>
              <c:strCache>
                <c:ptCount val="1"/>
                <c:pt idx="0">
                  <c:v>Červení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val>
            <c:numRef>
              <c:f>List1!$D$2</c:f>
              <c:numCache>
                <c:formatCode>General</c:formatCode>
                <c:ptCount val="1"/>
                <c:pt idx="0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00-47B0-835D-6EDAE66DB0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139297007"/>
        <c:axId val="2130295919"/>
        <c:axId val="1775083679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List1!$A$1</c15:sqref>
                        </c15:formulaRef>
                      </c:ext>
                    </c:extLst>
                    <c:strCache>
                      <c:ptCount val="1"/>
                      <c:pt idx="0">
                        <c:v>Strana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  <a:sp3d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List1!$A$2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0-14EF-4015-8E94-64D99482A268}"/>
                  </c:ext>
                </c:extLst>
              </c15:ser>
            </c15:filteredBarSeries>
          </c:ext>
        </c:extLst>
      </c:bar3DChart>
      <c:catAx>
        <c:axId val="2139297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2130295919"/>
        <c:crosses val="autoZero"/>
        <c:auto val="1"/>
        <c:lblAlgn val="ctr"/>
        <c:lblOffset val="100"/>
        <c:noMultiLvlLbl val="0"/>
      </c:catAx>
      <c:valAx>
        <c:axId val="2130295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Počet</a:t>
                </a:r>
                <a:r>
                  <a:rPr lang="cs-CZ" baseline="0" dirty="0"/>
                  <a:t> hlasujících</a:t>
                </a:r>
                <a:endParaRPr lang="cs-CZ" dirty="0"/>
              </a:p>
            </c:rich>
          </c:tx>
          <c:layout>
            <c:manualLayout>
              <c:xMode val="edge"/>
              <c:yMode val="edge"/>
              <c:x val="0.14013000047165514"/>
              <c:y val="0.325289244841182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2139297007"/>
        <c:crosses val="autoZero"/>
        <c:crossBetween val="between"/>
      </c:valAx>
      <c:serAx>
        <c:axId val="1775083679"/>
        <c:scaling>
          <c:orientation val="minMax"/>
        </c:scaling>
        <c:delete val="0"/>
        <c:axPos val="b"/>
        <c:title>
          <c:tx>
            <c:rich>
              <a:bodyPr rot="-5400000" spcFirstLastPara="1" vertOverflow="ellipsis" wrap="square" anchor="t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Zúčastněné</a:t>
                </a:r>
                <a:r>
                  <a:rPr lang="cs-CZ" baseline="0" dirty="0"/>
                  <a:t> strany</a:t>
                </a:r>
                <a:endParaRPr lang="cs-CZ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anchor="t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2130295919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rgbClr val="000000"/>
                </a:solidFill>
              </a:rPr>
              <a:t>Volby</a:t>
            </a:r>
            <a:r>
              <a:rPr lang="cs-CZ" sz="2800" b="1" baseline="0" dirty="0">
                <a:solidFill>
                  <a:srgbClr val="000000"/>
                </a:solidFill>
              </a:rPr>
              <a:t> v Kocourkově</a:t>
            </a:r>
            <a:endParaRPr lang="en-US" sz="2800" b="1" dirty="0">
              <a:solidFill>
                <a:srgbClr val="000000"/>
              </a:solidFill>
            </a:endParaRPr>
          </a:p>
        </c:rich>
      </c:tx>
      <c:layout>
        <c:manualLayout>
          <c:xMode val="edge"/>
          <c:yMode val="edge"/>
          <c:x val="0.23592210023926222"/>
          <c:y val="8.48972940032402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invertIfNegative val="0"/>
          <c:dPt>
            <c:idx val="1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6ABD-44B7-A65C-78BF28A4C0DD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4-6ABD-44B7-A65C-78BF28A4C0DD}"/>
              </c:ext>
            </c:extLst>
          </c:dPt>
          <c:dLbls>
            <c:dLbl>
              <c:idx val="0"/>
              <c:layout>
                <c:manualLayout>
                  <c:x val="-5.0023450954419348E-3"/>
                  <c:y val="6.83760683760683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ABD-44B7-A65C-78BF28A4C0DD}"/>
                </c:ext>
              </c:extLst>
            </c:dLbl>
            <c:dLbl>
              <c:idx val="1"/>
              <c:layout>
                <c:manualLayout>
                  <c:x val="3.7517588215814166E-3"/>
                  <c:y val="7.08180708180707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BD-44B7-A65C-78BF28A4C0DD}"/>
                </c:ext>
              </c:extLst>
            </c:dLbl>
            <c:dLbl>
              <c:idx val="2"/>
              <c:layout>
                <c:manualLayout>
                  <c:x val="-6.252931369302361E-3"/>
                  <c:y val="8.05860805860805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ABD-44B7-A65C-78BF28A4C0DD}"/>
                </c:ext>
              </c:extLst>
            </c:dLbl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List1!$A$2:$A$4</c:f>
              <c:strCache>
                <c:ptCount val="3"/>
                <c:pt idx="0">
                  <c:v>Žlutí</c:v>
                </c:pt>
                <c:pt idx="1">
                  <c:v>Modří</c:v>
                </c:pt>
                <c:pt idx="2">
                  <c:v>Červení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223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D-44B7-A65C-78BF28A4C0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gapDepth val="100"/>
        <c:shape val="box"/>
        <c:axId val="1083286719"/>
        <c:axId val="956535535"/>
        <c:axId val="0"/>
      </c:bar3DChart>
      <c:catAx>
        <c:axId val="10832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56535535"/>
        <c:crosses val="autoZero"/>
        <c:auto val="1"/>
        <c:lblAlgn val="ctr"/>
        <c:lblOffset val="100"/>
        <c:noMultiLvlLbl val="0"/>
      </c:catAx>
      <c:valAx>
        <c:axId val="95653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8328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rgbClr val="FF0000"/>
                </a:solidFill>
              </a:rPr>
              <a:t>Volby</a:t>
            </a:r>
            <a:r>
              <a:rPr lang="cs-CZ" sz="2800" b="1" baseline="0" dirty="0">
                <a:solidFill>
                  <a:srgbClr val="FF0000"/>
                </a:solidFill>
              </a:rPr>
              <a:t> v Kocourkově</a:t>
            </a:r>
            <a:endParaRPr lang="en-US" sz="2800" b="1" dirty="0">
              <a:solidFill>
                <a:srgbClr val="FF0000"/>
              </a:solidFill>
            </a:endParaRPr>
          </a:p>
        </c:rich>
      </c:tx>
      <c:layout>
        <c:manualLayout>
          <c:xMode val="edge"/>
          <c:yMode val="edge"/>
          <c:x val="0.20244209014903453"/>
          <c:y val="9.0272012326567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invertIfNegative val="0"/>
          <c:dPt>
            <c:idx val="1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6ABD-44B7-A65C-78BF28A4C0DD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4-6ABD-44B7-A65C-78BF28A4C0DD}"/>
              </c:ext>
            </c:extLst>
          </c:dPt>
          <c:dLbls>
            <c:dLbl>
              <c:idx val="0"/>
              <c:layout>
                <c:manualLayout>
                  <c:x val="-5.0023450954419348E-3"/>
                  <c:y val="6.83760683760683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ABD-44B7-A65C-78BF28A4C0DD}"/>
                </c:ext>
              </c:extLst>
            </c:dLbl>
            <c:dLbl>
              <c:idx val="1"/>
              <c:layout>
                <c:manualLayout>
                  <c:x val="3.7517588215814166E-3"/>
                  <c:y val="7.08180708180707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BD-44B7-A65C-78BF28A4C0DD}"/>
                </c:ext>
              </c:extLst>
            </c:dLbl>
            <c:dLbl>
              <c:idx val="2"/>
              <c:layout>
                <c:manualLayout>
                  <c:x val="-6.252931369302361E-3"/>
                  <c:y val="8.05860805860805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ABD-44B7-A65C-78BF28A4C0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00B050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List1!$A$2:$A$4</c:f>
              <c:strCache>
                <c:ptCount val="3"/>
                <c:pt idx="0">
                  <c:v>Žlutí</c:v>
                </c:pt>
                <c:pt idx="1">
                  <c:v>Modří</c:v>
                </c:pt>
                <c:pt idx="2">
                  <c:v>Červení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223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D-44B7-A65C-78BF28A4C0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gapDepth val="100"/>
        <c:shape val="box"/>
        <c:axId val="1083286719"/>
        <c:axId val="956535535"/>
        <c:axId val="0"/>
      </c:bar3DChart>
      <c:catAx>
        <c:axId val="10832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56535535"/>
        <c:crosses val="autoZero"/>
        <c:auto val="1"/>
        <c:lblAlgn val="ctr"/>
        <c:lblOffset val="100"/>
        <c:noMultiLvlLbl val="0"/>
      </c:catAx>
      <c:valAx>
        <c:axId val="95653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8328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invertIfNegative val="0"/>
          <c:dPt>
            <c:idx val="1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6ABD-44B7-A65C-78BF28A4C0DD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4-6ABD-44B7-A65C-78BF28A4C0DD}"/>
              </c:ext>
            </c:extLst>
          </c:dPt>
          <c:dLbls>
            <c:dLbl>
              <c:idx val="0"/>
              <c:layout>
                <c:manualLayout>
                  <c:x val="-5.0023450954419348E-3"/>
                  <c:y val="6.83760683760683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ABD-44B7-A65C-78BF28A4C0DD}"/>
                </c:ext>
              </c:extLst>
            </c:dLbl>
            <c:dLbl>
              <c:idx val="1"/>
              <c:layout>
                <c:manualLayout>
                  <c:x val="3.7517588215814166E-3"/>
                  <c:y val="7.08180708180707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BD-44B7-A65C-78BF28A4C0DD}"/>
                </c:ext>
              </c:extLst>
            </c:dLbl>
            <c:dLbl>
              <c:idx val="2"/>
              <c:layout>
                <c:manualLayout>
                  <c:x val="-6.252931369302361E-3"/>
                  <c:y val="8.05860805860805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ABD-44B7-A65C-78BF28A4C0DD}"/>
                </c:ext>
              </c:extLst>
            </c:dLbl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List1!$A$2:$A$4</c:f>
              <c:strCache>
                <c:ptCount val="3"/>
                <c:pt idx="0">
                  <c:v>Žlutí</c:v>
                </c:pt>
                <c:pt idx="1">
                  <c:v>Modří</c:v>
                </c:pt>
                <c:pt idx="2">
                  <c:v>Červení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223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D-44B7-A65C-78BF28A4C0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gapDepth val="100"/>
        <c:shape val="box"/>
        <c:axId val="1083286719"/>
        <c:axId val="956535535"/>
        <c:axId val="0"/>
      </c:bar3DChart>
      <c:catAx>
        <c:axId val="10832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56535535"/>
        <c:crosses val="autoZero"/>
        <c:auto val="1"/>
        <c:lblAlgn val="ctr"/>
        <c:lblOffset val="100"/>
        <c:noMultiLvlLbl val="0"/>
      </c:catAx>
      <c:valAx>
        <c:axId val="95653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8328671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rgbClr val="FF0000"/>
                </a:solidFill>
              </a:rPr>
              <a:t>Volby</a:t>
            </a:r>
            <a:r>
              <a:rPr lang="cs-CZ" sz="2800" b="1" baseline="0" dirty="0">
                <a:solidFill>
                  <a:srgbClr val="FF0000"/>
                </a:solidFill>
              </a:rPr>
              <a:t> v Kocourkově</a:t>
            </a:r>
            <a:endParaRPr lang="en-US" sz="2800" b="1" dirty="0">
              <a:solidFill>
                <a:srgbClr val="FF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List1!$A$2</c:f>
              <c:strCache>
                <c:ptCount val="1"/>
                <c:pt idx="0">
                  <c:v>Žlutí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blipFill>
                <a:blip xmlns:r="http://schemas.openxmlformats.org/officeDocument/2006/relationships" r:embed="rId3"/>
                <a:tile tx="0" ty="0" sx="100000" sy="100000" flip="none" algn="tl"/>
              </a:blip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6ABD-44B7-A65C-78BF28A4C0DD}"/>
              </c:ext>
            </c:extLst>
          </c:dPt>
          <c:cat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cat>
          <c:val>
            <c:numRef>
              <c:f>List1!$B$2</c:f>
              <c:numCache>
                <c:formatCode>General</c:formatCode>
                <c:ptCount val="1"/>
                <c:pt idx="0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D-44B7-A65C-78BF28A4C0DD}"/>
            </c:ext>
          </c:extLst>
        </c:ser>
        <c:ser>
          <c:idx val="1"/>
          <c:order val="1"/>
          <c:tx>
            <c:strRef>
              <c:f>List1!$A$3</c:f>
              <c:strCache>
                <c:ptCount val="1"/>
                <c:pt idx="0">
                  <c:v>Modří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1921-4C52-AF45-E22405269D34}"/>
              </c:ext>
            </c:extLst>
          </c:dPt>
          <c:cat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cat>
          <c:val>
            <c:numRef>
              <c:f>List1!$B$3</c:f>
              <c:numCache>
                <c:formatCode>General</c:formatCode>
                <c:ptCount val="1"/>
                <c:pt idx="0">
                  <c:v>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0B3-4890-B60C-8D9EF05A6871}"/>
            </c:ext>
          </c:extLst>
        </c:ser>
        <c:ser>
          <c:idx val="2"/>
          <c:order val="2"/>
          <c:tx>
            <c:strRef>
              <c:f>List1!$A$4</c:f>
              <c:strCache>
                <c:ptCount val="1"/>
                <c:pt idx="0">
                  <c:v>Červení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pattFill prst="wdDnDiag">
                <a:fgClr>
                  <a:srgbClr val="FF0000"/>
                </a:fgClr>
                <a:bgClr>
                  <a:schemeClr val="bg1"/>
                </a:bgClr>
              </a:patt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1921-4C52-AF45-E22405269D34}"/>
              </c:ext>
            </c:extLst>
          </c:dPt>
          <c:cat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cat>
          <c:val>
            <c:numRef>
              <c:f>List1!$B$4</c:f>
              <c:numCache>
                <c:formatCode>General</c:formatCode>
                <c:ptCount val="1"/>
                <c:pt idx="0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0B3-4890-B60C-8D9EF05A68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gapDepth val="92"/>
        <c:shape val="box"/>
        <c:axId val="1083286719"/>
        <c:axId val="956535535"/>
        <c:axId val="0"/>
      </c:bar3DChart>
      <c:catAx>
        <c:axId val="10832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56535535"/>
        <c:crosses val="autoZero"/>
        <c:auto val="1"/>
        <c:lblAlgn val="ctr"/>
        <c:lblOffset val="100"/>
        <c:noMultiLvlLbl val="0"/>
      </c:catAx>
      <c:valAx>
        <c:axId val="95653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8328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rgbClr val="FF0000"/>
                </a:solidFill>
              </a:rPr>
              <a:t>Volby</a:t>
            </a:r>
            <a:r>
              <a:rPr lang="cs-CZ" sz="2800" b="1" baseline="0" dirty="0">
                <a:solidFill>
                  <a:srgbClr val="FF0000"/>
                </a:solidFill>
              </a:rPr>
              <a:t> v Kocourkově</a:t>
            </a:r>
            <a:endParaRPr lang="en-US" sz="2800" b="1" dirty="0">
              <a:solidFill>
                <a:srgbClr val="FF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blipFill>
                <a:blip xmlns:r="http://schemas.openxmlformats.org/officeDocument/2006/relationships" r:embed="rId3"/>
                <a:tile tx="0" ty="0" sx="100000" sy="100000" flip="none" algn="tl"/>
              </a:blip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11F3-4DCB-80F6-39E7E56A0E4B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11F3-4DCB-80F6-39E7E56A0E4B}"/>
              </c:ext>
            </c:extLst>
          </c:dPt>
          <c:dPt>
            <c:idx val="2"/>
            <c:invertIfNegative val="0"/>
            <c:bubble3D val="0"/>
            <c:spPr>
              <a:pattFill prst="wdDnDiag">
                <a:fgClr>
                  <a:srgbClr val="FF0000"/>
                </a:fgClr>
                <a:bgClr>
                  <a:schemeClr val="bg1"/>
                </a:bgClr>
              </a:patt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11F3-4DCB-80F6-39E7E56A0E4B}"/>
              </c:ext>
            </c:extLst>
          </c:dPt>
          <c:cat>
            <c:strRef>
              <c:f>List1!$A$2:$A$4</c:f>
              <c:strCache>
                <c:ptCount val="3"/>
                <c:pt idx="0">
                  <c:v>Žlutí</c:v>
                </c:pt>
                <c:pt idx="1">
                  <c:v>Modří</c:v>
                </c:pt>
                <c:pt idx="2">
                  <c:v>Červení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223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1F3-4DCB-80F6-39E7E56A0E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8"/>
        <c:gapDepth val="92"/>
        <c:shape val="box"/>
        <c:axId val="1083286719"/>
        <c:axId val="956535535"/>
        <c:axId val="0"/>
      </c:bar3DChart>
      <c:catAx>
        <c:axId val="10832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56535535"/>
        <c:crosses val="autoZero"/>
        <c:auto val="1"/>
        <c:lblAlgn val="ctr"/>
        <c:lblOffset val="100"/>
        <c:noMultiLvlLbl val="0"/>
      </c:catAx>
      <c:valAx>
        <c:axId val="95653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8328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rgbClr val="0070C0"/>
                </a:solidFill>
              </a:rPr>
              <a:t>Volby</a:t>
            </a:r>
            <a:r>
              <a:rPr lang="cs-CZ" sz="2800" b="1" baseline="0" dirty="0">
                <a:solidFill>
                  <a:srgbClr val="0070C0"/>
                </a:solidFill>
              </a:rPr>
              <a:t> v Kocourkově</a:t>
            </a:r>
            <a:endParaRPr lang="en-US" sz="2800" b="1" dirty="0">
              <a:solidFill>
                <a:srgbClr val="0070C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0070C0"/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solidFill>
          <a:srgbClr val="FFFF00"/>
        </a:solidFill>
        <a:ln>
          <a:noFill/>
        </a:ln>
        <a:effectLst/>
        <a:sp3d/>
      </c:spPr>
    </c:floor>
    <c:sideWall>
      <c:thickness val="0"/>
      <c:spPr>
        <a:blipFill>
          <a:blip xmlns:r="http://schemas.openxmlformats.org/officeDocument/2006/relationships" r:embed="rId3">
            <a:alphaModFix amt="99000"/>
          </a:blip>
          <a:tile tx="0" ty="0" sx="100000" sy="100000" flip="none" algn="tl"/>
        </a:blipFill>
        <a:ln>
          <a:noFill/>
        </a:ln>
        <a:effectLst/>
        <a:sp3d/>
      </c:spPr>
    </c:sideWall>
    <c:backWall>
      <c:thickness val="0"/>
      <c:spPr>
        <a:blipFill>
          <a:blip xmlns:r="http://schemas.openxmlformats.org/officeDocument/2006/relationships" r:embed="rId3">
            <a:alphaModFix amt="99000"/>
          </a:blip>
          <a:tile tx="0" ty="0" sx="100000" sy="100000" flip="none" algn="tl"/>
        </a:blipFill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Pt>
            <c:idx val="1"/>
            <c:invertIfNegative val="0"/>
            <c:bubble3D val="0"/>
            <c:spPr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0801-4C3E-AE20-997222F427A9}"/>
              </c:ext>
            </c:extLst>
          </c:dPt>
          <c:dPt>
            <c:idx val="2"/>
            <c:invertIfNegative val="0"/>
            <c:bubble3D val="0"/>
            <c:spPr>
              <a:blipFill>
                <a:blip xmlns:r="http://schemas.openxmlformats.org/officeDocument/2006/relationships"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0801-4C3E-AE20-997222F427A9}"/>
              </c:ext>
            </c:extLst>
          </c:dPt>
          <c:dLbls>
            <c:dLbl>
              <c:idx val="1"/>
              <c:layout>
                <c:manualLayout>
                  <c:x val="3.7517588215814166E-3"/>
                  <c:y val="7.08180708180707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801-4C3E-AE20-997222F427A9}"/>
                </c:ext>
              </c:extLst>
            </c:dLbl>
            <c:dLbl>
              <c:idx val="2"/>
              <c:layout>
                <c:manualLayout>
                  <c:x val="-6.252931369302361E-3"/>
                  <c:y val="8.05860805860805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801-4C3E-AE20-997222F427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List1!$A$2:$A$4</c:f>
              <c:strCache>
                <c:ptCount val="3"/>
                <c:pt idx="0">
                  <c:v>Žlutí</c:v>
                </c:pt>
                <c:pt idx="1">
                  <c:v>Modří</c:v>
                </c:pt>
                <c:pt idx="2">
                  <c:v>Červení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223</c:v>
                </c:pt>
                <c:pt idx="2">
                  <c:v>178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4-0801-4C3E-AE20-997222F427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gapDepth val="100"/>
        <c:shape val="box"/>
        <c:axId val="1083286719"/>
        <c:axId val="956535535"/>
        <c:axId val="0"/>
      </c:bar3DChart>
      <c:catAx>
        <c:axId val="10832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56535535"/>
        <c:crosses val="autoZero"/>
        <c:auto val="1"/>
        <c:lblAlgn val="ctr"/>
        <c:lblOffset val="100"/>
        <c:noMultiLvlLbl val="0"/>
      </c:catAx>
      <c:valAx>
        <c:axId val="95653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8328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6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rgbClr val="0070C0"/>
                </a:solidFill>
              </a:rPr>
              <a:t>Volby</a:t>
            </a:r>
            <a:r>
              <a:rPr lang="cs-CZ" sz="2800" b="1" baseline="0" dirty="0">
                <a:solidFill>
                  <a:srgbClr val="0070C0"/>
                </a:solidFill>
              </a:rPr>
              <a:t> v Kocourkově</a:t>
            </a:r>
            <a:endParaRPr lang="en-US" sz="2800" b="1" dirty="0">
              <a:solidFill>
                <a:srgbClr val="0070C0"/>
              </a:solidFill>
            </a:endParaRPr>
          </a:p>
        </c:rich>
      </c:tx>
      <c:layout>
        <c:manualLayout>
          <c:xMode val="edge"/>
          <c:yMode val="edge"/>
          <c:x val="0.2347821805736228"/>
          <c:y val="3.78995173837350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0070C0"/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solidFill>
          <a:srgbClr val="FFFF00"/>
        </a:solidFill>
        <a:ln>
          <a:noFill/>
        </a:ln>
        <a:effectLst/>
        <a:sp3d/>
      </c:spPr>
    </c:floor>
    <c:sideWall>
      <c:thickness val="0"/>
      <c:spPr>
        <a:blipFill>
          <a:blip xmlns:r="http://schemas.openxmlformats.org/officeDocument/2006/relationships" r:embed="rId3">
            <a:alphaModFix amt="99000"/>
          </a:blip>
          <a:tile tx="0" ty="0" sx="100000" sy="100000" flip="none" algn="tl"/>
        </a:blipFill>
        <a:ln>
          <a:noFill/>
        </a:ln>
        <a:effectLst/>
        <a:sp3d/>
      </c:spPr>
    </c:sideWall>
    <c:backWall>
      <c:thickness val="0"/>
      <c:spPr>
        <a:blipFill>
          <a:blip xmlns:r="http://schemas.openxmlformats.org/officeDocument/2006/relationships" r:embed="rId3">
            <a:alphaModFix amt="99000"/>
          </a:blip>
          <a:tile tx="0" ty="0" sx="100000" sy="100000" flip="none" algn="tl"/>
        </a:blipFill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List1!$A$2</c:f>
              <c:strCache>
                <c:ptCount val="1"/>
                <c:pt idx="0">
                  <c:v>Žlutí</c:v>
                </c:pt>
              </c:strCache>
            </c:strRef>
          </c:tx>
          <c:spPr>
            <a:gradFill flip="none" rotWithShape="1">
              <a:gsLst>
                <a:gs pos="21000">
                  <a:srgbClr val="FFFF00"/>
                </a:gs>
                <a:gs pos="0">
                  <a:schemeClr val="accent1">
                    <a:lumMod val="5000"/>
                    <a:lumOff val="95000"/>
                  </a:schemeClr>
                </a:gs>
                <a:gs pos="43000">
                  <a:srgbClr val="00B0F0"/>
                </a:gs>
                <a:gs pos="68000">
                  <a:schemeClr val="accent1">
                    <a:lumMod val="45000"/>
                    <a:lumOff val="55000"/>
                  </a:schemeClr>
                </a:gs>
                <a:gs pos="100000">
                  <a:srgbClr val="C00000"/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  <a:effectLst/>
            <a:sp3d/>
          </c:spPr>
          <c:invertIfNegative val="0"/>
          <c:cat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cat>
          <c:val>
            <c:numRef>
              <c:f>List1!$B$2</c:f>
              <c:numCache>
                <c:formatCode>General</c:formatCode>
                <c:ptCount val="1"/>
                <c:pt idx="0">
                  <c:v>200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F4E5-4795-B5DB-7E80FAC0596E}"/>
            </c:ext>
          </c:extLst>
        </c:ser>
        <c:ser>
          <c:idx val="1"/>
          <c:order val="1"/>
          <c:tx>
            <c:strRef>
              <c:f>List1!$A$3</c:f>
              <c:strCache>
                <c:ptCount val="1"/>
                <c:pt idx="0">
                  <c:v>Modří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2-F4E5-4795-B5DB-7E80FAC0596E}"/>
              </c:ext>
            </c:extLst>
          </c:dPt>
          <c:dLbls>
            <c:dLbl>
              <c:idx val="0"/>
              <c:layout>
                <c:manualLayout>
                  <c:x val="3.7517588215814166E-3"/>
                  <c:y val="7.08180708180707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4E5-4795-B5DB-7E80FAC0596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cat>
          <c:val>
            <c:numRef>
              <c:f>List1!$B$3</c:f>
              <c:numCache>
                <c:formatCode>General</c:formatCode>
                <c:ptCount val="1"/>
                <c:pt idx="0">
                  <c:v>223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3-F4E5-4795-B5DB-7E80FAC0596E}"/>
            </c:ext>
          </c:extLst>
        </c:ser>
        <c:ser>
          <c:idx val="2"/>
          <c:order val="2"/>
          <c:tx>
            <c:strRef>
              <c:f>List1!$A$4</c:f>
              <c:strCache>
                <c:ptCount val="1"/>
                <c:pt idx="0">
                  <c:v>Červení</c:v>
                </c:pt>
              </c:strCache>
            </c:strRef>
          </c:tx>
          <c:spPr>
            <a:blipFill>
              <a:blip xmlns:r="http://schemas.openxmlformats.org/officeDocument/2006/relationships" r:embed="rId4"/>
              <a:stretch>
                <a:fillRect/>
              </a:stretch>
            </a:blip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blipFill>
                <a:blip xmlns:r="http://schemas.openxmlformats.org/officeDocument/2006/relationships"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F4E5-4795-B5DB-7E80FAC0596E}"/>
              </c:ext>
            </c:extLst>
          </c:dPt>
          <c:dLbls>
            <c:dLbl>
              <c:idx val="0"/>
              <c:layout>
                <c:manualLayout>
                  <c:x val="-6.252931369302361E-3"/>
                  <c:y val="8.05860805860805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4E5-4795-B5DB-7E80FAC0596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cat>
          <c:val>
            <c:numRef>
              <c:f>List1!$B$4</c:f>
              <c:numCache>
                <c:formatCode>General</c:formatCode>
                <c:ptCount val="1"/>
                <c:pt idx="0">
                  <c:v>178</c:v>
                </c:pt>
              </c:numCache>
            </c:numRef>
          </c:val>
          <c:shape val="coneToMax"/>
          <c:extLst>
            <c:ext xmlns:c16="http://schemas.microsoft.com/office/drawing/2014/chart" uri="{C3380CC4-5D6E-409C-BE32-E72D297353CC}">
              <c16:uniqueId val="{00000006-F4E5-4795-B5DB-7E80FAC059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gapDepth val="58"/>
        <c:shape val="box"/>
        <c:axId val="1083286719"/>
        <c:axId val="956535535"/>
        <c:axId val="0"/>
      </c:bar3DChart>
      <c:catAx>
        <c:axId val="10832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56535535"/>
        <c:crosses val="autoZero"/>
        <c:auto val="1"/>
        <c:lblAlgn val="ctr"/>
        <c:lblOffset val="100"/>
        <c:noMultiLvlLbl val="0"/>
      </c:catAx>
      <c:valAx>
        <c:axId val="95653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8328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7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rgbClr val="0070C0"/>
                </a:solidFill>
              </a:rPr>
              <a:t>Volby</a:t>
            </a:r>
            <a:r>
              <a:rPr lang="cs-CZ" sz="2800" b="1" baseline="0" dirty="0">
                <a:solidFill>
                  <a:srgbClr val="0070C0"/>
                </a:solidFill>
              </a:rPr>
              <a:t> v Kocourkově</a:t>
            </a:r>
            <a:endParaRPr lang="en-US" sz="2800" b="1" dirty="0">
              <a:solidFill>
                <a:srgbClr val="0070C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0070C0"/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solidFill>
          <a:srgbClr val="FFFF00"/>
        </a:solidFill>
        <a:ln>
          <a:noFill/>
        </a:ln>
        <a:effectLst/>
        <a:sp3d/>
      </c:spPr>
    </c:floor>
    <c:sideWall>
      <c:thickness val="0"/>
      <c:spPr>
        <a:blipFill>
          <a:blip xmlns:r="http://schemas.openxmlformats.org/officeDocument/2006/relationships" r:embed="rId3">
            <a:alphaModFix amt="99000"/>
          </a:blip>
          <a:tile tx="0" ty="0" sx="100000" sy="100000" flip="none" algn="tl"/>
        </a:blipFill>
        <a:ln>
          <a:noFill/>
        </a:ln>
        <a:effectLst/>
        <a:sp3d/>
      </c:spPr>
    </c:sideWall>
    <c:backWall>
      <c:thickness val="0"/>
      <c:spPr>
        <a:blipFill>
          <a:blip xmlns:r="http://schemas.openxmlformats.org/officeDocument/2006/relationships" r:embed="rId3">
            <a:alphaModFix amt="99000"/>
          </a:blip>
          <a:tile tx="0" ty="0" sx="100000" sy="100000" flip="none" algn="tl"/>
        </a:blipFill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List1!$A$2</c:f>
              <c:strCache>
                <c:ptCount val="1"/>
                <c:pt idx="0">
                  <c:v>Žlutí</c:v>
                </c:pt>
              </c:strCache>
            </c:strRef>
          </c:tx>
          <c:spPr>
            <a:gradFill flip="none" rotWithShape="1">
              <a:gsLst>
                <a:gs pos="21000">
                  <a:srgbClr val="FFFF00"/>
                </a:gs>
                <a:gs pos="0">
                  <a:schemeClr val="accent1">
                    <a:lumMod val="5000"/>
                    <a:lumOff val="95000"/>
                  </a:schemeClr>
                </a:gs>
                <a:gs pos="43000">
                  <a:srgbClr val="00B0F0"/>
                </a:gs>
                <a:gs pos="68000">
                  <a:schemeClr val="accent1">
                    <a:lumMod val="45000"/>
                    <a:lumOff val="55000"/>
                  </a:schemeClr>
                </a:gs>
                <a:gs pos="100000">
                  <a:srgbClr val="C00000"/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  <a:effectLst/>
            <a:sp3d/>
          </c:spPr>
          <c:invertIfNegative val="0"/>
          <c:cat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cat>
          <c:val>
            <c:numRef>
              <c:f>List1!$B$2</c:f>
              <c:numCache>
                <c:formatCode>General</c:formatCode>
                <c:ptCount val="1"/>
                <c:pt idx="0">
                  <c:v>200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8392-4032-88D0-2D8A59172807}"/>
            </c:ext>
          </c:extLst>
        </c:ser>
        <c:ser>
          <c:idx val="1"/>
          <c:order val="1"/>
          <c:tx>
            <c:strRef>
              <c:f>List1!$A$3</c:f>
              <c:strCache>
                <c:ptCount val="1"/>
                <c:pt idx="0">
                  <c:v>Modří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2-8392-4032-88D0-2D8A59172807}"/>
              </c:ext>
            </c:extLst>
          </c:dPt>
          <c:dLbls>
            <c:dLbl>
              <c:idx val="0"/>
              <c:layout>
                <c:manualLayout>
                  <c:x val="3.7517588215814166E-3"/>
                  <c:y val="7.08180708180707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92-4032-88D0-2D8A591728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cat>
          <c:val>
            <c:numRef>
              <c:f>List1!$B$3</c:f>
              <c:numCache>
                <c:formatCode>General</c:formatCode>
                <c:ptCount val="1"/>
                <c:pt idx="0">
                  <c:v>223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3-8392-4032-88D0-2D8A59172807}"/>
            </c:ext>
          </c:extLst>
        </c:ser>
        <c:ser>
          <c:idx val="2"/>
          <c:order val="2"/>
          <c:tx>
            <c:strRef>
              <c:f>List1!$A$4</c:f>
              <c:strCache>
                <c:ptCount val="1"/>
                <c:pt idx="0">
                  <c:v>Červení</c:v>
                </c:pt>
              </c:strCache>
            </c:strRef>
          </c:tx>
          <c:spPr>
            <a:blipFill>
              <a:blip xmlns:r="http://schemas.openxmlformats.org/officeDocument/2006/relationships" r:embed="rId4"/>
              <a:stretch>
                <a:fillRect/>
              </a:stretch>
            </a:blip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blipFill>
                <a:blip xmlns:r="http://schemas.openxmlformats.org/officeDocument/2006/relationships"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8392-4032-88D0-2D8A59172807}"/>
              </c:ext>
            </c:extLst>
          </c:dPt>
          <c:dLbls>
            <c:dLbl>
              <c:idx val="0"/>
              <c:layout>
                <c:manualLayout>
                  <c:x val="-6.252931369302361E-3"/>
                  <c:y val="8.05860805860805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392-4032-88D0-2D8A591728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cat>
          <c:val>
            <c:numRef>
              <c:f>List1!$B$4</c:f>
              <c:numCache>
                <c:formatCode>General</c:formatCode>
                <c:ptCount val="1"/>
                <c:pt idx="0">
                  <c:v>178</c:v>
                </c:pt>
              </c:numCache>
            </c:numRef>
          </c:val>
          <c:shape val="coneToMax"/>
          <c:extLst>
            <c:ext xmlns:c16="http://schemas.microsoft.com/office/drawing/2014/chart" uri="{C3380CC4-5D6E-409C-BE32-E72D297353CC}">
              <c16:uniqueId val="{00000006-8392-4032-88D0-2D8A591728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gapDepth val="100"/>
        <c:shape val="box"/>
        <c:axId val="1083286719"/>
        <c:axId val="956535535"/>
        <c:axId val="0"/>
      </c:bar3DChart>
      <c:catAx>
        <c:axId val="10832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56535535"/>
        <c:crosses val="autoZero"/>
        <c:auto val="1"/>
        <c:lblAlgn val="ctr"/>
        <c:lblOffset val="100"/>
        <c:noMultiLvlLbl val="0"/>
      </c:catAx>
      <c:valAx>
        <c:axId val="95653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8328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7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chemeClr val="bg1"/>
                </a:solidFill>
              </a:rPr>
              <a:t>Volby</a:t>
            </a:r>
            <a:r>
              <a:rPr lang="cs-CZ" sz="2800" b="1" baseline="0" dirty="0">
                <a:solidFill>
                  <a:schemeClr val="bg1"/>
                </a:solidFill>
              </a:rPr>
              <a:t> v Kocourkově</a:t>
            </a:r>
            <a:endParaRPr lang="en-US" sz="2800" b="1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FFFF00"/>
            </a:solidFill>
          </c:spPr>
          <c:dPt>
            <c:idx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ABD-44B7-A65C-78BF28A4C0DD}"/>
              </c:ext>
            </c:extLst>
          </c:dPt>
          <c:dPt>
            <c:idx val="1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ABD-44B7-A65C-78BF28A4C0D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ABD-44B7-A65C-78BF28A4C0DD}"/>
              </c:ext>
            </c:extLst>
          </c:dPt>
          <c:dLbls>
            <c:dLbl>
              <c:idx val="0"/>
              <c:layout>
                <c:manualLayout>
                  <c:x val="2.9518464217034027E-2"/>
                  <c:y val="-5.0322363550710007E-2"/>
                </c:manualLayout>
              </c:layout>
              <c:tx>
                <c:rich>
                  <a:bodyPr/>
                  <a:lstStyle/>
                  <a:p>
                    <a:fld id="{D1629797-2940-4967-917E-3BEB550D7F5C}" type="VALUE">
                      <a:rPr lang="en-US" smtClean="0"/>
                      <a:pPr/>
                      <a:t>[HODNOTA]</a:t>
                    </a:fld>
                    <a:endParaRPr lang="en-US" dirty="0"/>
                  </a:p>
                  <a:p>
                    <a:fld id="{446E6193-C152-4615-8A89-7928AAE942D7}" type="PERCENTAGE">
                      <a:rPr lang="en-US" smtClean="0"/>
                      <a:pPr/>
                      <a:t>[PROCENTO]</a:t>
                    </a:fld>
                    <a:endParaRPr lang="cs-CZ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ABD-44B7-A65C-78BF28A4C0DD}"/>
                </c:ext>
              </c:extLst>
            </c:dLbl>
            <c:dLbl>
              <c:idx val="1"/>
              <c:layout>
                <c:manualLayout>
                  <c:x val="-0.17768713817314161"/>
                  <c:y val="-5.982559872323652E-2"/>
                </c:manualLayout>
              </c:layout>
              <c:tx>
                <c:rich>
                  <a:bodyPr/>
                  <a:lstStyle/>
                  <a:p>
                    <a:fld id="{47C57E3F-A94E-46D4-BB01-8CBBAD0C517C}" type="VALUE">
                      <a:rPr lang="en-US" smtClean="0"/>
                      <a:pPr/>
                      <a:t>[HODNOTA]</a:t>
                    </a:fld>
                    <a:endParaRPr lang="en-US" dirty="0"/>
                  </a:p>
                  <a:p>
                    <a:fld id="{E036131D-6C04-4FC3-91E7-A5656CEA5282}" type="PERCENTAGE">
                      <a:rPr lang="en-US" smtClean="0"/>
                      <a:pPr/>
                      <a:t>[PROCENTO]</a:t>
                    </a:fld>
                    <a:endParaRPr lang="cs-CZ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ABD-44B7-A65C-78BF28A4C0DD}"/>
                </c:ext>
              </c:extLst>
            </c:dLbl>
            <c:dLbl>
              <c:idx val="2"/>
              <c:layout>
                <c:manualLayout>
                  <c:x val="-2.5821160057613625E-2"/>
                  <c:y val="-1.2065030332746867E-2"/>
                </c:manualLayout>
              </c:layout>
              <c:tx>
                <c:rich>
                  <a:bodyPr/>
                  <a:lstStyle/>
                  <a:p>
                    <a:fld id="{E291E191-3529-41FF-9775-023C48C95E60}" type="VALUE">
                      <a:rPr lang="en-US" smtClean="0"/>
                      <a:pPr/>
                      <a:t>[HODNOTA]</a:t>
                    </a:fld>
                    <a:endParaRPr lang="en-US" dirty="0"/>
                  </a:p>
                  <a:p>
                    <a:fld id="{23AC15CE-3205-4EB4-96A2-519048E34F0E}" type="PERCENTAGE">
                      <a:rPr lang="en-US" smtClean="0"/>
                      <a:pPr/>
                      <a:t>[PROCENTO]</a:t>
                    </a:fld>
                    <a:endParaRPr lang="cs-CZ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ABD-44B7-A65C-78BF28A4C0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bg1"/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List1!$A$2:$A$4</c:f>
              <c:strCache>
                <c:ptCount val="3"/>
                <c:pt idx="0">
                  <c:v>Žlutí</c:v>
                </c:pt>
                <c:pt idx="1">
                  <c:v>Modří</c:v>
                </c:pt>
                <c:pt idx="2">
                  <c:v>Červení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223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D-44B7-A65C-78BF28A4C0D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cs-CZ"/>
              <a:t>Volby v Kocourkově</a:t>
            </a:r>
            <a:endParaRPr lang="en-US"/>
          </a:p>
        </c:rich>
      </c:tx>
      <c:layout>
        <c:manualLayout>
          <c:xMode val="edge"/>
          <c:yMode val="edge"/>
          <c:x val="0.23940845187800408"/>
          <c:y val="6.43301618176205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85000"/>
                      <a:satMod val="130000"/>
                    </a:schemeClr>
                  </a:gs>
                  <a:gs pos="34000">
                    <a:schemeClr val="accent1">
                      <a:shade val="87000"/>
                      <a:satMod val="125000"/>
                    </a:schemeClr>
                  </a:gs>
                  <a:gs pos="70000">
                    <a:schemeClr val="accent1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1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44450" dist="25400" dir="2700000" algn="b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flat">
                <a:bevelT w="25400" h="31750"/>
              </a:sp3d>
            </c:spPr>
            <c:extLst>
              <c:ext xmlns:c16="http://schemas.microsoft.com/office/drawing/2014/chart" uri="{C3380CC4-5D6E-409C-BE32-E72D297353CC}">
                <c16:uniqueId val="{00000001-8F80-458C-AD11-901835C331A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85000"/>
                      <a:satMod val="130000"/>
                    </a:schemeClr>
                  </a:gs>
                  <a:gs pos="34000">
                    <a:schemeClr val="accent2">
                      <a:shade val="87000"/>
                      <a:satMod val="125000"/>
                    </a:schemeClr>
                  </a:gs>
                  <a:gs pos="70000">
                    <a:schemeClr val="accent2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2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44450" dist="25400" dir="2700000" algn="b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flat">
                <a:bevelT w="25400" h="31750"/>
              </a:sp3d>
            </c:spPr>
            <c:extLst>
              <c:ext xmlns:c16="http://schemas.microsoft.com/office/drawing/2014/chart" uri="{C3380CC4-5D6E-409C-BE32-E72D297353CC}">
                <c16:uniqueId val="{00000003-8F80-458C-AD11-901835C331A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85000"/>
                      <a:satMod val="130000"/>
                    </a:schemeClr>
                  </a:gs>
                  <a:gs pos="34000">
                    <a:schemeClr val="accent3">
                      <a:shade val="87000"/>
                      <a:satMod val="125000"/>
                    </a:schemeClr>
                  </a:gs>
                  <a:gs pos="70000">
                    <a:schemeClr val="accent3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3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44450" dist="25400" dir="2700000" algn="b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flat">
                <a:bevelT w="25400" h="31750"/>
              </a:sp3d>
            </c:spPr>
            <c:extLst>
              <c:ext xmlns:c16="http://schemas.microsoft.com/office/drawing/2014/chart" uri="{C3380CC4-5D6E-409C-BE32-E72D297353CC}">
                <c16:uniqueId val="{00000005-8F80-458C-AD11-901835C331A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1629797-2940-4967-917E-3BEB550D7F5C}" type="VALUE">
                      <a:rPr lang="en-US" smtClean="0"/>
                      <a:pPr/>
                      <a:t>[HODNOTA]</a:t>
                    </a:fld>
                    <a:endParaRPr lang="en-US" dirty="0"/>
                  </a:p>
                  <a:p>
                    <a:fld id="{446E6193-C152-4615-8A89-7928AAE942D7}" type="PERCENTAGE">
                      <a:rPr lang="en-US" smtClean="0"/>
                      <a:pPr/>
                      <a:t>[PROCENTO]</a:t>
                    </a:fld>
                    <a:endParaRPr lang="cs-CZ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F80-458C-AD11-901835C331A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7C57E3F-A94E-46D4-BB01-8CBBAD0C517C}" type="VALUE">
                      <a:rPr lang="en-US" smtClean="0"/>
                      <a:pPr/>
                      <a:t>[HODNOTA]</a:t>
                    </a:fld>
                    <a:endParaRPr lang="en-US" dirty="0"/>
                  </a:p>
                  <a:p>
                    <a:fld id="{E036131D-6C04-4FC3-91E7-A5656CEA5282}" type="PERCENTAGE">
                      <a:rPr lang="en-US" smtClean="0"/>
                      <a:pPr/>
                      <a:t>[PROCENTO]</a:t>
                    </a:fld>
                    <a:endParaRPr lang="cs-CZ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F80-458C-AD11-901835C331A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291E191-3529-41FF-9775-023C48C95E60}" type="VALUE">
                      <a:rPr lang="en-US" smtClean="0"/>
                      <a:pPr/>
                      <a:t>[HODNOTA]</a:t>
                    </a:fld>
                    <a:endParaRPr lang="en-US" dirty="0"/>
                  </a:p>
                  <a:p>
                    <a:fld id="{23AC15CE-3205-4EB4-96A2-519048E34F0E}" type="PERCENTAGE">
                      <a:rPr lang="en-US" smtClean="0"/>
                      <a:pPr/>
                      <a:t>[PROCENTO]</a:t>
                    </a:fld>
                    <a:endParaRPr lang="cs-CZ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8F80-458C-AD11-901835C331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List1!$A$2:$A$4</c:f>
              <c:strCache>
                <c:ptCount val="3"/>
                <c:pt idx="0">
                  <c:v>Žlutí</c:v>
                </c:pt>
                <c:pt idx="1">
                  <c:v>Modří</c:v>
                </c:pt>
                <c:pt idx="2">
                  <c:v>Červení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223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F80-458C-AD11-901835C331A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solidFill>
            <a:schemeClr val="accent1"/>
          </a:solidFill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sz="2800" b="1" dirty="0">
                <a:solidFill>
                  <a:schemeClr val="bg1"/>
                </a:solidFill>
              </a:rPr>
              <a:t>Volby</a:t>
            </a:r>
            <a:r>
              <a:rPr lang="cs-CZ" sz="2800" b="1" baseline="0" dirty="0">
                <a:solidFill>
                  <a:schemeClr val="bg1"/>
                </a:solidFill>
              </a:rPr>
              <a:t> v Kocourkově</a:t>
            </a:r>
            <a:endParaRPr lang="en-US" sz="2800" b="1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>
        <c:manualLayout>
          <c:layoutTarget val="inner"/>
          <c:xMode val="edge"/>
          <c:yMode val="edge"/>
          <c:x val="0.25313904184431679"/>
          <c:y val="0.24300149155153364"/>
          <c:w val="0.5296870404510301"/>
          <c:h val="0.6926409296658993"/>
        </c:manualLayout>
      </c:layout>
      <c:radarChart>
        <c:radarStyle val="marker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0E-4247-B2E4-D6154E4DCA5F}"/>
              </c:ext>
            </c:extLst>
          </c:dPt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0E-4247-B2E4-D6154E4DCA5F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0E-4247-B2E4-D6154E4DCA5F}"/>
              </c:ext>
            </c:extLst>
          </c:dPt>
          <c:cat>
            <c:strRef>
              <c:f>List1!$A$2:$A$4</c:f>
              <c:strCache>
                <c:ptCount val="3"/>
                <c:pt idx="0">
                  <c:v>Žlutí</c:v>
                </c:pt>
                <c:pt idx="1">
                  <c:v>Modří</c:v>
                </c:pt>
                <c:pt idx="2">
                  <c:v>Červení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223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0E-4247-B2E4-D6154E4DCA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3448767"/>
        <c:axId val="1024142799"/>
      </c:radarChart>
      <c:catAx>
        <c:axId val="10134487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24142799"/>
        <c:crosses val="autoZero"/>
        <c:auto val="1"/>
        <c:lblAlgn val="ctr"/>
        <c:lblOffset val="100"/>
        <c:noMultiLvlLbl val="0"/>
      </c:catAx>
      <c:valAx>
        <c:axId val="102414279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0134487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/>
              <a:t>Prodej</a:t>
            </a:r>
            <a:r>
              <a:rPr lang="cs-CZ" baseline="0" dirty="0"/>
              <a:t> zájezdů</a:t>
            </a:r>
            <a:endParaRPr lang="cs-CZ" dirty="0"/>
          </a:p>
        </c:rich>
      </c:tx>
      <c:overlay val="0"/>
      <c:spPr>
        <a:noFill/>
        <a:ln>
          <a:noFill/>
        </a:ln>
        <a:effectLst/>
      </c:sp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0"/>
        <c:ser>
          <c:idx val="0"/>
          <c:order val="0"/>
          <c:tx>
            <c:strRef>
              <c:f>List1!$B$1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List1!$B$2:$B$6</c:f>
              <c:numCache>
                <c:formatCode>General</c:formatCode>
                <c:ptCount val="5"/>
                <c:pt idx="0">
                  <c:v>5250</c:v>
                </c:pt>
                <c:pt idx="1">
                  <c:v>3515</c:v>
                </c:pt>
                <c:pt idx="2">
                  <c:v>4890</c:v>
                </c:pt>
                <c:pt idx="3">
                  <c:v>2859</c:v>
                </c:pt>
                <c:pt idx="4">
                  <c:v>3956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83-4990-8A47-FEE86518E73B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List1!$C$2:$C$6</c:f>
              <c:numCache>
                <c:formatCode>General</c:formatCode>
                <c:ptCount val="5"/>
                <c:pt idx="0">
                  <c:v>6820</c:v>
                </c:pt>
                <c:pt idx="1">
                  <c:v>3985</c:v>
                </c:pt>
                <c:pt idx="2">
                  <c:v>5680</c:v>
                </c:pt>
                <c:pt idx="3">
                  <c:v>2956</c:v>
                </c:pt>
                <c:pt idx="4">
                  <c:v>4522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83-4990-8A47-FEE86518E73B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List1!$D$2:$D$6</c:f>
              <c:numCache>
                <c:formatCode>General</c:formatCode>
                <c:ptCount val="5"/>
                <c:pt idx="0">
                  <c:v>7021</c:v>
                </c:pt>
                <c:pt idx="1">
                  <c:v>4145</c:v>
                </c:pt>
                <c:pt idx="2">
                  <c:v>6112</c:v>
                </c:pt>
                <c:pt idx="3">
                  <c:v>3025</c:v>
                </c:pt>
                <c:pt idx="4">
                  <c:v>5085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83-4990-8A47-FEE86518E73B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1058005743"/>
        <c:axId val="1100811775"/>
        <c:axId val="1327495343"/>
      </c:surface3DChart>
      <c:catAx>
        <c:axId val="105800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100811775"/>
        <c:crosses val="autoZero"/>
        <c:auto val="1"/>
        <c:lblAlgn val="ctr"/>
        <c:lblOffset val="100"/>
        <c:noMultiLvlLbl val="0"/>
      </c:catAx>
      <c:valAx>
        <c:axId val="1100811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58005743"/>
        <c:crosses val="autoZero"/>
        <c:crossBetween val="midCat"/>
      </c:valAx>
      <c:serAx>
        <c:axId val="1327495343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10081177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/>
              <a:t>Prodej</a:t>
            </a:r>
            <a:r>
              <a:rPr lang="cs-CZ" baseline="0" dirty="0"/>
              <a:t> zájezdů</a:t>
            </a:r>
            <a:endParaRPr lang="cs-CZ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line3DChart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List1!$B$2:$B$6</c:f>
              <c:numCache>
                <c:formatCode>General</c:formatCode>
                <c:ptCount val="5"/>
                <c:pt idx="0">
                  <c:v>5250</c:v>
                </c:pt>
                <c:pt idx="1">
                  <c:v>3515</c:v>
                </c:pt>
                <c:pt idx="2">
                  <c:v>4890</c:v>
                </c:pt>
                <c:pt idx="3">
                  <c:v>2859</c:v>
                </c:pt>
                <c:pt idx="4">
                  <c:v>3956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73-4E50-B7A4-F676AEA7BE6C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List1!$C$2:$C$6</c:f>
              <c:numCache>
                <c:formatCode>General</c:formatCode>
                <c:ptCount val="5"/>
                <c:pt idx="0">
                  <c:v>6820</c:v>
                </c:pt>
                <c:pt idx="1">
                  <c:v>3985</c:v>
                </c:pt>
                <c:pt idx="2">
                  <c:v>5680</c:v>
                </c:pt>
                <c:pt idx="3">
                  <c:v>2956</c:v>
                </c:pt>
                <c:pt idx="4">
                  <c:v>4522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73-4E50-B7A4-F676AEA7BE6C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List1!$D$2:$D$6</c:f>
              <c:numCache>
                <c:formatCode>General</c:formatCode>
                <c:ptCount val="5"/>
                <c:pt idx="0">
                  <c:v>7021</c:v>
                </c:pt>
                <c:pt idx="1">
                  <c:v>4145</c:v>
                </c:pt>
                <c:pt idx="2">
                  <c:v>6112</c:v>
                </c:pt>
                <c:pt idx="3">
                  <c:v>3025</c:v>
                </c:pt>
                <c:pt idx="4">
                  <c:v>5085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73-4E50-B7A4-F676AEA7BE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58005743"/>
        <c:axId val="1100811775"/>
        <c:axId val="1327495343"/>
      </c:line3DChart>
      <c:catAx>
        <c:axId val="105800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100811775"/>
        <c:crosses val="autoZero"/>
        <c:auto val="1"/>
        <c:lblAlgn val="ctr"/>
        <c:lblOffset val="100"/>
        <c:noMultiLvlLbl val="0"/>
      </c:catAx>
      <c:valAx>
        <c:axId val="1100811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58005743"/>
        <c:crosses val="autoZero"/>
        <c:crossBetween val="between"/>
      </c:valAx>
      <c:serAx>
        <c:axId val="1327495343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10081177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/>
              <a:t>Prodej zájezdů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>
        <c:manualLayout>
          <c:layoutTarget val="inner"/>
          <c:xMode val="edge"/>
          <c:yMode val="edge"/>
          <c:x val="5.1359865283297265E-2"/>
          <c:y val="0.15174104027369392"/>
          <c:w val="0.88334784170787428"/>
          <c:h val="0.708221357310853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2015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85000"/>
                    <a:satMod val="130000"/>
                  </a:schemeClr>
                </a:gs>
                <a:gs pos="34000">
                  <a:schemeClr val="accent1">
                    <a:shade val="87000"/>
                    <a:satMod val="125000"/>
                  </a:schemeClr>
                </a:gs>
                <a:gs pos="70000">
                  <a:schemeClr val="accent1">
                    <a:tint val="100000"/>
                    <a:shade val="90000"/>
                    <a:satMod val="130000"/>
                  </a:schemeClr>
                </a:gs>
                <a:gs pos="100000">
                  <a:schemeClr val="accent1"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List1!$B$2:$B$6</c:f>
              <c:numCache>
                <c:formatCode>General</c:formatCode>
                <c:ptCount val="5"/>
                <c:pt idx="0">
                  <c:v>5250</c:v>
                </c:pt>
                <c:pt idx="1">
                  <c:v>3515</c:v>
                </c:pt>
                <c:pt idx="2">
                  <c:v>4890</c:v>
                </c:pt>
                <c:pt idx="3">
                  <c:v>2859</c:v>
                </c:pt>
                <c:pt idx="4">
                  <c:v>3956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83-4990-8A47-FEE86518E73B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2016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85000"/>
                    <a:satMod val="130000"/>
                  </a:schemeClr>
                </a:gs>
                <a:gs pos="34000">
                  <a:schemeClr val="accent2">
                    <a:shade val="87000"/>
                    <a:satMod val="125000"/>
                  </a:schemeClr>
                </a:gs>
                <a:gs pos="70000">
                  <a:schemeClr val="accent2">
                    <a:tint val="100000"/>
                    <a:shade val="90000"/>
                    <a:satMod val="130000"/>
                  </a:schemeClr>
                </a:gs>
                <a:gs pos="100000">
                  <a:schemeClr val="accent2"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List1!$C$2:$C$6</c:f>
              <c:numCache>
                <c:formatCode>General</c:formatCode>
                <c:ptCount val="5"/>
                <c:pt idx="0">
                  <c:v>6820</c:v>
                </c:pt>
                <c:pt idx="1">
                  <c:v>3985</c:v>
                </c:pt>
                <c:pt idx="2">
                  <c:v>5680</c:v>
                </c:pt>
                <c:pt idx="3">
                  <c:v>2956</c:v>
                </c:pt>
                <c:pt idx="4">
                  <c:v>4522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83-4990-8A47-FEE86518E7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58005743"/>
        <c:axId val="1100811775"/>
      </c:barChart>
      <c:lineChart>
        <c:grouping val="standard"/>
        <c:varyColors val="0"/>
        <c:ser>
          <c:idx val="2"/>
          <c:order val="2"/>
          <c:tx>
            <c:strRef>
              <c:f>List1!$D$1</c:f>
              <c:strCache>
                <c:ptCount val="1"/>
                <c:pt idx="0">
                  <c:v>2017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</c:spPr>
          <c:marker>
            <c:symbol val="none"/>
          </c:marker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List1!$D$2:$D$6</c:f>
              <c:numCache>
                <c:formatCode>General</c:formatCode>
                <c:ptCount val="5"/>
                <c:pt idx="0">
                  <c:v>7021</c:v>
                </c:pt>
                <c:pt idx="1">
                  <c:v>4145</c:v>
                </c:pt>
                <c:pt idx="2">
                  <c:v>6112</c:v>
                </c:pt>
                <c:pt idx="3">
                  <c:v>3025</c:v>
                </c:pt>
                <c:pt idx="4">
                  <c:v>5085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C83-4990-8A47-FEE86518E7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6749456"/>
        <c:axId val="1063171360"/>
      </c:lineChart>
      <c:catAx>
        <c:axId val="105800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100811775"/>
        <c:crosses val="autoZero"/>
        <c:auto val="1"/>
        <c:lblAlgn val="ctr"/>
        <c:lblOffset val="100"/>
        <c:noMultiLvlLbl val="0"/>
      </c:catAx>
      <c:valAx>
        <c:axId val="1100811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58005743"/>
        <c:crosses val="autoZero"/>
        <c:crossBetween val="between"/>
      </c:valAx>
      <c:valAx>
        <c:axId val="1063171360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576749456"/>
        <c:crosses val="max"/>
        <c:crossBetween val="between"/>
      </c:valAx>
      <c:catAx>
        <c:axId val="576749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631713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cs-CZ"/>
              <a:t>Prodej zájezdů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1359865283297265E-2"/>
          <c:y val="0.15174104027369392"/>
          <c:w val="0.88334784170787428"/>
          <c:h val="0.70822135731085323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2015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65000"/>
                    <a:shade val="85000"/>
                    <a:satMod val="130000"/>
                  </a:schemeClr>
                </a:gs>
                <a:gs pos="34000">
                  <a:schemeClr val="accent5">
                    <a:tint val="65000"/>
                    <a:shade val="87000"/>
                    <a:satMod val="125000"/>
                  </a:schemeClr>
                </a:gs>
                <a:gs pos="70000">
                  <a:schemeClr val="accent5">
                    <a:tint val="65000"/>
                    <a:tint val="100000"/>
                    <a:shade val="90000"/>
                    <a:satMod val="130000"/>
                  </a:schemeClr>
                </a:gs>
                <a:gs pos="100000">
                  <a:schemeClr val="accent5">
                    <a:tint val="65000"/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List1!$B$2:$B$6</c:f>
              <c:numCache>
                <c:formatCode>General</c:formatCode>
                <c:ptCount val="5"/>
                <c:pt idx="0">
                  <c:v>5250</c:v>
                </c:pt>
                <c:pt idx="1">
                  <c:v>3515</c:v>
                </c:pt>
                <c:pt idx="2">
                  <c:v>4890</c:v>
                </c:pt>
                <c:pt idx="3">
                  <c:v>2859</c:v>
                </c:pt>
                <c:pt idx="4">
                  <c:v>3956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E5-4B16-A1DE-EB6B505D8200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2016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85000"/>
                    <a:satMod val="130000"/>
                  </a:schemeClr>
                </a:gs>
                <a:gs pos="34000">
                  <a:schemeClr val="accent5">
                    <a:shade val="87000"/>
                    <a:satMod val="125000"/>
                  </a:schemeClr>
                </a:gs>
                <a:gs pos="70000">
                  <a:schemeClr val="accent5">
                    <a:tint val="100000"/>
                    <a:shade val="90000"/>
                    <a:satMod val="130000"/>
                  </a:schemeClr>
                </a:gs>
                <a:gs pos="100000">
                  <a:schemeClr val="accent5"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List1!$C$2:$C$6</c:f>
              <c:numCache>
                <c:formatCode>General</c:formatCode>
                <c:ptCount val="5"/>
                <c:pt idx="0">
                  <c:v>6820</c:v>
                </c:pt>
                <c:pt idx="1">
                  <c:v>3985</c:v>
                </c:pt>
                <c:pt idx="2">
                  <c:v>5680</c:v>
                </c:pt>
                <c:pt idx="3">
                  <c:v>2956</c:v>
                </c:pt>
                <c:pt idx="4">
                  <c:v>4522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E5-4B16-A1DE-EB6B505D8200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2017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65000"/>
                    <a:shade val="85000"/>
                    <a:satMod val="130000"/>
                  </a:schemeClr>
                </a:gs>
                <a:gs pos="34000">
                  <a:schemeClr val="accent5">
                    <a:shade val="65000"/>
                    <a:shade val="87000"/>
                    <a:satMod val="125000"/>
                  </a:schemeClr>
                </a:gs>
                <a:gs pos="70000">
                  <a:schemeClr val="accent5">
                    <a:shade val="65000"/>
                    <a:tint val="100000"/>
                    <a:shade val="90000"/>
                    <a:satMod val="130000"/>
                  </a:schemeClr>
                </a:gs>
                <a:gs pos="100000">
                  <a:schemeClr val="accent5">
                    <a:shade val="65000"/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44450" dist="25400" dir="2700000" algn="b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List1!$A$2:$A$6</c:f>
              <c:strCache>
                <c:ptCount val="5"/>
                <c:pt idx="0">
                  <c:v>Praha</c:v>
                </c:pt>
                <c:pt idx="1">
                  <c:v>Pardubice</c:v>
                </c:pt>
                <c:pt idx="2">
                  <c:v>Brno</c:v>
                </c:pt>
                <c:pt idx="3">
                  <c:v>Kolín</c:v>
                </c:pt>
                <c:pt idx="4">
                  <c:v>Ostrava</c:v>
                </c:pt>
              </c:strCache>
            </c:strRef>
          </c:cat>
          <c:val>
            <c:numRef>
              <c:f>List1!$D$2:$D$6</c:f>
              <c:numCache>
                <c:formatCode>General</c:formatCode>
                <c:ptCount val="5"/>
                <c:pt idx="0">
                  <c:v>7021</c:v>
                </c:pt>
                <c:pt idx="1">
                  <c:v>4145</c:v>
                </c:pt>
                <c:pt idx="2">
                  <c:v>6112</c:v>
                </c:pt>
                <c:pt idx="3">
                  <c:v>3025</c:v>
                </c:pt>
                <c:pt idx="4">
                  <c:v>5085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E5-4B16-A1DE-EB6B505D82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58005743"/>
        <c:axId val="1100811775"/>
        <c:axId val="0"/>
      </c:bar3DChart>
      <c:catAx>
        <c:axId val="105800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100811775"/>
        <c:crosses val="autoZero"/>
        <c:auto val="1"/>
        <c:lblAlgn val="ctr"/>
        <c:lblOffset val="100"/>
        <c:noMultiLvlLbl val="0"/>
      </c:catAx>
      <c:valAx>
        <c:axId val="1100811775"/>
        <c:scaling>
          <c:orientation val="minMax"/>
          <c:max val="7000"/>
          <c:min val="0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5800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počet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4"/>
                <c:pt idx="0">
                  <c:v>Brambory</c:v>
                </c:pt>
                <c:pt idx="1">
                  <c:v>Mrkev</c:v>
                </c:pt>
                <c:pt idx="2">
                  <c:v>Petržel</c:v>
                </c:pt>
                <c:pt idx="3">
                  <c:v>Celer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678</c:v>
                </c:pt>
                <c:pt idx="1">
                  <c:v>876</c:v>
                </c:pt>
                <c:pt idx="2">
                  <c:v>456</c:v>
                </c:pt>
                <c:pt idx="3">
                  <c:v>342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D0-4EF8-A004-DE1407674417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zisk / kg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4"/>
                <c:pt idx="0">
                  <c:v>Brambory</c:v>
                </c:pt>
                <c:pt idx="1">
                  <c:v>Mrkev</c:v>
                </c:pt>
                <c:pt idx="2">
                  <c:v>Petržel</c:v>
                </c:pt>
                <c:pt idx="3">
                  <c:v>Celer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6.8</c:v>
                </c:pt>
                <c:pt idx="1">
                  <c:v>4.5999999999999996</c:v>
                </c:pt>
                <c:pt idx="2">
                  <c:v>9.4</c:v>
                </c:pt>
                <c:pt idx="3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D0-4EF8-A004-DE1407674417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4"/>
                <c:pt idx="0">
                  <c:v>Brambory</c:v>
                </c:pt>
                <c:pt idx="1">
                  <c:v>Mrkev</c:v>
                </c:pt>
                <c:pt idx="2">
                  <c:v>Petržel</c:v>
                </c:pt>
                <c:pt idx="3">
                  <c:v>Celer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07D0-4EF8-A004-DE14076744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59135343"/>
        <c:axId val="1359200575"/>
        <c:axId val="1272977247"/>
      </c:bar3DChart>
      <c:catAx>
        <c:axId val="1359135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359200575"/>
        <c:crosses val="autoZero"/>
        <c:auto val="1"/>
        <c:lblAlgn val="ctr"/>
        <c:lblOffset val="100"/>
        <c:noMultiLvlLbl val="0"/>
      </c:catAx>
      <c:valAx>
        <c:axId val="1359200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359135343"/>
        <c:crosses val="autoZero"/>
        <c:crossBetween val="between"/>
      </c:valAx>
      <c:serAx>
        <c:axId val="127297724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35920057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2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>
            <a:lumMod val="75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>
            <a:lumMod val="75000"/>
          </a:schemeClr>
        </a:solidFill>
      </a:ln>
      <a:scene3d>
        <a:camera prst="orthographicFront"/>
        <a:lightRig rig="threePt" dir="t"/>
      </a:scene3d>
      <a:sp3d prstMaterial="translucentPowder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  <a:ln>
        <a:solidFill>
          <a:schemeClr val="phClr">
            <a:lumMod val="7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lt1"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0" kern="1200" cap="none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70BED2-2CD8-4EB9-91AB-C6B1DF8407AA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B2A8AA-3CFA-4058-A9E8-501629B98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407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A8AA-3CFA-4058-A9E8-501629B9885F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6189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A8AA-3CFA-4058-A9E8-501629B9885F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5071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A8AA-3CFA-4058-A9E8-501629B9885F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0625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A8AA-3CFA-4058-A9E8-501629B9885F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9517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A8AA-3CFA-4058-A9E8-501629B9885F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0817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A8AA-3CFA-4058-A9E8-501629B9885F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8870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A8AA-3CFA-4058-A9E8-501629B9885F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8215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2DFF-DFBA-45D7-BD53-EA41F0A3186F}" type="datetime1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66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C5BFA-7940-4C84-96A8-45C2D6FF4C61}" type="datetime1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280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F632D-4E03-4280-ADEF-645E5836C865}" type="datetime1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608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0D10B-2A89-4A40-8D20-277FE0B5353D}" type="datetime1">
              <a:rPr lang="cs-CZ" smtClean="0"/>
              <a:t>10.01.2024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097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41592-F96D-45D0-BDF6-A1D1F0E5A092}" type="datetime1">
              <a:rPr lang="cs-CZ" smtClean="0"/>
              <a:t>10.01.2024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5955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A086B-D1F5-4744-9FA8-56EA25590E9F}" type="datetime1">
              <a:rPr lang="cs-CZ" smtClean="0"/>
              <a:t>10.01.2024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27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8B628-844A-4E5C-909D-F279BE5D7174}" type="datetime1">
              <a:rPr lang="cs-CZ" smtClean="0"/>
              <a:t>10.01.2024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07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F94FED8-A547-483E-BCB3-165D9366CD51}" type="datetime1">
              <a:rPr lang="cs-CZ" smtClean="0"/>
              <a:t>10.01.2024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18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46B3-C3E6-4C94-8444-857BE4D38885}" type="datetime1">
              <a:rPr lang="cs-CZ" smtClean="0"/>
              <a:t>10.01.2024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6549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2D017-2BF7-46AF-A599-DDF556A7C899}" type="datetime1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2018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EDCFD-D31B-4C05-AF8A-BA1F4EA9ADFA}" type="datetime1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5373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A3D50CB-9031-44E1-8002-1FE173F072DB}" type="datetime1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CBEFC5-2588-4AC4-AECB-CCA272DE9DCC}" type="slidenum">
              <a:rPr lang="cs-CZ" smtClean="0"/>
              <a:t>‹#›</a:t>
            </a:fld>
            <a:endParaRPr lang="cs-CZ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36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package" Target="../embeddings/Microsoft_Excel_Worksheet23.xlsx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3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powerpoin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CDDCCE-52CB-19D8-7B89-A605FD25E0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Grafy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E61062A-8DEB-DFED-077F-107B7F2465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Možnosti zobrazení a další úpravy jako animace</a:t>
            </a:r>
          </a:p>
          <a:p>
            <a:endParaRPr lang="cs-CZ" dirty="0"/>
          </a:p>
          <a:p>
            <a:r>
              <a:rPr lang="cs-CZ" sz="1700" dirty="0"/>
              <a:t>Ing. Votavová </a:t>
            </a:r>
            <a:r>
              <a:rPr lang="cs-CZ" sz="1700" dirty="0" err="1"/>
              <a:t>gabriela</a:t>
            </a:r>
            <a:endParaRPr lang="cs-CZ" sz="1700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EC4DAEF-0CA0-9A43-97CE-33A6F9E8A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373" y="936171"/>
            <a:ext cx="2492160" cy="120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07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003C83DE-91CB-A685-2F33-A64477C3C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Ukázka chybně zobrazeného grafu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0D1A7F4-DC3C-A068-359C-AB5A59FE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</a:t>
            </a:fld>
            <a:endParaRPr lang="cs-CZ"/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DFB35F0C-B1B4-4E49-B4AB-32E5303A34D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845159957"/>
              </p:ext>
            </p:extLst>
          </p:nvPr>
        </p:nvGraphicFramePr>
        <p:xfrm>
          <a:off x="1347107" y="1824479"/>
          <a:ext cx="8972550" cy="4548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2737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31B568-58E8-C173-EDDF-811C72D7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Správný výběr dat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563C0E3-7A11-5E26-7A0F-97B61ED5D9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486"/>
          <a:stretch/>
        </p:blipFill>
        <p:spPr>
          <a:xfrm>
            <a:off x="78491" y="1811877"/>
            <a:ext cx="5878148" cy="4478754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FD2081D3-DD52-AFED-3605-6904A073D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892" y="2610998"/>
            <a:ext cx="5817618" cy="4146427"/>
          </a:xfrm>
          <a:prstGeom prst="rect">
            <a:avLst/>
          </a:prstGeom>
        </p:spPr>
      </p:pic>
      <p:sp>
        <p:nvSpPr>
          <p:cNvPr id="8" name="Šipka: doleva 7">
            <a:extLst>
              <a:ext uri="{FF2B5EF4-FFF2-40B4-BE49-F238E27FC236}">
                <a16:creationId xmlns:a16="http://schemas.microsoft.com/office/drawing/2014/main" id="{DD008418-4679-A739-A123-FC3F76C7FAED}"/>
              </a:ext>
            </a:extLst>
          </p:cNvPr>
          <p:cNvSpPr/>
          <p:nvPr/>
        </p:nvSpPr>
        <p:spPr>
          <a:xfrm rot="12489731">
            <a:off x="4961135" y="2192884"/>
            <a:ext cx="1895738" cy="1121065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1C3EBDDB-B2B4-09F7-AA2D-294EC730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6572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2518-202C-207D-F1B3-7ADF6B17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Změna stylu grafu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603A07D-112A-7F4A-75AD-2768FD03E9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75"/>
          <a:stretch/>
        </p:blipFill>
        <p:spPr>
          <a:xfrm>
            <a:off x="2858301" y="1810395"/>
            <a:ext cx="6475398" cy="5047605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5BBB761-5BC2-D288-D9F0-333C5FAD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4905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2518-202C-207D-F1B3-7ADF6B17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Změna barevného formátu grafu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8C04588-1CA9-1FE7-79BA-19833CBA1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10140404" cy="5422512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3112B6-1E9A-4032-B04C-91D57260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9794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2518-202C-207D-F1B3-7ADF6B17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Změna barevného formátu grafu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3112B6-1E9A-4032-B04C-91D57260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6</a:t>
            </a:fld>
            <a:endParaRPr lang="cs-CZ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ACBCCA3E-04C5-AC78-B10A-2627C354F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864" y="1795245"/>
            <a:ext cx="9499619" cy="506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0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2518-202C-207D-F1B3-7ADF6B17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Změna typu grafu</a:t>
            </a:r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DFB35F0C-B1B4-4E49-B4AB-32E5303A34D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87130642"/>
              </p:ext>
            </p:extLst>
          </p:nvPr>
        </p:nvGraphicFramePr>
        <p:xfrm>
          <a:off x="2850016" y="2137956"/>
          <a:ext cx="9472612" cy="4384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57BFC8A-A7A4-67D0-D1AE-8DA2F05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7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3F87815-550F-9C5B-65E7-2DB9D5D5B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71" y="1835677"/>
            <a:ext cx="3586127" cy="210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0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2518-202C-207D-F1B3-7ADF6B17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Grafická úprava datové řady na jiný tvar</a:t>
            </a:r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DFB35F0C-B1B4-4E49-B4AB-32E5303A34D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43495138"/>
              </p:ext>
            </p:extLst>
          </p:nvPr>
        </p:nvGraphicFramePr>
        <p:xfrm>
          <a:off x="3690652" y="1908310"/>
          <a:ext cx="8174778" cy="4343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57BFC8A-A7A4-67D0-D1AE-8DA2F05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8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AA299DC-2018-00C5-F992-6CE618F81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71" y="1908310"/>
            <a:ext cx="2883048" cy="43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73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2518-202C-207D-F1B3-7ADF6B17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 grafu</a:t>
            </a:r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DFB35F0C-B1B4-4E49-B4AB-32E5303A34D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314833925"/>
              </p:ext>
            </p:extLst>
          </p:nvPr>
        </p:nvGraphicFramePr>
        <p:xfrm>
          <a:off x="624203" y="2136757"/>
          <a:ext cx="5471797" cy="42053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57BFC8A-A7A4-67D0-D1AE-8DA2F05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9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DAC85D4C-A209-7135-C1D0-A0DBF3412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291" y="33090"/>
            <a:ext cx="5297709" cy="682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2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graphicEl>
                                              <a:chart seriesIdx="0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graphicEl>
                                              <a:chart seriesIdx="1" categoryIdx="1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seriesEl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2518-202C-207D-F1B3-7ADF6B17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 grafu</a:t>
            </a:r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DFB35F0C-B1B4-4E49-B4AB-32E5303A34D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52889042"/>
              </p:ext>
            </p:extLst>
          </p:nvPr>
        </p:nvGraphicFramePr>
        <p:xfrm>
          <a:off x="1578428" y="1973624"/>
          <a:ext cx="8011887" cy="4084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57BFC8A-A7A4-67D0-D1AE-8DA2F05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058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category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3A005D5-5AA3-A6E8-899D-5FEBA80E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754" y="639097"/>
            <a:ext cx="6253317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Další ukázky úpravy grafů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CAAEAA8-2390-ABA0-CF75-509A08283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89753" y="4455621"/>
            <a:ext cx="6269347" cy="12386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Prvky grafu, prohození řádku a sloupce, posunutí osy</a:t>
            </a:r>
          </a:p>
        </p:txBody>
      </p:sp>
      <p:pic>
        <p:nvPicPr>
          <p:cNvPr id="6" name="Picture 5" descr="Graf">
            <a:extLst>
              <a:ext uri="{FF2B5EF4-FFF2-40B4-BE49-F238E27FC236}">
                <a16:creationId xmlns:a16="http://schemas.microsoft.com/office/drawing/2014/main" id="{B53A2BC2-6229-5856-0104-2C62C6B347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45" r="34511"/>
          <a:stretch/>
        </p:blipFill>
        <p:spPr>
          <a:xfrm>
            <a:off x="-1" y="10"/>
            <a:ext cx="4635315" cy="685798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80193A1-4883-84DB-3EDF-10DAB1842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1896" y="6459785"/>
            <a:ext cx="11805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BEFC5-2588-4AC4-AECB-CCA272DE9DCC}" type="slidenum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 defTabSz="914400"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024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F7DAE0-402F-4735-8D5E-1795B279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000000"/>
                </a:solidFill>
              </a:rPr>
              <a:t>Tabulka jako součást PowerPointu</a:t>
            </a:r>
          </a:p>
        </p:txBody>
      </p:sp>
      <p:graphicFrame>
        <p:nvGraphicFramePr>
          <p:cNvPr id="4" name="Zástupný symbol pro obsah 3">
            <a:extLst>
              <a:ext uri="{FF2B5EF4-FFF2-40B4-BE49-F238E27FC236}">
                <a16:creationId xmlns:a16="http://schemas.microsoft.com/office/drawing/2014/main" id="{A9E608E0-4F78-4A7B-813F-905102397E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437794"/>
              </p:ext>
            </p:extLst>
          </p:nvPr>
        </p:nvGraphicFramePr>
        <p:xfrm>
          <a:off x="6621136" y="5037463"/>
          <a:ext cx="4467388" cy="1174398"/>
        </p:xfrm>
        <a:graphic>
          <a:graphicData uri="http://schemas.openxmlformats.org/drawingml/2006/table">
            <a:tbl>
              <a:tblPr firstRow="1" bandRow="1"/>
              <a:tblGrid>
                <a:gridCol w="1116847">
                  <a:extLst>
                    <a:ext uri="{9D8B030D-6E8A-4147-A177-3AD203B41FA5}">
                      <a16:colId xmlns:a16="http://schemas.microsoft.com/office/drawing/2014/main" val="627769126"/>
                    </a:ext>
                  </a:extLst>
                </a:gridCol>
                <a:gridCol w="1116847">
                  <a:extLst>
                    <a:ext uri="{9D8B030D-6E8A-4147-A177-3AD203B41FA5}">
                      <a16:colId xmlns:a16="http://schemas.microsoft.com/office/drawing/2014/main" val="1172357913"/>
                    </a:ext>
                  </a:extLst>
                </a:gridCol>
                <a:gridCol w="1116847">
                  <a:extLst>
                    <a:ext uri="{9D8B030D-6E8A-4147-A177-3AD203B41FA5}">
                      <a16:colId xmlns:a16="http://schemas.microsoft.com/office/drawing/2014/main" val="2515200964"/>
                    </a:ext>
                  </a:extLst>
                </a:gridCol>
                <a:gridCol w="1116847">
                  <a:extLst>
                    <a:ext uri="{9D8B030D-6E8A-4147-A177-3AD203B41FA5}">
                      <a16:colId xmlns:a16="http://schemas.microsoft.com/office/drawing/2014/main" val="1784356965"/>
                    </a:ext>
                  </a:extLst>
                </a:gridCol>
              </a:tblGrid>
              <a:tr h="534318">
                <a:tc>
                  <a:txBody>
                    <a:bodyPr/>
                    <a:lstStyle/>
                    <a:p>
                      <a:r>
                        <a:rPr lang="cs-CZ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cs-CZ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Žlutí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Modří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Červení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21810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cs-CZ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Počet hlasů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cs-CZ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cs-CZ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cs-CZ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7440589"/>
                  </a:ext>
                </a:extLst>
              </a:tr>
            </a:tbl>
          </a:graphicData>
        </a:graphic>
      </p:graphicFrame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789CE1F-87B8-2B30-F05E-D50C8CE4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12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38A882CE-E91D-A430-2F84-4056AA77C992}"/>
              </a:ext>
            </a:extLst>
          </p:cNvPr>
          <p:cNvSpPr txBox="1">
            <a:spLocks/>
          </p:cNvSpPr>
          <p:nvPr/>
        </p:nvSpPr>
        <p:spPr>
          <a:xfrm>
            <a:off x="6513055" y="4318612"/>
            <a:ext cx="4776547" cy="622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3200" b="1" dirty="0">
                <a:solidFill>
                  <a:srgbClr val="000000"/>
                </a:solidFill>
              </a:rPr>
              <a:t>Výsledek voleb v Kocourkově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B6E213B-D03F-62CB-5683-9364CC577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253"/>
          <a:stretch/>
        </p:blipFill>
        <p:spPr>
          <a:xfrm>
            <a:off x="858644" y="1828440"/>
            <a:ext cx="4258944" cy="4996470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A8B66BF4-C380-951D-3219-90F990FBDEFB}"/>
              </a:ext>
            </a:extLst>
          </p:cNvPr>
          <p:cNvSpPr txBox="1"/>
          <p:nvPr/>
        </p:nvSpPr>
        <p:spPr>
          <a:xfrm>
            <a:off x="6126480" y="1921089"/>
            <a:ext cx="59343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400" dirty="0"/>
              <a:t>POSTUP:</a:t>
            </a:r>
          </a:p>
          <a:p>
            <a:r>
              <a:rPr lang="cs-CZ" sz="2400" dirty="0"/>
              <a:t>karta Vložení =&gt; </a:t>
            </a:r>
          </a:p>
          <a:p>
            <a:endParaRPr lang="cs-CZ" sz="2400" dirty="0"/>
          </a:p>
          <a:p>
            <a:r>
              <a:rPr lang="cs-CZ" sz="2400" dirty="0"/>
              <a:t>1. přepsat data do listu MS Excelu</a:t>
            </a:r>
          </a:p>
          <a:p>
            <a:r>
              <a:rPr lang="cs-CZ" sz="2400" dirty="0"/>
              <a:t>- smazat původní data na listu MS Excelu a zkopírovat tabulku do původní oblasti</a:t>
            </a:r>
          </a:p>
          <a:p>
            <a:endParaRPr lang="cs-CZ" sz="2400" dirty="0"/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1AA94045-E389-A518-F46A-6EBD179B466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3F2F1"/>
              </a:clrFrom>
              <a:clrTo>
                <a:srgbClr val="F3F2F1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8291478" y="2182310"/>
            <a:ext cx="1506113" cy="61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81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A98D51A5-339A-4AE8-2253-E694FDDC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13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4889A0C2-98CE-8128-22D6-64CAA71235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01" t="2532" r="25096" b="20507"/>
          <a:stretch/>
        </p:blipFill>
        <p:spPr>
          <a:xfrm>
            <a:off x="358816" y="1961912"/>
            <a:ext cx="5372073" cy="4137948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0DA7E232-C93E-621D-A3E7-B8CE0504B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483" y="1961911"/>
            <a:ext cx="4466000" cy="3848581"/>
          </a:xfrm>
          <a:prstGeom prst="rect">
            <a:avLst/>
          </a:prstGeom>
        </p:spPr>
      </p:pic>
      <p:sp>
        <p:nvSpPr>
          <p:cNvPr id="11" name="Nadpis 1">
            <a:extLst>
              <a:ext uri="{FF2B5EF4-FFF2-40B4-BE49-F238E27FC236}">
                <a16:creationId xmlns:a16="http://schemas.microsoft.com/office/drawing/2014/main" id="{BAC96D6A-0B60-8C99-C8B8-A4D696E99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r>
              <a:rPr lang="cs-CZ" dirty="0">
                <a:solidFill>
                  <a:srgbClr val="000000"/>
                </a:solidFill>
              </a:rPr>
              <a:t>Tabulka jako součást PowerPointu</a:t>
            </a:r>
          </a:p>
        </p:txBody>
      </p:sp>
      <p:sp>
        <p:nvSpPr>
          <p:cNvPr id="12" name="Šipka: doleva 11">
            <a:extLst>
              <a:ext uri="{FF2B5EF4-FFF2-40B4-BE49-F238E27FC236}">
                <a16:creationId xmlns:a16="http://schemas.microsoft.com/office/drawing/2014/main" id="{BDE18FC4-8E17-E0B8-4556-C2D80A22AA94}"/>
              </a:ext>
            </a:extLst>
          </p:cNvPr>
          <p:cNvSpPr/>
          <p:nvPr/>
        </p:nvSpPr>
        <p:spPr>
          <a:xfrm rot="10800000">
            <a:off x="4783020" y="2435227"/>
            <a:ext cx="1895738" cy="1121065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5074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>
            <a:extLst>
              <a:ext uri="{FF2B5EF4-FFF2-40B4-BE49-F238E27FC236}">
                <a16:creationId xmlns:a16="http://schemas.microsoft.com/office/drawing/2014/main" id="{B2AB5B51-CEBA-D6DC-027B-F6BADE470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grafu 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DDFDE3A-37F4-5BF4-9401-BE67C1F83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14</a:t>
            </a:fld>
            <a:endParaRPr lang="cs-CZ"/>
          </a:p>
        </p:txBody>
      </p:sp>
      <p:graphicFrame>
        <p:nvGraphicFramePr>
          <p:cNvPr id="12" name="Graf 11">
            <a:extLst>
              <a:ext uri="{FF2B5EF4-FFF2-40B4-BE49-F238E27FC236}">
                <a16:creationId xmlns:a16="http://schemas.microsoft.com/office/drawing/2014/main" id="{3C3625D2-DB62-F4BD-AFAA-414EA1E2A3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1491432"/>
              </p:ext>
            </p:extLst>
          </p:nvPr>
        </p:nvGraphicFramePr>
        <p:xfrm>
          <a:off x="2755407" y="1905918"/>
          <a:ext cx="7145051" cy="4133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8493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C931013A-6233-5054-5024-59D7585B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15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3711A16F-E4DA-28B4-968B-3921E2479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5" y="1167769"/>
            <a:ext cx="8076514" cy="4899752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CE520F46-FF29-F758-DBCC-1CC444737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207" y="3073706"/>
            <a:ext cx="5021794" cy="3665861"/>
          </a:xfrm>
          <a:prstGeom prst="rect">
            <a:avLst/>
          </a:prstGeom>
        </p:spPr>
      </p:pic>
      <p:sp>
        <p:nvSpPr>
          <p:cNvPr id="8" name="Šipka: doleva 7">
            <a:extLst>
              <a:ext uri="{FF2B5EF4-FFF2-40B4-BE49-F238E27FC236}">
                <a16:creationId xmlns:a16="http://schemas.microsoft.com/office/drawing/2014/main" id="{89199A8D-FF83-EA64-D9C1-67C805647508}"/>
              </a:ext>
            </a:extLst>
          </p:cNvPr>
          <p:cNvSpPr/>
          <p:nvPr/>
        </p:nvSpPr>
        <p:spPr>
          <a:xfrm rot="10800000">
            <a:off x="5795975" y="5338720"/>
            <a:ext cx="1895738" cy="1121065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Nadpis 12">
            <a:extLst>
              <a:ext uri="{FF2B5EF4-FFF2-40B4-BE49-F238E27FC236}">
                <a16:creationId xmlns:a16="http://schemas.microsoft.com/office/drawing/2014/main" id="{B008ADF9-019A-B628-89BE-1CF2340C7BC8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Úprava grafu </a:t>
            </a:r>
          </a:p>
        </p:txBody>
      </p:sp>
    </p:spTree>
    <p:extLst>
      <p:ext uri="{BB962C8B-B14F-4D97-AF65-F5344CB8AC3E}">
        <p14:creationId xmlns:p14="http://schemas.microsoft.com/office/powerpoint/2010/main" val="2035363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>
            <a:extLst>
              <a:ext uri="{FF2B5EF4-FFF2-40B4-BE49-F238E27FC236}">
                <a16:creationId xmlns:a16="http://schemas.microsoft.com/office/drawing/2014/main" id="{B2AB5B51-CEBA-D6DC-027B-F6BADE470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Výsledná úprava grafu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DDFDE3A-37F4-5BF4-9401-BE67C1F83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16</a:t>
            </a:fld>
            <a:endParaRPr lang="cs-CZ"/>
          </a:p>
        </p:txBody>
      </p:sp>
      <p:graphicFrame>
        <p:nvGraphicFramePr>
          <p:cNvPr id="12" name="Graf 11">
            <a:extLst>
              <a:ext uri="{FF2B5EF4-FFF2-40B4-BE49-F238E27FC236}">
                <a16:creationId xmlns:a16="http://schemas.microsoft.com/office/drawing/2014/main" id="{3C3625D2-DB62-F4BD-AFAA-414EA1E2A3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850715"/>
              </p:ext>
            </p:extLst>
          </p:nvPr>
        </p:nvGraphicFramePr>
        <p:xfrm>
          <a:off x="2090651" y="1905918"/>
          <a:ext cx="8071658" cy="4665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01818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5E81C87B-F654-0FAE-7759-B90303747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popisků dat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2A208254-8140-B697-69FA-3E17AC35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17</a:t>
            </a:fld>
            <a:endParaRPr lang="cs-CZ"/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B7A01A56-57F1-4DAD-B6F7-87F3AF658FC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43524566"/>
              </p:ext>
            </p:extLst>
          </p:nvPr>
        </p:nvGraphicFramePr>
        <p:xfrm>
          <a:off x="102194" y="1947961"/>
          <a:ext cx="6377940" cy="41811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Obrázek 4">
            <a:extLst>
              <a:ext uri="{FF2B5EF4-FFF2-40B4-BE49-F238E27FC236}">
                <a16:creationId xmlns:a16="http://schemas.microsoft.com/office/drawing/2014/main" id="{339EBE58-DCC9-6246-9C0F-A752CB9FA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020" y="215653"/>
            <a:ext cx="4203732" cy="6264205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3700CF1C-4BC0-92E6-2FCC-B808684BC70E}"/>
              </a:ext>
            </a:extLst>
          </p:cNvPr>
          <p:cNvSpPr txBox="1"/>
          <p:nvPr/>
        </p:nvSpPr>
        <p:spPr>
          <a:xfrm>
            <a:off x="6811679" y="378142"/>
            <a:ext cx="361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92441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5E81C87B-F654-0FAE-7759-B90303747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Popisky dat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2A208254-8140-B697-69FA-3E17AC35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18</a:t>
            </a:fld>
            <a:endParaRPr lang="cs-CZ"/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B7A01A56-57F1-4DAD-B6F7-87F3AF658FC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55653897"/>
              </p:ext>
            </p:extLst>
          </p:nvPr>
        </p:nvGraphicFramePr>
        <p:xfrm>
          <a:off x="1" y="1952239"/>
          <a:ext cx="4450814" cy="3570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" name="Obrázek 7">
            <a:extLst>
              <a:ext uri="{FF2B5EF4-FFF2-40B4-BE49-F238E27FC236}">
                <a16:creationId xmlns:a16="http://schemas.microsoft.com/office/drawing/2014/main" id="{338AEF13-A609-52E7-9492-1C39EE547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376" y="144866"/>
            <a:ext cx="4172164" cy="2330570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C98758EC-70DF-131E-BCB6-DD1B874C9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467" y="2617173"/>
            <a:ext cx="4324572" cy="4095961"/>
          </a:xfrm>
          <a:prstGeom prst="rect">
            <a:avLst/>
          </a:prstGeom>
        </p:spPr>
      </p:pic>
      <p:sp>
        <p:nvSpPr>
          <p:cNvPr id="11" name="TextovéPole 10">
            <a:extLst>
              <a:ext uri="{FF2B5EF4-FFF2-40B4-BE49-F238E27FC236}">
                <a16:creationId xmlns:a16="http://schemas.microsoft.com/office/drawing/2014/main" id="{CC897015-CA9F-B0E1-787F-578437C3809B}"/>
              </a:ext>
            </a:extLst>
          </p:cNvPr>
          <p:cNvSpPr txBox="1"/>
          <p:nvPr/>
        </p:nvSpPr>
        <p:spPr>
          <a:xfrm>
            <a:off x="7375917" y="144866"/>
            <a:ext cx="361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dirty="0"/>
              <a:t>2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8C1D3279-FA2F-AA0D-0798-85ADC4ED9183}"/>
              </a:ext>
            </a:extLst>
          </p:cNvPr>
          <p:cNvSpPr txBox="1"/>
          <p:nvPr/>
        </p:nvSpPr>
        <p:spPr>
          <a:xfrm>
            <a:off x="9011039" y="2617173"/>
            <a:ext cx="361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91014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5E81C87B-F654-0FAE-7759-B90303747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prvky grafu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2A208254-8140-B697-69FA-3E17AC35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19</a:t>
            </a:fld>
            <a:endParaRPr lang="cs-CZ"/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B7A01A56-57F1-4DAD-B6F7-87F3AF658FC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52790699"/>
              </p:ext>
            </p:extLst>
          </p:nvPr>
        </p:nvGraphicFramePr>
        <p:xfrm>
          <a:off x="275422" y="1883884"/>
          <a:ext cx="5431315" cy="4274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Obrázek 12">
            <a:extLst>
              <a:ext uri="{FF2B5EF4-FFF2-40B4-BE49-F238E27FC236}">
                <a16:creationId xmlns:a16="http://schemas.microsoft.com/office/drawing/2014/main" id="{C1677CCD-2167-FB7A-77C4-288609EC8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115" y="143220"/>
            <a:ext cx="5750550" cy="601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98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AD80A2C4-403F-BF63-B7FF-A9C79EF3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Oddálení řad v grafu 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8FF46D7C-D296-CFF3-3D6D-D24F9C30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20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6311F20-C5B2-E127-1318-9BA5E38C1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22" y="1825495"/>
            <a:ext cx="11433555" cy="440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71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56C43820-6C2E-31AF-A7B4-2D1CC3924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Postup tvorby mezer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8DCFE379-FC20-5274-B9CF-BAFB51863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21</a:t>
            </a:fld>
            <a:endParaRPr lang="cs-CZ"/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B7A01A56-57F1-4DAD-B6F7-87F3AF658FC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69367348"/>
              </p:ext>
            </p:extLst>
          </p:nvPr>
        </p:nvGraphicFramePr>
        <p:xfrm>
          <a:off x="136924" y="2478368"/>
          <a:ext cx="5554739" cy="3547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Zástupný symbol pro obsah 5">
            <a:extLst>
              <a:ext uri="{FF2B5EF4-FFF2-40B4-BE49-F238E27FC236}">
                <a16:creationId xmlns:a16="http://schemas.microsoft.com/office/drawing/2014/main" id="{06961A69-9744-0E04-A1E6-2FE0957572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1804775"/>
              </p:ext>
            </p:extLst>
          </p:nvPr>
        </p:nvGraphicFramePr>
        <p:xfrm>
          <a:off x="6366945" y="2218222"/>
          <a:ext cx="5808512" cy="3808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Šipka: doleva 9">
            <a:extLst>
              <a:ext uri="{FF2B5EF4-FFF2-40B4-BE49-F238E27FC236}">
                <a16:creationId xmlns:a16="http://schemas.microsoft.com/office/drawing/2014/main" id="{147B175F-103E-E018-5E26-AB8037917ED5}"/>
              </a:ext>
            </a:extLst>
          </p:cNvPr>
          <p:cNvSpPr/>
          <p:nvPr/>
        </p:nvSpPr>
        <p:spPr>
          <a:xfrm rot="10800000">
            <a:off x="5299796" y="3902628"/>
            <a:ext cx="1895738" cy="1121065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7190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09654C3E-759C-0DC3-A573-ACDB671A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22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D858EEAD-E1D3-7983-46C8-573DC8932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840" y="2246282"/>
            <a:ext cx="6311712" cy="4431870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B432D003-4A12-460A-437C-BBF33BD28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000966" cy="5007227"/>
          </a:xfrm>
          <a:prstGeom prst="rect">
            <a:avLst/>
          </a:prstGeom>
        </p:spPr>
      </p:pic>
      <p:sp>
        <p:nvSpPr>
          <p:cNvPr id="9" name="Šipka: doleva 8">
            <a:extLst>
              <a:ext uri="{FF2B5EF4-FFF2-40B4-BE49-F238E27FC236}">
                <a16:creationId xmlns:a16="http://schemas.microsoft.com/office/drawing/2014/main" id="{11B9B723-99E9-B5BA-7A76-B18C4EDA1AE1}"/>
              </a:ext>
            </a:extLst>
          </p:cNvPr>
          <p:cNvSpPr/>
          <p:nvPr/>
        </p:nvSpPr>
        <p:spPr>
          <a:xfrm rot="18288943">
            <a:off x="6304902" y="537691"/>
            <a:ext cx="1895738" cy="1121065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019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AD80A2C4-403F-BF63-B7FF-A9C79EF3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Pokud není změna možná 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8FF46D7C-D296-CFF3-3D6D-D24F9C30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23</a:t>
            </a:fld>
            <a:endParaRPr lang="cs-CZ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30F3872A-6F4F-88BF-3E3A-D983E48DA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2622"/>
            <a:ext cx="12192000" cy="505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669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AFC89FFB-91A4-05F4-09F8-137D50D9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Postup změny tvaru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B0A200F8-470C-D792-D758-CE1B3F98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24</a:t>
            </a:fld>
            <a:endParaRPr lang="cs-CZ"/>
          </a:p>
        </p:txBody>
      </p:sp>
      <p:graphicFrame>
        <p:nvGraphicFramePr>
          <p:cNvPr id="2" name="Zástupný symbol pro obsah 5">
            <a:extLst>
              <a:ext uri="{FF2B5EF4-FFF2-40B4-BE49-F238E27FC236}">
                <a16:creationId xmlns:a16="http://schemas.microsoft.com/office/drawing/2014/main" id="{2DD024AE-4795-C05F-4C4B-3D50A02C55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2902171"/>
              </p:ext>
            </p:extLst>
          </p:nvPr>
        </p:nvGraphicFramePr>
        <p:xfrm>
          <a:off x="-34035" y="2511686"/>
          <a:ext cx="5513417" cy="4313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Zástupný symbol pro obsah 5">
            <a:extLst>
              <a:ext uri="{FF2B5EF4-FFF2-40B4-BE49-F238E27FC236}">
                <a16:creationId xmlns:a16="http://schemas.microsoft.com/office/drawing/2014/main" id="{B4A8EDB5-E6FF-BD24-F9EA-DD8CF83700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696434"/>
              </p:ext>
            </p:extLst>
          </p:nvPr>
        </p:nvGraphicFramePr>
        <p:xfrm>
          <a:off x="6362699" y="2435444"/>
          <a:ext cx="5829301" cy="4356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Šipka: doleva 6">
            <a:extLst>
              <a:ext uri="{FF2B5EF4-FFF2-40B4-BE49-F238E27FC236}">
                <a16:creationId xmlns:a16="http://schemas.microsoft.com/office/drawing/2014/main" id="{1C03F835-D3F8-E837-EADA-73718FFF9158}"/>
              </a:ext>
            </a:extLst>
          </p:cNvPr>
          <p:cNvSpPr/>
          <p:nvPr/>
        </p:nvSpPr>
        <p:spPr>
          <a:xfrm rot="10800000">
            <a:off x="5148131" y="4560108"/>
            <a:ext cx="1895738" cy="1121065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2667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8FF46D7C-D296-CFF3-3D6D-D24F9C30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25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9F47538-5843-24A2-B0CB-87814A157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46" y="188022"/>
            <a:ext cx="8257701" cy="5144142"/>
          </a:xfrm>
          <a:prstGeom prst="rect">
            <a:avLst/>
          </a:prstGeom>
        </p:spPr>
      </p:pic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5A8235BF-779F-9D08-725D-1C017EEBF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3692837"/>
              </p:ext>
            </p:extLst>
          </p:nvPr>
        </p:nvGraphicFramePr>
        <p:xfrm>
          <a:off x="6621137" y="3084722"/>
          <a:ext cx="5570863" cy="3773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Šipka: doleva 6">
            <a:extLst>
              <a:ext uri="{FF2B5EF4-FFF2-40B4-BE49-F238E27FC236}">
                <a16:creationId xmlns:a16="http://schemas.microsoft.com/office/drawing/2014/main" id="{8DA104F9-832F-6372-4CD0-D483F9C3DA65}"/>
              </a:ext>
            </a:extLst>
          </p:cNvPr>
          <p:cNvSpPr/>
          <p:nvPr/>
        </p:nvSpPr>
        <p:spPr>
          <a:xfrm rot="18288943">
            <a:off x="6674636" y="1075840"/>
            <a:ext cx="1895738" cy="1121065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7474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8DCDF7D3-BCB0-A641-EA6F-513EE99C1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Ukázky různých grafů ze stejné tabulky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B423885A-BAAF-0F8E-C041-515EB7FC2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26</a:t>
            </a:fld>
            <a:endParaRPr lang="cs-CZ"/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B7A01A56-57F1-4DAD-B6F7-87F3AF658FC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89032895"/>
              </p:ext>
            </p:extLst>
          </p:nvPr>
        </p:nvGraphicFramePr>
        <p:xfrm>
          <a:off x="0" y="1967454"/>
          <a:ext cx="4691063" cy="369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Zástupný symbol pro obsah 5">
            <a:extLst>
              <a:ext uri="{FF2B5EF4-FFF2-40B4-BE49-F238E27FC236}">
                <a16:creationId xmlns:a16="http://schemas.microsoft.com/office/drawing/2014/main" id="{AE14FDEB-8530-98F3-9A54-B60657D2C6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5418878"/>
              </p:ext>
            </p:extLst>
          </p:nvPr>
        </p:nvGraphicFramePr>
        <p:xfrm>
          <a:off x="4043191" y="3556879"/>
          <a:ext cx="4560983" cy="3127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Zástupný symbol pro obsah 5">
            <a:extLst>
              <a:ext uri="{FF2B5EF4-FFF2-40B4-BE49-F238E27FC236}">
                <a16:creationId xmlns:a16="http://schemas.microsoft.com/office/drawing/2014/main" id="{0551113E-098F-4350-A4AB-A186295D76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224640"/>
              </p:ext>
            </p:extLst>
          </p:nvPr>
        </p:nvGraphicFramePr>
        <p:xfrm>
          <a:off x="7738544" y="1737360"/>
          <a:ext cx="4943706" cy="3780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74219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E924CD0F-7185-DCA2-EBFC-DCD5E5F0F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ukázky grafů v praxi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92571CFF-CC82-B237-48BB-E2C21F7F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27</a:t>
            </a:fld>
            <a:endParaRPr lang="cs-CZ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327B0240-C003-C066-E2D5-4E18CC41A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Tabulka se vstupními daty pro graf</a:t>
            </a:r>
          </a:p>
        </p:txBody>
      </p:sp>
      <p:graphicFrame>
        <p:nvGraphicFramePr>
          <p:cNvPr id="7" name="Zástupný symbol pro obsah 3">
            <a:extLst>
              <a:ext uri="{FF2B5EF4-FFF2-40B4-BE49-F238E27FC236}">
                <a16:creationId xmlns:a16="http://schemas.microsoft.com/office/drawing/2014/main" id="{15E64208-2A9F-459B-8B86-C1A293A08D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6765259"/>
              </p:ext>
            </p:extLst>
          </p:nvPr>
        </p:nvGraphicFramePr>
        <p:xfrm>
          <a:off x="1097280" y="2646363"/>
          <a:ext cx="10058400" cy="2717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69598297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18466149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25372108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382311442"/>
                    </a:ext>
                  </a:extLst>
                </a:gridCol>
              </a:tblGrid>
              <a:tr h="447784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Pobočky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2013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000159"/>
                  </a:ext>
                </a:extLst>
              </a:tr>
              <a:tr h="454003">
                <a:tc>
                  <a:txBody>
                    <a:bodyPr/>
                    <a:lstStyle/>
                    <a:p>
                      <a:r>
                        <a:rPr lang="cs-CZ" dirty="0"/>
                        <a:t>Praha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5 250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6 820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7 021</a:t>
                      </a:r>
                      <a:endParaRPr lang="cs-CZ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733008"/>
                  </a:ext>
                </a:extLst>
              </a:tr>
              <a:tr h="454003">
                <a:tc>
                  <a:txBody>
                    <a:bodyPr/>
                    <a:lstStyle/>
                    <a:p>
                      <a:r>
                        <a:rPr lang="cs-CZ" dirty="0"/>
                        <a:t>Pardubice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3 515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9 985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4 145</a:t>
                      </a:r>
                      <a:endParaRPr lang="cs-CZ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181298"/>
                  </a:ext>
                </a:extLst>
              </a:tr>
              <a:tr h="454003">
                <a:tc>
                  <a:txBody>
                    <a:bodyPr/>
                    <a:lstStyle/>
                    <a:p>
                      <a:r>
                        <a:rPr lang="cs-CZ" dirty="0"/>
                        <a:t>Brno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4 890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5 680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6 112</a:t>
                      </a:r>
                      <a:endParaRPr lang="cs-CZ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5098"/>
                  </a:ext>
                </a:extLst>
              </a:tr>
              <a:tr h="454003">
                <a:tc>
                  <a:txBody>
                    <a:bodyPr/>
                    <a:lstStyle/>
                    <a:p>
                      <a:r>
                        <a:rPr lang="cs-CZ" dirty="0"/>
                        <a:t>Kolín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2 859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2 956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3 025</a:t>
                      </a:r>
                      <a:endParaRPr lang="cs-CZ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53820"/>
                  </a:ext>
                </a:extLst>
              </a:tr>
              <a:tr h="454003">
                <a:tc>
                  <a:txBody>
                    <a:bodyPr/>
                    <a:lstStyle/>
                    <a:p>
                      <a:r>
                        <a:rPr lang="cs-CZ" dirty="0"/>
                        <a:t>Ostrava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3 956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4 522</a:t>
                      </a:r>
                      <a:endParaRPr lang="cs-CZ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5 085</a:t>
                      </a:r>
                      <a:endParaRPr lang="cs-CZ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541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719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7583CAE5-0149-4C26-52E9-5C13F54E7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46" y="255020"/>
            <a:ext cx="10058400" cy="1450757"/>
          </a:xfrm>
        </p:spPr>
        <p:txBody>
          <a:bodyPr/>
          <a:lstStyle/>
          <a:p>
            <a:r>
              <a:rPr lang="cs-CZ" dirty="0"/>
              <a:t>Prostorový spojnicový x povrchový </a:t>
            </a:r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4BD61389-8356-4B9E-A6D2-247E4F8B9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1381981"/>
              </p:ext>
            </p:extLst>
          </p:nvPr>
        </p:nvGraphicFramePr>
        <p:xfrm>
          <a:off x="6378766" y="2159306"/>
          <a:ext cx="4776597" cy="4021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E620CB2E-A650-8DEB-FCA3-CF0D5568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28</a:t>
            </a:fld>
            <a:endParaRPr lang="cs-CZ"/>
          </a:p>
        </p:txBody>
      </p:sp>
      <p:graphicFrame>
        <p:nvGraphicFramePr>
          <p:cNvPr id="3" name="Zástupný symbol pro obsah 5">
            <a:extLst>
              <a:ext uri="{FF2B5EF4-FFF2-40B4-BE49-F238E27FC236}">
                <a16:creationId xmlns:a16="http://schemas.microsoft.com/office/drawing/2014/main" id="{A7414741-85F4-BB3D-6F27-451C2980E0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4887573"/>
              </p:ext>
            </p:extLst>
          </p:nvPr>
        </p:nvGraphicFramePr>
        <p:xfrm>
          <a:off x="409599" y="1984690"/>
          <a:ext cx="5315638" cy="4021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84964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4CBEE015-3368-710E-C0D1-CA69579B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Kombinovaný graf s vedlejší osou 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E620CB2E-A650-8DEB-FCA3-CF0D5568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29</a:t>
            </a:fld>
            <a:endParaRPr lang="cs-CZ"/>
          </a:p>
        </p:txBody>
      </p:sp>
      <p:graphicFrame>
        <p:nvGraphicFramePr>
          <p:cNvPr id="6" name="Zástupný symbol pro obsah 5">
            <a:extLst>
              <a:ext uri="{FF2B5EF4-FFF2-40B4-BE49-F238E27FC236}">
                <a16:creationId xmlns:a16="http://schemas.microsoft.com/office/drawing/2014/main" id="{4BD61389-8356-4B9E-A6D2-247E4F8B9DD7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56547187"/>
              </p:ext>
            </p:extLst>
          </p:nvPr>
        </p:nvGraphicFramePr>
        <p:xfrm>
          <a:off x="342900" y="2229702"/>
          <a:ext cx="6915150" cy="3589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Obrázek 4">
            <a:extLst>
              <a:ext uri="{FF2B5EF4-FFF2-40B4-BE49-F238E27FC236}">
                <a16:creationId xmlns:a16="http://schemas.microsoft.com/office/drawing/2014/main" id="{7A001E4D-6B73-3738-52F8-D232865FF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127" y="2125980"/>
            <a:ext cx="4419131" cy="414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746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4CBEE015-3368-710E-C0D1-CA69579B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Možnosti os grafu - posunutí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E620CB2E-A650-8DEB-FCA3-CF0D5568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30</a:t>
            </a:fld>
            <a:endParaRPr lang="cs-CZ"/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333262C3-D932-0D78-8EE2-6FE2F21A443B}"/>
              </a:ext>
            </a:extLst>
          </p:cNvPr>
          <p:cNvGrpSpPr/>
          <p:nvPr/>
        </p:nvGrpSpPr>
        <p:grpSpPr>
          <a:xfrm>
            <a:off x="73660" y="1897380"/>
            <a:ext cx="12118339" cy="4927530"/>
            <a:chOff x="73661" y="2023110"/>
            <a:chExt cx="12044678" cy="4834890"/>
          </a:xfrm>
        </p:grpSpPr>
        <p:pic>
          <p:nvPicPr>
            <p:cNvPr id="7" name="Obrázek 6">
              <a:extLst>
                <a:ext uri="{FF2B5EF4-FFF2-40B4-BE49-F238E27FC236}">
                  <a16:creationId xmlns:a16="http://schemas.microsoft.com/office/drawing/2014/main" id="{A9A3B3E8-0154-246E-1457-0690C354D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661" y="2023110"/>
              <a:ext cx="12044678" cy="4834890"/>
            </a:xfrm>
            <a:prstGeom prst="rect">
              <a:avLst/>
            </a:prstGeom>
          </p:spPr>
        </p:pic>
        <p:sp>
          <p:nvSpPr>
            <p:cNvPr id="8" name="Obdélník 7">
              <a:extLst>
                <a:ext uri="{FF2B5EF4-FFF2-40B4-BE49-F238E27FC236}">
                  <a16:creationId xmlns:a16="http://schemas.microsoft.com/office/drawing/2014/main" id="{962FA92B-F137-4AA7-D69D-2D888D511B42}"/>
                </a:ext>
              </a:extLst>
            </p:cNvPr>
            <p:cNvSpPr/>
            <p:nvPr/>
          </p:nvSpPr>
          <p:spPr>
            <a:xfrm>
              <a:off x="674370" y="2400300"/>
              <a:ext cx="7292340" cy="10287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pic>
        <p:nvPicPr>
          <p:cNvPr id="11" name="Obrázek 10">
            <a:extLst>
              <a:ext uri="{FF2B5EF4-FFF2-40B4-BE49-F238E27FC236}">
                <a16:creationId xmlns:a16="http://schemas.microsoft.com/office/drawing/2014/main" id="{DBA3ADD6-7261-0926-0806-5A6D02982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328" y="1968073"/>
            <a:ext cx="2978303" cy="4375375"/>
          </a:xfrm>
          <a:prstGeom prst="rect">
            <a:avLst/>
          </a:prstGeom>
        </p:spPr>
      </p:pic>
      <p:sp>
        <p:nvSpPr>
          <p:cNvPr id="12" name="Šipka: doleva 11">
            <a:extLst>
              <a:ext uri="{FF2B5EF4-FFF2-40B4-BE49-F238E27FC236}">
                <a16:creationId xmlns:a16="http://schemas.microsoft.com/office/drawing/2014/main" id="{3D6E6BB7-387B-3AD8-0EAE-9E77DF19EA7C}"/>
              </a:ext>
            </a:extLst>
          </p:cNvPr>
          <p:cNvSpPr/>
          <p:nvPr/>
        </p:nvSpPr>
        <p:spPr>
          <a:xfrm rot="10800000">
            <a:off x="7362778" y="3643932"/>
            <a:ext cx="1578722" cy="800408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17442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E620CB2E-A650-8DEB-FCA3-CF0D5568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31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107B191A-01AF-FBBE-A9F4-2E8E6D47C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2930"/>
            <a:ext cx="12257406" cy="4411980"/>
          </a:xfrm>
          <a:prstGeom prst="rect">
            <a:avLst/>
          </a:prstGeom>
        </p:spPr>
      </p:pic>
      <p:graphicFrame>
        <p:nvGraphicFramePr>
          <p:cNvPr id="4" name="Zástupný symbol pro obsah 5">
            <a:extLst>
              <a:ext uri="{FF2B5EF4-FFF2-40B4-BE49-F238E27FC236}">
                <a16:creationId xmlns:a16="http://schemas.microsoft.com/office/drawing/2014/main" id="{6E75959A-3573-31C4-7467-F050BA6CE3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0368757"/>
              </p:ext>
            </p:extLst>
          </p:nvPr>
        </p:nvGraphicFramePr>
        <p:xfrm>
          <a:off x="1586866" y="445770"/>
          <a:ext cx="4299584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Šipka: doleva 7">
            <a:extLst>
              <a:ext uri="{FF2B5EF4-FFF2-40B4-BE49-F238E27FC236}">
                <a16:creationId xmlns:a16="http://schemas.microsoft.com/office/drawing/2014/main" id="{0EDB3B25-467B-D4A2-5990-C64929C30699}"/>
              </a:ext>
            </a:extLst>
          </p:cNvPr>
          <p:cNvSpPr/>
          <p:nvPr/>
        </p:nvSpPr>
        <p:spPr>
          <a:xfrm rot="16200000">
            <a:off x="1442038" y="3223107"/>
            <a:ext cx="1578722" cy="800408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Šipka: doleva 8">
            <a:extLst>
              <a:ext uri="{FF2B5EF4-FFF2-40B4-BE49-F238E27FC236}">
                <a16:creationId xmlns:a16="http://schemas.microsoft.com/office/drawing/2014/main" id="{F78FE49A-6102-90FA-6F4E-D513E030FA63}"/>
              </a:ext>
            </a:extLst>
          </p:cNvPr>
          <p:cNvSpPr/>
          <p:nvPr/>
        </p:nvSpPr>
        <p:spPr>
          <a:xfrm rot="18033376">
            <a:off x="10317371" y="3461240"/>
            <a:ext cx="1578722" cy="800408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214143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F7DAE0-402F-4735-8D5E-1795B279B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/>
          <a:lstStyle/>
          <a:p>
            <a:r>
              <a:rPr lang="cs-CZ" dirty="0">
                <a:solidFill>
                  <a:srgbClr val="000000"/>
                </a:solidFill>
              </a:rPr>
              <a:t>Tabulka vložená z MS Excelu 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789CE1F-87B8-2B30-F05E-D50C8CE4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32</a:t>
            </a:fld>
            <a:endParaRPr lang="cs-CZ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71CF0143-4DA9-22A9-EB24-C2018F321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212" y="1831622"/>
            <a:ext cx="795337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4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B93F27D-FA6F-D133-D94A-474602B5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33</a:t>
            </a:fld>
            <a:endParaRPr lang="cs-CZ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47BD1735-614E-36C7-4276-5B313AF69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86" y="384422"/>
            <a:ext cx="4629150" cy="6257925"/>
          </a:xfrm>
          <a:prstGeom prst="rect">
            <a:avLst/>
          </a:prstGeom>
        </p:spPr>
      </p:pic>
      <p:graphicFrame>
        <p:nvGraphicFramePr>
          <p:cNvPr id="10" name="Objekt 9">
            <a:extLst>
              <a:ext uri="{FF2B5EF4-FFF2-40B4-BE49-F238E27FC236}">
                <a16:creationId xmlns:a16="http://schemas.microsoft.com/office/drawing/2014/main" id="{8DFB4CE8-9A7E-D35D-9700-0BA1325D7C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283205"/>
              </p:ext>
            </p:extLst>
          </p:nvPr>
        </p:nvGraphicFramePr>
        <p:xfrm>
          <a:off x="6728521" y="2354783"/>
          <a:ext cx="4858775" cy="3367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171675" imgH="1504796" progId="Excel.Sheet.12">
                  <p:embed/>
                </p:oleObj>
              </mc:Choice>
              <mc:Fallback>
                <p:oleObj name="Worksheet" r:id="rId3" imgW="2171675" imgH="150479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28521" y="2354783"/>
                        <a:ext cx="4858775" cy="3367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Šipka: doleva 10">
            <a:extLst>
              <a:ext uri="{FF2B5EF4-FFF2-40B4-BE49-F238E27FC236}">
                <a16:creationId xmlns:a16="http://schemas.microsoft.com/office/drawing/2014/main" id="{4573B476-B90C-BC0D-6AB5-C18D86AAF287}"/>
              </a:ext>
            </a:extLst>
          </p:cNvPr>
          <p:cNvSpPr/>
          <p:nvPr/>
        </p:nvSpPr>
        <p:spPr>
          <a:xfrm rot="10800000">
            <a:off x="4921267" y="3638102"/>
            <a:ext cx="1578722" cy="800408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9F6CBAA4-3671-6705-5B1A-BBFE38589253}"/>
              </a:ext>
            </a:extLst>
          </p:cNvPr>
          <p:cNvSpPr txBox="1">
            <a:spLocks/>
          </p:cNvSpPr>
          <p:nvPr/>
        </p:nvSpPr>
        <p:spPr>
          <a:xfrm>
            <a:off x="5386362" y="560505"/>
            <a:ext cx="6947971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>
                <a:solidFill>
                  <a:srgbClr val="000000"/>
                </a:solidFill>
              </a:rPr>
              <a:t>MS Excel =&gt; MS PowerPoint</a:t>
            </a:r>
          </a:p>
        </p:txBody>
      </p:sp>
    </p:spTree>
    <p:extLst>
      <p:ext uri="{BB962C8B-B14F-4D97-AF65-F5344CB8AC3E}">
        <p14:creationId xmlns:p14="http://schemas.microsoft.com/office/powerpoint/2010/main" val="37862742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B93F27D-FA6F-D133-D94A-474602B5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34</a:t>
            </a:fld>
            <a:endParaRPr lang="cs-CZ"/>
          </a:p>
        </p:txBody>
      </p:sp>
      <p:graphicFrame>
        <p:nvGraphicFramePr>
          <p:cNvPr id="2" name="Objekt 1">
            <a:extLst>
              <a:ext uri="{FF2B5EF4-FFF2-40B4-BE49-F238E27FC236}">
                <a16:creationId xmlns:a16="http://schemas.microsoft.com/office/drawing/2014/main" id="{107D8183-DBFF-0D51-2939-A1AC6E1BF8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939771"/>
              </p:ext>
            </p:extLst>
          </p:nvPr>
        </p:nvGraphicFramePr>
        <p:xfrm>
          <a:off x="207533" y="2534034"/>
          <a:ext cx="4478337" cy="331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781275" imgH="2057400" progId="Excel.Sheet.12">
                  <p:embed/>
                </p:oleObj>
              </mc:Choice>
              <mc:Fallback>
                <p:oleObj name="Worksheet" r:id="rId2" imgW="2781275" imgH="2057400" progId="Excel.Sheet.12">
                  <p:embed/>
                  <p:pic>
                    <p:nvPicPr>
                      <p:cNvPr id="5" name="Objekt 4">
                        <a:extLst>
                          <a:ext uri="{FF2B5EF4-FFF2-40B4-BE49-F238E27FC236}">
                            <a16:creationId xmlns:a16="http://schemas.microsoft.com/office/drawing/2014/main" id="{9002029B-D0B4-6105-7C8A-9FCA419CC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7533" y="2534034"/>
                        <a:ext cx="4478337" cy="331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Obrázek 5">
            <a:extLst>
              <a:ext uri="{FF2B5EF4-FFF2-40B4-BE49-F238E27FC236}">
                <a16:creationId xmlns:a16="http://schemas.microsoft.com/office/drawing/2014/main" id="{6AE2B024-39F0-D322-E7A7-026B300BD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105" y="2191842"/>
            <a:ext cx="4210050" cy="3467100"/>
          </a:xfrm>
          <a:prstGeom prst="rect">
            <a:avLst/>
          </a:prstGeom>
        </p:spPr>
      </p:pic>
      <p:graphicFrame>
        <p:nvGraphicFramePr>
          <p:cNvPr id="10" name="Graf 9">
            <a:extLst>
              <a:ext uri="{FF2B5EF4-FFF2-40B4-BE49-F238E27FC236}">
                <a16:creationId xmlns:a16="http://schemas.microsoft.com/office/drawing/2014/main" id="{04B21B5E-8FEB-3758-D138-339C2F2455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7323865"/>
              </p:ext>
            </p:extLst>
          </p:nvPr>
        </p:nvGraphicFramePr>
        <p:xfrm>
          <a:off x="8060014" y="3362228"/>
          <a:ext cx="4332077" cy="2888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Nadpis 1">
            <a:extLst>
              <a:ext uri="{FF2B5EF4-FFF2-40B4-BE49-F238E27FC236}">
                <a16:creationId xmlns:a16="http://schemas.microsoft.com/office/drawing/2014/main" id="{83CEC30B-7C93-7761-087B-5AE462446B6B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109472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cs-CZ" dirty="0">
              <a:solidFill>
                <a:srgbClr val="000000"/>
              </a:solidFill>
            </a:endParaRPr>
          </a:p>
          <a:p>
            <a:r>
              <a:rPr lang="cs-CZ" dirty="0">
                <a:solidFill>
                  <a:srgbClr val="000000"/>
                </a:solidFill>
              </a:rPr>
              <a:t>Zkopírujeme data z tabulky a vložíme graf </a:t>
            </a:r>
          </a:p>
        </p:txBody>
      </p:sp>
      <p:sp>
        <p:nvSpPr>
          <p:cNvPr id="12" name="Šipka: doleva 11">
            <a:extLst>
              <a:ext uri="{FF2B5EF4-FFF2-40B4-BE49-F238E27FC236}">
                <a16:creationId xmlns:a16="http://schemas.microsoft.com/office/drawing/2014/main" id="{ABC2AA3C-CE91-4571-61D0-31109F4724A0}"/>
              </a:ext>
            </a:extLst>
          </p:cNvPr>
          <p:cNvSpPr/>
          <p:nvPr/>
        </p:nvSpPr>
        <p:spPr>
          <a:xfrm rot="10800000">
            <a:off x="2817045" y="3331399"/>
            <a:ext cx="1578722" cy="800408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3" name="Šipka: doleva 12">
            <a:extLst>
              <a:ext uri="{FF2B5EF4-FFF2-40B4-BE49-F238E27FC236}">
                <a16:creationId xmlns:a16="http://schemas.microsoft.com/office/drawing/2014/main" id="{D8497C33-D3D6-69B5-A213-E7C00EC5AACE}"/>
              </a:ext>
            </a:extLst>
          </p:cNvPr>
          <p:cNvSpPr/>
          <p:nvPr/>
        </p:nvSpPr>
        <p:spPr>
          <a:xfrm rot="10800000">
            <a:off x="6695433" y="4551639"/>
            <a:ext cx="1578722" cy="800408"/>
          </a:xfrm>
          <a:prstGeom prst="leftArrow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47050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EF7927-6C98-80FC-C6D5-072FDD62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B3E5C10-CA69-F28C-687E-23A1F051E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KUBÁLEK, Tomáš a KUBÁLKOVÁ, Markéta.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MS Office XP: prezentační program MICROSOFT POWERPOINT : verze 2002 CZ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 2. vyd. Manažerská informatika (</a:t>
            </a:r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Oeconomica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). Praha: </a:t>
            </a:r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Oeconomica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2006. ISBN 80-245-1017-0.</a:t>
            </a:r>
          </a:p>
          <a:p>
            <a:pPr marL="0" indent="0">
              <a:buNone/>
            </a:pP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BÁRTEK, Květoslav a KUBRICKÝ, Jan.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Pokročilé použití MS PowerPoint při tvorbě elektronických výukových materiálů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 Olomouc: Univerzita Palackého v Olomouci, 2015. ISBN 978-80-244-4558-8.</a:t>
            </a:r>
          </a:p>
          <a:p>
            <a:pPr marL="0" indent="0">
              <a:buNone/>
            </a:pPr>
            <a:r>
              <a:rPr lang="cs-CZ" dirty="0">
                <a:solidFill>
                  <a:srgbClr val="212529"/>
                </a:solidFill>
                <a:latin typeface="Open Sans" panose="020B0606030504020204" pitchFamily="34" charset="0"/>
              </a:rPr>
              <a:t>Microsoft </a:t>
            </a:r>
            <a:r>
              <a:rPr lang="cs-CZ" dirty="0" err="1">
                <a:solidFill>
                  <a:srgbClr val="212529"/>
                </a:solidFill>
                <a:latin typeface="Open Sans" panose="020B0606030504020204" pitchFamily="34" charset="0"/>
              </a:rPr>
              <a:t>Corporation</a:t>
            </a:r>
            <a:r>
              <a:rPr lang="cs-CZ" dirty="0">
                <a:solidFill>
                  <a:srgbClr val="212529"/>
                </a:solidFill>
                <a:latin typeface="Open Sans" panose="020B0606030504020204" pitchFamily="34" charset="0"/>
              </a:rPr>
              <a:t>. (2022). Microsoft PowerPoint (Verze 16.0). Software. </a:t>
            </a:r>
            <a:r>
              <a:rPr lang="cs-CZ" dirty="0">
                <a:solidFill>
                  <a:srgbClr val="212529"/>
                </a:solidFill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https://www.microsoft.com/powerpoint</a:t>
            </a:r>
            <a:endParaRPr lang="cs-CZ" dirty="0">
              <a:solidFill>
                <a:srgbClr val="212529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cs-CZ" dirty="0">
              <a:solidFill>
                <a:srgbClr val="212529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99B62A3-E242-086B-7701-636DE202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BEFC5-2588-4AC4-AECB-CCA272DE9DCC}" type="slidenum">
              <a:rPr lang="cs-CZ" smtClean="0"/>
              <a:t>35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535975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iva">
  <a:themeElements>
    <a:clrScheme name="Retrospek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407</TotalTime>
  <Words>524</Words>
  <Application>Microsoft Office PowerPoint</Application>
  <PresentationFormat>Širokoúhlá obrazovka</PresentationFormat>
  <Paragraphs>222</Paragraphs>
  <Slides>35</Slides>
  <Notes>7</Notes>
  <HiddenSlides>0</HiddenSlides>
  <MMClips>0</MMClips>
  <ScaleCrop>false</ScaleCrop>
  <HeadingPairs>
    <vt:vector size="8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35</vt:i4>
      </vt:variant>
    </vt:vector>
  </HeadingPairs>
  <TitlesOfParts>
    <vt:vector size="41" baseType="lpstr">
      <vt:lpstr>Calibri</vt:lpstr>
      <vt:lpstr>Calibri Light</vt:lpstr>
      <vt:lpstr>Open Sans</vt:lpstr>
      <vt:lpstr>Times New Roman</vt:lpstr>
      <vt:lpstr>Retrospektiva</vt:lpstr>
      <vt:lpstr>Worksheet</vt:lpstr>
      <vt:lpstr>Grafy</vt:lpstr>
      <vt:lpstr>Ukázka chybně zobrazeného grafu</vt:lpstr>
      <vt:lpstr>Správný výběr dat</vt:lpstr>
      <vt:lpstr>Změna stylu grafu</vt:lpstr>
      <vt:lpstr>Změna barevného formátu grafu</vt:lpstr>
      <vt:lpstr>Změna barevného formátu grafu</vt:lpstr>
      <vt:lpstr>Změna typu grafu</vt:lpstr>
      <vt:lpstr>Grafická úprava datové řady na jiný tvar</vt:lpstr>
      <vt:lpstr>Animace grafu</vt:lpstr>
      <vt:lpstr>Animace grafu</vt:lpstr>
      <vt:lpstr>Další ukázky úpravy grafů</vt:lpstr>
      <vt:lpstr>Tabulka jako součást PowerPointu</vt:lpstr>
      <vt:lpstr>Tabulka jako součást PowerPointu</vt:lpstr>
      <vt:lpstr>Úprava grafu </vt:lpstr>
      <vt:lpstr>Prezentace aplikace PowerPoint</vt:lpstr>
      <vt:lpstr>Výsledná úprava grafu</vt:lpstr>
      <vt:lpstr>Úprava popisků dat</vt:lpstr>
      <vt:lpstr>Popisky dat</vt:lpstr>
      <vt:lpstr>Další prvky grafu</vt:lpstr>
      <vt:lpstr>Oddálení řad v grafu </vt:lpstr>
      <vt:lpstr>Postup tvorby mezer</vt:lpstr>
      <vt:lpstr>Prezentace aplikace PowerPoint</vt:lpstr>
      <vt:lpstr>Pokud není změna možná </vt:lpstr>
      <vt:lpstr>Postup změny tvaru</vt:lpstr>
      <vt:lpstr>Prezentace aplikace PowerPoint</vt:lpstr>
      <vt:lpstr>Ukázky různých grafů ze stejné tabulky</vt:lpstr>
      <vt:lpstr>Další ukázky grafů v praxi</vt:lpstr>
      <vt:lpstr>Prostorový spojnicový x povrchový </vt:lpstr>
      <vt:lpstr>Kombinovaný graf s vedlejší osou </vt:lpstr>
      <vt:lpstr>Možnosti os grafu - posunutí</vt:lpstr>
      <vt:lpstr>Prezentace aplikace PowerPoint</vt:lpstr>
      <vt:lpstr>Tabulka vložená z MS Excelu </vt:lpstr>
      <vt:lpstr>Prezentace aplikace PowerPoint</vt:lpstr>
      <vt:lpstr>Prezentace aplikace PowerPoint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Půhoný Matěj</dc:creator>
  <cp:lastModifiedBy>Votavová Gabriela</cp:lastModifiedBy>
  <cp:revision>23</cp:revision>
  <dcterms:created xsi:type="dcterms:W3CDTF">2018-04-04T09:59:30Z</dcterms:created>
  <dcterms:modified xsi:type="dcterms:W3CDTF">2024-01-10T17:22:22Z</dcterms:modified>
</cp:coreProperties>
</file>