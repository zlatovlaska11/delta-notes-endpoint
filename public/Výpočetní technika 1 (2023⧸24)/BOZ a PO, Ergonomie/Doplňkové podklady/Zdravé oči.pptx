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750" autoAdjust="0"/>
    <p:restoredTop sz="86385" autoAdjust="0"/>
  </p:normalViewPr>
  <p:slideViewPr>
    <p:cSldViewPr snapToGrid="0">
      <p:cViewPr varScale="1">
        <p:scale>
          <a:sx n="59" d="100"/>
          <a:sy n="59" d="100"/>
        </p:scale>
        <p:origin x="53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5829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5466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959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353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583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673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8058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985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7265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6913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7655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93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7547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9139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1903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09462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659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0F8C1-2F21-4379-B5F7-FA9C88253ACA}" type="datetimeFigureOut">
              <a:rPr lang="cs-CZ" smtClean="0"/>
              <a:t>7.9.2017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4A16C-8DBC-4F20-AD79-0A50E50AFE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8529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Zdravé oči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sz="2400" dirty="0" smtClean="0"/>
              <a:t>5% populace získá dobrý zrak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03955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Faktory ovlivňující</a:t>
            </a:r>
            <a:r>
              <a:rPr lang="cs-CZ" baseline="0" dirty="0" smtClean="0"/>
              <a:t> únavu očí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 smtClean="0"/>
              <a:t>Osvětlení</a:t>
            </a:r>
          </a:p>
          <a:p>
            <a:r>
              <a:rPr lang="cs-CZ" sz="2800" dirty="0" smtClean="0"/>
              <a:t>Pracovní vzdálenost</a:t>
            </a:r>
          </a:p>
          <a:p>
            <a:r>
              <a:rPr lang="cs-CZ" sz="2800" dirty="0" smtClean="0"/>
              <a:t>Zorné pole</a:t>
            </a:r>
          </a:p>
        </p:txBody>
      </p:sp>
    </p:spTree>
    <p:extLst>
      <p:ext uri="{BB962C8B-B14F-4D97-AF65-F5344CB8AC3E}">
        <p14:creationId xmlns:p14="http://schemas.microsoft.com/office/powerpoint/2010/main" val="387325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Úroveň osvětlení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 smtClean="0"/>
              <a:t>Pracovat za denního světla</a:t>
            </a:r>
          </a:p>
          <a:p>
            <a:r>
              <a:rPr lang="cs-CZ" sz="2800" dirty="0" smtClean="0"/>
              <a:t>Umělé osvětlení – rovnoměrné</a:t>
            </a:r>
          </a:p>
        </p:txBody>
      </p:sp>
    </p:spTree>
    <p:extLst>
      <p:ext uri="{BB962C8B-B14F-4D97-AF65-F5344CB8AC3E}">
        <p14:creationId xmlns:p14="http://schemas.microsoft.com/office/powerpoint/2010/main" val="171774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Ergonomie osvětlení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337356" y="2216829"/>
            <a:ext cx="9905999" cy="4461556"/>
          </a:xfrm>
        </p:spPr>
        <p:txBody>
          <a:bodyPr>
            <a:noAutofit/>
          </a:bodyPr>
          <a:lstStyle/>
          <a:p>
            <a:r>
              <a:rPr lang="cs-CZ" sz="2800" dirty="0" smtClean="0"/>
              <a:t>Nesmí oslňovat,</a:t>
            </a:r>
            <a:r>
              <a:rPr lang="cs-CZ" sz="2800" baseline="0" dirty="0" smtClean="0"/>
              <a:t> ani odraz</a:t>
            </a:r>
          </a:p>
          <a:p>
            <a:r>
              <a:rPr lang="cs-CZ" sz="2800" baseline="0" dirty="0" smtClean="0"/>
              <a:t>Více slabších zdrojů světla nebo nepřímé</a:t>
            </a:r>
          </a:p>
          <a:p>
            <a:r>
              <a:rPr lang="cs-CZ" sz="2800" baseline="0" dirty="0" smtClean="0"/>
              <a:t>Stolní lampa pouze jako doplňkové světlo</a:t>
            </a:r>
          </a:p>
          <a:p>
            <a:r>
              <a:rPr lang="cs-CZ" sz="2800" baseline="0" dirty="0" smtClean="0"/>
              <a:t>Barva světla blízká dennímu</a:t>
            </a:r>
          </a:p>
          <a:p>
            <a:r>
              <a:rPr lang="cs-CZ" sz="2800" baseline="0" dirty="0" smtClean="0"/>
              <a:t>Světlo bez zdrojů infračerveného a ultrafialového záření</a:t>
            </a:r>
          </a:p>
          <a:p>
            <a:r>
              <a:rPr lang="cs-CZ" sz="2800" baseline="0" dirty="0" smtClean="0"/>
              <a:t>Nehlučné</a:t>
            </a:r>
          </a:p>
          <a:p>
            <a:r>
              <a:rPr lang="cs-CZ" sz="2800" baseline="0" dirty="0" smtClean="0"/>
              <a:t>Bez blikání (bolesti hlavy, epileptický záchvat)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293928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Intenzita osvětlení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baseline="0" dirty="0" smtClean="0"/>
              <a:t>Denní světlo 10 000 </a:t>
            </a:r>
            <a:r>
              <a:rPr lang="cs-CZ" sz="2800" baseline="0" dirty="0" err="1" smtClean="0"/>
              <a:t>lx</a:t>
            </a:r>
            <a:r>
              <a:rPr lang="cs-CZ" sz="2800" baseline="0" dirty="0" smtClean="0"/>
              <a:t> až 100 000 </a:t>
            </a:r>
            <a:r>
              <a:rPr lang="cs-CZ" sz="2800" baseline="0" dirty="0" err="1" smtClean="0"/>
              <a:t>lx</a:t>
            </a:r>
            <a:r>
              <a:rPr lang="cs-CZ" sz="2800" baseline="0" dirty="0" smtClean="0"/>
              <a:t> (jasný slunečný den)</a:t>
            </a:r>
          </a:p>
          <a:p>
            <a:r>
              <a:rPr lang="cs-CZ" sz="2800" baseline="0" dirty="0" smtClean="0"/>
              <a:t>Osvětlení pracoviště dle normy: 300 </a:t>
            </a:r>
            <a:r>
              <a:rPr lang="cs-CZ" sz="2800" baseline="0" dirty="0" err="1" smtClean="0"/>
              <a:t>lx</a:t>
            </a:r>
            <a:r>
              <a:rPr lang="cs-CZ" sz="2800" baseline="0" dirty="0" smtClean="0"/>
              <a:t> až 1000 </a:t>
            </a:r>
            <a:r>
              <a:rPr lang="cs-CZ" sz="2800" baseline="0" dirty="0" err="1" smtClean="0"/>
              <a:t>lx</a:t>
            </a:r>
            <a:endParaRPr lang="cs-CZ" sz="2800" baseline="0" dirty="0" smtClean="0"/>
          </a:p>
          <a:p>
            <a:r>
              <a:rPr lang="cs-CZ" sz="2800" baseline="0" dirty="0" smtClean="0"/>
              <a:t>Hlavní zdroj 150 </a:t>
            </a:r>
            <a:r>
              <a:rPr lang="cs-CZ" sz="2800" baseline="0" dirty="0" err="1" smtClean="0"/>
              <a:t>lx</a:t>
            </a:r>
            <a:r>
              <a:rPr lang="cs-CZ" sz="2800" baseline="0" dirty="0" smtClean="0"/>
              <a:t> – 300 </a:t>
            </a:r>
            <a:r>
              <a:rPr lang="cs-CZ" sz="2800" baseline="0" dirty="0" err="1" smtClean="0"/>
              <a:t>lx</a:t>
            </a:r>
            <a:endParaRPr lang="cs-CZ" sz="2800" baseline="0" dirty="0" smtClean="0"/>
          </a:p>
          <a:p>
            <a:r>
              <a:rPr lang="cs-CZ" sz="2800" baseline="0" dirty="0" smtClean="0"/>
              <a:t>Pro sledování vzdálenějších předmětů v místnosti 500 </a:t>
            </a:r>
            <a:r>
              <a:rPr lang="cs-CZ" sz="2800" baseline="0" dirty="0" err="1" smtClean="0"/>
              <a:t>lx</a:t>
            </a:r>
            <a:endParaRPr lang="cs-CZ" sz="2800" baseline="0" dirty="0" smtClean="0"/>
          </a:p>
          <a:p>
            <a:r>
              <a:rPr lang="cs-CZ" sz="2800" baseline="0" dirty="0" smtClean="0"/>
              <a:t>Není vhodný kontrast tmavé pozadí a LCD</a:t>
            </a:r>
          </a:p>
        </p:txBody>
      </p:sp>
    </p:spTree>
    <p:extLst>
      <p:ext uri="{BB962C8B-B14F-4D97-AF65-F5344CB8AC3E}">
        <p14:creationId xmlns:p14="http://schemas.microsoft.com/office/powerpoint/2010/main" val="3225597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Prevence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baseline="0" dirty="0" smtClean="0"/>
              <a:t>Úprava jasu LCD dle podmínek okolí</a:t>
            </a:r>
          </a:p>
          <a:p>
            <a:pPr lvl="1"/>
            <a:r>
              <a:rPr lang="cs-CZ" sz="2800" baseline="0" dirty="0" smtClean="0"/>
              <a:t>LCD s funkcí ambientního osvětlení</a:t>
            </a:r>
          </a:p>
          <a:p>
            <a:pPr lvl="1"/>
            <a:r>
              <a:rPr lang="cs-CZ" sz="2800" baseline="0" dirty="0" smtClean="0"/>
              <a:t>LCD se světelným rámečkem</a:t>
            </a:r>
          </a:p>
          <a:p>
            <a:pPr lvl="1"/>
            <a:r>
              <a:rPr lang="cs-CZ" sz="2800" baseline="0" dirty="0" smtClean="0"/>
              <a:t>Není vhodné používat PWM</a:t>
            </a:r>
          </a:p>
          <a:p>
            <a:pPr lvl="1"/>
            <a:r>
              <a:rPr lang="cs-CZ" sz="2800" baseline="0" dirty="0" smtClean="0"/>
              <a:t>Přestávky</a:t>
            </a:r>
          </a:p>
          <a:p>
            <a:endParaRPr lang="cs-CZ" sz="3200" baseline="0" dirty="0" smtClean="0"/>
          </a:p>
          <a:p>
            <a:endParaRPr lang="cs-CZ" sz="3200" baseline="0" dirty="0" smtClean="0"/>
          </a:p>
          <a:p>
            <a:endParaRPr lang="cs-CZ" sz="3200" dirty="0" smtClean="0"/>
          </a:p>
          <a:p>
            <a:endParaRPr lang="cs-CZ" sz="3200" dirty="0" smtClean="0"/>
          </a:p>
          <a:p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3487969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bvod">
  <a:themeElements>
    <a:clrScheme name="Obvod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bvod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bvod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Obvod</Template>
  <TotalTime>299</TotalTime>
  <Words>136</Words>
  <Application>Microsoft Office PowerPoint</Application>
  <PresentationFormat>Širokoúhlá obrazovka</PresentationFormat>
  <Paragraphs>32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Tw Cen MT</vt:lpstr>
      <vt:lpstr>Obvod</vt:lpstr>
      <vt:lpstr>Zdravé oči</vt:lpstr>
      <vt:lpstr>Faktory ovlivňující únavu očí</vt:lpstr>
      <vt:lpstr>Úroveň osvětlení</vt:lpstr>
      <vt:lpstr>Ergonomie osvětlení</vt:lpstr>
      <vt:lpstr>Intenzita osvětlení</vt:lpstr>
      <vt:lpstr>Prevence</vt:lpstr>
    </vt:vector>
  </TitlesOfParts>
  <Company>DELTA - SŠIE a MŠ, s.r.o.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Zdravé oči</dc:title>
  <dc:creator>Hájek Josef</dc:creator>
  <cp:lastModifiedBy>Votavová Gabriela</cp:lastModifiedBy>
  <cp:revision>13</cp:revision>
  <dcterms:created xsi:type="dcterms:W3CDTF">2014-09-25T11:29:14Z</dcterms:created>
  <dcterms:modified xsi:type="dcterms:W3CDTF">2017-09-07T11:52:53Z</dcterms:modified>
</cp:coreProperties>
</file>