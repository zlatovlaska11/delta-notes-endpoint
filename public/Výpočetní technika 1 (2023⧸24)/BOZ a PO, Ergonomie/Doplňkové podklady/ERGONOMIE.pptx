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5" r:id="rId1"/>
  </p:sldMasterIdLst>
  <p:notesMasterIdLst>
    <p:notesMasterId r:id="rId11"/>
  </p:notesMasterIdLst>
  <p:sldIdLst>
    <p:sldId id="256" r:id="rId2"/>
    <p:sldId id="291" r:id="rId3"/>
    <p:sldId id="287" r:id="rId4"/>
    <p:sldId id="292" r:id="rId5"/>
    <p:sldId id="288" r:id="rId6"/>
    <p:sldId id="294" r:id="rId7"/>
    <p:sldId id="296" r:id="rId8"/>
    <p:sldId id="297" r:id="rId9"/>
    <p:sldId id="293" r:id="rId10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08" autoAdjust="0"/>
  </p:normalViewPr>
  <p:slideViewPr>
    <p:cSldViewPr>
      <p:cViewPr varScale="1">
        <p:scale>
          <a:sx n="60" d="100"/>
          <a:sy n="60" d="100"/>
        </p:scale>
        <p:origin x="96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0653D-A3FB-47CC-8B99-ECC6699EB7B7}" type="datetimeFigureOut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7730F-E314-4C0B-9A77-6DF2BEDCD138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571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úhlý trojúhelník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grpSp>
        <p:nvGrpSpPr>
          <p:cNvPr id="2" name="Skupina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Volný tvar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Volný tvar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Volný tvar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Přímá spojovací čára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7031B48-B875-475A-BCA0-D97E705B7F9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A449-245E-4752-B526-29D410B92ED8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Dvojitá šipk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vojitá šipk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0151E-D345-4D60-9A6E-03F60DA77AB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Nadpis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6B830-A39B-4EBD-A0AF-6AB609EE5AAA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DA69B-196F-4183-9BD1-F14FBE1F533C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6840-C4A0-4647-89E0-B9208803BB8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9EEB-DBA8-49E9-9A14-35C592FDFBB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BD7C967-4076-4C13-957E-8C86E93DAE9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Volný tvar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Pravoúhlý trojúhelník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Přímá spojovací čára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vojitá šipk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vojitá šipk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844D5-7D98-4C64-8F8C-24B6CC392B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8A66-14DB-43E5-99AF-F649B9A951BC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olný tvar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Volný tvar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Pravoúhlý trojúhelník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Přímá spojovací čára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753BD96-D3EA-4780-B60A-A98853838556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technologies.com/wp-content/uploads/2012/01/desktop-computer.jp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images01.olx.in/ui/12/37/88/1343511640_420682988_1-New-Full-Computer-Set-in-just-Rs-9500-Only-with-1-year-of-Warranty-Aliganj.jp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static.ddmcdn.com/gif/computer-virus-rev-1.jp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indesigninc.com/pic/igo_ergonomics.gi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utermedia.cz/obrazy/jak-sedet-u-pocitace_big.gif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_SUfSr2qOVgc/RkMwA-8OpAI/AAAAAAAAABQ/OY0CMlmhHV8/s320/spinalis.jp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ythland.blog.cz/1209/jak-spravne-sedet-u-pc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navolnenoze.cz/blog/zdravi-efektivni-prace-na-pocitaci/" TargetMode="External"/><Relationship Id="rId2" Type="http://schemas.openxmlformats.org/officeDocument/2006/relationships/hyperlink" Target="http://cs.wikipedia.org/wiki/Ergonomi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earch.creativecommon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341438"/>
            <a:ext cx="7772400" cy="1736725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cs-CZ" dirty="0" smtClean="0">
                <a:latin typeface="Times New Roman"/>
                <a:ea typeface="Times New Roman"/>
              </a:rPr>
              <a:t>ZÁSADY PRÁCE NA PC ERGONOMIE</a:t>
            </a:r>
            <a:endParaRPr lang="cs-CZ" dirty="0">
              <a:latin typeface="Times New Roman"/>
              <a:ea typeface="Times New Roman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6135688" y="611346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cs-CZ"/>
          </a:p>
        </p:txBody>
      </p:sp>
      <p:sp>
        <p:nvSpPr>
          <p:cNvPr id="5" name="TextovéPole 1"/>
          <p:cNvSpPr txBox="1"/>
          <p:nvPr/>
        </p:nvSpPr>
        <p:spPr>
          <a:xfrm>
            <a:off x="4716016" y="5970660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smtClean="0"/>
              <a:t>Ing. Votavová Gabriela</a:t>
            </a:r>
            <a:endParaRPr lang="cs-CZ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664" y="4184097"/>
            <a:ext cx="3456384" cy="26959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Zásady práce s počítačem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472518" cy="4709160"/>
          </a:xfrm>
        </p:spPr>
        <p:txBody>
          <a:bodyPr>
            <a:normAutofit/>
          </a:bodyPr>
          <a:lstStyle/>
          <a:p>
            <a:r>
              <a:rPr lang="cs-CZ" dirty="0" smtClean="0"/>
              <a:t>Do zásuvky s </a:t>
            </a:r>
            <a:r>
              <a:rPr lang="cs-CZ" dirty="0" err="1" smtClean="0"/>
              <a:t>pc</a:t>
            </a:r>
            <a:r>
              <a:rPr lang="cs-CZ" dirty="0" smtClean="0"/>
              <a:t> nezapínat další el. spotřebiče.</a:t>
            </a:r>
          </a:p>
          <a:p>
            <a:r>
              <a:rPr lang="cs-CZ" dirty="0" smtClean="0"/>
              <a:t>Používat přepěťovou ochranu.</a:t>
            </a:r>
          </a:p>
          <a:p>
            <a:r>
              <a:rPr lang="cs-CZ" dirty="0" smtClean="0"/>
              <a:t>Neumísťovat počítač do prašného prostředí.</a:t>
            </a:r>
          </a:p>
          <a:p>
            <a:r>
              <a:rPr lang="cs-CZ" dirty="0" smtClean="0"/>
              <a:t>Odcházíme-li na krátkou dobu =&gt; nevypínat počítač.</a:t>
            </a:r>
          </a:p>
          <a:p>
            <a:r>
              <a:rPr lang="cs-CZ" dirty="0" smtClean="0"/>
              <a:t>Monitor umístit mimo zdroj světla – ne proti oknu, světlu =&gt; ničí oči.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3DF8-4D8A-47B4-A6CB-0143C65F0C44}" type="slidenum">
              <a:rPr lang="cs-CZ" smtClean="0"/>
              <a:pPr/>
              <a:t>2</a:t>
            </a:fld>
            <a:endParaRPr lang="cs-CZ" dirty="0"/>
          </a:p>
        </p:txBody>
      </p:sp>
      <p:sp>
        <p:nvSpPr>
          <p:cNvPr id="5" name="Obdélník 4"/>
          <p:cNvSpPr/>
          <p:nvPr/>
        </p:nvSpPr>
        <p:spPr>
          <a:xfrm>
            <a:off x="611560" y="6140728"/>
            <a:ext cx="4392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1000" dirty="0" smtClean="0"/>
              <a:t>Počítačová sestava</a:t>
            </a:r>
            <a:endParaRPr lang="cs-CZ" sz="1000" dirty="0" smtClean="0">
              <a:hlinkClick r:id="rId3"/>
            </a:endParaRPr>
          </a:p>
          <a:p>
            <a:r>
              <a:rPr lang="cs-CZ" sz="1000" dirty="0">
                <a:hlinkClick r:id="rId4"/>
              </a:rPr>
              <a:t>http://</a:t>
            </a:r>
            <a:r>
              <a:rPr lang="cs-CZ" sz="1000" dirty="0" smtClean="0">
                <a:hlinkClick r:id="rId4"/>
              </a:rPr>
              <a:t>images01.olx.in/</a:t>
            </a:r>
            <a:r>
              <a:rPr lang="cs-CZ" sz="1000" dirty="0" err="1" smtClean="0">
                <a:hlinkClick r:id="rId4"/>
              </a:rPr>
              <a:t>ui</a:t>
            </a:r>
            <a:r>
              <a:rPr lang="cs-CZ" sz="1000" dirty="0" smtClean="0">
                <a:hlinkClick r:id="rId4"/>
              </a:rPr>
              <a:t>/12/37/88/1343511640_420682988_1-New-Full-Computer-Set-in-just-Rs-9500-Only-with-1-year-of-Warranty-Aliganj.jpg</a:t>
            </a:r>
            <a:r>
              <a:rPr lang="cs-CZ" sz="1000" dirty="0" smtClean="0"/>
              <a:t>, 15. </a:t>
            </a:r>
            <a:r>
              <a:rPr lang="cs-CZ" sz="1000" dirty="0"/>
              <a:t>9</a:t>
            </a:r>
            <a:r>
              <a:rPr lang="cs-CZ" sz="1000" dirty="0" smtClean="0"/>
              <a:t>.2012</a:t>
            </a:r>
            <a:endParaRPr lang="cs-CZ" sz="1000" dirty="0"/>
          </a:p>
        </p:txBody>
      </p:sp>
    </p:spTree>
    <p:extLst>
      <p:ext uri="{BB962C8B-B14F-4D97-AF65-F5344CB8AC3E}">
        <p14:creationId xmlns:p14="http://schemas.microsoft.com/office/powerpoint/2010/main" val="200308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Jak šetřit sebe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481328"/>
            <a:ext cx="8291264" cy="4525963"/>
          </a:xfrm>
        </p:spPr>
        <p:txBody>
          <a:bodyPr>
            <a:normAutofit/>
          </a:bodyPr>
          <a:lstStyle/>
          <a:p>
            <a:r>
              <a:rPr lang="cs-CZ" dirty="0" smtClean="0"/>
              <a:t>Na monitor by nemělo dopadat přímé sluneční světlo.</a:t>
            </a:r>
          </a:p>
          <a:p>
            <a:r>
              <a:rPr lang="cs-CZ" dirty="0" smtClean="0"/>
              <a:t>Nenastavovat příliš velký jas a kontrast – škodí to očím.</a:t>
            </a:r>
          </a:p>
          <a:p>
            <a:r>
              <a:rPr lang="cs-CZ" dirty="0" smtClean="0"/>
              <a:t>Umístit monitor přímo před oči – umístěním nahoru, nebo dolů zatěžujeme páteř.</a:t>
            </a:r>
          </a:p>
          <a:p>
            <a:r>
              <a:rPr lang="cs-CZ" dirty="0" smtClean="0"/>
              <a:t>Používat ergonomickou židli.</a:t>
            </a:r>
          </a:p>
          <a:p>
            <a:r>
              <a:rPr lang="cs-CZ" dirty="0" smtClean="0"/>
              <a:t>Při dlouhodobé práci u počítače</a:t>
            </a:r>
          </a:p>
          <a:p>
            <a:pPr marL="109538" indent="247650">
              <a:buNone/>
            </a:pPr>
            <a:r>
              <a:rPr lang="cs-CZ" dirty="0" smtClean="0"/>
              <a:t>občas cvičit.</a:t>
            </a:r>
          </a:p>
          <a:p>
            <a:endParaRPr lang="cs-CZ" sz="2600" dirty="0"/>
          </a:p>
        </p:txBody>
      </p:sp>
      <p:sp>
        <p:nvSpPr>
          <p:cNvPr id="4" name="Obdélník 3"/>
          <p:cNvSpPr/>
          <p:nvPr/>
        </p:nvSpPr>
        <p:spPr>
          <a:xfrm>
            <a:off x="5887740" y="6502769"/>
            <a:ext cx="32768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800" dirty="0">
                <a:hlinkClick r:id="rId2"/>
              </a:rPr>
              <a:t>http://</a:t>
            </a:r>
            <a:r>
              <a:rPr lang="cs-CZ" sz="800" dirty="0" smtClean="0">
                <a:hlinkClick r:id="rId2"/>
              </a:rPr>
              <a:t>static.ddmcdn.com/</a:t>
            </a:r>
            <a:r>
              <a:rPr lang="cs-CZ" sz="800" dirty="0" err="1" smtClean="0">
                <a:hlinkClick r:id="rId2"/>
              </a:rPr>
              <a:t>gif</a:t>
            </a:r>
            <a:r>
              <a:rPr lang="cs-CZ" sz="800" dirty="0" smtClean="0">
                <a:hlinkClick r:id="rId2"/>
              </a:rPr>
              <a:t>/computer-virus-rev-1.jpg</a:t>
            </a:r>
            <a:r>
              <a:rPr lang="cs-CZ" sz="800" dirty="0" smtClean="0"/>
              <a:t>,  </a:t>
            </a:r>
            <a:r>
              <a:rPr lang="cs-CZ" sz="800" dirty="0"/>
              <a:t>15</a:t>
            </a:r>
            <a:r>
              <a:rPr lang="cs-CZ" sz="800" dirty="0" smtClean="0"/>
              <a:t>. </a:t>
            </a:r>
            <a:r>
              <a:rPr lang="cs-CZ" sz="800" dirty="0"/>
              <a:t>9</a:t>
            </a:r>
            <a:r>
              <a:rPr lang="cs-CZ" sz="800" dirty="0" smtClean="0"/>
              <a:t>. 2012</a:t>
            </a:r>
            <a:endParaRPr lang="cs-CZ" sz="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952" y="4581128"/>
            <a:ext cx="2720879" cy="18139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716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832163"/>
            <a:ext cx="3816424" cy="309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smtClean="0"/>
              <a:t>Vědní obor zabývající se přizpůsobení pracovních podmínek výkonnostním možnostem člověka.</a:t>
            </a:r>
          </a:p>
          <a:p>
            <a:r>
              <a:rPr lang="cs-CZ" dirty="0"/>
              <a:t>Cílem je, aby používané předměty a nástroje svým tvarem co nejlépe odpovídaly pohybovým možnostem případně rozměrům lidského těla.</a:t>
            </a:r>
            <a:endParaRPr lang="cs-CZ" dirty="0" smtClean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Ergonomie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6491164" y="6237312"/>
            <a:ext cx="26642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800" dirty="0">
                <a:hlinkClick r:id="rId3"/>
              </a:rPr>
              <a:t>http://</a:t>
            </a:r>
            <a:r>
              <a:rPr lang="cs-CZ" sz="800" dirty="0" smtClean="0">
                <a:hlinkClick r:id="rId3"/>
              </a:rPr>
              <a:t>www.raindesigninc.com/pic/igo_ergonomics.gif</a:t>
            </a:r>
            <a:r>
              <a:rPr lang="cs-CZ" sz="800" dirty="0" smtClean="0"/>
              <a:t>, 15. </a:t>
            </a:r>
            <a:r>
              <a:rPr lang="cs-CZ" sz="800" dirty="0"/>
              <a:t>9</a:t>
            </a:r>
            <a:r>
              <a:rPr lang="cs-CZ" sz="800" dirty="0" smtClean="0"/>
              <a:t>. 2012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246378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Ergonomie pracoviště</a:t>
            </a:r>
            <a:endParaRPr lang="cs-CZ" dirty="0"/>
          </a:p>
        </p:txBody>
      </p:sp>
      <p:pic>
        <p:nvPicPr>
          <p:cNvPr id="14338" name="Picture 2" descr="http://www.computermedia.cz/obrazy/jak-sedet-u-pocitace_big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r="1277"/>
          <a:stretch/>
        </p:blipFill>
        <p:spPr bwMode="auto">
          <a:xfrm>
            <a:off x="1092820" y="1142784"/>
            <a:ext cx="7058721" cy="536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délník 4"/>
          <p:cNvSpPr/>
          <p:nvPr/>
        </p:nvSpPr>
        <p:spPr>
          <a:xfrm>
            <a:off x="4211960" y="6583667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800" dirty="0">
                <a:hlinkClick r:id="rId3"/>
              </a:rPr>
              <a:t>http://</a:t>
            </a:r>
            <a:r>
              <a:rPr lang="cs-CZ" sz="800" dirty="0" smtClean="0">
                <a:hlinkClick r:id="rId3"/>
              </a:rPr>
              <a:t>www.computermedia.cz/obrazy/jak-sedet-u-pocitace_big.gif</a:t>
            </a:r>
            <a:r>
              <a:rPr lang="cs-CZ" sz="800" dirty="0" smtClean="0"/>
              <a:t>, 15. </a:t>
            </a:r>
            <a:r>
              <a:rPr lang="cs-CZ" sz="800" dirty="0"/>
              <a:t>9</a:t>
            </a:r>
            <a:r>
              <a:rPr lang="cs-CZ" sz="800" dirty="0" smtClean="0"/>
              <a:t>. 2012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312275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25963"/>
          </a:xfrm>
        </p:spPr>
        <p:txBody>
          <a:bodyPr/>
          <a:lstStyle/>
          <a:p>
            <a:pPr marL="109728" indent="0">
              <a:buNone/>
            </a:pPr>
            <a:r>
              <a:rPr lang="cs-CZ" dirty="0" smtClean="0"/>
              <a:t>Důležité zásady:</a:t>
            </a:r>
          </a:p>
          <a:p>
            <a:pPr marL="109728" indent="0">
              <a:buNone/>
            </a:pPr>
            <a:endParaRPr lang="cs-CZ" sz="1000" dirty="0" smtClean="0"/>
          </a:p>
          <a:p>
            <a:r>
              <a:rPr lang="cs-CZ" dirty="0" smtClean="0"/>
              <a:t>Zdravé sezení.</a:t>
            </a:r>
            <a:endParaRPr lang="cs-CZ" dirty="0"/>
          </a:p>
          <a:p>
            <a:r>
              <a:rPr lang="cs-CZ" dirty="0"/>
              <a:t>Stůl pro </a:t>
            </a:r>
            <a:r>
              <a:rPr lang="cs-CZ" dirty="0" smtClean="0"/>
              <a:t>počítač.</a:t>
            </a:r>
          </a:p>
          <a:p>
            <a:r>
              <a:rPr lang="cs-CZ" dirty="0" smtClean="0"/>
              <a:t>Monitor.</a:t>
            </a:r>
          </a:p>
          <a:p>
            <a:r>
              <a:rPr lang="cs-CZ" dirty="0" smtClean="0"/>
              <a:t>Počítač </a:t>
            </a:r>
            <a:r>
              <a:rPr lang="cs-CZ" dirty="0"/>
              <a:t>a jeho programové </a:t>
            </a:r>
            <a:r>
              <a:rPr lang="cs-CZ" dirty="0" smtClean="0"/>
              <a:t>vybavení.</a:t>
            </a:r>
          </a:p>
          <a:p>
            <a:r>
              <a:rPr lang="it-IT" dirty="0" smtClean="0"/>
              <a:t>Cvičení </a:t>
            </a:r>
            <a:r>
              <a:rPr lang="it-IT" dirty="0"/>
              <a:t>pro záda a </a:t>
            </a:r>
            <a:r>
              <a:rPr lang="it-IT" dirty="0" smtClean="0"/>
              <a:t>oči</a:t>
            </a:r>
            <a:r>
              <a:rPr lang="cs-CZ" dirty="0" smtClean="0"/>
              <a:t>.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6</a:t>
            </a:fld>
            <a:endParaRPr lang="cs-CZ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Efektivní práce na počítači</a:t>
            </a:r>
            <a:endParaRPr lang="cs-CZ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56" y="4014440"/>
            <a:ext cx="4154707" cy="218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bdélník 4"/>
          <p:cNvSpPr/>
          <p:nvPr/>
        </p:nvSpPr>
        <p:spPr>
          <a:xfrm>
            <a:off x="5364088" y="6186286"/>
            <a:ext cx="3530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800" dirty="0">
                <a:hlinkClick r:id="rId3"/>
              </a:rPr>
              <a:t>http://3.bp.blogspot.com/_</a:t>
            </a:r>
            <a:r>
              <a:rPr lang="cs-CZ" sz="800" dirty="0" smtClean="0">
                <a:hlinkClick r:id="rId3"/>
              </a:rPr>
              <a:t>SUfSr2qOVgc/RkMwA-8OpAI/AAAAAAAAABQ/OY0CMlmhHV8/s320/spinalis.jpg</a:t>
            </a:r>
            <a:r>
              <a:rPr lang="cs-CZ" sz="800" dirty="0" smtClean="0"/>
              <a:t>, 15. </a:t>
            </a:r>
            <a:r>
              <a:rPr lang="cs-CZ" sz="800" dirty="0"/>
              <a:t>9</a:t>
            </a:r>
            <a:r>
              <a:rPr lang="cs-CZ" sz="800" dirty="0" smtClean="0"/>
              <a:t>. 2012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405186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8" b="7448"/>
          <a:stretch/>
        </p:blipFill>
        <p:spPr bwMode="auto">
          <a:xfrm>
            <a:off x="1475656" y="1072747"/>
            <a:ext cx="6048672" cy="518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7</a:t>
            </a:fld>
            <a:endParaRPr lang="cs-CZ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Následky špatného sezení u </a:t>
            </a:r>
            <a:r>
              <a:rPr lang="cs-CZ" dirty="0" err="1" smtClean="0"/>
              <a:t>pc</a:t>
            </a:r>
            <a:endParaRPr lang="cs-CZ" dirty="0"/>
          </a:p>
        </p:txBody>
      </p:sp>
      <p:sp>
        <p:nvSpPr>
          <p:cNvPr id="5" name="Obdélník 4"/>
          <p:cNvSpPr/>
          <p:nvPr/>
        </p:nvSpPr>
        <p:spPr>
          <a:xfrm>
            <a:off x="2987824" y="6298720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800" dirty="0">
                <a:hlinkClick r:id="rId3"/>
              </a:rPr>
              <a:t>http://</a:t>
            </a:r>
            <a:r>
              <a:rPr lang="cs-CZ" sz="800" dirty="0" smtClean="0">
                <a:hlinkClick r:id="rId3"/>
              </a:rPr>
              <a:t>gythland.blog.cz/1209/jak-</a:t>
            </a:r>
            <a:r>
              <a:rPr lang="cs-CZ" sz="800" dirty="0" err="1" smtClean="0">
                <a:hlinkClick r:id="rId3"/>
              </a:rPr>
              <a:t>spravne</a:t>
            </a:r>
            <a:r>
              <a:rPr lang="cs-CZ" sz="800" dirty="0" smtClean="0">
                <a:hlinkClick r:id="rId3"/>
              </a:rPr>
              <a:t>-</a:t>
            </a:r>
            <a:r>
              <a:rPr lang="cs-CZ" sz="800" dirty="0" err="1" smtClean="0">
                <a:hlinkClick r:id="rId3"/>
              </a:rPr>
              <a:t>sedet</a:t>
            </a:r>
            <a:r>
              <a:rPr lang="cs-CZ" sz="800" dirty="0" smtClean="0">
                <a:hlinkClick r:id="rId3"/>
              </a:rPr>
              <a:t>-u-</a:t>
            </a:r>
            <a:r>
              <a:rPr lang="cs-CZ" sz="800" dirty="0" err="1" smtClean="0">
                <a:hlinkClick r:id="rId3"/>
              </a:rPr>
              <a:t>pc</a:t>
            </a:r>
            <a:r>
              <a:rPr lang="cs-CZ" sz="800" dirty="0" smtClean="0"/>
              <a:t>, 15. </a:t>
            </a:r>
            <a:r>
              <a:rPr lang="cs-CZ" sz="800" dirty="0"/>
              <a:t>9</a:t>
            </a:r>
            <a:r>
              <a:rPr lang="cs-CZ" sz="800" dirty="0" smtClean="0"/>
              <a:t>. 2012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394197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cs-CZ" dirty="0" smtClean="0"/>
              <a:t>Vyjmenujte hlavní zásady práce na počítači.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 můžeme šetřit své zdraví při dlouhodobé práci na počítači?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Co je to ergonomie?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 dosáhnu efektivní práce na počítači?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Jaké mohou </a:t>
            </a:r>
            <a:r>
              <a:rPr lang="cs-CZ" smtClean="0"/>
              <a:t>být následky </a:t>
            </a:r>
            <a:r>
              <a:rPr lang="cs-CZ" dirty="0" smtClean="0"/>
              <a:t>špatného sezení u počítače?</a:t>
            </a:r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8</a:t>
            </a:fld>
            <a:endParaRPr lang="cs-CZ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Otázky na závěr</a:t>
            </a:r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cs-CZ" sz="2400" dirty="0"/>
              <a:t>NAVRÁTIL, Pavel. </a:t>
            </a:r>
            <a:r>
              <a:rPr lang="cs-CZ" sz="2400" i="1" dirty="0"/>
              <a:t>S počítačem nejen k maturitě - 1. díl</a:t>
            </a:r>
            <a:r>
              <a:rPr lang="cs-CZ" sz="2400" dirty="0"/>
              <a:t>. Olomouc: </a:t>
            </a:r>
            <a:r>
              <a:rPr lang="cs-CZ" sz="2400" dirty="0" err="1"/>
              <a:t>Computer</a:t>
            </a:r>
            <a:r>
              <a:rPr lang="cs-CZ" sz="2400" dirty="0"/>
              <a:t> Media, 2008. 120 s. ISBN </a:t>
            </a:r>
            <a:r>
              <a:rPr lang="cs-CZ" sz="2400" dirty="0" smtClean="0"/>
              <a:t>80-86686-60-4.</a:t>
            </a:r>
            <a:endParaRPr lang="cs-CZ" sz="2400" dirty="0"/>
          </a:p>
          <a:p>
            <a:r>
              <a:rPr lang="cs-CZ" sz="2400" dirty="0" smtClean="0"/>
              <a:t>NAVRÁTIL</a:t>
            </a:r>
            <a:r>
              <a:rPr lang="cs-CZ" sz="2400" dirty="0"/>
              <a:t>, Pavel. </a:t>
            </a:r>
            <a:r>
              <a:rPr lang="cs-CZ" sz="2400" i="1" dirty="0"/>
              <a:t>S počítačem nejen k maturitě - 2. díl</a:t>
            </a:r>
            <a:r>
              <a:rPr lang="cs-CZ" sz="2400" dirty="0"/>
              <a:t>. Olomouc: </a:t>
            </a:r>
            <a:r>
              <a:rPr lang="cs-CZ" sz="2400" dirty="0" err="1"/>
              <a:t>Computer</a:t>
            </a:r>
            <a:r>
              <a:rPr lang="cs-CZ" sz="2400" dirty="0"/>
              <a:t> Media, 2008. 120 s. ISBN </a:t>
            </a:r>
            <a:r>
              <a:rPr lang="cs-CZ" sz="2400" dirty="0" smtClean="0"/>
              <a:t>80-86686-61-2. </a:t>
            </a:r>
            <a:endParaRPr lang="cs-CZ" sz="2400" dirty="0"/>
          </a:p>
          <a:p>
            <a:r>
              <a:rPr lang="cs-CZ" sz="2400" dirty="0" smtClean="0">
                <a:hlinkClick r:id="rId2"/>
              </a:rPr>
              <a:t>http</a:t>
            </a:r>
            <a:r>
              <a:rPr lang="cs-CZ" sz="2400" dirty="0">
                <a:hlinkClick r:id="rId2"/>
              </a:rPr>
              <a:t>://</a:t>
            </a:r>
            <a:r>
              <a:rPr lang="cs-CZ" sz="2400" dirty="0" smtClean="0">
                <a:hlinkClick r:id="rId2"/>
              </a:rPr>
              <a:t>cs.wikipedia.org/wiki/Ergonomie</a:t>
            </a:r>
            <a:endParaRPr lang="cs-CZ" sz="2400" dirty="0" smtClean="0"/>
          </a:p>
          <a:p>
            <a:r>
              <a:rPr lang="cs-CZ" sz="2400" dirty="0">
                <a:hlinkClick r:id="rId3"/>
              </a:rPr>
              <a:t>http://navolnenoze.cz/blog/zdravi-efektivni-prace-na-pocitaci</a:t>
            </a:r>
            <a:r>
              <a:rPr lang="cs-CZ" sz="2400" dirty="0" smtClean="0">
                <a:hlinkClick r:id="rId3"/>
              </a:rPr>
              <a:t>/</a:t>
            </a:r>
            <a:endParaRPr lang="cs-CZ" sz="2400" dirty="0" smtClean="0"/>
          </a:p>
          <a:p>
            <a:r>
              <a:rPr lang="cs-CZ" sz="2400" dirty="0">
                <a:hlinkClick r:id="rId4"/>
              </a:rPr>
              <a:t>http://search.creativecommons.org</a:t>
            </a:r>
            <a:r>
              <a:rPr lang="cs-CZ" sz="2400" dirty="0" smtClean="0">
                <a:hlinkClick r:id="rId4"/>
              </a:rPr>
              <a:t>/</a:t>
            </a:r>
            <a:endParaRPr lang="cs-CZ" sz="2400" dirty="0" smtClean="0"/>
          </a:p>
          <a:p>
            <a:endParaRPr lang="cs-CZ" dirty="0"/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B87E9-39DE-441E-A605-F439F47B0828}" type="slidenum">
              <a:rPr lang="cs-CZ" smtClean="0"/>
              <a:pPr/>
              <a:t>9</a:t>
            </a:fld>
            <a:endParaRPr lang="cs-CZ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Zdroje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3002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hluk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Shluk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Shlu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2133</TotalTime>
  <Words>342</Words>
  <Application>Microsoft Office PowerPoint</Application>
  <PresentationFormat>Předvádění na obrazovce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7" baseType="lpstr">
      <vt:lpstr>Arial</vt:lpstr>
      <vt:lpstr>Calibri</vt:lpstr>
      <vt:lpstr>Lucida Sans Unicode</vt:lpstr>
      <vt:lpstr>Times New Roman</vt:lpstr>
      <vt:lpstr>Verdana</vt:lpstr>
      <vt:lpstr>Wingdings 2</vt:lpstr>
      <vt:lpstr>Wingdings 3</vt:lpstr>
      <vt:lpstr>Shluk</vt:lpstr>
      <vt:lpstr>ZÁSADY PRÁCE NA PC ERGONOMIE</vt:lpstr>
      <vt:lpstr>Zásady práce s počítačem</vt:lpstr>
      <vt:lpstr>Jak šetřit sebe</vt:lpstr>
      <vt:lpstr>Ergonomie</vt:lpstr>
      <vt:lpstr>Ergonomie pracoviště</vt:lpstr>
      <vt:lpstr>Efektivní práce na počítači</vt:lpstr>
      <vt:lpstr>Následky špatného sezení u pc</vt:lpstr>
      <vt:lpstr>Otázky na 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Historie výpočetní techniky</dc:title>
  <dc:creator>Kafková</dc:creator>
  <cp:lastModifiedBy>Gabriela Votavová</cp:lastModifiedBy>
  <cp:revision>164</cp:revision>
  <dcterms:created xsi:type="dcterms:W3CDTF">2006-09-16T11:11:16Z</dcterms:created>
  <dcterms:modified xsi:type="dcterms:W3CDTF">2017-06-25T09:07:10Z</dcterms:modified>
</cp:coreProperties>
</file>