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79" r:id="rId5"/>
    <p:sldId id="259" r:id="rId6"/>
    <p:sldId id="301" r:id="rId7"/>
    <p:sldId id="305" r:id="rId8"/>
    <p:sldId id="306" r:id="rId9"/>
    <p:sldId id="260" r:id="rId10"/>
    <p:sldId id="295" r:id="rId11"/>
    <p:sldId id="261" r:id="rId12"/>
    <p:sldId id="293" r:id="rId13"/>
    <p:sldId id="303" r:id="rId14"/>
    <p:sldId id="262" r:id="rId15"/>
    <p:sldId id="289" r:id="rId16"/>
    <p:sldId id="304" r:id="rId17"/>
    <p:sldId id="299" r:id="rId18"/>
    <p:sldId id="300" r:id="rId19"/>
    <p:sldId id="296" r:id="rId20"/>
    <p:sldId id="297" r:id="rId21"/>
    <p:sldId id="298" r:id="rId22"/>
    <p:sldId id="263" r:id="rId23"/>
    <p:sldId id="264" r:id="rId24"/>
    <p:sldId id="265" r:id="rId25"/>
    <p:sldId id="280" r:id="rId26"/>
    <p:sldId id="272" r:id="rId27"/>
    <p:sldId id="290" r:id="rId28"/>
    <p:sldId id="273" r:id="rId29"/>
    <p:sldId id="294" r:id="rId30"/>
    <p:sldId id="276" r:id="rId31"/>
    <p:sldId id="286" r:id="rId32"/>
    <p:sldId id="282" r:id="rId33"/>
    <p:sldId id="274" r:id="rId34"/>
    <p:sldId id="302" r:id="rId35"/>
    <p:sldId id="275" r:id="rId36"/>
    <p:sldId id="277" r:id="rId37"/>
    <p:sldId id="281" r:id="rId38"/>
    <p:sldId id="285" r:id="rId39"/>
    <p:sldId id="284" r:id="rId40"/>
    <p:sldId id="291" r:id="rId41"/>
    <p:sldId id="287" r:id="rId42"/>
    <p:sldId id="292" r:id="rId43"/>
    <p:sldId id="278" r:id="rId44"/>
    <p:sldId id="283" r:id="rId45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10169-3553-4589-9133-7814E3C9BE65}" type="datetimeFigureOut">
              <a:rPr lang="cs-CZ" smtClean="0"/>
              <a:t>12.09.2023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29CC1-D342-45B8-943B-4E20E2ED804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445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5183BF-AFAF-4A5D-929A-37463B504BA3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10078278" cy="42440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6F01-F8E1-4F7C-A88A-A16782E9AE52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680B74-3F8E-4F1C-9047-A86DBAFF4C15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8853F-9CC7-43EB-B121-1C3921F2022C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75B9D-539B-4130-8070-E08447B2716D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4F60-B6D3-4CFA-ABAD-FDD07314EFEF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64960-2809-4AC7-90C4-593304E45F8A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807447-AA99-4F3E-BFD7-3475B2B5CA08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C1578D-1770-42C4-A74F-5CF2FB8C705E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21644-6726-4A29-96E7-9EA70090274B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65CF-1FCA-4B01-AFE8-DC9E75D02FE1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CFCA4E7-E8BA-4532-A51B-C9695F73D194}" type="datetime1">
              <a:rPr lang="en-US" smtClean="0"/>
              <a:t>9/12/2023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aseline="0">
                <a:solidFill>
                  <a:schemeClr val="tx1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600"/>
        </a:spcAft>
        <a:buFont typeface="Franklin Gothic Book" panose="020B0503020102020204" pitchFamily="34" charset="0"/>
        <a:buChar char="■"/>
        <a:defRPr sz="28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4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intip.cz/468-jaky-je-rozdil-mezi-rezimem-spanku-a-hibernaci-ve-window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microsoft.com/cs-cz/windows/vypnut%C3%AD-usp%C3%A1n%C3%AD-nebo-hibernace-po%C4%8D%C3%ADta%C4%8De-2941d165-7d0a-a5e8-c5ad-8c972e8e6eff#ID0EBD=Windows_10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triprirodu.cz/co-s-prazdnym-tonerem-inkoustem/jak-vyhodit-prazdny-toner-ci-inkoust-kdyz-jsem-nepodnikajici-fyzicka-osoba-spotrebitel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ronica.cz/otazky?i=512" TargetMode="External"/><Relationship Id="rId2" Type="http://schemas.openxmlformats.org/officeDocument/2006/relationships/hyperlink" Target="https://www.setriprirodu.cz/co-s-prazdnym-tonerem-inkoustem/jak-vyhodit-prazdny-toner-ci-inkoust-kdyz-jsem-nepodnikajici-fyzicka-osoba-spotrebitel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igaprint.cz/obchod/recyklace-toneru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uvodcepodnikanim.cz/clanek/povinnosti-zamestnavatele-v-oblasti-bozp-a-po/?bid1=ps-SME-DSA-2508-Google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akonyprolidi.cz/cs/2010-201" TargetMode="External"/><Relationship Id="rId2" Type="http://schemas.openxmlformats.org/officeDocument/2006/relationships/hyperlink" Target="https://www.zakonyprolidi.cz/cs/2006-262#p105" TargetMode="External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eskatelevize.cz/ct24/domaci/126932-novinky-v-prvni-pomoci-masirujte-srdce-zapomente-na-dychani/" TargetMode="External"/><Relationship Id="rId2" Type="http://schemas.openxmlformats.org/officeDocument/2006/relationships/hyperlink" Target="http://video.idnes.cz/webtv.asp?c=A101021_165858_domaci_taj&amp;idvideo=V101021_182907_tv-zpravy_sh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ervenykriz.eu/cz/kviz-pp.aspxa-pri-praci-na-pocitaci/" TargetMode="External"/><Relationship Id="rId5" Type="http://schemas.openxmlformats.org/officeDocument/2006/relationships/hyperlink" Target="https://ezsp6.estranky.cz/" TargetMode="External"/><Relationship Id="rId4" Type="http://schemas.openxmlformats.org/officeDocument/2006/relationships/hyperlink" Target="https://www.bezpecnostprace.info/pracovni-urazy/4-nejvetsi-rizik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_iHxB-90wc" TargetMode="External"/><Relationship Id="rId2" Type="http://schemas.openxmlformats.org/officeDocument/2006/relationships/hyperlink" Target="http://www.prvni-pomoc.com/stabilizovana-poloh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niEmIT67c-k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x7T8Lb5ieA&amp;feature=youtu.be" TargetMode="External"/><Relationship Id="rId2" Type="http://schemas.openxmlformats.org/officeDocument/2006/relationships/hyperlink" Target="https://siander.blog.idnes.cz/blog.aspx?c=527590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0sYriIsvr4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zpecnostprace.info/pracovni-urazy/ergonomie-pocitacoveho-pracoviste-a-zasady-bezpecnosti-prace-na-pc-aneb-jak-predejit-rsi-syndromu/" TargetMode="External"/><Relationship Id="rId2" Type="http://schemas.openxmlformats.org/officeDocument/2006/relationships/hyperlink" Target="https://zsbozp.vubp.cz/pracovni-prostredi/ergonomie/337-ergonomie-pracovniho-mis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etriprirodu.cz/co-s-prazdnym-tonerem-inkoustem/jak-vyhodit-prazdny-toner-ci-inkoust-kdyz-jsem-nepodnikajici-fyzicka-osoba-spotrebitel/" TargetMode="External"/><Relationship Id="rId5" Type="http://schemas.openxmlformats.org/officeDocument/2006/relationships/hyperlink" Target="https://www.tzb-info.cz/pravni-predpisy/narizeni-vlady-c-361-2007-sb-kterym-se-stanovi-podminky-ochrany-zdravi-pri-praci" TargetMode="External"/><Relationship Id="rId4" Type="http://schemas.openxmlformats.org/officeDocument/2006/relationships/hyperlink" Target="http://www.bozpprofi.c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Poučení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Bezpečnost, první pomoc</a:t>
            </a:r>
          </a:p>
        </p:txBody>
      </p:sp>
    </p:spTree>
    <p:extLst>
      <p:ext uri="{BB962C8B-B14F-4D97-AF65-F5344CB8AC3E}">
        <p14:creationId xmlns:p14="http://schemas.microsoft.com/office/powerpoint/2010/main" val="385252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Povinnosti studenta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285999"/>
            <a:ext cx="10088218" cy="4283765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V době výuky je žák povinen používat pouze počítač, který mu byl přiřazen.</a:t>
            </a:r>
          </a:p>
          <a:p>
            <a:r>
              <a:rPr lang="cs-CZ" dirty="0"/>
              <a:t>Při výuce je žák povinen své pracovní místo udržovat v pořádku a čistotě, na stole mít jen věci a pomůcky nezbytně nutné k zadané práci.</a:t>
            </a:r>
          </a:p>
          <a:p>
            <a:r>
              <a:rPr lang="cs-CZ" dirty="0"/>
              <a:t>Žák je povinen udržovat komunikační prostory (únikové cesty i únikové východy) trvale volné.</a:t>
            </a:r>
          </a:p>
          <a:p>
            <a:r>
              <a:rPr lang="cs-CZ" dirty="0"/>
              <a:t>Bez povolení vyučujícího není dovolena jakákoliv manipulace s hardwarem ani jakákoliv modifikace nainstalovaného softwaru. Úmyslné poškození a to jak hardwaru, tak softwaru bude opraveno na náklady žáka.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C3C57DE-45E6-4EE1-961D-5A0E6DEA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35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Povinnosti studenta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Žákům je povoleno používat vlastní (cizí) přenosná paměťová média po předchozí dohodě s vyučujícím.</a:t>
            </a:r>
          </a:p>
          <a:p>
            <a:r>
              <a:rPr lang="cs-CZ" dirty="0"/>
              <a:t>Žák má přísný zákaz nahlížet a pracovat s daty jiného žáka. </a:t>
            </a:r>
          </a:p>
          <a:p>
            <a:r>
              <a:rPr lang="cs-CZ" dirty="0"/>
              <a:t>Při práci s výpočetní technikou je zakázána konzumace potravin a nápojů z neuzavíratelných nádob.</a:t>
            </a:r>
          </a:p>
          <a:p>
            <a:r>
              <a:rPr lang="cs-CZ" dirty="0"/>
              <a:t>V učebně VT je přísný zákaz manipulace s otevřeným ohněm a manipulace se silovými rozvody 230 V.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F65C419-DC0C-4FF6-9B5A-5960F17F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57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Povinnosti studenta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Veškeré závady je povinen neprodleně nahlásit vyučujícímu.</a:t>
            </a:r>
          </a:p>
          <a:p>
            <a:r>
              <a:rPr lang="cs-CZ" dirty="0"/>
              <a:t>Při práci na školních PC jsou žáci vlastníky autorských práv svých produktů. Škola má právo tyto produkty bezplatně využívat. Bez souhlasu vlastníka autorských práv však třetí osoba (tedy i škola) nesmí tyto produkty měnit ani poskytovat třetím osobám.</a:t>
            </a:r>
          </a:p>
          <a:p>
            <a:r>
              <a:rPr lang="cs-CZ" dirty="0"/>
              <a:t>Při odchodu je žák povinen zkontrolovat stav počítače a jejich komponent, uklidit pracoviště a odhlásit se ze svého počítače.       Na pokyn vyučujícího je povinen vypnout nebo uzamknout počítač předepsaným způsobem.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39289A9-67A1-44FB-8547-13B5C179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35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Povinnosti studenta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Žáci mají zakázáno přenášet větší množství dat, prohlížet stránky s pornografií, šířící rasovou či národnostní nesnášenlivost, propagující drogy, s obsahem, který je v rozporu s platnými zákony a školním řádem.</a:t>
            </a:r>
          </a:p>
          <a:p>
            <a:r>
              <a:rPr lang="cs-CZ" dirty="0"/>
              <a:t>Žák je povinen udržovat na každém zařízení, které připojí do školní sítě ethernet (prostřednictvím síťového LAN kabelu), funkční antivirový systém dodaný školou.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39289A9-67A1-44FB-8547-13B5C179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520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52B085-FEB3-4DAB-9CF9-857B12EE9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Režimy počítače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C8419F-154E-4595-9D46-B52780F88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11840"/>
            <a:ext cx="10078278" cy="424400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Vypnutí</a:t>
            </a:r>
          </a:p>
          <a:p>
            <a:pPr>
              <a:lnSpc>
                <a:spcPct val="200000"/>
              </a:lnSpc>
            </a:pPr>
            <a:r>
              <a:rPr lang="cs-CZ" dirty="0"/>
              <a:t>Hibernace</a:t>
            </a:r>
          </a:p>
          <a:p>
            <a:pPr>
              <a:lnSpc>
                <a:spcPct val="200000"/>
              </a:lnSpc>
            </a:pPr>
            <a:r>
              <a:rPr lang="cs-CZ" dirty="0"/>
              <a:t>Režim spánku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74D7CFA-6C6E-4270-8EB2-B995D2E7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638EFFA8-174F-45A6-A3F4-0E98DDF20A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70" t="4782" r="26395" b="10000"/>
          <a:stretch/>
        </p:blipFill>
        <p:spPr>
          <a:xfrm>
            <a:off x="5982081" y="423685"/>
            <a:ext cx="6097275" cy="45288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2F540CDD-1865-453D-AC8F-3D7D4CA20330}"/>
              </a:ext>
            </a:extLst>
          </p:cNvPr>
          <p:cNvSpPr txBox="1"/>
          <p:nvPr/>
        </p:nvSpPr>
        <p:spPr>
          <a:xfrm>
            <a:off x="848832" y="5373519"/>
            <a:ext cx="111238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Zdroj a více informací dostupných na: </a:t>
            </a:r>
            <a:r>
              <a:rPr lang="cs-CZ" dirty="0">
                <a:hlinkClick r:id="rId3"/>
              </a:rPr>
              <a:t>https://wintip.cz/468-jaky-je-rozdil-mezi-rezimem-spanku-a-hibernaci-ve-windows</a:t>
            </a:r>
            <a:r>
              <a:rPr lang="cs-CZ" dirty="0"/>
              <a:t>, </a:t>
            </a:r>
            <a:r>
              <a:rPr lang="cs-CZ" dirty="0">
                <a:hlinkClick r:id="rId4"/>
              </a:rPr>
              <a:t>https://support.microsoft.com/cs-cz/windows/vypnut%C3%AD-usp%C3%A1n%C3%AD-nebo-hibernace-po%C4%8D%C3%ADta%C4%8De-2941d165-7d0a-a5e8-c5ad-8c972e8e6eff#ID0EBD=Windows_10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54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F7AB76-0813-D52E-9157-84666F38A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Cartridge ~ kazeta tonerová, inkoustová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2913A4-5B79-AEDB-6532-993D9AC12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Použitá tonerová nebo inkoustová kazeta se </a:t>
            </a:r>
            <a:r>
              <a:rPr lang="cs-CZ" b="1" dirty="0"/>
              <a:t>nesmí vyhazovat do běžného odpadu</a:t>
            </a:r>
            <a:r>
              <a:rPr lang="cs-CZ" dirty="0"/>
              <a:t>. </a:t>
            </a:r>
          </a:p>
          <a:p>
            <a:r>
              <a:rPr lang="cs-CZ" dirty="0"/>
              <a:t>Pokud je možné opakované použití, je ideálním řešením recyklace, pokud opakované použití není možné, musí dojít ke spálení ve specializované spalovně.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534F546-A8E5-C124-596C-6A978419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AA812FD8-1A96-69F9-E0B8-2A1BB57FE5DE}"/>
              </a:ext>
            </a:extLst>
          </p:cNvPr>
          <p:cNvSpPr txBox="1"/>
          <p:nvPr/>
        </p:nvSpPr>
        <p:spPr>
          <a:xfrm>
            <a:off x="972745" y="6268398"/>
            <a:ext cx="10875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>
                <a:hlinkClick r:id="rId2"/>
              </a:rPr>
              <a:t>https://www.setriprirodu.cz/co-s-prazdnym-tonerem-inkoustem/jak-vyhodit-prazdny-toner-ci-inkoust-kdyz-jsem-nepodnikajici-fyzicka-osoba-spotrebitel/</a:t>
            </a:r>
            <a:r>
              <a:rPr lang="cs-CZ" sz="1400" dirty="0"/>
              <a:t>, </a:t>
            </a:r>
            <a:r>
              <a:rPr lang="cs-CZ" sz="1100" dirty="0"/>
              <a:t>8.9. 2023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365112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F7AB76-0813-D52E-9157-84666F38A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393680" cy="1485900"/>
          </a:xfrm>
        </p:spPr>
        <p:txBody>
          <a:bodyPr/>
          <a:lstStyle/>
          <a:p>
            <a:r>
              <a:rPr lang="cs-CZ" dirty="0"/>
              <a:t>Kam odložit nepotřebnou cartridge, toner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2913A4-5B79-AEDB-6532-993D9AC12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sběrné boxy určené speciálně pro použité tonerové a inkoustové kazety</a:t>
            </a:r>
          </a:p>
          <a:p>
            <a:r>
              <a:rPr lang="cs-CZ" dirty="0"/>
              <a:t>odevzdání na sběrný dvůr</a:t>
            </a:r>
          </a:p>
          <a:p>
            <a:r>
              <a:rPr lang="cs-CZ" dirty="0"/>
              <a:t>odevzdání na prodejnu, kde byl zakoupen</a:t>
            </a:r>
          </a:p>
          <a:p>
            <a:r>
              <a:rPr lang="cs-CZ" dirty="0"/>
              <a:t>zaslání na adresu firem zajišťujících ekologickou likvidaci (Asociace renovátorů tonerů, GIGAPRINT.CZ – recyklace, …)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534F546-A8E5-C124-596C-6A978419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A554FB31-62AD-D790-510C-1DEA0BC1C263}"/>
              </a:ext>
            </a:extLst>
          </p:cNvPr>
          <p:cNvSpPr txBox="1"/>
          <p:nvPr/>
        </p:nvSpPr>
        <p:spPr>
          <a:xfrm>
            <a:off x="1122972" y="6191776"/>
            <a:ext cx="10875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>
                <a:hlinkClick r:id="rId2"/>
              </a:rPr>
              <a:t>https://www.setriprirodu.cz/co-s-prazdnym-tonerem-inkoustem/jak-vyhodit-prazdny-toner-ci-inkoust-kdyz-jsem-nepodnikajici-fyzicka-osoba-spotrebitel/</a:t>
            </a:r>
            <a:r>
              <a:rPr lang="cs-CZ" sz="1400" dirty="0"/>
              <a:t>, </a:t>
            </a:r>
            <a:r>
              <a:rPr lang="cs-CZ" sz="1400" dirty="0">
                <a:hlinkClick r:id="rId3"/>
              </a:rPr>
              <a:t>https://www.veronica.cz/otazky?i=512</a:t>
            </a:r>
            <a:r>
              <a:rPr lang="cs-CZ" sz="1400" dirty="0"/>
              <a:t>, </a:t>
            </a:r>
            <a:r>
              <a:rPr lang="cs-CZ" sz="1400" dirty="0">
                <a:hlinkClick r:id="rId4"/>
              </a:rPr>
              <a:t>https://www.gigaprint.cz/obchod/recyklace-toneru.html</a:t>
            </a:r>
            <a:r>
              <a:rPr lang="cs-CZ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6610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První pomoc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Záchrana života nesmí ohrozit váš vlastní život.</a:t>
            </a:r>
          </a:p>
          <a:p>
            <a:r>
              <a:rPr lang="cs-CZ" dirty="0"/>
              <a:t>Jedná se o:</a:t>
            </a:r>
          </a:p>
          <a:p>
            <a:pPr lvl="1">
              <a:lnSpc>
                <a:spcPct val="200000"/>
              </a:lnSpc>
            </a:pPr>
            <a:r>
              <a:rPr lang="cs-CZ" dirty="0"/>
              <a:t>Zabránění zhoršení zdravotního stavu postiženého nebo raněného.</a:t>
            </a:r>
          </a:p>
          <a:p>
            <a:pPr lvl="1">
              <a:lnSpc>
                <a:spcPct val="200000"/>
              </a:lnSpc>
            </a:pPr>
            <a:r>
              <a:rPr lang="cs-CZ" dirty="0"/>
              <a:t>Zajištění bezpečnosti postiženému a zachránci.</a:t>
            </a:r>
          </a:p>
          <a:p>
            <a:pPr lvl="1">
              <a:lnSpc>
                <a:spcPct val="200000"/>
              </a:lnSpc>
            </a:pPr>
            <a:r>
              <a:rPr lang="cs-CZ" dirty="0"/>
              <a:t>Přivolání odborné pomoci (Zdravotnická záchranná služba).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F7EE230-CEF1-4C84-B4A3-A8990542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4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51C249-376D-4AE2-935C-D720CC43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Lékárnička ve škole DELTA, s.r.o.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41876F5-D9BC-4074-9B7B-72EB63AB4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 dispozici na sekretariátu školy.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FA80141-DE44-468F-A9F2-3B05394A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10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600A16A-81B0-490C-AC2D-B893C83D6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2712">
            <a:off x="6612515" y="1288510"/>
            <a:ext cx="5224442" cy="522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BAF818B7-F4A1-4F5F-8A5D-0B1E56205A13}"/>
              </a:ext>
            </a:extLst>
          </p:cNvPr>
          <p:cNvSpPr txBox="1"/>
          <p:nvPr/>
        </p:nvSpPr>
        <p:spPr>
          <a:xfrm>
            <a:off x="1127272" y="6481054"/>
            <a:ext cx="83454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https://www.moje-lekarnicka.cz/vybavena-lekarnicka-medikus-pro-rodiny-s-detmi-858081--b0.jpg</a:t>
            </a:r>
          </a:p>
        </p:txBody>
      </p:sp>
    </p:spTree>
    <p:extLst>
      <p:ext uri="{BB962C8B-B14F-4D97-AF65-F5344CB8AC3E}">
        <p14:creationId xmlns:p14="http://schemas.microsoft.com/office/powerpoint/2010/main" val="2851904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První pomoc při bezvědomí - dýchá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20" y="1416808"/>
            <a:ext cx="11909559" cy="4933192"/>
          </a:xfrm>
          <a:prstGeom prst="rect">
            <a:avLst/>
          </a:pr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D2A2550-802E-424C-9C8A-52AED5C9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921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C98B52A-682B-4BD5-8F02-0520D985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/>
              <a:pPr>
                <a:spcAft>
                  <a:spcPts val="600"/>
                </a:spcAft>
              </a:pPr>
              <a:t>12</a:t>
            </a:fld>
            <a:endParaRPr lang="en-US" dirty="0"/>
          </a:p>
        </p:txBody>
      </p:sp>
      <p:pic>
        <p:nvPicPr>
          <p:cNvPr id="14" name="Obrázek 13" descr="Obsah obrázku klipart&#10;&#10;Popis byl vytvořen automaticky">
            <a:extLst>
              <a:ext uri="{FF2B5EF4-FFF2-40B4-BE49-F238E27FC236}">
                <a16:creationId xmlns:a16="http://schemas.microsoft.com/office/drawing/2014/main" id="{6AC19E93-F541-47DC-A2D0-C0E5D3C49D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453" b="164"/>
          <a:stretch/>
        </p:blipFill>
        <p:spPr>
          <a:xfrm>
            <a:off x="1063069" y="1479664"/>
            <a:ext cx="10707178" cy="4318402"/>
          </a:xfrm>
          <a:prstGeom prst="rect">
            <a:avLst/>
          </a:prstGeom>
        </p:spPr>
      </p:pic>
      <p:sp>
        <p:nvSpPr>
          <p:cNvPr id="16" name="TextovéPole 15">
            <a:extLst>
              <a:ext uri="{FF2B5EF4-FFF2-40B4-BE49-F238E27FC236}">
                <a16:creationId xmlns:a16="http://schemas.microsoft.com/office/drawing/2014/main" id="{F079C689-150A-4A69-8E74-C4523DE8AA4F}"/>
              </a:ext>
            </a:extLst>
          </p:cNvPr>
          <p:cNvSpPr txBox="1"/>
          <p:nvPr/>
        </p:nvSpPr>
        <p:spPr>
          <a:xfrm>
            <a:off x="1063069" y="6321618"/>
            <a:ext cx="107071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Zdroj: https://docplayer.cz/14579734-Polohovani-transport-obvazova-technika.html</a:t>
            </a:r>
          </a:p>
        </p:txBody>
      </p:sp>
      <p:sp>
        <p:nvSpPr>
          <p:cNvPr id="17" name="Nadpis 9">
            <a:extLst>
              <a:ext uri="{FF2B5EF4-FFF2-40B4-BE49-F238E27FC236}">
                <a16:creationId xmlns:a16="http://schemas.microsoft.com/office/drawing/2014/main" id="{ABA7EC8C-2E71-4776-8CB2-015E94A5C6A9}"/>
              </a:ext>
            </a:extLst>
          </p:cNvPr>
          <p:cNvSpPr txBox="1">
            <a:spLocks/>
          </p:cNvSpPr>
          <p:nvPr/>
        </p:nvSpPr>
        <p:spPr>
          <a:xfrm>
            <a:off x="1063069" y="376540"/>
            <a:ext cx="96647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Stabilizovaná ~ Zotavovací poloha</a:t>
            </a:r>
          </a:p>
        </p:txBody>
      </p:sp>
    </p:spTree>
    <p:extLst>
      <p:ext uri="{BB962C8B-B14F-4D97-AF65-F5344CB8AC3E}">
        <p14:creationId xmlns:p14="http://schemas.microsoft.com/office/powerpoint/2010/main" val="4095911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30D180-B300-4BD5-91E2-CCE18DDAD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Stabilizovaná ~ Zotavovací poloha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B0B20B-D1D6-40C2-BC48-15B986D5B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Stabilizovaná poloha, jinak také Zotavovací poloha je v první pomoci jakákoli poloha na boku, z níž není snadné se překulit na záda. Překulení zajišťují pokrčené končetiny. </a:t>
            </a:r>
          </a:p>
          <a:p>
            <a:r>
              <a:rPr lang="cs-CZ" dirty="0"/>
              <a:t>Smyslem této polohy je zabránit zapadnutí jazyka a vdechnutí zvratků u pacienta při porušeném vědomí.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C98B52A-682B-4BD5-8F02-0520D985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/>
              <a:pPr>
                <a:spcAft>
                  <a:spcPts val="600"/>
                </a:spcAft>
              </a:pPr>
              <a:t>13</a:t>
            </a:fld>
            <a:endParaRPr lang="en-US" dirty="0"/>
          </a:p>
        </p:txBody>
      </p:sp>
      <p:pic>
        <p:nvPicPr>
          <p:cNvPr id="14" name="Obrázek 13" descr="Obsah obrázku klipart&#10;&#10;Popis byl vytvořen automaticky">
            <a:extLst>
              <a:ext uri="{FF2B5EF4-FFF2-40B4-BE49-F238E27FC236}">
                <a16:creationId xmlns:a16="http://schemas.microsoft.com/office/drawing/2014/main" id="{6AC19E93-F541-47DC-A2D0-C0E5D3C49D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453" b="164"/>
          <a:stretch/>
        </p:blipFill>
        <p:spPr>
          <a:xfrm>
            <a:off x="7294934" y="4546093"/>
            <a:ext cx="4783845" cy="19294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TextovéPole 15">
            <a:extLst>
              <a:ext uri="{FF2B5EF4-FFF2-40B4-BE49-F238E27FC236}">
                <a16:creationId xmlns:a16="http://schemas.microsoft.com/office/drawing/2014/main" id="{F079C689-150A-4A69-8E74-C4523DE8AA4F}"/>
              </a:ext>
            </a:extLst>
          </p:cNvPr>
          <p:cNvSpPr txBox="1"/>
          <p:nvPr/>
        </p:nvSpPr>
        <p:spPr>
          <a:xfrm>
            <a:off x="1063069" y="6321618"/>
            <a:ext cx="107071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Zdroj: https://docplayer.cz/14579734-Polohovani-transport-obvazova-technika.html</a:t>
            </a:r>
          </a:p>
        </p:txBody>
      </p:sp>
    </p:spTree>
    <p:extLst>
      <p:ext uri="{BB962C8B-B14F-4D97-AF65-F5344CB8AC3E}">
        <p14:creationId xmlns:p14="http://schemas.microsoft.com/office/powerpoint/2010/main" val="2209800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První pomoc při bezvědomí - nedýchá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89" y="1570994"/>
            <a:ext cx="12045022" cy="4882392"/>
          </a:xfrm>
          <a:prstGeom prst="rect">
            <a:avLst/>
          </a:pr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74B3075-CB4E-47B1-BDDA-77D0D807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536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4B35E85-C92F-43E4-B675-BB4AFE47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E958D1AE-BF09-46F5-8493-10E30A6C2AFD}"/>
              </a:ext>
            </a:extLst>
          </p:cNvPr>
          <p:cNvSpPr txBox="1"/>
          <p:nvPr/>
        </p:nvSpPr>
        <p:spPr>
          <a:xfrm>
            <a:off x="742122" y="6520021"/>
            <a:ext cx="102306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https://www.prvnipomoczive.cz/wp-content/uploads/2020/05/bezvedomi-infografika-2.png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4DF42E-442D-4CCD-848B-6211914815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" t="12558" r="2106" b="6976"/>
          <a:stretch/>
        </p:blipFill>
        <p:spPr bwMode="auto">
          <a:xfrm>
            <a:off x="978195" y="1101325"/>
            <a:ext cx="4455042" cy="5377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C68C969-1C49-4752-AC80-2C6EDD584A32}"/>
              </a:ext>
            </a:extLst>
          </p:cNvPr>
          <p:cNvSpPr txBox="1">
            <a:spLocks/>
          </p:cNvSpPr>
          <p:nvPr/>
        </p:nvSpPr>
        <p:spPr>
          <a:xfrm>
            <a:off x="1396407" y="529853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První pomoc při bezvědomí - nedýchá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9FE8483-F44A-4386-9A00-2F2E84E3FF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48" t="47895" r="2106" b="6976"/>
          <a:stretch/>
        </p:blipFill>
        <p:spPr bwMode="auto">
          <a:xfrm>
            <a:off x="6911539" y="1324477"/>
            <a:ext cx="3884054" cy="47856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10" name="Šipka: doprava, šrafovaná 9">
            <a:extLst>
              <a:ext uri="{FF2B5EF4-FFF2-40B4-BE49-F238E27FC236}">
                <a16:creationId xmlns:a16="http://schemas.microsoft.com/office/drawing/2014/main" id="{38731D28-8D8E-4D3A-AE9D-68176CA84987}"/>
              </a:ext>
            </a:extLst>
          </p:cNvPr>
          <p:cNvSpPr/>
          <p:nvPr/>
        </p:nvSpPr>
        <p:spPr>
          <a:xfrm>
            <a:off x="5240079" y="4198978"/>
            <a:ext cx="1711842" cy="643270"/>
          </a:xfrm>
          <a:prstGeom prst="strip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215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3FCDD0-352E-4E79-A0BA-B6B84D070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Nepřímá srdeční masáž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761F45-1872-4B3D-BCEB-D7AED97BE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18166"/>
            <a:ext cx="10078278" cy="4244009"/>
          </a:xfrm>
        </p:spPr>
        <p:txBody>
          <a:bodyPr/>
          <a:lstStyle/>
          <a:p>
            <a:r>
              <a:rPr lang="cs-CZ" dirty="0"/>
              <a:t>Srdeční masáž provádíme na středu hrudní kosti. Doprostřed hrudníku, přímo na hrudní kost položíme spodní hranu dlaně jedné ruky, druhou ruku na ní a propleteme prsty. Ruce máme natažené, v lokti pevně propnuté a s rameny kolmo nad postiženým. </a:t>
            </a:r>
          </a:p>
          <a:p>
            <a:r>
              <a:rPr lang="cs-CZ" dirty="0"/>
              <a:t>Rytmicky stlačujeme hrudník </a:t>
            </a:r>
            <a:r>
              <a:rPr lang="cs-CZ" b="1" dirty="0"/>
              <a:t>do hloubky cca 5 cm rychlostí 100 stlačení za minutu</a:t>
            </a:r>
            <a:r>
              <a:rPr lang="cs-CZ" dirty="0"/>
              <a:t>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297C014-1772-4B44-84C0-D9ADBC72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DF6E55C-7355-4DAF-976E-3575CF95F918}"/>
              </a:ext>
            </a:extLst>
          </p:cNvPr>
          <p:cNvSpPr txBox="1"/>
          <p:nvPr/>
        </p:nvSpPr>
        <p:spPr>
          <a:xfrm>
            <a:off x="846525" y="6522501"/>
            <a:ext cx="886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Zdroj: https://skoleniprvnipomoci.cz/vyukovy-portal/neprima-srdecni-masaz/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52FDAC2-1AE0-4C3D-B50B-025EFF25E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334" y="4414547"/>
            <a:ext cx="2898877" cy="241573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EB8BC4B4-44E2-4033-96A4-C260B51BEB2F}"/>
              </a:ext>
            </a:extLst>
          </p:cNvPr>
          <p:cNvSpPr txBox="1"/>
          <p:nvPr/>
        </p:nvSpPr>
        <p:spPr>
          <a:xfrm rot="16200000">
            <a:off x="8695022" y="3333030"/>
            <a:ext cx="66240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200" dirty="0"/>
              <a:t>https://skoleniprvnipomoci.cz/wp-content/uploads/2018/09/neprima-srdecni-masaz.png</a:t>
            </a:r>
          </a:p>
        </p:txBody>
      </p:sp>
    </p:spTree>
    <p:extLst>
      <p:ext uri="{BB962C8B-B14F-4D97-AF65-F5344CB8AC3E}">
        <p14:creationId xmlns:p14="http://schemas.microsoft.com/office/powerpoint/2010/main" val="1100732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0473DB-2AA7-4BCB-97FD-96957772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První pomoc při bezvědomí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F330BE-1EDA-4EA8-B8EF-97F3D4314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První pomoc při bezvědomí </a:t>
            </a:r>
            <a:r>
              <a:rPr lang="cs-CZ" b="1" dirty="0"/>
              <a:t>– nedýchá </a:t>
            </a:r>
            <a:r>
              <a:rPr lang="cs-CZ" dirty="0"/>
              <a:t>=&gt; přivolat Zdravotnickou záchrannou službu a poté zahájit resuscitaci.</a:t>
            </a:r>
          </a:p>
          <a:p>
            <a:endParaRPr lang="cs-CZ" dirty="0"/>
          </a:p>
          <a:p>
            <a:r>
              <a:rPr lang="cs-CZ" dirty="0"/>
              <a:t>První pomoc při bezvědomí </a:t>
            </a:r>
            <a:r>
              <a:rPr lang="cs-CZ" b="1" dirty="0"/>
              <a:t>– dýchá </a:t>
            </a:r>
            <a:r>
              <a:rPr lang="cs-CZ" dirty="0"/>
              <a:t>=&gt; Stabilizovaná ~ Zotavovací poloha a poté přivolat Zdravotnickou záchrannou službu.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C1C2D5D-AED8-4398-8C9C-9D943C2C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17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FDA0A56-0669-45A8-8A40-9CAC5B3DC0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40" t="8622" r="13191" b="10801"/>
          <a:stretch/>
        </p:blipFill>
        <p:spPr bwMode="auto">
          <a:xfrm>
            <a:off x="9377917" y="182189"/>
            <a:ext cx="2519916" cy="22638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AEBF38B8-FE82-4A29-920B-FB983B3B1E22}"/>
              </a:ext>
            </a:extLst>
          </p:cNvPr>
          <p:cNvSpPr txBox="1"/>
          <p:nvPr/>
        </p:nvSpPr>
        <p:spPr>
          <a:xfrm rot="16200000">
            <a:off x="8571262" y="2909270"/>
            <a:ext cx="69336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https://www.zzshmp.cz/wp-content/uploads/2017/05/volani155-prvni-pomoc.png</a:t>
            </a:r>
          </a:p>
        </p:txBody>
      </p:sp>
    </p:spTree>
    <p:extLst>
      <p:ext uri="{BB962C8B-B14F-4D97-AF65-F5344CB8AC3E}">
        <p14:creationId xmlns:p14="http://schemas.microsoft.com/office/powerpoint/2010/main" val="2289195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37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</p:grpSp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5D213B41-AC9B-4E61-BEED-FF4C168A8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5D11E93-6632-485F-87CF-41630FE3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830" y="596327"/>
            <a:ext cx="8787259" cy="12372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Důležitá telefonní čísla</a:t>
            </a:r>
          </a:p>
        </p:txBody>
      </p:sp>
      <p:sp>
        <p:nvSpPr>
          <p:cNvPr id="141" name="Freeform 6">
            <a:extLst>
              <a:ext uri="{FF2B5EF4-FFF2-40B4-BE49-F238E27FC236}">
                <a16:creationId xmlns:a16="http://schemas.microsoft.com/office/drawing/2014/main" id="{D8BB75D5-93A7-4EC9-A2FB-DCBDE6DE3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 flipH="1">
            <a:off x="1046527" y="-133294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  <p:sp>
        <p:nvSpPr>
          <p:cNvPr id="143" name="Freeform 6">
            <a:extLst>
              <a:ext uri="{FF2B5EF4-FFF2-40B4-BE49-F238E27FC236}">
                <a16:creationId xmlns:a16="http://schemas.microsoft.com/office/drawing/2014/main" id="{628FBD9F-3B86-4C98-8F77-383320737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 flipV="1">
            <a:off x="7838485" y="614084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cs-CZ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926E950-8C57-4692-9703-73698F594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6248" y="1762547"/>
            <a:ext cx="10122922" cy="506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43C903A-3349-4685-811B-EFA3032B3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9E57DC2-970A-4B3E-BB1C-7A09969E49DF}" type="slidenum">
              <a:rPr lang="en-US" smtClean="0"/>
              <a:pPr defTabSz="914400"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36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EE91EC-6553-42D0-9F30-C7B1E0AB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Hasící přístroje ve škole DELTA, s.r.o.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9E9177-91AF-46D8-B277-3CBFF9BCF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 každém patře u schodiště (v nové i staré budově).</a:t>
            </a:r>
          </a:p>
          <a:p>
            <a:r>
              <a:rPr lang="cs-CZ" dirty="0"/>
              <a:t>V proskleném průchodu mezi budovami.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360CE1F-78E9-448F-82C9-34CB04E8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19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014D765-A744-426F-ADE4-50D3C568C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75626">
            <a:off x="6525733" y="23050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ECA0D6C3-5763-4FB8-84E3-435C9CCF0A19}"/>
              </a:ext>
            </a:extLst>
          </p:cNvPr>
          <p:cNvSpPr txBox="1"/>
          <p:nvPr/>
        </p:nvSpPr>
        <p:spPr>
          <a:xfrm>
            <a:off x="1230719" y="6527817"/>
            <a:ext cx="609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https://www.manutan.cz/img/S/GRP/ST/AIG2741499.jpg</a:t>
            </a:r>
          </a:p>
        </p:txBody>
      </p:sp>
    </p:spTree>
    <p:extLst>
      <p:ext uri="{BB962C8B-B14F-4D97-AF65-F5344CB8AC3E}">
        <p14:creationId xmlns:p14="http://schemas.microsoft.com/office/powerpoint/2010/main" val="1522039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C79683-A1EA-48F2-A5B1-05CB0A8BD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738884" cy="1485900"/>
          </a:xfrm>
        </p:spPr>
        <p:txBody>
          <a:bodyPr>
            <a:normAutofit fontScale="90000"/>
          </a:bodyPr>
          <a:lstStyle/>
          <a:p>
            <a:r>
              <a:rPr lang="it-IT" b="0" i="0" dirty="0">
                <a:solidFill>
                  <a:srgbClr val="043464"/>
                </a:solidFill>
                <a:effectLst/>
                <a:latin typeface="Roboto" panose="02000000000000000000" pitchFamily="2" charset="0"/>
              </a:rPr>
              <a:t>Povinnosti zaměstnavatele v oblasti BOZ a PO</a:t>
            </a:r>
            <a:br>
              <a:rPr lang="it-IT" b="0" i="0" dirty="0">
                <a:solidFill>
                  <a:srgbClr val="043464"/>
                </a:solidFill>
                <a:effectLst/>
                <a:latin typeface="Roboto" panose="02000000000000000000" pitchFamily="2" charset="0"/>
              </a:rPr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4203542-B930-4AF4-B6F7-3093ED67A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5999"/>
            <a:ext cx="10356112" cy="4572001"/>
          </a:xfrm>
        </p:spPr>
        <p:txBody>
          <a:bodyPr>
            <a:normAutofit fontScale="92500" lnSpcReduction="10000"/>
          </a:bodyPr>
          <a:lstStyle/>
          <a:p>
            <a:r>
              <a:rPr lang="cs-CZ" sz="3000" dirty="0"/>
              <a:t>Subjekty ze zákona mající povinnost v oblasti BOZ a PO:</a:t>
            </a:r>
          </a:p>
          <a:p>
            <a:pPr lvl="1"/>
            <a:r>
              <a:rPr lang="cs-CZ" sz="2800" dirty="0"/>
              <a:t>státní podnik</a:t>
            </a:r>
          </a:p>
          <a:p>
            <a:pPr lvl="1"/>
            <a:r>
              <a:rPr lang="cs-CZ" sz="2800" dirty="0"/>
              <a:t>škola</a:t>
            </a:r>
          </a:p>
          <a:p>
            <a:pPr lvl="1"/>
            <a:r>
              <a:rPr lang="cs-CZ" sz="2800" dirty="0"/>
              <a:t>a.s., s.r.o.</a:t>
            </a:r>
          </a:p>
          <a:p>
            <a:pPr lvl="1"/>
            <a:r>
              <a:rPr lang="cs-CZ" sz="2800" dirty="0"/>
              <a:t>OSVČ.</a:t>
            </a:r>
          </a:p>
          <a:p>
            <a:pPr marL="530352" lvl="1" indent="0">
              <a:buNone/>
            </a:pPr>
            <a:endParaRPr lang="cs-CZ" sz="2800" dirty="0"/>
          </a:p>
          <a:p>
            <a:r>
              <a:rPr lang="cs-CZ" sz="3000" dirty="0"/>
              <a:t>Předmětem školení BOZ a PO by mělo být seznámení s riziky práce na pracovišti, ohrožující bezpečnost a zdraví zaměstnance.</a:t>
            </a:r>
          </a:p>
          <a:p>
            <a:pPr marL="0" indent="0">
              <a:buNone/>
            </a:pPr>
            <a:endParaRPr lang="cs-CZ" sz="1600" dirty="0"/>
          </a:p>
          <a:p>
            <a:pPr marL="0" indent="0">
              <a:buNone/>
            </a:pPr>
            <a:r>
              <a:rPr lang="cs-CZ" sz="1600" dirty="0"/>
              <a:t>Zdroj: </a:t>
            </a:r>
            <a:r>
              <a:rPr lang="cs-CZ" sz="1600" dirty="0">
                <a:hlinkClick r:id="rId2"/>
              </a:rPr>
              <a:t>https://www.pruvodcepodnikanim.cz/clanek/povinnosti-zamestnavatele-v-oblasti-bozp-a-po/?bid1=ps-SME-DSA-2508-Google</a:t>
            </a:r>
            <a:r>
              <a:rPr lang="cs-CZ" sz="1600" dirty="0"/>
              <a:t>, https://www.bozp.cz/pruvodce-bozp-zamestnavatel/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5576EF3-B11D-40E6-9374-C58CE3AD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17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11E00E-9B2E-4E87-A33E-2BE61F7F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Kniha úrazů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22002D-E715-41C1-8C34-5D5684CE2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sz="2600" dirty="0"/>
              <a:t>Kniha úrazů je evidenční kniha na pracovišti, jejíž vedení nařizuje zaměstnavatelům </a:t>
            </a:r>
            <a:r>
              <a:rPr lang="cs-CZ" sz="2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§ 105 zákona č. 262/2006 Sb. zákoník práce</a:t>
            </a:r>
            <a:r>
              <a:rPr lang="cs-CZ" sz="2600" dirty="0"/>
              <a:t> a </a:t>
            </a:r>
            <a:r>
              <a:rPr lang="cs-CZ" sz="2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nařízení vlády č. 201/2010 Sb.</a:t>
            </a:r>
            <a:r>
              <a:rPr lang="cs-CZ" sz="2600" dirty="0"/>
              <a:t> o způsobu evidence úrazů, hlášení a zasílání záznamu o úrazu. Do knihy úrazů zapisuje vedoucí pracovník </a:t>
            </a:r>
            <a:r>
              <a:rPr lang="cs-CZ" sz="2600" b="1" dirty="0"/>
              <a:t>bezodkladně všechny úrazy, které se na pracovišti odehrají.</a:t>
            </a:r>
          </a:p>
          <a:p>
            <a:r>
              <a:rPr lang="cs-CZ" sz="2400" dirty="0"/>
              <a:t>K dispozici na sekretariátu školy.</a:t>
            </a:r>
          </a:p>
          <a:p>
            <a:pPr marL="0" indent="0">
              <a:buNone/>
            </a:pPr>
            <a:endParaRPr lang="cs-CZ" dirty="0"/>
          </a:p>
          <a:p>
            <a:endParaRPr lang="cs-CZ" dirty="0"/>
          </a:p>
          <a:p>
            <a:pPr marL="0" indent="0">
              <a:buNone/>
            </a:pPr>
            <a:r>
              <a:rPr lang="cs-CZ" sz="2000" dirty="0"/>
              <a:t>Zdroj: https://www.bozp.cz/slovnik-pojmu/kniha-urazu/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00527CD-1CD4-46B2-A733-5495C3C1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21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0D70422-1A52-4C64-8A3D-F4E7DE060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165" y="3793165"/>
            <a:ext cx="4804587" cy="320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56B5F36F-368D-40C3-8EB9-F1A348B8FED4}"/>
              </a:ext>
            </a:extLst>
          </p:cNvPr>
          <p:cNvSpPr txBox="1"/>
          <p:nvPr/>
        </p:nvSpPr>
        <p:spPr>
          <a:xfrm rot="16200000">
            <a:off x="9880732" y="4470698"/>
            <a:ext cx="42450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https://www.bozp.cz/content/terms/kniha-urazu.jpg</a:t>
            </a:r>
          </a:p>
        </p:txBody>
      </p:sp>
    </p:spTree>
    <p:extLst>
      <p:ext uri="{BB962C8B-B14F-4D97-AF65-F5344CB8AC3E}">
        <p14:creationId xmlns:p14="http://schemas.microsoft.com/office/powerpoint/2010/main" val="3141136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Poranění elektrickým proudem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18167"/>
            <a:ext cx="10675088" cy="48165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/>
              <a:t>Při poranění elektrickým proudem je jedním z rozhodujících faktorů ovlivňující stav postiženého velikost elektrického napětí. Elektrické napětí dělíme na: </a:t>
            </a:r>
          </a:p>
          <a:p>
            <a:r>
              <a:rPr lang="cs-CZ" b="1" dirty="0"/>
              <a:t>malé </a:t>
            </a:r>
            <a:r>
              <a:rPr lang="cs-CZ" dirty="0"/>
              <a:t>(bezpečné) napětí do </a:t>
            </a:r>
            <a:r>
              <a:rPr lang="cs-CZ" b="1" dirty="0"/>
              <a:t>50 V</a:t>
            </a:r>
            <a:r>
              <a:rPr lang="cs-CZ" dirty="0"/>
              <a:t> – postiženému obvykle nehrozí žádné nebezpečí,</a:t>
            </a:r>
          </a:p>
          <a:p>
            <a:r>
              <a:rPr lang="cs-CZ" b="1" dirty="0"/>
              <a:t>nízké napětí do 1000 V </a:t>
            </a:r>
            <a:r>
              <a:rPr lang="cs-CZ" dirty="0"/>
              <a:t>(nejčastěji proud v domácnosti) – u postiženého může dojít k poruchám srdečního rytmu, poruchám vědomí, k zástavě oběhu a dechu,</a:t>
            </a:r>
          </a:p>
          <a:p>
            <a:r>
              <a:rPr lang="cs-CZ" b="1" dirty="0"/>
              <a:t>vysoké napětí nad 1000 V </a:t>
            </a:r>
            <a:r>
              <a:rPr lang="cs-CZ" dirty="0"/>
              <a:t>(troleje, sloupy vysokého napětí) – u postiženého dochází k poruchám rytmu, bezvědomí a zástavě dechu a oběhu; toto napětí způsobuje na těle rozsáhlé a hluboké popáleniny až zuhelnatění.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B9C6F09-3413-4C15-8BCA-5DCA538C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13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Poranění elektrickým proudem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Příčiny</a:t>
            </a:r>
            <a:r>
              <a:rPr lang="cs-CZ" dirty="0"/>
              <a:t>: manipulace s el. přístrojem ve vlhkém prostředí, elektrický výboj při narušeném kabelu, poškození spotřebiče, kontakt s předmětem pod el. napětím, zásah bleskem, spadlé vedení vysokého napětí.</a:t>
            </a:r>
          </a:p>
          <a:p>
            <a:r>
              <a:rPr lang="cs-CZ" b="1" dirty="0"/>
              <a:t>Příznaky</a:t>
            </a:r>
            <a:r>
              <a:rPr lang="cs-CZ" dirty="0"/>
              <a:t>: poruchy vědomí, poruchy srdečního rytmu, zástava oběhu a dechu, popáleniny až zuhelnatění, výskyt křečí nebo záškubů celého těla.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4C0CFB6-768C-4FFA-AA0D-26015129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443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Poranění elektrickým proudem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285999"/>
            <a:ext cx="10909005" cy="4244009"/>
          </a:xfrm>
        </p:spPr>
        <p:txBody>
          <a:bodyPr>
            <a:normAutofit/>
          </a:bodyPr>
          <a:lstStyle/>
          <a:p>
            <a:r>
              <a:rPr lang="cs-CZ" dirty="0"/>
              <a:t>Při podezření na úraz elektrickým proudem </a:t>
            </a:r>
            <a:r>
              <a:rPr lang="cs-CZ" b="1" dirty="0"/>
              <a:t>se nedotýkejte postiženého</a:t>
            </a:r>
            <a:r>
              <a:rPr lang="cs-CZ" dirty="0"/>
              <a:t>.</a:t>
            </a:r>
          </a:p>
          <a:p>
            <a:r>
              <a:rPr lang="cs-CZ" b="1" dirty="0"/>
              <a:t>Myslete především na svou bezpečnost =&gt; VYPNĚTE EL. PROUD</a:t>
            </a:r>
            <a:r>
              <a:rPr lang="cs-CZ" dirty="0"/>
              <a:t>.</a:t>
            </a:r>
          </a:p>
          <a:p>
            <a:r>
              <a:rPr lang="cs-CZ" dirty="0"/>
              <a:t>Jestliže </a:t>
            </a:r>
            <a:r>
              <a:rPr lang="cs-CZ" b="1" dirty="0"/>
              <a:t>nelze proud vypnout, postavte se na nevodivý materiál a pokuste se odsunout přístroj </a:t>
            </a:r>
            <a:r>
              <a:rPr lang="cs-CZ" dirty="0"/>
              <a:t>od postiženého nebo postiženého od zdroje el. proudu nevodivým materiálem (např. dřevěná násada od koštěte, triko, …).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C24DF97-9FD6-4C8B-B51F-205BF9EC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541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Poranění elektrickým proudem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Vždy</a:t>
            </a:r>
            <a:r>
              <a:rPr lang="cs-CZ" dirty="0"/>
              <a:t>, i když je postižený při vědomí, </a:t>
            </a:r>
            <a:r>
              <a:rPr lang="cs-CZ" b="1" dirty="0"/>
              <a:t>přivolejte zdravotnickou záchrannou službu.</a:t>
            </a:r>
            <a:endParaRPr lang="cs-CZ" dirty="0"/>
          </a:p>
          <a:p>
            <a:r>
              <a:rPr lang="cs-CZ" b="1" dirty="0"/>
              <a:t>Kontrolujte stav vědomí a dýchání postiženého.</a:t>
            </a:r>
            <a:endParaRPr lang="cs-CZ" dirty="0"/>
          </a:p>
          <a:p>
            <a:r>
              <a:rPr lang="cs-CZ" dirty="0"/>
              <a:t>Podle stavu vědomí a dýchání postiženého </a:t>
            </a:r>
            <a:r>
              <a:rPr lang="cs-CZ" b="1" dirty="0"/>
              <a:t>uvolněte dýchací cesty</a:t>
            </a:r>
            <a:r>
              <a:rPr lang="cs-CZ" dirty="0"/>
              <a:t> a v případě nutnosti </a:t>
            </a:r>
            <a:r>
              <a:rPr lang="cs-CZ" b="1" dirty="0"/>
              <a:t>zahajte resuscitaci.</a:t>
            </a:r>
            <a:endParaRPr lang="cs-CZ" dirty="0"/>
          </a:p>
          <a:p>
            <a:r>
              <a:rPr lang="cs-CZ" dirty="0"/>
              <a:t>Ošetřete vzniklé popáleniny a další poranění.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C24DF97-9FD6-4C8B-B51F-205BF9EC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550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Ergonomie při práci s počítačem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U počítače trávíme mnoho času (škola, práce, domov, …).</a:t>
            </a:r>
          </a:p>
          <a:p>
            <a:r>
              <a:rPr lang="cs-CZ" b="1" dirty="0"/>
              <a:t>Ochrana našeho zdraví</a:t>
            </a:r>
            <a:r>
              <a:rPr lang="cs-CZ" dirty="0"/>
              <a:t> - špatné sezení u počítače přináší mnohé zdravotní problémy.</a:t>
            </a:r>
          </a:p>
          <a:p>
            <a:r>
              <a:rPr lang="cs-CZ" b="1" dirty="0"/>
              <a:t>Přizpůsobení hardwaru a softwaru</a:t>
            </a:r>
            <a:r>
              <a:rPr lang="cs-CZ" dirty="0"/>
              <a:t> podle požadavků uživatele.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8D10207-565C-4279-B134-1695053D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759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Ergonomie při práci s počítačem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Problémy mohou být </a:t>
            </a:r>
            <a:r>
              <a:rPr lang="cs-CZ" b="1" dirty="0"/>
              <a:t>krátkodobé</a:t>
            </a:r>
            <a:r>
              <a:rPr lang="cs-CZ" dirty="0"/>
              <a:t> i </a:t>
            </a:r>
            <a:r>
              <a:rPr lang="cs-CZ" b="1" dirty="0"/>
              <a:t>dlouhodobé</a:t>
            </a:r>
            <a:r>
              <a:rPr lang="cs-CZ" dirty="0"/>
              <a:t>, nemusí se projevit ihned. </a:t>
            </a:r>
          </a:p>
          <a:p>
            <a:r>
              <a:rPr lang="cs-CZ" dirty="0"/>
              <a:t>Při neléčení mohou problémy </a:t>
            </a:r>
            <a:r>
              <a:rPr lang="cs-CZ" dirty="0" err="1"/>
              <a:t>přečít</a:t>
            </a:r>
            <a:r>
              <a:rPr lang="cs-CZ" dirty="0"/>
              <a:t> v </a:t>
            </a:r>
            <a:r>
              <a:rPr lang="cs-CZ" b="1" dirty="0"/>
              <a:t>chronické </a:t>
            </a:r>
            <a:r>
              <a:rPr lang="cs-CZ" dirty="0"/>
              <a:t>až</a:t>
            </a:r>
            <a:r>
              <a:rPr lang="cs-CZ" b="1" dirty="0"/>
              <a:t> trvalé</a:t>
            </a:r>
            <a:r>
              <a:rPr lang="cs-CZ" dirty="0"/>
              <a:t>.</a:t>
            </a:r>
          </a:p>
          <a:p>
            <a:r>
              <a:rPr lang="cs-CZ" dirty="0"/>
              <a:t>RSI - </a:t>
            </a:r>
            <a:r>
              <a:rPr lang="cs-CZ" dirty="0" err="1"/>
              <a:t>Repetitive</a:t>
            </a:r>
            <a:r>
              <a:rPr lang="cs-CZ" dirty="0"/>
              <a:t> Strain Injury – nemoc z opakovaného namáhání.</a:t>
            </a:r>
          </a:p>
          <a:p>
            <a:r>
              <a:rPr lang="cs-CZ" dirty="0"/>
              <a:t>Nejčastější Syndrom karpálního tunelu může vést k ochrnutí zápěstí.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8D10207-565C-4279-B134-1695053D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947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Ergonomie při práci s počítačem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Vždy věnujte pozornost celému pracovnímu místu.</a:t>
            </a:r>
          </a:p>
          <a:p>
            <a:r>
              <a:rPr lang="cs-CZ" dirty="0"/>
              <a:t>Připravte si všechny potřebné podklady a pomůcky.</a:t>
            </a:r>
          </a:p>
          <a:p>
            <a:r>
              <a:rPr lang="cs-CZ" dirty="0"/>
              <a:t>Seďte vždy vzpřímeně a ujistěte se, že vám brýle správně sedí na nose.</a:t>
            </a:r>
          </a:p>
          <a:p>
            <a:r>
              <a:rPr lang="cs-CZ" dirty="0"/>
              <a:t>Monitor na úrovni očí, lokty rovnoběžně s podlahou a nohy na zemi pohodlně.</a:t>
            </a:r>
          </a:p>
          <a:p>
            <a:r>
              <a:rPr lang="cs-CZ" dirty="0"/>
              <a:t>Pokud je někdo malý =&gt; podložka pod nohy pro dodržení pravého úhlu v kolenou.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0B65B8F-6B00-4745-914D-520F27FA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467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C98B52A-682B-4BD5-8F02-0520D985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/>
              <a:pPr>
                <a:spcAft>
                  <a:spcPts val="600"/>
                </a:spcAft>
              </a:pPr>
              <a:t>29</a:t>
            </a:fld>
            <a:endParaRPr lang="en-US" dirty="0"/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08AA6F3E-F0F7-4BCA-85B3-32988089E6C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371600" y="1428750"/>
            <a:ext cx="8480431" cy="53848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ovéPole 11">
            <a:extLst>
              <a:ext uri="{FF2B5EF4-FFF2-40B4-BE49-F238E27FC236}">
                <a16:creationId xmlns:a16="http://schemas.microsoft.com/office/drawing/2014/main" id="{8444EC67-A1B5-40C3-A7C6-1D4FBF1B904C}"/>
              </a:ext>
            </a:extLst>
          </p:cNvPr>
          <p:cNvSpPr txBox="1"/>
          <p:nvPr/>
        </p:nvSpPr>
        <p:spPr>
          <a:xfrm rot="16200000">
            <a:off x="8875530" y="3452918"/>
            <a:ext cx="609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http://bozppo-neu.cz/wp-content/uploads/2017/02/sezeni_x-768x506.jpg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F5BA7FC-EDFE-4839-B899-AF0308A5AD64}"/>
              </a:ext>
            </a:extLst>
          </p:cNvPr>
          <p:cNvSpPr txBox="1">
            <a:spLocks/>
          </p:cNvSpPr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Ergonomie při práci s počítačem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074574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Ergonomie uživatelského prostředí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Svou ergonomii má </a:t>
            </a:r>
            <a:r>
              <a:rPr lang="cs-CZ" b="1" dirty="0"/>
              <a:t>hardware</a:t>
            </a:r>
            <a:r>
              <a:rPr lang="cs-CZ" dirty="0"/>
              <a:t> i </a:t>
            </a:r>
            <a:r>
              <a:rPr lang="cs-CZ" b="1" dirty="0"/>
              <a:t>software</a:t>
            </a:r>
            <a:r>
              <a:rPr lang="cs-CZ" dirty="0"/>
              <a:t>.</a:t>
            </a:r>
          </a:p>
          <a:p>
            <a:r>
              <a:rPr lang="cs-CZ" dirty="0"/>
              <a:t>Důležité uspořádání tlačítek a menu, aby nebylo nutné přejíždět stále očima po obrazovce.</a:t>
            </a:r>
          </a:p>
          <a:p>
            <a:r>
              <a:rPr lang="cs-CZ" dirty="0"/>
              <a:t>Rozdílné je vnímání barev a tvarů.</a:t>
            </a:r>
          </a:p>
          <a:p>
            <a:r>
              <a:rPr lang="cs-CZ" dirty="0"/>
              <a:t>Důležité je i nastavení kontrastu a jasu.</a:t>
            </a:r>
          </a:p>
          <a:p>
            <a:r>
              <a:rPr lang="cs-CZ" dirty="0"/>
              <a:t>Užití klávesových zkratek pro opakované činnosti.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90F7320-688A-4C71-9E81-D8C9EA23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95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Preventivní opatření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10474960" cy="4244009"/>
          </a:xfrm>
        </p:spPr>
        <p:txBody>
          <a:bodyPr>
            <a:normAutofit/>
          </a:bodyPr>
          <a:lstStyle/>
          <a:p>
            <a:r>
              <a:rPr lang="cs-CZ" dirty="0"/>
              <a:t>Ergonomické pomůcky hw i sw:</a:t>
            </a:r>
          </a:p>
          <a:p>
            <a:pPr lvl="1"/>
            <a:r>
              <a:rPr lang="cs-CZ" dirty="0"/>
              <a:t>podložka pod zápěstí</a:t>
            </a:r>
          </a:p>
          <a:p>
            <a:pPr lvl="1"/>
            <a:r>
              <a:rPr lang="cs-CZ" dirty="0"/>
              <a:t>stojan na tablet</a:t>
            </a:r>
          </a:p>
          <a:p>
            <a:pPr lvl="1"/>
            <a:r>
              <a:rPr lang="cs-CZ" dirty="0"/>
              <a:t>funkční klávesnice</a:t>
            </a:r>
          </a:p>
          <a:p>
            <a:pPr lvl="1"/>
            <a:r>
              <a:rPr lang="cs-CZ" dirty="0"/>
              <a:t>ovládání hlasem</a:t>
            </a:r>
          </a:p>
          <a:p>
            <a:pPr lvl="1"/>
            <a:r>
              <a:rPr lang="cs-CZ" dirty="0"/>
              <a:t>správné osvětlení</a:t>
            </a:r>
          </a:p>
          <a:p>
            <a:pPr lvl="1"/>
            <a:r>
              <a:rPr lang="cs-CZ" dirty="0"/>
              <a:t>…</a:t>
            </a:r>
          </a:p>
          <a:p>
            <a:r>
              <a:rPr lang="cs-CZ" dirty="0"/>
              <a:t>Protahování, cvičení, přestávky během práce, …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8A92AF5-A93A-4904-A1EB-DCB24AE5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31</a:t>
            </a:fld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A517191C-31C8-4374-BD22-D707DDC05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894" y="1105459"/>
            <a:ext cx="5001666" cy="394435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BC059E24-A5C4-4D8F-BAFA-A6F8A756BF93}"/>
              </a:ext>
            </a:extLst>
          </p:cNvPr>
          <p:cNvSpPr txBox="1"/>
          <p:nvPr/>
        </p:nvSpPr>
        <p:spPr>
          <a:xfrm rot="16200000">
            <a:off x="8971222" y="3246072"/>
            <a:ext cx="60977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100" dirty="0"/>
              <a:t>https://backend.drmax.cz/media/catalog/product/4/6/461c4686aa006_cmo-2510-bk_6.jpg</a:t>
            </a:r>
          </a:p>
        </p:txBody>
      </p:sp>
    </p:spTree>
    <p:extLst>
      <p:ext uri="{BB962C8B-B14F-4D97-AF65-F5344CB8AC3E}">
        <p14:creationId xmlns:p14="http://schemas.microsoft.com/office/powerpoint/2010/main" val="2277305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0" name="Nadpis 9">
            <a:extLst>
              <a:ext uri="{FF2B5EF4-FFF2-40B4-BE49-F238E27FC236}">
                <a16:creationId xmlns:a16="http://schemas.microsoft.com/office/drawing/2014/main" id="{F30AE929-0F24-4532-914C-F0354903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4738" y="790903"/>
            <a:ext cx="2639167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Cvičení na pracovišti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C9E7FA-3295-45ED-8253-D23F9E44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C0FCC6B-3A7A-4118-B073-1FD7F7BD9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9E57DC2-970A-4B3E-BB1C-7A09969E49DF}" type="slidenum">
              <a:rPr lang="en-US" smtClean="0"/>
              <a:pPr defTabSz="914400">
                <a:spcAft>
                  <a:spcPts val="600"/>
                </a:spcAft>
              </a:pPr>
              <a:t>32</a:t>
            </a:fld>
            <a:endParaRPr lang="en-US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43C263DC-0D02-4BA5-8CFE-BF817DC25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35" y="727841"/>
            <a:ext cx="8022362" cy="5402318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495992C7-9D23-4A4A-8080-12BA86A4FE11}"/>
              </a:ext>
            </a:extLst>
          </p:cNvPr>
          <p:cNvSpPr txBox="1"/>
          <p:nvPr/>
        </p:nvSpPr>
        <p:spPr>
          <a:xfrm>
            <a:off x="849081" y="6453386"/>
            <a:ext cx="10442699" cy="312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Zdroj: https://www.bezpecnostprace.info/wp-content/uploads/2016/06/images_blog_ergonomie_relaxacni-cviky-670.jpg</a:t>
            </a:r>
          </a:p>
        </p:txBody>
      </p:sp>
    </p:spTree>
    <p:extLst>
      <p:ext uri="{BB962C8B-B14F-4D97-AF65-F5344CB8AC3E}">
        <p14:creationId xmlns:p14="http://schemas.microsoft.com/office/powerpoint/2010/main" val="1185703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 jak jsou na tom notebooky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Nejsou ergonomickou pomůckou.</a:t>
            </a:r>
          </a:p>
          <a:p>
            <a:r>
              <a:rPr lang="cs-CZ" dirty="0"/>
              <a:t>Původní záměr =&gt; občasná práce, mobilita.</a:t>
            </a:r>
          </a:p>
          <a:p>
            <a:r>
              <a:rPr lang="cs-CZ" dirty="0"/>
              <a:t>Nedostatkem je umístění klávesnice blízko monitoru.</a:t>
            </a:r>
          </a:p>
          <a:p>
            <a:r>
              <a:rPr lang="cs-CZ" dirty="0"/>
              <a:t>Netbooky jsou nevhodné na dlouhodobou práci.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6DDD1C2-A588-45CF-A2AF-4E6F45E3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33</a:t>
            </a:fld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2590030-D5BB-41B6-B326-B248DC1FD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262" y="199235"/>
            <a:ext cx="3341407" cy="334140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AC520CCA-4B29-49FF-8B66-FFE508CB940C}"/>
              </a:ext>
            </a:extLst>
          </p:cNvPr>
          <p:cNvSpPr txBox="1"/>
          <p:nvPr/>
        </p:nvSpPr>
        <p:spPr>
          <a:xfrm rot="16200000">
            <a:off x="8934282" y="2668495"/>
            <a:ext cx="6097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200" dirty="0"/>
              <a:t>https://www.cnews.cz/wp-content/uploads/2016/12/5/5/6/0/4///ergonomie.png</a:t>
            </a:r>
          </a:p>
        </p:txBody>
      </p:sp>
    </p:spTree>
    <p:extLst>
      <p:ext uri="{BB962C8B-B14F-4D97-AF65-F5344CB8AC3E}">
        <p14:creationId xmlns:p14="http://schemas.microsoft.com/office/powerpoint/2010/main" val="2712431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81A8A0-23B8-43CC-AD26-DA0E21BD1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366744" cy="1485900"/>
          </a:xfrm>
        </p:spPr>
        <p:txBody>
          <a:bodyPr/>
          <a:lstStyle/>
          <a:p>
            <a:r>
              <a:rPr lang="cs-CZ" dirty="0"/>
              <a:t>Revize elektroinstalace a elektrozařízení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028DA0-6EA5-4A48-9D9D-9D56F2B70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Jedná se o kontrolu zařízení či systémů.</a:t>
            </a:r>
          </a:p>
          <a:p>
            <a:r>
              <a:rPr lang="cs-CZ" dirty="0"/>
              <a:t>Provádí se za účelem ověření bezpečnosti a technického stavu elektrozařízení.</a:t>
            </a:r>
          </a:p>
          <a:p>
            <a:r>
              <a:rPr lang="cs-CZ" dirty="0"/>
              <a:t>Obvykle je nutné revize opakovat po určité době, aby byla zajištěna bezpečnost provozu.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3F0D05C-5CD2-443A-A0A1-3093D577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34</a:t>
            </a:fld>
            <a:endParaRPr lang="en-US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6631E97-FDBD-483B-A032-4D563E22841F}"/>
              </a:ext>
            </a:extLst>
          </p:cNvPr>
          <p:cNvSpPr txBox="1"/>
          <p:nvPr/>
        </p:nvSpPr>
        <p:spPr>
          <a:xfrm>
            <a:off x="1634754" y="6130220"/>
            <a:ext cx="94342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Zdroj: https://www.srovnejto.cz/blog/revize-elektroinstalace-vse-co-potrebujete-vedet/</a:t>
            </a:r>
          </a:p>
        </p:txBody>
      </p:sp>
    </p:spTree>
    <p:extLst>
      <p:ext uri="{BB962C8B-B14F-4D97-AF65-F5344CB8AC3E}">
        <p14:creationId xmlns:p14="http://schemas.microsoft.com/office/powerpoint/2010/main" val="29848378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10495280" cy="1485900"/>
          </a:xfrm>
        </p:spPr>
        <p:txBody>
          <a:bodyPr/>
          <a:lstStyle/>
          <a:p>
            <a:r>
              <a:rPr lang="cs-CZ" dirty="0"/>
              <a:t>Přestávka bezpečnostní x na jídlo a oddech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Bezpečnostní přestávka </a:t>
            </a:r>
            <a:r>
              <a:rPr lang="cs-CZ" dirty="0"/>
              <a:t>- v trvání 5 až 10 minut po každých     2 hodinách nepřetržité práce.</a:t>
            </a:r>
          </a:p>
          <a:p>
            <a:pPr marL="841248" lvl="2">
              <a:spcBef>
                <a:spcPts val="1000"/>
              </a:spcBef>
              <a:spcAft>
                <a:spcPts val="600"/>
              </a:spcAft>
            </a:pPr>
            <a:r>
              <a:rPr lang="cs-CZ" sz="2200" dirty="0"/>
              <a:t>bezpečnostní přestávky se na rozdíl od pracovních přestávek na jídlo a oddech podle § 88 odst. 1 věta první zákoníku práce započítávají do pracovní doby a poskytuje se za ně náhrada mzdy nebo platu</a:t>
            </a:r>
          </a:p>
          <a:p>
            <a:r>
              <a:rPr lang="cs-CZ" dirty="0"/>
              <a:t>Účel bezpečnostních přestávek: změna polohy těla, aby si osoba u </a:t>
            </a:r>
            <a:r>
              <a:rPr lang="cs-CZ" dirty="0" err="1"/>
              <a:t>pc</a:t>
            </a:r>
            <a:r>
              <a:rPr lang="cs-CZ" dirty="0"/>
              <a:t> mohla narovnat páteř, k procvičení prstů na rukou a v neposlední řadě odpočinek očím.</a:t>
            </a:r>
          </a:p>
          <a:p>
            <a:r>
              <a:rPr lang="cs-CZ" b="1" dirty="0"/>
              <a:t>Pracovních přestávek na jídlo a oddech </a:t>
            </a:r>
            <a:r>
              <a:rPr lang="cs-CZ" dirty="0"/>
              <a:t>– pauza na oběd.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8A92AF5-A93A-4904-A1EB-DCB24AE5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58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7E2D8A-19BE-48A0-889C-CCAC02348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07CB75D-4778-44F0-B979-3B0C6BE6E5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47" t="2657" r="2263" b="1295"/>
          <a:stretch/>
        </p:blipFill>
        <p:spPr>
          <a:xfrm>
            <a:off x="1023562" y="601717"/>
            <a:ext cx="8081950" cy="5605956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3598114C-C9BC-474E-8E43-960729E71DD1}"/>
              </a:ext>
            </a:extLst>
          </p:cNvPr>
          <p:cNvSpPr txBox="1"/>
          <p:nvPr/>
        </p:nvSpPr>
        <p:spPr>
          <a:xfrm>
            <a:off x="1023562" y="6207673"/>
            <a:ext cx="5071256" cy="487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4048"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r>
              <a:rPr lang="en-US" sz="800" dirty="0">
                <a:solidFill>
                  <a:schemeClr val="tx2"/>
                </a:solidFill>
              </a:rPr>
              <a:t>https://www.google.com/url?sa=i&amp;url=http%3A%2F%2Fvygosh.cz%2Fergonomie.html&amp;psig=AOvVaw2Dx3jj5bvs4tT5rxHZCn7v&amp;ust=1599556386244000&amp;source=images&amp;cd=vfe&amp;ved=0CA0QjhxqFwoTCMDD7Yfa1usCFQAAAAAdAAAAABAP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C0FCC6B-3A7A-4118-B073-1FD7F7BD9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9E57DC2-970A-4B3E-BB1C-7A09969E49DF}" type="slidenum">
              <a:rPr lang="en-US" smtClean="0"/>
              <a:pPr defTabSz="914400">
                <a:spcAft>
                  <a:spcPts val="600"/>
                </a:spcAft>
              </a:pPr>
              <a:t>36</a:t>
            </a:fld>
            <a:endParaRPr lang="en-US"/>
          </a:p>
        </p:txBody>
      </p:sp>
      <p:sp>
        <p:nvSpPr>
          <p:cNvPr id="10" name="Nadpis 9">
            <a:extLst>
              <a:ext uri="{FF2B5EF4-FFF2-40B4-BE49-F238E27FC236}">
                <a16:creationId xmlns:a16="http://schemas.microsoft.com/office/drawing/2014/main" id="{F30AE929-0F24-4532-914C-F0354903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512" y="601717"/>
            <a:ext cx="2886003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Ergonomie</a:t>
            </a:r>
            <a:r>
              <a:rPr lang="en-US" dirty="0"/>
              <a:t> </a:t>
            </a:r>
            <a:r>
              <a:rPr lang="en-US" dirty="0" err="1"/>
              <a:t>pracoviště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1835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C0FCC6B-3A7A-4118-B073-1FD7F7BD9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29E77720-7948-4847-9638-E66F69626D9D}"/>
              </a:ext>
            </a:extLst>
          </p:cNvPr>
          <p:cNvSpPr txBox="1"/>
          <p:nvPr/>
        </p:nvSpPr>
        <p:spPr>
          <a:xfrm>
            <a:off x="904240" y="5947807"/>
            <a:ext cx="43813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800" dirty="0"/>
              <a:t>https://www.google.com/</a:t>
            </a:r>
            <a:r>
              <a:rPr lang="cs-CZ" sz="800" dirty="0" err="1"/>
              <a:t>imgres?imgurl</a:t>
            </a:r>
            <a:r>
              <a:rPr lang="cs-CZ" sz="800" dirty="0"/>
              <a:t>=https%3A%2F%2Fwww.estav.cz%2Fimg%2F_%2F1435%2Fergonomie_09.png&amp;imgrefurl=https%3A%2F%2Fwww.estav.cz%2Fcz%2F1435.ergonomie-veda-o-rozmerech-a-pomerech-clovek-v-prostoru-a-u-stolu&amp;tbnid=</a:t>
            </a:r>
            <a:r>
              <a:rPr lang="cs-CZ" sz="800" dirty="0" err="1"/>
              <a:t>DsixzPj-bUwrtM&amp;vet</a:t>
            </a:r>
            <a:r>
              <a:rPr lang="cs-CZ" sz="800" dirty="0"/>
              <a:t>=12ahUKEwig1e-C2tbrAhUMOuwKHf8RAzUQMygFegUIARCqAQ..i&amp;docid=ExWVItnIoon8dM&amp;w=1019&amp;h=1031&amp;q=ergonomie%20pracovn%C3%ADho%20m%C3%ADsta&amp;safe=</a:t>
            </a:r>
            <a:r>
              <a:rPr lang="cs-CZ" sz="800" dirty="0" err="1"/>
              <a:t>active&amp;ved</a:t>
            </a:r>
            <a:r>
              <a:rPr lang="cs-CZ" sz="800" dirty="0"/>
              <a:t>=2ahUKEwig1e-C2tbrAhUMOuwKHf8RAzUQMygFegUIARCqAQ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D251A88-9495-44BE-999D-1B38A42E3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" y="1016000"/>
            <a:ext cx="4381363" cy="4395228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72E5CE73-8C31-4639-A90B-35689E31C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617" y="1016000"/>
            <a:ext cx="5317304" cy="4395228"/>
          </a:xfrm>
          <a:prstGeom prst="rect">
            <a:avLst/>
          </a:prstGeom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894E4262-4EE4-4FC6-B5BD-5889A135A716}"/>
              </a:ext>
            </a:extLst>
          </p:cNvPr>
          <p:cNvSpPr txBox="1"/>
          <p:nvPr/>
        </p:nvSpPr>
        <p:spPr>
          <a:xfrm>
            <a:off x="6645526" y="5943600"/>
            <a:ext cx="53173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100" dirty="0"/>
              <a:t>http://resed.cz/wp-content/uploads/2012/11/bolest-zad-a-cvi%C4%8Den%C3%AD-v-kancel%C3%A1%C5%99i-1-e1459072848891.jpg</a:t>
            </a:r>
          </a:p>
        </p:txBody>
      </p:sp>
    </p:spTree>
    <p:extLst>
      <p:ext uri="{BB962C8B-B14F-4D97-AF65-F5344CB8AC3E}">
        <p14:creationId xmlns:p14="http://schemas.microsoft.com/office/powerpoint/2010/main" val="7065303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6D54F3-5D0A-44F9-B0D2-F0E5D3EF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První pomoc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4E7892-C438-418E-9258-EAB4FEA7F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2"/>
              </a:rPr>
              <a:t>http://video.idnes.cz/webtv.asp?c=A101021_165858_domaci_taj&amp;idvideo=V101021_182907_tv-zpravy_sha</a:t>
            </a:r>
            <a:r>
              <a:rPr lang="cs-CZ" dirty="0"/>
              <a:t> </a:t>
            </a:r>
            <a:endParaRPr lang="en-US" dirty="0"/>
          </a:p>
          <a:p>
            <a:r>
              <a:rPr lang="en-US" dirty="0">
                <a:hlinkClick r:id="rId3"/>
              </a:rPr>
              <a:t>http://www.ceskatelevize.cz/ct24/domaci/126932-novinky-v-prvni-pomoci-masirujte-srdce-zapomente-na-dychani/</a:t>
            </a:r>
            <a:r>
              <a:rPr lang="cs-CZ" dirty="0"/>
              <a:t> </a:t>
            </a:r>
            <a:endParaRPr lang="en-US" dirty="0"/>
          </a:p>
          <a:p>
            <a:r>
              <a:rPr lang="en-US" dirty="0">
                <a:hlinkClick r:id="rId4"/>
              </a:rPr>
              <a:t>https://www.bezpecnostprace.info/pracovni-urazy/4-nejvetsi-rizik</a:t>
            </a:r>
            <a:endParaRPr lang="cs-CZ" dirty="0"/>
          </a:p>
          <a:p>
            <a:r>
              <a:rPr lang="en-US" dirty="0">
                <a:hlinkClick r:id="rId5"/>
              </a:rPr>
              <a:t>https://ezsp6.estranky.cz/</a:t>
            </a:r>
            <a:r>
              <a:rPr lang="cs-CZ" dirty="0"/>
              <a:t> </a:t>
            </a:r>
            <a:endParaRPr lang="en-US" dirty="0"/>
          </a:p>
          <a:p>
            <a:r>
              <a:rPr lang="en-US" dirty="0">
                <a:hlinkClick r:id="rId6"/>
              </a:rPr>
              <a:t>https://www.cervenykriz.eu/cz/kviz-pp.aspxa-pri-praci-na-pocitaci/</a:t>
            </a:r>
            <a:r>
              <a:rPr lang="cs-CZ" dirty="0"/>
              <a:t> </a:t>
            </a:r>
            <a:r>
              <a:rPr lang="en-US" dirty="0"/>
              <a:t>   text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23B3A8B-0540-4B20-AE98-93244682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27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DF74F458-E3BE-4E12-84F3-63444F7D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820400" cy="1485900"/>
          </a:xfrm>
        </p:spPr>
        <p:txBody>
          <a:bodyPr/>
          <a:lstStyle/>
          <a:p>
            <a:r>
              <a:rPr lang="cs-CZ" dirty="0"/>
              <a:t>Stabilizovaná poloha ~ Zotavovací poloha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8470519-A46D-452E-B974-AEF223240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http://www.prvni-pomoc.com/stabilizovana-poloha</a:t>
            </a:r>
            <a:r>
              <a:rPr lang="cs-CZ" dirty="0"/>
              <a:t>     text</a:t>
            </a:r>
          </a:p>
          <a:p>
            <a:endParaRPr lang="cs-CZ" dirty="0"/>
          </a:p>
          <a:p>
            <a:r>
              <a:rPr lang="cs-CZ" dirty="0">
                <a:hlinkClick r:id="rId3"/>
              </a:rPr>
              <a:t>https://www.youtube.com/watch?v=Q_iHxB-90wc</a:t>
            </a:r>
            <a:r>
              <a:rPr lang="cs-CZ" dirty="0"/>
              <a:t> </a:t>
            </a:r>
          </a:p>
          <a:p>
            <a:endParaRPr lang="cs-CZ" dirty="0"/>
          </a:p>
          <a:p>
            <a:r>
              <a:rPr lang="cs-CZ" dirty="0">
                <a:hlinkClick r:id="rId4"/>
              </a:rPr>
              <a:t>https://www.youtube.com/watch?v=niEmIT67c-k</a:t>
            </a:r>
            <a:r>
              <a:rPr lang="cs-CZ" dirty="0"/>
              <a:t>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A534B3F9-CFE4-42CD-967B-A7EDC48D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672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D9D8946-0D08-4BE1-9513-95914C907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F8A9C11-5DEB-4871-AA0E-0F26358E7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957" y="175357"/>
            <a:ext cx="8840086" cy="6507286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A8BD80DD-7F07-4AEE-A36F-3A803A1D2F5A}"/>
              </a:ext>
            </a:extLst>
          </p:cNvPr>
          <p:cNvSpPr txBox="1"/>
          <p:nvPr/>
        </p:nvSpPr>
        <p:spPr>
          <a:xfrm rot="16200000">
            <a:off x="8906025" y="3479868"/>
            <a:ext cx="609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https://slideplayer.cz/slide/4257120/</a:t>
            </a:r>
          </a:p>
        </p:txBody>
      </p:sp>
    </p:spTree>
    <p:extLst>
      <p:ext uri="{BB962C8B-B14F-4D97-AF65-F5344CB8AC3E}">
        <p14:creationId xmlns:p14="http://schemas.microsoft.com/office/powerpoint/2010/main" val="3056372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BB3FA7-838C-43EB-9AE9-E3A9A4F3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0" i="0" dirty="0" err="1">
                <a:effectLst/>
                <a:latin typeface="Roboto"/>
              </a:rPr>
              <a:t>Heimlichův</a:t>
            </a:r>
            <a:r>
              <a:rPr lang="cs-CZ" b="0" i="0" dirty="0">
                <a:effectLst/>
                <a:latin typeface="Roboto"/>
              </a:rPr>
              <a:t> manévr</a:t>
            </a:r>
            <a:br>
              <a:rPr lang="cs-CZ" b="0" i="0" dirty="0">
                <a:effectLst/>
                <a:latin typeface="Roboto"/>
              </a:rPr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568ED0-FD52-4A48-939F-3FD7E95E6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Uchopíme člověka zezadu rukama tak, že zvýšíme podbrániční tlak a tím se uvolní překážka v dýchacích cestách, která z dusícího člověka doslova vylétne.</a:t>
            </a:r>
          </a:p>
          <a:p>
            <a:pPr lvl="1"/>
            <a:r>
              <a:rPr lang="cs-CZ" sz="1600" b="0" i="1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Zdroj: </a:t>
            </a:r>
            <a:r>
              <a:rPr lang="cs-CZ" sz="1600" b="0" i="1" u="none" strike="noStrike" dirty="0">
                <a:solidFill>
                  <a:srgbClr val="102447"/>
                </a:solidFill>
                <a:effectLst/>
                <a:latin typeface="Arial" panose="020B0604020202020204" pitchFamily="34" charset="0"/>
                <a:hlinkClick r:id="rId2"/>
              </a:rPr>
              <a:t>https://siander.blog.idnes.cz/blog.aspx?c=527590</a:t>
            </a:r>
            <a:r>
              <a:rPr lang="cs-CZ" sz="1600" dirty="0">
                <a:solidFill>
                  <a:srgbClr val="102447"/>
                </a:solidFill>
                <a:latin typeface="Arial" panose="020B0604020202020204" pitchFamily="34" charset="0"/>
              </a:rPr>
              <a:t> ,</a:t>
            </a:r>
            <a:endParaRPr lang="cs-CZ" sz="1600" b="0" i="1" u="none" strike="noStrike" dirty="0">
              <a:solidFill>
                <a:srgbClr val="102447"/>
              </a:solidFill>
              <a:effectLst/>
              <a:latin typeface="Arial" panose="020B0604020202020204" pitchFamily="34" charset="0"/>
            </a:endParaRPr>
          </a:p>
          <a:p>
            <a:pPr marL="530352" lvl="1" indent="0" defTabSz="762000">
              <a:buNone/>
            </a:pPr>
            <a:r>
              <a:rPr lang="cs-CZ" sz="1600" b="0" i="1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		</a:t>
            </a:r>
            <a:r>
              <a:rPr lang="cs-CZ" sz="1600" b="0" i="1" dirty="0">
                <a:solidFill>
                  <a:srgbClr val="666666"/>
                </a:solidFill>
                <a:effectLst/>
                <a:latin typeface="Arial" panose="020B0604020202020204" pitchFamily="34" charset="0"/>
                <a:hlinkClick r:id="rId2"/>
              </a:rPr>
              <a:t>https://siander.blog.idnes.cz/blog.aspx?c=527590</a:t>
            </a:r>
            <a:r>
              <a:rPr lang="cs-CZ" sz="1600" dirty="0">
                <a:solidFill>
                  <a:srgbClr val="102447"/>
                </a:solidFill>
                <a:latin typeface="Arial" panose="020B0604020202020204" pitchFamily="34" charset="0"/>
              </a:rPr>
              <a:t> </a:t>
            </a:r>
            <a:endParaRPr lang="cs-CZ" sz="1600" b="0" i="1" dirty="0">
              <a:solidFill>
                <a:srgbClr val="666666"/>
              </a:solidFill>
              <a:effectLst/>
              <a:latin typeface="Arial" panose="020B0604020202020204" pitchFamily="34" charset="0"/>
            </a:endParaRPr>
          </a:p>
          <a:p>
            <a:endParaRPr lang="cs-CZ" dirty="0">
              <a:hlinkClick r:id="rId3"/>
            </a:endParaRPr>
          </a:p>
          <a:p>
            <a:r>
              <a:rPr lang="cs-CZ" dirty="0">
                <a:hlinkClick r:id="rId3"/>
              </a:rPr>
              <a:t>https://www.youtube.com/watch?v=Bx7T8Lb5ieA&amp;feature=youtu.be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D8B865E-682F-4030-81A2-4BB7CF35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692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8125B6-AB72-4947-B2D0-6575C034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0" i="0" dirty="0" err="1">
                <a:effectLst/>
                <a:latin typeface="Roboto"/>
              </a:rPr>
              <a:t>Heimlichův</a:t>
            </a:r>
            <a:r>
              <a:rPr lang="cs-CZ" b="0" i="0" dirty="0">
                <a:effectLst/>
                <a:latin typeface="Roboto"/>
              </a:rPr>
              <a:t> manévr</a:t>
            </a:r>
            <a:br>
              <a:rPr lang="cs-CZ" b="0" i="0" dirty="0">
                <a:effectLst/>
                <a:latin typeface="Roboto"/>
              </a:rPr>
            </a:b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CAA7FA7-EA6B-4E9F-B16D-50288FFD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42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EA33D62-511F-48EB-9C9B-8FC2B491C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370" y="1507541"/>
            <a:ext cx="8342646" cy="514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60C74F78-1FAA-4416-BDEE-989CCE46E8A1}"/>
              </a:ext>
            </a:extLst>
          </p:cNvPr>
          <p:cNvSpPr txBox="1"/>
          <p:nvPr/>
        </p:nvSpPr>
        <p:spPr>
          <a:xfrm rot="16200000">
            <a:off x="8430882" y="3130176"/>
            <a:ext cx="678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https://www.mayoclinic.org/-/media/kcms/gbs/patient-consumer/images/2017/09/22/17/06/composite-five-and-five-heimlich-8col.jpg</a:t>
            </a:r>
          </a:p>
        </p:txBody>
      </p:sp>
    </p:spTree>
    <p:extLst>
      <p:ext uri="{BB962C8B-B14F-4D97-AF65-F5344CB8AC3E}">
        <p14:creationId xmlns:p14="http://schemas.microsoft.com/office/powerpoint/2010/main" val="24316042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se nechovat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8678" y="2183296"/>
            <a:ext cx="9601200" cy="3581400"/>
          </a:xfrm>
        </p:spPr>
        <p:txBody>
          <a:bodyPr/>
          <a:lstStyle/>
          <a:p>
            <a:r>
              <a:rPr lang="cs-CZ" u="sng" dirty="0">
                <a:hlinkClick r:id="rId2"/>
              </a:rPr>
              <a:t>https://www.youtube.com/watch?v=S0sYriIsvr4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D29DC37-C534-4B04-AC25-3CDE1025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735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34E1040B-B456-42FD-8DC0-4A943107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 a odkazy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C951B25-29A4-4551-879A-9761003BF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3041"/>
            <a:ext cx="10078278" cy="5066968"/>
          </a:xfrm>
        </p:spPr>
        <p:txBody>
          <a:bodyPr>
            <a:normAutofit lnSpcReduction="10000"/>
          </a:bodyPr>
          <a:lstStyle/>
          <a:p>
            <a:r>
              <a:rPr lang="cs-CZ" dirty="0">
                <a:hlinkClick r:id="rId2"/>
              </a:rPr>
              <a:t>https://zsbozp.vubp.cz/pracovni-prostredi/ergonomie/337-ergonomie-pracovniho-mista</a:t>
            </a:r>
            <a:endParaRPr lang="cs-CZ" dirty="0"/>
          </a:p>
          <a:p>
            <a:r>
              <a:rPr lang="cs-CZ" dirty="0">
                <a:hlinkClick r:id="rId3"/>
              </a:rPr>
              <a:t>https://www.bezpecnostprace.info/pracovni-urazy/ergonomie-pocitacoveho-pracoviste-a-zasady-bezpecnosti-prace-na-pc-aneb-jak-predejit-rsi-syndromu/</a:t>
            </a:r>
            <a:endParaRPr lang="cs-CZ" dirty="0"/>
          </a:p>
          <a:p>
            <a:r>
              <a:rPr lang="cs-CZ" dirty="0">
                <a:hlinkClick r:id="rId4"/>
              </a:rPr>
              <a:t>http://www.bozpprofi.cz</a:t>
            </a:r>
            <a:endParaRPr lang="cs-CZ" dirty="0"/>
          </a:p>
          <a:p>
            <a:r>
              <a:rPr lang="cs-CZ" i="0" dirty="0">
                <a:solidFill>
                  <a:srgbClr val="111111"/>
                </a:solidFill>
                <a:effectLst/>
                <a:latin typeface="Encode Sans Condensed"/>
                <a:hlinkClick r:id="rId5"/>
              </a:rPr>
              <a:t>https://www.tzb-info.cz/pravni-predpisy/narizeni-vlady-c-361-2007-sb-kterym-se-stanovi-podminky-ochrany-zdravi-pr</a:t>
            </a:r>
            <a:r>
              <a:rPr lang="cs-CZ" b="1" i="0" dirty="0">
                <a:solidFill>
                  <a:srgbClr val="111111"/>
                </a:solidFill>
                <a:effectLst/>
                <a:latin typeface="Encode Sans Condensed"/>
                <a:hlinkClick r:id="rId5"/>
              </a:rPr>
              <a:t>i-praci</a:t>
            </a:r>
            <a:endParaRPr lang="cs-CZ" b="1" i="0" dirty="0">
              <a:solidFill>
                <a:srgbClr val="111111"/>
              </a:solidFill>
              <a:effectLst/>
              <a:latin typeface="Encode Sans Condensed"/>
            </a:endParaRPr>
          </a:p>
          <a:p>
            <a:r>
              <a:rPr lang="cs-CZ" i="0" dirty="0">
                <a:solidFill>
                  <a:srgbClr val="111111"/>
                </a:solidFill>
                <a:effectLst/>
                <a:latin typeface="Encode Sans Condensed"/>
                <a:hlinkClick r:id="rId6"/>
              </a:rPr>
              <a:t>https://www.setriprirodu.cz/co-s-prazdnym-tonerem-inkoustem/jak-vyhodit-prazdny-toner-ci-inkoust-kdyz-jsem-nepodnikajici-fyzicka-osoba-spotrebitel/</a:t>
            </a:r>
            <a:endParaRPr lang="cs-CZ" i="0" dirty="0">
              <a:solidFill>
                <a:srgbClr val="111111"/>
              </a:solidFill>
              <a:effectLst/>
              <a:latin typeface="Encode Sans Condensed"/>
            </a:endParaRPr>
          </a:p>
          <a:p>
            <a:endParaRPr lang="cs-CZ" b="1" i="0" dirty="0">
              <a:solidFill>
                <a:srgbClr val="111111"/>
              </a:solidFill>
              <a:effectLst/>
              <a:latin typeface="Encode Sans Condensed"/>
            </a:endParaRP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AED7F462-23EB-4A91-9AB1-3F3BE02A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715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Oříznutí</Template>
  <TotalTime>2391</TotalTime>
  <Words>2381</Words>
  <Application>Microsoft Office PowerPoint</Application>
  <PresentationFormat>Širokoúhlá obrazovka</PresentationFormat>
  <Paragraphs>231</Paragraphs>
  <Slides>44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44</vt:i4>
      </vt:variant>
    </vt:vector>
  </HeadingPairs>
  <TitlesOfParts>
    <vt:vector size="50" baseType="lpstr">
      <vt:lpstr>Arial</vt:lpstr>
      <vt:lpstr>Calibri</vt:lpstr>
      <vt:lpstr>Encode Sans Condensed</vt:lpstr>
      <vt:lpstr>Franklin Gothic Book</vt:lpstr>
      <vt:lpstr>Roboto</vt:lpstr>
      <vt:lpstr>Crop</vt:lpstr>
      <vt:lpstr>Poučení</vt:lpstr>
      <vt:lpstr>Povinnosti studenta</vt:lpstr>
      <vt:lpstr>Povinnosti studenta</vt:lpstr>
      <vt:lpstr>Povinnosti studenta</vt:lpstr>
      <vt:lpstr>Povinnosti studenta</vt:lpstr>
      <vt:lpstr>Režimy počítače</vt:lpstr>
      <vt:lpstr>Cartridge ~ kazeta tonerová, inkoustová</vt:lpstr>
      <vt:lpstr>Kam odložit nepotřebnou cartridge, toner</vt:lpstr>
      <vt:lpstr>První pomoc</vt:lpstr>
      <vt:lpstr>Lékárnička ve škole DELTA, s.r.o.</vt:lpstr>
      <vt:lpstr>První pomoc při bezvědomí - dýchá</vt:lpstr>
      <vt:lpstr>Prezentace aplikace PowerPoint</vt:lpstr>
      <vt:lpstr>Stabilizovaná ~ Zotavovací poloha </vt:lpstr>
      <vt:lpstr>První pomoc při bezvědomí - nedýchá</vt:lpstr>
      <vt:lpstr>Prezentace aplikace PowerPoint</vt:lpstr>
      <vt:lpstr>Nepřímá srdeční masáž </vt:lpstr>
      <vt:lpstr>První pomoc při bezvědomí</vt:lpstr>
      <vt:lpstr>Důležitá telefonní čísla</vt:lpstr>
      <vt:lpstr>Hasící přístroje ve škole DELTA, s.r.o.</vt:lpstr>
      <vt:lpstr>Povinnosti zaměstnavatele v oblasti BOZ a PO </vt:lpstr>
      <vt:lpstr>Kniha úrazů</vt:lpstr>
      <vt:lpstr>Poranění elektrickým proudem</vt:lpstr>
      <vt:lpstr>Poranění elektrickým proudem</vt:lpstr>
      <vt:lpstr>Poranění elektrickým proudem</vt:lpstr>
      <vt:lpstr>Poranění elektrickým proudem</vt:lpstr>
      <vt:lpstr>Ergonomie při práci s počítačem</vt:lpstr>
      <vt:lpstr>Ergonomie při práci s počítačem</vt:lpstr>
      <vt:lpstr>Ergonomie při práci s počítačem</vt:lpstr>
      <vt:lpstr>Prezentace aplikace PowerPoint</vt:lpstr>
      <vt:lpstr>Ergonomie uživatelského prostředí</vt:lpstr>
      <vt:lpstr>Preventivní opatření </vt:lpstr>
      <vt:lpstr>Cvičení na pracovišti</vt:lpstr>
      <vt:lpstr>A jak jsou na tom notebooky</vt:lpstr>
      <vt:lpstr>Revize elektroinstalace a elektrozařízení</vt:lpstr>
      <vt:lpstr>Přestávka bezpečnostní x na jídlo a oddech</vt:lpstr>
      <vt:lpstr>Ergonomie pracoviště</vt:lpstr>
      <vt:lpstr>Prezentace aplikace PowerPoint</vt:lpstr>
      <vt:lpstr>První pomoc</vt:lpstr>
      <vt:lpstr>Stabilizovaná poloha ~ Zotavovací poloha</vt:lpstr>
      <vt:lpstr>Prezentace aplikace PowerPoint</vt:lpstr>
      <vt:lpstr>Heimlichův manévr </vt:lpstr>
      <vt:lpstr>Heimlichův manévr </vt:lpstr>
      <vt:lpstr>Jak se nechovat</vt:lpstr>
      <vt:lpstr>Zdroje a odkazy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Poučení</dc:title>
  <dc:creator>Votavová Gabriela</dc:creator>
  <cp:lastModifiedBy>Votavová Gabriela</cp:lastModifiedBy>
  <cp:revision>17</cp:revision>
  <cp:lastPrinted>2021-09-13T10:37:32Z</cp:lastPrinted>
  <dcterms:created xsi:type="dcterms:W3CDTF">2020-09-07T09:17:38Z</dcterms:created>
  <dcterms:modified xsi:type="dcterms:W3CDTF">2023-09-12T05:38:44Z</dcterms:modified>
</cp:coreProperties>
</file>