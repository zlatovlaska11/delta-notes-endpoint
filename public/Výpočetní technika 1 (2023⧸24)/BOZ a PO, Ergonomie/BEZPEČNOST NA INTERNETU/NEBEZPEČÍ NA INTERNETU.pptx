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63" d="100"/>
          <a:sy n="63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elearning.ecrime.cz/course/view.php?id=2" TargetMode="External"/><Relationship Id="rId2" Type="http://schemas.openxmlformats.org/officeDocument/2006/relationships/hyperlink" Target="https://www.kpbi.c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igitalnipevnost.cz/viki/hoa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692398" y="2057400"/>
            <a:ext cx="6815669" cy="1329264"/>
          </a:xfrm>
        </p:spPr>
        <p:txBody>
          <a:bodyPr/>
          <a:lstStyle/>
          <a:p>
            <a:r>
              <a:rPr lang="cs-CZ" b="1" dirty="0">
                <a:solidFill>
                  <a:schemeClr val="accent4">
                    <a:lumMod val="75000"/>
                  </a:schemeClr>
                </a:solidFill>
              </a:rPr>
              <a:t>NEBEZPEČÍ NA INTERNETU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74463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0000"/>
                </a:solidFill>
              </a:rPr>
              <a:t>Co je Virus?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Jako </a:t>
            </a:r>
            <a:r>
              <a:rPr lang="cs-CZ" b="1" dirty="0"/>
              <a:t>virus</a:t>
            </a:r>
            <a:r>
              <a:rPr lang="cs-CZ" dirty="0"/>
              <a:t> se v oblasti počítačové bezpečnosti označuje program, který se dokáže sám šířit bez vědomí uživatele</a:t>
            </a:r>
          </a:p>
          <a:p>
            <a:r>
              <a:rPr lang="cs-CZ" dirty="0"/>
              <a:t>Viry jsou jen jedním z druhů tzv. </a:t>
            </a:r>
            <a:r>
              <a:rPr lang="cs-CZ" dirty="0" err="1"/>
              <a:t>malwaru</a:t>
            </a:r>
            <a:r>
              <a:rPr lang="cs-CZ" dirty="0"/>
              <a:t>, zákeřného softwaru.</a:t>
            </a:r>
          </a:p>
          <a:p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599" y="4021766"/>
            <a:ext cx="2641601" cy="18541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01532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0000"/>
                </a:solidFill>
              </a:rPr>
              <a:t>Co je Spam?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Spam</a:t>
            </a:r>
            <a:r>
              <a:rPr lang="cs-CZ" dirty="0"/>
              <a:t> je nevyžádané sdělení masově šířené internetem. </a:t>
            </a:r>
          </a:p>
          <a:p>
            <a:r>
              <a:rPr lang="cs-CZ" dirty="0"/>
              <a:t>Původně se používalo především pro nevyžádané reklamní e-maily, postupem času tento fenomén postihl i ostatní druhy internetové komunikace – např. diskuzní fóra, komentáře nebo instant </a:t>
            </a:r>
            <a:r>
              <a:rPr lang="cs-CZ" dirty="0" err="1"/>
              <a:t>messaging</a:t>
            </a:r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1" y="4422530"/>
            <a:ext cx="1689100" cy="15591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804275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612" y="4346576"/>
            <a:ext cx="2543175" cy="1800225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0000"/>
                </a:solidFill>
              </a:rPr>
              <a:t>Co je </a:t>
            </a:r>
            <a:r>
              <a:rPr lang="cs-CZ" dirty="0" err="1">
                <a:solidFill>
                  <a:srgbClr val="FF0000"/>
                </a:solidFill>
              </a:rPr>
              <a:t>Hoax</a:t>
            </a:r>
            <a:r>
              <a:rPr lang="cs-CZ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Jako </a:t>
            </a:r>
            <a:r>
              <a:rPr lang="cs-CZ" dirty="0" err="1"/>
              <a:t>hoax</a:t>
            </a:r>
            <a:r>
              <a:rPr lang="cs-CZ" dirty="0"/>
              <a:t> můžeme také označit šířenou zprávu, která obsahuje nepřesné, zkreslující informace, účelově upravené polopravdy nebo směsku polopravd a lží.</a:t>
            </a:r>
          </a:p>
          <a:p>
            <a:r>
              <a:rPr lang="cs-CZ" dirty="0"/>
              <a:t>V praxi můžeme použít následující pravidlo:</a:t>
            </a:r>
            <a:br>
              <a:rPr lang="cs-CZ" dirty="0"/>
            </a:br>
            <a:r>
              <a:rPr lang="cs-CZ" dirty="0"/>
              <a:t>Jestliže zpráva obsahuje výzvu k hromadnému rozeslání na další adresy, je to podezřelé a s největší pravděpodobností HOAX. </a:t>
            </a:r>
          </a:p>
        </p:txBody>
      </p:sp>
    </p:spTree>
    <p:extLst>
      <p:ext uri="{BB962C8B-B14F-4D97-AF65-F5344CB8AC3E}">
        <p14:creationId xmlns:p14="http://schemas.microsoft.com/office/powerpoint/2010/main" val="1048394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0000"/>
                </a:solidFill>
              </a:rPr>
              <a:t>Co je </a:t>
            </a:r>
            <a:r>
              <a:rPr lang="cs-CZ" dirty="0" err="1">
                <a:solidFill>
                  <a:srgbClr val="FF0000"/>
                </a:solidFill>
              </a:rPr>
              <a:t>Phishing</a:t>
            </a:r>
            <a:r>
              <a:rPr lang="cs-CZ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Slovem PHISHING označujeme podvodné e-mailové útoky na uživatele Internetu, jejichž cílem je vylákat důvěrné informace.</a:t>
            </a:r>
          </a:p>
          <a:p>
            <a:r>
              <a:rPr lang="cs-CZ" dirty="0"/>
              <a:t>Nejčastěji jsou to údaje k platebním kartám včetně </a:t>
            </a:r>
            <a:r>
              <a:rPr lang="cs-CZ" dirty="0" err="1"/>
              <a:t>PINu</a:t>
            </a:r>
            <a:r>
              <a:rPr lang="cs-CZ" dirty="0"/>
              <a:t> nebo různé přihlašovací údaje k účtům. Nemusí jít jenom o účty přímo bankovní, ale také ostatních organizací, kde dochází k manipulaci s </a:t>
            </a:r>
            <a:r>
              <a:rPr lang="cs-CZ" dirty="0" err="1"/>
              <a:t>penězy</a:t>
            </a:r>
            <a:r>
              <a:rPr lang="cs-CZ" dirty="0"/>
              <a:t> nebo je možné jakýmkoliv způsobem zneužit jejich služeb.</a:t>
            </a:r>
          </a:p>
          <a:p>
            <a:r>
              <a:rPr lang="cs-CZ" dirty="0"/>
              <a:t>Příkladem může být </a:t>
            </a:r>
            <a:r>
              <a:rPr lang="cs-CZ" dirty="0" err="1"/>
              <a:t>PayPal</a:t>
            </a:r>
            <a:r>
              <a:rPr lang="cs-CZ" dirty="0"/>
              <a:t>, </a:t>
            </a:r>
            <a:r>
              <a:rPr lang="cs-CZ" dirty="0" err="1"/>
              <a:t>eBay</a:t>
            </a:r>
            <a:r>
              <a:rPr lang="cs-CZ" dirty="0"/>
              <a:t>, Skype, Google.</a:t>
            </a:r>
            <a:br>
              <a:rPr lang="cs-CZ" dirty="0"/>
            </a:br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0" y="958849"/>
            <a:ext cx="2123440" cy="132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46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472" y="4203700"/>
            <a:ext cx="2143125" cy="1943101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0000"/>
                </a:solidFill>
              </a:rPr>
              <a:t>Co je </a:t>
            </a:r>
            <a:r>
              <a:rPr lang="cs-CZ" dirty="0" err="1">
                <a:solidFill>
                  <a:srgbClr val="FF0000"/>
                </a:solidFill>
              </a:rPr>
              <a:t>Malware</a:t>
            </a:r>
            <a:r>
              <a:rPr lang="cs-CZ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Malware</a:t>
            </a:r>
            <a:r>
              <a:rPr lang="cs-CZ" dirty="0"/>
              <a:t> (zkratka pro škodlivý software) je typ softwaru, který má za úkol zajistit útočníkovi tajný přístup k vašemu zařízení. </a:t>
            </a:r>
          </a:p>
          <a:p>
            <a:r>
              <a:rPr lang="cs-CZ" dirty="0"/>
              <a:t>Mezi nejrozšířenější typy </a:t>
            </a:r>
            <a:r>
              <a:rPr lang="cs-CZ" dirty="0" err="1"/>
              <a:t>malware</a:t>
            </a:r>
            <a:r>
              <a:rPr lang="cs-CZ" dirty="0"/>
              <a:t> patří </a:t>
            </a:r>
            <a:r>
              <a:rPr lang="cs-CZ" dirty="0" err="1"/>
              <a:t>spyware</a:t>
            </a:r>
            <a:r>
              <a:rPr lang="cs-CZ" dirty="0"/>
              <a:t>, </a:t>
            </a:r>
            <a:r>
              <a:rPr lang="cs-CZ" dirty="0" err="1"/>
              <a:t>adware</a:t>
            </a:r>
            <a:r>
              <a:rPr lang="cs-CZ" dirty="0"/>
              <a:t>, </a:t>
            </a:r>
            <a:r>
              <a:rPr lang="cs-CZ" dirty="0" err="1"/>
              <a:t>phishing</a:t>
            </a:r>
            <a:r>
              <a:rPr lang="cs-CZ" dirty="0"/>
              <a:t>, viry, trojské koně, červi, </a:t>
            </a:r>
            <a:r>
              <a:rPr lang="cs-CZ" dirty="0" err="1"/>
              <a:t>rootkity</a:t>
            </a:r>
            <a:r>
              <a:rPr lang="cs-CZ" dirty="0"/>
              <a:t>, </a:t>
            </a:r>
            <a:r>
              <a:rPr lang="cs-CZ" dirty="0" err="1"/>
              <a:t>ransomware</a:t>
            </a:r>
            <a:r>
              <a:rPr lang="cs-CZ" dirty="0"/>
              <a:t> a změny nastavení prohlížeče.</a:t>
            </a:r>
          </a:p>
        </p:txBody>
      </p:sp>
    </p:spTree>
    <p:extLst>
      <p:ext uri="{BB962C8B-B14F-4D97-AF65-F5344CB8AC3E}">
        <p14:creationId xmlns:p14="http://schemas.microsoft.com/office/powerpoint/2010/main" val="4258849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0000"/>
                </a:solidFill>
              </a:rPr>
              <a:t>Co je </a:t>
            </a:r>
            <a:r>
              <a:rPr lang="cs-CZ" dirty="0" err="1">
                <a:solidFill>
                  <a:srgbClr val="FF0000"/>
                </a:solidFill>
              </a:rPr>
              <a:t>Spyware</a:t>
            </a:r>
            <a:r>
              <a:rPr lang="cs-CZ" dirty="0">
                <a:solidFill>
                  <a:srgbClr val="FF0000"/>
                </a:solidFill>
              </a:rPr>
              <a:t> 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Spy</a:t>
            </a:r>
            <a:r>
              <a:rPr lang="cs-CZ" dirty="0"/>
              <a:t> totiž znamená špión. Tento software tedy slouží ke špehování uživatele a jeho počinů na počítači.</a:t>
            </a:r>
          </a:p>
          <a:p>
            <a:r>
              <a:rPr lang="cs-CZ" dirty="0"/>
              <a:t>Většinou o tom uživatel ani neví, ale program si na počítač nainstaluje sám</a:t>
            </a:r>
          </a:p>
          <a:p>
            <a:r>
              <a:rPr lang="cs-CZ" dirty="0"/>
              <a:t>Člověk, který nemá příliš zkušeností s danou problematikou, bez problémů odsouhlasí instalování a </a:t>
            </a:r>
            <a:r>
              <a:rPr lang="cs-CZ" dirty="0" err="1"/>
              <a:t>spyware</a:t>
            </a:r>
            <a:r>
              <a:rPr lang="cs-CZ" dirty="0"/>
              <a:t> má ihned ve svém počítači.</a:t>
            </a:r>
          </a:p>
          <a:p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0" y="644921"/>
            <a:ext cx="1609174" cy="164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582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16142">
            <a:off x="703837" y="984887"/>
            <a:ext cx="3066020" cy="1298353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0000"/>
                </a:solidFill>
              </a:rPr>
              <a:t>Co je </a:t>
            </a:r>
            <a:r>
              <a:rPr lang="cs-CZ" dirty="0" err="1">
                <a:solidFill>
                  <a:srgbClr val="FF0000"/>
                </a:solidFill>
              </a:rPr>
              <a:t>Kyberšikana</a:t>
            </a:r>
            <a:r>
              <a:rPr lang="cs-CZ" dirty="0">
                <a:solidFill>
                  <a:srgbClr val="FF0000"/>
                </a:solidFill>
              </a:rPr>
              <a:t> 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 err="1"/>
              <a:t>Kyberšikana</a:t>
            </a:r>
            <a:r>
              <a:rPr lang="cs-CZ" dirty="0"/>
              <a:t> je palčivý problém, který se rychle rozšiřuje i do českých škol a dětských kolektivů. Obecně se jako </a:t>
            </a:r>
            <a:r>
              <a:rPr lang="cs-CZ" dirty="0" err="1"/>
              <a:t>kyberšikana</a:t>
            </a:r>
            <a:r>
              <a:rPr lang="cs-CZ" dirty="0"/>
              <a:t> označuje užití komunikační a informační technologie, zejména mobilních telefonů a Internetu, k úmyslnému ublížení druhým. </a:t>
            </a:r>
          </a:p>
          <a:p>
            <a:r>
              <a:rPr lang="cs-CZ" dirty="0"/>
              <a:t>Kybernetická šikana má stejný cíl jako klasická fyzická šikana: ublížení a ponížení oběti. </a:t>
            </a:r>
          </a:p>
          <a:p>
            <a:r>
              <a:rPr lang="cs-CZ" dirty="0"/>
              <a:t>Kybernetická šikana přitom ale používá jiné prostředky, kromě toho se ale od klasické šikany liší dalšími rysy.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44499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0000"/>
                </a:solidFill>
              </a:rPr>
              <a:t>Způsoby ochrany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Nikde se nepřihlašujte na svoje osobní účty (např. kavárna, u svých kamarádů nebo mobilu), pouze na svém počítači.</a:t>
            </a:r>
          </a:p>
          <a:p>
            <a:r>
              <a:rPr lang="cs-CZ" dirty="0"/>
              <a:t>Nikdy neposílejte někomu svoje fotky…</a:t>
            </a:r>
          </a:p>
          <a:p>
            <a:r>
              <a:rPr lang="cs-CZ" dirty="0"/>
              <a:t>Nepište nikde na sociálních stránkách že jedete na dovolenou nebo někam jinam, pro někoho je to signál že vás může vykrást, apod..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35989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D4FFB8-A731-DAB6-D54F-713BFE8F3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872E7C2-64C7-035B-9CD8-06D94EDD4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Kraje pro bezpečný internet, </a:t>
            </a:r>
            <a:r>
              <a:rPr lang="en-US" dirty="0"/>
              <a:t>[online].</a:t>
            </a:r>
            <a:r>
              <a:rPr lang="cs-CZ" dirty="0"/>
              <a:t> [cit. 3.5.2021].</a:t>
            </a:r>
            <a:r>
              <a:rPr lang="en-US" dirty="0"/>
              <a:t> </a:t>
            </a:r>
            <a:r>
              <a:rPr lang="en-US" dirty="0" err="1"/>
              <a:t>Dostupné</a:t>
            </a:r>
            <a:r>
              <a:rPr lang="en-US" dirty="0"/>
              <a:t> z:</a:t>
            </a:r>
            <a:r>
              <a:rPr lang="cs-CZ" dirty="0"/>
              <a:t> </a:t>
            </a:r>
            <a:r>
              <a:rPr lang="cs-CZ" dirty="0">
                <a:hlinkClick r:id="rId2"/>
              </a:rPr>
              <a:t>https://www.kpbi.cz/</a:t>
            </a:r>
            <a:endParaRPr lang="cs-CZ" dirty="0"/>
          </a:p>
          <a:p>
            <a:r>
              <a:rPr lang="cs-CZ" dirty="0"/>
              <a:t>Kraje pro bezpečný internet, </a:t>
            </a:r>
            <a:r>
              <a:rPr lang="cs-CZ" i="1" dirty="0"/>
              <a:t>E-learningové kurzy </a:t>
            </a:r>
            <a:r>
              <a:rPr lang="en-US" dirty="0"/>
              <a:t>[online].</a:t>
            </a:r>
            <a:r>
              <a:rPr lang="cs-CZ" dirty="0"/>
              <a:t> [cit. 3.5.2021].</a:t>
            </a:r>
            <a:r>
              <a:rPr lang="en-US" dirty="0"/>
              <a:t> </a:t>
            </a:r>
            <a:r>
              <a:rPr lang="en-US" dirty="0" err="1"/>
              <a:t>Dostupné</a:t>
            </a:r>
            <a:r>
              <a:rPr lang="en-US" dirty="0"/>
              <a:t> z:</a:t>
            </a:r>
            <a:r>
              <a:rPr lang="cs-CZ" dirty="0"/>
              <a:t> </a:t>
            </a:r>
            <a:r>
              <a:rPr lang="cs-CZ" dirty="0">
                <a:hlinkClick r:id="rId3"/>
              </a:rPr>
              <a:t>http://elearning.ecrime.cz/course/view.php?id=2</a:t>
            </a:r>
            <a:endParaRPr lang="cs-CZ" dirty="0"/>
          </a:p>
          <a:p>
            <a:r>
              <a:rPr lang="en-US" dirty="0"/>
              <a:t>Hoax – </a:t>
            </a:r>
            <a:r>
              <a:rPr lang="en-US" dirty="0" err="1"/>
              <a:t>nenápadný</a:t>
            </a:r>
            <a:r>
              <a:rPr lang="en-US" dirty="0"/>
              <a:t>, ale </a:t>
            </a:r>
            <a:r>
              <a:rPr lang="en-US" dirty="0" err="1"/>
              <a:t>nebezpečný</a:t>
            </a:r>
            <a:r>
              <a:rPr lang="en-US" dirty="0"/>
              <a:t> </a:t>
            </a:r>
            <a:r>
              <a:rPr lang="en-US" dirty="0" err="1"/>
              <a:t>lhář</a:t>
            </a:r>
            <a:r>
              <a:rPr lang="en-US" dirty="0"/>
              <a:t> | </a:t>
            </a:r>
            <a:r>
              <a:rPr lang="en-US" dirty="0" err="1"/>
              <a:t>Digitální</a:t>
            </a:r>
            <a:r>
              <a:rPr lang="en-US" dirty="0"/>
              <a:t> </a:t>
            </a:r>
            <a:r>
              <a:rPr lang="en-US" dirty="0" err="1"/>
              <a:t>pevnost</a:t>
            </a:r>
            <a:r>
              <a:rPr lang="en-US" dirty="0"/>
              <a:t>. </a:t>
            </a:r>
            <a:r>
              <a:rPr lang="en-US" i="1" dirty="0" err="1"/>
              <a:t>Bojujeme</a:t>
            </a:r>
            <a:r>
              <a:rPr lang="en-US" i="1" dirty="0"/>
              <a:t> za </a:t>
            </a:r>
            <a:r>
              <a:rPr lang="en-US" i="1" dirty="0" err="1"/>
              <a:t>bezpečnější</a:t>
            </a:r>
            <a:r>
              <a:rPr lang="en-US" i="1" dirty="0"/>
              <a:t> on-line </a:t>
            </a:r>
            <a:r>
              <a:rPr lang="en-US" i="1" dirty="0" err="1"/>
              <a:t>svět</a:t>
            </a:r>
            <a:r>
              <a:rPr lang="en-US" i="1" dirty="0"/>
              <a:t> | </a:t>
            </a:r>
            <a:r>
              <a:rPr lang="en-US" i="1" dirty="0" err="1"/>
              <a:t>Digitální</a:t>
            </a:r>
            <a:r>
              <a:rPr lang="en-US" i="1" dirty="0"/>
              <a:t> </a:t>
            </a:r>
            <a:r>
              <a:rPr lang="en-US" i="1" dirty="0" err="1"/>
              <a:t>pevnost</a:t>
            </a:r>
            <a:r>
              <a:rPr lang="en-US" dirty="0"/>
              <a:t> [online].</a:t>
            </a:r>
            <a:r>
              <a:rPr lang="cs-CZ" dirty="0"/>
              <a:t> [cit. 1.6.2021].</a:t>
            </a:r>
            <a:r>
              <a:rPr lang="en-US" dirty="0"/>
              <a:t> </a:t>
            </a:r>
            <a:r>
              <a:rPr lang="en-US" dirty="0" err="1"/>
              <a:t>Dostupné</a:t>
            </a:r>
            <a:r>
              <a:rPr lang="en-US" dirty="0"/>
              <a:t> z: </a:t>
            </a:r>
            <a:r>
              <a:rPr lang="en-US" dirty="0">
                <a:hlinkClick r:id="rId4"/>
              </a:rPr>
              <a:t>https://www.digitalnipevnost.cz/viki/hoax</a:t>
            </a:r>
            <a:endParaRPr lang="cs-CZ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180612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ka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53</TotalTime>
  <Words>557</Words>
  <Application>Microsoft Office PowerPoint</Application>
  <PresentationFormat>Širokoúhlá obrazovka</PresentationFormat>
  <Paragraphs>33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Organika</vt:lpstr>
      <vt:lpstr>NEBEZPEČÍ NA INTERNETU</vt:lpstr>
      <vt:lpstr>Co je Virus?</vt:lpstr>
      <vt:lpstr>Co je Spam?</vt:lpstr>
      <vt:lpstr>Co je Hoax?</vt:lpstr>
      <vt:lpstr>Co je Phishing?</vt:lpstr>
      <vt:lpstr>Co je Malware?</vt:lpstr>
      <vt:lpstr>Co je Spyware ?</vt:lpstr>
      <vt:lpstr>Co je Kyberšikana ?</vt:lpstr>
      <vt:lpstr>Způsoby ochrany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NEBEZPEČÍ NA INTERNETU</dc:title>
  <dc:creator>Marie Kubíková</dc:creator>
  <cp:lastModifiedBy>Votavová Gabriela</cp:lastModifiedBy>
  <cp:revision>11</cp:revision>
  <dcterms:created xsi:type="dcterms:W3CDTF">2017-03-29T08:10:15Z</dcterms:created>
  <dcterms:modified xsi:type="dcterms:W3CDTF">2023-09-19T09:41:17Z</dcterms:modified>
</cp:coreProperties>
</file>