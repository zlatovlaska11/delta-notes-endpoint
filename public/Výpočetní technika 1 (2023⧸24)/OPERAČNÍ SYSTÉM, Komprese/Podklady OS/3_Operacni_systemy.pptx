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52" r:id="rId1"/>
  </p:sldMasterIdLst>
  <p:notesMasterIdLst>
    <p:notesMasterId r:id="rId40"/>
  </p:notesMasterIdLst>
  <p:handoutMasterIdLst>
    <p:handoutMasterId r:id="rId41"/>
  </p:handoutMasterIdLst>
  <p:sldIdLst>
    <p:sldId id="256" r:id="rId2"/>
    <p:sldId id="257" r:id="rId3"/>
    <p:sldId id="259" r:id="rId4"/>
    <p:sldId id="260" r:id="rId5"/>
    <p:sldId id="261" r:id="rId6"/>
    <p:sldId id="294" r:id="rId7"/>
    <p:sldId id="275" r:id="rId8"/>
    <p:sldId id="262" r:id="rId9"/>
    <p:sldId id="263" r:id="rId10"/>
    <p:sldId id="264" r:id="rId11"/>
    <p:sldId id="265" r:id="rId12"/>
    <p:sldId id="288" r:id="rId13"/>
    <p:sldId id="266" r:id="rId14"/>
    <p:sldId id="267" r:id="rId15"/>
    <p:sldId id="268" r:id="rId16"/>
    <p:sldId id="284" r:id="rId17"/>
    <p:sldId id="270" r:id="rId18"/>
    <p:sldId id="285" r:id="rId19"/>
    <p:sldId id="271" r:id="rId20"/>
    <p:sldId id="283" r:id="rId21"/>
    <p:sldId id="272" r:id="rId22"/>
    <p:sldId id="290" r:id="rId23"/>
    <p:sldId id="269" r:id="rId24"/>
    <p:sldId id="273" r:id="rId25"/>
    <p:sldId id="274" r:id="rId26"/>
    <p:sldId id="281" r:id="rId27"/>
    <p:sldId id="286" r:id="rId28"/>
    <p:sldId id="278" r:id="rId29"/>
    <p:sldId id="279" r:id="rId30"/>
    <p:sldId id="277" r:id="rId31"/>
    <p:sldId id="280" r:id="rId32"/>
    <p:sldId id="287" r:id="rId33"/>
    <p:sldId id="282" r:id="rId34"/>
    <p:sldId id="291" r:id="rId35"/>
    <p:sldId id="289" r:id="rId36"/>
    <p:sldId id="292" r:id="rId37"/>
    <p:sldId id="293" r:id="rId38"/>
    <p:sldId id="295" r:id="rId39"/>
  </p:sldIdLst>
  <p:sldSz cx="9144000" cy="6858000" type="screen4x3"/>
  <p:notesSz cx="6735763" cy="9866313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Styl s motivem 1 – zvýraznění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70" autoAdjust="0"/>
    <p:restoredTop sz="94660"/>
  </p:normalViewPr>
  <p:slideViewPr>
    <p:cSldViewPr>
      <p:cViewPr varScale="1">
        <p:scale>
          <a:sx n="59" d="100"/>
          <a:sy n="59" d="100"/>
        </p:scale>
        <p:origin x="1284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quarter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937D2C-DDED-4CF6-A668-35C62A427B2F}" type="datetimeFigureOut">
              <a:rPr lang="cs-CZ" smtClean="0"/>
              <a:t>06.10.2021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2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3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0B8B0D-99D0-4588-BAD0-2277E6F2D4E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75893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60189B-B41A-4579-88AC-BFFA2478B086}" type="datetimeFigureOut">
              <a:rPr lang="cs-CZ" smtClean="0"/>
              <a:t>06.10.2021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1149350" y="1233488"/>
            <a:ext cx="443706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DFDE8B-3FD2-4E75-B2DE-A327051D448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76517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délník 8"/>
          <p:cNvSpPr/>
          <p:nvPr/>
        </p:nvSpPr>
        <p:spPr bwMode="ltGray">
          <a:xfrm>
            <a:off x="0" y="0"/>
            <a:ext cx="9143999" cy="513543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685800" y="3355848"/>
            <a:ext cx="8077200" cy="1673352"/>
          </a:xfrm>
        </p:spPr>
        <p:txBody>
          <a:bodyPr vert="horz" lIns="91440" tIns="0" rIns="45720" bIns="0" rtlCol="0" anchor="t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/>
            </a:lvl1pPr>
            <a:extLst/>
          </a:lstStyle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685800" y="1828800"/>
            <a:ext cx="8077200" cy="1499616"/>
          </a:xfrm>
        </p:spPr>
        <p:txBody>
          <a:bodyPr lIns="118872" tIns="0" rIns="45720" bIns="0" anchor="b"/>
          <a:lstStyle>
            <a:lvl1pPr marL="0" indent="0" algn="l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r>
              <a:rPr kumimoji="0" lang="cs-CZ"/>
              <a:t>Klepnutím lze upravit styl předlohy podnadpisů.</a:t>
            </a:r>
            <a:endParaRPr kumimoji="0" lang="en-US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7302C-7B5D-4D80-8216-3CE8497B4960}" type="datetime1">
              <a:rPr lang="cs-CZ" smtClean="0"/>
              <a:t>06.10.2021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47187-0D2F-4B88-99F1-1A7398B31F18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10" name="Obdélník 9"/>
          <p:cNvSpPr/>
          <p:nvPr/>
        </p:nvSpPr>
        <p:spPr bwMode="invGray">
          <a:xfrm>
            <a:off x="0" y="5128334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252728"/>
          </a:xfrm>
        </p:spPr>
        <p:txBody>
          <a:bodyPr/>
          <a:lstStyle/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cs-CZ"/>
              <a:t>Klepnutím lze upravit styly předlohy textu.</a:t>
            </a:r>
          </a:p>
          <a:p>
            <a:pPr lvl="1" eaLnBrk="1" latinLnBrk="0" hangingPunct="1"/>
            <a:r>
              <a:rPr lang="cs-CZ"/>
              <a:t>Druhá úroveň</a:t>
            </a:r>
          </a:p>
          <a:p>
            <a:pPr lvl="2" eaLnBrk="1" latinLnBrk="0" hangingPunct="1"/>
            <a:r>
              <a:rPr lang="cs-CZ"/>
              <a:t>Třetí úroveň</a:t>
            </a:r>
          </a:p>
          <a:p>
            <a:pPr lvl="3" eaLnBrk="1" latinLnBrk="0" hangingPunct="1"/>
            <a:r>
              <a:rPr lang="cs-CZ"/>
              <a:t>Čtvrtá úroveň</a:t>
            </a:r>
          </a:p>
          <a:p>
            <a:pPr lvl="4" eaLnBrk="1" latinLnBrk="0" hangingPunct="1"/>
            <a:r>
              <a:rPr lang="cs-CZ"/>
              <a:t>Pátá úroveň</a:t>
            </a:r>
            <a:endParaRPr kumimoji="0" lang="en-US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B479D-366B-4195-B3E1-072E912DEDEB}" type="datetime1">
              <a:rPr lang="cs-CZ" smtClean="0"/>
              <a:t>06.10.2021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47187-0D2F-4B88-99F1-1A7398B31F18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Záhlaví části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délník 8"/>
          <p:cNvSpPr/>
          <p:nvPr/>
        </p:nvSpPr>
        <p:spPr bwMode="ltGray">
          <a:xfrm>
            <a:off x="0" y="1"/>
            <a:ext cx="9144000" cy="260252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Obdélník 11"/>
          <p:cNvSpPr/>
          <p:nvPr/>
        </p:nvSpPr>
        <p:spPr bwMode="invGray">
          <a:xfrm>
            <a:off x="0" y="2602520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749808" y="118872"/>
            <a:ext cx="8013192" cy="1636776"/>
          </a:xfrm>
        </p:spPr>
        <p:txBody>
          <a:bodyPr vert="horz" lIns="91440" tIns="0" rIns="91440" bIns="0" rtlCol="0" anchor="b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 cap="none" baseline="0"/>
            </a:lvl1pPr>
            <a:extLst/>
          </a:lstStyle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740664" y="1828800"/>
            <a:ext cx="8022336" cy="685800"/>
          </a:xfrm>
        </p:spPr>
        <p:txBody>
          <a:bodyPr lIns="146304" tIns="0" rIns="45720" bIns="0" anchor="t"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pPr lvl="0" eaLnBrk="1" latinLnBrk="0" hangingPunct="1"/>
            <a:r>
              <a:rPr kumimoji="0" lang="cs-CZ"/>
              <a:t>Klepnutím lze upravit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BA71D-756F-4CF2-BDFE-DDC51B68D227}" type="datetime1">
              <a:rPr lang="cs-CZ" smtClean="0"/>
              <a:t>06.10.2021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47187-0D2F-4B88-99F1-1A7398B31F18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457200" y="1773936"/>
            <a:ext cx="4038600" cy="4623816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cs-CZ"/>
              <a:t>Klepnutím lze upravit styly předlohy textu.</a:t>
            </a:r>
          </a:p>
          <a:p>
            <a:pPr lvl="1" eaLnBrk="1" latinLnBrk="0" hangingPunct="1"/>
            <a:r>
              <a:rPr lang="cs-CZ"/>
              <a:t>Druhá úroveň</a:t>
            </a:r>
          </a:p>
          <a:p>
            <a:pPr lvl="2" eaLnBrk="1" latinLnBrk="0" hangingPunct="1"/>
            <a:r>
              <a:rPr lang="cs-CZ"/>
              <a:t>Třetí úroveň</a:t>
            </a:r>
          </a:p>
          <a:p>
            <a:pPr lvl="3" eaLnBrk="1" latinLnBrk="0" hangingPunct="1"/>
            <a:r>
              <a:rPr lang="cs-CZ"/>
              <a:t>Čtvrtá úroveň</a:t>
            </a:r>
          </a:p>
          <a:p>
            <a:pPr lvl="4" eaLnBrk="1" latinLnBrk="0" hangingPunct="1"/>
            <a:r>
              <a:rPr lang="cs-CZ"/>
              <a:t>Pátá úroveň</a:t>
            </a:r>
            <a:endParaRPr kumimoji="0" lang="en-US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648200" y="1773936"/>
            <a:ext cx="4038600" cy="46238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cs-CZ"/>
              <a:t>Klepnutím lze upravit styly předlohy textu.</a:t>
            </a:r>
          </a:p>
          <a:p>
            <a:pPr lvl="1" eaLnBrk="1" latinLnBrk="0" hangingPunct="1"/>
            <a:r>
              <a:rPr lang="cs-CZ"/>
              <a:t>Druhá úroveň</a:t>
            </a:r>
          </a:p>
          <a:p>
            <a:pPr lvl="2" eaLnBrk="1" latinLnBrk="0" hangingPunct="1"/>
            <a:r>
              <a:rPr lang="cs-CZ"/>
              <a:t>Třetí úroveň</a:t>
            </a:r>
          </a:p>
          <a:p>
            <a:pPr lvl="3" eaLnBrk="1" latinLnBrk="0" hangingPunct="1"/>
            <a:r>
              <a:rPr lang="cs-CZ"/>
              <a:t>Čtvrtá úroveň</a:t>
            </a:r>
          </a:p>
          <a:p>
            <a:pPr lvl="4" eaLnBrk="1" latinLnBrk="0" hangingPunct="1"/>
            <a:r>
              <a:rPr lang="cs-CZ"/>
              <a:t>Pátá úroveň</a:t>
            </a:r>
            <a:endParaRPr kumimoji="0" lang="en-US"/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5BC22-927F-4A52-A0A9-0914D91833E8}" type="datetime1">
              <a:rPr lang="cs-CZ" smtClean="0"/>
              <a:t>06.10.2021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47187-0D2F-4B88-99F1-1A7398B31F18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698987"/>
            <a:ext cx="4040188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cs-CZ"/>
              <a:t>Klepnutím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57200" y="2449512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cs-CZ"/>
              <a:t>Klepnutím lze upravit styly předlohy textu.</a:t>
            </a:r>
          </a:p>
          <a:p>
            <a:pPr lvl="1" eaLnBrk="1" latinLnBrk="0" hangingPunct="1"/>
            <a:r>
              <a:rPr lang="cs-CZ"/>
              <a:t>Druhá úroveň</a:t>
            </a:r>
          </a:p>
          <a:p>
            <a:pPr lvl="2" eaLnBrk="1" latinLnBrk="0" hangingPunct="1"/>
            <a:r>
              <a:rPr lang="cs-CZ"/>
              <a:t>Třetí úroveň</a:t>
            </a:r>
          </a:p>
          <a:p>
            <a:pPr lvl="3" eaLnBrk="1" latinLnBrk="0" hangingPunct="1"/>
            <a:r>
              <a:rPr lang="cs-CZ"/>
              <a:t>Čtvrtá úroveň</a:t>
            </a:r>
          </a:p>
          <a:p>
            <a:pPr lvl="4" eaLnBrk="1" latinLnBrk="0" hangingPunct="1"/>
            <a:r>
              <a:rPr lang="cs-CZ"/>
              <a:t>Pátá úroveň</a:t>
            </a:r>
            <a:endParaRPr kumimoji="0" lang="en-US"/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4645025" y="1698987"/>
            <a:ext cx="4041775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cs-CZ"/>
              <a:t>Klepnutím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45025" y="2449512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cs-CZ"/>
              <a:t>Klepnutím lze upravit styly předlohy textu.</a:t>
            </a:r>
          </a:p>
          <a:p>
            <a:pPr lvl="1" eaLnBrk="1" latinLnBrk="0" hangingPunct="1"/>
            <a:r>
              <a:rPr lang="cs-CZ"/>
              <a:t>Druhá úroveň</a:t>
            </a:r>
          </a:p>
          <a:p>
            <a:pPr lvl="2" eaLnBrk="1" latinLnBrk="0" hangingPunct="1"/>
            <a:r>
              <a:rPr lang="cs-CZ"/>
              <a:t>Třetí úroveň</a:t>
            </a:r>
          </a:p>
          <a:p>
            <a:pPr lvl="3" eaLnBrk="1" latinLnBrk="0" hangingPunct="1"/>
            <a:r>
              <a:rPr lang="cs-CZ"/>
              <a:t>Čtvrtá úroveň</a:t>
            </a:r>
          </a:p>
          <a:p>
            <a:pPr lvl="4" eaLnBrk="1" latinLnBrk="0" hangingPunct="1"/>
            <a:r>
              <a:rPr lang="cs-CZ"/>
              <a:t>Pátá úroveň</a:t>
            </a:r>
            <a:endParaRPr kumimoji="0" lang="en-US"/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F2163-74C8-4E71-AF0F-F4DBD0F4A6A7}" type="datetime1">
              <a:rPr lang="cs-CZ" smtClean="0"/>
              <a:t>06.10.2021</a:t>
            </a:fld>
            <a:endParaRPr lang="cs-CZ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47187-0D2F-4B88-99F1-1A7398B31F18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BF101-3BC9-4BCB-A3CA-AEEBB592A2A7}" type="datetime1">
              <a:rPr lang="cs-CZ" smtClean="0"/>
              <a:t>06.10.2021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47187-0D2F-4B88-99F1-1A7398B31F18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D8DB3-275A-4A83-8537-251FAFFBDA3D}" type="datetime1">
              <a:rPr lang="cs-CZ" smtClean="0"/>
              <a:t>06.10.2021</a:t>
            </a:fld>
            <a:endParaRPr lang="cs-CZ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47187-0D2F-4B88-99F1-1A7398B31F18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67838" y="152400"/>
            <a:ext cx="2523744" cy="978408"/>
          </a:xfrm>
        </p:spPr>
        <p:txBody>
          <a:bodyPr vert="horz" lIns="73152" rIns="45720" bIns="0" rtlCol="0" anchor="b">
            <a:normAutofit/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3019377" y="1743133"/>
            <a:ext cx="5920641" cy="455888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  <a:extLst/>
          </a:lstStyle>
          <a:p>
            <a:pPr lvl="0" eaLnBrk="1" latinLnBrk="0" hangingPunct="1"/>
            <a:r>
              <a:rPr lang="cs-CZ"/>
              <a:t>Klepnutím lze upravit styly předlohy textu.</a:t>
            </a:r>
          </a:p>
          <a:p>
            <a:pPr lvl="1" eaLnBrk="1" latinLnBrk="0" hangingPunct="1"/>
            <a:r>
              <a:rPr lang="cs-CZ"/>
              <a:t>Druhá úroveň</a:t>
            </a:r>
          </a:p>
          <a:p>
            <a:pPr lvl="2" eaLnBrk="1" latinLnBrk="0" hangingPunct="1"/>
            <a:r>
              <a:rPr lang="cs-CZ"/>
              <a:t>Třetí úroveň</a:t>
            </a:r>
          </a:p>
          <a:p>
            <a:pPr lvl="3" eaLnBrk="1" latinLnBrk="0" hangingPunct="1"/>
            <a:r>
              <a:rPr lang="cs-CZ"/>
              <a:t>Čtvrtá úroveň</a:t>
            </a:r>
          </a:p>
          <a:p>
            <a:pPr lvl="4" eaLnBrk="1" latinLnBrk="0" hangingPunct="1"/>
            <a:r>
              <a:rPr lang="cs-CZ"/>
              <a:t>Pátá úroveň</a:t>
            </a:r>
            <a:endParaRPr kumimoji="0" lang="en-US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167838" y="1730018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cs-CZ"/>
              <a:t>Klepnutím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1B31B-1D9D-407C-8A48-0D9665C2C83D}" type="datetime1">
              <a:rPr lang="cs-CZ" smtClean="0"/>
              <a:t>06.10.2021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47187-0D2F-4B88-99F1-1A7398B31F18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12" name="Obdélník 11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bdélník 8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64592" y="155448"/>
            <a:ext cx="2525150" cy="978408"/>
          </a:xfrm>
        </p:spPr>
        <p:txBody>
          <a:bodyPr lIns="73152" bIns="0" anchor="b"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2903805" y="1484808"/>
            <a:ext cx="6247397" cy="5373192"/>
          </a:xfrm>
          <a:solidFill>
            <a:schemeClr val="bg2">
              <a:shade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  <a:extLst/>
          </a:lstStyle>
          <a:p>
            <a:r>
              <a:rPr kumimoji="0" lang="cs-CZ"/>
              <a:t>Klepnutím na ikonu přidáte obrázek.</a:t>
            </a:r>
            <a:endParaRPr kumimoji="0" lang="en-US" dirty="0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164592" y="1728216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cs-CZ"/>
              <a:t>Klepnutím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164592" y="1170432"/>
            <a:ext cx="2523744" cy="201168"/>
          </a:xfrm>
        </p:spPr>
        <p:txBody>
          <a:bodyPr/>
          <a:lstStyle/>
          <a:p>
            <a:fld id="{6510FF17-277B-4030-91EC-913B0B58A497}" type="datetime1">
              <a:rPr lang="cs-CZ" smtClean="0"/>
              <a:t>06.10.2021</a:t>
            </a:fld>
            <a:endParaRPr lang="cs-CZ"/>
          </a:p>
        </p:txBody>
      </p:sp>
      <p:sp>
        <p:nvSpPr>
          <p:cNvPr id="11" name="Obdélník 10"/>
          <p:cNvSpPr/>
          <p:nvPr/>
        </p:nvSpPr>
        <p:spPr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bdélník 8"/>
          <p:cNvSpPr/>
          <p:nvPr/>
        </p:nvSpPr>
        <p:spPr bwMode="invGray"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>
          <a:xfrm>
            <a:off x="3035808" y="1170432"/>
            <a:ext cx="5193792" cy="201168"/>
          </a:xfrm>
        </p:spPr>
        <p:txBody>
          <a:bodyPr/>
          <a:lstStyle>
            <a:lvl1pPr>
              <a:defRPr>
                <a:solidFill>
                  <a:schemeClr val="bg1">
                    <a:shade val="50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>
          <a:xfrm>
            <a:off x="8339328" y="1170432"/>
            <a:ext cx="733864" cy="201168"/>
          </a:xfrm>
        </p:spPr>
        <p:txBody>
          <a:bodyPr/>
          <a:lstStyle/>
          <a:p>
            <a:fld id="{21F47187-0D2F-4B88-99F1-1A7398B31F18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cs-CZ"/>
              <a:t>Klepnutím lze upravit styly předlohy textu.</a:t>
            </a:r>
          </a:p>
          <a:p>
            <a:pPr lvl="1" eaLnBrk="1" latinLnBrk="0" hangingPunct="1"/>
            <a:r>
              <a:rPr lang="cs-CZ"/>
              <a:t>Druhá úroveň</a:t>
            </a:r>
          </a:p>
          <a:p>
            <a:pPr lvl="2" eaLnBrk="1" latinLnBrk="0" hangingPunct="1"/>
            <a:r>
              <a:rPr lang="cs-CZ"/>
              <a:t>Třetí úroveň</a:t>
            </a:r>
          </a:p>
          <a:p>
            <a:pPr lvl="3" eaLnBrk="1" latinLnBrk="0" hangingPunct="1"/>
            <a:r>
              <a:rPr lang="cs-CZ"/>
              <a:t>Čtvrtá úroveň</a:t>
            </a:r>
          </a:p>
          <a:p>
            <a:pPr lvl="4" eaLnBrk="1" latinLnBrk="0" hangingPunct="1"/>
            <a:r>
              <a:rPr lang="cs-CZ"/>
              <a:t>Pátá úroveň</a:t>
            </a:r>
            <a:endParaRPr kumimoji="0" lang="en-US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47055-38C2-4DDE-AE5A-AC2736922344}" type="datetime1">
              <a:rPr lang="cs-CZ" smtClean="0"/>
              <a:t>06.10.2021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47187-0D2F-4B88-99F1-1A7398B31F18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délník 8"/>
          <p:cNvSpPr/>
          <p:nvPr/>
        </p:nvSpPr>
        <p:spPr bwMode="invGray">
          <a:xfrm>
            <a:off x="6598920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108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bdélník 7"/>
          <p:cNvSpPr/>
          <p:nvPr/>
        </p:nvSpPr>
        <p:spPr bwMode="ltGray">
          <a:xfrm>
            <a:off x="6647687" y="0"/>
            <a:ext cx="2514601" cy="685800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6781800" y="274640"/>
            <a:ext cx="1905000" cy="5851525"/>
          </a:xfrm>
        </p:spPr>
        <p:txBody>
          <a:bodyPr vert="eaVert"/>
          <a:lstStyle/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457200" y="304800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cs-CZ"/>
              <a:t>Klepnutím lze upravit styly předlohy textu.</a:t>
            </a:r>
          </a:p>
          <a:p>
            <a:pPr lvl="1" eaLnBrk="1" latinLnBrk="0" hangingPunct="1"/>
            <a:r>
              <a:rPr lang="cs-CZ"/>
              <a:t>Druhá úroveň</a:t>
            </a:r>
          </a:p>
          <a:p>
            <a:pPr lvl="2" eaLnBrk="1" latinLnBrk="0" hangingPunct="1"/>
            <a:r>
              <a:rPr lang="cs-CZ"/>
              <a:t>Třetí úroveň</a:t>
            </a:r>
          </a:p>
          <a:p>
            <a:pPr lvl="3" eaLnBrk="1" latinLnBrk="0" hangingPunct="1"/>
            <a:r>
              <a:rPr lang="cs-CZ"/>
              <a:t>Čtvrtá úroveň</a:t>
            </a:r>
          </a:p>
          <a:p>
            <a:pPr lvl="4" eaLnBrk="1" latinLnBrk="0" hangingPunct="1"/>
            <a:r>
              <a:rPr lang="cs-CZ"/>
              <a:t>Pátá úroveň</a:t>
            </a:r>
            <a:endParaRPr kumimoji="0" lang="en-US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27DAB-4026-46B9-885A-A82007244BA1}" type="datetime1">
              <a:rPr lang="cs-CZ" smtClean="0"/>
              <a:t>06.10.2021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>
          <a:xfrm>
            <a:off x="2640597" y="6377459"/>
            <a:ext cx="3836404" cy="365125"/>
          </a:xfrm>
        </p:spPr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47187-0D2F-4B88-99F1-1A7398B31F18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délník 9"/>
          <p:cNvSpPr/>
          <p:nvPr/>
        </p:nvSpPr>
        <p:spPr bwMode="invGray">
          <a:xfrm>
            <a:off x="0" y="1435895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Obdélník 6"/>
          <p:cNvSpPr/>
          <p:nvPr/>
        </p:nvSpPr>
        <p:spPr bwMode="ltGray">
          <a:xfrm>
            <a:off x="0" y="0"/>
            <a:ext cx="9143999" cy="1433733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51062"/>
          </a:xfrm>
          <a:prstGeom prst="rect">
            <a:avLst/>
          </a:prstGeom>
        </p:spPr>
        <p:txBody>
          <a:bodyPr vert="horz" lIns="91440" rIns="45720" rtlCol="0" anchor="ctr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/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775191"/>
            <a:ext cx="8229600" cy="4625609"/>
          </a:xfrm>
          <a:prstGeom prst="rect">
            <a:avLst/>
          </a:prstGeom>
        </p:spPr>
        <p:txBody>
          <a:bodyPr vert="horz" lIns="54864" tIns="91440" rtlCol="0">
            <a:normAutofit/>
          </a:bodyPr>
          <a:lstStyle/>
          <a:p>
            <a:pPr lvl="0" eaLnBrk="1" latinLnBrk="0" hangingPunct="1"/>
            <a:r>
              <a:rPr kumimoji="0" lang="cs-CZ"/>
              <a:t>Klepnutím lze upravit styly předlohy textu.</a:t>
            </a:r>
          </a:p>
          <a:p>
            <a:pPr lvl="1" eaLnBrk="1" latinLnBrk="0" hangingPunct="1"/>
            <a:r>
              <a:rPr kumimoji="0" lang="cs-CZ"/>
              <a:t>Druhá úroveň</a:t>
            </a:r>
          </a:p>
          <a:p>
            <a:pPr lvl="2" eaLnBrk="1" latinLnBrk="0" hangingPunct="1"/>
            <a:r>
              <a:rPr kumimoji="0" lang="cs-CZ"/>
              <a:t>Třetí úroveň</a:t>
            </a:r>
          </a:p>
          <a:p>
            <a:pPr lvl="3" eaLnBrk="1" latinLnBrk="0" hangingPunct="1"/>
            <a:r>
              <a:rPr kumimoji="0" lang="cs-CZ"/>
              <a:t>Čtvrtá úroveň</a:t>
            </a:r>
          </a:p>
          <a:p>
            <a:pPr lvl="4" eaLnBrk="1" latinLnBrk="0" hangingPunct="1"/>
            <a:r>
              <a:rPr kumimoji="0" lang="cs-CZ"/>
              <a:t>Pátá úroveň</a:t>
            </a:r>
            <a:endParaRPr kumimoji="0" lang="en-US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</p:spPr>
        <p:txBody>
          <a:bodyPr vert="horz" lIns="109728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A3129F87-8E9F-47E4-9E86-6ECC43FC6531}" type="datetime1">
              <a:rPr lang="cs-CZ" smtClean="0"/>
              <a:t>06.10.2021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</p:spPr>
        <p:txBody>
          <a:bodyPr vert="horz" lIns="45720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</p:spPr>
        <p:txBody>
          <a:bodyPr vert="horz" bIns="0" rtlCol="0" anchor="b"/>
          <a:lstStyle>
            <a:lvl1pPr algn="r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21F47187-0D2F-4B88-99F1-1A7398B31F18}" type="slidenum">
              <a:rPr lang="cs-CZ" smtClean="0"/>
              <a:pPr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53" r:id="rId1"/>
    <p:sldLayoutId id="2147484154" r:id="rId2"/>
    <p:sldLayoutId id="2147484155" r:id="rId3"/>
    <p:sldLayoutId id="2147484156" r:id="rId4"/>
    <p:sldLayoutId id="2147484157" r:id="rId5"/>
    <p:sldLayoutId id="2147484158" r:id="rId6"/>
    <p:sldLayoutId id="2147484159" r:id="rId7"/>
    <p:sldLayoutId id="2147484160" r:id="rId8"/>
    <p:sldLayoutId id="2147484161" r:id="rId9"/>
    <p:sldLayoutId id="2147484162" r:id="rId10"/>
    <p:sldLayoutId id="2147484163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500" b="1" kern="1200">
          <a:solidFill>
            <a:schemeClr val="accent1">
              <a:satMod val="150000"/>
            </a:schemeClr>
          </a:solidFill>
          <a:effectLst/>
          <a:latin typeface="+mj-lt"/>
          <a:ea typeface="+mj-ea"/>
          <a:cs typeface="+mj-cs"/>
        </a:defRPr>
      </a:lvl1pPr>
      <a:extLst/>
    </p:titleStyle>
    <p:bodyStyle>
      <a:lvl1pPr marL="438912" indent="-320040" algn="l" rtl="0" eaLnBrk="1" latinLnBrk="0" hangingPunct="1">
        <a:spcBef>
          <a:spcPts val="0"/>
        </a:spcBef>
        <a:buClr>
          <a:schemeClr val="accent1"/>
        </a:buClr>
        <a:buSzPct val="80000"/>
        <a:buFont typeface="Wingdings 2"/>
        <a:buChar char="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indent="-27432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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3"/>
        </a:buClr>
        <a:buFont typeface="Arial"/>
        <a:buChar char="▪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16152" indent="-182880" algn="l" rtl="0" eaLnBrk="1" latinLnBrk="0" hangingPunct="1">
        <a:spcBef>
          <a:spcPct val="20000"/>
        </a:spcBef>
        <a:buClr>
          <a:schemeClr val="accent4"/>
        </a:buClr>
        <a:buFont typeface="Arial"/>
        <a:buChar char="▪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26464" indent="-182880" algn="l" rtl="0" eaLnBrk="1" latinLnBrk="0" hangingPunct="1">
        <a:spcBef>
          <a:spcPct val="20000"/>
        </a:spcBef>
        <a:buClr>
          <a:schemeClr val="accent5"/>
        </a:buClr>
        <a:buFont typeface="Wingdings 3"/>
        <a:buChar char=""/>
        <a:defRPr kumimoji="0"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5pPr>
      <a:lvl6pPr marL="1627632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ct val="20000"/>
        </a:spcBef>
        <a:buClr>
          <a:schemeClr val="accent1"/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ct val="20000"/>
        </a:spcBef>
        <a:buClr>
          <a:schemeClr val="accent2"/>
        </a:buClr>
        <a:buFont typeface="Wingdings 2" pitchFamily="18" charset="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231136" indent="-182880" algn="l" rtl="0" eaLnBrk="1" latinLnBrk="0" hangingPunct="1">
        <a:spcBef>
          <a:spcPct val="20000"/>
        </a:spcBef>
        <a:buClr>
          <a:schemeClr val="accent3"/>
        </a:buClr>
        <a:buFont typeface="Wingdings 2" pitchFamily="18" charset="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Operační systémy 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47187-0D2F-4B88-99F1-1A7398B31F18}" type="slidenum">
              <a:rPr lang="cs-CZ" smtClean="0"/>
              <a:pPr/>
              <a:t>1</a:t>
            </a:fld>
            <a:endParaRPr lang="cs-CZ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Software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cs-CZ" dirty="0"/>
              <a:t>Je programové vybavení počítače</a:t>
            </a:r>
          </a:p>
          <a:p>
            <a:pPr>
              <a:defRPr/>
            </a:pPr>
            <a:r>
              <a:rPr lang="cs-CZ" dirty="0"/>
              <a:t>Není fyzicky hmatatelný</a:t>
            </a:r>
          </a:p>
          <a:p>
            <a:pPr>
              <a:defRPr/>
            </a:pPr>
            <a:r>
              <a:rPr lang="cs-CZ" dirty="0"/>
              <a:t>Kategorie softwaru:</a:t>
            </a:r>
          </a:p>
          <a:p>
            <a:pPr lvl="1">
              <a:defRPr/>
            </a:pPr>
            <a:r>
              <a:rPr lang="cs-CZ" dirty="0"/>
              <a:t>operační systémy</a:t>
            </a:r>
          </a:p>
          <a:p>
            <a:pPr lvl="1">
              <a:defRPr/>
            </a:pPr>
            <a:r>
              <a:rPr lang="cs-CZ" dirty="0"/>
              <a:t>nadstavby operačních systémů</a:t>
            </a:r>
          </a:p>
          <a:p>
            <a:pPr lvl="1">
              <a:defRPr/>
            </a:pPr>
            <a:r>
              <a:rPr lang="cs-CZ" dirty="0"/>
              <a:t>typové aplikační programové vybavení  </a:t>
            </a:r>
          </a:p>
          <a:p>
            <a:pPr lvl="1">
              <a:defRPr/>
            </a:pPr>
            <a:r>
              <a:rPr lang="cs-CZ" dirty="0"/>
              <a:t>aplikační programové vybavení</a:t>
            </a:r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47187-0D2F-4B88-99F1-1A7398B31F18}" type="slidenum">
              <a:rPr lang="cs-CZ" smtClean="0"/>
              <a:pPr/>
              <a:t>2</a:t>
            </a:fld>
            <a:endParaRPr lang="cs-CZ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dirty="0"/>
              <a:t>Software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2800" dirty="0">
                <a:latin typeface="Arial" charset="0"/>
                <a:ea typeface="MS Gothic" charset="-128"/>
              </a:rPr>
              <a:t>Freeware</a:t>
            </a:r>
          </a:p>
          <a:p>
            <a:pPr lvl="1"/>
            <a:r>
              <a:rPr lang="cs-CZ" sz="1800" dirty="0">
                <a:solidFill>
                  <a:schemeClr val="tx1"/>
                </a:solidFill>
                <a:latin typeface="Arial" charset="0"/>
                <a:ea typeface="MS Gothic" charset="-128"/>
              </a:rPr>
              <a:t>lze užívat programy bez placení (ne však něco měnit) autor má pořád svá autorská práva</a:t>
            </a:r>
          </a:p>
          <a:p>
            <a:r>
              <a:rPr lang="cs-CZ" sz="2800" dirty="0">
                <a:latin typeface="Arial" charset="0"/>
                <a:ea typeface="MS Gothic" charset="-128"/>
              </a:rPr>
              <a:t>Shareware</a:t>
            </a:r>
          </a:p>
          <a:p>
            <a:pPr lvl="1"/>
            <a:r>
              <a:rPr lang="cs-CZ" sz="1800" dirty="0">
                <a:solidFill>
                  <a:schemeClr val="tx1"/>
                </a:solidFill>
                <a:latin typeface="Arial" charset="0"/>
                <a:ea typeface="MS Gothic" charset="-128"/>
              </a:rPr>
              <a:t>programy lze libovolně kopírovat a šířit </a:t>
            </a:r>
          </a:p>
          <a:p>
            <a:pPr lvl="1"/>
            <a:r>
              <a:rPr lang="cs-CZ" sz="1800" dirty="0">
                <a:solidFill>
                  <a:schemeClr val="tx1"/>
                </a:solidFill>
                <a:latin typeface="Arial" charset="0"/>
                <a:ea typeface="MS Gothic" charset="-128"/>
              </a:rPr>
              <a:t>povinnost zaplatit registrační poplatek a registrovat se</a:t>
            </a:r>
          </a:p>
          <a:p>
            <a:r>
              <a:rPr lang="cs-CZ" sz="2800" dirty="0">
                <a:latin typeface="Arial" charset="0"/>
                <a:ea typeface="MS Gothic" charset="-128"/>
              </a:rPr>
              <a:t>Public </a:t>
            </a:r>
            <a:r>
              <a:rPr lang="cs-CZ" sz="2800" dirty="0" err="1">
                <a:latin typeface="Arial" charset="0"/>
                <a:ea typeface="MS Gothic" charset="-128"/>
              </a:rPr>
              <a:t>domain</a:t>
            </a:r>
            <a:endParaRPr lang="cs-CZ" sz="2800" dirty="0">
              <a:latin typeface="Arial" charset="0"/>
              <a:ea typeface="MS Gothic" charset="-128"/>
            </a:endParaRPr>
          </a:p>
          <a:p>
            <a:pPr lvl="1"/>
            <a:r>
              <a:rPr lang="cs-CZ" sz="1700" dirty="0">
                <a:solidFill>
                  <a:schemeClr val="tx1"/>
                </a:solidFill>
                <a:latin typeface="Arial" charset="0"/>
                <a:ea typeface="MS Gothic" charset="-128"/>
              </a:rPr>
              <a:t>programy se používají bez placení autor se vzdal svých autorských práv (ani nemusí být jako autor uveden)</a:t>
            </a:r>
          </a:p>
          <a:p>
            <a:r>
              <a:rPr lang="cs-CZ" sz="2800" dirty="0">
                <a:latin typeface="Arial" charset="0"/>
                <a:ea typeface="MS Gothic" charset="-128"/>
              </a:rPr>
              <a:t>Open </a:t>
            </a:r>
            <a:r>
              <a:rPr lang="cs-CZ" sz="2800" dirty="0" err="1">
                <a:latin typeface="Arial" charset="0"/>
                <a:ea typeface="MS Gothic" charset="-128"/>
              </a:rPr>
              <a:t>source</a:t>
            </a:r>
            <a:endParaRPr lang="cs-CZ" sz="2800" dirty="0">
              <a:latin typeface="Arial" charset="0"/>
              <a:ea typeface="MS Gothic" charset="-128"/>
            </a:endParaRPr>
          </a:p>
          <a:p>
            <a:pPr lvl="1"/>
            <a:r>
              <a:rPr lang="cs-CZ" sz="1700" dirty="0">
                <a:solidFill>
                  <a:schemeClr val="tx1"/>
                </a:solidFill>
                <a:latin typeface="Arial" charset="0"/>
                <a:ea typeface="MS Gothic" charset="-128"/>
              </a:rPr>
              <a:t>za software se neplatí, k dispozici je i zdrojový kód chráněna licencí </a:t>
            </a:r>
            <a:r>
              <a:rPr lang="en-US" sz="1700" b="1" dirty="0">
                <a:solidFill>
                  <a:schemeClr val="tx1"/>
                </a:solidFill>
                <a:latin typeface="Arial" charset="0"/>
                <a:ea typeface="MS Gothic" charset="-128"/>
              </a:rPr>
              <a:t>GNU</a:t>
            </a:r>
            <a:r>
              <a:rPr lang="en-US" sz="1700" dirty="0">
                <a:solidFill>
                  <a:schemeClr val="tx1"/>
                </a:solidFill>
                <a:latin typeface="Arial" charset="0"/>
                <a:ea typeface="MS Gothic" charset="-128"/>
              </a:rPr>
              <a:t> </a:t>
            </a:r>
            <a:r>
              <a:rPr lang="cs-CZ" sz="1700" b="1" dirty="0">
                <a:solidFill>
                  <a:schemeClr val="tx1"/>
                </a:solidFill>
                <a:latin typeface="Arial" charset="0"/>
                <a:ea typeface="MS Gothic" charset="-128"/>
              </a:rPr>
              <a:t>GPL</a:t>
            </a:r>
            <a:r>
              <a:rPr lang="en-US" sz="1700" dirty="0">
                <a:solidFill>
                  <a:schemeClr val="tx1"/>
                </a:solidFill>
                <a:latin typeface="Arial" charset="0"/>
                <a:ea typeface="MS Gothic" charset="-128"/>
              </a:rPr>
              <a:t>, </a:t>
            </a:r>
            <a:r>
              <a:rPr lang="en-US" sz="1700" dirty="0" err="1">
                <a:solidFill>
                  <a:schemeClr val="tx1"/>
                </a:solidFill>
                <a:latin typeface="Arial" charset="0"/>
                <a:ea typeface="MS Gothic" charset="-128"/>
              </a:rPr>
              <a:t>novela</a:t>
            </a:r>
            <a:r>
              <a:rPr lang="en-US" sz="1700" dirty="0">
                <a:solidFill>
                  <a:schemeClr val="tx1"/>
                </a:solidFill>
                <a:latin typeface="Arial" charset="0"/>
                <a:ea typeface="MS Gothic" charset="-128"/>
              </a:rPr>
              <a:t> LGPL</a:t>
            </a:r>
            <a:r>
              <a:rPr lang="cs-CZ" sz="1700" dirty="0">
                <a:solidFill>
                  <a:schemeClr val="tx1"/>
                </a:solidFill>
                <a:latin typeface="Arial" charset="0"/>
                <a:ea typeface="MS Gothic" charset="-128"/>
              </a:rPr>
              <a:t> </a:t>
            </a:r>
            <a:br>
              <a:rPr lang="cs-CZ" sz="1700" dirty="0">
                <a:solidFill>
                  <a:schemeClr val="tx1"/>
                </a:solidFill>
                <a:latin typeface="Arial" charset="0"/>
                <a:ea typeface="MS Gothic" charset="-128"/>
              </a:rPr>
            </a:br>
            <a:r>
              <a:rPr lang="cs-CZ" sz="1700" dirty="0">
                <a:solidFill>
                  <a:schemeClr val="tx1"/>
                </a:solidFill>
                <a:latin typeface="Arial" charset="0"/>
                <a:ea typeface="MS Gothic" charset="-128"/>
              </a:rPr>
              <a:t>(Linux, GIMP, </a:t>
            </a:r>
            <a:r>
              <a:rPr lang="cs-CZ" sz="1700" dirty="0" err="1">
                <a:solidFill>
                  <a:schemeClr val="tx1"/>
                </a:solidFill>
                <a:latin typeface="Arial" charset="0"/>
                <a:ea typeface="MS Gothic" charset="-128"/>
              </a:rPr>
              <a:t>OpenOffice</a:t>
            </a:r>
            <a:r>
              <a:rPr lang="cs-CZ" sz="1700" dirty="0">
                <a:solidFill>
                  <a:schemeClr val="tx1"/>
                </a:solidFill>
                <a:latin typeface="Arial" charset="0"/>
                <a:ea typeface="MS Gothic" charset="-128"/>
              </a:rPr>
              <a:t>)</a:t>
            </a:r>
          </a:p>
          <a:p>
            <a:endParaRPr lang="cs-CZ" sz="2800" dirty="0">
              <a:latin typeface="Arial" charset="0"/>
              <a:ea typeface="MS Gothic" charset="-128"/>
            </a:endParaRPr>
          </a:p>
          <a:p>
            <a:endParaRPr lang="cs-CZ" sz="2000" dirty="0">
              <a:solidFill>
                <a:schemeClr val="tx1"/>
              </a:solidFill>
              <a:latin typeface="Arial" charset="0"/>
              <a:ea typeface="MS Gothic" charset="-128"/>
            </a:endParaRPr>
          </a:p>
          <a:p>
            <a:endParaRPr lang="cs-CZ" sz="2400" dirty="0">
              <a:latin typeface="Arial" charset="0"/>
              <a:ea typeface="MS Gothic" charset="-128"/>
            </a:endParaRPr>
          </a:p>
          <a:p>
            <a:endParaRPr lang="cs-CZ" sz="2100" dirty="0">
              <a:solidFill>
                <a:schemeClr val="tx1"/>
              </a:solidFill>
              <a:latin typeface="Arial" charset="0"/>
              <a:ea typeface="MS Gothic" charset="-128"/>
            </a:endParaRPr>
          </a:p>
          <a:p>
            <a:pPr lvl="1"/>
            <a:endParaRPr lang="cs-CZ" sz="1800" dirty="0">
              <a:solidFill>
                <a:schemeClr val="tx1"/>
              </a:solidFill>
              <a:latin typeface="Arial" charset="0"/>
              <a:ea typeface="MS Gothic" charset="-128"/>
            </a:endParaRPr>
          </a:p>
          <a:p>
            <a:pPr lvl="1"/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47187-0D2F-4B88-99F1-1A7398B31F18}" type="slidenum">
              <a:rPr lang="cs-CZ" smtClean="0"/>
              <a:pPr/>
              <a:t>3</a:t>
            </a:fld>
            <a:endParaRPr lang="cs-CZ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Software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2800" dirty="0">
                <a:latin typeface="Arial" charset="0"/>
                <a:ea typeface="MS Gothic" charset="-128"/>
              </a:rPr>
              <a:t>Komerční programy</a:t>
            </a:r>
          </a:p>
          <a:p>
            <a:pPr lvl="1"/>
            <a:r>
              <a:rPr lang="cs-CZ" sz="2100" dirty="0">
                <a:solidFill>
                  <a:schemeClr val="tx1"/>
                </a:solidFill>
                <a:latin typeface="Arial" charset="0"/>
                <a:ea typeface="MS Gothic" charset="-128"/>
              </a:rPr>
              <a:t>šíření za úplatu autorská práva</a:t>
            </a:r>
          </a:p>
          <a:p>
            <a:r>
              <a:rPr lang="cs-CZ" sz="2800" dirty="0">
                <a:latin typeface="Arial" charset="0"/>
                <a:ea typeface="MS Gothic" charset="-128"/>
              </a:rPr>
              <a:t>Demo verze (trial verze)</a:t>
            </a:r>
          </a:p>
          <a:p>
            <a:pPr lvl="1"/>
            <a:r>
              <a:rPr lang="cs-CZ" sz="2100" dirty="0">
                <a:solidFill>
                  <a:schemeClr val="tx1"/>
                </a:solidFill>
                <a:latin typeface="Arial" charset="0"/>
                <a:ea typeface="MS Gothic" charset="-128"/>
              </a:rPr>
              <a:t>omezená verze (některé funkce nefunkční) může být i plně funkční, ale pracuje pouze omezenou dobu nebo počtem spuštění</a:t>
            </a:r>
          </a:p>
          <a:p>
            <a:r>
              <a:rPr lang="cs-CZ" sz="2800" dirty="0">
                <a:latin typeface="Arial" charset="0"/>
                <a:ea typeface="MS Gothic" charset="-128"/>
              </a:rPr>
              <a:t>OEM software</a:t>
            </a:r>
          </a:p>
          <a:p>
            <a:pPr lvl="1"/>
            <a:r>
              <a:rPr lang="cs-CZ" sz="2100" dirty="0">
                <a:solidFill>
                  <a:schemeClr val="tx1"/>
                </a:solidFill>
                <a:latin typeface="Arial" charset="0"/>
                <a:ea typeface="MS Gothic" charset="-128"/>
              </a:rPr>
              <a:t>získáte je s koupí hardware, normální verze programu, většinou za sníženou cenu</a:t>
            </a:r>
          </a:p>
          <a:p>
            <a:endParaRPr lang="cs-CZ" sz="2000" dirty="0">
              <a:solidFill>
                <a:schemeClr val="tx1"/>
              </a:solidFill>
              <a:latin typeface="Arial" charset="0"/>
              <a:ea typeface="MS Gothic" charset="-128"/>
            </a:endParaRPr>
          </a:p>
          <a:p>
            <a:endParaRPr lang="cs-CZ" sz="2400" dirty="0">
              <a:latin typeface="Arial" charset="0"/>
              <a:ea typeface="MS Gothic" charset="-128"/>
            </a:endParaRPr>
          </a:p>
          <a:p>
            <a:endParaRPr lang="cs-CZ" sz="2400" dirty="0">
              <a:solidFill>
                <a:schemeClr val="tx1"/>
              </a:solidFill>
              <a:latin typeface="Arial" charset="0"/>
              <a:ea typeface="MS Gothic" charset="-128"/>
            </a:endParaRPr>
          </a:p>
          <a:p>
            <a:pPr lvl="1"/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47187-0D2F-4B88-99F1-1A7398B31F18}" type="slidenum">
              <a:rPr lang="cs-CZ" smtClean="0"/>
              <a:pPr/>
              <a:t>4</a:t>
            </a:fld>
            <a:endParaRPr lang="cs-CZ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Operační systém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cs-CZ" dirty="0"/>
              <a:t>Je základní programové vybavení počítače</a:t>
            </a:r>
          </a:p>
          <a:p>
            <a:pPr>
              <a:lnSpc>
                <a:spcPct val="150000"/>
              </a:lnSpc>
              <a:defRPr/>
            </a:pPr>
            <a:r>
              <a:rPr lang="cs-CZ" dirty="0"/>
              <a:t>Poskytuje </a:t>
            </a:r>
            <a:r>
              <a:rPr lang="cs-CZ" b="1" dirty="0"/>
              <a:t>rozhraní pro komunikaci</a:t>
            </a:r>
            <a:r>
              <a:rPr lang="cs-CZ" dirty="0"/>
              <a:t> uživatele s hardwarem</a:t>
            </a:r>
          </a:p>
          <a:p>
            <a:pPr>
              <a:lnSpc>
                <a:spcPct val="150000"/>
              </a:lnSpc>
              <a:defRPr/>
            </a:pPr>
            <a:r>
              <a:rPr lang="cs-CZ" dirty="0"/>
              <a:t>Je zaveden do paměti počítače při jeho startu a zůstává v ní až do jeho vypnutí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47187-0D2F-4B88-99F1-1A7398B31F18}" type="slidenum">
              <a:rPr lang="cs-CZ" smtClean="0"/>
              <a:pPr/>
              <a:t>5</a:t>
            </a:fld>
            <a:endParaRPr lang="cs-CZ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29E4CD2-1C78-4CC9-B39C-B19DEDEB3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Uživatelské rozhraní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16152808-021E-4D5B-BBA8-A2BE9C01D6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75191"/>
            <a:ext cx="8229600" cy="4750153"/>
          </a:xfrm>
        </p:spPr>
        <p:txBody>
          <a:bodyPr>
            <a:normAutofit fontScale="85000" lnSpcReduction="20000"/>
          </a:bodyPr>
          <a:lstStyle/>
          <a:p>
            <a:r>
              <a:rPr lang="cs-CZ" dirty="0"/>
              <a:t>Způsob, jakým uživatel dává pokyny pro OS a v jaké formě dostává zprávy o výsledku provedené operace, je označován jako </a:t>
            </a:r>
            <a:r>
              <a:rPr lang="cs-CZ" b="1" dirty="0"/>
              <a:t>uživatelské rozhraní </a:t>
            </a:r>
            <a:r>
              <a:rPr lang="cs-CZ" dirty="0"/>
              <a:t>(User Interface)</a:t>
            </a:r>
          </a:p>
          <a:p>
            <a:endParaRPr lang="cs-CZ" dirty="0"/>
          </a:p>
          <a:p>
            <a:r>
              <a:rPr lang="cs-CZ" dirty="0"/>
              <a:t>Existují v podstatě dvě formy uživatelského rozhraní - </a:t>
            </a:r>
            <a:r>
              <a:rPr lang="cs-CZ" b="1" dirty="0"/>
              <a:t>textové uživatelské rozhraní</a:t>
            </a:r>
            <a:r>
              <a:rPr lang="cs-CZ" dirty="0"/>
              <a:t>, např. MS-DOS, uživatel zadává pokyny prostřednictvím tzv. příkazového řádku</a:t>
            </a:r>
          </a:p>
          <a:p>
            <a:r>
              <a:rPr lang="cs-CZ" b="1" dirty="0"/>
              <a:t>grafické uživatelské rozhraní </a:t>
            </a:r>
            <a:r>
              <a:rPr lang="cs-CZ" dirty="0"/>
              <a:t>(</a:t>
            </a:r>
            <a:r>
              <a:rPr lang="cs-CZ" dirty="0" err="1"/>
              <a:t>Graphical</a:t>
            </a:r>
            <a:r>
              <a:rPr lang="cs-CZ" dirty="0"/>
              <a:t> User Interface, GUI) – převážná většina současných operačních systémů, obvykle též možnost zapisovat příkazy v příkazovém řádku</a:t>
            </a:r>
          </a:p>
        </p:txBody>
      </p:sp>
    </p:spTree>
    <p:extLst>
      <p:ext uri="{BB962C8B-B14F-4D97-AF65-F5344CB8AC3E}">
        <p14:creationId xmlns:p14="http://schemas.microsoft.com/office/powerpoint/2010/main" val="23814421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Operační systém</a:t>
            </a:r>
          </a:p>
        </p:txBody>
      </p:sp>
      <p:pic>
        <p:nvPicPr>
          <p:cNvPr id="4" name="Zástupný symbol pro obsah 3"/>
          <p:cNvPicPr>
            <a:picLocks noGrp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13034" y="1628800"/>
            <a:ext cx="6117932" cy="50851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Zástupný symbol pro číslo snímku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47187-0D2F-4B88-99F1-1A7398B31F18}" type="slidenum">
              <a:rPr lang="cs-CZ" smtClean="0"/>
              <a:pPr/>
              <a:t>7</a:t>
            </a:fld>
            <a:endParaRPr lang="cs-CZ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Úkoly operačního systému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cs-CZ" sz="2800" dirty="0"/>
              <a:t>Organizace přístupu ke zdrojům výpočetního systému:</a:t>
            </a:r>
          </a:p>
          <a:p>
            <a:pPr lvl="1">
              <a:lnSpc>
                <a:spcPct val="150000"/>
              </a:lnSpc>
            </a:pPr>
            <a:r>
              <a:rPr lang="cs-CZ" sz="2500" dirty="0"/>
              <a:t>rozdělování času procesoru</a:t>
            </a:r>
          </a:p>
          <a:p>
            <a:pPr lvl="1">
              <a:lnSpc>
                <a:spcPct val="150000"/>
              </a:lnSpc>
            </a:pPr>
            <a:r>
              <a:rPr lang="cs-CZ" sz="2500" dirty="0"/>
              <a:t>přidělování operační paměti</a:t>
            </a:r>
          </a:p>
          <a:p>
            <a:pPr lvl="1">
              <a:lnSpc>
                <a:spcPct val="150000"/>
              </a:lnSpc>
            </a:pPr>
            <a:r>
              <a:rPr lang="cs-CZ" sz="2500" dirty="0"/>
              <a:t>přístup k vnějším pamětem a dalším periferiím</a:t>
            </a:r>
          </a:p>
          <a:p>
            <a:pPr>
              <a:lnSpc>
                <a:spcPct val="150000"/>
              </a:lnSpc>
            </a:pPr>
            <a:r>
              <a:rPr lang="cs-CZ" sz="2800" dirty="0"/>
              <a:t>Organizace přístupu k datům</a:t>
            </a:r>
          </a:p>
          <a:p>
            <a:pPr>
              <a:lnSpc>
                <a:spcPct val="150000"/>
              </a:lnSpc>
            </a:pPr>
            <a:r>
              <a:rPr lang="cs-CZ" sz="2800" dirty="0"/>
              <a:t>Poskytování služeb aplikačním programům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47187-0D2F-4B88-99F1-1A7398B31F18}" type="slidenum">
              <a:rPr lang="cs-CZ" smtClean="0"/>
              <a:pPr/>
              <a:t>8</a:t>
            </a:fld>
            <a:endParaRPr lang="cs-CZ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Úkoly operačního systému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cs-CZ" sz="2800" dirty="0"/>
              <a:t>Komunikace s uživatelem</a:t>
            </a:r>
          </a:p>
          <a:p>
            <a:pPr>
              <a:lnSpc>
                <a:spcPct val="150000"/>
              </a:lnSpc>
            </a:pPr>
            <a:r>
              <a:rPr lang="cs-CZ" sz="2800" dirty="0"/>
              <a:t>Provádění uživatelem zadaných příkazů a spouštění aplikací</a:t>
            </a:r>
          </a:p>
          <a:p>
            <a:pPr>
              <a:lnSpc>
                <a:spcPct val="150000"/>
              </a:lnSpc>
            </a:pPr>
            <a:r>
              <a:rPr lang="pl-PL" sz="2800" dirty="0"/>
              <a:t>Ošetření chybových stavů a informace o nich</a:t>
            </a:r>
            <a:endParaRPr lang="cs-CZ" sz="2800" dirty="0"/>
          </a:p>
          <a:p>
            <a:pPr>
              <a:lnSpc>
                <a:spcPct val="150000"/>
              </a:lnSpc>
              <a:buNone/>
            </a:pPr>
            <a:endParaRPr lang="cs-CZ" dirty="0"/>
          </a:p>
          <a:p>
            <a:pPr>
              <a:lnSpc>
                <a:spcPct val="150000"/>
              </a:lnSpc>
            </a:pPr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47187-0D2F-4B88-99F1-1A7398B31F18}" type="slidenum">
              <a:rPr lang="cs-CZ" smtClean="0"/>
              <a:pPr/>
              <a:t>9</a:t>
            </a:fld>
            <a:endParaRPr lang="cs-CZ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Typy OS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341313" indent="-341313">
              <a:buSzPct val="7500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cs-CZ" b="1" dirty="0"/>
              <a:t>Jednouživatelské (</a:t>
            </a:r>
            <a:r>
              <a:rPr lang="cs-CZ" b="1" dirty="0" err="1"/>
              <a:t>jednoúlohové</a:t>
            </a:r>
            <a:r>
              <a:rPr lang="cs-CZ" b="1" dirty="0"/>
              <a:t>)</a:t>
            </a:r>
          </a:p>
          <a:p>
            <a:pPr marL="615633" lvl="1" indent="-341313">
              <a:buSzPct val="7500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cs-CZ" dirty="0"/>
              <a:t>Neumožňuje běh více procesů (programů) najednou</a:t>
            </a:r>
          </a:p>
          <a:p>
            <a:pPr marL="615633" lvl="1" indent="-341313">
              <a:buSzPct val="7500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cs-CZ" dirty="0"/>
              <a:t>MS DOS</a:t>
            </a:r>
          </a:p>
          <a:p>
            <a:pPr marL="341313" indent="-341313">
              <a:spcBef>
                <a:spcPts val="600"/>
              </a:spcBef>
              <a:buSzPct val="7500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cs-CZ" b="1" dirty="0"/>
              <a:t>Jednouživatelské (</a:t>
            </a:r>
            <a:r>
              <a:rPr lang="cs-CZ" b="1" dirty="0" err="1"/>
              <a:t>víceúlohové</a:t>
            </a:r>
            <a:r>
              <a:rPr lang="cs-CZ" b="1" dirty="0"/>
              <a:t> )</a:t>
            </a:r>
          </a:p>
          <a:p>
            <a:pPr marL="615633" lvl="1" indent="-341313">
              <a:buSzPct val="7500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cs-CZ" dirty="0"/>
              <a:t>Možnost paralelního (současného) běhu několika procesů</a:t>
            </a:r>
          </a:p>
          <a:p>
            <a:pPr marL="615633" lvl="1" indent="-341313">
              <a:buSzPct val="7500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cs-CZ" dirty="0"/>
              <a:t>Windows 9x, </a:t>
            </a:r>
            <a:r>
              <a:rPr lang="cs-CZ" dirty="0" err="1"/>
              <a:t>Me</a:t>
            </a:r>
            <a:r>
              <a:rPr lang="cs-CZ" dirty="0"/>
              <a:t>, Windows XP</a:t>
            </a:r>
          </a:p>
          <a:p>
            <a:pPr marL="341313" indent="-341313">
              <a:spcBef>
                <a:spcPts val="600"/>
              </a:spcBef>
              <a:buSzPct val="7500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cs-CZ" b="1" dirty="0"/>
              <a:t>Víceuživatelské (síťové)</a:t>
            </a:r>
            <a:r>
              <a:rPr lang="cs-CZ" dirty="0"/>
              <a:t> </a:t>
            </a:r>
          </a:p>
          <a:p>
            <a:pPr marL="615633" lvl="1" indent="-341313">
              <a:buSzPct val="7500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cs-CZ" dirty="0"/>
              <a:t>Sdílení prostředků mezi více uživateli přihlášení            do systému</a:t>
            </a:r>
          </a:p>
          <a:p>
            <a:pPr marL="615633" lvl="1" indent="-341313">
              <a:buSzPct val="7500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cs-CZ" dirty="0"/>
              <a:t>Windows NT, Windows 2000, Unix, Linux, Windows XP</a:t>
            </a:r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47187-0D2F-4B88-99F1-1A7398B31F18}" type="slidenum">
              <a:rPr lang="cs-CZ" smtClean="0"/>
              <a:pPr/>
              <a:t>10</a:t>
            </a:fld>
            <a:endParaRPr lang="cs-CZ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Multitasking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1313" indent="-341313">
              <a:lnSpc>
                <a:spcPct val="150000"/>
              </a:lnSpc>
              <a:buClr>
                <a:srgbClr val="FF9900"/>
              </a:buClr>
              <a:buSzPct val="7500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cs-CZ" dirty="0"/>
              <a:t>Je funkce umožňující souběžné zpracování více úloh v jednom okamžiku</a:t>
            </a:r>
          </a:p>
          <a:p>
            <a:pPr marL="341313" indent="-341313">
              <a:lnSpc>
                <a:spcPct val="150000"/>
              </a:lnSpc>
              <a:buClr>
                <a:srgbClr val="FF9900"/>
              </a:buClr>
              <a:buSzPct val="7500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cs-CZ" dirty="0"/>
              <a:t>Mohu současně spustit více programů</a:t>
            </a:r>
          </a:p>
          <a:p>
            <a:pPr marL="341313" indent="-341313">
              <a:lnSpc>
                <a:spcPct val="150000"/>
              </a:lnSpc>
              <a:buClr>
                <a:srgbClr val="FF9900"/>
              </a:buClr>
              <a:buSzPct val="7500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cs-CZ" dirty="0"/>
          </a:p>
          <a:p>
            <a:pPr>
              <a:lnSpc>
                <a:spcPct val="150000"/>
              </a:lnSpc>
            </a:pPr>
            <a:endParaRPr lang="cs-CZ" dirty="0"/>
          </a:p>
        </p:txBody>
      </p:sp>
      <p:pic>
        <p:nvPicPr>
          <p:cNvPr id="4" name="Obrázek 3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24128" y="3933056"/>
            <a:ext cx="2952328" cy="2502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47187-0D2F-4B88-99F1-1A7398B31F18}" type="slidenum">
              <a:rPr lang="cs-CZ" smtClean="0"/>
              <a:pPr/>
              <a:t>11</a:t>
            </a:fld>
            <a:endParaRPr lang="cs-CZ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Multitasking</a:t>
            </a:r>
          </a:p>
        </p:txBody>
      </p:sp>
      <p:sp>
        <p:nvSpPr>
          <p:cNvPr id="3" name="Zástupný symbol pro číslo snímku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47187-0D2F-4B88-99F1-1A7398B31F18}" type="slidenum">
              <a:rPr lang="cs-CZ" smtClean="0"/>
              <a:pPr/>
              <a:t>12</a:t>
            </a:fld>
            <a:endParaRPr lang="cs-CZ"/>
          </a:p>
        </p:txBody>
      </p:sp>
      <p:sp>
        <p:nvSpPr>
          <p:cNvPr id="5" name="Zástupný symbol pro obsah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6" name="Obrázek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091" y="1688698"/>
            <a:ext cx="8633819" cy="485415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Multitasking- dělení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1313" indent="-341313">
              <a:buClr>
                <a:srgbClr val="FF9900"/>
              </a:buClr>
              <a:buSzPct val="7500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cs-CZ" b="1" dirty="0"/>
              <a:t>Kooperativní multitasking</a:t>
            </a:r>
          </a:p>
          <a:p>
            <a:pPr marL="741363" lvl="1" indent="-284163">
              <a:buClr>
                <a:srgbClr val="42B509"/>
              </a:buCl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cs-CZ" dirty="0"/>
              <a:t>řízení si navzájem předávají jednotlivé procesy</a:t>
            </a:r>
          </a:p>
          <a:p>
            <a:pPr marL="741363" lvl="1" indent="-284163">
              <a:buClr>
                <a:srgbClr val="42B509"/>
              </a:buCl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cs-CZ" dirty="0"/>
              <a:t>je velmi zranitelný</a:t>
            </a:r>
          </a:p>
          <a:p>
            <a:pPr marL="341313" indent="-341313">
              <a:buClr>
                <a:srgbClr val="FF9900"/>
              </a:buClr>
              <a:buSzPct val="7500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cs-CZ" b="1" dirty="0"/>
              <a:t>Preemptivní multitasking</a:t>
            </a:r>
          </a:p>
          <a:p>
            <a:pPr marL="741363" lvl="1" indent="-284163">
              <a:buClr>
                <a:srgbClr val="42B509"/>
              </a:buCl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cs-CZ" dirty="0"/>
              <a:t>zdroje přiděluje operační systém</a:t>
            </a:r>
          </a:p>
          <a:p>
            <a:pPr marL="741363" lvl="1" indent="-284163">
              <a:buClr>
                <a:srgbClr val="42B509"/>
              </a:buCl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cs-CZ" dirty="0"/>
              <a:t>havárie jednoho procesu neznamená ukončení práce celého systému</a:t>
            </a:r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47187-0D2F-4B88-99F1-1A7398B31F18}" type="slidenum">
              <a:rPr lang="cs-CZ" smtClean="0"/>
              <a:pPr/>
              <a:t>13</a:t>
            </a:fld>
            <a:endParaRPr lang="cs-CZ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Druhy OS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cs-CZ" dirty="0"/>
              <a:t>MS-DOS</a:t>
            </a:r>
          </a:p>
          <a:p>
            <a:pPr>
              <a:lnSpc>
                <a:spcPct val="150000"/>
              </a:lnSpc>
            </a:pPr>
            <a:r>
              <a:rPr lang="cs-CZ" dirty="0"/>
              <a:t>WINDOWS</a:t>
            </a:r>
          </a:p>
          <a:p>
            <a:pPr>
              <a:lnSpc>
                <a:spcPct val="150000"/>
              </a:lnSpc>
            </a:pPr>
            <a:r>
              <a:rPr lang="cs-CZ" dirty="0"/>
              <a:t>LINUX</a:t>
            </a:r>
          </a:p>
          <a:p>
            <a:pPr>
              <a:lnSpc>
                <a:spcPct val="150000"/>
              </a:lnSpc>
            </a:pPr>
            <a:r>
              <a:rPr lang="cs-CZ" dirty="0"/>
              <a:t>MAC OS</a:t>
            </a:r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47187-0D2F-4B88-99F1-1A7398B31F18}" type="slidenum">
              <a:rPr lang="cs-CZ" smtClean="0"/>
              <a:pPr/>
              <a:t>14</a:t>
            </a:fld>
            <a:endParaRPr lang="cs-CZ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MS-DOS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cs-CZ" sz="2800" dirty="0"/>
              <a:t>Jeden z prvních OS pro osobní počítače</a:t>
            </a:r>
          </a:p>
          <a:p>
            <a:pPr>
              <a:lnSpc>
                <a:spcPct val="150000"/>
              </a:lnSpc>
            </a:pPr>
            <a:r>
              <a:rPr lang="cs-CZ" sz="2800" dirty="0"/>
              <a:t>Od firmy Microsoft</a:t>
            </a:r>
          </a:p>
          <a:p>
            <a:pPr>
              <a:lnSpc>
                <a:spcPct val="150000"/>
              </a:lnSpc>
            </a:pPr>
            <a:r>
              <a:rPr lang="cs-CZ" sz="2800" dirty="0"/>
              <a:t>Základní rozhraní tohoto systému bylo textové,      tj. po spuštění se uživateli zobrazil příkazový řádek </a:t>
            </a:r>
          </a:p>
          <a:p>
            <a:pPr>
              <a:lnSpc>
                <a:spcPct val="150000"/>
              </a:lnSpc>
            </a:pPr>
            <a:r>
              <a:rPr lang="cs-CZ" sz="2800" dirty="0"/>
              <a:t>Jednotlivé úkoly se pak prováděly zapsáním příkazu na tento řádek a jeho následným spuštění</a:t>
            </a:r>
            <a:endParaRPr lang="cs-CZ" dirty="0"/>
          </a:p>
          <a:p>
            <a:pPr>
              <a:lnSpc>
                <a:spcPct val="150000"/>
              </a:lnSpc>
            </a:pPr>
            <a:endParaRPr lang="cs-CZ" dirty="0"/>
          </a:p>
        </p:txBody>
      </p:sp>
      <p:pic>
        <p:nvPicPr>
          <p:cNvPr id="4" name="Obrázek 3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020272" y="332656"/>
            <a:ext cx="1800200" cy="16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47187-0D2F-4B88-99F1-1A7398B31F18}" type="slidenum">
              <a:rPr lang="cs-CZ" smtClean="0"/>
              <a:pPr/>
              <a:t>15</a:t>
            </a:fld>
            <a:endParaRPr lang="cs-CZ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MS-DOS</a:t>
            </a:r>
          </a:p>
        </p:txBody>
      </p:sp>
      <p:pic>
        <p:nvPicPr>
          <p:cNvPr id="4" name="Zástupný symbol pro obsah 3"/>
          <p:cNvPicPr>
            <a:picLocks noGrp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31640" y="1700808"/>
            <a:ext cx="6858000" cy="46805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Zástupný symbol pro číslo snímku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47187-0D2F-4B88-99F1-1A7398B31F18}" type="slidenum">
              <a:rPr lang="cs-CZ" smtClean="0"/>
              <a:pPr/>
              <a:t>16</a:t>
            </a:fld>
            <a:endParaRPr lang="cs-CZ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Windows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Je jeden z nejpoužívanějších OS pro osobní počítače</a:t>
            </a:r>
          </a:p>
          <a:p>
            <a:r>
              <a:rPr lang="cs-CZ" dirty="0"/>
              <a:t>Velmi příjemné uživatelské rozhraní = Používá grafické rozhraní k provádění  základních úkonů (pomocí použití ikon, nepoužíváme příkazový řádek)</a:t>
            </a:r>
          </a:p>
          <a:p>
            <a:r>
              <a:rPr lang="cs-CZ" dirty="0"/>
              <a:t>Vývoj - Windows 95, Windows 98, Windows 2000, Windows XP, Windows Vista, Windows 7</a:t>
            </a:r>
          </a:p>
          <a:p>
            <a:pPr>
              <a:buNone/>
            </a:pPr>
            <a:endParaRPr lang="cs-CZ" dirty="0"/>
          </a:p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endParaRPr lang="cs-CZ" dirty="0"/>
          </a:p>
        </p:txBody>
      </p:sp>
      <p:pic>
        <p:nvPicPr>
          <p:cNvPr id="5" name="Obrázek 4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092280" y="155448"/>
            <a:ext cx="1728192" cy="1619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47187-0D2F-4B88-99F1-1A7398B31F18}" type="slidenum">
              <a:rPr lang="cs-CZ" smtClean="0"/>
              <a:pPr/>
              <a:t>17</a:t>
            </a:fld>
            <a:endParaRPr lang="cs-CZ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Windows- plocha</a:t>
            </a:r>
          </a:p>
        </p:txBody>
      </p:sp>
      <p:pic>
        <p:nvPicPr>
          <p:cNvPr id="4" name="Zástupný symbol pro obsah 3"/>
          <p:cNvPicPr>
            <a:picLocks noGrp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1220" y="1774825"/>
            <a:ext cx="7401560" cy="4625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Zástupný symbol pro číslo snímku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47187-0D2F-4B88-99F1-1A7398B31F18}" type="slidenum">
              <a:rPr lang="cs-CZ" smtClean="0"/>
              <a:pPr/>
              <a:t>18</a:t>
            </a:fld>
            <a:endParaRPr lang="cs-CZ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Linux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457200" y="1773936"/>
            <a:ext cx="7643192" cy="462381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cs-CZ" dirty="0"/>
              <a:t>Také velmi rozšířený OS</a:t>
            </a:r>
          </a:p>
          <a:p>
            <a:pPr>
              <a:lnSpc>
                <a:spcPct val="150000"/>
              </a:lnSpc>
            </a:pPr>
            <a:r>
              <a:rPr lang="cs-CZ" dirty="0"/>
              <a:t>Práce jak v příkazovém řádku tak ovládání            i z grafického uživatelského rozhraní</a:t>
            </a:r>
          </a:p>
          <a:p>
            <a:pPr>
              <a:lnSpc>
                <a:spcPct val="150000"/>
              </a:lnSpc>
            </a:pPr>
            <a:r>
              <a:rPr lang="cs-CZ" dirty="0"/>
              <a:t>K dispozici zdarma</a:t>
            </a:r>
          </a:p>
          <a:p>
            <a:pPr>
              <a:lnSpc>
                <a:spcPct val="150000"/>
              </a:lnSpc>
            </a:pPr>
            <a:r>
              <a:rPr lang="cs-CZ" dirty="0"/>
              <a:t>Vychází z UNIXU</a:t>
            </a:r>
          </a:p>
        </p:txBody>
      </p:sp>
      <p:pic>
        <p:nvPicPr>
          <p:cNvPr id="5" name="Zástupný symbol pro obsah 4"/>
          <p:cNvPicPr>
            <a:picLocks noGrp="1"/>
          </p:cNvPicPr>
          <p:nvPr>
            <p:ph sz="half" idx="2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20072" y="3737312"/>
            <a:ext cx="2800350" cy="2686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47187-0D2F-4B88-99F1-1A7398B31F18}" type="slidenum">
              <a:rPr lang="cs-CZ" smtClean="0"/>
              <a:pPr/>
              <a:t>19</a:t>
            </a:fld>
            <a:endParaRPr lang="cs-CZ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Linux-plocha</a:t>
            </a:r>
          </a:p>
        </p:txBody>
      </p:sp>
      <p:pic>
        <p:nvPicPr>
          <p:cNvPr id="4" name="Zástupný symbol pro obsah 3"/>
          <p:cNvPicPr>
            <a:picLocks noGrp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88016" y="1774825"/>
            <a:ext cx="6167967" cy="4625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Zástupný symbol pro číslo snímku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47187-0D2F-4B88-99F1-1A7398B31F18}" type="slidenum">
              <a:rPr lang="cs-CZ" smtClean="0"/>
              <a:pPr/>
              <a:t>20</a:t>
            </a:fld>
            <a:endParaRPr lang="cs-CZ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MAC OS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57200" y="1700808"/>
            <a:ext cx="8229600" cy="462560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cs-CZ" dirty="0"/>
              <a:t>Je určen pro počítače typu Apple Macintosh</a:t>
            </a:r>
          </a:p>
          <a:p>
            <a:pPr>
              <a:lnSpc>
                <a:spcPct val="150000"/>
              </a:lnSpc>
            </a:pPr>
            <a:r>
              <a:rPr lang="cs-CZ" dirty="0"/>
              <a:t>Grafické uživatelské rozhraní</a:t>
            </a:r>
          </a:p>
          <a:p>
            <a:pPr>
              <a:lnSpc>
                <a:spcPct val="150000"/>
              </a:lnSpc>
            </a:pPr>
            <a:endParaRPr lang="cs-CZ" dirty="0"/>
          </a:p>
        </p:txBody>
      </p:sp>
      <p:pic>
        <p:nvPicPr>
          <p:cNvPr id="4" name="Obrázek 3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71648" y="3573016"/>
            <a:ext cx="3202414" cy="2410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47187-0D2F-4B88-99F1-1A7398B31F18}" type="slidenum">
              <a:rPr lang="cs-CZ" smtClean="0"/>
              <a:pPr/>
              <a:t>21</a:t>
            </a:fld>
            <a:endParaRPr lang="cs-CZ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47187-0D2F-4B88-99F1-1A7398B31F18}" type="slidenum">
              <a:rPr lang="cs-CZ" smtClean="0"/>
              <a:pPr/>
              <a:t>22</a:t>
            </a:fld>
            <a:endParaRPr lang="cs-CZ"/>
          </a:p>
        </p:txBody>
      </p:sp>
      <p:pic>
        <p:nvPicPr>
          <p:cNvPr id="1026" name="Picture 2" descr="http://images.wondershare.com/images/utilities/iphone-data-recovery/top-10-features-you-need-to-know-about-mac-os-x-el-capitan-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421" y="1750641"/>
            <a:ext cx="7419975" cy="4248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Obdélník 4"/>
          <p:cNvSpPr/>
          <p:nvPr/>
        </p:nvSpPr>
        <p:spPr>
          <a:xfrm>
            <a:off x="457200" y="6444882"/>
            <a:ext cx="7139136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800" dirty="0"/>
              <a:t>http://images.wondershare.com/images/utilities/iphone-data-recovery/top-10-features-you-need-to-know-about-mac-os-x-el-capitan-2.png</a:t>
            </a:r>
          </a:p>
        </p:txBody>
      </p:sp>
      <p:sp>
        <p:nvSpPr>
          <p:cNvPr id="7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MAC OS - plocha</a:t>
            </a:r>
          </a:p>
        </p:txBody>
      </p:sp>
    </p:spTree>
    <p:extLst>
      <p:ext uri="{BB962C8B-B14F-4D97-AF65-F5344CB8AC3E}">
        <p14:creationId xmlns:p14="http://schemas.microsoft.com/office/powerpoint/2010/main" val="21230966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Příkazový řádek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57200" y="1775191"/>
            <a:ext cx="8229600" cy="5082809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cs-CZ" dirty="0"/>
              <a:t>Funkce systému Windows, která představuje vstupní bod pro zadávání počítačových příkazů systému MS-DOS</a:t>
            </a:r>
            <a:r>
              <a:rPr lang="cs-CZ" dirty="0">
                <a:solidFill>
                  <a:schemeClr val="bg1"/>
                </a:solidFill>
              </a:rPr>
              <a:t>. </a:t>
            </a:r>
          </a:p>
          <a:p>
            <a:pPr>
              <a:spcAft>
                <a:spcPts val="600"/>
              </a:spcAft>
            </a:pPr>
            <a:r>
              <a:rPr lang="cs-CZ" dirty="0"/>
              <a:t>Zadávání příkazů do příkazového řádku bez použití grafického rozhraní systému Windows</a:t>
            </a:r>
          </a:p>
          <a:p>
            <a:r>
              <a:rPr lang="cs-CZ" dirty="0"/>
              <a:t>Příkazový řádek zpravidla používají pouze pokročilí uživatelé</a:t>
            </a:r>
          </a:p>
          <a:p>
            <a:r>
              <a:rPr lang="cs-CZ" dirty="0" err="1"/>
              <a:t>Win</a:t>
            </a:r>
            <a:r>
              <a:rPr lang="cs-CZ" dirty="0"/>
              <a:t> + R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47187-0D2F-4B88-99F1-1A7398B31F18}" type="slidenum">
              <a:rPr lang="cs-CZ" smtClean="0"/>
              <a:pPr/>
              <a:t>23</a:t>
            </a:fld>
            <a:endParaRPr lang="cs-CZ"/>
          </a:p>
        </p:txBody>
      </p:sp>
      <p:pic>
        <p:nvPicPr>
          <p:cNvPr id="5" name="Obrázek 4"/>
          <p:cNvPicPr>
            <a:picLocks noChangeAspect="1"/>
          </p:cNvPicPr>
          <p:nvPr/>
        </p:nvPicPr>
        <p:blipFill rotWithShape="1">
          <a:blip r:embed="rId2"/>
          <a:srcRect l="744" t="65750" r="68263" b="6082"/>
          <a:stretch/>
        </p:blipFill>
        <p:spPr>
          <a:xfrm>
            <a:off x="4353747" y="4917775"/>
            <a:ext cx="3850649" cy="196760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Příkazový řádek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8891" y="1772816"/>
            <a:ext cx="8746218" cy="4392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Zástupný symbol pro číslo snímku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47187-0D2F-4B88-99F1-1A7398B31F18}" type="slidenum">
              <a:rPr lang="cs-CZ" smtClean="0"/>
              <a:pPr/>
              <a:t>24</a:t>
            </a:fld>
            <a:endParaRPr lang="cs-CZ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Autorská práva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341313" indent="-341313">
              <a:spcAft>
                <a:spcPts val="600"/>
              </a:spcAft>
              <a:buSzPct val="7500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cs-CZ" dirty="0"/>
              <a:t>Chrání každé dílo (umělecké, technické                     i programové)</a:t>
            </a:r>
          </a:p>
          <a:p>
            <a:pPr marL="341313" indent="-341313">
              <a:buSzPct val="7500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cs-CZ" dirty="0"/>
              <a:t>Licenční ujednání</a:t>
            </a:r>
          </a:p>
          <a:p>
            <a:pPr marL="741363" lvl="1" indent="-284163">
              <a:buClr>
                <a:schemeClr val="accent1"/>
              </a:buCl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cs-CZ" dirty="0"/>
              <a:t>Smlouva mezi vlastníkem práv a uživatelem</a:t>
            </a:r>
          </a:p>
          <a:p>
            <a:pPr marL="741363" lvl="1" indent="-284163">
              <a:buClr>
                <a:schemeClr val="accent1"/>
              </a:buCl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cs-CZ" dirty="0"/>
              <a:t>Určuje za jakých podmínek lze SW instalovat a provozovat</a:t>
            </a:r>
          </a:p>
          <a:p>
            <a:pPr marL="341313" indent="-341313">
              <a:buSzPct val="7500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cs-CZ" dirty="0"/>
              <a:t>Porušení ujednání</a:t>
            </a:r>
          </a:p>
          <a:p>
            <a:pPr marL="741363" lvl="1" indent="-284163">
              <a:buClr>
                <a:schemeClr val="accent1"/>
              </a:buCl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cs-CZ" dirty="0"/>
              <a:t>Používání neoprávněného počtu licencí</a:t>
            </a:r>
          </a:p>
          <a:p>
            <a:pPr marL="741363" lvl="1" indent="-284163">
              <a:buClr>
                <a:schemeClr val="accent1"/>
              </a:buCl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cs-CZ" dirty="0"/>
              <a:t>Nelicencovaný SW</a:t>
            </a:r>
          </a:p>
          <a:p>
            <a:pPr marL="741363" lvl="1" indent="-284163">
              <a:buClr>
                <a:schemeClr val="accent1"/>
              </a:buCl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cs-CZ" dirty="0"/>
              <a:t>Kopírování SW pro komerční účely</a:t>
            </a:r>
          </a:p>
          <a:p>
            <a:pPr marL="741363" lvl="1" indent="-284163">
              <a:buClr>
                <a:schemeClr val="accent1"/>
              </a:buCl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cs-CZ" b="1" dirty="0"/>
              <a:t>Trestný čin</a:t>
            </a:r>
          </a:p>
          <a:p>
            <a:endParaRPr lang="cs-CZ" dirty="0"/>
          </a:p>
        </p:txBody>
      </p:sp>
      <p:pic>
        <p:nvPicPr>
          <p:cNvPr id="4" name="Obrázek 3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50234" y="4437112"/>
            <a:ext cx="2393766" cy="17728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47187-0D2F-4B88-99F1-1A7398B31F18}" type="slidenum">
              <a:rPr lang="cs-CZ" smtClean="0"/>
              <a:pPr/>
              <a:t>25</a:t>
            </a:fld>
            <a:endParaRPr lang="cs-CZ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Uspořádání dat na disku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Soubor</a:t>
            </a:r>
          </a:p>
          <a:p>
            <a:pPr lvl="1"/>
            <a:r>
              <a:rPr lang="cs-CZ" dirty="0"/>
              <a:t>Je nejmenší jednotka záznamu informací, se kterou  může uživatel pracovat</a:t>
            </a:r>
          </a:p>
          <a:p>
            <a:pPr lvl="1"/>
            <a:r>
              <a:rPr lang="cs-CZ" dirty="0"/>
              <a:t>Soubor je tedy konkrétní nosič  informací</a:t>
            </a:r>
          </a:p>
          <a:p>
            <a:pPr lvl="1"/>
            <a:r>
              <a:rPr lang="cs-CZ" dirty="0"/>
              <a:t>Souborem může být dopis, tabulka nebo                   i program</a:t>
            </a:r>
          </a:p>
          <a:p>
            <a:pPr lvl="1"/>
            <a:r>
              <a:rPr lang="cs-CZ" dirty="0"/>
              <a:t>Soubor je pojmenován názvem a příponou</a:t>
            </a:r>
          </a:p>
          <a:p>
            <a:pPr lvl="1"/>
            <a:endParaRPr lang="cs-CZ" dirty="0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47187-0D2F-4B88-99F1-1A7398B31F18}" type="slidenum">
              <a:rPr lang="cs-CZ" smtClean="0"/>
              <a:pPr/>
              <a:t>26</a:t>
            </a:fld>
            <a:endParaRPr lang="cs-CZ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Soubor</a:t>
            </a:r>
          </a:p>
        </p:txBody>
      </p:sp>
      <p:sp>
        <p:nvSpPr>
          <p:cNvPr id="5" name="Zástupný symbol pro obsah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Ikona podle typu programu</a:t>
            </a:r>
          </a:p>
        </p:txBody>
      </p:sp>
      <p:pic>
        <p:nvPicPr>
          <p:cNvPr id="6" name="Obrázek 5"/>
          <p:cNvPicPr>
            <a:picLocks noChangeAspect="1"/>
          </p:cNvPicPr>
          <p:nvPr/>
        </p:nvPicPr>
        <p:blipFill rotWithShape="1">
          <a:blip r:embed="rId2"/>
          <a:srcRect l="20115" t="25391" r="25649" b="40156"/>
          <a:stretch/>
        </p:blipFill>
        <p:spPr>
          <a:xfrm>
            <a:off x="202004" y="2996952"/>
            <a:ext cx="8739991" cy="3121425"/>
          </a:xfrm>
          <a:prstGeom prst="rect">
            <a:avLst/>
          </a:prstGeom>
        </p:spPr>
      </p:pic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47187-0D2F-4B88-99F1-1A7398B31F18}" type="slidenum">
              <a:rPr lang="cs-CZ" smtClean="0"/>
              <a:pPr/>
              <a:t>27</a:t>
            </a:fld>
            <a:endParaRPr lang="cs-CZ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Pojmenování souboru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57200" y="1775191"/>
            <a:ext cx="8481060" cy="5082809"/>
          </a:xfrm>
        </p:spPr>
        <p:txBody>
          <a:bodyPr>
            <a:normAutofit/>
          </a:bodyPr>
          <a:lstStyle/>
          <a:p>
            <a:r>
              <a:rPr lang="cs-CZ" sz="2800" b="1" dirty="0"/>
              <a:t>Název </a:t>
            </a:r>
            <a:r>
              <a:rPr lang="cs-CZ" sz="2800" b="1" dirty="0" err="1"/>
              <a:t>souboru.přípona</a:t>
            </a:r>
            <a:r>
              <a:rPr lang="cs-CZ" sz="2800" b="1" dirty="0"/>
              <a:t> souboru</a:t>
            </a:r>
          </a:p>
          <a:p>
            <a:pPr lvl="1"/>
            <a:r>
              <a:rPr lang="cs-CZ" dirty="0"/>
              <a:t>Dopis.docx</a:t>
            </a:r>
          </a:p>
          <a:p>
            <a:pPr lvl="1"/>
            <a:r>
              <a:rPr lang="cs-CZ" dirty="0"/>
              <a:t>Obrazek.jpg</a:t>
            </a:r>
          </a:p>
          <a:p>
            <a:pPr>
              <a:lnSpc>
                <a:spcPct val="200000"/>
              </a:lnSpc>
            </a:pPr>
            <a:r>
              <a:rPr lang="cs-CZ" sz="2800" dirty="0"/>
              <a:t>Název souboru až 255 znaků</a:t>
            </a:r>
          </a:p>
          <a:p>
            <a:pPr>
              <a:lnSpc>
                <a:spcPct val="200000"/>
              </a:lnSpc>
            </a:pPr>
            <a:r>
              <a:rPr lang="cs-CZ" sz="2800" dirty="0"/>
              <a:t>Nepovolené znaky: </a:t>
            </a:r>
            <a:r>
              <a:rPr lang="cs-CZ" b="1" dirty="0"/>
              <a:t>$ % ' ` - ^ ! &amp; [ </a:t>
            </a:r>
            <a:r>
              <a:rPr lang="cs-CZ" b="1"/>
              <a:t>] #/ </a:t>
            </a:r>
            <a:r>
              <a:rPr lang="cs-CZ" b="1" dirty="0"/>
              <a:t>\ * " &lt; &gt; |</a:t>
            </a:r>
          </a:p>
          <a:p>
            <a:pPr>
              <a:lnSpc>
                <a:spcPct val="200000"/>
              </a:lnSpc>
            </a:pPr>
            <a:endParaRPr lang="cs-CZ" sz="2800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47187-0D2F-4B88-99F1-1A7398B31F18}" type="slidenum">
              <a:rPr lang="cs-CZ" smtClean="0"/>
              <a:pPr/>
              <a:t>28</a:t>
            </a:fld>
            <a:endParaRPr lang="cs-CZ"/>
          </a:p>
        </p:txBody>
      </p:sp>
      <p:graphicFrame>
        <p:nvGraphicFramePr>
          <p:cNvPr id="5" name="Tabulk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1248150"/>
              </p:ext>
            </p:extLst>
          </p:nvPr>
        </p:nvGraphicFramePr>
        <p:xfrm>
          <a:off x="539496" y="5788039"/>
          <a:ext cx="8065008" cy="64389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376320">
                  <a:extLst>
                    <a:ext uri="{9D8B030D-6E8A-4147-A177-3AD203B41FA5}">
                      <a16:colId xmlns:a16="http://schemas.microsoft.com/office/drawing/2014/main" val="1990015072"/>
                    </a:ext>
                  </a:extLst>
                </a:gridCol>
                <a:gridCol w="5688688">
                  <a:extLst>
                    <a:ext uri="{9D8B030D-6E8A-4147-A177-3AD203B41FA5}">
                      <a16:colId xmlns:a16="http://schemas.microsoft.com/office/drawing/2014/main" val="16253931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cs-CZ" dirty="0">
                          <a:effectLst/>
                        </a:rPr>
                        <a:t>Pro Macintosh platí:</a:t>
                      </a:r>
                      <a:endParaRPr lang="cs-CZ" b="1" dirty="0">
                        <a:effectLst/>
                      </a:endParaRP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dirty="0">
                          <a:effectLst/>
                        </a:rPr>
                        <a:t> Maximálně 31 znaků, použitelné jsou všechny znaky kromě dvojtečky :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30199353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Pojmenování souboru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Název souboru</a:t>
            </a:r>
          </a:p>
          <a:p>
            <a:pPr lvl="1"/>
            <a:r>
              <a:rPr lang="cs-CZ" dirty="0"/>
              <a:t>Může obsahovat mezery, písmena s diakritikou.</a:t>
            </a:r>
          </a:p>
          <a:p>
            <a:pPr lvl="1"/>
            <a:r>
              <a:rPr lang="cs-CZ" dirty="0"/>
              <a:t>Nesmí obsahovat / &gt;&lt;*?!\</a:t>
            </a:r>
          </a:p>
          <a:p>
            <a:pPr>
              <a:spcBef>
                <a:spcPts val="1200"/>
              </a:spcBef>
            </a:pPr>
            <a:r>
              <a:rPr lang="cs-CZ" dirty="0"/>
              <a:t>Přípona</a:t>
            </a:r>
          </a:p>
          <a:p>
            <a:pPr lvl="1"/>
            <a:r>
              <a:rPr lang="cs-CZ" dirty="0"/>
              <a:t>Charakterizuje typ souboru tj. zda je soubor např. textový</a:t>
            </a:r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47187-0D2F-4B88-99F1-1A7398B31F18}" type="slidenum">
              <a:rPr lang="cs-CZ" smtClean="0"/>
              <a:pPr/>
              <a:t>29</a:t>
            </a:fld>
            <a:endParaRPr lang="cs-CZ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Typy souborů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cs-CZ" dirty="0"/>
              <a:t>Existují celé řady typů souborů</a:t>
            </a:r>
          </a:p>
          <a:p>
            <a:pPr lvl="1"/>
            <a:r>
              <a:rPr lang="cs-CZ" dirty="0" err="1"/>
              <a:t>exe</a:t>
            </a:r>
            <a:r>
              <a:rPr lang="cs-CZ" dirty="0"/>
              <a:t>:	spustitelné soubory</a:t>
            </a:r>
          </a:p>
          <a:p>
            <a:pPr lvl="1"/>
            <a:r>
              <a:rPr lang="cs-CZ" dirty="0"/>
              <a:t>txt: 	textový soubor</a:t>
            </a:r>
          </a:p>
          <a:p>
            <a:pPr lvl="1"/>
            <a:r>
              <a:rPr lang="cs-CZ" dirty="0" err="1"/>
              <a:t>avi</a:t>
            </a:r>
            <a:r>
              <a:rPr lang="cs-CZ" dirty="0"/>
              <a:t>: 	videosekvence</a:t>
            </a:r>
          </a:p>
          <a:p>
            <a:pPr lvl="1"/>
            <a:r>
              <a:rPr lang="cs-CZ" dirty="0" err="1"/>
              <a:t>jpg</a:t>
            </a:r>
            <a:r>
              <a:rPr lang="cs-CZ" dirty="0"/>
              <a:t>.,</a:t>
            </a:r>
            <a:r>
              <a:rPr lang="cs-CZ" dirty="0" err="1"/>
              <a:t>gif</a:t>
            </a:r>
            <a:r>
              <a:rPr lang="cs-CZ" dirty="0"/>
              <a:t>.,</a:t>
            </a:r>
            <a:r>
              <a:rPr lang="cs-CZ" dirty="0" err="1"/>
              <a:t>bmp</a:t>
            </a:r>
            <a:r>
              <a:rPr lang="cs-CZ" dirty="0"/>
              <a:t>: obrázky</a:t>
            </a:r>
          </a:p>
          <a:p>
            <a:pPr lvl="1"/>
            <a:r>
              <a:rPr lang="cs-CZ" dirty="0"/>
              <a:t>doc: 	dokument MS Wordu</a:t>
            </a:r>
          </a:p>
          <a:p>
            <a:pPr lvl="1"/>
            <a:r>
              <a:rPr lang="cs-CZ" dirty="0" err="1"/>
              <a:t>xls</a:t>
            </a:r>
            <a:r>
              <a:rPr lang="cs-CZ" dirty="0"/>
              <a:t>: 	tabulka MS Excel</a:t>
            </a:r>
          </a:p>
          <a:p>
            <a:pPr lvl="1"/>
            <a:r>
              <a:rPr lang="cs-CZ" dirty="0" err="1"/>
              <a:t>html</a:t>
            </a:r>
            <a:r>
              <a:rPr lang="cs-CZ" dirty="0"/>
              <a:t>: 	soubor internetových stránek</a:t>
            </a:r>
          </a:p>
          <a:p>
            <a:pPr lvl="1"/>
            <a:r>
              <a:rPr lang="cs-CZ" dirty="0"/>
              <a:t>mp3, </a:t>
            </a:r>
            <a:r>
              <a:rPr lang="cs-CZ" dirty="0" err="1"/>
              <a:t>wav</a:t>
            </a:r>
            <a:r>
              <a:rPr lang="cs-CZ" dirty="0"/>
              <a:t>: 	hudební soubory</a:t>
            </a:r>
          </a:p>
          <a:p>
            <a:pPr lvl="1"/>
            <a:r>
              <a:rPr lang="cs-CZ" dirty="0" err="1"/>
              <a:t>dbf</a:t>
            </a:r>
            <a:r>
              <a:rPr lang="cs-CZ" dirty="0"/>
              <a:t>, </a:t>
            </a:r>
            <a:r>
              <a:rPr lang="cs-CZ" dirty="0" err="1"/>
              <a:t>accdb</a:t>
            </a:r>
            <a:r>
              <a:rPr lang="cs-CZ" dirty="0"/>
              <a:t>: 	databázový soubor</a:t>
            </a:r>
          </a:p>
          <a:p>
            <a:pPr lvl="1"/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47187-0D2F-4B88-99F1-1A7398B31F18}" type="slidenum">
              <a:rPr lang="cs-CZ" smtClean="0"/>
              <a:pPr/>
              <a:t>30</a:t>
            </a:fld>
            <a:endParaRPr lang="cs-CZ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Adresář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cs-CZ" dirty="0"/>
              <a:t>Slouží k seskupení souborů, které patří tematicky k sobě a odděluje je od ostatních</a:t>
            </a:r>
          </a:p>
          <a:p>
            <a:pPr>
              <a:spcAft>
                <a:spcPts val="600"/>
              </a:spcAft>
            </a:pPr>
            <a:r>
              <a:rPr lang="cs-CZ" dirty="0"/>
              <a:t>Každý adresář může obsahová libovolné množství  podadresářů</a:t>
            </a:r>
          </a:p>
          <a:p>
            <a:r>
              <a:rPr lang="cs-CZ" dirty="0"/>
              <a:t>V uspořádání adresářů existuje hierarchie (nadřízený a podřízený)</a:t>
            </a:r>
          </a:p>
          <a:p>
            <a:endParaRPr lang="cs-CZ" dirty="0"/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47187-0D2F-4B88-99F1-1A7398B31F18}" type="slidenum">
              <a:rPr lang="cs-CZ" smtClean="0"/>
              <a:pPr/>
              <a:t>31</a:t>
            </a:fld>
            <a:endParaRPr lang="cs-CZ"/>
          </a:p>
        </p:txBody>
      </p:sp>
      <p:pic>
        <p:nvPicPr>
          <p:cNvPr id="5" name="Obrázek 4"/>
          <p:cNvPicPr>
            <a:picLocks noChangeAspect="1"/>
          </p:cNvPicPr>
          <p:nvPr/>
        </p:nvPicPr>
        <p:blipFill rotWithShape="1">
          <a:blip r:embed="rId2"/>
          <a:srcRect l="32267" t="29531" r="16984" b="50781"/>
          <a:stretch/>
        </p:blipFill>
        <p:spPr>
          <a:xfrm>
            <a:off x="1270494" y="5036839"/>
            <a:ext cx="6603012" cy="144016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Adresářová struktura</a:t>
            </a:r>
          </a:p>
        </p:txBody>
      </p:sp>
      <p:sp>
        <p:nvSpPr>
          <p:cNvPr id="3" name="Zástupný symbol pro číslo snímku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47187-0D2F-4B88-99F1-1A7398B31F18}" type="slidenum">
              <a:rPr lang="cs-CZ" smtClean="0"/>
              <a:pPr/>
              <a:t>32</a:t>
            </a:fld>
            <a:endParaRPr lang="cs-CZ"/>
          </a:p>
        </p:txBody>
      </p:sp>
      <p:sp>
        <p:nvSpPr>
          <p:cNvPr id="5" name="Zástupný symbol pro obsah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Strom, Stromová struktura - velmi častá adresářová struktura, umožňuje organizovat  své soubory</a:t>
            </a:r>
          </a:p>
          <a:p>
            <a:r>
              <a:rPr lang="cs-CZ" dirty="0"/>
              <a:t>Strom má kořenový adresář =&gt; Ke každému souboru vede jednoznačná cesta od kořenového adresáře pres všechny podadresáře až k cílovému souboru</a:t>
            </a:r>
          </a:p>
          <a:p>
            <a:endParaRPr lang="cs-CZ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Cesta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57200" y="1851390"/>
            <a:ext cx="8229600" cy="4625609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cs-CZ" dirty="0"/>
              <a:t>Každý objekt má svou cestu (</a:t>
            </a:r>
            <a:r>
              <a:rPr lang="cs-CZ" dirty="0" err="1"/>
              <a:t>path</a:t>
            </a:r>
            <a:r>
              <a:rPr lang="cs-CZ" dirty="0"/>
              <a:t>)</a:t>
            </a:r>
          </a:p>
          <a:p>
            <a:pPr>
              <a:spcAft>
                <a:spcPts val="600"/>
              </a:spcAft>
            </a:pPr>
            <a:r>
              <a:rPr lang="cs-CZ" dirty="0"/>
              <a:t>Cesta začíná  písmenem disku a dále je složena z názvu všech nadřízených adresářů tak jak jdou postupně za sebou od nejvyšší úrovně</a:t>
            </a:r>
          </a:p>
          <a:p>
            <a:pPr>
              <a:spcAft>
                <a:spcPts val="600"/>
              </a:spcAft>
            </a:pPr>
            <a:r>
              <a:rPr lang="cs-CZ" dirty="0"/>
              <a:t>Jednotlivé úrovně jsou od sebe odděleny obráceným lomítkem</a:t>
            </a:r>
          </a:p>
          <a:p>
            <a:pPr>
              <a:buNone/>
            </a:pPr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47187-0D2F-4B88-99F1-1A7398B31F18}" type="slidenum">
              <a:rPr lang="cs-CZ" smtClean="0"/>
              <a:pPr/>
              <a:t>33</a:t>
            </a:fld>
            <a:endParaRPr lang="cs-CZ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Adresářová struktura</a:t>
            </a:r>
          </a:p>
        </p:txBody>
      </p:sp>
      <p:pic>
        <p:nvPicPr>
          <p:cNvPr id="4" name="Zástupný symbol pro obsah 3"/>
          <p:cNvPicPr>
            <a:picLocks noGrp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63688" y="1700808"/>
            <a:ext cx="6119763" cy="49982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Zástupný symbol pro číslo snímku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47187-0D2F-4B88-99F1-1A7398B31F18}" type="slidenum">
              <a:rPr lang="cs-CZ" smtClean="0"/>
              <a:pPr/>
              <a:t>34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127410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47187-0D2F-4B88-99F1-1A7398B31F18}" type="slidenum">
              <a:rPr lang="cs-CZ" smtClean="0"/>
              <a:pPr/>
              <a:t>35</a:t>
            </a:fld>
            <a:endParaRPr lang="cs-CZ"/>
          </a:p>
        </p:txBody>
      </p:sp>
      <p:pic>
        <p:nvPicPr>
          <p:cNvPr id="5" name="Obrázek 4"/>
          <p:cNvPicPr>
            <a:picLocks noChangeAspect="1"/>
          </p:cNvPicPr>
          <p:nvPr/>
        </p:nvPicPr>
        <p:blipFill rotWithShape="1">
          <a:blip r:embed="rId2"/>
          <a:srcRect l="10706" t="16532" r="21731" b="9641"/>
          <a:stretch/>
        </p:blipFill>
        <p:spPr>
          <a:xfrm>
            <a:off x="457200" y="1543751"/>
            <a:ext cx="8282675" cy="5088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33698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FCFAA3B-07AD-4CF7-8227-2045D15EA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Pojmy spojené s OS 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C00937DD-B3E0-4F75-A8CE-759FA35D5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775191"/>
            <a:ext cx="8568952" cy="4894169"/>
          </a:xfrm>
        </p:spPr>
        <p:txBody>
          <a:bodyPr>
            <a:normAutofit fontScale="92500" lnSpcReduction="20000"/>
          </a:bodyPr>
          <a:lstStyle/>
          <a:p>
            <a:r>
              <a:rPr lang="cs-CZ" b="1" dirty="0"/>
              <a:t>Driver</a:t>
            </a:r>
          </a:p>
          <a:p>
            <a:pPr marL="354013" lvl="1" indent="0">
              <a:spcAft>
                <a:spcPts val="600"/>
              </a:spcAft>
              <a:buNone/>
            </a:pPr>
            <a:r>
              <a:rPr lang="cs-CZ" dirty="0"/>
              <a:t>Software, pomocí kterého dokáže operační systém zacházet s daným hardwarem - komunikovat s ním, obsluhovat ho</a:t>
            </a:r>
          </a:p>
          <a:p>
            <a:r>
              <a:rPr lang="cs-CZ" b="1" dirty="0"/>
              <a:t>Bootování</a:t>
            </a:r>
          </a:p>
          <a:p>
            <a:pPr marL="342900" lvl="1" indent="0">
              <a:buNone/>
            </a:pPr>
            <a:r>
              <a:rPr lang="cs-CZ" dirty="0"/>
              <a:t>Zavádění operačního systému do operační paměti RAM po zapnutí počítače</a:t>
            </a:r>
          </a:p>
          <a:p>
            <a:pPr marL="354013" lvl="1" indent="-11113">
              <a:buNone/>
            </a:pPr>
            <a:r>
              <a:rPr lang="cs-CZ" dirty="0"/>
              <a:t>	Jde o sekvenci úkonů, které se provedou, aby došlo ke správnému spuštění počítač. Mezi ně patří také kontrola funkčnosti součástek počítače, aktivace připojených zařízení a poté dochází k nahrávání části operačního systému do paměti RAM. Pak se kontrola nad počítačem předá tomuto spuštěnému operačnímu systému</a:t>
            </a:r>
          </a:p>
          <a:p>
            <a:pPr lvl="1"/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8494695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FB79357-3973-4214-96BC-34FD4CACD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Pojmy spojené s OS 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B2F92DF9-5F1A-4972-B00F-653C6D8BE1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75191"/>
            <a:ext cx="8229600" cy="4894169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cs-CZ" b="1" dirty="0"/>
              <a:t>Proces</a:t>
            </a:r>
          </a:p>
          <a:p>
            <a:pPr lvl="1" algn="just"/>
            <a:r>
              <a:rPr lang="cs-CZ" dirty="0"/>
              <a:t>Spuštěný a zpracovávaný počítačový program</a:t>
            </a:r>
          </a:p>
          <a:p>
            <a:pPr lvl="1" algn="just"/>
            <a:r>
              <a:rPr lang="cs-CZ" dirty="0"/>
              <a:t>Je umístěn v operační paměti počítače v podobě strojových instrukcí, které vykonává procesor v určitém sledu</a:t>
            </a:r>
          </a:p>
          <a:p>
            <a:pPr lvl="1" algn="just"/>
            <a:r>
              <a:rPr lang="cs-CZ" dirty="0"/>
              <a:t>Obsahuje nejen kód vykonávaného programu, ale                   i dynamicky měnící se data, které se zpracovávají</a:t>
            </a:r>
          </a:p>
          <a:p>
            <a:pPr lvl="1" algn="just"/>
            <a:r>
              <a:rPr lang="cs-CZ" dirty="0"/>
              <a:t>Jeden program může v počítači běžet jako více procesů       s různými daty (např. Vícekrát spuštěný webový prohlížeč zobrazující různé stránky)</a:t>
            </a:r>
          </a:p>
          <a:p>
            <a:pPr lvl="1" algn="just"/>
            <a:r>
              <a:rPr lang="cs-CZ" dirty="0"/>
              <a:t>Správu procesů vykonává operační systém, který zajišťuje jejich oddělený běh, přiděluje jim systémové prostředky počítače a umožňuje uživateli procesy spravovat (spouštět, ukončovat atp.)</a:t>
            </a:r>
          </a:p>
          <a:p>
            <a:pPr lvl="1" algn="just"/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10722007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41C58F7-1408-4A95-B3E9-7CFDCEF2F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Zdroje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934DD4B-4F67-4AFA-B46D-727C92B919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sz="2400" dirty="0"/>
              <a:t>Navrátil, P., </a:t>
            </a:r>
            <a:r>
              <a:rPr lang="cs-CZ" sz="2400" i="1" dirty="0"/>
              <a:t>S počítačem nejen k maturitě - 1.díl </a:t>
            </a:r>
            <a:r>
              <a:rPr lang="cs-CZ" sz="2400" dirty="0"/>
              <a:t>– 5. vydání </a:t>
            </a:r>
            <a:r>
              <a:rPr lang="cs-CZ" sz="2400" dirty="0" err="1"/>
              <a:t>Computer</a:t>
            </a:r>
            <a:r>
              <a:rPr lang="cs-CZ" sz="2400" dirty="0"/>
              <a:t> Media s.r.o., Kralice na Hané,  2004 ,  ISBN 80-86686-19-1</a:t>
            </a:r>
          </a:p>
          <a:p>
            <a:endParaRPr lang="cs-CZ" sz="2400" dirty="0"/>
          </a:p>
          <a:p>
            <a:r>
              <a:rPr lang="cs-CZ" sz="2400" dirty="0"/>
              <a:t>Krajíček, O., Peša, R., </a:t>
            </a:r>
            <a:r>
              <a:rPr lang="cs-CZ" sz="2400" i="1" dirty="0"/>
              <a:t>Microsoft Windows </a:t>
            </a:r>
            <a:r>
              <a:rPr lang="cs-CZ" sz="2400" i="1" dirty="0" err="1"/>
              <a:t>Roadmap</a:t>
            </a:r>
            <a:r>
              <a:rPr lang="cs-CZ" sz="2400" i="1" dirty="0"/>
              <a:t> </a:t>
            </a:r>
            <a:r>
              <a:rPr lang="cs-CZ" sz="2400" dirty="0"/>
              <a:t>[online] , Zpravodaj ÚVT MU 2006, [cit. 24.09,2020], Dostupné z: http://webserver.ics.muni.cz/zpravodaj/articles/223.html</a:t>
            </a:r>
          </a:p>
          <a:p>
            <a:endParaRPr lang="cs-CZ" sz="2400" dirty="0"/>
          </a:p>
          <a:p>
            <a:r>
              <a:rPr lang="cs-CZ" sz="2400" i="1" dirty="0"/>
              <a:t>Operační systémy </a:t>
            </a:r>
            <a:r>
              <a:rPr lang="cs-CZ" sz="2400" dirty="0"/>
              <a:t>[online] </a:t>
            </a:r>
            <a:r>
              <a:rPr lang="cs-CZ" sz="2400" i="1" dirty="0"/>
              <a:t>, </a:t>
            </a:r>
            <a:r>
              <a:rPr lang="cs-CZ" sz="2400" dirty="0"/>
              <a:t>Gymnázium Cheb, [cit. 24.09,2020], Dostupné z: http://absolventi.gymcheb.cz/2007/toptace/vos/_private/Zaver.htm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B4532849-5699-4DA0-9F31-334827EA9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47187-0D2F-4B88-99F1-1A7398B31F18}" type="slidenum">
              <a:rPr lang="cs-CZ" smtClean="0"/>
              <a:pPr/>
              <a:t>38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5411879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odul">
  <a:themeElements>
    <a:clrScheme name="Modul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Modul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Modul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7500"/>
                <a:satMod val="137000"/>
              </a:schemeClr>
            </a:gs>
            <a:gs pos="55000">
              <a:schemeClr val="phClr">
                <a:shade val="69000"/>
                <a:satMod val="137000"/>
              </a:schemeClr>
            </a:gs>
            <a:gs pos="100000">
              <a:schemeClr val="phClr">
                <a:shade val="98000"/>
                <a:satMod val="137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300000"/>
              </a:schemeClr>
            </a:gs>
            <a:gs pos="12000">
              <a:schemeClr val="phClr">
                <a:tint val="48000"/>
                <a:satMod val="300000"/>
              </a:schemeClr>
            </a:gs>
            <a:gs pos="20000">
              <a:schemeClr val="phClr">
                <a:tint val="49000"/>
                <a:satMod val="30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10000" t="-25000" r="10000" b="125000"/>
          </a:path>
        </a:gradFill>
        <a:blipFill>
          <a:blip xmlns:r="http://schemas.openxmlformats.org/officeDocument/2006/relationships" r:embed="rId1">
            <a:duotone>
              <a:schemeClr val="phClr">
                <a:shade val="75000"/>
                <a:satMod val="105000"/>
              </a:schemeClr>
              <a:schemeClr val="phClr">
                <a:tint val="95000"/>
                <a:satMod val="105000"/>
              </a:schemeClr>
            </a:duotone>
          </a:blip>
          <a:tile tx="0" ty="0" sx="38000" sy="38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tiv Office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celář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otiv Office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celář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Module</Template>
  <TotalTime>1855</TotalTime>
  <Words>1288</Words>
  <Application>Microsoft Office PowerPoint</Application>
  <PresentationFormat>Předvádění na obrazovce (4:3)</PresentationFormat>
  <Paragraphs>219</Paragraphs>
  <Slides>38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6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38</vt:i4>
      </vt:variant>
    </vt:vector>
  </HeadingPairs>
  <TitlesOfParts>
    <vt:vector size="45" baseType="lpstr">
      <vt:lpstr>Arial</vt:lpstr>
      <vt:lpstr>Calibri</vt:lpstr>
      <vt:lpstr>Corbel</vt:lpstr>
      <vt:lpstr>Wingdings</vt:lpstr>
      <vt:lpstr>Wingdings 2</vt:lpstr>
      <vt:lpstr>Wingdings 3</vt:lpstr>
      <vt:lpstr>Modul</vt:lpstr>
      <vt:lpstr>Operační systémy </vt:lpstr>
      <vt:lpstr>Software</vt:lpstr>
      <vt:lpstr>Software</vt:lpstr>
      <vt:lpstr>Software</vt:lpstr>
      <vt:lpstr>Operační systém</vt:lpstr>
      <vt:lpstr>Uživatelské rozhraní</vt:lpstr>
      <vt:lpstr>Operační systém</vt:lpstr>
      <vt:lpstr>Úkoly operačního systému</vt:lpstr>
      <vt:lpstr>Úkoly operačního systému</vt:lpstr>
      <vt:lpstr>Typy OS</vt:lpstr>
      <vt:lpstr>Multitasking</vt:lpstr>
      <vt:lpstr>Multitasking</vt:lpstr>
      <vt:lpstr>Multitasking- dělení</vt:lpstr>
      <vt:lpstr>Druhy OS</vt:lpstr>
      <vt:lpstr>MS-DOS</vt:lpstr>
      <vt:lpstr>MS-DOS</vt:lpstr>
      <vt:lpstr>Windows</vt:lpstr>
      <vt:lpstr>Windows- plocha</vt:lpstr>
      <vt:lpstr>Linux</vt:lpstr>
      <vt:lpstr>Linux-plocha</vt:lpstr>
      <vt:lpstr>MAC OS</vt:lpstr>
      <vt:lpstr>MAC OS - plocha</vt:lpstr>
      <vt:lpstr>Příkazový řádek</vt:lpstr>
      <vt:lpstr>Příkazový řádek</vt:lpstr>
      <vt:lpstr>Autorská práva</vt:lpstr>
      <vt:lpstr>Uspořádání dat na disku</vt:lpstr>
      <vt:lpstr>Soubor</vt:lpstr>
      <vt:lpstr>Pojmenování souboru</vt:lpstr>
      <vt:lpstr>Pojmenování souboru</vt:lpstr>
      <vt:lpstr>Typy souborů</vt:lpstr>
      <vt:lpstr>Adresář</vt:lpstr>
      <vt:lpstr>Adresářová struktura</vt:lpstr>
      <vt:lpstr>Cesta</vt:lpstr>
      <vt:lpstr>Adresářová struktura</vt:lpstr>
      <vt:lpstr>Prezentace aplikace PowerPoint</vt:lpstr>
      <vt:lpstr>Pojmy spojené s OS </vt:lpstr>
      <vt:lpstr>Pojmy spojené s OS </vt:lpstr>
      <vt:lpstr>Zdroje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Operační systémy</dc:title>
  <dc:creator>Denny</dc:creator>
  <cp:lastModifiedBy>Votavová Gabriela</cp:lastModifiedBy>
  <cp:revision>53</cp:revision>
  <cp:lastPrinted>2017-09-14T11:43:26Z</cp:lastPrinted>
  <dcterms:created xsi:type="dcterms:W3CDTF">2011-06-27T18:13:21Z</dcterms:created>
  <dcterms:modified xsi:type="dcterms:W3CDTF">2021-10-06T09:38:50Z</dcterms:modified>
</cp:coreProperties>
</file>