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CD71F-F050-4DCA-A8FE-DCAF64AF3DDE}" v="3" dt="2021-10-07T11:21:50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A4ADF-6538-44BD-929A-1C04C9FE5C5D}" type="datetimeFigureOut">
              <a:rPr lang="cs-CZ" smtClean="0"/>
              <a:pPr/>
              <a:t>07.10.2021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67D5E-60BA-4E92-81B9-1B111A665AA2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ysokeskoly.cz/clanek/plagiaty-postrach-student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s.wikipedia.org/wiki/Autorsk%C3%BD_z%C3%A1kon_(%C4%8Cesko,_2000)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itac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itace.com/vytvorit-citaci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PLAGIÁTORSTVÍ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vysvětlete pojem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Plagiát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norma ČSN ISO 5127–2003 definuje plagiát jako:</a:t>
            </a:r>
          </a:p>
          <a:p>
            <a:pPr marL="0" indent="0" algn="ctr">
              <a:buNone/>
            </a:pPr>
            <a:r>
              <a:rPr lang="cs-CZ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„představení duševního díla jiného autora půjčeného nebo napodobeného v celku nebo z části, jako svého vlastního“. 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EBDC023-6AE0-4043-9B17-45279AE7516E}"/>
              </a:ext>
            </a:extLst>
          </p:cNvPr>
          <p:cNvSpPr txBox="1"/>
          <p:nvPr/>
        </p:nvSpPr>
        <p:spPr>
          <a:xfrm>
            <a:off x="323528" y="637819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000" dirty="0"/>
              <a:t>Zdroj: </a:t>
            </a:r>
            <a:r>
              <a:rPr lang="cs-CZ" sz="1000" dirty="0">
                <a:hlinkClick r:id="rId2"/>
              </a:rPr>
              <a:t>https://www.vysokeskoly.cz/clanek/</a:t>
            </a:r>
            <a:r>
              <a:rPr lang="cs-CZ" sz="1000" dirty="0" err="1">
                <a:hlinkClick r:id="rId2"/>
              </a:rPr>
              <a:t>plagiaty</a:t>
            </a:r>
            <a:r>
              <a:rPr lang="cs-CZ" sz="1000" dirty="0">
                <a:hlinkClick r:id="rId2"/>
              </a:rPr>
              <a:t>-postrach-studentu</a:t>
            </a:r>
            <a:r>
              <a:rPr lang="cs-CZ" sz="1000" dirty="0"/>
              <a:t>, 7.10.2021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Plagiátorství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141168"/>
          </a:xfrm>
        </p:spPr>
        <p:txBody>
          <a:bodyPr>
            <a:normAutofit fontScale="92500" lnSpcReduction="10000"/>
          </a:bodyPr>
          <a:lstStyle/>
          <a:p>
            <a:pPr marL="0" indent="0" algn="ctr" defTabSz="358775">
              <a:buNone/>
            </a:pPr>
            <a:r>
              <a:rPr lang="cs-CZ" b="1" dirty="0"/>
              <a:t>	je užití jakékoliv myšlenky v odborné práci</a:t>
            </a:r>
            <a:r>
              <a:rPr lang="cs-CZ" dirty="0"/>
              <a:t>  </a:t>
            </a:r>
          </a:p>
          <a:p>
            <a:pPr marL="0" indent="0" algn="ctr" defTabSz="915988">
              <a:buNone/>
            </a:pPr>
            <a:r>
              <a:rPr lang="cs-CZ" dirty="0"/>
              <a:t>(ať už jsme se s ní setkali v písemné, obrazové, mluvené či jiné podobě)           </a:t>
            </a:r>
          </a:p>
          <a:p>
            <a:pPr marL="0" indent="0" algn="ctr" defTabSz="762000">
              <a:buNone/>
            </a:pPr>
            <a:r>
              <a:rPr lang="cs-CZ" b="1" dirty="0"/>
              <a:t>    bez uvedení jejího autora.</a:t>
            </a:r>
            <a:r>
              <a:rPr lang="cs-CZ" dirty="0"/>
              <a:t> </a:t>
            </a:r>
          </a:p>
          <a:p>
            <a:pPr marL="0" indent="0" algn="ctr" defTabSz="358775">
              <a:buNone/>
            </a:pPr>
            <a:r>
              <a:rPr lang="cs-CZ" dirty="0"/>
              <a:t>	</a:t>
            </a:r>
          </a:p>
          <a:p>
            <a:pPr marL="0" indent="0">
              <a:buNone/>
            </a:pPr>
            <a:r>
              <a:rPr lang="cs-CZ" dirty="0"/>
              <a:t>Vytvořením plagiátu porušuje jeho autor nejen základní pravidla vědecké etiky, ale také </a:t>
            </a:r>
            <a:r>
              <a:rPr lang="cs-CZ" b="1" dirty="0"/>
              <a:t>autorský zákon</a:t>
            </a:r>
            <a:r>
              <a:rPr lang="cs-CZ" dirty="0"/>
              <a:t>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sz="20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2" tooltip="Autorský zákon (Česko, 2000)"/>
              </a:rPr>
              <a:t>Autorský zákon (Česko, 2000)</a:t>
            </a:r>
            <a:r>
              <a:rPr lang="cs-CZ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– zákon č. 121/2000 Sb., o právu autorském, o právech souvisejících s právem autorským a o změně některých zákonů</a:t>
            </a:r>
          </a:p>
          <a:p>
            <a:pPr marL="0" indent="0">
              <a:buNone/>
            </a:pPr>
            <a:endParaRPr lang="cs-C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>
            <a:normAutofit/>
          </a:bodyPr>
          <a:lstStyle/>
          <a:p>
            <a:r>
              <a:rPr lang="cs-CZ" dirty="0"/>
              <a:t>Jak se vyhnout plagiátorství?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Navrhněte způsob, jak se mu vyhnout: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>
            <a:normAutofit/>
          </a:bodyPr>
          <a:lstStyle/>
          <a:p>
            <a:r>
              <a:rPr lang="cs-CZ" dirty="0"/>
              <a:t>Jak se vyhnout plagiátorství?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0000"/>
                </a:solidFill>
              </a:rPr>
              <a:t>je nutné uvést primární zdroj, uznat autorství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CITACE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83162"/>
          </a:xfrm>
        </p:spPr>
        <p:txBody>
          <a:bodyPr/>
          <a:lstStyle/>
          <a:p>
            <a:r>
              <a:rPr lang="cs-CZ" b="1" dirty="0"/>
              <a:t>přímá, doslovná</a:t>
            </a:r>
            <a:r>
              <a:rPr lang="cs-CZ" dirty="0"/>
              <a:t> (citujeme celé věty, popř. odstavce; prohozením slov či minimální záměna za jiná je stále přímá citace) =&gt; použijeme kurzíva, uvozovky na citovaný text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b="1" dirty="0"/>
              <a:t>nepřímá, parafrázovaná </a:t>
            </a:r>
            <a:r>
              <a:rPr lang="cs-CZ" dirty="0"/>
              <a:t>(vybíráme některé údaje, např. statistiky a zasazujeme je do vlastních myšlenek)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cs-CZ">
                <a:hlinkClick r:id="rId2"/>
              </a:rPr>
              <a:t>www.citace.</a:t>
            </a:r>
            <a:r>
              <a:rPr lang="cs-CZ" err="1">
                <a:hlinkClick r:id="rId2"/>
              </a:rPr>
              <a:t>com</a:t>
            </a:r>
            <a:endParaRPr lang="cs-CZ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8F77351A-5449-48BC-8285-24B75EAAB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275" y="1600200"/>
            <a:ext cx="6631449" cy="4525963"/>
          </a:xfrm>
          <a:prstGeom prst="rect">
            <a:avLst/>
          </a:prstGeom>
          <a:noFill/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78B83219-BFCC-40CE-862A-5EDE501CFF48}"/>
              </a:ext>
            </a:extLst>
          </p:cNvPr>
          <p:cNvSpPr txBox="1"/>
          <p:nvPr/>
        </p:nvSpPr>
        <p:spPr>
          <a:xfrm>
            <a:off x="683568" y="6398696"/>
            <a:ext cx="53285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050" dirty="0"/>
              <a:t>Zdroj: </a:t>
            </a:r>
            <a:r>
              <a:rPr lang="cs-CZ" sz="1050" dirty="0">
                <a:hlinkClick r:id="rId4"/>
              </a:rPr>
              <a:t>https://www.citace.com/</a:t>
            </a:r>
            <a:r>
              <a:rPr lang="cs-CZ" sz="1050" dirty="0" err="1">
                <a:hlinkClick r:id="rId4"/>
              </a:rPr>
              <a:t>vytvorit</a:t>
            </a:r>
            <a:r>
              <a:rPr lang="cs-CZ" sz="1050" dirty="0">
                <a:hlinkClick r:id="rId4"/>
              </a:rPr>
              <a:t>-citaci</a:t>
            </a:r>
            <a:r>
              <a:rPr lang="cs-CZ" sz="1050" dirty="0"/>
              <a:t>, 7.10.2021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Plagiátorství - </a:t>
            </a:r>
            <a:r>
              <a:rPr lang="cs-CZ" sz="2000" dirty="0" err="1"/>
              <a:t>Infogram</a:t>
            </a:r>
            <a:r>
              <a:rPr lang="cs-CZ" sz="2000" dirty="0"/>
              <a:t>. </a:t>
            </a:r>
            <a:r>
              <a:rPr lang="cs-CZ" sz="2000" i="1" dirty="0"/>
              <a:t>www.infogram.cz</a:t>
            </a:r>
            <a:r>
              <a:rPr lang="cs-CZ" sz="2000" dirty="0"/>
              <a:t> [online]. 2012 [cit. 2012-02-13]. Dostupné z: http://www.infogram.cz/findInSection.do?sectionId=1115&amp;categoryId=1168 </a:t>
            </a:r>
          </a:p>
          <a:p>
            <a:pPr marL="0" indent="0">
              <a:buNone/>
            </a:pPr>
            <a:endParaRPr lang="cs-CZ" sz="2000" dirty="0"/>
          </a:p>
          <a:p>
            <a:r>
              <a:rPr lang="cs-CZ" sz="2000" dirty="0"/>
              <a:t>Http://www.upol.cz/</a:t>
            </a:r>
            <a:r>
              <a:rPr lang="cs-CZ" sz="2000" dirty="0" err="1"/>
              <a:t>fileadmin</a:t>
            </a:r>
            <a:r>
              <a:rPr lang="cs-CZ" sz="2000" dirty="0"/>
              <a:t>/</a:t>
            </a:r>
            <a:r>
              <a:rPr lang="cs-CZ" sz="2000" dirty="0" err="1"/>
              <a:t>user_upload</a:t>
            </a:r>
            <a:r>
              <a:rPr lang="cs-CZ" sz="2000" dirty="0"/>
              <a:t>/PF-katedry/politologie/Jak_psat_seminarni_prace.pdf. </a:t>
            </a:r>
            <a:r>
              <a:rPr lang="cs-CZ" sz="2000" i="1" dirty="0"/>
              <a:t>Www.</a:t>
            </a:r>
            <a:r>
              <a:rPr lang="cs-CZ" sz="2000" i="1" dirty="0" err="1"/>
              <a:t>upol.cz</a:t>
            </a:r>
            <a:r>
              <a:rPr lang="cs-CZ" sz="2000" dirty="0"/>
              <a:t> [online]. 2004 [cit. 2012-02-13]. Dostupné z: http://www.</a:t>
            </a:r>
            <a:r>
              <a:rPr lang="cs-CZ" sz="2000" dirty="0" err="1"/>
              <a:t>upol.cz</a:t>
            </a:r>
            <a:r>
              <a:rPr lang="cs-CZ" sz="2000" dirty="0"/>
              <a:t>/</a:t>
            </a:r>
            <a:r>
              <a:rPr lang="cs-CZ" sz="2000" dirty="0" err="1"/>
              <a:t>fileadmin</a:t>
            </a:r>
            <a:r>
              <a:rPr lang="cs-CZ" sz="2000" dirty="0"/>
              <a:t>/user_</a:t>
            </a:r>
            <a:r>
              <a:rPr lang="cs-CZ" sz="2000" dirty="0" err="1"/>
              <a:t>upload</a:t>
            </a:r>
            <a:r>
              <a:rPr lang="cs-CZ" sz="2000" dirty="0"/>
              <a:t>/PF-katedry/politologie/Jak_</a:t>
            </a:r>
            <a:r>
              <a:rPr lang="cs-CZ" sz="2000" dirty="0" err="1"/>
              <a:t>psat</a:t>
            </a:r>
            <a:r>
              <a:rPr lang="cs-CZ" sz="2000" dirty="0"/>
              <a:t>_</a:t>
            </a:r>
            <a:r>
              <a:rPr lang="cs-CZ" sz="2000" dirty="0" err="1"/>
              <a:t>seminarni</a:t>
            </a:r>
            <a:r>
              <a:rPr lang="cs-CZ" sz="2000" dirty="0"/>
              <a:t>_</a:t>
            </a:r>
            <a:r>
              <a:rPr lang="cs-CZ" sz="2000" dirty="0" err="1"/>
              <a:t>prace.pdf</a:t>
            </a:r>
            <a:r>
              <a:rPr lang="cs-CZ" sz="2000" dirty="0"/>
              <a:t> </a:t>
            </a:r>
          </a:p>
          <a:p>
            <a:endParaRPr lang="cs-CZ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333</Words>
  <Application>Microsoft Office PowerPoint</Application>
  <PresentationFormat>Předvádění na obrazovce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Motiv sady Office</vt:lpstr>
      <vt:lpstr>PLAGIÁTORSTVÍ</vt:lpstr>
      <vt:lpstr>Plagiát </vt:lpstr>
      <vt:lpstr>Plagiátorství</vt:lpstr>
      <vt:lpstr>Jak se vyhnout plagiátorství?</vt:lpstr>
      <vt:lpstr>Jak se vyhnout plagiátorství?</vt:lpstr>
      <vt:lpstr>CITACE</vt:lpstr>
      <vt:lpstr>www.citace.com</vt:lpstr>
      <vt:lpstr>Zdroje</vt:lpstr>
    </vt:vector>
  </TitlesOfParts>
  <Company>DELTA - SŠIE,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PLAGIÁTORSTVÍ</dc:title>
  <dc:creator>Mgr. Jitka Buhrová</dc:creator>
  <cp:lastModifiedBy>Votavová Gabriela</cp:lastModifiedBy>
  <cp:revision>5</cp:revision>
  <dcterms:created xsi:type="dcterms:W3CDTF">2012-02-13T18:31:51Z</dcterms:created>
  <dcterms:modified xsi:type="dcterms:W3CDTF">2021-10-07T11:27:29Z</dcterms:modified>
</cp:coreProperties>
</file>