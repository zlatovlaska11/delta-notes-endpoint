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9144000" cy="6858000" type="screen4x3"/>
  <p:notesSz cx="6735763" cy="9866313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94441-2531-4616-8BEB-97B038692BAE}" v="3" dt="2021-10-07T13:05:02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3" d="100"/>
          <a:sy n="63" d="100"/>
        </p:scale>
        <p:origin x="14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A3C4-884D-4F68-9214-FADCDC6B9691}" type="datetimeFigureOut">
              <a:rPr lang="cs-CZ" smtClean="0"/>
              <a:t>19.10.2023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1B890-EE1C-4988-83AE-261C136776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9493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bdélník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cs-CZ"/>
              <a:t>Klepnutím lze upravit styl předlohy podnadpisů.</a:t>
            </a:r>
            <a:endParaRPr lang="en-US"/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62819-7B4B-4CA6-96A0-DCCA4593EA57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6633C-D711-4224-9082-E2DD8D4C3160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9B944-372F-4D56-A9FA-BE476C4B25D8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3B836-17A5-485C-9E4C-AC36E142713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bdélník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6EEC6-0F74-44A5-9EB2-F7FC2F740F8C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82A84-7B37-45AA-BA23-69B6ACBDB474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E450-3F16-4994-844B-63E078FE6EAC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B1A67-F0AA-4AD6-99AB-C35E421635E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A2425-7EF3-4D3D-97DE-2B10E4803CDA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8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BD2EF-A235-4D45-98D5-6FA5F92867EE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E7B1B-089B-42B8-9630-8E7023D3E716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B3E55-9D7D-4993-9D4E-EFD3B8A1299F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942A3-42FE-437A-AB86-B9725ABA604D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CA1CB-C03F-4204-846A-0B236CF22126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bdélník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7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1BD70-D3C4-496D-B608-874F5DE54962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8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ABF9C-141F-48CF-A77C-82AF52F7534C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bdélník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cs-CZ" noProof="0"/>
              <a:t>Klepnutím na ikonu přidáte obrázek.</a:t>
            </a:r>
            <a:endParaRPr lang="en-US" noProof="0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7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22327-4A25-4D6F-8B75-7EB5D26E73C9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8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947B3-B4ED-4C72-9B04-1BC3D516E58E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7202A-513B-4BE9-AE09-5FB1C8BA116A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00287-5069-4C68-81F7-965F6E0CB63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bdélník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61E09-ADBC-436D-9BDA-5FE9FD1C67BD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A3CDF-18D9-4CD4-B10C-12779416B903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bdélník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cs-CZ"/>
              <a:t>Klepnutím lze upravit styl předlohy nadpisů.</a:t>
            </a:r>
            <a:endParaRPr lang="en-US"/>
          </a:p>
        </p:txBody>
      </p:sp>
      <p:sp>
        <p:nvSpPr>
          <p:cNvPr id="1029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B80F2973-7D64-41D0-8E2C-CBB61559ACA5}" type="datetimeFigureOut">
              <a:rPr lang="cs-CZ"/>
              <a:pPr>
                <a:defRPr/>
              </a:pPr>
              <a:t>19.10.2023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EC22778-1076-4B5C-97FF-0EBB7BD2889C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0" r:id="rId2"/>
    <p:sldLayoutId id="2147483696" r:id="rId3"/>
    <p:sldLayoutId id="2147483691" r:id="rId4"/>
    <p:sldLayoutId id="2147483692" r:id="rId5"/>
    <p:sldLayoutId id="2147483693" r:id="rId6"/>
    <p:sldLayoutId id="2147483697" r:id="rId7"/>
    <p:sldLayoutId id="2147483698" r:id="rId8"/>
    <p:sldLayoutId id="2147483699" r:id="rId9"/>
    <p:sldLayoutId id="2147483694" r:id="rId10"/>
    <p:sldLayoutId id="214748370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z/slide/1127945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z/slide/11279451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Citace a citování</a:t>
            </a:r>
          </a:p>
        </p:txBody>
      </p:sp>
      <p:sp>
        <p:nvSpPr>
          <p:cNvPr id="8195" name="Podnadpis 2"/>
          <p:cNvSpPr>
            <a:spLocks noGrp="1"/>
          </p:cNvSpPr>
          <p:nvPr>
            <p:ph type="subTitle" idx="1"/>
          </p:nvPr>
        </p:nvSpPr>
        <p:spPr>
          <a:xfrm>
            <a:off x="611560" y="5445224"/>
            <a:ext cx="8077200" cy="1052116"/>
          </a:xfrm>
        </p:spPr>
        <p:txBody>
          <a:bodyPr/>
          <a:lstStyle/>
          <a:p>
            <a:endParaRPr lang="cs-CZ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Proč citovat?	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Hlavním smyslem citování je zachytit myšlenkové vazby mezi originálním textem a použitými myšlenkami z jiných zdrojů. [</a:t>
            </a:r>
            <a:r>
              <a:rPr lang="cs-CZ" sz="2800" dirty="0" err="1"/>
              <a:t>Boldiš</a:t>
            </a:r>
            <a:r>
              <a:rPr lang="cs-CZ" sz="2800" dirty="0"/>
              <a:t>, 2002]</a:t>
            </a:r>
          </a:p>
          <a:p>
            <a:endParaRPr lang="cs-CZ" sz="2800" dirty="0"/>
          </a:p>
          <a:p>
            <a:pPr lvl="1"/>
            <a:r>
              <a:rPr lang="cs-CZ" sz="2400" dirty="0"/>
              <a:t>dokázat vlastní znalost tématu</a:t>
            </a:r>
          </a:p>
          <a:p>
            <a:pPr lvl="1"/>
            <a:endParaRPr lang="cs-CZ" sz="2400" dirty="0"/>
          </a:p>
          <a:p>
            <a:pPr lvl="1"/>
            <a:r>
              <a:rPr lang="cs-CZ" sz="2400" dirty="0"/>
              <a:t>odkázat čtenáře na další literaturu</a:t>
            </a:r>
          </a:p>
          <a:p>
            <a:pPr lvl="1"/>
            <a:endParaRPr lang="cs-CZ" sz="2400" dirty="0"/>
          </a:p>
          <a:p>
            <a:pPr lvl="1"/>
            <a:r>
              <a:rPr lang="cs-CZ" sz="2400" dirty="0"/>
              <a:t>dodržet autorskou etiku a zákon o autorských právech</a:t>
            </a:r>
            <a:endParaRPr lang="cs-CZ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Jaké jsou druhy citace?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92E3CD6A-982D-4F33-85BD-3CA7EF15D764}"/>
              </a:ext>
            </a:extLst>
          </p:cNvPr>
          <p:cNvSpPr txBox="1">
            <a:spLocks/>
          </p:cNvSpPr>
          <p:nvPr/>
        </p:nvSpPr>
        <p:spPr bwMode="auto">
          <a:xfrm>
            <a:off x="457200" y="1844824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>
            <a:lvl1pPr marL="438150" indent="-319088" algn="l" rtl="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02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66C7D"/>
              </a:buClr>
              <a:buFont typeface="Arial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02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6BB76D"/>
              </a:buClr>
              <a:buFont typeface="Arial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182563" algn="l" rtl="0" fontAlgn="base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cs-CZ" b="1" dirty="0"/>
              <a:t>Doslovné (přímé)</a:t>
            </a:r>
          </a:p>
          <a:p>
            <a:pPr lvl="1"/>
            <a:r>
              <a:rPr lang="cs-CZ" dirty="0"/>
              <a:t>Kdy ve své práci uvádíme </a:t>
            </a:r>
            <a:r>
              <a:rPr lang="cs-CZ" b="1" dirty="0"/>
              <a:t>doslovný</a:t>
            </a:r>
            <a:r>
              <a:rPr lang="cs-CZ" dirty="0"/>
              <a:t> text z jiné práce. Většinou je psaný kurzívou a s užitím uvozovek.</a:t>
            </a:r>
          </a:p>
          <a:p>
            <a:endParaRPr lang="cs-CZ" dirty="0"/>
          </a:p>
          <a:p>
            <a:r>
              <a:rPr lang="cs-CZ" b="1" dirty="0"/>
              <a:t>Parafrázované (nepřímé)</a:t>
            </a:r>
          </a:p>
          <a:p>
            <a:pPr lvl="1"/>
            <a:r>
              <a:rPr lang="cs-CZ" dirty="0"/>
              <a:t>Kdy volně text rozvádíme a používáme cizí myšlenky prezentované vlastními slovy.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Jak citaci uvádíme?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Oba druhy citace vedou k </a:t>
            </a:r>
            <a:r>
              <a:rPr lang="cs-CZ" sz="2800" b="1" dirty="0"/>
              <a:t>seznamu citací</a:t>
            </a:r>
            <a:r>
              <a:rPr lang="cs-CZ" sz="2800" dirty="0"/>
              <a:t>, který se objevuje zpravidla na konci práce jako </a:t>
            </a:r>
            <a:r>
              <a:rPr lang="cs-CZ" sz="2800" b="1" dirty="0"/>
              <a:t>zdroje</a:t>
            </a:r>
            <a:r>
              <a:rPr lang="cs-CZ" sz="2800" dirty="0"/>
              <a:t>.</a:t>
            </a:r>
          </a:p>
          <a:p>
            <a:endParaRPr lang="cs-CZ" sz="2800" dirty="0"/>
          </a:p>
          <a:p>
            <a:r>
              <a:rPr lang="cs-CZ" sz="2800" dirty="0"/>
              <a:t>V textu musíme na závěrečný seznam uvést odkaz, podle současných norem způsobem:</a:t>
            </a:r>
          </a:p>
          <a:p>
            <a:endParaRPr lang="cs-CZ" sz="2800" dirty="0"/>
          </a:p>
          <a:p>
            <a:pPr lvl="1"/>
            <a:r>
              <a:rPr lang="cs-CZ" sz="2400" dirty="0"/>
              <a:t>Citovaný text (Jméno autora, rok vydání). </a:t>
            </a:r>
          </a:p>
          <a:p>
            <a:pPr lvl="1"/>
            <a:r>
              <a:rPr lang="cs-CZ" sz="2400" dirty="0"/>
              <a:t>Možno uvádět i hranaté závorky [ ].</a:t>
            </a:r>
          </a:p>
          <a:p>
            <a:pPr lvl="1"/>
            <a:r>
              <a:rPr lang="cs-CZ" sz="2400" dirty="0"/>
              <a:t>Využívá se nejčastěji na konci vět (před tečkou, ale možno uvést i v textu.</a:t>
            </a:r>
          </a:p>
          <a:p>
            <a:pPr lvl="1"/>
            <a:endParaRPr lang="cs-CZ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Mechanismus?	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4927727"/>
          </a:xfrm>
        </p:spPr>
        <p:txBody>
          <a:bodyPr/>
          <a:lstStyle/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Líbí se vám nějaká část textu.</a:t>
            </a:r>
          </a:p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Zvolíte, jestli chcete citovat doslovně, nebo parafrázovat.</a:t>
            </a:r>
          </a:p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Vložíte citaci nebo sepíšete parafrázi.</a:t>
            </a:r>
          </a:p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Pokud citujete doslovně, uvedete citaci v přímě řeči v uvozovkách. Ideálně kurzívou. Autor je v tomto případě obvykle na začátku citace, ale nemusí být.</a:t>
            </a:r>
          </a:p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Pokud parafrázujete, umístíte závorku autora na konec parafrázovaného textu. Text necháte ve stylu, jakým píšete zbytek práce.</a:t>
            </a:r>
          </a:p>
          <a:p>
            <a:pPr marL="631825" indent="-514350">
              <a:lnSpc>
                <a:spcPct val="114000"/>
              </a:lnSpc>
              <a:buFont typeface="Corbel" pitchFamily="34" charset="0"/>
              <a:buAutoNum type="arabicPeriod"/>
            </a:pPr>
            <a:r>
              <a:rPr lang="cs-CZ" sz="2400" dirty="0"/>
              <a:t>Přesnou citaci autorovi publikace/</a:t>
            </a:r>
            <a:r>
              <a:rPr lang="cs-CZ" sz="2400" dirty="0" err="1"/>
              <a:t>článku“stránky</a:t>
            </a:r>
            <a:r>
              <a:rPr lang="cs-CZ" sz="2400" dirty="0"/>
              <a:t> uvedete do seznamu zdrojů na konec.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Příklady	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5083175"/>
          </a:xfrm>
        </p:spPr>
        <p:txBody>
          <a:bodyPr/>
          <a:lstStyle/>
          <a:p>
            <a:r>
              <a:rPr lang="cs-CZ" sz="2000" b="1" dirty="0"/>
              <a:t>CITACE DOSLOVNÁ:</a:t>
            </a:r>
            <a:endParaRPr lang="cs-CZ" sz="2400" dirty="0"/>
          </a:p>
          <a:p>
            <a:pPr lvl="1"/>
            <a:r>
              <a:rPr lang="cs-CZ" sz="2400" dirty="0"/>
              <a:t>Tyto výsledky komentuje Novotný [1999] slovy: </a:t>
            </a:r>
            <a:r>
              <a:rPr lang="cs-CZ" sz="2400" i="1" dirty="0"/>
              <a:t>“Výběr vzorku pro testování se ukázal jako rozhodující; dosažené výsledky proto nemusí být zcela vypovídající.” </a:t>
            </a:r>
            <a:r>
              <a:rPr lang="cs-CZ" sz="2400" dirty="0"/>
              <a:t>S ohledem na tyto okolnosti je nutné konstatovat ...</a:t>
            </a:r>
          </a:p>
          <a:p>
            <a:pPr lvl="1">
              <a:buFont typeface="Wingdings" pitchFamily="2" charset="2"/>
              <a:buNone/>
            </a:pPr>
            <a:endParaRPr lang="cs-CZ" sz="2400" dirty="0"/>
          </a:p>
          <a:p>
            <a:r>
              <a:rPr lang="cs-CZ" sz="2000" b="1" dirty="0"/>
              <a:t>CITACE PARAFRÁZOVANÁ:</a:t>
            </a:r>
          </a:p>
          <a:p>
            <a:pPr lvl="1"/>
            <a:r>
              <a:rPr lang="cs-CZ" sz="2400" dirty="0"/>
              <a:t>Problematika e-learningu byla zkoumána nejprve v prostředí univerzit [Stefan, 1997], později i v prostředí komerčních firem v USA [</a:t>
            </a:r>
            <a:r>
              <a:rPr lang="cs-CZ" sz="2400" dirty="0" err="1"/>
              <a:t>Nowotny</a:t>
            </a:r>
            <a:r>
              <a:rPr lang="cs-CZ" sz="2400" dirty="0"/>
              <a:t>, 1998], později i v Asii [</a:t>
            </a:r>
            <a:r>
              <a:rPr lang="cs-CZ" sz="2400" dirty="0" err="1"/>
              <a:t>Chen</a:t>
            </a:r>
            <a:r>
              <a:rPr lang="cs-CZ" sz="2400" dirty="0"/>
              <a:t>, 1999] a v Evropě [Dietrich, 1999].</a:t>
            </a:r>
            <a:endParaRPr lang="cs-CZ" sz="4400" dirty="0"/>
          </a:p>
          <a:p>
            <a:pPr lvl="1"/>
            <a:endParaRPr lang="cs-CZ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Pravidla: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Přehlednost a </a:t>
            </a:r>
            <a:r>
              <a:rPr lang="cs-CZ" b="1" dirty="0"/>
              <a:t>jednotnost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Úplnost.</a:t>
            </a:r>
          </a:p>
          <a:p>
            <a:endParaRPr lang="cs-CZ" dirty="0"/>
          </a:p>
          <a:p>
            <a:r>
              <a:rPr lang="cs-CZ" dirty="0"/>
              <a:t>Čerpáme pokud možno z originálního zdroje.</a:t>
            </a:r>
            <a:endParaRPr lang="cs-CZ" sz="2800" dirty="0"/>
          </a:p>
          <a:p>
            <a:endParaRPr lang="cs-CZ" dirty="0"/>
          </a:p>
          <a:p>
            <a:endParaRPr lang="cs-CZ" dirty="0"/>
          </a:p>
          <a:p>
            <a:r>
              <a:rPr lang="cs-CZ" sz="2400" dirty="0"/>
              <a:t>Je-li počet autorů jednoho díla vyšší než 3, zapisujeme pouze prvního uvedeného autora </a:t>
            </a:r>
            <a:r>
              <a:rPr lang="nl-NL" sz="2400" dirty="0"/>
              <a:t>s vysv</a:t>
            </a:r>
            <a:r>
              <a:rPr lang="cs-CZ" sz="2400" dirty="0"/>
              <a:t>ě</a:t>
            </a:r>
            <a:r>
              <a:rPr lang="nl-NL" sz="2400" dirty="0"/>
              <a:t>tlujícím dodatkem </a:t>
            </a:r>
            <a:r>
              <a:rPr lang="nl-NL" sz="2400" b="1" dirty="0"/>
              <a:t>et al</a:t>
            </a:r>
            <a:r>
              <a:rPr lang="nl-NL" sz="2400" dirty="0"/>
              <a:t>.</a:t>
            </a:r>
            <a:r>
              <a:rPr lang="cs-CZ" sz="2400" dirty="0"/>
              <a:t> (</a:t>
            </a:r>
            <a:r>
              <a:rPr lang="cs-CZ" sz="2400" b="1" dirty="0"/>
              <a:t>a kol.</a:t>
            </a:r>
            <a:r>
              <a:rPr lang="cs-CZ" sz="2400" dirty="0"/>
              <a:t>) -&gt; (Beneš, P.  et al., 2000)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Citace knihy	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4825"/>
            <a:ext cx="8686800" cy="4625975"/>
          </a:xfrm>
        </p:spPr>
        <p:txBody>
          <a:bodyPr rtlCol="0">
            <a:normAutofit fontScale="92500" lnSpcReduction="10000"/>
          </a:bodyPr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b="1" dirty="0"/>
              <a:t>Model</a:t>
            </a:r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endParaRPr lang="cs-CZ" dirty="0"/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3500" dirty="0">
                <a:latin typeface="Times New Roman" pitchFamily="18" charset="0"/>
                <a:cs typeface="Times New Roman" pitchFamily="18" charset="0"/>
              </a:rPr>
              <a:t>Příjmení, Jméno autora. </a:t>
            </a:r>
            <a:r>
              <a:rPr lang="cs-CZ" sz="3500" i="1" dirty="0">
                <a:latin typeface="Times New Roman" pitchFamily="18" charset="0"/>
                <a:cs typeface="Times New Roman" pitchFamily="18" charset="0"/>
              </a:rPr>
              <a:t>Název knihy. </a:t>
            </a:r>
            <a:r>
              <a:rPr lang="cs-CZ" sz="3500" dirty="0">
                <a:latin typeface="Times New Roman" pitchFamily="18" charset="0"/>
                <a:cs typeface="Times New Roman" pitchFamily="18" charset="0"/>
              </a:rPr>
              <a:t>Číslo vydání. Místo vydání: Vydavatel, rok vydání. Počet stran. ISBN.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dirty="0">
              <a:latin typeface="Times New Roman" pitchFamily="18" charset="0"/>
              <a:cs typeface="Times New Roman" pitchFamily="18" charset="0"/>
            </a:endParaRP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dirty="0">
                <a:latin typeface="Times New Roman" pitchFamily="18" charset="0"/>
                <a:cs typeface="Times New Roman" pitchFamily="18" charset="0"/>
              </a:rPr>
              <a:t>Př.: </a:t>
            </a:r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3000" dirty="0" err="1">
                <a:latin typeface="Times New Roman" pitchFamily="18" charset="0"/>
                <a:cs typeface="Times New Roman" pitchFamily="18" charset="0"/>
              </a:rPr>
              <a:t>Trdlo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, Josef. </a:t>
            </a:r>
            <a:r>
              <a:rPr lang="cs-CZ" sz="3000" i="1" dirty="0">
                <a:latin typeface="Times New Roman" pitchFamily="18" charset="0"/>
                <a:cs typeface="Times New Roman" pitchFamily="18" charset="0"/>
              </a:rPr>
              <a:t>Jak napsat diplomovou práci. 1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. vydání. Olomouc: </a:t>
            </a:r>
            <a:r>
              <a:rPr lang="cs-CZ" sz="3000" dirty="0" err="1">
                <a:latin typeface="Times New Roman" pitchFamily="18" charset="0"/>
                <a:cs typeface="Times New Roman" pitchFamily="18" charset="0"/>
              </a:rPr>
              <a:t>Votobia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, 1997. 271 s. </a:t>
            </a:r>
          </a:p>
          <a:p>
            <a:pPr marL="731520" lvl="1" indent="-274320" fontAlgn="auto">
              <a:spcAft>
                <a:spcPts val="0"/>
              </a:spcAft>
              <a:buFont typeface="Wingdings"/>
              <a:buNone/>
              <a:defRPr/>
            </a:pPr>
            <a:r>
              <a:rPr lang="cs-CZ" sz="3000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ISBN 80-7198-173-7.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Citace článku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4825"/>
            <a:ext cx="8686800" cy="4625975"/>
          </a:xfrm>
        </p:spPr>
        <p:txBody>
          <a:bodyPr rtlCol="0">
            <a:normAutofit fontScale="92500" lnSpcReduction="20000"/>
          </a:bodyPr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b="1" dirty="0"/>
              <a:t>Model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dirty="0"/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3500" dirty="0">
                <a:latin typeface="Times New Roman" pitchFamily="18" charset="0"/>
                <a:cs typeface="Times New Roman" pitchFamily="18" charset="0"/>
              </a:rPr>
              <a:t>Příjmení, Jméno autora článku. Název článku. </a:t>
            </a:r>
            <a:r>
              <a:rPr lang="cs-CZ" sz="3500" i="1" dirty="0">
                <a:latin typeface="Times New Roman" pitchFamily="18" charset="0"/>
                <a:cs typeface="Times New Roman" pitchFamily="18" charset="0"/>
              </a:rPr>
              <a:t>Název časopisu, </a:t>
            </a:r>
            <a:r>
              <a:rPr lang="cs-CZ" sz="3500" dirty="0">
                <a:latin typeface="Times New Roman" pitchFamily="18" charset="0"/>
                <a:cs typeface="Times New Roman" pitchFamily="18" charset="0"/>
              </a:rPr>
              <a:t>datum nebo rok vydání, ročník, číslo, strany.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sz="3000" dirty="0">
              <a:latin typeface="Times New Roman" pitchFamily="18" charset="0"/>
              <a:cs typeface="Times New Roman" pitchFamily="18" charset="0"/>
            </a:endParaRP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Př.:</a:t>
            </a:r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endParaRPr lang="cs-CZ" sz="3000" dirty="0"/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Hrdý, I. Rukověť dobrého stylu psaní etymologických prací. </a:t>
            </a:r>
            <a:r>
              <a:rPr lang="cs-CZ" sz="3000" i="1" dirty="0">
                <a:latin typeface="Times New Roman" pitchFamily="18" charset="0"/>
                <a:cs typeface="Times New Roman" pitchFamily="18" charset="0"/>
              </a:rPr>
              <a:t>Zprávy československé společnosti </a:t>
            </a:r>
            <a:r>
              <a:rPr lang="it-IT" sz="3000" i="1" dirty="0">
                <a:latin typeface="Times New Roman" pitchFamily="18" charset="0"/>
                <a:cs typeface="Times New Roman" pitchFamily="18" charset="0"/>
              </a:rPr>
              <a:t>entomologické p</a:t>
            </a:r>
            <a:r>
              <a:rPr lang="cs-CZ" sz="3000" i="1" dirty="0">
                <a:latin typeface="Times New Roman" pitchFamily="18" charset="0"/>
                <a:cs typeface="Times New Roman" pitchFamily="18" charset="0"/>
              </a:rPr>
              <a:t>ř</a:t>
            </a:r>
            <a:r>
              <a:rPr lang="it-IT" sz="3000" i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cs-CZ" sz="3000" i="1" dirty="0">
                <a:latin typeface="Times New Roman" pitchFamily="18" charset="0"/>
                <a:cs typeface="Times New Roman" pitchFamily="18" charset="0"/>
              </a:rPr>
              <a:t>Č</a:t>
            </a:r>
            <a:r>
              <a:rPr lang="it-IT" sz="3000" i="1" dirty="0">
                <a:latin typeface="Times New Roman" pitchFamily="18" charset="0"/>
                <a:cs typeface="Times New Roman" pitchFamily="18" charset="0"/>
              </a:rPr>
              <a:t>SAV, </a:t>
            </a:r>
            <a:r>
              <a:rPr lang="it-IT" sz="3000" dirty="0">
                <a:latin typeface="Times New Roman" pitchFamily="18" charset="0"/>
                <a:cs typeface="Times New Roman" pitchFamily="18" charset="0"/>
              </a:rPr>
              <a:t>1970, ro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č</a:t>
            </a:r>
            <a:r>
              <a:rPr lang="it-IT" sz="3000" dirty="0">
                <a:latin typeface="Times New Roman" pitchFamily="18" charset="0"/>
                <a:cs typeface="Times New Roman" pitchFamily="18" charset="0"/>
              </a:rPr>
              <a:t>. 6, </a:t>
            </a: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č</a:t>
            </a:r>
            <a:r>
              <a:rPr lang="it-IT" sz="3000" dirty="0">
                <a:latin typeface="Times New Roman" pitchFamily="18" charset="0"/>
                <a:cs typeface="Times New Roman" pitchFamily="18" charset="0"/>
              </a:rPr>
              <a:t>. 3-4, s. 60-88.</a:t>
            </a:r>
            <a:endParaRPr lang="cs-CZ"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Citace </a:t>
            </a:r>
            <a:r>
              <a:rPr lang="cs-CZ" dirty="0" err="1">
                <a:solidFill>
                  <a:schemeClr val="accent1">
                    <a:satMod val="150000"/>
                  </a:schemeClr>
                </a:solidFill>
              </a:rPr>
              <a:t>webovky</a:t>
            </a:r>
            <a:endParaRPr lang="cs-CZ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4825"/>
            <a:ext cx="8686800" cy="5083175"/>
          </a:xfrm>
        </p:spPr>
        <p:txBody>
          <a:bodyPr rtlCol="0">
            <a:normAutofit fontScale="70000" lnSpcReduction="20000"/>
          </a:bodyPr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b="1" dirty="0">
                <a:latin typeface="Times New Roman" pitchFamily="18" charset="0"/>
                <a:cs typeface="Times New Roman" pitchFamily="18" charset="0"/>
              </a:rPr>
              <a:t>Model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dirty="0">
              <a:latin typeface="Times New Roman" pitchFamily="18" charset="0"/>
              <a:cs typeface="Times New Roman" pitchFamily="18" charset="0"/>
            </a:endParaRPr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4600" dirty="0">
                <a:latin typeface="Times New Roman" pitchFamily="18" charset="0"/>
                <a:cs typeface="Times New Roman" pitchFamily="18" charset="0"/>
              </a:rPr>
              <a:t>Příjmení, Jméno autora stránky. </a:t>
            </a:r>
            <a:r>
              <a:rPr lang="cs-CZ" sz="4600" i="1" dirty="0">
                <a:latin typeface="Times New Roman" pitchFamily="18" charset="0"/>
                <a:cs typeface="Times New Roman" pitchFamily="18" charset="0"/>
              </a:rPr>
              <a:t>Název stránky </a:t>
            </a:r>
            <a:r>
              <a:rPr lang="cs-CZ" sz="4600" dirty="0">
                <a:latin typeface="Times New Roman" pitchFamily="18" charset="0"/>
                <a:cs typeface="Times New Roman" pitchFamily="18" charset="0"/>
              </a:rPr>
              <a:t>[online]. Umístění stránky. Datum vytvoření/datum poslední aktualizace stránky [datum citace – cit.].  Dostupné z: Adresa stránky.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sz="3000" dirty="0">
              <a:latin typeface="Times New Roman" pitchFamily="18" charset="0"/>
              <a:cs typeface="Times New Roman" pitchFamily="18" charset="0"/>
            </a:endParaRP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cs-CZ" sz="3000" dirty="0">
                <a:latin typeface="Times New Roman" pitchFamily="18" charset="0"/>
                <a:cs typeface="Times New Roman" pitchFamily="18" charset="0"/>
              </a:rPr>
              <a:t>Př.: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cs-CZ" sz="3000" dirty="0">
              <a:latin typeface="Times New Roman" pitchFamily="18" charset="0"/>
              <a:cs typeface="Times New Roman" pitchFamily="18" charset="0"/>
            </a:endParaRPr>
          </a:p>
          <a:p>
            <a:pPr marL="731520" lvl="1" indent="-27432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cs-CZ" sz="4000" dirty="0">
                <a:latin typeface="Times New Roman" pitchFamily="18" charset="0"/>
                <a:cs typeface="Times New Roman" pitchFamily="18" charset="0"/>
              </a:rPr>
              <a:t>Daněk, Dušan. </a:t>
            </a:r>
            <a:r>
              <a:rPr lang="cs-CZ" sz="4000" i="1" dirty="0">
                <a:latin typeface="Times New Roman" pitchFamily="18" charset="0"/>
                <a:cs typeface="Times New Roman" pitchFamily="18" charset="0"/>
              </a:rPr>
              <a:t>Možnost virtuálního vzdělávání pro malé a střední podniky v CR </a:t>
            </a:r>
            <a:r>
              <a:rPr lang="cs-CZ" sz="4000" dirty="0">
                <a:latin typeface="Times New Roman" pitchFamily="18" charset="0"/>
                <a:cs typeface="Times New Roman" pitchFamily="18" charset="0"/>
              </a:rPr>
              <a:t>[online]. Publikováno 22.11.2004 [cit. 2004-11-24]. Dostupné z: http://www.ustaf.cz/djdd/dipl/diplomka.htm.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08B800C1-28D8-42C4-9887-705F2B80A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5" t="16401" r="22438" b="17801"/>
          <a:stretch/>
        </p:blipFill>
        <p:spPr>
          <a:xfrm>
            <a:off x="217917" y="253869"/>
            <a:ext cx="8501540" cy="6217659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B6D75B93-C55D-4499-A492-F5D649267259}"/>
              </a:ext>
            </a:extLst>
          </p:cNvPr>
          <p:cNvSpPr txBox="1"/>
          <p:nvPr/>
        </p:nvSpPr>
        <p:spPr>
          <a:xfrm>
            <a:off x="251520" y="64605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</a:t>
            </a:r>
            <a:r>
              <a:rPr lang="cs-CZ" sz="1400" dirty="0">
                <a:hlinkClick r:id="rId3"/>
              </a:rPr>
              <a:t>https://slideplayer.cz/slide/11279451/</a:t>
            </a:r>
            <a:r>
              <a:rPr lang="cs-CZ" sz="1400" dirty="0"/>
              <a:t>, 7.10.2021</a:t>
            </a:r>
          </a:p>
        </p:txBody>
      </p:sp>
    </p:spTree>
    <p:extLst>
      <p:ext uri="{BB962C8B-B14F-4D97-AF65-F5344CB8AC3E}">
        <p14:creationId xmlns:p14="http://schemas.microsoft.com/office/powerpoint/2010/main" val="2281922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DF932AA6-0DC1-4977-90C7-838451D7F2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015"/>
          <a:stretch/>
        </p:blipFill>
        <p:spPr>
          <a:xfrm>
            <a:off x="4125" y="404664"/>
            <a:ext cx="9144000" cy="560369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F0BE0763-16EE-45A4-AE5A-3FCFE2FAC8CD}"/>
              </a:ext>
            </a:extLst>
          </p:cNvPr>
          <p:cNvSpPr txBox="1"/>
          <p:nvPr/>
        </p:nvSpPr>
        <p:spPr>
          <a:xfrm>
            <a:off x="251520" y="64605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</a:t>
            </a:r>
            <a:r>
              <a:rPr lang="cs-CZ" sz="1400" dirty="0">
                <a:hlinkClick r:id="rId3"/>
              </a:rPr>
              <a:t>https://slideplayer.cz/slide/11279451/</a:t>
            </a:r>
            <a:r>
              <a:rPr lang="cs-CZ" sz="1400" dirty="0"/>
              <a:t>, 7.10.2021</a:t>
            </a:r>
          </a:p>
        </p:txBody>
      </p:sp>
    </p:spTree>
    <p:extLst>
      <p:ext uri="{BB962C8B-B14F-4D97-AF65-F5344CB8AC3E}">
        <p14:creationId xmlns:p14="http://schemas.microsoft.com/office/powerpoint/2010/main" val="407350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cs-CZ" dirty="0">
                <a:solidFill>
                  <a:schemeClr val="accent1">
                    <a:satMod val="150000"/>
                  </a:schemeClr>
                </a:solidFill>
              </a:rPr>
              <a:t>Zdroje: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4675" indent="-457200">
              <a:buFont typeface="Corbel" pitchFamily="34" charset="0"/>
              <a:buAutoNum type="arabicPeriod"/>
            </a:pPr>
            <a:r>
              <a:rPr lang="cs-CZ" sz="2000" dirty="0" err="1">
                <a:latin typeface="Times New Roman" pitchFamily="18" charset="0"/>
                <a:cs typeface="Times New Roman" pitchFamily="18" charset="0"/>
              </a:rPr>
              <a:t>Boldiš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, Petr. </a:t>
            </a:r>
            <a:r>
              <a:rPr lang="cs-CZ" sz="2000" i="1" dirty="0">
                <a:latin typeface="Times New Roman" pitchFamily="18" charset="0"/>
                <a:cs typeface="Times New Roman" pitchFamily="18" charset="0"/>
              </a:rPr>
              <a:t>Proč citovat? 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[online]. Praha: Výpočetní a informační centrum ČVUT, oddělení knihoven, 2002. </a:t>
            </a:r>
            <a:r>
              <a:rPr lang="pl-PL" sz="2000" dirty="0">
                <a:latin typeface="Times New Roman" pitchFamily="18" charset="0"/>
                <a:cs typeface="Times New Roman" pitchFamily="18" charset="0"/>
              </a:rPr>
              <a:t>Aktualizováno 14. 1. 2002 [cit. 2011-02-23]. Dostupné z: 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http://platan.vc.cvut.cz/vychova/vychova2/bibl_citace/proc_citovat.html.</a:t>
            </a:r>
          </a:p>
          <a:p>
            <a:pPr marL="574675" indent="-457200">
              <a:buFont typeface="Corbel" pitchFamily="34" charset="0"/>
              <a:buAutoNum type="arabicPeriod"/>
            </a:pPr>
            <a:endParaRPr lang="cs-CZ" sz="2000" dirty="0">
              <a:latin typeface="Times New Roman" pitchFamily="18" charset="0"/>
              <a:cs typeface="Times New Roman" pitchFamily="18" charset="0"/>
            </a:endParaRPr>
          </a:p>
          <a:p>
            <a:pPr marL="574675" indent="-457200">
              <a:buFont typeface="Corbel" pitchFamily="34" charset="0"/>
              <a:buAutoNum type="arabicPeriod"/>
            </a:pPr>
            <a:r>
              <a:rPr lang="cs-CZ" sz="2000" dirty="0" err="1">
                <a:latin typeface="Times New Roman" pitchFamily="18" charset="0"/>
                <a:cs typeface="Times New Roman" pitchFamily="18" charset="0"/>
              </a:rPr>
              <a:t>Boldiš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, Petr. </a:t>
            </a:r>
            <a:r>
              <a:rPr lang="cs-CZ" sz="2000" i="1" dirty="0">
                <a:latin typeface="Times New Roman" pitchFamily="18" charset="0"/>
                <a:cs typeface="Times New Roman" pitchFamily="18" charset="0"/>
              </a:rPr>
              <a:t>Citace a citování 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[online]. [cit. 2011-02-23]. Dostupné z: dl.webcore.czu.cz/</a:t>
            </a:r>
            <a:r>
              <a:rPr lang="cs-CZ" sz="2000" dirty="0" err="1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/QVgwU2taMk5wSW89.</a:t>
            </a:r>
          </a:p>
          <a:p>
            <a:pPr marL="574675" indent="-457200">
              <a:buFont typeface="Corbel" pitchFamily="34" charset="0"/>
              <a:buAutoNum type="arabicPeriod"/>
            </a:pPr>
            <a:endParaRPr lang="cs-CZ" sz="2000" dirty="0">
              <a:latin typeface="Times New Roman" pitchFamily="18" charset="0"/>
              <a:cs typeface="Times New Roman" pitchFamily="18" charset="0"/>
            </a:endParaRPr>
          </a:p>
          <a:p>
            <a:pPr marL="574675" indent="-457200">
              <a:buFont typeface="+mj-lt"/>
              <a:buAutoNum type="arabicPeriod" startAt="3"/>
            </a:pPr>
            <a:r>
              <a:rPr lang="cs-CZ" sz="2000" i="1" dirty="0">
                <a:latin typeface="Times New Roman" pitchFamily="18" charset="0"/>
                <a:cs typeface="Times New Roman" pitchFamily="18" charset="0"/>
              </a:rPr>
              <a:t>Nová citační norma ČSN ISO 690:2011 – Bibliografické citace 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[online]. Google: ©2014 [cit. 7.10. 2021]. Dostupné z: https://sites.google.com/site/novaiso690/.</a:t>
            </a:r>
          </a:p>
          <a:p>
            <a:pPr marL="574675" indent="-457200">
              <a:buFont typeface="+mj-lt"/>
              <a:buAutoNum type="arabicPeriod" startAt="3"/>
            </a:pPr>
            <a:endParaRPr lang="cs-CZ" sz="2000" dirty="0">
              <a:latin typeface="Times New Roman" pitchFamily="18" charset="0"/>
              <a:cs typeface="Times New Roman" pitchFamily="18" charset="0"/>
            </a:endParaRPr>
          </a:p>
          <a:p>
            <a:pPr marL="574675" indent="-457200">
              <a:buFont typeface="+mj-lt"/>
              <a:buAutoNum type="arabicPeriod" startAt="3"/>
            </a:pPr>
            <a:r>
              <a:rPr lang="cs-CZ" sz="2000" i="1" dirty="0">
                <a:latin typeface="Times New Roman" pitchFamily="18" charset="0"/>
                <a:cs typeface="Times New Roman" pitchFamily="18" charset="0"/>
              </a:rPr>
              <a:t>Citace a autorský zákon </a:t>
            </a:r>
            <a:r>
              <a:rPr lang="cs-CZ" sz="2000" dirty="0">
                <a:latin typeface="Times New Roman" pitchFamily="18" charset="0"/>
                <a:cs typeface="Times New Roman" pitchFamily="18" charset="0"/>
              </a:rPr>
              <a:t>[online]. [cit. 7.10. 2021]. Dostupné z: https://player.slideplayer.cz/42/11279451/#.</a:t>
            </a:r>
          </a:p>
          <a:p>
            <a:pPr marL="574675" indent="-457200">
              <a:buFont typeface="Corbel" pitchFamily="34" charset="0"/>
              <a:buAutoNum type="arabicPeriod"/>
            </a:pPr>
            <a:endParaRPr lang="cs-CZ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odul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234</TotalTime>
  <Words>775</Words>
  <Application>Microsoft Office PowerPoint</Application>
  <PresentationFormat>Předvádění na obrazovce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20" baseType="lpstr">
      <vt:lpstr>Arial</vt:lpstr>
      <vt:lpstr>Corbel</vt:lpstr>
      <vt:lpstr>Times New Roman</vt:lpstr>
      <vt:lpstr>Wingdings</vt:lpstr>
      <vt:lpstr>Wingdings 2</vt:lpstr>
      <vt:lpstr>Wingdings 3</vt:lpstr>
      <vt:lpstr>Modul</vt:lpstr>
      <vt:lpstr>Citace a citování</vt:lpstr>
      <vt:lpstr>Proč citovat? </vt:lpstr>
      <vt:lpstr>Jaké jsou druhy citace?</vt:lpstr>
      <vt:lpstr>Jak citaci uvádíme?</vt:lpstr>
      <vt:lpstr>Mechanismus? </vt:lpstr>
      <vt:lpstr>Příklady </vt:lpstr>
      <vt:lpstr>Pravidla:</vt:lpstr>
      <vt:lpstr>Citace knihy </vt:lpstr>
      <vt:lpstr>Citace článku</vt:lpstr>
      <vt:lpstr>Citace webovky</vt:lpstr>
      <vt:lpstr>Prezentace aplikace PowerPoint</vt:lpstr>
      <vt:lpstr>Prezentace aplikace PowerPoint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Citace a citování</dc:title>
  <dc:creator>Lněňa</dc:creator>
  <cp:lastModifiedBy>Votavová Gabriela</cp:lastModifiedBy>
  <cp:revision>14</cp:revision>
  <cp:lastPrinted>2017-10-10T08:54:56Z</cp:lastPrinted>
  <dcterms:created xsi:type="dcterms:W3CDTF">2011-02-23T19:18:42Z</dcterms:created>
  <dcterms:modified xsi:type="dcterms:W3CDTF">2023-10-19T07:30:34Z</dcterms:modified>
</cp:coreProperties>
</file>