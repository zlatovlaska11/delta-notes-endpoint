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2" r:id="rId5"/>
    <p:sldId id="261" r:id="rId6"/>
    <p:sldId id="260" r:id="rId7"/>
    <p:sldId id="259" r:id="rId8"/>
  </p:sldIdLst>
  <p:sldSz cx="9144000" cy="6858000" type="screen4x3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-105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Obdélník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bdélník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Nadpis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  <p:sp>
        <p:nvSpPr>
          <p:cNvPr id="9" name="Podnadpis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cs-CZ" smtClean="0"/>
              <a:t>Klepnutím lze upravit styl předlohy podnadpisů.</a:t>
            </a:r>
            <a:endParaRPr kumimoji="0" lang="en-US"/>
          </a:p>
        </p:txBody>
      </p:sp>
      <p:sp>
        <p:nvSpPr>
          <p:cNvPr id="28" name="Zástupný symbol pro datum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18A2481B-5154-415F-B752-558547769AA3}" type="datetimeFigureOut">
              <a:rPr lang="cs-CZ" smtClean="0"/>
              <a:pPr/>
              <a:t>2.3.2012</a:t>
            </a:fld>
            <a:endParaRPr lang="cs-CZ"/>
          </a:p>
        </p:txBody>
      </p:sp>
      <p:sp>
        <p:nvSpPr>
          <p:cNvPr id="17" name="Zástupný symbol pro zápatí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cs-CZ"/>
          </a:p>
        </p:txBody>
      </p:sp>
      <p:sp>
        <p:nvSpPr>
          <p:cNvPr id="29" name="Zástupný symbol pro číslo snímku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2481B-5154-415F-B752-558547769AA3}" type="datetimeFigureOut">
              <a:rPr lang="cs-CZ" smtClean="0"/>
              <a:pPr/>
              <a:t>2.3.2012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8" name="Zástupný symbol pro obsah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cs-CZ" smtClean="0"/>
              <a:t>Klepnutím lze upravit styly předlohy textu.</a:t>
            </a:r>
          </a:p>
          <a:p>
            <a:pPr lvl="1" eaLnBrk="1" latinLnBrk="0" hangingPunct="1"/>
            <a:r>
              <a:rPr lang="cs-CZ" smtClean="0"/>
              <a:t>Druhá úroveň</a:t>
            </a:r>
          </a:p>
          <a:p>
            <a:pPr lvl="2" eaLnBrk="1" latinLnBrk="0" hangingPunct="1"/>
            <a:r>
              <a:rPr lang="cs-CZ" smtClean="0"/>
              <a:t>Třetí úroveň</a:t>
            </a:r>
          </a:p>
          <a:p>
            <a:pPr lvl="3" eaLnBrk="1" latinLnBrk="0" hangingPunct="1"/>
            <a:r>
              <a:rPr lang="cs-CZ" smtClean="0"/>
              <a:t>Čtvrtá úroveň</a:t>
            </a:r>
          </a:p>
          <a:p>
            <a:pPr lvl="4" eaLnBrk="1" latinLnBrk="0" hangingPunct="1"/>
            <a:r>
              <a:rPr lang="cs-CZ" smtClean="0"/>
              <a:t>Pátá úroveň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Záhlaví části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cs-CZ" smtClean="0"/>
              <a:t>Klepnutím lze upravit styly předlohy textu.</a:t>
            </a:r>
          </a:p>
        </p:txBody>
      </p:sp>
      <p:sp>
        <p:nvSpPr>
          <p:cNvPr id="7" name="Obdélník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bdélník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bdélník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  <p:sp>
        <p:nvSpPr>
          <p:cNvPr id="12" name="Zástupný symbol pro datum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2481B-5154-415F-B752-558547769AA3}" type="datetimeFigureOut">
              <a:rPr lang="cs-CZ" smtClean="0"/>
              <a:pPr/>
              <a:t>2.3.2012</a:t>
            </a:fld>
            <a:endParaRPr lang="cs-CZ"/>
          </a:p>
        </p:txBody>
      </p:sp>
      <p:sp>
        <p:nvSpPr>
          <p:cNvPr id="13" name="Zástupný symbol pro číslo snímku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14" name="Zástupný symbol pro zápatí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  <p:sp>
        <p:nvSpPr>
          <p:cNvPr id="9" name="Zástupný symbol pro obsah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cs-CZ" smtClean="0"/>
              <a:t>Klepnutím lze upravit styly předlohy textu.</a:t>
            </a:r>
          </a:p>
          <a:p>
            <a:pPr lvl="1" eaLnBrk="1" latinLnBrk="0" hangingPunct="1"/>
            <a:r>
              <a:rPr lang="cs-CZ" smtClean="0"/>
              <a:t>Druhá úroveň</a:t>
            </a:r>
          </a:p>
          <a:p>
            <a:pPr lvl="2" eaLnBrk="1" latinLnBrk="0" hangingPunct="1"/>
            <a:r>
              <a:rPr lang="cs-CZ" smtClean="0"/>
              <a:t>Třetí úroveň</a:t>
            </a:r>
          </a:p>
          <a:p>
            <a:pPr lvl="3" eaLnBrk="1" latinLnBrk="0" hangingPunct="1"/>
            <a:r>
              <a:rPr lang="cs-CZ" smtClean="0"/>
              <a:t>Čtvrtá úroveň</a:t>
            </a:r>
          </a:p>
          <a:p>
            <a:pPr lvl="4" eaLnBrk="1" latinLnBrk="0" hangingPunct="1"/>
            <a:r>
              <a:rPr lang="cs-CZ" smtClean="0"/>
              <a:t>Pátá úroveň</a:t>
            </a:r>
            <a:endParaRPr kumimoji="0" lang="en-US"/>
          </a:p>
        </p:txBody>
      </p:sp>
      <p:sp>
        <p:nvSpPr>
          <p:cNvPr id="11" name="Zástupný symbol pro obsah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cs-CZ" smtClean="0"/>
              <a:t>Klepnutím lze upravit styly předlohy textu.</a:t>
            </a:r>
          </a:p>
          <a:p>
            <a:pPr lvl="1" eaLnBrk="1" latinLnBrk="0" hangingPunct="1"/>
            <a:r>
              <a:rPr lang="cs-CZ" smtClean="0"/>
              <a:t>Druhá úroveň</a:t>
            </a:r>
          </a:p>
          <a:p>
            <a:pPr lvl="2" eaLnBrk="1" latinLnBrk="0" hangingPunct="1"/>
            <a:r>
              <a:rPr lang="cs-CZ" smtClean="0"/>
              <a:t>Třetí úroveň</a:t>
            </a:r>
          </a:p>
          <a:p>
            <a:pPr lvl="3" eaLnBrk="1" latinLnBrk="0" hangingPunct="1"/>
            <a:r>
              <a:rPr lang="cs-CZ" smtClean="0"/>
              <a:t>Čtvrtá úroveň</a:t>
            </a:r>
          </a:p>
          <a:p>
            <a:pPr lvl="4" eaLnBrk="1" latinLnBrk="0" hangingPunct="1"/>
            <a:r>
              <a:rPr lang="cs-CZ" smtClean="0"/>
              <a:t>Pátá úroveň</a:t>
            </a:r>
            <a:endParaRPr kumimoji="0" lang="en-US"/>
          </a:p>
        </p:txBody>
      </p:sp>
      <p:sp>
        <p:nvSpPr>
          <p:cNvPr id="8" name="Zástupný symbol pro datum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18A2481B-5154-415F-B752-558547769AA3}" type="datetimeFigureOut">
              <a:rPr lang="cs-CZ" smtClean="0"/>
              <a:pPr/>
              <a:t>2.3.2012</a:t>
            </a:fld>
            <a:endParaRPr lang="cs-CZ"/>
          </a:p>
        </p:txBody>
      </p:sp>
      <p:sp>
        <p:nvSpPr>
          <p:cNvPr id="10" name="Zástupný symbol pro číslo snímku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12" name="Zástupný symbol pro zápatí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cs-CZ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  <p:sp>
        <p:nvSpPr>
          <p:cNvPr id="11" name="Zástupný symbol pro obsah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cs-CZ" smtClean="0"/>
              <a:t>Klepnutím lze upravit styly předlohy textu.</a:t>
            </a:r>
          </a:p>
          <a:p>
            <a:pPr lvl="1" eaLnBrk="1" latinLnBrk="0" hangingPunct="1"/>
            <a:r>
              <a:rPr lang="cs-CZ" smtClean="0"/>
              <a:t>Druhá úroveň</a:t>
            </a:r>
          </a:p>
          <a:p>
            <a:pPr lvl="2" eaLnBrk="1" latinLnBrk="0" hangingPunct="1"/>
            <a:r>
              <a:rPr lang="cs-CZ" smtClean="0"/>
              <a:t>Třetí úroveň</a:t>
            </a:r>
          </a:p>
          <a:p>
            <a:pPr lvl="3" eaLnBrk="1" latinLnBrk="0" hangingPunct="1"/>
            <a:r>
              <a:rPr lang="cs-CZ" smtClean="0"/>
              <a:t>Čtvrtá úroveň</a:t>
            </a:r>
          </a:p>
          <a:p>
            <a:pPr lvl="4" eaLnBrk="1" latinLnBrk="0" hangingPunct="1"/>
            <a:r>
              <a:rPr lang="cs-CZ" smtClean="0"/>
              <a:t>Pátá úroveň</a:t>
            </a:r>
            <a:endParaRPr kumimoji="0" lang="en-US"/>
          </a:p>
        </p:txBody>
      </p:sp>
      <p:sp>
        <p:nvSpPr>
          <p:cNvPr id="13" name="Zástupný symbol pro obsah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cs-CZ" smtClean="0"/>
              <a:t>Klepnutím lze upravit styly předlohy textu.</a:t>
            </a:r>
          </a:p>
          <a:p>
            <a:pPr lvl="1" eaLnBrk="1" latinLnBrk="0" hangingPunct="1"/>
            <a:r>
              <a:rPr lang="cs-CZ" smtClean="0"/>
              <a:t>Druhá úroveň</a:t>
            </a:r>
          </a:p>
          <a:p>
            <a:pPr lvl="2" eaLnBrk="1" latinLnBrk="0" hangingPunct="1"/>
            <a:r>
              <a:rPr lang="cs-CZ" smtClean="0"/>
              <a:t>Třetí úroveň</a:t>
            </a:r>
          </a:p>
          <a:p>
            <a:pPr lvl="3" eaLnBrk="1" latinLnBrk="0" hangingPunct="1"/>
            <a:r>
              <a:rPr lang="cs-CZ" smtClean="0"/>
              <a:t>Čtvrtá úroveň</a:t>
            </a:r>
          </a:p>
          <a:p>
            <a:pPr lvl="4" eaLnBrk="1" latinLnBrk="0" hangingPunct="1"/>
            <a:r>
              <a:rPr lang="cs-CZ" smtClean="0"/>
              <a:t>Pátá úroveň</a:t>
            </a:r>
            <a:endParaRPr kumimoji="0" lang="en-US"/>
          </a:p>
        </p:txBody>
      </p:sp>
      <p:sp>
        <p:nvSpPr>
          <p:cNvPr id="10" name="Zástupný symbol pro datum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18A2481B-5154-415F-B752-558547769AA3}" type="datetimeFigureOut">
              <a:rPr lang="cs-CZ" smtClean="0"/>
              <a:pPr/>
              <a:t>2.3.2012</a:t>
            </a:fld>
            <a:endParaRPr lang="cs-CZ"/>
          </a:p>
        </p:txBody>
      </p:sp>
      <p:sp>
        <p:nvSpPr>
          <p:cNvPr id="12" name="Zástupný symbol pro číslo snímku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14" name="Zástupný symbol pro zápatí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cs-CZ"/>
          </a:p>
        </p:txBody>
      </p:sp>
      <p:sp>
        <p:nvSpPr>
          <p:cNvPr id="16" name="Zástupný symbol pro text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cs-CZ" smtClean="0"/>
              <a:t>Klepnutím lze upravit styly předlohy textu.</a:t>
            </a:r>
          </a:p>
        </p:txBody>
      </p:sp>
      <p:sp>
        <p:nvSpPr>
          <p:cNvPr id="15" name="Zástupný symbol pro text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cs-CZ" smtClean="0"/>
              <a:t>Klepnutím lze upravit styly předlohy textu.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2481B-5154-415F-B752-558547769AA3}" type="datetimeFigureOut">
              <a:rPr lang="cs-CZ" smtClean="0"/>
              <a:pPr/>
              <a:t>2.3.2012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2481B-5154-415F-B752-558547769AA3}" type="datetimeFigureOut">
              <a:rPr lang="cs-CZ" smtClean="0"/>
              <a:pPr/>
              <a:t>2.3.2012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2481B-5154-415F-B752-558547769AA3}" type="datetimeFigureOut">
              <a:rPr lang="cs-CZ" smtClean="0"/>
              <a:pPr/>
              <a:t>2.3.2012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cs-CZ" smtClean="0"/>
              <a:t>Klepnutím lze upravit styly předlohy textu.</a:t>
            </a:r>
          </a:p>
        </p:txBody>
      </p:sp>
      <p:sp>
        <p:nvSpPr>
          <p:cNvPr id="9" name="Zástupný symbol pro obsah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cs-CZ" smtClean="0"/>
              <a:t>Klepnutím lze upravit styly předlohy textu.</a:t>
            </a:r>
          </a:p>
          <a:p>
            <a:pPr lvl="1" eaLnBrk="1" latinLnBrk="0" hangingPunct="1"/>
            <a:r>
              <a:rPr lang="cs-CZ" smtClean="0"/>
              <a:t>Druhá úroveň</a:t>
            </a:r>
          </a:p>
          <a:p>
            <a:pPr lvl="2" eaLnBrk="1" latinLnBrk="0" hangingPunct="1"/>
            <a:r>
              <a:rPr lang="cs-CZ" smtClean="0"/>
              <a:t>Třetí úroveň</a:t>
            </a:r>
          </a:p>
          <a:p>
            <a:pPr lvl="3" eaLnBrk="1" latinLnBrk="0" hangingPunct="1"/>
            <a:r>
              <a:rPr lang="cs-CZ" smtClean="0"/>
              <a:t>Čtvrtá úroveň</a:t>
            </a:r>
          </a:p>
          <a:p>
            <a:pPr lvl="4" eaLnBrk="1" latinLnBrk="0" hangingPunct="1"/>
            <a:r>
              <a:rPr lang="cs-CZ" smtClean="0"/>
              <a:t>Pátá úroveň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ek s titulkem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cs-CZ" smtClean="0"/>
              <a:t>Klepnutím lze upravit styly předlohy textu.</a:t>
            </a:r>
          </a:p>
        </p:txBody>
      </p:sp>
      <p:sp>
        <p:nvSpPr>
          <p:cNvPr id="8" name="Obdélník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bdélník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Obdélník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  <p:sp>
        <p:nvSpPr>
          <p:cNvPr id="11" name="Obdélník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Zástupný symbol pro datum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18A2481B-5154-415F-B752-558547769AA3}" type="datetimeFigureOut">
              <a:rPr lang="cs-CZ" smtClean="0"/>
              <a:pPr/>
              <a:t>2.3.2012</a:t>
            </a:fld>
            <a:endParaRPr lang="cs-CZ"/>
          </a:p>
        </p:txBody>
      </p:sp>
      <p:sp>
        <p:nvSpPr>
          <p:cNvPr id="13" name="Zástupný symbol pro číslo snímku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14" name="Zástupný symbol pro zápatí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cs-CZ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cs-CZ" smtClean="0"/>
              <a:t>Klepnutím na ikonu přidáte obrázek.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cs-CZ" smtClean="0"/>
              <a:t>Klepnutím lze upravit styly předlohy textu.</a:t>
            </a:r>
          </a:p>
          <a:p>
            <a:pPr lvl="1" eaLnBrk="1" latinLnBrk="0" hangingPunct="1"/>
            <a:r>
              <a:rPr lang="cs-CZ" smtClean="0"/>
              <a:t>Druhá úroveň</a:t>
            </a:r>
          </a:p>
          <a:p>
            <a:pPr lvl="2" eaLnBrk="1" latinLnBrk="0" hangingPunct="1"/>
            <a:r>
              <a:rPr lang="cs-CZ" smtClean="0"/>
              <a:t>Třetí úroveň</a:t>
            </a:r>
          </a:p>
          <a:p>
            <a:pPr lvl="3" eaLnBrk="1" latinLnBrk="0" hangingPunct="1"/>
            <a:r>
              <a:rPr lang="cs-CZ" smtClean="0"/>
              <a:t>Čtvrtá úroveň</a:t>
            </a:r>
          </a:p>
          <a:p>
            <a:pPr lvl="4" eaLnBrk="1" latinLnBrk="0" hangingPunct="1"/>
            <a:r>
              <a:rPr lang="cs-CZ" smtClean="0"/>
              <a:t>Pátá úroveň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2481B-5154-415F-B752-558547769AA3}" type="datetimeFigureOut">
              <a:rPr lang="cs-CZ" smtClean="0"/>
              <a:pPr/>
              <a:t>2.3.2012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Svislý nadpis a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cs-CZ" smtClean="0"/>
              <a:t>Klepnutím lze upravit styly předlohy textu.</a:t>
            </a:r>
          </a:p>
          <a:p>
            <a:pPr lvl="1" eaLnBrk="1" latinLnBrk="0" hangingPunct="1"/>
            <a:r>
              <a:rPr lang="cs-CZ" smtClean="0"/>
              <a:t>Druhá úroveň</a:t>
            </a:r>
          </a:p>
          <a:p>
            <a:pPr lvl="2" eaLnBrk="1" latinLnBrk="0" hangingPunct="1"/>
            <a:r>
              <a:rPr lang="cs-CZ" smtClean="0"/>
              <a:t>Třetí úroveň</a:t>
            </a:r>
          </a:p>
          <a:p>
            <a:pPr lvl="3" eaLnBrk="1" latinLnBrk="0" hangingPunct="1"/>
            <a:r>
              <a:rPr lang="cs-CZ" smtClean="0"/>
              <a:t>Čtvrtá úroveň</a:t>
            </a:r>
          </a:p>
          <a:p>
            <a:pPr lvl="4" eaLnBrk="1" latinLnBrk="0" hangingPunct="1"/>
            <a:r>
              <a:rPr lang="cs-CZ" smtClean="0"/>
              <a:t>Pátá úroveň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18A2481B-5154-415F-B752-558547769AA3}" type="datetimeFigureOut">
              <a:rPr lang="cs-CZ" smtClean="0"/>
              <a:pPr/>
              <a:t>2.3.2012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cs-CZ"/>
          </a:p>
        </p:txBody>
      </p:sp>
      <p:sp>
        <p:nvSpPr>
          <p:cNvPr id="7" name="Obdélník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bdélník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bdélník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Zástupný symbol pro nadpis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  <p:sp>
        <p:nvSpPr>
          <p:cNvPr id="13" name="Zástupný symbol pro text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cs-CZ" smtClean="0"/>
              <a:t>Klepnutím lze upravit styly předlohy textu.</a:t>
            </a:r>
          </a:p>
          <a:p>
            <a:pPr lvl="1" eaLnBrk="1" latinLnBrk="0" hangingPunct="1"/>
            <a:r>
              <a:rPr kumimoji="0" lang="cs-CZ" smtClean="0"/>
              <a:t>Druhá úroveň</a:t>
            </a:r>
          </a:p>
          <a:p>
            <a:pPr lvl="2" eaLnBrk="1" latinLnBrk="0" hangingPunct="1"/>
            <a:r>
              <a:rPr kumimoji="0" lang="cs-CZ" smtClean="0"/>
              <a:t>Třetí úroveň</a:t>
            </a:r>
          </a:p>
          <a:p>
            <a:pPr lvl="3" eaLnBrk="1" latinLnBrk="0" hangingPunct="1"/>
            <a:r>
              <a:rPr kumimoji="0" lang="cs-CZ" smtClean="0"/>
              <a:t>Čtvrtá úroveň</a:t>
            </a:r>
          </a:p>
          <a:p>
            <a:pPr lvl="4" eaLnBrk="1" latinLnBrk="0" hangingPunct="1"/>
            <a:r>
              <a:rPr kumimoji="0" lang="cs-CZ" smtClean="0"/>
              <a:t>Pátá úroveň</a:t>
            </a:r>
            <a:endParaRPr kumimoji="0" lang="en-US"/>
          </a:p>
        </p:txBody>
      </p:sp>
      <p:sp>
        <p:nvSpPr>
          <p:cNvPr id="14" name="Zástupný symbol pro datum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8A2481B-5154-415F-B752-558547769AA3}" type="datetimeFigureOut">
              <a:rPr lang="cs-CZ" smtClean="0"/>
              <a:pPr/>
              <a:t>2.3.2012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cs-CZ"/>
          </a:p>
        </p:txBody>
      </p:sp>
      <p:sp>
        <p:nvSpPr>
          <p:cNvPr id="7" name="Obdélník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bdélník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bdélník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Zástupný symbol pro číslo snímku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 smtClean="0"/>
              <a:t>Větvení kódu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 smtClean="0"/>
              <a:t>2011-2012				4.přednáška</a:t>
            </a:r>
            <a:endParaRPr lang="cs-CZ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Příkaz větvení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cs-CZ" dirty="0" smtClean="0"/>
              <a:t>Základní algoritmická konstrukce</a:t>
            </a:r>
          </a:p>
          <a:p>
            <a:r>
              <a:rPr lang="cs-CZ" dirty="0" smtClean="0"/>
              <a:t>Příkaz větvení je algoritmická konstrukce, která obsahuje za klíčovým slovem </a:t>
            </a:r>
            <a:r>
              <a:rPr lang="cs-CZ" b="1" dirty="0" err="1" smtClean="0"/>
              <a:t>if</a:t>
            </a:r>
            <a:r>
              <a:rPr lang="cs-CZ" dirty="0" smtClean="0"/>
              <a:t> podmínku, na jejímž splnění nebo nesplnění závisí vykonání příkazu uvedeného za příslušným klíčovým slovem</a:t>
            </a:r>
            <a:endParaRPr lang="cs-CZ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Příkaz větvení - zápis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cs-CZ" dirty="0" smtClean="0"/>
              <a:t>Neúplné větvení</a:t>
            </a:r>
          </a:p>
          <a:p>
            <a:pPr>
              <a:buNone/>
            </a:pPr>
            <a:endParaRPr lang="cs-CZ" dirty="0" smtClean="0"/>
          </a:p>
          <a:p>
            <a:pPr>
              <a:buNone/>
            </a:pPr>
            <a:endParaRPr lang="cs-CZ" dirty="0" smtClean="0"/>
          </a:p>
          <a:p>
            <a:pPr>
              <a:buNone/>
            </a:pPr>
            <a:endParaRPr lang="cs-CZ" dirty="0" smtClean="0"/>
          </a:p>
          <a:p>
            <a:r>
              <a:rPr lang="cs-CZ" dirty="0" smtClean="0"/>
              <a:t>Úplné větvení</a:t>
            </a:r>
            <a:endParaRPr lang="cs-CZ" dirty="0"/>
          </a:p>
        </p:txBody>
      </p:sp>
      <p:sp>
        <p:nvSpPr>
          <p:cNvPr id="4" name="TextovéPole 3"/>
          <p:cNvSpPr txBox="1"/>
          <p:nvPr/>
        </p:nvSpPr>
        <p:spPr>
          <a:xfrm>
            <a:off x="971600" y="2204864"/>
            <a:ext cx="6912768" cy="120032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buNone/>
            </a:pPr>
            <a:r>
              <a:rPr lang="cs-CZ" dirty="0" err="1" smtClean="0">
                <a:solidFill>
                  <a:srgbClr val="0000FF"/>
                </a:solidFill>
                <a:latin typeface="Consolas"/>
              </a:rPr>
              <a:t>if</a:t>
            </a:r>
            <a:r>
              <a:rPr lang="cs-CZ" dirty="0" smtClean="0">
                <a:solidFill>
                  <a:srgbClr val="0000FF"/>
                </a:solidFill>
                <a:latin typeface="Consolas"/>
              </a:rPr>
              <a:t> </a:t>
            </a:r>
            <a:r>
              <a:rPr lang="cs-CZ" dirty="0" smtClean="0">
                <a:latin typeface="Consolas"/>
              </a:rPr>
              <a:t>(</a:t>
            </a:r>
            <a:r>
              <a:rPr lang="cs-CZ" dirty="0" err="1" smtClean="0">
                <a:latin typeface="Consolas"/>
              </a:rPr>
              <a:t>podminka</a:t>
            </a:r>
            <a:r>
              <a:rPr lang="cs-CZ" dirty="0" smtClean="0">
                <a:latin typeface="Consolas"/>
              </a:rPr>
              <a:t>)</a:t>
            </a:r>
          </a:p>
          <a:p>
            <a:pPr>
              <a:buNone/>
            </a:pPr>
            <a:r>
              <a:rPr lang="cs-CZ" dirty="0" smtClean="0">
                <a:latin typeface="Consolas"/>
              </a:rPr>
              <a:t>{ </a:t>
            </a:r>
          </a:p>
          <a:p>
            <a:pPr>
              <a:buNone/>
            </a:pPr>
            <a:r>
              <a:rPr lang="cs-CZ" dirty="0" smtClean="0">
                <a:latin typeface="Consolas"/>
              </a:rPr>
              <a:t>  </a:t>
            </a:r>
            <a:r>
              <a:rPr lang="cs-CZ" dirty="0" smtClean="0">
                <a:solidFill>
                  <a:srgbClr val="00B050"/>
                </a:solidFill>
                <a:latin typeface="Consolas"/>
              </a:rPr>
              <a:t>//Kód který se má provést pokud je podmínka splněna           </a:t>
            </a:r>
          </a:p>
          <a:p>
            <a:pPr>
              <a:buNone/>
            </a:pPr>
            <a:r>
              <a:rPr lang="cs-CZ" dirty="0" smtClean="0">
                <a:latin typeface="Consolas"/>
              </a:rPr>
              <a:t>}</a:t>
            </a:r>
            <a:endParaRPr lang="cs-CZ" dirty="0"/>
          </a:p>
        </p:txBody>
      </p:sp>
      <p:sp>
        <p:nvSpPr>
          <p:cNvPr id="5" name="TextovéPole 4"/>
          <p:cNvSpPr txBox="1"/>
          <p:nvPr/>
        </p:nvSpPr>
        <p:spPr>
          <a:xfrm>
            <a:off x="971600" y="4221088"/>
            <a:ext cx="6912768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cs-CZ" dirty="0" err="1" smtClean="0">
                <a:solidFill>
                  <a:srgbClr val="0000FF"/>
                </a:solidFill>
                <a:latin typeface="Consolas"/>
              </a:rPr>
              <a:t>if</a:t>
            </a:r>
            <a:r>
              <a:rPr lang="cs-CZ" dirty="0" smtClean="0">
                <a:solidFill>
                  <a:srgbClr val="0000FF"/>
                </a:solidFill>
                <a:latin typeface="Consolas"/>
              </a:rPr>
              <a:t> </a:t>
            </a:r>
            <a:r>
              <a:rPr lang="cs-CZ" dirty="0" smtClean="0">
                <a:solidFill>
                  <a:schemeClr val="tx1"/>
                </a:solidFill>
                <a:latin typeface="Consolas"/>
              </a:rPr>
              <a:t>(</a:t>
            </a:r>
            <a:r>
              <a:rPr lang="cs-CZ" dirty="0" err="1" smtClean="0">
                <a:solidFill>
                  <a:schemeClr val="tx1"/>
                </a:solidFill>
                <a:latin typeface="Consolas"/>
              </a:rPr>
              <a:t>podminka</a:t>
            </a:r>
            <a:r>
              <a:rPr lang="cs-CZ" dirty="0" smtClean="0">
                <a:solidFill>
                  <a:schemeClr val="tx1"/>
                </a:solidFill>
                <a:latin typeface="Consolas"/>
              </a:rPr>
              <a:t>)</a:t>
            </a:r>
          </a:p>
          <a:p>
            <a:r>
              <a:rPr lang="cs-CZ" dirty="0" smtClean="0">
                <a:solidFill>
                  <a:schemeClr val="tx1"/>
                </a:solidFill>
                <a:latin typeface="Consolas"/>
              </a:rPr>
              <a:t>{</a:t>
            </a:r>
          </a:p>
          <a:p>
            <a:r>
              <a:rPr lang="cs-CZ" dirty="0" smtClean="0">
                <a:solidFill>
                  <a:srgbClr val="00B050"/>
                </a:solidFill>
                <a:latin typeface="Consolas"/>
              </a:rPr>
              <a:t>//Kód který se má provést pokud je podmínka splněna</a:t>
            </a:r>
            <a:endParaRPr lang="cs-CZ" dirty="0" smtClean="0">
              <a:solidFill>
                <a:schemeClr val="tx1"/>
              </a:solidFill>
              <a:latin typeface="Consolas"/>
            </a:endParaRPr>
          </a:p>
          <a:p>
            <a:r>
              <a:rPr lang="cs-CZ" dirty="0" smtClean="0">
                <a:solidFill>
                  <a:schemeClr val="tx1"/>
                </a:solidFill>
                <a:latin typeface="Consolas"/>
              </a:rPr>
              <a:t>}</a:t>
            </a:r>
          </a:p>
          <a:p>
            <a:r>
              <a:rPr lang="cs-CZ" dirty="0" err="1" smtClean="0">
                <a:solidFill>
                  <a:srgbClr val="0000FF"/>
                </a:solidFill>
                <a:latin typeface="Consolas"/>
              </a:rPr>
              <a:t>else</a:t>
            </a:r>
            <a:endParaRPr lang="cs-CZ" dirty="0" smtClean="0">
              <a:solidFill>
                <a:srgbClr val="0000FF"/>
              </a:solidFill>
              <a:latin typeface="Consolas"/>
            </a:endParaRPr>
          </a:p>
          <a:p>
            <a:r>
              <a:rPr lang="cs-CZ" dirty="0" smtClean="0">
                <a:solidFill>
                  <a:schemeClr val="tx1"/>
                </a:solidFill>
                <a:latin typeface="Consolas"/>
              </a:rPr>
              <a:t>{ </a:t>
            </a:r>
          </a:p>
          <a:p>
            <a:r>
              <a:rPr lang="cs-CZ" dirty="0" smtClean="0">
                <a:solidFill>
                  <a:srgbClr val="00B050"/>
                </a:solidFill>
                <a:latin typeface="Consolas"/>
              </a:rPr>
              <a:t>//Kód který se má provést pokud podmínka není splněna</a:t>
            </a:r>
            <a:endParaRPr lang="cs-CZ" dirty="0" smtClean="0">
              <a:solidFill>
                <a:schemeClr val="tx1"/>
              </a:solidFill>
              <a:latin typeface="Consolas"/>
            </a:endParaRPr>
          </a:p>
          <a:p>
            <a:r>
              <a:rPr lang="cs-CZ" dirty="0" smtClean="0">
                <a:solidFill>
                  <a:schemeClr val="tx1"/>
                </a:solidFill>
                <a:latin typeface="Consolas"/>
              </a:rPr>
              <a:t>}</a:t>
            </a:r>
            <a:endParaRPr lang="cs-CZ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Zápis podmínky – porovnání hodnot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cs-CZ" dirty="0" smtClean="0"/>
              <a:t>Operátor porovnání hodnot: ==</a:t>
            </a:r>
          </a:p>
          <a:p>
            <a:pPr lvl="1"/>
            <a:r>
              <a:rPr lang="cs-CZ" dirty="0" smtClean="0"/>
              <a:t>Zjistěte, zda se a rovná 5.</a:t>
            </a:r>
          </a:p>
          <a:p>
            <a:pPr lvl="1"/>
            <a:r>
              <a:rPr lang="cs-CZ" dirty="0" err="1" smtClean="0"/>
              <a:t>If</a:t>
            </a:r>
            <a:r>
              <a:rPr lang="cs-CZ" dirty="0" smtClean="0"/>
              <a:t> a==5</a:t>
            </a:r>
          </a:p>
          <a:p>
            <a:pPr lvl="1">
              <a:buNone/>
            </a:pPr>
            <a:endParaRPr lang="cs-CZ" dirty="0" smtClean="0"/>
          </a:p>
          <a:p>
            <a:pPr lvl="1"/>
            <a:r>
              <a:rPr lang="cs-CZ" sz="2400" dirty="0" smtClean="0"/>
              <a:t>Pozor samotné rovnítko slouží pro přiřazení!!! </a:t>
            </a:r>
            <a:br>
              <a:rPr lang="cs-CZ" sz="2400" dirty="0" smtClean="0"/>
            </a:br>
            <a:r>
              <a:rPr lang="cs-CZ" sz="2400" dirty="0" smtClean="0"/>
              <a:t>Takže zápis </a:t>
            </a:r>
            <a:r>
              <a:rPr lang="cs-CZ" sz="2400" dirty="0" err="1" smtClean="0"/>
              <a:t>if</a:t>
            </a:r>
            <a:r>
              <a:rPr lang="cs-CZ" sz="2400" dirty="0" smtClean="0"/>
              <a:t> a=5 by byl vždy vyhodnocen jako TRUE!!! </a:t>
            </a:r>
            <a:br>
              <a:rPr lang="cs-CZ" sz="2400" dirty="0" smtClean="0"/>
            </a:br>
            <a:r>
              <a:rPr lang="cs-CZ" sz="2400" dirty="0" smtClean="0"/>
              <a:t>(To „</a:t>
            </a:r>
            <a:r>
              <a:rPr lang="cs-CZ" sz="2400" dirty="0" err="1" smtClean="0"/>
              <a:t>if</a:t>
            </a:r>
            <a:r>
              <a:rPr lang="cs-CZ" sz="2400" dirty="0" smtClean="0"/>
              <a:t>“ by totiž zkoumalo, zda se podařilo do „a“ přiřadit hodnotu 5 – a to se povede vždy. </a:t>
            </a:r>
            <a:r>
              <a:rPr lang="cs-CZ" sz="2400" dirty="0" smtClean="0">
                <a:sym typeface="Wingdings" pitchFamily="2" charset="2"/>
              </a:rPr>
              <a:t></a:t>
            </a:r>
            <a:r>
              <a:rPr lang="cs-CZ" sz="2400" dirty="0" smtClean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 smtClean="0"/>
              <a:t>Zápis podmínky – spojování podmínek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cs-CZ" dirty="0" smtClean="0"/>
              <a:t>Logický součet (pokud platí první </a:t>
            </a:r>
            <a:r>
              <a:rPr lang="cs-CZ" b="1" dirty="0" smtClean="0"/>
              <a:t>NEBO </a:t>
            </a:r>
            <a:r>
              <a:rPr lang="cs-CZ" dirty="0" smtClean="0"/>
              <a:t>druhá podmínka)</a:t>
            </a:r>
          </a:p>
          <a:p>
            <a:pPr lvl="1"/>
            <a:r>
              <a:rPr lang="cs-CZ" dirty="0" smtClean="0"/>
              <a:t> – operátor || (píše se </a:t>
            </a:r>
            <a:r>
              <a:rPr lang="cs-CZ" dirty="0" err="1" smtClean="0"/>
              <a:t>AltGr</a:t>
            </a:r>
            <a:r>
              <a:rPr lang="cs-CZ" dirty="0" smtClean="0"/>
              <a:t>+W)</a:t>
            </a:r>
          </a:p>
          <a:p>
            <a:pPr lvl="2"/>
            <a:r>
              <a:rPr lang="cs-CZ" dirty="0" err="1" smtClean="0"/>
              <a:t>If</a:t>
            </a:r>
            <a:r>
              <a:rPr lang="cs-CZ" dirty="0" smtClean="0"/>
              <a:t> první_podmínka  || druha_podmínka</a:t>
            </a:r>
          </a:p>
          <a:p>
            <a:r>
              <a:rPr lang="cs-CZ" dirty="0" smtClean="0"/>
              <a:t>Logický součin (pokud platí první </a:t>
            </a:r>
            <a:r>
              <a:rPr lang="cs-CZ" b="1" dirty="0" smtClean="0"/>
              <a:t>A zároveň</a:t>
            </a:r>
            <a:r>
              <a:rPr lang="cs-CZ" dirty="0" smtClean="0"/>
              <a:t> druhá podmínka) </a:t>
            </a:r>
          </a:p>
          <a:p>
            <a:pPr lvl="1"/>
            <a:r>
              <a:rPr lang="cs-CZ" dirty="0" smtClean="0"/>
              <a:t>– operátor &amp;&amp; (píše se </a:t>
            </a:r>
            <a:r>
              <a:rPr lang="cs-CZ" dirty="0" err="1" smtClean="0"/>
              <a:t>AltGr</a:t>
            </a:r>
            <a:r>
              <a:rPr lang="cs-CZ" dirty="0" smtClean="0"/>
              <a:t>+C)</a:t>
            </a:r>
          </a:p>
          <a:p>
            <a:pPr lvl="2"/>
            <a:r>
              <a:rPr lang="cs-CZ" dirty="0" err="1" smtClean="0"/>
              <a:t>If</a:t>
            </a:r>
            <a:r>
              <a:rPr lang="cs-CZ" dirty="0" smtClean="0"/>
              <a:t> první_podmínka &amp;&amp; druha_podmínka</a:t>
            </a:r>
          </a:p>
          <a:p>
            <a:pPr lvl="1"/>
            <a:endParaRPr lang="cs-CZ" dirty="0" smtClean="0"/>
          </a:p>
          <a:p>
            <a:pPr lvl="1"/>
            <a:endParaRPr lang="cs-CZ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Příklady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/>
            <a:r>
              <a:rPr lang="cs-CZ" dirty="0" smtClean="0"/>
              <a:t>Viz. e-</a:t>
            </a:r>
            <a:r>
              <a:rPr lang="cs-CZ" smtClean="0"/>
              <a:t>learning</a:t>
            </a:r>
            <a:endParaRPr lang="cs-CZ" dirty="0" smtClean="0"/>
          </a:p>
          <a:p>
            <a:endParaRPr lang="cs-CZ" dirty="0" smtClean="0"/>
          </a:p>
          <a:p>
            <a:endParaRPr lang="cs-CZ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Shrnutí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cs-CZ" dirty="0" smtClean="0"/>
              <a:t>Větvení kódu syntaxe</a:t>
            </a:r>
          </a:p>
          <a:p>
            <a:r>
              <a:rPr lang="cs-CZ" dirty="0" smtClean="0"/>
              <a:t>Operátory</a:t>
            </a:r>
          </a:p>
          <a:p>
            <a:pPr lvl="1"/>
            <a:r>
              <a:rPr lang="cs-CZ" dirty="0" smtClean="0"/>
              <a:t>podmínka1 </a:t>
            </a:r>
            <a:r>
              <a:rPr lang="cs-CZ" b="1" dirty="0" smtClean="0"/>
              <a:t>A zároveň</a:t>
            </a:r>
            <a:r>
              <a:rPr lang="cs-CZ" dirty="0" smtClean="0"/>
              <a:t> podmínka2</a:t>
            </a:r>
          </a:p>
          <a:p>
            <a:pPr lvl="1"/>
            <a:r>
              <a:rPr lang="cs-CZ" dirty="0" smtClean="0"/>
              <a:t>podmínka1 </a:t>
            </a:r>
            <a:r>
              <a:rPr lang="cs-CZ" b="1" dirty="0" smtClean="0"/>
              <a:t>NEBO</a:t>
            </a:r>
            <a:r>
              <a:rPr lang="cs-CZ" dirty="0" smtClean="0"/>
              <a:t> podmínka2</a:t>
            </a:r>
          </a:p>
          <a:p>
            <a:pPr lvl="1"/>
            <a:r>
              <a:rPr lang="cs-CZ" dirty="0" smtClean="0"/>
              <a:t>Přiřazení hodnoty do proměnné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án">
  <a:themeElements>
    <a:clrScheme name="Mediá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á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á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67</TotalTime>
  <Words>173</Words>
  <Application>Microsoft Office PowerPoint</Application>
  <PresentationFormat>Předvádění na obrazovce (4:3)</PresentationFormat>
  <Paragraphs>44</Paragraphs>
  <Slides>7</Slides>
  <Notes>0</Notes>
  <HiddenSlides>0</HiddenSlides>
  <MMClips>0</MMClip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7</vt:i4>
      </vt:variant>
    </vt:vector>
  </HeadingPairs>
  <TitlesOfParts>
    <vt:vector size="8" baseType="lpstr">
      <vt:lpstr>Medián</vt:lpstr>
      <vt:lpstr>Větvení kódu</vt:lpstr>
      <vt:lpstr>Příkaz větvení</vt:lpstr>
      <vt:lpstr>Příkaz větvení - zápis</vt:lpstr>
      <vt:lpstr>Zápis podmínky – porovnání hodnot</vt:lpstr>
      <vt:lpstr>Zápis podmínky – spojování podmínek</vt:lpstr>
      <vt:lpstr>Příklady</vt:lpstr>
      <vt:lpstr>Shrnutí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Větvení kódu</dc:title>
  <dc:creator>Formánek Jiří</dc:creator>
  <cp:lastModifiedBy>formji</cp:lastModifiedBy>
  <cp:revision>10</cp:revision>
  <dcterms:modified xsi:type="dcterms:W3CDTF">2012-03-02T20:24:14Z</dcterms:modified>
</cp:coreProperties>
</file>