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89" r:id="rId2"/>
    <p:sldId id="259" r:id="rId3"/>
    <p:sldId id="280" r:id="rId4"/>
    <p:sldId id="275" r:id="rId5"/>
    <p:sldId id="283" r:id="rId6"/>
    <p:sldId id="288" r:id="rId7"/>
    <p:sldId id="285" r:id="rId8"/>
    <p:sldId id="284" r:id="rId9"/>
    <p:sldId id="286" r:id="rId10"/>
    <p:sldId id="287" r:id="rId11"/>
    <p:sldId id="260" r:id="rId12"/>
    <p:sldId id="261" r:id="rId13"/>
    <p:sldId id="281" r:id="rId14"/>
    <p:sldId id="282" r:id="rId15"/>
    <p:sldId id="278" r:id="rId16"/>
  </p:sldIdLst>
  <p:sldSz cx="12192000" cy="6858000"/>
  <p:notesSz cx="6858000" cy="9144000"/>
  <p:embeddedFontLst>
    <p:embeddedFont>
      <p:font typeface="CMU Sans Serif" panose="02000603000000000000" pitchFamily="2" charset="0"/>
      <p:regular r:id="rId18"/>
      <p:bold r:id="rId19"/>
      <p:italic r:id="rId20"/>
      <p:boldItalic r:id="rId21"/>
    </p:embeddedFont>
    <p:embeddedFont>
      <p:font typeface="CMU Serif" panose="02000603000000000000" pitchFamily="2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91" y="41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2C3DC-7CFE-4714-8874-A13CF160DD69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B7070-0522-4606-AC5C-5EEC038BCF0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365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7638EC2-5281-4E06-B1A9-B70258E87744}" type="slidenum">
              <a:rPr lang="cs-CZ" smtClean="0">
                <a:latin typeface="Times New Roman" pitchFamily="18" charset="-18"/>
              </a:rPr>
              <a:pPr eaLnBrk="1" hangingPunct="1"/>
              <a:t>4</a:t>
            </a:fld>
            <a:endParaRPr lang="cs-CZ" smtClean="0">
              <a:latin typeface="Times New Roman" pitchFamily="18" charset="-18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cs-CZ" smtClean="0"/>
          </a:p>
        </p:txBody>
      </p:sp>
    </p:spTree>
    <p:extLst>
      <p:ext uri="{BB962C8B-B14F-4D97-AF65-F5344CB8AC3E}">
        <p14:creationId xmlns:p14="http://schemas.microsoft.com/office/powerpoint/2010/main" val="198201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7638EC2-5281-4E06-B1A9-B70258E87744}" type="slidenum">
              <a:rPr lang="cs-CZ" smtClean="0">
                <a:latin typeface="Times New Roman" pitchFamily="18" charset="-18"/>
              </a:rPr>
              <a:pPr eaLnBrk="1" hangingPunct="1"/>
              <a:t>5</a:t>
            </a:fld>
            <a:endParaRPr lang="cs-CZ" smtClean="0">
              <a:latin typeface="Times New Roman" pitchFamily="18" charset="-18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cs-CZ" smtClean="0"/>
          </a:p>
        </p:txBody>
      </p:sp>
    </p:spTree>
    <p:extLst>
      <p:ext uri="{BB962C8B-B14F-4D97-AF65-F5344CB8AC3E}">
        <p14:creationId xmlns:p14="http://schemas.microsoft.com/office/powerpoint/2010/main" val="2938167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7638EC2-5281-4E06-B1A9-B70258E87744}" type="slidenum">
              <a:rPr lang="cs-CZ" smtClean="0">
                <a:latin typeface="Times New Roman" pitchFamily="18" charset="-18"/>
              </a:rPr>
              <a:pPr eaLnBrk="1" hangingPunct="1"/>
              <a:t>8</a:t>
            </a:fld>
            <a:endParaRPr lang="cs-CZ" smtClean="0">
              <a:latin typeface="Times New Roman" pitchFamily="18" charset="-18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cs-CZ" smtClean="0"/>
          </a:p>
        </p:txBody>
      </p:sp>
    </p:spTree>
    <p:extLst>
      <p:ext uri="{BB962C8B-B14F-4D97-AF65-F5344CB8AC3E}">
        <p14:creationId xmlns:p14="http://schemas.microsoft.com/office/powerpoint/2010/main" val="74636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lze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502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 smtClean="0"/>
              <a:t>Kliknutím lze upravit styly předlohy textu.</a:t>
            </a:r>
          </a:p>
          <a:p>
            <a:pPr lvl="1"/>
            <a:r>
              <a:rPr lang="cs-CZ" dirty="0" smtClean="0"/>
              <a:t>Druhá úroveň</a:t>
            </a:r>
          </a:p>
          <a:p>
            <a:pPr lvl="2"/>
            <a:r>
              <a:rPr lang="cs-CZ" dirty="0" smtClean="0"/>
              <a:t>Třetí úroveň</a:t>
            </a:r>
          </a:p>
          <a:p>
            <a:pPr lvl="3"/>
            <a:r>
              <a:rPr lang="cs-CZ" dirty="0" smtClean="0"/>
              <a:t>Čtvrtá úroveň</a:t>
            </a:r>
          </a:p>
          <a:p>
            <a:pPr lvl="4"/>
            <a:r>
              <a:rPr lang="cs-CZ" dirty="0" smtClean="0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681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50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224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796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292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627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76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92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987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949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C86B-9970-4E8D-A02B-929701762E2E}" type="datetimeFigureOut">
              <a:rPr lang="cs-CZ" smtClean="0"/>
              <a:t>08.09.2016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C3282-A94B-44FE-876A-B4D518760B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798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228623" TargetMode="External"/><Relationship Id="rId2" Type="http://schemas.openxmlformats.org/officeDocument/2006/relationships/hyperlink" Target="http://sq.wikipedia.org/wiki/Muhamed_Bin_Musa_Al-Khuarizm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Úvod do algoritmizace</a:t>
            </a:r>
            <a:endParaRPr lang="cs-CZ" dirty="0"/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78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Algoritmus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4785"/>
            <a:ext cx="6275040" cy="434907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cs-CZ" sz="2400" dirty="0"/>
              <a:t>odvozeno ze jména perského matematika </a:t>
            </a:r>
            <a:r>
              <a:rPr lang="cs-CZ" sz="2400" dirty="0" err="1"/>
              <a:t>Muhamada</a:t>
            </a:r>
            <a:r>
              <a:rPr lang="cs-CZ" sz="2400" dirty="0"/>
              <a:t> al-</a:t>
            </a:r>
            <a:r>
              <a:rPr lang="cs-CZ" sz="2400" dirty="0" err="1"/>
              <a:t>Chorezmího</a:t>
            </a:r>
            <a:r>
              <a:rPr lang="cs-CZ" sz="2400" dirty="0"/>
              <a:t> </a:t>
            </a:r>
          </a:p>
          <a:p>
            <a:pPr marL="457200" lvl="1" indent="0">
              <a:buNone/>
            </a:pPr>
            <a:r>
              <a:rPr lang="cs-CZ" sz="2000" b="1" dirty="0" smtClean="0"/>
              <a:t>(</a:t>
            </a:r>
            <a:r>
              <a:rPr lang="cs-CZ" sz="2000" b="1" dirty="0" err="1" smtClean="0"/>
              <a:t>Abu</a:t>
            </a:r>
            <a:r>
              <a:rPr lang="cs-CZ" sz="2000" b="1" dirty="0" smtClean="0"/>
              <a:t> </a:t>
            </a:r>
            <a:r>
              <a:rPr lang="cs-CZ" sz="2000" b="1" dirty="0" err="1"/>
              <a:t>Abdullah</a:t>
            </a:r>
            <a:r>
              <a:rPr lang="cs-CZ" sz="2000" b="1" dirty="0"/>
              <a:t> Muhammad </a:t>
            </a:r>
            <a:r>
              <a:rPr lang="cs-CZ" sz="2000" b="1" dirty="0" err="1"/>
              <a:t>ibn</a:t>
            </a:r>
            <a:r>
              <a:rPr lang="cs-CZ" sz="2000" b="1" dirty="0"/>
              <a:t> </a:t>
            </a:r>
            <a:r>
              <a:rPr lang="cs-CZ" sz="2000" b="1" dirty="0" err="1"/>
              <a:t>Musa</a:t>
            </a:r>
            <a:r>
              <a:rPr lang="cs-CZ" sz="2000" b="1" dirty="0"/>
              <a:t> </a:t>
            </a:r>
            <a:r>
              <a:rPr lang="cs-CZ" sz="2000" b="1" dirty="0" smtClean="0"/>
              <a:t>Al-</a:t>
            </a:r>
            <a:r>
              <a:rPr lang="cs-CZ" sz="2000" b="1" dirty="0" err="1" smtClean="0"/>
              <a:t>Khwarizmi</a:t>
            </a:r>
            <a:r>
              <a:rPr lang="cs-CZ" sz="2000" b="1" dirty="0" smtClean="0"/>
              <a:t>)</a:t>
            </a:r>
            <a:endParaRPr lang="cs-CZ" sz="2000" b="1" dirty="0"/>
          </a:p>
          <a:p>
            <a:r>
              <a:rPr lang="cs-CZ" sz="2400" b="1" dirty="0"/>
              <a:t>narozen</a:t>
            </a:r>
            <a:r>
              <a:rPr lang="cs-CZ" sz="2400" dirty="0"/>
              <a:t> </a:t>
            </a:r>
            <a:r>
              <a:rPr lang="cs-CZ" sz="2400" dirty="0"/>
              <a:t>v Uzbekistánu roku 770</a:t>
            </a:r>
          </a:p>
          <a:p>
            <a:r>
              <a:rPr lang="cs-CZ" sz="2400" dirty="0"/>
              <a:t>v dětství se s rodiči přestěhoval jižně od Bagdádu</a:t>
            </a:r>
          </a:p>
          <a:p>
            <a:r>
              <a:rPr lang="cs-CZ" sz="2400" dirty="0"/>
              <a:t>jeden </a:t>
            </a:r>
            <a:r>
              <a:rPr lang="cs-CZ" sz="2400" dirty="0"/>
              <a:t>z největších </a:t>
            </a:r>
            <a:r>
              <a:rPr lang="cs-CZ" sz="2400" dirty="0"/>
              <a:t>matematiků své doby, slavný </a:t>
            </a:r>
            <a:r>
              <a:rPr lang="cs-CZ" sz="2400" dirty="0"/>
              <a:t>astronom a </a:t>
            </a:r>
            <a:r>
              <a:rPr lang="cs-CZ" sz="2400" dirty="0"/>
              <a:t>zeměpisec, zakladatel algebry (mj. analytické </a:t>
            </a:r>
            <a:r>
              <a:rPr lang="cs-CZ" sz="2400" dirty="0"/>
              <a:t>řešení lineárních a kvadratických </a:t>
            </a:r>
            <a:r>
              <a:rPr lang="cs-CZ" sz="2400" dirty="0"/>
              <a:t>rovnic)</a:t>
            </a:r>
          </a:p>
        </p:txBody>
      </p:sp>
      <p:pic>
        <p:nvPicPr>
          <p:cNvPr id="1026" name="Picture 2" descr="Muhamed Bin Musa Al-Khuarizmi (Algorizmi).jpg&#10;http://sq.wikipedia.org/wiki/Muhamed_Bin_Musa_Al-Khuarizmi" title="Muhamed Bin Musa Al-Khuarizm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304" y="1700808"/>
            <a:ext cx="2358449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délník 1"/>
          <p:cNvSpPr/>
          <p:nvPr/>
        </p:nvSpPr>
        <p:spPr>
          <a:xfrm>
            <a:off x="1524000" y="5733256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2800" b="1" dirty="0"/>
              <a:t>= přesný návod či postup, kterým lze vyřešit daný </a:t>
            </a:r>
            <a:r>
              <a:rPr lang="cs-CZ" sz="2800" b="1" i="1" dirty="0">
                <a:solidFill>
                  <a:srgbClr val="FF0000"/>
                </a:solidFill>
              </a:rPr>
              <a:t>typ</a:t>
            </a:r>
            <a:r>
              <a:rPr lang="cs-CZ" sz="2800" b="1" dirty="0"/>
              <a:t> úlohy</a:t>
            </a:r>
          </a:p>
        </p:txBody>
      </p:sp>
    </p:spTree>
    <p:extLst>
      <p:ext uri="{BB962C8B-B14F-4D97-AF65-F5344CB8AC3E}">
        <p14:creationId xmlns:p14="http://schemas.microsoft.com/office/powerpoint/2010/main" val="46751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Algoritmizace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metodický </a:t>
            </a:r>
            <a:r>
              <a:rPr lang="cs-CZ" dirty="0"/>
              <a:t>přístup k vytváření </a:t>
            </a:r>
            <a:r>
              <a:rPr lang="cs-CZ" dirty="0" smtClean="0"/>
              <a:t>programu</a:t>
            </a:r>
          </a:p>
          <a:p>
            <a:r>
              <a:rPr lang="cs-CZ" dirty="0" smtClean="0"/>
              <a:t>formulace </a:t>
            </a:r>
            <a:r>
              <a:rPr lang="cs-CZ" dirty="0"/>
              <a:t>postupů řešení daného </a:t>
            </a:r>
            <a:r>
              <a:rPr lang="cs-CZ" dirty="0" smtClean="0"/>
              <a:t>problému</a:t>
            </a:r>
          </a:p>
          <a:p>
            <a:r>
              <a:rPr lang="cs-CZ" b="1" dirty="0" smtClean="0"/>
              <a:t>Výsledek = algoritmus</a:t>
            </a: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cs-CZ" b="1" i="1" dirty="0" smtClean="0"/>
              <a:t>„Algoritmizace </a:t>
            </a:r>
            <a:r>
              <a:rPr lang="cs-CZ" b="1" i="1" dirty="0"/>
              <a:t>zůstává časem </a:t>
            </a:r>
            <a:r>
              <a:rPr lang="cs-CZ" b="1" i="1" dirty="0" smtClean="0"/>
              <a:t>nedotčena.“ </a:t>
            </a:r>
          </a:p>
          <a:p>
            <a:r>
              <a:rPr lang="cs-CZ" dirty="0" smtClean="0"/>
              <a:t>řešení </a:t>
            </a:r>
            <a:r>
              <a:rPr lang="cs-CZ" dirty="0"/>
              <a:t>problému v obecné </a:t>
            </a:r>
            <a:r>
              <a:rPr lang="cs-CZ" dirty="0" smtClean="0"/>
              <a:t>rovině =&gt; není závislá </a:t>
            </a:r>
            <a:r>
              <a:rPr lang="cs-CZ" dirty="0"/>
              <a:t>na realizaci konkrétním programovacím </a:t>
            </a:r>
            <a:r>
              <a:rPr lang="cs-CZ" dirty="0" smtClean="0"/>
              <a:t>jazyku nebo nástroji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5484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Pojďme vyrobit algoritmus</a:t>
            </a:r>
            <a:endParaRPr lang="cs-CZ" dirty="0"/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i="1" dirty="0" smtClean="0"/>
              <a:t>Vyřešte úlohu</a:t>
            </a:r>
            <a:endParaRPr lang="cs-CZ" i="1" dirty="0" smtClean="0"/>
          </a:p>
          <a:p>
            <a:pPr lvl="1"/>
            <a:r>
              <a:rPr lang="cs-CZ" dirty="0" smtClean="0"/>
              <a:t>2 </a:t>
            </a:r>
            <a:r>
              <a:rPr lang="cs-CZ" dirty="0" smtClean="0"/>
              <a:t>dny a 15 hodin převeď na </a:t>
            </a:r>
            <a:r>
              <a:rPr lang="cs-CZ" dirty="0" smtClean="0"/>
              <a:t>minuty</a:t>
            </a:r>
          </a:p>
          <a:p>
            <a:endParaRPr lang="cs-CZ" dirty="0" smtClean="0"/>
          </a:p>
          <a:p>
            <a:r>
              <a:rPr lang="cs-CZ" i="1" dirty="0" smtClean="0"/>
              <a:t>Zapište postup (algoritmus)</a:t>
            </a:r>
          </a:p>
          <a:p>
            <a:pPr lvl="1"/>
            <a:r>
              <a:rPr lang="cs-CZ" dirty="0" smtClean="0"/>
              <a:t>Máme čekat </a:t>
            </a:r>
            <a:r>
              <a:rPr lang="cs-CZ" i="1" dirty="0" smtClean="0"/>
              <a:t>N</a:t>
            </a:r>
            <a:r>
              <a:rPr lang="cs-CZ" dirty="0" smtClean="0"/>
              <a:t> dní a </a:t>
            </a:r>
            <a:r>
              <a:rPr lang="cs-CZ" i="1" dirty="0" smtClean="0"/>
              <a:t>M</a:t>
            </a:r>
            <a:r>
              <a:rPr lang="cs-CZ" dirty="0" smtClean="0"/>
              <a:t> hodin. Jak toto číslo převedeme na minuty?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235161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Pojďme vyrobit algoritmus</a:t>
            </a:r>
            <a:endParaRPr lang="cs-CZ" dirty="0"/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i="1" dirty="0" smtClean="0"/>
              <a:t>Vyřešte úlohu</a:t>
            </a:r>
            <a:endParaRPr lang="cs-CZ" i="1" dirty="0" smtClean="0"/>
          </a:p>
          <a:p>
            <a:pPr lvl="1"/>
            <a:r>
              <a:rPr lang="cs-CZ" dirty="0" smtClean="0"/>
              <a:t>spočítejte délku přepony pravoúhlého trojúhelníka s délkami odvěsen 24 cm a 13 </a:t>
            </a:r>
            <a:r>
              <a:rPr lang="cs-CZ" dirty="0" smtClean="0"/>
              <a:t>cm</a:t>
            </a:r>
          </a:p>
          <a:p>
            <a:pPr lvl="1"/>
            <a:endParaRPr lang="cs-CZ" dirty="0" smtClean="0"/>
          </a:p>
          <a:p>
            <a:r>
              <a:rPr lang="cs-CZ" i="1" dirty="0" smtClean="0"/>
              <a:t>Zapište algoritmus</a:t>
            </a:r>
          </a:p>
          <a:p>
            <a:pPr lvl="1"/>
            <a:r>
              <a:rPr lang="cs-CZ" dirty="0" smtClean="0"/>
              <a:t>Jak spočíst délku přepony pravoúhlého trojúhelníka s délkami odvěsen </a:t>
            </a:r>
            <a:r>
              <a:rPr lang="cs-CZ" i="1" dirty="0" smtClean="0"/>
              <a:t>X</a:t>
            </a:r>
            <a:r>
              <a:rPr lang="cs-CZ" dirty="0" smtClean="0"/>
              <a:t> a </a:t>
            </a:r>
            <a:r>
              <a:rPr lang="cs-CZ" i="1" dirty="0" smtClean="0"/>
              <a:t>Y</a:t>
            </a:r>
            <a:endParaRPr lang="cs-CZ" i="1" dirty="0" smtClean="0"/>
          </a:p>
        </p:txBody>
      </p:sp>
    </p:spTree>
    <p:extLst>
      <p:ext uri="{BB962C8B-B14F-4D97-AF65-F5344CB8AC3E}">
        <p14:creationId xmlns:p14="http://schemas.microsoft.com/office/powerpoint/2010/main" val="115892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algoritmus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9416" y="1600201"/>
            <a:ext cx="10513168" cy="4853135"/>
          </a:xfrm>
        </p:spPr>
        <p:txBody>
          <a:bodyPr>
            <a:normAutofit lnSpcReduction="10000"/>
          </a:bodyPr>
          <a:lstStyle/>
          <a:p>
            <a:r>
              <a:rPr lang="cs-CZ" dirty="0" smtClean="0"/>
              <a:t>Jak se vaří čaj?</a:t>
            </a:r>
          </a:p>
          <a:p>
            <a:pPr marL="0" indent="0">
              <a:buNone/>
            </a:pPr>
            <a:endParaRPr lang="cs-CZ" dirty="0" smtClean="0"/>
          </a:p>
          <a:p>
            <a:r>
              <a:rPr lang="cs-CZ" dirty="0" smtClean="0"/>
              <a:t>V šuplíku jsou smíchané všechny moje ponožky, jednotlivě. Co mám dělat, abych odešel v páru, který k sobě pasuje?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 smtClean="0"/>
              <a:t>Mám několikastránkový seznam, na kterém jsou kalendářní data a obrat firmy v každém měsíci. Jak se najde měsíc, ve kterém byly nejlepší prodeje?</a:t>
            </a:r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805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670976" cy="1143000"/>
          </a:xfrm>
        </p:spPr>
        <p:txBody>
          <a:bodyPr/>
          <a:lstStyle/>
          <a:p>
            <a:pPr algn="r"/>
            <a:r>
              <a:rPr lang="cs-CZ" dirty="0" smtClean="0"/>
              <a:t>Algoritmus?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i="1" dirty="0"/>
              <a:t>Vyřešte úlohu</a:t>
            </a:r>
          </a:p>
          <a:p>
            <a:pPr lvl="1"/>
            <a:r>
              <a:rPr lang="cs-CZ" dirty="0" smtClean="0"/>
              <a:t>Kudy se králík dostane ke košíku?</a:t>
            </a:r>
            <a:endParaRPr lang="cs-CZ" dirty="0"/>
          </a:p>
          <a:p>
            <a:pPr lvl="1"/>
            <a:endParaRPr lang="cs-CZ" dirty="0"/>
          </a:p>
          <a:p>
            <a:r>
              <a:rPr lang="cs-CZ" i="1" dirty="0"/>
              <a:t>Zapište algoritmus</a:t>
            </a:r>
          </a:p>
          <a:p>
            <a:pPr lvl="1"/>
            <a:r>
              <a:rPr lang="cs-CZ" dirty="0" smtClean="0"/>
              <a:t>Jak se prochází bludiště?</a:t>
            </a:r>
          </a:p>
          <a:p>
            <a:pPr lvl="1"/>
            <a:r>
              <a:rPr lang="cs-CZ" dirty="0" smtClean="0"/>
              <a:t>Jaké dáte králíkovi instrukce, aby s nimi prošel jakékoli bludiště?</a:t>
            </a:r>
            <a:endParaRPr lang="cs-CZ" dirty="0"/>
          </a:p>
          <a:p>
            <a:endParaRPr lang="cs-CZ" dirty="0"/>
          </a:p>
        </p:txBody>
      </p:sp>
      <p:pic>
        <p:nvPicPr>
          <p:cNvPr id="16" name="Zástupný symbol pro obsah 1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2" y="-14875"/>
            <a:ext cx="6282550" cy="682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 err="1" smtClean="0"/>
              <a:t>Eratosthenovo</a:t>
            </a:r>
            <a:r>
              <a:rPr lang="cs-CZ" dirty="0" smtClean="0"/>
              <a:t> síto</a:t>
            </a:r>
            <a:endParaRPr lang="cs-CZ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ástupný symbol pro obsah 1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17638"/>
                <a:ext cx="10972800" cy="531318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cs-CZ" b="1" dirty="0" smtClean="0"/>
                  <a:t>Zadání:</a:t>
                </a:r>
                <a:r>
                  <a:rPr lang="cs-CZ" dirty="0" smtClean="0"/>
                  <a:t> máme najít všechna prvočísla menší než </a:t>
                </a:r>
                <a:r>
                  <a:rPr lang="cs-CZ" i="1" dirty="0" smtClean="0"/>
                  <a:t>X</a:t>
                </a:r>
                <a:r>
                  <a:rPr lang="cs-CZ" dirty="0" smtClean="0"/>
                  <a:t>.</a:t>
                </a:r>
              </a:p>
              <a:p>
                <a:pPr marL="0" indent="0">
                  <a:buNone/>
                </a:pPr>
                <a:endParaRPr lang="cs-CZ" dirty="0" smtClean="0"/>
              </a:p>
              <a:p>
                <a:pPr marL="0" indent="0">
                  <a:buNone/>
                </a:pPr>
                <a:r>
                  <a:rPr lang="cs-CZ" b="1" dirty="0" smtClean="0"/>
                  <a:t>Řešení:</a:t>
                </a:r>
                <a:endParaRPr lang="cs-CZ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cs-CZ" dirty="0" smtClean="0"/>
                  <a:t>Napíšeme si všechna čísla menší než </a:t>
                </a:r>
                <a:r>
                  <a:rPr lang="cs-CZ" i="1" dirty="0" smtClean="0"/>
                  <a:t>X</a:t>
                </a:r>
                <a:r>
                  <a:rPr lang="cs-CZ" dirty="0" smtClean="0"/>
                  <a:t> a větší než 1.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cs-CZ" dirty="0" smtClean="0"/>
                  <a:t>Najdeme nejmenší neškrtnuté </a:t>
                </a:r>
                <a:r>
                  <a:rPr lang="cs-CZ" smtClean="0"/>
                  <a:t>a nezakroužkované číslo</a:t>
                </a:r>
                <a:r>
                  <a:rPr lang="cs-CZ" dirty="0" smtClean="0"/>
                  <a:t>, zakroužkujeme ho a pak vyškrtáme všechny jeho násobky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cs-CZ" dirty="0" smtClean="0"/>
                  <a:t>Předchozí krok opakujeme tak dlouho, než budeme kroužkovat číslo větší než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cs-CZ" i="1" smtClean="0"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cs-CZ" b="0" i="1" smtClean="0"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rad>
                  </m:oMath>
                </a14:m>
                <a:r>
                  <a:rPr lang="cs-CZ" dirty="0" smtClean="0">
                    <a:ea typeface="Cambria Math" panose="02040503050406030204" pitchFamily="18" charset="0"/>
                  </a:rPr>
                  <a:t>. Tím škrtání skončíme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cs-CZ" dirty="0" smtClean="0">
                    <a:ea typeface="Cambria Math" panose="02040503050406030204" pitchFamily="18" charset="0"/>
                  </a:rPr>
                  <a:t>Zakroužkujeme všechna neškrtnutá čísla.</a:t>
                </a:r>
              </a:p>
              <a:p>
                <a:pPr marL="0" indent="0">
                  <a:buNone/>
                </a:pPr>
                <a:r>
                  <a:rPr lang="cs-CZ" dirty="0" smtClean="0">
                    <a:ea typeface="Cambria Math" panose="02040503050406030204" pitchFamily="18" charset="0"/>
                  </a:rPr>
                  <a:t>Zakroužkovaná čísla jsou prvočísla</a:t>
                </a:r>
                <a:endParaRPr lang="cs-CZ" dirty="0" smtClean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Zástupný symbol pro obsah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17638"/>
                <a:ext cx="10972800" cy="5313189"/>
              </a:xfrm>
              <a:blipFill>
                <a:blip r:embed="rId3"/>
                <a:stretch>
                  <a:fillRect l="-1278" t="-241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30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Pojďme vyrobit </a:t>
            </a:r>
            <a:r>
              <a:rPr lang="cs-CZ" dirty="0" smtClean="0"/>
              <a:t>algoritmus – Hanojská věž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Máme přestěhovat celou stavbu na protější trn</a:t>
            </a:r>
          </a:p>
          <a:p>
            <a:r>
              <a:rPr lang="cs-CZ" dirty="0" smtClean="0"/>
              <a:t>Každý stupeň smíme položit jen na větší stupeň (klidně i o hodně větší) nebo prázdný trn</a:t>
            </a:r>
          </a:p>
          <a:p>
            <a:pPr lvl="1"/>
            <a:endParaRPr lang="cs-CZ" dirty="0"/>
          </a:p>
        </p:txBody>
      </p:sp>
      <p:pic>
        <p:nvPicPr>
          <p:cNvPr id="2050" name="Picture 2" descr="https://upload.wikimedia.org/wikipedia/commons/0/07/Tower_of_Hanoi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3573016"/>
            <a:ext cx="644842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36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Pojďme vyrobit algoritmus – Hanojská věž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Jak </a:t>
            </a:r>
            <a:r>
              <a:rPr lang="cs-CZ" dirty="0"/>
              <a:t>vyřešíme jednoduchou věž se třemi stupni?</a:t>
            </a:r>
          </a:p>
          <a:p>
            <a:r>
              <a:rPr lang="cs-CZ" dirty="0"/>
              <a:t>Co se změní, budou-li </a:t>
            </a:r>
            <a:r>
              <a:rPr lang="cs-CZ" dirty="0" smtClean="0"/>
              <a:t>stupně </a:t>
            </a:r>
            <a:r>
              <a:rPr lang="cs-CZ" dirty="0"/>
              <a:t>4, 5, </a:t>
            </a:r>
            <a:r>
              <a:rPr lang="cs-CZ" dirty="0" smtClean="0"/>
              <a:t>… ?</a:t>
            </a:r>
            <a:endParaRPr lang="cs-CZ" dirty="0"/>
          </a:p>
          <a:p>
            <a:r>
              <a:rPr lang="cs-CZ" dirty="0" smtClean="0"/>
              <a:t>Jakým pohybem </a:t>
            </a:r>
            <a:r>
              <a:rPr lang="cs-CZ" dirty="0"/>
              <a:t>mám začít</a:t>
            </a:r>
            <a:r>
              <a:rPr lang="cs-CZ" dirty="0" smtClean="0"/>
              <a:t>, když mám věž </a:t>
            </a:r>
            <a:r>
              <a:rPr lang="cs-CZ" dirty="0"/>
              <a:t>s </a:t>
            </a:r>
            <a:r>
              <a:rPr lang="cs-CZ" i="1" dirty="0"/>
              <a:t>N</a:t>
            </a:r>
            <a:r>
              <a:rPr lang="cs-CZ" dirty="0"/>
              <a:t> </a:t>
            </a:r>
            <a:r>
              <a:rPr lang="cs-CZ" dirty="0" smtClean="0"/>
              <a:t>stupni?</a:t>
            </a:r>
            <a:endParaRPr lang="cs-CZ" dirty="0"/>
          </a:p>
          <a:p>
            <a:endParaRPr lang="cs-CZ" dirty="0"/>
          </a:p>
        </p:txBody>
      </p:sp>
      <p:pic>
        <p:nvPicPr>
          <p:cNvPr id="4" name="Picture 2" descr="https://upload.wikimedia.org/wikipedia/commons/0/07/Tower_of_Hanoi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784" y="3717032"/>
            <a:ext cx="644842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41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Vlastnosti </a:t>
            </a:r>
            <a:r>
              <a:rPr lang="cs-CZ" dirty="0"/>
              <a:t>algoritmu </a:t>
            </a:r>
            <a:endParaRPr lang="cs-CZ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91264" cy="5141168"/>
          </a:xfrm>
        </p:spPr>
        <p:txBody>
          <a:bodyPr>
            <a:noAutofit/>
          </a:bodyPr>
          <a:lstStyle/>
          <a:p>
            <a:r>
              <a:rPr lang="cs-CZ" sz="2700" dirty="0"/>
              <a:t>pro </a:t>
            </a:r>
            <a:r>
              <a:rPr lang="cs-CZ" sz="2700" dirty="0"/>
              <a:t>správné </a:t>
            </a:r>
            <a:r>
              <a:rPr lang="cs-CZ" sz="2700" dirty="0"/>
              <a:t>vykonání algoritmu </a:t>
            </a:r>
            <a:r>
              <a:rPr lang="cs-CZ" sz="2700" dirty="0"/>
              <a:t>a vlastní </a:t>
            </a:r>
            <a:r>
              <a:rPr lang="cs-CZ" sz="2700" dirty="0"/>
              <a:t>korektnost</a:t>
            </a:r>
          </a:p>
          <a:p>
            <a:r>
              <a:rPr lang="cs-CZ" sz="2700" b="1" dirty="0"/>
              <a:t>Elementárnost </a:t>
            </a:r>
            <a:r>
              <a:rPr lang="cs-CZ" sz="2700" dirty="0"/>
              <a:t>= </a:t>
            </a:r>
            <a:r>
              <a:rPr lang="cs-CZ" sz="2700" dirty="0"/>
              <a:t>konečný počet jednoduchých </a:t>
            </a:r>
            <a:r>
              <a:rPr lang="cs-CZ" sz="2700" dirty="0"/>
              <a:t>a </a:t>
            </a:r>
            <a:r>
              <a:rPr lang="cs-CZ" sz="2700" dirty="0"/>
              <a:t>snadno realizovatelných </a:t>
            </a:r>
            <a:r>
              <a:rPr lang="cs-CZ" sz="2700" dirty="0"/>
              <a:t>kroků</a:t>
            </a:r>
          </a:p>
          <a:p>
            <a:r>
              <a:rPr lang="cs-CZ" sz="2700" b="1" dirty="0"/>
              <a:t>Determinovanost </a:t>
            </a:r>
            <a:r>
              <a:rPr lang="cs-CZ" sz="2700" dirty="0"/>
              <a:t>= (též určenost </a:t>
            </a:r>
            <a:r>
              <a:rPr lang="cs-CZ" sz="2700" dirty="0"/>
              <a:t>či </a:t>
            </a:r>
            <a:r>
              <a:rPr lang="cs-CZ" sz="2700" dirty="0"/>
              <a:t>jednoznačnost) v žádné </a:t>
            </a:r>
            <a:r>
              <a:rPr lang="cs-CZ" sz="2700" dirty="0"/>
              <a:t>z jeho částí nesmí být pochyb o tom, co je třeba v daném místě provést a jaký krok bude následovat </a:t>
            </a:r>
          </a:p>
          <a:p>
            <a:r>
              <a:rPr lang="cs-CZ" sz="2700" b="1" dirty="0"/>
              <a:t>Konečnost </a:t>
            </a:r>
            <a:r>
              <a:rPr lang="cs-CZ" sz="2700" dirty="0"/>
              <a:t>- musí </a:t>
            </a:r>
            <a:r>
              <a:rPr lang="cs-CZ" sz="2700" dirty="0"/>
              <a:t>po konečném počtu kroků </a:t>
            </a:r>
            <a:r>
              <a:rPr lang="cs-CZ" sz="2700" dirty="0"/>
              <a:t>skončit</a:t>
            </a:r>
          </a:p>
          <a:p>
            <a:r>
              <a:rPr lang="cs-CZ" sz="2700" b="1" dirty="0"/>
              <a:t>Rezultativnost </a:t>
            </a:r>
            <a:r>
              <a:rPr lang="cs-CZ" sz="2700" dirty="0"/>
              <a:t>– musí po </a:t>
            </a:r>
            <a:r>
              <a:rPr lang="cs-CZ" sz="2700" dirty="0"/>
              <a:t>vykonání konečného počtu kroků skončit a </a:t>
            </a:r>
            <a:r>
              <a:rPr lang="cs-CZ" sz="2700"/>
              <a:t>poskytnout </a:t>
            </a:r>
            <a:r>
              <a:rPr lang="cs-CZ" sz="2700"/>
              <a:t>výsledek</a:t>
            </a:r>
            <a:endParaRPr lang="cs-CZ" sz="2700" dirty="0"/>
          </a:p>
          <a:p>
            <a:r>
              <a:rPr lang="cs-CZ" sz="2700" b="1" dirty="0"/>
              <a:t>Obecnost </a:t>
            </a:r>
            <a:r>
              <a:rPr lang="cs-CZ" sz="2700" dirty="0"/>
              <a:t>(= hromadnost) – algoritmus k </a:t>
            </a:r>
            <a:r>
              <a:rPr lang="cs-CZ" sz="2700" dirty="0"/>
              <a:t>širšímu </a:t>
            </a:r>
            <a:r>
              <a:rPr lang="cs-CZ" sz="2700" dirty="0"/>
              <a:t>použití </a:t>
            </a:r>
            <a:r>
              <a:rPr lang="cs-CZ" sz="2700" dirty="0"/>
              <a:t>v dané </a:t>
            </a:r>
            <a:r>
              <a:rPr lang="cs-CZ" sz="2700" dirty="0"/>
              <a:t>problematice</a:t>
            </a:r>
          </a:p>
        </p:txBody>
      </p:sp>
    </p:spTree>
    <p:extLst>
      <p:ext uri="{BB962C8B-B14F-4D97-AF65-F5344CB8AC3E}">
        <p14:creationId xmlns:p14="http://schemas.microsoft.com/office/powerpoint/2010/main" val="338061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Zápis algoritmu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cs-CZ" dirty="0" smtClean="0"/>
              <a:t>Speciální formy – proti porušení zásady jednoznačnosti</a:t>
            </a:r>
          </a:p>
          <a:p>
            <a:pPr>
              <a:lnSpc>
                <a:spcPct val="80000"/>
              </a:lnSpc>
              <a:defRPr/>
            </a:pPr>
            <a:r>
              <a:rPr lang="cs-CZ" dirty="0" smtClean="0"/>
              <a:t>Textová forma </a:t>
            </a:r>
            <a:endParaRPr lang="cs-CZ" dirty="0"/>
          </a:p>
          <a:p>
            <a:pPr>
              <a:lnSpc>
                <a:spcPct val="80000"/>
              </a:lnSpc>
              <a:defRPr/>
            </a:pPr>
            <a:r>
              <a:rPr lang="cs-CZ" dirty="0" smtClean="0"/>
              <a:t>Grafická forma</a:t>
            </a:r>
          </a:p>
          <a:p>
            <a:pPr>
              <a:lnSpc>
                <a:spcPct val="80000"/>
              </a:lnSpc>
              <a:defRPr/>
            </a:pPr>
            <a:r>
              <a:rPr lang="cs-CZ" dirty="0" smtClean="0"/>
              <a:t>Pojmy:</a:t>
            </a:r>
          </a:p>
          <a:p>
            <a:pPr lvl="1">
              <a:lnSpc>
                <a:spcPct val="80000"/>
              </a:lnSpc>
              <a:defRPr/>
            </a:pPr>
            <a:r>
              <a:rPr lang="cs-CZ" sz="3000" dirty="0"/>
              <a:t>syntaxe = bezchybný zápis příkazu</a:t>
            </a:r>
          </a:p>
          <a:p>
            <a:pPr lvl="1">
              <a:lnSpc>
                <a:spcPct val="80000"/>
              </a:lnSpc>
              <a:defRPr/>
            </a:pPr>
            <a:r>
              <a:rPr lang="cs-CZ" sz="3000" dirty="0"/>
              <a:t>sémantika = význam příkazu </a:t>
            </a:r>
          </a:p>
        </p:txBody>
      </p:sp>
      <p:pic>
        <p:nvPicPr>
          <p:cNvPr id="1027" name="Picture 3" descr="C:\Documents and Settings\tomkovam\Local Settings\Temporary Internet Files\Content.IE5\CTIFK1Y7\MC90023032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4266703"/>
            <a:ext cx="3790474" cy="255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122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Textová forma</a:t>
            </a:r>
            <a:endParaRPr lang="cs-CZ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 smtClean="0"/>
              <a:t>Programovací </a:t>
            </a:r>
            <a:r>
              <a:rPr lang="cs-CZ" dirty="0"/>
              <a:t>jazyk </a:t>
            </a:r>
          </a:p>
          <a:p>
            <a:pPr lvl="1"/>
            <a:r>
              <a:rPr lang="cs-CZ" dirty="0" smtClean="0"/>
              <a:t>umělý   jazyk   pro   </a:t>
            </a:r>
            <a:r>
              <a:rPr lang="cs-CZ" dirty="0"/>
              <a:t>zápis   algoritmu </a:t>
            </a:r>
            <a:r>
              <a:rPr lang="cs-CZ" dirty="0" smtClean="0"/>
              <a:t>v </a:t>
            </a:r>
            <a:r>
              <a:rPr lang="cs-CZ" dirty="0"/>
              <a:t>podobě   počítačového   programu </a:t>
            </a:r>
            <a:endParaRPr lang="cs-CZ" dirty="0" smtClean="0"/>
          </a:p>
          <a:p>
            <a:pPr lvl="1"/>
            <a:r>
              <a:rPr lang="cs-CZ" dirty="0" smtClean="0"/>
              <a:t>přísně   definovaná syntaxe a sémantika</a:t>
            </a:r>
            <a:endParaRPr lang="cs-CZ" dirty="0"/>
          </a:p>
          <a:p>
            <a:r>
              <a:rPr lang="cs-CZ" dirty="0" smtClean="0"/>
              <a:t>Pseudokód </a:t>
            </a:r>
            <a:endParaRPr lang="cs-CZ" dirty="0"/>
          </a:p>
          <a:p>
            <a:pPr lvl="1"/>
            <a:r>
              <a:rPr lang="cs-CZ" dirty="0" smtClean="0"/>
              <a:t>jazyk   </a:t>
            </a:r>
            <a:r>
              <a:rPr lang="cs-CZ" dirty="0"/>
              <a:t>určený   pro   popis   </a:t>
            </a:r>
            <a:r>
              <a:rPr lang="cs-CZ" dirty="0" smtClean="0"/>
              <a:t>algoritmů</a:t>
            </a:r>
          </a:p>
          <a:p>
            <a:pPr lvl="1"/>
            <a:r>
              <a:rPr lang="cs-CZ" dirty="0" smtClean="0"/>
              <a:t>podobný programovacímu </a:t>
            </a:r>
            <a:r>
              <a:rPr lang="cs-CZ" dirty="0"/>
              <a:t>jazyku </a:t>
            </a:r>
            <a:endParaRPr lang="cs-CZ" dirty="0" smtClean="0"/>
          </a:p>
          <a:p>
            <a:pPr lvl="1"/>
            <a:r>
              <a:rPr lang="cs-CZ" dirty="0" smtClean="0"/>
              <a:t>nemá definovanou  syntaxi</a:t>
            </a:r>
          </a:p>
          <a:p>
            <a:pPr lvl="1"/>
            <a:r>
              <a:rPr lang="cs-CZ" dirty="0" smtClean="0"/>
              <a:t>pro  </a:t>
            </a:r>
            <a:r>
              <a:rPr lang="cs-CZ" dirty="0"/>
              <a:t>člověka  </a:t>
            </a:r>
            <a:r>
              <a:rPr lang="cs-CZ" dirty="0" smtClean="0"/>
              <a:t>čitelnější</a:t>
            </a:r>
          </a:p>
          <a:p>
            <a:pPr lvl="1"/>
            <a:r>
              <a:rPr lang="cs-CZ" dirty="0" smtClean="0"/>
              <a:t>základní  </a:t>
            </a:r>
            <a:r>
              <a:rPr lang="cs-CZ" dirty="0"/>
              <a:t>konstrukce </a:t>
            </a:r>
            <a:r>
              <a:rPr lang="cs-CZ" dirty="0" smtClean="0"/>
              <a:t>z </a:t>
            </a:r>
            <a:r>
              <a:rPr lang="cs-CZ" dirty="0"/>
              <a:t>programovacích jazyků. </a:t>
            </a:r>
          </a:p>
        </p:txBody>
      </p:sp>
    </p:spTree>
    <p:extLst>
      <p:ext uri="{BB962C8B-B14F-4D97-AF65-F5344CB8AC3E}">
        <p14:creationId xmlns:p14="http://schemas.microsoft.com/office/powerpoint/2010/main" val="17918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Grafická forma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981200" y="1484785"/>
            <a:ext cx="8229600" cy="4525963"/>
          </a:xfrm>
        </p:spPr>
        <p:txBody>
          <a:bodyPr>
            <a:noAutofit/>
          </a:bodyPr>
          <a:lstStyle/>
          <a:p>
            <a:r>
              <a:rPr lang="cs-CZ" sz="2400" b="1" dirty="0"/>
              <a:t>Vývojový </a:t>
            </a:r>
            <a:r>
              <a:rPr lang="cs-CZ" sz="2400" b="1" dirty="0"/>
              <a:t>diagram </a:t>
            </a:r>
          </a:p>
          <a:p>
            <a:pPr lvl="1"/>
            <a:r>
              <a:rPr lang="cs-CZ" sz="2400" dirty="0"/>
              <a:t>grafickou  reprezentace  </a:t>
            </a:r>
            <a:r>
              <a:rPr lang="cs-CZ" sz="2400" dirty="0"/>
              <a:t>nadnárodní  normou </a:t>
            </a:r>
            <a:r>
              <a:rPr lang="cs-CZ" sz="2400" dirty="0"/>
              <a:t>definovaných  symbolů</a:t>
            </a:r>
          </a:p>
          <a:p>
            <a:r>
              <a:rPr lang="cs-CZ" sz="2400" dirty="0"/>
              <a:t> </a:t>
            </a:r>
            <a:r>
              <a:rPr lang="cs-CZ" sz="2400" b="1" dirty="0" err="1"/>
              <a:t>Unified</a:t>
            </a:r>
            <a:r>
              <a:rPr lang="cs-CZ" sz="2400" b="1" dirty="0"/>
              <a:t> </a:t>
            </a:r>
            <a:r>
              <a:rPr lang="cs-CZ" sz="2400" b="1" dirty="0"/>
              <a:t>Modeling </a:t>
            </a:r>
            <a:r>
              <a:rPr lang="cs-CZ" sz="2400" b="1" dirty="0" err="1"/>
              <a:t>Language</a:t>
            </a:r>
            <a:r>
              <a:rPr lang="cs-CZ" sz="2400" b="1" dirty="0"/>
              <a:t> (UML) </a:t>
            </a:r>
          </a:p>
          <a:p>
            <a:pPr lvl="1"/>
            <a:r>
              <a:rPr lang="cs-CZ" sz="2400" dirty="0"/>
              <a:t>unifikovaný  </a:t>
            </a:r>
            <a:r>
              <a:rPr lang="cs-CZ" sz="2400" dirty="0"/>
              <a:t>modelovací  jazyk  s definovanou  syntaxí  a sémantikou, </a:t>
            </a:r>
          </a:p>
          <a:p>
            <a:pPr lvl="1"/>
            <a:r>
              <a:rPr lang="cs-CZ" sz="2400" dirty="0"/>
              <a:t>dvě hlavní kategorie diagramů - popisující </a:t>
            </a:r>
            <a:r>
              <a:rPr lang="cs-CZ" sz="2400" dirty="0"/>
              <a:t>strukturu </a:t>
            </a:r>
            <a:r>
              <a:rPr lang="cs-CZ" sz="2400" dirty="0"/>
              <a:t>a popisující  </a:t>
            </a:r>
            <a:r>
              <a:rPr lang="cs-CZ" sz="2400" dirty="0"/>
              <a:t>chování </a:t>
            </a:r>
            <a:endParaRPr lang="cs-CZ" sz="2400" dirty="0"/>
          </a:p>
          <a:p>
            <a:r>
              <a:rPr lang="cs-CZ" sz="2400" b="1" dirty="0"/>
              <a:t>Strukturogram </a:t>
            </a:r>
            <a:endParaRPr lang="cs-CZ" sz="2400" b="1" dirty="0"/>
          </a:p>
          <a:p>
            <a:pPr lvl="1"/>
            <a:r>
              <a:rPr lang="cs-CZ" sz="2400" dirty="0"/>
              <a:t>obdoba </a:t>
            </a:r>
            <a:r>
              <a:rPr lang="cs-CZ" sz="2400" dirty="0"/>
              <a:t>vývojových diagramů</a:t>
            </a:r>
          </a:p>
          <a:p>
            <a:pPr lvl="1"/>
            <a:r>
              <a:rPr lang="cs-CZ" sz="2400" dirty="0"/>
              <a:t>nedefinovány normou</a:t>
            </a:r>
          </a:p>
          <a:p>
            <a:pPr lvl="1"/>
            <a:r>
              <a:rPr lang="cs-CZ" sz="2400" dirty="0"/>
              <a:t>dnes  se  již prakticky nepoužívají</a:t>
            </a:r>
          </a:p>
        </p:txBody>
      </p:sp>
    </p:spTree>
    <p:extLst>
      <p:ext uri="{BB962C8B-B14F-4D97-AF65-F5344CB8AC3E}">
        <p14:creationId xmlns:p14="http://schemas.microsoft.com/office/powerpoint/2010/main" val="547484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0661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Zdroje a citace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11521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1200" dirty="0" err="1"/>
              <a:t>Muhamed</a:t>
            </a:r>
            <a:r>
              <a:rPr lang="cs-CZ" sz="1200" dirty="0"/>
              <a:t> Bin </a:t>
            </a:r>
            <a:r>
              <a:rPr lang="cs-CZ" sz="1200" dirty="0" err="1"/>
              <a:t>Musa</a:t>
            </a:r>
            <a:r>
              <a:rPr lang="cs-CZ" sz="1200" dirty="0"/>
              <a:t> </a:t>
            </a:r>
            <a:r>
              <a:rPr lang="cs-CZ" sz="1200" dirty="0"/>
              <a:t>Al-</a:t>
            </a:r>
            <a:r>
              <a:rPr lang="cs-CZ" sz="1200" dirty="0" err="1"/>
              <a:t>Khuarizmi</a:t>
            </a:r>
            <a:r>
              <a:rPr lang="en-US" sz="1200" dirty="0"/>
              <a:t>. </a:t>
            </a:r>
            <a:r>
              <a:rPr lang="en-US" sz="1200" dirty="0"/>
              <a:t>In: </a:t>
            </a:r>
            <a:r>
              <a:rPr lang="cs-CZ" sz="1200" dirty="0" err="1"/>
              <a:t>Wikipedia</a:t>
            </a:r>
            <a:r>
              <a:rPr lang="cs-CZ" sz="1200" dirty="0"/>
              <a:t>: </a:t>
            </a:r>
            <a:r>
              <a:rPr lang="cs-CZ" sz="1200" i="1" dirty="0"/>
              <a:t>free </a:t>
            </a:r>
            <a:r>
              <a:rPr lang="cs-CZ" sz="1200" i="1" dirty="0" err="1"/>
              <a:t>encyklopedia</a:t>
            </a:r>
            <a:r>
              <a:rPr lang="en-US" sz="1200" dirty="0"/>
              <a:t>[online</a:t>
            </a:r>
            <a:r>
              <a:rPr lang="en-US" sz="1200" dirty="0"/>
              <a:t>]. San Francisco (CA): Wikimedia Foundation, </a:t>
            </a:r>
            <a:r>
              <a:rPr lang="en-US" sz="1200" dirty="0"/>
              <a:t>2001-</a:t>
            </a:r>
            <a:r>
              <a:rPr lang="cs-CZ" sz="1200" dirty="0"/>
              <a:t> </a:t>
            </a:r>
            <a:r>
              <a:rPr lang="en-US" sz="1200" dirty="0"/>
              <a:t>[cit</a:t>
            </a:r>
            <a:r>
              <a:rPr lang="en-US" sz="1200" dirty="0"/>
              <a:t>. </a:t>
            </a:r>
            <a:r>
              <a:rPr lang="en-US" sz="1200" dirty="0"/>
              <a:t>2012-</a:t>
            </a:r>
            <a:r>
              <a:rPr lang="cs-CZ" sz="1200" dirty="0"/>
              <a:t>11</a:t>
            </a:r>
            <a:r>
              <a:rPr lang="en-US" sz="1200" dirty="0"/>
              <a:t>-</a:t>
            </a:r>
            <a:r>
              <a:rPr lang="cs-CZ" sz="1200" dirty="0"/>
              <a:t>28</a:t>
            </a:r>
            <a:r>
              <a:rPr lang="en-US" sz="1200" dirty="0"/>
              <a:t>]. </a:t>
            </a:r>
            <a:r>
              <a:rPr lang="en-US" sz="1200" dirty="0" err="1"/>
              <a:t>Dostupné</a:t>
            </a:r>
            <a:r>
              <a:rPr lang="en-US" sz="1200" dirty="0"/>
              <a:t> z: </a:t>
            </a:r>
            <a:r>
              <a:rPr lang="cs-CZ" sz="1200" dirty="0">
                <a:hlinkClick r:id="rId2"/>
              </a:rPr>
              <a:t>http</a:t>
            </a:r>
            <a:r>
              <a:rPr lang="cs-CZ" sz="1200" dirty="0">
                <a:hlinkClick r:id="rId2"/>
              </a:rPr>
              <a:t>://</a:t>
            </a:r>
            <a:r>
              <a:rPr lang="cs-CZ" sz="1200" dirty="0">
                <a:hlinkClick r:id="rId2"/>
              </a:rPr>
              <a:t>sq.wikipedia.org/wiki/Muhamed_Bin_Musa_Al-Khuarizmi</a:t>
            </a:r>
            <a:r>
              <a:rPr lang="cs-CZ" sz="1200" dirty="0"/>
              <a:t> </a:t>
            </a:r>
            <a:endParaRPr lang="cs-CZ" sz="1200" dirty="0" smtClean="0"/>
          </a:p>
          <a:p>
            <a:pPr marL="0" indent="0">
              <a:buNone/>
            </a:pPr>
            <a:r>
              <a:rPr lang="cs-CZ" sz="1200" dirty="0" smtClean="0"/>
              <a:t>Hanojská věž: </a:t>
            </a:r>
            <a:r>
              <a:rPr lang="en-US" sz="1200" dirty="0"/>
              <a:t>In: </a:t>
            </a:r>
            <a:r>
              <a:rPr lang="cs-CZ" sz="1200" dirty="0" err="1"/>
              <a:t>Wikipedia</a:t>
            </a:r>
            <a:r>
              <a:rPr lang="cs-CZ" sz="1200" dirty="0"/>
              <a:t>: </a:t>
            </a:r>
            <a:r>
              <a:rPr lang="cs-CZ" sz="1200" i="1" dirty="0"/>
              <a:t>free </a:t>
            </a:r>
            <a:r>
              <a:rPr lang="cs-CZ" sz="1200" i="1" dirty="0" err="1"/>
              <a:t>encyklopedia</a:t>
            </a:r>
            <a:r>
              <a:rPr lang="en-US" sz="1200" dirty="0"/>
              <a:t>[online]. San Francisco (CA): Wikimedia Foundation, </a:t>
            </a:r>
            <a:r>
              <a:rPr lang="en-US" sz="1200" dirty="0" smtClean="0"/>
              <a:t>2001</a:t>
            </a:r>
            <a:r>
              <a:rPr lang="cs-CZ" sz="1200" dirty="0" smtClean="0"/>
              <a:t> CC </a:t>
            </a:r>
            <a:r>
              <a:rPr lang="cs-CZ" sz="1200" dirty="0"/>
              <a:t>BY-SA 3.0, </a:t>
            </a:r>
            <a:r>
              <a:rPr lang="cs-CZ" sz="1200" dirty="0">
                <a:hlinkClick r:id="rId3"/>
              </a:rPr>
              <a:t>https://</a:t>
            </a:r>
            <a:r>
              <a:rPr lang="cs-CZ" sz="1200" dirty="0" smtClean="0">
                <a:hlinkClick r:id="rId3"/>
              </a:rPr>
              <a:t>commons.wikimedia.org/w/index.php?curid=228623</a:t>
            </a:r>
            <a:endParaRPr lang="cs-CZ" sz="1200" dirty="0"/>
          </a:p>
          <a:p>
            <a:pPr marL="0" indent="0">
              <a:buNone/>
            </a:pPr>
            <a:r>
              <a:rPr lang="cs-CZ" sz="1200" dirty="0"/>
              <a:t>TÖPPFEROVÁ, Dana, TÖPFER, Pavel. Sbírka úloh z programování. 1. vydání. Prha: </a:t>
            </a:r>
            <a:r>
              <a:rPr lang="cs-CZ" sz="1200" dirty="0" err="1"/>
              <a:t>Grada</a:t>
            </a:r>
            <a:r>
              <a:rPr lang="cs-CZ" sz="1200" dirty="0"/>
              <a:t> a. s., 1992. ISMBN 80-85424-99-1</a:t>
            </a:r>
          </a:p>
          <a:p>
            <a:pPr marL="0" indent="0">
              <a:buNone/>
            </a:pPr>
            <a:r>
              <a:rPr lang="cs-CZ" sz="1200" dirty="0"/>
              <a:t>BARTYZAL, </a:t>
            </a:r>
            <a:r>
              <a:rPr lang="pt-BR" sz="1200" dirty="0"/>
              <a:t>Miroslav</a:t>
            </a:r>
            <a:r>
              <a:rPr lang="cs-CZ" sz="1200" dirty="0"/>
              <a:t>. Simulace průchodu programu vývojovým diagramem pro výuku algoritmizace. Bakalářská práce</a:t>
            </a:r>
            <a:r>
              <a:rPr lang="cs-CZ" sz="1200" dirty="0"/>
              <a:t>. Jihočeská univerzita v Českých </a:t>
            </a:r>
            <a:r>
              <a:rPr lang="cs-CZ" sz="1200" dirty="0"/>
              <a:t>Budějovicích, Pedagogická fakulta, Katedra informatiky, 2012. </a:t>
            </a:r>
            <a:endParaRPr lang="cs-CZ" sz="1200" dirty="0"/>
          </a:p>
        </p:txBody>
      </p:sp>
      <p:sp>
        <p:nvSpPr>
          <p:cNvPr id="5" name="TextovéPole 3"/>
          <p:cNvSpPr txBox="1">
            <a:spLocks noChangeArrowheads="1"/>
          </p:cNvSpPr>
          <p:nvPr/>
        </p:nvSpPr>
        <p:spPr bwMode="auto">
          <a:xfrm>
            <a:off x="3835112" y="2708921"/>
            <a:ext cx="4709160" cy="106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6" tIns="41148" rIns="82296" bIns="4114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cs-CZ" sz="1600" dirty="0">
                <a:solidFill>
                  <a:srgbClr val="000000"/>
                </a:solidFill>
                <a:latin typeface="Arial - 16"/>
              </a:rPr>
              <a:t>Objekty, použité k vytvoření </a:t>
            </a:r>
            <a:r>
              <a:rPr lang="cs-CZ" sz="1600" dirty="0">
                <a:solidFill>
                  <a:srgbClr val="000000"/>
                </a:solidFill>
                <a:latin typeface="Arial - 16"/>
              </a:rPr>
              <a:t>prezentace, </a:t>
            </a:r>
            <a:r>
              <a:rPr lang="cs-CZ" sz="1600" dirty="0">
                <a:solidFill>
                  <a:srgbClr val="000000"/>
                </a:solidFill>
                <a:latin typeface="Arial - 16"/>
              </a:rPr>
              <a:t>jsou součástí </a:t>
            </a:r>
            <a:r>
              <a:rPr lang="cs-CZ" sz="1600" dirty="0">
                <a:solidFill>
                  <a:srgbClr val="000000"/>
                </a:solidFill>
                <a:latin typeface="Arial - 16"/>
              </a:rPr>
              <a:t>MS Office </a:t>
            </a:r>
            <a:r>
              <a:rPr lang="cs-CZ" sz="1600" dirty="0">
                <a:solidFill>
                  <a:srgbClr val="000000"/>
                </a:solidFill>
                <a:latin typeface="Arial - 16"/>
              </a:rPr>
              <a:t>nebo pocházejí z veřejných knihoven obrázků (public </a:t>
            </a:r>
            <a:r>
              <a:rPr lang="cs-CZ" sz="1600" dirty="0" err="1">
                <a:solidFill>
                  <a:srgbClr val="000000"/>
                </a:solidFill>
                <a:latin typeface="Arial - 16"/>
              </a:rPr>
              <a:t>domain</a:t>
            </a:r>
            <a:r>
              <a:rPr lang="cs-CZ" sz="1600" dirty="0">
                <a:solidFill>
                  <a:srgbClr val="000000"/>
                </a:solidFill>
                <a:latin typeface="Arial - 16"/>
              </a:rPr>
              <a:t>) nebo jsou vlastní originální tvorbou autora.</a:t>
            </a:r>
          </a:p>
        </p:txBody>
      </p:sp>
      <p:sp>
        <p:nvSpPr>
          <p:cNvPr id="2" name="Obdélník 1"/>
          <p:cNvSpPr/>
          <p:nvPr/>
        </p:nvSpPr>
        <p:spPr>
          <a:xfrm>
            <a:off x="3863752" y="3861048"/>
            <a:ext cx="4680520" cy="1656184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2296" tIns="41148" rIns="82296" bIns="41148" rtlCol="0" anchor="ctr">
            <a:normAutofit lnSpcReduction="10000"/>
          </a:bodyPr>
          <a:lstStyle/>
          <a:p>
            <a:r>
              <a:rPr lang="cs-CZ" dirty="0" smtClean="0">
                <a:solidFill>
                  <a:srgbClr val="000000"/>
                </a:solidFill>
                <a:latin typeface="Arial - 16"/>
              </a:rPr>
              <a:t>Přepracoval a </a:t>
            </a:r>
            <a:r>
              <a:rPr lang="cs-CZ" dirty="0" err="1" smtClean="0">
                <a:solidFill>
                  <a:srgbClr val="000000"/>
                </a:solidFill>
                <a:latin typeface="Arial - 16"/>
              </a:rPr>
              <a:t>znovusestavil</a:t>
            </a:r>
            <a:endParaRPr lang="cs-CZ" dirty="0" smtClean="0">
              <a:solidFill>
                <a:srgbClr val="000000"/>
              </a:solidFill>
              <a:latin typeface="Arial - 16"/>
            </a:endParaRPr>
          </a:p>
          <a:p>
            <a:r>
              <a:rPr lang="cs-CZ" dirty="0" smtClean="0">
                <a:solidFill>
                  <a:srgbClr val="000000"/>
                </a:solidFill>
                <a:latin typeface="Arial - 16"/>
              </a:rPr>
              <a:t>Jan Koupil, Delta – SŠIE, Pardubice,</a:t>
            </a:r>
          </a:p>
          <a:p>
            <a:endParaRPr lang="cs-CZ" dirty="0" smtClean="0">
              <a:solidFill>
                <a:srgbClr val="000000"/>
              </a:solidFill>
              <a:latin typeface="Arial - 16"/>
            </a:endParaRPr>
          </a:p>
          <a:p>
            <a:r>
              <a:rPr lang="cs-CZ" dirty="0" smtClean="0">
                <a:solidFill>
                  <a:srgbClr val="000000"/>
                </a:solidFill>
                <a:latin typeface="Arial - 16"/>
              </a:rPr>
              <a:t>Původní inspirace:</a:t>
            </a:r>
            <a:endParaRPr lang="cs-CZ" dirty="0">
              <a:solidFill>
                <a:srgbClr val="000000"/>
              </a:solidFill>
              <a:latin typeface="Arial - 16"/>
            </a:endParaRPr>
          </a:p>
          <a:p>
            <a:pPr algn="ctr"/>
            <a:r>
              <a:rPr lang="cs-CZ" dirty="0">
                <a:solidFill>
                  <a:srgbClr val="000000"/>
                </a:solidFill>
                <a:latin typeface="Arial - 16"/>
              </a:rPr>
              <a:t>Mgr. Michala Tomková</a:t>
            </a:r>
          </a:p>
          <a:p>
            <a:pPr algn="ctr"/>
            <a:r>
              <a:rPr lang="cs-CZ" dirty="0">
                <a:solidFill>
                  <a:srgbClr val="000000"/>
                </a:solidFill>
                <a:latin typeface="Arial - 16"/>
              </a:rPr>
              <a:t>Gymnázium Česká </a:t>
            </a:r>
            <a:r>
              <a:rPr lang="cs-CZ" dirty="0" smtClean="0">
                <a:solidFill>
                  <a:srgbClr val="000000"/>
                </a:solidFill>
                <a:latin typeface="Arial - 16"/>
              </a:rPr>
              <a:t>Lípa</a:t>
            </a:r>
            <a:endParaRPr lang="cs-CZ" dirty="0">
              <a:solidFill>
                <a:srgbClr val="000000"/>
              </a:solidFill>
              <a:latin typeface="Arial - 16"/>
            </a:endParaRP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12" y="5661248"/>
            <a:ext cx="5407152" cy="10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7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ystému Office">
  <a:themeElements>
    <a:clrScheme name="Cesta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MU">
      <a:majorFont>
        <a:latin typeface="CMU Sans Serif"/>
        <a:ea typeface=""/>
        <a:cs typeface=""/>
      </a:majorFont>
      <a:minorFont>
        <a:latin typeface="CMU Serif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710</Words>
  <Application>Microsoft Office PowerPoint</Application>
  <PresentationFormat>Širokoúhlá obrazovka</PresentationFormat>
  <Paragraphs>104</Paragraphs>
  <Slides>15</Slides>
  <Notes>3</Notes>
  <HiddenSlides>3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3" baseType="lpstr">
      <vt:lpstr>CMU Sans Serif</vt:lpstr>
      <vt:lpstr>CMU Serif</vt:lpstr>
      <vt:lpstr>Calibri</vt:lpstr>
      <vt:lpstr>Cambria Math</vt:lpstr>
      <vt:lpstr>Arial - 16</vt:lpstr>
      <vt:lpstr>Arial</vt:lpstr>
      <vt:lpstr>Times New Roman</vt:lpstr>
      <vt:lpstr>Motiv systému Office</vt:lpstr>
      <vt:lpstr>Úvod do algoritmizace</vt:lpstr>
      <vt:lpstr>Algoritmus </vt:lpstr>
      <vt:lpstr>Algoritmizace</vt:lpstr>
      <vt:lpstr>Pojďme vyrobit algoritmus</vt:lpstr>
      <vt:lpstr>Pojďme vyrobit algoritmus</vt:lpstr>
      <vt:lpstr>Zapište algoritmus</vt:lpstr>
      <vt:lpstr>Algoritmus?</vt:lpstr>
      <vt:lpstr>Eratosthenovo síto</vt:lpstr>
      <vt:lpstr>Pojďme vyrobit algoritmus – Hanojská věž</vt:lpstr>
      <vt:lpstr>Pojďme vyrobit algoritmus – Hanojská věž</vt:lpstr>
      <vt:lpstr>Vlastnosti algoritmu </vt:lpstr>
      <vt:lpstr>Zápis algoritmu</vt:lpstr>
      <vt:lpstr>Textová forma</vt:lpstr>
      <vt:lpstr>Grafická forma</vt:lpstr>
      <vt:lpstr>Zdroje a citace</vt:lpstr>
    </vt:vector>
  </TitlesOfParts>
  <Company>GČL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Tomkova Michala</dc:creator>
  <cp:lastModifiedBy>Jan Koupil</cp:lastModifiedBy>
  <cp:revision>40</cp:revision>
  <dcterms:created xsi:type="dcterms:W3CDTF">2012-09-12T13:15:13Z</dcterms:created>
  <dcterms:modified xsi:type="dcterms:W3CDTF">2016-09-08T20:29:54Z</dcterms:modified>
</cp:coreProperties>
</file>