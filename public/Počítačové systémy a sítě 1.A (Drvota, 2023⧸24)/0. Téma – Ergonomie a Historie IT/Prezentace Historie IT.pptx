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986527-72E2-4E9E-823F-0A49A54B5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A3A67CF-984A-4365-9784-12B516A2A8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2544851-A6DD-4CAD-95F4-81D7DDCAD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2666C-BAB2-42A5-A2D9-DC954FF6A437}" type="datetimeFigureOut">
              <a:rPr lang="cs-CZ" smtClean="0"/>
              <a:t>05.09.2020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5F6975D-FA03-4135-BD5B-2B9E1143B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72DCBE1-F661-4BF8-828D-91F12DD3F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D5A0-8EB9-407E-80CD-AC58F736C7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00966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E3CDD5-2A58-41F5-BC03-B3A5A311E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4AE4051-EDD4-49F8-9A06-66361C43E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57784BB-7E4B-409B-BBD3-2616E259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2666C-BAB2-42A5-A2D9-DC954FF6A437}" type="datetimeFigureOut">
              <a:rPr lang="cs-CZ" smtClean="0"/>
              <a:t>05.09.2020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0B278C2-9A69-407C-BA09-0246603A6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4CEB175-8206-4D0D-B835-93D015016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D5A0-8EB9-407E-80CD-AC58F736C7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9196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C542F6-E521-40A7-8464-151656748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45F20EF-96ED-4963-8664-9B8901ABF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80797AA-EDD1-49F1-BFAC-17EED39DC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2666C-BAB2-42A5-A2D9-DC954FF6A437}" type="datetimeFigureOut">
              <a:rPr lang="cs-CZ" smtClean="0"/>
              <a:t>05.09.2020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FEFE32D-8933-4BAE-8763-759D69D4E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053CA9E-DE5F-4574-B353-1F8CDDA15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D5A0-8EB9-407E-80CD-AC58F736C7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18137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C52B501-30C2-4961-B7CA-7C471C80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EC50378-6FAD-4AC9-867F-31C8B4A225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882DEE0-ED2B-436A-AFB9-25F777FAE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5A81491-7A10-4BB7-80D0-67DE6E164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2666C-BAB2-42A5-A2D9-DC954FF6A437}" type="datetimeFigureOut">
              <a:rPr lang="cs-CZ" smtClean="0"/>
              <a:t>05.09.2020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1BE1759-7C60-4CB6-ADC4-71284591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C7DA5EE-8E1C-4250-96B7-896E71BC5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D5A0-8EB9-407E-80CD-AC58F736C7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47829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27F8B5-6D0A-4431-9861-597A165B0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96A65C1-BA8C-4D9F-9709-4C65ED3E6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89728CF-9C3F-4A35-88DE-BCFA50306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8EB2DD8-F542-439F-A582-39CC8F7B28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115BB82-C0DD-48DF-8626-D9F767D031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8DA0859-7EE5-4BFF-BE0E-DC110C47B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2666C-BAB2-42A5-A2D9-DC954FF6A437}" type="datetimeFigureOut">
              <a:rPr lang="cs-CZ" smtClean="0"/>
              <a:t>05.09.2020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3655E58-1EB0-4EF1-AC64-3E128EB63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8DE50B20-EEA3-464A-BBA8-F7886C6AE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D5A0-8EB9-407E-80CD-AC58F736C7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225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071A85-F895-4099-9274-0B8AE1FFA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B5468CBF-54BD-4D0E-B8E0-B74E0C5F6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2666C-BAB2-42A5-A2D9-DC954FF6A437}" type="datetimeFigureOut">
              <a:rPr lang="cs-CZ" smtClean="0"/>
              <a:t>05.09.2020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C03D50A-3675-4CC3-81CA-7EAF49AA0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B503306-8687-4F27-A79D-BEAA2599A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D5A0-8EB9-407E-80CD-AC58F736C7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34167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EE44FED9-DFC0-4616-B0D6-55EB3674A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2666C-BAB2-42A5-A2D9-DC954FF6A437}" type="datetimeFigureOut">
              <a:rPr lang="cs-CZ" smtClean="0"/>
              <a:t>05.09.2020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1990563E-9F62-4EC5-8FB0-A1B5F0297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0F0425D-13E6-4F31-B9BD-19F9D3429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D5A0-8EB9-407E-80CD-AC58F736C7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49253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0A92FD-C3E6-4EC1-A20A-B5749AD2B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E87523-DE3A-491D-848C-6DB255D31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EEE80E3-BBCC-4FB1-8157-DEE6A103FC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627771F-94B1-4197-837D-C9284F89C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2666C-BAB2-42A5-A2D9-DC954FF6A437}" type="datetimeFigureOut">
              <a:rPr lang="cs-CZ" smtClean="0"/>
              <a:t>05.09.2020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A915FF1-361F-48F7-AFCB-E3B44DADB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CF7E7D2-8074-4E27-B3BA-81CB3287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D5A0-8EB9-407E-80CD-AC58F736C7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58138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2C06F3-242E-47A5-BD94-F02A9D911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347B1BAE-476C-4E10-A726-FEE1385C02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2C22163-4970-4E06-BE04-D209E54B9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AAD67C3-F8E1-40E0-8958-9757AF9D9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2666C-BAB2-42A5-A2D9-DC954FF6A437}" type="datetimeFigureOut">
              <a:rPr lang="cs-CZ" smtClean="0"/>
              <a:t>05.09.2020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41BB01-C550-48A1-B1EF-374B5F4F3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C407592-A853-4A16-AB23-0F8E7296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D5A0-8EB9-407E-80CD-AC58F736C7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90451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2D509E-1B19-4F66-A6E0-2C0AD2863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1325141-A713-42F7-8E82-A53389D6B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ECEC841-CA7F-4B84-B607-7F08819F9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2666C-BAB2-42A5-A2D9-DC954FF6A437}" type="datetimeFigureOut">
              <a:rPr lang="cs-CZ" smtClean="0"/>
              <a:t>05.09.2020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B734986-0539-4716-B5AD-966F91E18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6A3A685-0E20-4584-8359-818A8DF2D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D5A0-8EB9-407E-80CD-AC58F736C7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6077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5D9C0439-15F1-411F-9E79-568A35700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EEA2D69-3BAB-497B-9C31-ED5E69D25F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DD92831-4647-46FD-9081-05454B5AB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2666C-BAB2-42A5-A2D9-DC954FF6A437}" type="datetimeFigureOut">
              <a:rPr lang="cs-CZ" smtClean="0"/>
              <a:t>05.09.2020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68C70E5-6394-4E21-8D6B-43B70BE75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A258EDF-A553-4C40-98B4-1CE192FC7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D5A0-8EB9-407E-80CD-AC58F736C7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9165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9714B2B-4AF1-4533-9773-284E80A04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96D8F90-609A-4435-9A04-8F9DB6530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7C15E14-8B19-489A-8D11-B97ACF195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2666C-BAB2-42A5-A2D9-DC954FF6A437}" type="datetimeFigureOut">
              <a:rPr lang="cs-CZ" smtClean="0"/>
              <a:t>05.09.2020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D466D89-E30D-4DC9-B3F1-19D6F7E37B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82B8475-B659-4C45-9848-16EF570615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7D5A0-8EB9-407E-80CD-AC58F736C7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1615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B3B0D9-29A2-4402-8639-60628677B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813"/>
            <a:ext cx="9144000" cy="1820862"/>
          </a:xfrm>
        </p:spPr>
        <p:txBody>
          <a:bodyPr>
            <a:normAutofit/>
          </a:bodyPr>
          <a:lstStyle/>
          <a:p>
            <a:r>
              <a:rPr lang="cs-CZ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8E207F-F08A-4B39-A4E6-201AFCC5A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438" y="2162175"/>
            <a:ext cx="8399124" cy="415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8161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7447E7-0E8E-4B4A-ACC3-EB68114D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otázka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E2CF28C-711A-482F-8AC0-178CA7571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Zapnut nebo vypnuto? (1 a 0)</a:t>
            </a:r>
          </a:p>
        </p:txBody>
      </p:sp>
      <p:pic>
        <p:nvPicPr>
          <p:cNvPr id="2050" name="Picture 2" descr="DATART | Kabel prodlužovací EMOS 3x zásuvka, 1,5m, vypínač černý  (1902330150)">
            <a:extLst>
              <a:ext uri="{FF2B5EF4-FFF2-40B4-BE49-F238E27FC236}">
                <a16:creationId xmlns:a16="http://schemas.microsoft.com/office/drawing/2014/main" id="{89FF1989-D216-484A-B9BC-9DFEEAEC4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71159"/>
            <a:ext cx="10439400" cy="3640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3774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59ED1C-FF11-430F-9C77-26F0B37B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Předchůdci 0. generace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CBE356-66C3-4074-9785-E78D15F96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Kamínky, provázky, atd.</a:t>
            </a:r>
          </a:p>
          <a:p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Počítadla – Abakus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Mechanický kalkulátor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Wilhelm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Schickard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(1592 – 1635)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První kalkulačka (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Pascalina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Blaise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Pascal (1623–1662)</a:t>
            </a:r>
          </a:p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Babbagovy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stroje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Charles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Babbage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(1791–1871)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První návrh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Analytical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/>
          </a:p>
        </p:txBody>
      </p:sp>
      <p:pic>
        <p:nvPicPr>
          <p:cNvPr id="3074" name="Picture 2" descr="Počítadlo – Wikipedie">
            <a:extLst>
              <a:ext uri="{FF2B5EF4-FFF2-40B4-BE49-F238E27FC236}">
                <a16:creationId xmlns:a16="http://schemas.microsoft.com/office/drawing/2014/main" id="{637A5545-7511-4207-9EF7-ECB30DB57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9772" y="150874"/>
            <a:ext cx="4823627" cy="384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ilhelm Schickard – CASWiki">
            <a:extLst>
              <a:ext uri="{FF2B5EF4-FFF2-40B4-BE49-F238E27FC236}">
                <a16:creationId xmlns:a16="http://schemas.microsoft.com/office/drawing/2014/main" id="{34DE5593-127A-4D80-8D92-D560C2D30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332" y="2856561"/>
            <a:ext cx="4219575" cy="399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ascalina Popis a charakteristika, Provoz / Obecná kultura | Thpanorama -  Udělej si dnes lepší!">
            <a:extLst>
              <a:ext uri="{FF2B5EF4-FFF2-40B4-BE49-F238E27FC236}">
                <a16:creationId xmlns:a16="http://schemas.microsoft.com/office/drawing/2014/main" id="{B163B449-B866-41A5-91A5-321F034AD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9772" y="112566"/>
            <a:ext cx="4895850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Analytical Engine | เทคโนโลยี">
            <a:extLst>
              <a:ext uri="{FF2B5EF4-FFF2-40B4-BE49-F238E27FC236}">
                <a16:creationId xmlns:a16="http://schemas.microsoft.com/office/drawing/2014/main" id="{B29977DD-A528-4EA5-ABA3-D2E1F6342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826" y="1953974"/>
            <a:ext cx="5715000" cy="484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04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59ED1C-FF11-430F-9C77-26F0B37B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Analytical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(první návrh)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CBE356-66C3-4074-9785-E78D15F96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měl být poháněný párou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měl obsahovat kontrolu řízení toku dat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měl obsahovat “mlýnici” (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 “sklad” (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paměť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měl umět opakovat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příkazy (cykly)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rozhodovat se (podmíněné skoky)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měla být vkládána pomocí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děrných štítků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 té doby využití pouze u tkalcovských stavů)</a:t>
            </a:r>
          </a:p>
        </p:txBody>
      </p:sp>
    </p:spTree>
    <p:extLst>
      <p:ext uri="{BB962C8B-B14F-4D97-AF65-F5344CB8AC3E}">
        <p14:creationId xmlns:p14="http://schemas.microsoft.com/office/powerpoint/2010/main" val="2447584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59ED1C-FF11-430F-9C77-26F0B37B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Děrné štítky – záznam dat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CBE356-66C3-4074-9785-E78D15F96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95850" cy="4351338"/>
          </a:xfrm>
        </p:spPr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Herman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Hollerith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(1860–1929)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Sčítání lidu 1890 USA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Poslední sčítání trvalo 8 let (štítky to zkrátili na rok)</a:t>
            </a:r>
          </a:p>
        </p:txBody>
      </p:sp>
      <p:pic>
        <p:nvPicPr>
          <p:cNvPr id="4098" name="Picture 2" descr="Historie datových úložišť: od děrných štítků po SSD - Cnews.cz">
            <a:extLst>
              <a:ext uri="{FF2B5EF4-FFF2-40B4-BE49-F238E27FC236}">
                <a16:creationId xmlns:a16="http://schemas.microsoft.com/office/drawing/2014/main" id="{88965561-DE91-44CE-91D7-1C41D1B4E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43" y="3669872"/>
            <a:ext cx="6604107" cy="2875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abulating machine - Wikipedia">
            <a:extLst>
              <a:ext uri="{FF2B5EF4-FFF2-40B4-BE49-F238E27FC236}">
                <a16:creationId xmlns:a16="http://schemas.microsoft.com/office/drawing/2014/main" id="{133F69AC-CB1B-47AE-A6C4-E411A397C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584" y="1647341"/>
            <a:ext cx="4751916" cy="356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069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59ED1C-FF11-430F-9C77-26F0B37B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Nultá generace – Elektromagnetické relé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ECA113E-1244-4811-929C-E880382AB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283" y="1614487"/>
            <a:ext cx="7951433" cy="4689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4533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59ED1C-FF11-430F-9C77-26F0B37B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Nultá generace – Elektromagnetické relé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CBE356-66C3-4074-9785-E78D15F96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Velké stroje – několik místností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Jednotka operací za vteřinu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Německo –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Z1–Z3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 –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 I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 II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Česko –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SAPO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EDN - IBM dedicates Harvard Mark I, August 7, 1944">
            <a:extLst>
              <a:ext uri="{FF2B5EF4-FFF2-40B4-BE49-F238E27FC236}">
                <a16:creationId xmlns:a16="http://schemas.microsoft.com/office/drawing/2014/main" id="{21F10488-31C4-443A-A55F-A3B0F4249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650" y="1825625"/>
            <a:ext cx="5743575" cy="4656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6691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59ED1C-FF11-430F-9C77-26F0B37B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První PC bug</a:t>
            </a:r>
          </a:p>
        </p:txBody>
      </p:sp>
      <p:pic>
        <p:nvPicPr>
          <p:cNvPr id="7170" name="Picture 2" descr="World's First Computer Bug | National Geographic Society">
            <a:extLst>
              <a:ext uri="{FF2B5EF4-FFF2-40B4-BE49-F238E27FC236}">
                <a16:creationId xmlns:a16="http://schemas.microsoft.com/office/drawing/2014/main" id="{85588380-64EE-4F1D-BCCF-EC0E17A8D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1592" y="1137868"/>
            <a:ext cx="6153150" cy="511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0048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59ED1C-FF11-430F-9C77-26F0B37B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První generace – Elektronka</a:t>
            </a:r>
          </a:p>
        </p:txBody>
      </p:sp>
      <p:pic>
        <p:nvPicPr>
          <p:cNvPr id="8194" name="Picture 2" descr="Elektronka 6N6P = 6H6n, dvojitá trioda : Půhy.cz">
            <a:extLst>
              <a:ext uri="{FF2B5EF4-FFF2-40B4-BE49-F238E27FC236}">
                <a16:creationId xmlns:a16="http://schemas.microsoft.com/office/drawing/2014/main" id="{18E397F9-AC6F-4380-A254-7B9974161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1571532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648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59ED1C-FF11-430F-9C77-26F0B37B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První generace – Elektronka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CBE356-66C3-4074-9785-E78D15F96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Stále velké stroje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až 1000 operací za vteřinu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Elektronky svítí a hřejí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Colosus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ENIAC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Von Neumann</a:t>
            </a:r>
          </a:p>
        </p:txBody>
      </p:sp>
      <p:pic>
        <p:nvPicPr>
          <p:cNvPr id="9218" name="Picture 2" descr="ENIAC – Wikipedie">
            <a:extLst>
              <a:ext uri="{FF2B5EF4-FFF2-40B4-BE49-F238E27FC236}">
                <a16:creationId xmlns:a16="http://schemas.microsoft.com/office/drawing/2014/main" id="{E7BF66F8-A441-4E1D-927C-E8112A076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4844" y="1690688"/>
            <a:ext cx="6425232" cy="491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2217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59ED1C-FF11-430F-9C77-26F0B37B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Druhá generace – Tranzistory</a:t>
            </a:r>
          </a:p>
        </p:txBody>
      </p:sp>
      <p:pic>
        <p:nvPicPr>
          <p:cNvPr id="11266" name="Picture 2" descr="Tranzistor – Wikipedie">
            <a:extLst>
              <a:ext uri="{FF2B5EF4-FFF2-40B4-BE49-F238E27FC236}">
                <a16:creationId xmlns:a16="http://schemas.microsoft.com/office/drawing/2014/main" id="{49F20516-9CAA-4A4E-9DFE-C2DABDDF6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406" y="1506812"/>
            <a:ext cx="5945188" cy="498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536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59ED1C-FF11-430F-9C77-26F0B37B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Druhá generace – Tranzistory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CBE356-66C3-4074-9785-E78D15F96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Menší stroje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 operací za vteřinu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Hromadné zpracování dat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TRADIC</a:t>
            </a:r>
          </a:p>
        </p:txBody>
      </p:sp>
      <p:pic>
        <p:nvPicPr>
          <p:cNvPr id="10242" name="Picture 2" descr="TRADIC - The &quot;Super Computer&quot;, June 1955 Popular Electronics - RF Cafe">
            <a:extLst>
              <a:ext uri="{FF2B5EF4-FFF2-40B4-BE49-F238E27FC236}">
                <a16:creationId xmlns:a16="http://schemas.microsoft.com/office/drawing/2014/main" id="{7E8F409C-7C4C-48C1-8192-04326FCB3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325" y="1414463"/>
            <a:ext cx="5705475" cy="496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668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59ED1C-FF11-430F-9C77-26F0B37B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Třetí generace – Integrované obvody</a:t>
            </a:r>
          </a:p>
        </p:txBody>
      </p:sp>
      <p:pic>
        <p:nvPicPr>
          <p:cNvPr id="13314" name="Picture 2" descr="Integrovaný obvod – Wikipedie">
            <a:extLst>
              <a:ext uri="{FF2B5EF4-FFF2-40B4-BE49-F238E27FC236}">
                <a16:creationId xmlns:a16="http://schemas.microsoft.com/office/drawing/2014/main" id="{65DD49D6-F8E1-4188-B3E9-E50216666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698" y="1762125"/>
            <a:ext cx="7104603" cy="455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754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59ED1C-FF11-430F-9C77-26F0B37B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Třetí generace – Integrované obvody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CBE356-66C3-4074-9785-E78D15F96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Více tranzistorů v jednom čipu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První operační systémy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Desetitisíce operací za vteřinu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PDP-1</a:t>
            </a:r>
          </a:p>
        </p:txBody>
      </p:sp>
      <p:pic>
        <p:nvPicPr>
          <p:cNvPr id="12290" name="Picture 2" descr="Programmed Data Processor – Wikipedie">
            <a:extLst>
              <a:ext uri="{FF2B5EF4-FFF2-40B4-BE49-F238E27FC236}">
                <a16:creationId xmlns:a16="http://schemas.microsoft.com/office/drawing/2014/main" id="{28AA0BD2-62A1-4772-9C1C-1DC12899B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649" y="1854200"/>
            <a:ext cx="5943601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Lyle Bickley explains the PDP-1 (and we play the original Spacewar!) -  YouTube">
            <a:extLst>
              <a:ext uri="{FF2B5EF4-FFF2-40B4-BE49-F238E27FC236}">
                <a16:creationId xmlns:a16="http://schemas.microsoft.com/office/drawing/2014/main" id="{5226EFC8-D40D-46DD-9306-D4DD2E213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5" y="4083050"/>
            <a:ext cx="39624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7534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59ED1C-FF11-430F-9C77-26F0B37B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Čtvrtá generace – Osobní počítače</a:t>
            </a:r>
          </a:p>
        </p:txBody>
      </p:sp>
      <p:pic>
        <p:nvPicPr>
          <p:cNvPr id="15362" name="Picture 2" descr="Grafika na osmibitových počítačích firmy Apple - Root.cz">
            <a:extLst>
              <a:ext uri="{FF2B5EF4-FFF2-40B4-BE49-F238E27FC236}">
                <a16:creationId xmlns:a16="http://schemas.microsoft.com/office/drawing/2014/main" id="{9E42F417-6B18-4FE5-98CE-82241AD2D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075" y="1624012"/>
            <a:ext cx="7181850" cy="4883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5239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59ED1C-FF11-430F-9C77-26F0B37B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Čtvrtá generace – Osobní počítače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CBE356-66C3-4074-9785-E78D15F96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Více čipů v integrovaných obvodech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Desítky milionů operací za vteřinu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II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PC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338" name="Picture 2" descr="IBM PC kompatibilní – Wikipedie">
            <a:extLst>
              <a:ext uri="{FF2B5EF4-FFF2-40B4-BE49-F238E27FC236}">
                <a16:creationId xmlns:a16="http://schemas.microsoft.com/office/drawing/2014/main" id="{C881169B-17CC-496F-86F0-29376886B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781" y="1602419"/>
            <a:ext cx="5055232" cy="365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Computer Mouse - Complete History of The Computer Mouse">
            <a:extLst>
              <a:ext uri="{FF2B5EF4-FFF2-40B4-BE49-F238E27FC236}">
                <a16:creationId xmlns:a16="http://schemas.microsoft.com/office/drawing/2014/main" id="{B8FAFC84-7393-49B8-B3AA-27F9006E5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74" y="4100278"/>
            <a:ext cx="3663156" cy="231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Trojan Room coffee pot - Wikipedia">
            <a:extLst>
              <a:ext uri="{FF2B5EF4-FFF2-40B4-BE49-F238E27FC236}">
                <a16:creationId xmlns:a16="http://schemas.microsoft.com/office/drawing/2014/main" id="{A48FB802-49C2-4217-A2C7-D1B2731A0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524" y="4001294"/>
            <a:ext cx="2224476" cy="249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20989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273</Words>
  <Application>Microsoft Office PowerPoint</Application>
  <PresentationFormat>Širokoúhlá obrazovka</PresentationFormat>
  <Paragraphs>58</Paragraphs>
  <Slides>16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Motiv Office</vt:lpstr>
      <vt:lpstr>Historie</vt:lpstr>
      <vt:lpstr>Základní otázka</vt:lpstr>
      <vt:lpstr>Předchůdci 0. generace</vt:lpstr>
      <vt:lpstr>Analytical Engine (první návrh)</vt:lpstr>
      <vt:lpstr>Děrné štítky – záznam dat</vt:lpstr>
      <vt:lpstr>Nultá generace – Elektromagnetické relé</vt:lpstr>
      <vt:lpstr>Nultá generace – Elektromagnetické relé</vt:lpstr>
      <vt:lpstr>První PC bug</vt:lpstr>
      <vt:lpstr>První generace – Elektronka</vt:lpstr>
      <vt:lpstr>První generace – Elektronka</vt:lpstr>
      <vt:lpstr>Druhá generace – Tranzistory</vt:lpstr>
      <vt:lpstr>Druhá generace – Tranzistory</vt:lpstr>
      <vt:lpstr>Třetí generace – Integrované obvody</vt:lpstr>
      <vt:lpstr>Třetí generace – Integrované obvody</vt:lpstr>
      <vt:lpstr>Čtvrtá generace – Osobní počítače</vt:lpstr>
      <vt:lpstr>Čtvrtá generace – Osobní počítače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Historie</dc:title>
  <dc:creator>Mottl Jan</dc:creator>
  <cp:lastModifiedBy>Mottl Jan</cp:lastModifiedBy>
  <cp:revision>5</cp:revision>
  <dcterms:created xsi:type="dcterms:W3CDTF">2020-09-05T00:00:22Z</dcterms:created>
  <dcterms:modified xsi:type="dcterms:W3CDTF">2020-09-05T00:45:42Z</dcterms:modified>
</cp:coreProperties>
</file>