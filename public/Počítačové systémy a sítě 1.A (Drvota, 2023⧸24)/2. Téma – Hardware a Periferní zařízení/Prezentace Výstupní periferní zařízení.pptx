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77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300" r:id="rId24"/>
    <p:sldId id="299" r:id="rId25"/>
    <p:sldId id="298" r:id="rId2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3" d="100"/>
          <a:sy n="83" d="100"/>
        </p:scale>
        <p:origin x="86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07.11.2022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07.11.2022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07.11.2022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07.11.2022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Výstupní periferní zařízení</a:t>
            </a:r>
          </a:p>
        </p:txBody>
      </p:sp>
      <p:pic>
        <p:nvPicPr>
          <p:cNvPr id="1026" name="Picture 2" descr="Výstupní periferie">
            <a:extLst>
              <a:ext uri="{FF2B5EF4-FFF2-40B4-BE49-F238E27FC236}">
                <a16:creationId xmlns:a16="http://schemas.microsoft.com/office/drawing/2014/main" id="{514CA82D-DFD6-4EE8-A31A-2B2CC9028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364" y="1890298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sluchátka-výstupní zařízení | Beats headphones, In ear headphones,  Headphones">
            <a:extLst>
              <a:ext uri="{FF2B5EF4-FFF2-40B4-BE49-F238E27FC236}">
                <a16:creationId xmlns:a16="http://schemas.microsoft.com/office/drawing/2014/main" id="{E4FE68B3-DEA7-46B9-8647-4DB82776B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675" y="3910429"/>
            <a:ext cx="2424112" cy="2424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Učebnice PRÁCE SE SOUBORY">
            <a:extLst>
              <a:ext uri="{FF2B5EF4-FFF2-40B4-BE49-F238E27FC236}">
                <a16:creationId xmlns:a16="http://schemas.microsoft.com/office/drawing/2014/main" id="{6AD0E092-0BAB-4FAB-80BA-071037A88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250" y="1325758"/>
            <a:ext cx="3570649" cy="3000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Ovsem.net - software, hardware, online hry, webdesign, Windows 7 / Vista /  XP | Periferie">
            <a:extLst>
              <a:ext uri="{FF2B5EF4-FFF2-40B4-BE49-F238E27FC236}">
                <a16:creationId xmlns:a16="http://schemas.microsoft.com/office/drawing/2014/main" id="{FF663797-351A-4A91-ADC2-604B5FA38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2921" y="2136672"/>
            <a:ext cx="4949079" cy="3538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504C655A-5B8A-4546-8036-3F91E168A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133" y="4326731"/>
            <a:ext cx="2490788" cy="249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Monitory</a:t>
            </a:r>
          </a:p>
        </p:txBody>
      </p:sp>
      <p:pic>
        <p:nvPicPr>
          <p:cNvPr id="5" name="Picture 6" descr="Učebnice PRÁCE SE SOUBORY">
            <a:extLst>
              <a:ext uri="{FF2B5EF4-FFF2-40B4-BE49-F238E27FC236}">
                <a16:creationId xmlns:a16="http://schemas.microsoft.com/office/drawing/2014/main" id="{6AD0E092-0BAB-4FAB-80BA-071037A88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95" y="1058862"/>
            <a:ext cx="468058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cer Z301C zahnutý 30&quot; LED herní monitor (UM.CZ1EE.001) | MALL.CZ">
            <a:extLst>
              <a:ext uri="{FF2B5EF4-FFF2-40B4-BE49-F238E27FC236}">
                <a16:creationId xmlns:a16="http://schemas.microsoft.com/office/drawing/2014/main" id="{C75B34CA-15DB-454D-BAB6-5561A4235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970" y="1058861"/>
            <a:ext cx="52387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Old Crt Monitor Screen Display | High-Quality Technology Stock Photos ~  Creative Market">
            <a:extLst>
              <a:ext uri="{FF2B5EF4-FFF2-40B4-BE49-F238E27FC236}">
                <a16:creationId xmlns:a16="http://schemas.microsoft.com/office/drawing/2014/main" id="{692A36BB-E74A-43B5-98C1-661C2203F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827" y="3890108"/>
            <a:ext cx="4451838" cy="296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4293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Parametry monitorů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Rozlišení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Počet bodů (PPI) na ose x a y (např. 1920 x 1080) 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Grafická karta + Monitor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Nativní rozlišení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maximální pro monitor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Úhlopříčka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Vzdálenost v palcích z rohu do rohu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Obnovovací frekvence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Rychlost vykreslení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Odezva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Změna barvy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pixelu</a:t>
            </a: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2834A50-9B19-404D-963A-917A308DB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810" y="5406598"/>
            <a:ext cx="7505700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2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Černá – vypnout vše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Bílá – zapnout vše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387E05D-00E0-4D17-9513-D87CB325C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681" y="105508"/>
            <a:ext cx="7759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16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57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CRT (Cathode Ray Tube)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Katodové dělo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Delta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Trinitron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In-Line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Stínítko</a:t>
            </a:r>
          </a:p>
        </p:txBody>
      </p:sp>
      <p:pic>
        <p:nvPicPr>
          <p:cNvPr id="5122" name="Picture 2" descr="CRT monitory">
            <a:extLst>
              <a:ext uri="{FF2B5EF4-FFF2-40B4-BE49-F238E27FC236}">
                <a16:creationId xmlns:a16="http://schemas.microsoft.com/office/drawing/2014/main" id="{24A718A1-6FE1-4C7D-A594-204378F95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575" y="1489930"/>
            <a:ext cx="37814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jak funguje monitor">
            <a:extLst>
              <a:ext uri="{FF2B5EF4-FFF2-40B4-BE49-F238E27FC236}">
                <a16:creationId xmlns:a16="http://schemas.microsoft.com/office/drawing/2014/main" id="{C16C6505-3175-4CF9-A01F-4AE8C224B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805" y="3196004"/>
            <a:ext cx="5176941" cy="344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830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579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LCD (Liquid Crystal Display)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Světelný prvek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Tekuté krystaly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Polarizační filtry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Zdroj střídavého napětí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tlačítko">
            <a:extLst>
              <a:ext uri="{FF2B5EF4-FFF2-40B4-BE49-F238E27FC236}">
                <a16:creationId xmlns:a16="http://schemas.microsoft.com/office/drawing/2014/main" id="{E4656688-A66F-4CDD-A00D-879AF2269E5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1398710"/>
            <a:ext cx="30480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tlačítko">
            <a:extLst>
              <a:ext uri="{FF2B5EF4-FFF2-40B4-BE49-F238E27FC236}">
                <a16:creationId xmlns:a16="http://schemas.microsoft.com/office/drawing/2014/main" id="{A122E718-B2D4-419A-AE79-0474EFF96BB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3087566"/>
            <a:ext cx="30480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tlačítko">
            <a:extLst>
              <a:ext uri="{FF2B5EF4-FFF2-40B4-BE49-F238E27FC236}">
                <a16:creationId xmlns:a16="http://schemas.microsoft.com/office/drawing/2014/main" id="{C25A4399-AA15-4DD5-950A-0CD792B0D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858" y="1454028"/>
            <a:ext cx="2857500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Apple si vyrobí vlastní displeje. Jeho MicroLED je lepší než OLED –  MobilMania.cz">
            <a:extLst>
              <a:ext uri="{FF2B5EF4-FFF2-40B4-BE49-F238E27FC236}">
                <a16:creationId xmlns:a16="http://schemas.microsoft.com/office/drawing/2014/main" id="{B1606E73-BBF2-440A-A01C-E9B6E5863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4345965"/>
            <a:ext cx="5829300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648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579"/>
            <a:ext cx="10515600" cy="1325563"/>
          </a:xfrm>
        </p:spPr>
        <p:txBody>
          <a:bodyPr>
            <a:no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Typy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LCD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STN (Super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Twisted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Nematic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DSTN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displeje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Double Super Twisted Nematic)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dvě vrstvy STN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TFT (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Film Tranzistor)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každý pixel vlastní tranzistor na ovládání propouštění světla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Typy podle světelného zdroje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Reflexní – světlo se odráží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Transmisivní – lampa pod displejem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Transreflexivní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kombinace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DEM 16211 SY-LY (*) | DISPLAY ELEKTRONIK 2x16, STN,LED,">
            <a:extLst>
              <a:ext uri="{FF2B5EF4-FFF2-40B4-BE49-F238E27FC236}">
                <a16:creationId xmlns:a16="http://schemas.microsoft.com/office/drawing/2014/main" id="{41E92FB8-FEDE-4122-8688-2FF06490BA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73" b="13286"/>
          <a:stretch/>
        </p:blipFill>
        <p:spPr bwMode="auto">
          <a:xfrm>
            <a:off x="9366739" y="154109"/>
            <a:ext cx="2514600" cy="187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Serial Graphic TFT Display 1.8in - KIT | TFTSERIAL-KIT | HobbyTronics">
            <a:extLst>
              <a:ext uri="{FF2B5EF4-FFF2-40B4-BE49-F238E27FC236}">
                <a16:creationId xmlns:a16="http://schemas.microsoft.com/office/drawing/2014/main" id="{AC280B9D-4A71-4AD3-BC24-CCE93FF966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69" b="11182"/>
          <a:stretch/>
        </p:blipFill>
        <p:spPr bwMode="auto">
          <a:xfrm>
            <a:off x="8870419" y="3695666"/>
            <a:ext cx="3507240" cy="2481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tlačítko">
            <a:extLst>
              <a:ext uri="{FF2B5EF4-FFF2-40B4-BE49-F238E27FC236}">
                <a16:creationId xmlns:a16="http://schemas.microsoft.com/office/drawing/2014/main" id="{92D0C9C7-99E2-4AEB-AD72-91CD5C4EE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3178" y="4945517"/>
            <a:ext cx="3507241" cy="160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745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579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LCD monitory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Jako světelný zdroj se používá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diody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Menší spotřeba energii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Větší kontrast</a:t>
            </a:r>
          </a:p>
        </p:txBody>
      </p:sp>
      <p:pic>
        <p:nvPicPr>
          <p:cNvPr id="8194" name="Picture 2" descr="LCD monitor s podsvícením LED 273P3LPHEB/00 | Philips">
            <a:extLst>
              <a:ext uri="{FF2B5EF4-FFF2-40B4-BE49-F238E27FC236}">
                <a16:creationId xmlns:a16="http://schemas.microsoft.com/office/drawing/2014/main" id="{BF60F335-476F-4E5A-BA15-995F01C9F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2747963"/>
            <a:ext cx="40005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90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579"/>
            <a:ext cx="10515600" cy="1325563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OLED (Organic light-emitting diode)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Vrstva organické látky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Vyzařuje jas a světlo pro každý pixel</a:t>
            </a:r>
          </a:p>
        </p:txBody>
      </p:sp>
      <p:pic>
        <p:nvPicPr>
          <p:cNvPr id="9218" name="Picture 2" descr="OLED | Technology &amp; Solution | Information Display | Business | LG Global">
            <a:extLst>
              <a:ext uri="{FF2B5EF4-FFF2-40B4-BE49-F238E27FC236}">
                <a16:creationId xmlns:a16="http://schemas.microsoft.com/office/drawing/2014/main" id="{C677591F-01DA-4C22-BAB8-B758CD29A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105" y="1318846"/>
            <a:ext cx="4794478" cy="3024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Co to je OLED a čím se televizory s touto technologií liší od LCD a plazmy?  - Lupa.cz">
            <a:extLst>
              <a:ext uri="{FF2B5EF4-FFF2-40B4-BE49-F238E27FC236}">
                <a16:creationId xmlns:a16="http://schemas.microsoft.com/office/drawing/2014/main" id="{DA751AC2-FF34-4A02-869A-152ED0FE9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992" y="2938688"/>
            <a:ext cx="6350611" cy="2358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DATART | Co je to OLED?">
            <a:extLst>
              <a:ext uri="{FF2B5EF4-FFF2-40B4-BE49-F238E27FC236}">
                <a16:creationId xmlns:a16="http://schemas.microsoft.com/office/drawing/2014/main" id="{E47E8598-3152-44C7-B5FF-6D386A160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1731" y="4343400"/>
            <a:ext cx="2623038" cy="2295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74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579"/>
            <a:ext cx="10515600" cy="1325563"/>
          </a:xfrm>
        </p:spPr>
        <p:txBody>
          <a:bodyPr>
            <a:no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Další typy monitorů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0794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Plazmové displeje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Využití plynů neon a argon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míšení svítících látek skrz ultrafialové záření plazmy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displeje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1F66F27-542B-4514-8486-15D2F7D70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429" y="170717"/>
            <a:ext cx="3889131" cy="291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9C6638D9-99FF-459E-942E-DD0BD5624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1454" y="3780422"/>
            <a:ext cx="3490546" cy="2321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9561E763-2564-4630-A449-C3FBEB9FCB2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662" y="3984053"/>
            <a:ext cx="4336072" cy="227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D1BAA0F9-C3C5-434B-8C7F-FC27F2C3B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93" y="4067909"/>
            <a:ext cx="4176346" cy="2192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42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Projektory</a:t>
            </a:r>
          </a:p>
        </p:txBody>
      </p:sp>
      <p:pic>
        <p:nvPicPr>
          <p:cNvPr id="11266" name="Picture 2" descr="Jak vybrat projektor | Alza.cz">
            <a:extLst>
              <a:ext uri="{FF2B5EF4-FFF2-40B4-BE49-F238E27FC236}">
                <a16:creationId xmlns:a16="http://schemas.microsoft.com/office/drawing/2014/main" id="{80C6E549-55A6-4F7A-8968-1F7208F91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453" y="944562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Projektory s RGB LED | Chip.cz - recenze a testy">
            <a:extLst>
              <a:ext uri="{FF2B5EF4-FFF2-40B4-BE49-F238E27FC236}">
                <a16:creationId xmlns:a16="http://schemas.microsoft.com/office/drawing/2014/main" id="{B751C986-2A6C-4088-B04B-EC0079398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89" y="1076446"/>
            <a:ext cx="5819043" cy="3192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Projektory | MALL.CZ">
            <a:extLst>
              <a:ext uri="{FF2B5EF4-FFF2-40B4-BE49-F238E27FC236}">
                <a16:creationId xmlns:a16="http://schemas.microsoft.com/office/drawing/2014/main" id="{6DEF1EEC-57C1-41CC-A530-A50FF25AD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262" y="3802062"/>
            <a:ext cx="3593989" cy="269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555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579"/>
            <a:ext cx="10515600" cy="1325563"/>
          </a:xfrm>
        </p:spPr>
        <p:txBody>
          <a:bodyPr>
            <a:no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Parametry projektorů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Rozlišení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Světelný výkon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Kontrast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nejtmavšího a nejsvětlejšího bodu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Životnost lampy</a:t>
            </a:r>
          </a:p>
        </p:txBody>
      </p:sp>
      <p:pic>
        <p:nvPicPr>
          <p:cNvPr id="7" name="Picture 4" descr="Projektory s RGB LED | Chip.cz - recenze a testy">
            <a:extLst>
              <a:ext uri="{FF2B5EF4-FFF2-40B4-BE49-F238E27FC236}">
                <a16:creationId xmlns:a16="http://schemas.microsoft.com/office/drawing/2014/main" id="{D14C0318-2CAB-45AF-B778-27D93BD49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127" y="3494331"/>
            <a:ext cx="5819043" cy="3192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387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579"/>
            <a:ext cx="10515600" cy="1325563"/>
          </a:xfrm>
        </p:spPr>
        <p:txBody>
          <a:bodyPr>
            <a:no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DLP projektory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 DMD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(Digital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Micromirror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Miliony miniaturních zrcadel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Bílé světlo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skrz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barevný filtr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Každých pár sekund se mění obraz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Podle natáčení zrcadel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projektory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Led diody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4" name="Picture 6">
            <a:extLst>
              <a:ext uri="{FF2B5EF4-FFF2-40B4-BE49-F238E27FC236}">
                <a16:creationId xmlns:a16="http://schemas.microsoft.com/office/drawing/2014/main" id="{71FB7B65-D678-4BFD-95D1-76A7DC0AF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53368"/>
            <a:ext cx="5686980" cy="412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Projektor Optoma ML750e LED DLP Projector LED Projector - Ultra Portable  (700 LED, 15000:1,) | Alemat.cz">
            <a:extLst>
              <a:ext uri="{FF2B5EF4-FFF2-40B4-BE49-F238E27FC236}">
                <a16:creationId xmlns:a16="http://schemas.microsoft.com/office/drawing/2014/main" id="{8328065E-7236-4F23-A21E-0255CD568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446" y="4833759"/>
            <a:ext cx="3671365" cy="184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525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579"/>
            <a:ext cx="10515600" cy="1325563"/>
          </a:xfrm>
        </p:spPr>
        <p:txBody>
          <a:bodyPr>
            <a:no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projektory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echnologi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LCD (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Liquid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Crystal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Zdroj světla – rtuťová výbojka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Soustava zrcadel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Rozdělení světla na RGB barvy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Polarizační filtry s LCD panelem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166910A2-7F76-4DD0-95E4-8D91F2FB7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918" y="3429000"/>
            <a:ext cx="5647135" cy="3363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An05 lcd projector 70 ansi lumens 3.5mm audio 800*480 pixels hdmi usb mini  led projector wireless wifi home theatre media player pico projector Sale -  Banggood.com">
            <a:extLst>
              <a:ext uri="{FF2B5EF4-FFF2-40B4-BE49-F238E27FC236}">
                <a16:creationId xmlns:a16="http://schemas.microsoft.com/office/drawing/2014/main" id="{0BBC38F0-AADA-487F-A6C5-B4B253D1D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0938" y="489194"/>
            <a:ext cx="2672862" cy="267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77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579"/>
            <a:ext cx="10515600" cy="1325563"/>
          </a:xfrm>
        </p:spPr>
        <p:txBody>
          <a:bodyPr>
            <a:no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Další typy projektorů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LCoS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projektory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LCoS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panely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Laserové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pojektory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 I. – jeden laser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 II. – pro každou barvu jeden laser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CRT projektory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projektory každý pro jednu barvu</a:t>
            </a:r>
          </a:p>
          <a:p>
            <a:pPr lvl="1"/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 descr="LCoS Projectors for Home Theater">
            <a:extLst>
              <a:ext uri="{FF2B5EF4-FFF2-40B4-BE49-F238E27FC236}">
                <a16:creationId xmlns:a16="http://schemas.microsoft.com/office/drawing/2014/main" id="{0193333B-F2AE-4F82-899F-71DCDA5D9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645" y="79197"/>
            <a:ext cx="3417277" cy="267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katedra optiky Zobrazovací grafická zařízení - PDF Stažení zdarma">
            <a:extLst>
              <a:ext uri="{FF2B5EF4-FFF2-40B4-BE49-F238E27FC236}">
                <a16:creationId xmlns:a16="http://schemas.microsoft.com/office/drawing/2014/main" id="{7F264F09-7D40-472A-96C6-B6F4CDAFD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122" y="4691658"/>
            <a:ext cx="3792415" cy="208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8" name="Picture 8" descr="BenQ LK953ST Laser Projector">
            <a:extLst>
              <a:ext uri="{FF2B5EF4-FFF2-40B4-BE49-F238E27FC236}">
                <a16:creationId xmlns:a16="http://schemas.microsoft.com/office/drawing/2014/main" id="{2BCED06A-5887-4FA9-858D-FA18BAAB6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631" y="2381446"/>
            <a:ext cx="3294184" cy="2196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30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Tiskárny</a:t>
            </a:r>
          </a:p>
        </p:txBody>
      </p:sp>
      <p:pic>
        <p:nvPicPr>
          <p:cNvPr id="17410" name="Picture 2" descr="Canon TS3150 printer review - Which?">
            <a:extLst>
              <a:ext uri="{FF2B5EF4-FFF2-40B4-BE49-F238E27FC236}">
                <a16:creationId xmlns:a16="http://schemas.microsoft.com/office/drawing/2014/main" id="{2C604AD1-BE71-4B6F-B125-DC2D3930C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32" y="1729581"/>
            <a:ext cx="4534242" cy="339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HP LaserJet Pro M404n - Monochrome - Laser - Printer - W1A52A#BGJ - Laser  Printers - CDW.com">
            <a:extLst>
              <a:ext uri="{FF2B5EF4-FFF2-40B4-BE49-F238E27FC236}">
                <a16:creationId xmlns:a16="http://schemas.microsoft.com/office/drawing/2014/main" id="{8D040010-2F6D-433D-9144-8CB7C926A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8301" y="-17585"/>
            <a:ext cx="3931992" cy="2819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4" name="Picture 6" descr="Original Prusa I3 MK3 kit">
            <a:extLst>
              <a:ext uri="{FF2B5EF4-FFF2-40B4-BE49-F238E27FC236}">
                <a16:creationId xmlns:a16="http://schemas.microsoft.com/office/drawing/2014/main" id="{BC751315-3CCA-469B-8793-101939ECB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528" y="2801579"/>
            <a:ext cx="3755049" cy="3755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596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579"/>
            <a:ext cx="10515600" cy="1325563"/>
          </a:xfrm>
        </p:spPr>
        <p:txBody>
          <a:bodyPr>
            <a:no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Parametry tiskáren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Rozlišení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DPI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inch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Rychlost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minute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Cena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Canon TS3150 printer review - Which?">
            <a:extLst>
              <a:ext uri="{FF2B5EF4-FFF2-40B4-BE49-F238E27FC236}">
                <a16:creationId xmlns:a16="http://schemas.microsoft.com/office/drawing/2014/main" id="{7A2DE80B-9A68-4139-9005-358B6C5A5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558" y="2778125"/>
            <a:ext cx="4534242" cy="339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79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1" y="255059"/>
            <a:ext cx="10515600" cy="1325563"/>
          </a:xfrm>
        </p:spPr>
        <p:txBody>
          <a:bodyPr>
            <a:no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Jehličková tiskárna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 jako u psacího stroje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Tisková hlava s jehličkami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Vyťukávání textu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4" name="Picture 2" descr="3-DIY: Printing Your Own Bioprinter | Technology Networks">
            <a:extLst>
              <a:ext uri="{FF2B5EF4-FFF2-40B4-BE49-F238E27FC236}">
                <a16:creationId xmlns:a16="http://schemas.microsoft.com/office/drawing/2014/main" id="{4F26D7F1-ECE4-4D4C-82A0-012129729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631" y="111125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Matrix needle printer">
            <a:extLst>
              <a:ext uri="{FF2B5EF4-FFF2-40B4-BE49-F238E27FC236}">
                <a16:creationId xmlns:a16="http://schemas.microsoft.com/office/drawing/2014/main" id="{7DF0AF94-286E-4C6E-83B6-DF22D84D2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336" y="3540125"/>
            <a:ext cx="3758590" cy="302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83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1" y="255059"/>
            <a:ext cx="10515600" cy="1325563"/>
          </a:xfrm>
        </p:spPr>
        <p:txBody>
          <a:bodyPr>
            <a:no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Inkoustová tiskárna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Tisková hlavice s inkoustem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Trysky vyhánějí barvu na papír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Tepelné inkoustové tiskárny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Tepelné těleso, které zahřeje inkoust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Bublina vytlačí inkoust do trysky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Piezoelektrické inkoustové tiskárny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Tlaková vlna skrz rozpínání piezoelektrického krystalu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2" name="Picture 2" descr="Canon PIXMA G4400 - Canon Czech Republic">
            <a:extLst>
              <a:ext uri="{FF2B5EF4-FFF2-40B4-BE49-F238E27FC236}">
                <a16:creationId xmlns:a16="http://schemas.microsoft.com/office/drawing/2014/main" id="{4884A625-3E91-4430-9382-2BBFD0F49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708" y="290818"/>
            <a:ext cx="5457092" cy="3069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 descr="DP3: Digital Print Preservation Portal | Inkjet">
            <a:extLst>
              <a:ext uri="{FF2B5EF4-FFF2-40B4-BE49-F238E27FC236}">
                <a16:creationId xmlns:a16="http://schemas.microsoft.com/office/drawing/2014/main" id="{78176A86-636B-4FDB-9A2D-A75F8A042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908" y="3605435"/>
            <a:ext cx="2598408" cy="276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92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1" y="255059"/>
            <a:ext cx="10515600" cy="1325563"/>
          </a:xfrm>
        </p:spPr>
        <p:txBody>
          <a:bodyPr>
            <a:no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Laserová tiskárna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66846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 vypálí text na válec, který jej zažehlí na plochu papíru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506" name="Picture 2" descr="History of Computers - Laser Printer - SJS Wiki">
            <a:extLst>
              <a:ext uri="{FF2B5EF4-FFF2-40B4-BE49-F238E27FC236}">
                <a16:creationId xmlns:a16="http://schemas.microsoft.com/office/drawing/2014/main" id="{82CEC0FB-468E-44D7-86B8-006A86154A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2"/>
          <a:stretch/>
        </p:blipFill>
        <p:spPr bwMode="auto">
          <a:xfrm>
            <a:off x="5706208" y="668297"/>
            <a:ext cx="6264350" cy="5688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Samsung CLP-680DW Color Laser Printer nový na ND - Brno - Sbazar.cz">
            <a:extLst>
              <a:ext uri="{FF2B5EF4-FFF2-40B4-BE49-F238E27FC236}">
                <a16:creationId xmlns:a16="http://schemas.microsoft.com/office/drawing/2014/main" id="{D13BCC96-71C7-441E-85EB-0C2E99A7E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87" y="3868921"/>
            <a:ext cx="3982671" cy="298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074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1" y="255059"/>
            <a:ext cx="10515600" cy="1325563"/>
          </a:xfrm>
        </p:spPr>
        <p:txBody>
          <a:bodyPr>
            <a:no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Plotr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404231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Hlava s perem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jako kreslení rukou</a:t>
            </a: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532" name="Picture 4" descr="Buy HP DesignJet T1700dr PS A0+ Plotter | Printers &amp; Supplies | ARP">
            <a:extLst>
              <a:ext uri="{FF2B5EF4-FFF2-40B4-BE49-F238E27FC236}">
                <a16:creationId xmlns:a16="http://schemas.microsoft.com/office/drawing/2014/main" id="{848B42FC-3827-41E0-B033-01AA60418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0930" y="2976563"/>
            <a:ext cx="43815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0406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1" y="255059"/>
            <a:ext cx="10515600" cy="1325563"/>
          </a:xfrm>
        </p:spPr>
        <p:txBody>
          <a:bodyPr>
            <a:no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tiskárny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404231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Aditivní výroba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Pokládání vrstev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Filament</a:t>
            </a: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C862DF47-277B-4982-8796-BC61E51A5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084" y="330932"/>
            <a:ext cx="3264877" cy="244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6" name="Picture 4" descr="Creating Organs with 3D Printing Technology - Cellink China">
            <a:extLst>
              <a:ext uri="{FF2B5EF4-FFF2-40B4-BE49-F238E27FC236}">
                <a16:creationId xmlns:a16="http://schemas.microsoft.com/office/drawing/2014/main" id="{6693C6CA-734A-4D0A-AD29-6FD33FFF5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64" y="3345718"/>
            <a:ext cx="523875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8" name="Picture 6" descr="Anet ET4 3D-Printer 220x220x250 mm 3D PRINTERS">
            <a:extLst>
              <a:ext uri="{FF2B5EF4-FFF2-40B4-BE49-F238E27FC236}">
                <a16:creationId xmlns:a16="http://schemas.microsoft.com/office/drawing/2014/main" id="{7CF3CDA2-C937-4F65-8878-BD84E6C9F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934" y="2796604"/>
            <a:ext cx="3625362" cy="362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472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1" y="255059"/>
            <a:ext cx="10515600" cy="1325563"/>
          </a:xfrm>
        </p:spPr>
        <p:txBody>
          <a:bodyPr>
            <a:no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tiskárny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404231" cy="4351338"/>
          </a:xfrm>
        </p:spPr>
        <p:txBody>
          <a:bodyPr>
            <a:normAutofit/>
          </a:bodyPr>
          <a:lstStyle/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Resin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(pryskyřice) – jedovatá látka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Zatvrzení vrstvy pryskyřice pomocí ultrafialového záření. </a:t>
            </a:r>
          </a:p>
        </p:txBody>
      </p:sp>
      <p:pic>
        <p:nvPicPr>
          <p:cNvPr id="4" name="Obrázek 3" descr="Obsah obrázku text&#10;&#10;Popis byl vytvořen automaticky">
            <a:extLst>
              <a:ext uri="{FF2B5EF4-FFF2-40B4-BE49-F238E27FC236}">
                <a16:creationId xmlns:a16="http://schemas.microsoft.com/office/drawing/2014/main" id="{1308E97D-1392-4D57-D6E9-01967A9C7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298" y="147935"/>
            <a:ext cx="3500582" cy="2089719"/>
          </a:xfrm>
          <a:prstGeom prst="rect">
            <a:avLst/>
          </a:prstGeom>
        </p:spPr>
      </p:pic>
      <p:pic>
        <p:nvPicPr>
          <p:cNvPr id="7" name="Obrázek 6" descr="Obsah obrázku text, láhev, interiér&#10;&#10;Popis byl vytvořen automaticky">
            <a:extLst>
              <a:ext uri="{FF2B5EF4-FFF2-40B4-BE49-F238E27FC236}">
                <a16:creationId xmlns:a16="http://schemas.microsoft.com/office/drawing/2014/main" id="{DB621990-B898-740B-D404-754AF7C55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5067" y="2663632"/>
            <a:ext cx="3776813" cy="3939309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1F24B305-83AF-7E2C-1411-693721672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509" y="2918690"/>
            <a:ext cx="4645891" cy="382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52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1" y="255059"/>
            <a:ext cx="10515600" cy="1325563"/>
          </a:xfrm>
        </p:spPr>
        <p:txBody>
          <a:bodyPr>
            <a:no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Barevný model – CMYK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404231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Tiskárny využívají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Cyan – azurová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Magenta – purpurová</a:t>
            </a:r>
          </a:p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Yellow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žlutá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Navíc černá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Proč?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namíchat černou a bílou?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EA172ED6-1A17-BA41-DBD0-2D729BE2B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892" y="1419032"/>
            <a:ext cx="5183909" cy="518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008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1" y="255059"/>
            <a:ext cx="10515600" cy="1325563"/>
          </a:xfrm>
        </p:spPr>
        <p:txBody>
          <a:bodyPr>
            <a:no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Reproduktory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404231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Elektrická energie (digitální) na mechanickou (analogovou)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Pasivní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reprodukují zvuk ze zvukové karty (bez zesílení)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Aktivní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umí zesílit zvuk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Reproduktory k PC | Alza.cz">
            <a:extLst>
              <a:ext uri="{FF2B5EF4-FFF2-40B4-BE49-F238E27FC236}">
                <a16:creationId xmlns:a16="http://schemas.microsoft.com/office/drawing/2014/main" id="{95D698F9-78B9-4796-B503-1C8507B17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864" y="3309600"/>
            <a:ext cx="3492937" cy="329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31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</TotalTime>
  <Words>471</Words>
  <Application>Microsoft Office PowerPoint</Application>
  <PresentationFormat>Širokoúhlá obrazovka</PresentationFormat>
  <Paragraphs>121</Paragraphs>
  <Slides>25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Motiv Office</vt:lpstr>
      <vt:lpstr>Výstupní periferní zařízení</vt:lpstr>
      <vt:lpstr>Monitory</vt:lpstr>
      <vt:lpstr>Parametry monitorů</vt:lpstr>
      <vt:lpstr>Pixely</vt:lpstr>
      <vt:lpstr>Monitor CRT (Cathode Ray Tube)</vt:lpstr>
      <vt:lpstr>Monitor LCD (Liquid Crystal Display)</vt:lpstr>
      <vt:lpstr>Typy LCD</vt:lpstr>
      <vt:lpstr>LED LCD monitory</vt:lpstr>
      <vt:lpstr>Monitor OLED (Organic light-emitting diode)</vt:lpstr>
      <vt:lpstr>Další typy monitorů</vt:lpstr>
      <vt:lpstr>Projektory</vt:lpstr>
      <vt:lpstr>Parametry projektorů</vt:lpstr>
      <vt:lpstr>DLP projektory</vt:lpstr>
      <vt:lpstr>LCD projektory</vt:lpstr>
      <vt:lpstr>Další typy projektorů</vt:lpstr>
      <vt:lpstr>Tiskárny</vt:lpstr>
      <vt:lpstr>Parametry tiskáren</vt:lpstr>
      <vt:lpstr>Jehličková tiskárna</vt:lpstr>
      <vt:lpstr>Inkoustová tiskárna</vt:lpstr>
      <vt:lpstr>Laserová tiskárna</vt:lpstr>
      <vt:lpstr>Plotr</vt:lpstr>
      <vt:lpstr>3D tiskárny</vt:lpstr>
      <vt:lpstr>3D tiskárny</vt:lpstr>
      <vt:lpstr>Barevný model – CMYK</vt:lpstr>
      <vt:lpstr>Reproduktory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90</cp:revision>
  <dcterms:created xsi:type="dcterms:W3CDTF">2020-09-17T19:44:13Z</dcterms:created>
  <dcterms:modified xsi:type="dcterms:W3CDTF">2022-11-07T06:16:41Z</dcterms:modified>
</cp:coreProperties>
</file>