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7" r:id="rId4"/>
    <p:sldId id="271" r:id="rId5"/>
    <p:sldId id="274" r:id="rId6"/>
    <p:sldId id="275" r:id="rId7"/>
    <p:sldId id="276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1" r:id="rId31"/>
    <p:sldId id="300" r:id="rId32"/>
    <p:sldId id="302" r:id="rId33"/>
    <p:sldId id="303" r:id="rId34"/>
    <p:sldId id="304" r:id="rId35"/>
    <p:sldId id="305" r:id="rId36"/>
    <p:sldId id="306" r:id="rId3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02" autoAdjust="0"/>
    <p:restoredTop sz="94660"/>
  </p:normalViewPr>
  <p:slideViewPr>
    <p:cSldViewPr snapToGrid="0">
      <p:cViewPr varScale="1">
        <p:scale>
          <a:sx n="87" d="100"/>
          <a:sy n="87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07.10.2021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image" Target="../media/image71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Vstupní periferní zařízení</a:t>
            </a:r>
          </a:p>
        </p:txBody>
      </p:sp>
      <p:pic>
        <p:nvPicPr>
          <p:cNvPr id="3" name="Picture 2" descr="Vstupní zařízení - Fujitsu Česká republika">
            <a:extLst>
              <a:ext uri="{FF2B5EF4-FFF2-40B4-BE49-F238E27FC236}">
                <a16:creationId xmlns:a16="http://schemas.microsoft.com/office/drawing/2014/main" id="{539BD2E2-4D99-4294-BE34-BC3777B19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518" y="944562"/>
            <a:ext cx="10274964" cy="396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ebkamera Genius ECam 8000, Full HD černá | EURONICS">
            <a:extLst>
              <a:ext uri="{FF2B5EF4-FFF2-40B4-BE49-F238E27FC236}">
                <a16:creationId xmlns:a16="http://schemas.microsoft.com/office/drawing/2014/main" id="{53B5FA17-621B-4B11-AFFA-9722FB2FC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28625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pson Perfection V600 Photo Scanner B11B198011 B&amp;H Photo Video">
            <a:extLst>
              <a:ext uri="{FF2B5EF4-FFF2-40B4-BE49-F238E27FC236}">
                <a16:creationId xmlns:a16="http://schemas.microsoft.com/office/drawing/2014/main" id="{C459AC95-4B11-47BD-9674-63586C3FC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920" y="4027170"/>
            <a:ext cx="2804160" cy="28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028 Vocal Microphone - Built for the stage &amp; life on the road">
            <a:extLst>
              <a:ext uri="{FF2B5EF4-FFF2-40B4-BE49-F238E27FC236}">
                <a16:creationId xmlns:a16="http://schemas.microsoft.com/office/drawing/2014/main" id="{A6699298-7F6A-4D3E-B1AE-031962F7F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981" y="4515742"/>
            <a:ext cx="3238801" cy="182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Polohovací zařízení</a:t>
            </a:r>
          </a:p>
        </p:txBody>
      </p:sp>
      <p:pic>
        <p:nvPicPr>
          <p:cNvPr id="2050" name="Picture 2" descr="BLUETOOTH LASEROVÁ KLÁVESNICE (QWERTY) A MYŠ PRO MOBILY A PC - ABA Reklama">
            <a:extLst>
              <a:ext uri="{FF2B5EF4-FFF2-40B4-BE49-F238E27FC236}">
                <a16:creationId xmlns:a16="http://schemas.microsoft.com/office/drawing/2014/main" id="{AF5298EF-A86E-4B73-9796-135851236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143000"/>
            <a:ext cx="52959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Český návod k použití POLOHOVACÍ ZAŘÍZENÍ | Český návod k použití">
            <a:extLst>
              <a:ext uri="{FF2B5EF4-FFF2-40B4-BE49-F238E27FC236}">
                <a16:creationId xmlns:a16="http://schemas.microsoft.com/office/drawing/2014/main" id="{9D1E04DF-C528-45BE-A71B-53C8219B9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2395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olohovací zařízení">
            <a:extLst>
              <a:ext uri="{FF2B5EF4-FFF2-40B4-BE49-F238E27FC236}">
                <a16:creationId xmlns:a16="http://schemas.microsoft.com/office/drawing/2014/main" id="{C29447A9-8356-4263-B671-DB99EC7D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2" y="413385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olohovací zařízení :: Gymnázium Otrokovice KVINTA">
            <a:extLst>
              <a:ext uri="{FF2B5EF4-FFF2-40B4-BE49-F238E27FC236}">
                <a16:creationId xmlns:a16="http://schemas.microsoft.com/office/drawing/2014/main" id="{4EDE455F-5840-4CA6-B8F7-73DEE8E3A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199" y="2543174"/>
            <a:ext cx="2582542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9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Parametry myší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 (mechanická, optická, laserová)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Citlivost senzorů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Doba odezvy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Ergonomie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Rozhraní pro připojení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Napájení myši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a počet tlačítek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Interní paměť pro makra</a:t>
            </a:r>
          </a:p>
        </p:txBody>
      </p:sp>
      <p:pic>
        <p:nvPicPr>
          <p:cNvPr id="7170" name="Picture 2" descr="Wired Gaming Mouse 8-Button Programmable Mouse Optical Ergonomic PC Gaming  Mice 7200CPI Customizable Mouse with 5-Level CPI - Overstock - 28881746">
            <a:extLst>
              <a:ext uri="{FF2B5EF4-FFF2-40B4-BE49-F238E27FC236}">
                <a16:creationId xmlns:a16="http://schemas.microsoft.com/office/drawing/2014/main" id="{417FF11A-22AF-4868-ABF8-56EA6E8EE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135" y="1690688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Kuličková myš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Také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mechanická myš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InfraLED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senzory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fototranzistory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Dva kotouče (horizont a vertikál)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PS2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Čištění</a:t>
            </a:r>
          </a:p>
        </p:txBody>
      </p:sp>
      <p:pic>
        <p:nvPicPr>
          <p:cNvPr id="3074" name="Picture 2" descr="Free Images : technology, camera, product, glasses, ball, pc, multimedia, computer  mouse, cameras optics, electronic device, electronics accessory, old  hardware 3264x2448 - - 1063163 - Free stock photos - PxHere">
            <a:extLst>
              <a:ext uri="{FF2B5EF4-FFF2-40B4-BE49-F238E27FC236}">
                <a16:creationId xmlns:a16="http://schemas.microsoft.com/office/drawing/2014/main" id="{CE672E2E-6B42-49B2-9056-E2976C38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871" y="103981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ld parts of computer | Computer mouse, Old computers">
            <a:extLst>
              <a:ext uri="{FF2B5EF4-FFF2-40B4-BE49-F238E27FC236}">
                <a16:creationId xmlns:a16="http://schemas.microsoft.com/office/drawing/2014/main" id="{1F0205EF-E0BC-41E7-86ED-BBCD672FB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088" y="103981"/>
            <a:ext cx="2466976" cy="185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C2FBD823-503B-4BF6-9291-C06E44178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55" y="2478454"/>
            <a:ext cx="5064231" cy="383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5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Optická myš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Optické snímání povrchu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Snímač CMOS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Vyhodnocuje procesor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osvětlení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(červená)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Modrá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BlueTrack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mechanická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Problémy s povrchy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Zrcadlo (reflektivní)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Povrch stejné barvy, jako je LED světlo</a:t>
            </a:r>
          </a:p>
        </p:txBody>
      </p:sp>
      <p:pic>
        <p:nvPicPr>
          <p:cNvPr id="4098" name="Picture 2" descr="Microsoft Basic Optical Mouse P58-00059 — Heureka.cz">
            <a:extLst>
              <a:ext uri="{FF2B5EF4-FFF2-40B4-BE49-F238E27FC236}">
                <a16:creationId xmlns:a16="http://schemas.microsoft.com/office/drawing/2014/main" id="{CAAF1AAA-0FC9-4F69-97E9-4C701ED5A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0160"/>
            <a:ext cx="2074984" cy="207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hy Use Optical Mouse -">
            <a:extLst>
              <a:ext uri="{FF2B5EF4-FFF2-40B4-BE49-F238E27FC236}">
                <a16:creationId xmlns:a16="http://schemas.microsoft.com/office/drawing/2014/main" id="{1026555D-BE9F-4EF0-A5BB-6A699C2FD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719" y="120160"/>
            <a:ext cx="2735081" cy="220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he optical mouse as a two-dimensional displacement sensor - ScienceDirect">
            <a:extLst>
              <a:ext uri="{FF2B5EF4-FFF2-40B4-BE49-F238E27FC236}">
                <a16:creationId xmlns:a16="http://schemas.microsoft.com/office/drawing/2014/main" id="{B7B803E3-31E2-4394-964A-90F5313D6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036" y="2566865"/>
            <a:ext cx="5488964" cy="335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33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Laserová myš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Pracuje podobně jako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optická myš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Místo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světla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Laserová dioda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Přesnější snímání (menší problémy)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SteelSeries' Sensei Gets Smart With 32-bit ARM Processor - PC Perspective">
            <a:extLst>
              <a:ext uri="{FF2B5EF4-FFF2-40B4-BE49-F238E27FC236}">
                <a16:creationId xmlns:a16="http://schemas.microsoft.com/office/drawing/2014/main" id="{288E4E72-2B73-4232-B76F-D056CFD86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425" y="0"/>
            <a:ext cx="37623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Optical Vs Laser Mouse - Which Gaming Mouse Is Best? [2020 Update] - Colorfy">
            <a:extLst>
              <a:ext uri="{FF2B5EF4-FFF2-40B4-BE49-F238E27FC236}">
                <a16:creationId xmlns:a16="http://schemas.microsoft.com/office/drawing/2014/main" id="{7D60428F-9B62-499B-81AE-68EDCB66A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92" y="3481388"/>
            <a:ext cx="4687957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nternal Structure of an ADNS-9800 Laser Mouse Sensor [5]. | Download  Scientific Diagram">
            <a:extLst>
              <a:ext uri="{FF2B5EF4-FFF2-40B4-BE49-F238E27FC236}">
                <a16:creationId xmlns:a16="http://schemas.microsoft.com/office/drawing/2014/main" id="{FA55D0D5-E8B6-4C28-92CB-748481593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713" y="3117057"/>
            <a:ext cx="5496062" cy="305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37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Bezdrátová optická indukční myš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Napájení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elektromagnetickou indukci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Podložka připojena k PC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Mionix Inductive Charging Wireless Mouse Pad Teased at CES">
            <a:extLst>
              <a:ext uri="{FF2B5EF4-FFF2-40B4-BE49-F238E27FC236}">
                <a16:creationId xmlns:a16="http://schemas.microsoft.com/office/drawing/2014/main" id="{F5D53150-9FC1-4E95-9388-42351FDF9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055" y="2592033"/>
            <a:ext cx="5694714" cy="378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54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Ergonomická myš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Vertikální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proti syndromu RSI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Ergonomic grip mouse vertikalni levně | Blesk zboží">
            <a:extLst>
              <a:ext uri="{FF2B5EF4-FFF2-40B4-BE49-F238E27FC236}">
                <a16:creationId xmlns:a16="http://schemas.microsoft.com/office/drawing/2014/main" id="{0593041F-3108-473F-912C-5B602031B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4" y="36512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Anker's $20 ergonomic computer mouse takes stress off my wrist - Business  Insider">
            <a:extLst>
              <a:ext uri="{FF2B5EF4-FFF2-40B4-BE49-F238E27FC236}">
                <a16:creationId xmlns:a16="http://schemas.microsoft.com/office/drawing/2014/main" id="{BC002CB5-D19E-41B1-83CC-5DEB0BE7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49" y="2629598"/>
            <a:ext cx="4905376" cy="368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35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Trackball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Podobně jako u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kuličkových myší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Kulička je navrchu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přesné polohování kurzoru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 osoby s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tělesným postižením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861100E-7008-41BB-A28A-D25B18BC4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49" y="81592"/>
            <a:ext cx="2867025" cy="2275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Wireless Programmable Ergonomic Trackball Mouse - Adesso Inc ::: Your Input  Device Specialist :::">
            <a:extLst>
              <a:ext uri="{FF2B5EF4-FFF2-40B4-BE49-F238E27FC236}">
                <a16:creationId xmlns:a16="http://schemas.microsoft.com/office/drawing/2014/main" id="{F7967BFD-BF67-46A8-83FF-EE0525079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9111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Kensington Expert Mouse Trackball wireless - Trackball | Alza.cz">
            <a:extLst>
              <a:ext uri="{FF2B5EF4-FFF2-40B4-BE49-F238E27FC236}">
                <a16:creationId xmlns:a16="http://schemas.microsoft.com/office/drawing/2014/main" id="{F5F562D4-7A20-42F5-B4DB-01292000F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748" y="2419350"/>
            <a:ext cx="2312176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Trackball Technology Overview">
            <a:extLst>
              <a:ext uri="{FF2B5EF4-FFF2-40B4-BE49-F238E27FC236}">
                <a16:creationId xmlns:a16="http://schemas.microsoft.com/office/drawing/2014/main" id="{1D90D5C5-59D2-42C0-A727-E6939E81C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3690308"/>
            <a:ext cx="4619625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96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Trackpoint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Miniaturní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joystick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Naklánění pohybuje kurzorem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Tlačítka pod klávesnicí</a:t>
            </a:r>
          </a:p>
        </p:txBody>
      </p:sp>
      <p:pic>
        <p:nvPicPr>
          <p:cNvPr id="10242" name="Picture 2" descr="The ThinkPad TrackPoint tried to build a better mouse - The Verge">
            <a:extLst>
              <a:ext uri="{FF2B5EF4-FFF2-40B4-BE49-F238E27FC236}">
                <a16:creationId xmlns:a16="http://schemas.microsoft.com/office/drawing/2014/main" id="{5B94D817-ECBF-44C2-9BEF-93108B233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669" y="167054"/>
            <a:ext cx="3508131" cy="233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13.04 - How to use trackpoint but keep touchpad disabled on Lenovo ThinkPad  e531 - Ask Ubuntu">
            <a:extLst>
              <a:ext uri="{FF2B5EF4-FFF2-40B4-BE49-F238E27FC236}">
                <a16:creationId xmlns:a16="http://schemas.microsoft.com/office/drawing/2014/main" id="{BC84924D-CAB0-4EE4-8401-D0C5C3F48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360" y="2790861"/>
            <a:ext cx="5389685" cy="3594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20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Grafický tablet 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Pero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podložka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grafiku (kresbu)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LPI (Lines Per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1266" name="Picture 2" descr="TRUST Panora Widescreen Graphic Tablet černá / grafický tablet s |  Mironet.cz">
            <a:extLst>
              <a:ext uri="{FF2B5EF4-FFF2-40B4-BE49-F238E27FC236}">
                <a16:creationId xmlns:a16="http://schemas.microsoft.com/office/drawing/2014/main" id="{651D0553-3228-4D28-8B62-E24E89000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615291" cy="415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34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navigator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Zařízení pro 3D modelování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Explorer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Pilot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Používá druhá ruka při modelování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Natáčení, otáčen, atd.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28C24DB-7EFB-4532-8A90-DC8AD860F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766" y="88789"/>
            <a:ext cx="3073034" cy="204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92A9CBC7-112F-4C22-AAE6-A119FBB88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216" y="2479431"/>
            <a:ext cx="2105201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Blog - AutoCAD performance: What's the best CAD Mouse">
            <a:extLst>
              <a:ext uri="{FF2B5EF4-FFF2-40B4-BE49-F238E27FC236}">
                <a16:creationId xmlns:a16="http://schemas.microsoft.com/office/drawing/2014/main" id="{99B80D40-C21B-4C9D-86C2-A220E194A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946" y="4243727"/>
            <a:ext cx="4375638" cy="206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88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Touchpad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Náhrada za myš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pro notebook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Dvě vrstvy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vodičů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Mezi nimi tenká vrstva </a:t>
            </a:r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izolantů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Změny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kapacit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napětí po přiložení prstu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Počátek změny vyhodnocen, jako dotyk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Funkce skrz poklepání, rolování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Speciálně rozpoznává</a:t>
            </a:r>
          </a:p>
        </p:txBody>
      </p:sp>
      <p:pic>
        <p:nvPicPr>
          <p:cNvPr id="13314" name="Picture 2" descr="Touchpad not working on your Windows 10 laptop? Here's how to fix it - CNET">
            <a:extLst>
              <a:ext uri="{FF2B5EF4-FFF2-40B4-BE49-F238E27FC236}">
                <a16:creationId xmlns:a16="http://schemas.microsoft.com/office/drawing/2014/main" id="{3B69D836-B467-45CF-99D9-3D497E36F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495" y="136282"/>
            <a:ext cx="2678723" cy="200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free drawing on a touch screen, interacting with physical objects -  Electrical Engineering Stack Exchange">
            <a:extLst>
              <a:ext uri="{FF2B5EF4-FFF2-40B4-BE49-F238E27FC236}">
                <a16:creationId xmlns:a16="http://schemas.microsoft.com/office/drawing/2014/main" id="{7C0077D1-43B5-4D31-94B7-6639DDD19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58" y="2304048"/>
            <a:ext cx="4646734" cy="4417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85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Dotykové obrazovky</a:t>
            </a:r>
          </a:p>
        </p:txBody>
      </p:sp>
      <p:pic>
        <p:nvPicPr>
          <p:cNvPr id="14338" name="Picture 2" descr="Amazon.com: kuman 7 Inch Capacitive Touch Screen TFT LCD Display HDMI  Module 1024x600 for Raspberry Pi 3 2 Model B and RPi 1 B+ A BB Black PC  Various Systems SC7B: Computers &amp; Accessories">
            <a:extLst>
              <a:ext uri="{FF2B5EF4-FFF2-40B4-BE49-F238E27FC236}">
                <a16:creationId xmlns:a16="http://schemas.microsoft.com/office/drawing/2014/main" id="{85A0335A-6D08-478F-BE02-CD3C59B3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664" y="1602398"/>
            <a:ext cx="6014671" cy="518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374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Rezistivní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(odporový)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9215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Několik vrstev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2 tenké elektricky vodivé (mezera mezi nimi)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Tlak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(dotyk) na displej stlačí vrstvy k sobě  zvýší se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napětí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v místě dotyku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Malá cena (dotyk čímkoliv)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Postupem času se poškozuje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8DA26BDD-9F02-482B-953C-595030990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415" y="1825625"/>
            <a:ext cx="5993056" cy="39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40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Kapacitní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9207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Dvě transparentně vodivé vrstvy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 rozích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elektrody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(lehké napětí)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Dotyk naruší pole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Musí se dotýkat vodivý předmět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Prst fajn, ale s rukavicemi je problém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Mechanicky odolný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6235928-6248-4E06-B29C-41CEAD28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821" y="2007424"/>
            <a:ext cx="5699207" cy="374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1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Infračervené záření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9207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InfraLED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diody (vertikálně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hori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Snímání skrz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fototranzistory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Cokoliv, co síť naruší (dotyk)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Není nutné se dotýkat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4A5D4945-442A-4642-A29F-BFC7C04C3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43" y="1380069"/>
            <a:ext cx="5182625" cy="547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81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SAW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9552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Surface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Acoustic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Wave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s povrchovou akustickou vlnou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Ultrazvuk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přijímače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vysílače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Dotyk (útlum signálu)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Měkké předměty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6CCE928F-DCE3-40F0-90A0-FDAA4BB3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445" y="2300587"/>
            <a:ext cx="6584307" cy="40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63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Porovnání technologii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DAC2FA1A-20E5-4E28-AA91-0131D6AE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6" y="1863786"/>
            <a:ext cx="10940428" cy="462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85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Snímání pohybu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9552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Motion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capture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(u filmů  animace)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Kinect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Kamery (laserová mřížka)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9458" name="Picture 2" descr="3D Motion Capture Market and its key opportunities and challenges | by  Patricia Holloway | Medium">
            <a:extLst>
              <a:ext uri="{FF2B5EF4-FFF2-40B4-BE49-F238E27FC236}">
                <a16:creationId xmlns:a16="http://schemas.microsoft.com/office/drawing/2014/main" id="{748543E0-2006-48AE-AB20-2B72D8DD5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910" y="365125"/>
            <a:ext cx="4146309" cy="233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Microsoft Kinect Sensor: buy your Kinect sensor for robotics, for gaming">
            <a:extLst>
              <a:ext uri="{FF2B5EF4-FFF2-40B4-BE49-F238E27FC236}">
                <a16:creationId xmlns:a16="http://schemas.microsoft.com/office/drawing/2014/main" id="{E0BFB849-D0FA-4734-8619-A469EBFE8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910" y="2710738"/>
            <a:ext cx="2350285" cy="153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Kinect - Windows app development">
            <a:extLst>
              <a:ext uri="{FF2B5EF4-FFF2-40B4-BE49-F238E27FC236}">
                <a16:creationId xmlns:a16="http://schemas.microsoft.com/office/drawing/2014/main" id="{7EF6CDD5-56FF-4D21-90B2-3E58B900B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393" y="3513760"/>
            <a:ext cx="4688850" cy="351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 descr="VR and motion capture setup | Download Scientific Diagram">
            <a:extLst>
              <a:ext uri="{FF2B5EF4-FFF2-40B4-BE49-F238E27FC236}">
                <a16:creationId xmlns:a16="http://schemas.microsoft.com/office/drawing/2014/main" id="{308469D7-C2E8-4953-9800-03450FECE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9" y="3459806"/>
            <a:ext cx="5768117" cy="324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64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Klávesnice</a:t>
            </a:r>
          </a:p>
        </p:txBody>
      </p:sp>
      <p:pic>
        <p:nvPicPr>
          <p:cNvPr id="20482" name="Picture 2" descr="Logitech Klávesnice K120 CZ verze (920-002485) - Parametry | MALL.CZ">
            <a:extLst>
              <a:ext uri="{FF2B5EF4-FFF2-40B4-BE49-F238E27FC236}">
                <a16:creationId xmlns:a16="http://schemas.microsoft.com/office/drawing/2014/main" id="{983B38B1-EE7C-4AF3-99A2-7497F0870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186" y="1690688"/>
            <a:ext cx="10039627" cy="438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165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Čistě mechanické klávesy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Secvakne spínač  návratový mechanismus („klapnutí“)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Pružina a svorka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Dlouhá životnost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322147-1A4E-4FD9-8287-0F8296456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505" y="430823"/>
            <a:ext cx="2435469" cy="182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CFC877A-C91B-4729-872E-24632321D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608" y="3131343"/>
            <a:ext cx="8155392" cy="273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9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Mechanické klávesy s pěnovým prvkem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 spodu tlačítka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pěnový prvek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(má na sobě vodivou folii)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 stisknutí klávesy dopadne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tištěné spoje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(utvoří se kontakt)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Dnes se nepoužívá… 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324CB75-F964-4405-86F7-B4BBFF32A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077" y="2853124"/>
            <a:ext cx="7342310" cy="381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7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lávesy s kapacitními spínači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Jediný bez principu  stlačení dvou spojů (kontakt)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Dotyk změní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kapacitu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E4BE79A-EC3B-48DF-B01D-64EB9D890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886" y="2281238"/>
            <a:ext cx="5910708" cy="421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5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Fóliové klávesnice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Sepnutí kontaktu přes ochrannou folii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050" name="Picture 2" descr="Unipad - vývoj a výroba klávesnic">
            <a:extLst>
              <a:ext uri="{FF2B5EF4-FFF2-40B4-BE49-F238E27FC236}">
                <a16:creationId xmlns:a16="http://schemas.microsoft.com/office/drawing/2014/main" id="{BD8A6BC4-5CFF-4356-BEAE-E1A0F66A5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042" y="168519"/>
            <a:ext cx="4000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30FF8CB1-72B3-495C-AB3C-096553109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3033713"/>
            <a:ext cx="88011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8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Membránové klávesnice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Klávesnice oddělené membránovou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Vysoká odolnost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Nevhodné ke psaní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3074" name="Picture 2" descr="Klávesy a klávesnice - druhy technologií používaných pro notebooky -  Technologie - NOTEBOOK.cz">
            <a:extLst>
              <a:ext uri="{FF2B5EF4-FFF2-40B4-BE49-F238E27FC236}">
                <a16:creationId xmlns:a16="http://schemas.microsoft.com/office/drawing/2014/main" id="{189D7CA4-335F-4C2B-9E8E-9BBF626C5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908" y="153866"/>
            <a:ext cx="2643553" cy="198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Čištění klávesnice notebooku | moolův poznámkovník">
            <a:extLst>
              <a:ext uri="{FF2B5EF4-FFF2-40B4-BE49-F238E27FC236}">
                <a16:creationId xmlns:a16="http://schemas.microsoft.com/office/drawing/2014/main" id="{9099446D-5BBD-4F62-83BD-C0895F462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538" y="2528888"/>
            <a:ext cx="487680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67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Magnetické klávesnice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Klávesy 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permanentní magnet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Pod nimi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Hallova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sonda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Detekuje změnu elektromagnetického pole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Bezkontaktní sepnutí</a:t>
            </a:r>
          </a:p>
        </p:txBody>
      </p:sp>
      <p:pic>
        <p:nvPicPr>
          <p:cNvPr id="4098" name="Picture 2" descr="HUAWEI 55032605 Smart Magnetic Keyboard German QWERTZ: Amazon.de: Computers  &amp; Accessories">
            <a:extLst>
              <a:ext uri="{FF2B5EF4-FFF2-40B4-BE49-F238E27FC236}">
                <a16:creationId xmlns:a16="http://schemas.microsoft.com/office/drawing/2014/main" id="{A79AECB3-23B4-41C5-AD55-6D184CDA0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351" y="1825625"/>
            <a:ext cx="4086775" cy="325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66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Senzorické klávesy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Kontakty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těsně u sebe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(stačí přejet prstem)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Lehká vrstva potu na prstě vytvoří vodivé spojení mezi kontakty</a:t>
            </a:r>
          </a:p>
        </p:txBody>
      </p:sp>
      <p:pic>
        <p:nvPicPr>
          <p:cNvPr id="5122" name="Picture 2" descr="All Type of Wallpapers: Sensory Keyboard">
            <a:extLst>
              <a:ext uri="{FF2B5EF4-FFF2-40B4-BE49-F238E27FC236}">
                <a16:creationId xmlns:a16="http://schemas.microsoft.com/office/drawing/2014/main" id="{3E402DA5-29EB-468B-9634-EF26405ED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207" y="3084024"/>
            <a:ext cx="6237442" cy="322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ouch keyboard">
            <a:extLst>
              <a:ext uri="{FF2B5EF4-FFF2-40B4-BE49-F238E27FC236}">
                <a16:creationId xmlns:a16="http://schemas.microsoft.com/office/drawing/2014/main" id="{9335A6BE-5575-43D2-930B-51C8C1208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07" y="3484624"/>
            <a:ext cx="48768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1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Laserová virtuální klávesnice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Promítání klávesnice na povrch (jeden laserový senzor)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Snímač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(druhý senzor) snímá plochu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Bezdrátový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přenos do PC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146" name="Picture 2" descr="Bluetooth Virtual Laser Keyboard Wireless Projection mini keyboard – The  Good Item">
            <a:extLst>
              <a:ext uri="{FF2B5EF4-FFF2-40B4-BE49-F238E27FC236}">
                <a16:creationId xmlns:a16="http://schemas.microsoft.com/office/drawing/2014/main" id="{C7F3A394-791A-451A-9849-A3301DE9D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108" y="2396271"/>
            <a:ext cx="3780692" cy="37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ireless Laser Projection Bluetooth Virtual Mini Keyboard Mouse White">
            <a:extLst>
              <a:ext uri="{FF2B5EF4-FFF2-40B4-BE49-F238E27FC236}">
                <a16:creationId xmlns:a16="http://schemas.microsoft.com/office/drawing/2014/main" id="{FF2BAD53-59CE-4A7A-82CF-7955B6B3B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892" y="3323492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08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Ergonomické klávesnice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 lepší držení rukou (někdy i na dvě části)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8198" name="Picture 6" descr="R-Go Tools R-Go Split Ergonomic Keyboard, RGOSP-ITWIBL - EET Europarts CZ">
            <a:extLst>
              <a:ext uri="{FF2B5EF4-FFF2-40B4-BE49-F238E27FC236}">
                <a16:creationId xmlns:a16="http://schemas.microsoft.com/office/drawing/2014/main" id="{7884E17F-86DA-41E0-A28A-A792AF3B1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93" y="2494639"/>
            <a:ext cx="5696561" cy="399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The Best Ergonomic Keyboards">
            <a:extLst>
              <a:ext uri="{FF2B5EF4-FFF2-40B4-BE49-F238E27FC236}">
                <a16:creationId xmlns:a16="http://schemas.microsoft.com/office/drawing/2014/main" id="{23616B5B-E108-4951-9E68-187F8E8D2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031" y="4426072"/>
            <a:ext cx="4042508" cy="227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Microsoft Sculpt ergonomická bezdrátová klávesnice (5KV-00005) - Ergo -product">
            <a:extLst>
              <a:ext uri="{FF2B5EF4-FFF2-40B4-BE49-F238E27FC236}">
                <a16:creationId xmlns:a16="http://schemas.microsoft.com/office/drawing/2014/main" id="{844360DF-F01E-45D4-9717-08DDEAED4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261" y="1323152"/>
            <a:ext cx="3767993" cy="282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12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Herní zařízení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Gamepad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Joystick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Volant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 spousta dalších…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7170" name="Picture 2" descr="Jak vybrat gamepad?">
            <a:extLst>
              <a:ext uri="{FF2B5EF4-FFF2-40B4-BE49-F238E27FC236}">
                <a16:creationId xmlns:a16="http://schemas.microsoft.com/office/drawing/2014/main" id="{DF83108A-0CFB-4D1A-AC02-4B39377F5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385" y="140676"/>
            <a:ext cx="4471245" cy="290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Joystick Thrustmaster T Flight Stick X (PC,PS3)">
            <a:extLst>
              <a:ext uri="{FF2B5EF4-FFF2-40B4-BE49-F238E27FC236}">
                <a16:creationId xmlns:a16="http://schemas.microsoft.com/office/drawing/2014/main" id="{966554C9-061A-4C97-9A2D-205E891E3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142" y="1524366"/>
            <a:ext cx="2460152" cy="380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ori Racing Wheel Overdrive - Xbox - Volant | Alza.cz">
            <a:extLst>
              <a:ext uri="{FF2B5EF4-FFF2-40B4-BE49-F238E27FC236}">
                <a16:creationId xmlns:a16="http://schemas.microsoft.com/office/drawing/2014/main" id="{4912B941-A302-449C-9FD7-7BD87B8BE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385" y="3151798"/>
            <a:ext cx="3140612" cy="334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92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Skenery, webkamery, mikrofon</a:t>
            </a:r>
          </a:p>
        </p:txBody>
      </p:sp>
      <p:pic>
        <p:nvPicPr>
          <p:cNvPr id="7" name="Picture 4" descr="Webkamera Genius ECam 8000, Full HD černá | EURONICS">
            <a:extLst>
              <a:ext uri="{FF2B5EF4-FFF2-40B4-BE49-F238E27FC236}">
                <a16:creationId xmlns:a16="http://schemas.microsoft.com/office/drawing/2014/main" id="{F094FAFA-380E-4199-BBB6-837201C11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946" y="2545374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Epson Perfection V600 Photo Scanner B11B198011 B&amp;H Photo Video">
            <a:extLst>
              <a:ext uri="{FF2B5EF4-FFF2-40B4-BE49-F238E27FC236}">
                <a16:creationId xmlns:a16="http://schemas.microsoft.com/office/drawing/2014/main" id="{C5C7E3DB-3285-4C67-94FF-85DBB61E6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866" y="2286294"/>
            <a:ext cx="2804160" cy="280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2028 Vocal Microphone - Built for the stage &amp; life on the road">
            <a:extLst>
              <a:ext uri="{FF2B5EF4-FFF2-40B4-BE49-F238E27FC236}">
                <a16:creationId xmlns:a16="http://schemas.microsoft.com/office/drawing/2014/main" id="{F291CD08-FED0-4215-A5E4-FF72A5B1B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927" y="2774866"/>
            <a:ext cx="3238801" cy="182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295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Webkamera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Kamera připojená k PC s možností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streamovat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obraz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Senzor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CMOS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nebo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CDD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21FD113A-BB7E-4EE1-A334-16920CADE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685" y="162658"/>
            <a:ext cx="28194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F1E46044-D3C1-4781-963B-A481A1F58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234" y="2479675"/>
            <a:ext cx="1662302" cy="350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4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Skenery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Princip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odrážení světla od předlohy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Fotocitlivá dioda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CCD prvek – tři řádky (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RGB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→ snímač převádí intenzitu odrazu na el. signál (mění na digitální)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Ruční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čárové kódy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(obchod), nebo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C-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(text)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Stolní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Knižní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Filmový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čtení filmových diapozitiv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Bubnový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PMT (Fotonásobič) + kapalina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3D skener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laserové paprsky (snímá v mřížce)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0242" name="Picture 2" descr="Ruční skener ScanMarker">
            <a:extLst>
              <a:ext uri="{FF2B5EF4-FFF2-40B4-BE49-F238E27FC236}">
                <a16:creationId xmlns:a16="http://schemas.microsoft.com/office/drawing/2014/main" id="{880F6593-14FA-4F8C-AA89-9E2409C5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099" y="114625"/>
            <a:ext cx="2889462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Epson Perfection V19 B11B231401 | CZC.cz">
            <a:extLst>
              <a:ext uri="{FF2B5EF4-FFF2-40B4-BE49-F238E27FC236}">
                <a16:creationId xmlns:a16="http://schemas.microsoft.com/office/drawing/2014/main" id="{E782FE0D-A030-435E-8324-AF5FAF8BA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765" y="499043"/>
            <a:ext cx="2151185" cy="123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Knižní skenery :: J&amp;V SCAN">
            <a:extLst>
              <a:ext uri="{FF2B5EF4-FFF2-40B4-BE49-F238E27FC236}">
                <a16:creationId xmlns:a16="http://schemas.microsoft.com/office/drawing/2014/main" id="{DF440256-6D00-4C5D-AB64-E6899FBA1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857" y="3072606"/>
            <a:ext cx="190500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Rollei DF-S 310 SE filmový skener | Oehling CZ">
            <a:extLst>
              <a:ext uri="{FF2B5EF4-FFF2-40B4-BE49-F238E27FC236}">
                <a16:creationId xmlns:a16="http://schemas.microsoft.com/office/drawing/2014/main" id="{688FECCA-0A5C-4F2F-8259-215DBC0CA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5119039"/>
            <a:ext cx="1905000" cy="159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Bubnový scanner Scanmate | FotoAparát.cz">
            <a:extLst>
              <a:ext uri="{FF2B5EF4-FFF2-40B4-BE49-F238E27FC236}">
                <a16:creationId xmlns:a16="http://schemas.microsoft.com/office/drawing/2014/main" id="{F02D75D5-A8EB-4671-9971-CFF352EC1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101" y="135889"/>
            <a:ext cx="2169601" cy="168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3D skenery - 3Dwiser">
            <a:extLst>
              <a:ext uri="{FF2B5EF4-FFF2-40B4-BE49-F238E27FC236}">
                <a16:creationId xmlns:a16="http://schemas.microsoft.com/office/drawing/2014/main" id="{6DB30047-9A9B-449B-8E7C-A35E20E24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697" y="3752117"/>
            <a:ext cx="2470659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20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Mikrofon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Kondenzátorový mikrofon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Akustické kmity rozechvívají membránu  ovlivňuje kapacitu kondenzátoru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Změna  převod na elektrický signál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Elektretový mikrofon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Podobně jako kondenzátorový (jen má elektro)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Dynamický/Membránový mikrofon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Cívka v magnetickém poli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perma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magnet)  elektrický proud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Páskový mikrofon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Membrána (kovový pásek) v magnetickém poli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D103A4B-A49A-4E34-8196-32EBC1F7D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103" y="365125"/>
            <a:ext cx="1230658" cy="187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C64EF62B-8313-45AA-8F17-93EF429F3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387" y="3311375"/>
            <a:ext cx="3337413" cy="99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B70D0633-31A1-4CA2-B67C-2A86FC981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235" y="4908523"/>
            <a:ext cx="2551805" cy="17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60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Mikrofon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52825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Uhlíkový mikrofon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Membrána stlačuje uhlíková zrnka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Piezoelektrický mikrofon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piezoelektrický jev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stlačováním či ohybem některých materiálů  elektrické napětí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CDEC598-0494-441F-8CEA-1B6F52180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025" y="365125"/>
            <a:ext cx="3390314" cy="423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54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694</Words>
  <Application>Microsoft Office PowerPoint</Application>
  <PresentationFormat>Širokoúhlá obrazovka</PresentationFormat>
  <Paragraphs>156</Paragraphs>
  <Slides>36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Motiv Office</vt:lpstr>
      <vt:lpstr>Vstupní periferní zařízení</vt:lpstr>
      <vt:lpstr>Polohovací zařízení</vt:lpstr>
      <vt:lpstr>Parametry myší</vt:lpstr>
      <vt:lpstr>Kuličková myš</vt:lpstr>
      <vt:lpstr>Optická myš</vt:lpstr>
      <vt:lpstr>Laserová myš</vt:lpstr>
      <vt:lpstr>Bezdrátová optická indukční myš</vt:lpstr>
      <vt:lpstr>Ergonomická myš</vt:lpstr>
      <vt:lpstr>Trackball</vt:lpstr>
      <vt:lpstr>Trackpoint </vt:lpstr>
      <vt:lpstr>Grafický tablet </vt:lpstr>
      <vt:lpstr>Space navigator</vt:lpstr>
      <vt:lpstr>Touchpad</vt:lpstr>
      <vt:lpstr>Dotykové obrazovky</vt:lpstr>
      <vt:lpstr>Rezistivní (odporový)</vt:lpstr>
      <vt:lpstr>Kapacitní</vt:lpstr>
      <vt:lpstr>Infračervené záření</vt:lpstr>
      <vt:lpstr>SAW</vt:lpstr>
      <vt:lpstr>Porovnání technologii</vt:lpstr>
      <vt:lpstr>Snímání pohybu</vt:lpstr>
      <vt:lpstr>Klávesnice</vt:lpstr>
      <vt:lpstr>Čistě mechanické klávesy</vt:lpstr>
      <vt:lpstr>Mechanické klávesy s pěnovým prvkem</vt:lpstr>
      <vt:lpstr>Klávesy s kapacitními spínači</vt:lpstr>
      <vt:lpstr>Fóliové klávesnice</vt:lpstr>
      <vt:lpstr>Membránové klávesnice</vt:lpstr>
      <vt:lpstr>Magnetické klávesnice</vt:lpstr>
      <vt:lpstr>Senzorické klávesy</vt:lpstr>
      <vt:lpstr>Laserová virtuální klávesnice</vt:lpstr>
      <vt:lpstr>Ergonomické klávesnice</vt:lpstr>
      <vt:lpstr>Herní zařízení</vt:lpstr>
      <vt:lpstr>Skenery, webkamery, mikrofon</vt:lpstr>
      <vt:lpstr>Webkamera</vt:lpstr>
      <vt:lpstr>Skenery</vt:lpstr>
      <vt:lpstr>Mikrofon</vt:lpstr>
      <vt:lpstr>Mikrofon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69</cp:revision>
  <dcterms:created xsi:type="dcterms:W3CDTF">2020-09-17T19:44:13Z</dcterms:created>
  <dcterms:modified xsi:type="dcterms:W3CDTF">2021-10-07T07:53:50Z</dcterms:modified>
</cp:coreProperties>
</file>