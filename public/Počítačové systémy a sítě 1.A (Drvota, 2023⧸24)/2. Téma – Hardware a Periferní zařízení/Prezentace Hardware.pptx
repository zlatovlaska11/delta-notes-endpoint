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73" r:id="rId4"/>
    <p:sldId id="274" r:id="rId5"/>
    <p:sldId id="275" r:id="rId6"/>
    <p:sldId id="284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6" r:id="rId16"/>
    <p:sldId id="287" r:id="rId17"/>
    <p:sldId id="288" r:id="rId18"/>
    <p:sldId id="285" r:id="rId19"/>
    <p:sldId id="289" r:id="rId20"/>
    <p:sldId id="290" r:id="rId21"/>
    <p:sldId id="291" r:id="rId22"/>
    <p:sldId id="292" r:id="rId23"/>
    <p:sldId id="293" r:id="rId24"/>
    <p:sldId id="294" r:id="rId25"/>
    <p:sldId id="295" r:id="rId26"/>
    <p:sldId id="296" r:id="rId27"/>
    <p:sldId id="297" r:id="rId28"/>
    <p:sldId id="298" r:id="rId29"/>
    <p:sldId id="299" r:id="rId30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927F7F-90EA-4722-A3F9-CD65861BA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5EE4224-AD42-4754-A050-6D27D77176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AADAA84-EDF8-4E6B-AA8C-642890570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06.12.2020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74B3E4-85D0-4A34-85CB-31DF6D9CC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57AC71F-7FD3-4736-9C8A-5FE5F0435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72056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581153-7983-4459-81AB-747EA3A9E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92F58CF-4412-4CD4-BF23-526FC8ED9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0AAC38-9DC2-45B6-821F-5C453E2F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06.12.2020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377EFF5-BBBA-4FB8-93A9-9F9FEE44F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FC63BF7-3E4E-4BED-A706-208C1AFF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90440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7FB8AC-47A2-4757-B97F-9999F230C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3CFD394-D2D6-4832-BF76-D19CA159D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67A780-BF45-4476-A340-5A4FB228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06.12.2020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FB3ABE8-E7CF-44A4-A960-D4FF386F1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AEFD807-F5EF-4FEF-A830-38004DDD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6175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CDCDD7-8D81-4B08-AAC4-972DF073A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E33701-1B4D-4FFC-BC2B-419F789CC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43DE34A-9AA5-4D2A-9FD8-2CAE0CFEF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EDE0502-A607-490B-BEEE-EF0321352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06.12.2020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3229F4C-B3D7-4554-BB8A-2B853FD96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4A00E21-C728-4D9A-9815-000B5D2B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0709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135C69-DEA3-49FB-90AC-B7A4E94FD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40C7855-1267-4631-9CEB-19D6D1543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12AC6C2-A1D0-40C6-823C-78E60E352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CB692AC-435E-4457-BD90-7BA4354281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015999A6-4DB6-43E4-869B-F7187AA77B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3527ECD-4E4C-430C-A225-24539E09C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06.12.2020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BE3CC256-0346-43DA-9573-264F212EC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BA96289-783C-40CA-AC25-BBB5708B8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4507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B11EE5-EC95-4771-AA64-4B20082B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30DAD8B-7A95-4DEB-BFD9-EEB1972A4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06.12.2020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FF0FE4C-BC54-41A8-8D73-1930B0197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48F1477-1AAA-4E4D-B565-A2F7ACADD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02168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5AD27760-ED20-4A5A-8C43-98EACEEDB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06.12.2020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CFA47AA8-0435-4376-B2B7-40CECC89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288966E-94CC-45C3-A3AB-1DC4EE0A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2214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FB3938-AA77-4F7E-A443-8564004A7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85C744-E5A4-4384-8E88-911F51370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2528255-6CF3-4882-B7A5-6167B4385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694E554-3734-45C1-95EC-B8AD4B913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06.12.2020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5CB268B-E9BD-4E82-B788-6D6E88352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A5A2B3C-D23F-47C0-BD37-2FF73F9B6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75900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C5CA5D-2F63-4257-92FB-705680BB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F8ED1FEB-D0D5-4F42-8BE5-4739079457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98A32D5-E1B9-4423-A5F9-841E2FE6C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823CCBE-D365-450F-A238-8B824DDF4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06.12.2020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3D34DC9-81AD-4224-ADD7-D018FC8CA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DE4C6E5-AF6D-4BAF-AFC0-D026F5407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01237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B867FA-095B-4F79-B6B1-81CB1DA09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71A9CA7-427D-4A5F-B8F0-10CF8B099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7D34EFE-2368-46C9-9A7F-F10D14FD6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06.12.2020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6627018-9AB1-4C28-8375-914BBB688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9812887-3582-4858-8923-2154B8D57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5095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6A938D2F-19A3-4A6D-AF5C-E4A3D3F540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DDCBFCE-7AFF-48B6-A55B-973D5619B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FB45A6A-2E0B-4591-916B-6E01BE07B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06.12.2020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B26A863-B07F-4A43-A3C0-26BB30142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43C1835-C15D-4821-A456-7A38B158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3371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B180023-B606-4C55-9E6D-507B89E0C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4EF6264-772B-477D-A40E-80D181FA7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BF65A9A-56ED-4774-BCD0-D931FC4FE7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39F47-9FA3-40F2-9287-DDA8E5FC85B0}" type="datetimeFigureOut">
              <a:rPr lang="cs-CZ" smtClean="0"/>
              <a:t>06.12.2020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9D11B6B-4EC9-46CB-9F45-66FAC88D5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2D1CF89-E863-491F-B505-D6D33D962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185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E4B5-A32A-4A49-9C87-275C22AB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6200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D425F51-5984-428B-83A7-E02C1522F0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184" y="1176210"/>
            <a:ext cx="10009632" cy="520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3497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Základní informace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= všechny pevné součástky počítače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Komponenty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(to, co je uvnitř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skříně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periferie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(připojená zařízení)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Periferie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Výstupy a vstupy pro uživatele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Komponenty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Fungování PC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505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E4B5-A32A-4A49-9C87-275C22AB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6200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Komponenty</a:t>
            </a:r>
          </a:p>
        </p:txBody>
      </p:sp>
      <p:pic>
        <p:nvPicPr>
          <p:cNvPr id="4098" name="Picture 2" descr="This is how you build your own PC powerhouse at home, from CPU to nuts -  CNET">
            <a:extLst>
              <a:ext uri="{FF2B5EF4-FFF2-40B4-BE49-F238E27FC236}">
                <a16:creationId xmlns:a16="http://schemas.microsoft.com/office/drawing/2014/main" id="{551554F8-6323-42C6-937C-5BA8DA8A64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1433894"/>
            <a:ext cx="8953500" cy="503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399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Počítačová skříň (Case)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Uvnitř ní jsou všechny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komponenty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počítače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Podílí se na odvádění tepla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Velikost podle velikosti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ATX</a:t>
            </a:r>
          </a:p>
        </p:txBody>
      </p:sp>
      <p:pic>
        <p:nvPicPr>
          <p:cNvPr id="5122" name="Picture 2" descr="The Complete Guide to PC Case Sizes - EATX vs ATX vs mATX vs mITX">
            <a:extLst>
              <a:ext uri="{FF2B5EF4-FFF2-40B4-BE49-F238E27FC236}">
                <a16:creationId xmlns:a16="http://schemas.microsoft.com/office/drawing/2014/main" id="{E42BD5F0-D8CB-4707-8145-7D61CA04D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4093" y="2795954"/>
            <a:ext cx="5667067" cy="3885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5400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6C085851-738E-46B4-8B32-0BE4146B5F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876" y="0"/>
            <a:ext cx="10362248" cy="3014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EA2652C9-5A66-4B11-9F99-B43867EC0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163" y="3014472"/>
            <a:ext cx="9454081" cy="375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789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830D43DC-3B0D-45B8-A7D4-1F9E3B9D4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390" y="696889"/>
            <a:ext cx="10125219" cy="633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74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Procesor (CPU)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=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Central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Unit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Čte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instrukce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vykonává na jejich základě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Instrukce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(strojový kód) se načte do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registru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(úložiště na procesoru) následně je vykonávání skrz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(Aritmeticko-logická jednotka) 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Nutné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chlazení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Dva typy architektur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RISC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CISC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CISC – komplexní sada instrukcí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RISC – redukovaná sada instrukcí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Většinou větší množství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jader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(větší výkon)</a:t>
            </a:r>
          </a:p>
          <a:p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E365F09-A5B8-42CC-86F5-58A4C16002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426" y="3829113"/>
            <a:ext cx="3652440" cy="2663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0992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Procesor (CPU)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často v sobě integrují i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grafické jádro</a:t>
            </a:r>
          </a:p>
          <a:p>
            <a:pPr lvl="1"/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+ CPU = APU =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Acclerated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Unit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Pokud je v názvu procesoru „k“ – procesoru umí tzv. „přetaktování“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Musí to podporovat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(Základní deska)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Procesor musí padnout do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socketu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 Základní desce.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5B59991A-C551-4047-8582-C86EA1EC4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9519" y="223141"/>
            <a:ext cx="3399058" cy="2363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CPU socket | High-Quality Technology Stock Photos ~ Creative Market">
            <a:extLst>
              <a:ext uri="{FF2B5EF4-FFF2-40B4-BE49-F238E27FC236}">
                <a16:creationId xmlns:a16="http://schemas.microsoft.com/office/drawing/2014/main" id="{308A6D20-3AA3-42D0-8B8B-50BAF0BE74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4079" y="4187500"/>
            <a:ext cx="3763842" cy="2508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5916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E81DE30D-8224-448F-8F5A-EDAAF32787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520" y="550038"/>
            <a:ext cx="5757924" cy="5757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>
            <a:extLst>
              <a:ext uri="{FF2B5EF4-FFF2-40B4-BE49-F238E27FC236}">
                <a16:creationId xmlns:a16="http://schemas.microsoft.com/office/drawing/2014/main" id="{F80162FC-BD8E-423E-B2F0-C85B53A46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1065" y="1183207"/>
            <a:ext cx="4429202" cy="4491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5023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45F394FB-DB5A-477B-8A10-4F8F8A516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5006" y="92598"/>
            <a:ext cx="82819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3853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Operační paměť (RAM)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Access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RAM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dočasné uložení dat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Rychlé načítaní dat zapnutého programu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Uložení dat, která se právě zpracovávají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 vypnutí PC se data z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RAMky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smažou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Přímá komunikace s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procesorem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Pokud je RAM malá, tak musí procesor načítat data z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Pevného disku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Zpomaluje chod PC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DIMM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DDR, RIMM</a:t>
            </a:r>
          </a:p>
        </p:txBody>
      </p:sp>
      <p:pic>
        <p:nvPicPr>
          <p:cNvPr id="11268" name="Picture 4">
            <a:extLst>
              <a:ext uri="{FF2B5EF4-FFF2-40B4-BE49-F238E27FC236}">
                <a16:creationId xmlns:a16="http://schemas.microsoft.com/office/drawing/2014/main" id="{BCC5803D-A9B5-4371-BE1A-89635C617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3625" y="1748020"/>
            <a:ext cx="4737903" cy="2066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>
            <a:extLst>
              <a:ext uri="{FF2B5EF4-FFF2-40B4-BE49-F238E27FC236}">
                <a16:creationId xmlns:a16="http://schemas.microsoft.com/office/drawing/2014/main" id="{3A02E89C-0C57-4E40-9B63-9BD79493E5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354" y="5194448"/>
            <a:ext cx="6613003" cy="154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7025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Základní deska (</a:t>
            </a:r>
            <a:r>
              <a:rPr lang="cs-CZ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motherboard /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mainboard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MB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Propojuje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komponenty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skrz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tištěné spoje + datové sběrnice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Může v sobě integrovat různé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komponenty</a:t>
            </a:r>
          </a:p>
          <a:p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Northbridge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CPU; GPU; RAM</a:t>
            </a:r>
          </a:p>
          <a:p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Southbridge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PCI a další porty</a:t>
            </a:r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8E90FE85-7FF4-41A4-852F-5089AD9AD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2304" y="3516593"/>
            <a:ext cx="5754624" cy="3054131"/>
          </a:xfrm>
          <a:prstGeom prst="rect">
            <a:avLst/>
          </a:prstGeom>
        </p:spPr>
      </p:pic>
      <p:pic>
        <p:nvPicPr>
          <p:cNvPr id="12292" name="Picture 4" descr="Motherboard that Supports New 8th Generation Intel® Processors New RICOH  FB21-L2S &amp; RICOH FB21M-L2S | Global | Ricoh">
            <a:extLst>
              <a:ext uri="{FF2B5EF4-FFF2-40B4-BE49-F238E27FC236}">
                <a16:creationId xmlns:a16="http://schemas.microsoft.com/office/drawing/2014/main" id="{803CB437-E8E1-467D-852E-0D047991CC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378" y="4584192"/>
            <a:ext cx="3847253" cy="2164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>
            <a:extLst>
              <a:ext uri="{FF2B5EF4-FFF2-40B4-BE49-F238E27FC236}">
                <a16:creationId xmlns:a16="http://schemas.microsoft.com/office/drawing/2014/main" id="{55FBEE8D-D806-4B53-A719-C9B1304D01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5185" y="106338"/>
            <a:ext cx="3061272" cy="2295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1469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E67111BE-9AC3-4C0A-9483-BD8B1385A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234" y="235941"/>
            <a:ext cx="10643531" cy="6386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861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Zástupný obsah 6">
            <a:extLst>
              <a:ext uri="{FF2B5EF4-FFF2-40B4-BE49-F238E27FC236}">
                <a16:creationId xmlns:a16="http://schemas.microsoft.com/office/drawing/2014/main" id="{9E5B0667-0AB6-46DE-8605-2071D751D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660" y="826250"/>
            <a:ext cx="9962679" cy="520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7102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55138223-8DBF-40B7-9A73-16E76C67EE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53421" y="909136"/>
            <a:ext cx="10285157" cy="5039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18016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>
            <a:extLst>
              <a:ext uri="{FF2B5EF4-FFF2-40B4-BE49-F238E27FC236}">
                <a16:creationId xmlns:a16="http://schemas.microsoft.com/office/drawing/2014/main" id="{B4873C78-2A28-4C14-AD3B-5C52C3AFAD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081" y="362493"/>
            <a:ext cx="5238750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>
            <a:extLst>
              <a:ext uri="{FF2B5EF4-FFF2-40B4-BE49-F238E27FC236}">
                <a16:creationId xmlns:a16="http://schemas.microsoft.com/office/drawing/2014/main" id="{9DD8AD9F-4FEA-4BAC-BDC3-4F93399CEA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2376" y="206596"/>
            <a:ext cx="6081084" cy="4089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8" name="Picture 6">
            <a:extLst>
              <a:ext uri="{FF2B5EF4-FFF2-40B4-BE49-F238E27FC236}">
                <a16:creationId xmlns:a16="http://schemas.microsoft.com/office/drawing/2014/main" id="{5DEDDEB6-C82B-4D0C-9D70-BE96CD228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712" y="3429000"/>
            <a:ext cx="4452033" cy="3343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0" name="Picture 8">
            <a:extLst>
              <a:ext uri="{FF2B5EF4-FFF2-40B4-BE49-F238E27FC236}">
                <a16:creationId xmlns:a16="http://schemas.microsoft.com/office/drawing/2014/main" id="{FA64E7B7-552F-4CD2-A554-617ECDF9BA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1638" y="3654827"/>
            <a:ext cx="2955495" cy="3298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0648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Grafická karta/jádro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Výstup pro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Může být integrovaná na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nebo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Připojuje se na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PCI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FB4871B1-3591-4A30-8A92-46ACB1A5C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3728" y="1377696"/>
            <a:ext cx="4416001" cy="2834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 descr="NVIDIA Quadro K600 1GB DDR3 Graphics card- Buy Online in Czech Republic at  Desertcart">
            <a:extLst>
              <a:ext uri="{FF2B5EF4-FFF2-40B4-BE49-F238E27FC236}">
                <a16:creationId xmlns:a16="http://schemas.microsoft.com/office/drawing/2014/main" id="{3234F2A7-2163-47E2-BA7C-FBDC6AFAA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136" y="3446446"/>
            <a:ext cx="7098792" cy="3080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837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DA0AB636-BF5D-4A42-B05E-9EA3FF064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077" y="857937"/>
            <a:ext cx="8129846" cy="5142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8096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Napájecí zdroj počítače (PSU)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Source Unit = PSU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převádí střídavý proud ze zásuvky na stejnosměrný a mění vstupní napětí 230 V na 12 / 5 / 3,3 V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Rozvádí proud do všech komponentů (včetně větráků a chlazení)</a:t>
            </a:r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9C4D4522-7D56-4380-92A5-6EEFD3BB5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194" y="3721704"/>
            <a:ext cx="4573611" cy="30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4845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Pevný disk – HDD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Disk Drive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Trvalé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uchování dat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Připojení skrz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SATA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kabel</a:t>
            </a:r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AB04B97D-23E2-4BA6-A73B-1F51D385C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5405" y="176353"/>
            <a:ext cx="2955495" cy="3298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4" name="Picture 2">
            <a:extLst>
              <a:ext uri="{FF2B5EF4-FFF2-40B4-BE49-F238E27FC236}">
                <a16:creationId xmlns:a16="http://schemas.microsoft.com/office/drawing/2014/main" id="{11C603AD-9AC4-4006-B2FD-816B70C279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4232" y="3474896"/>
            <a:ext cx="4068263" cy="3111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109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Solid-</a:t>
            </a:r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Drive – SSD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Paměti typu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FLASH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Nemá pohyblivé součástky (nižší šance, že se rozbije)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25EA9AA1-FA48-4616-BBA5-AF0A2BCC5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2973" y="2958044"/>
            <a:ext cx="5286053" cy="3772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1694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Optické mechaniky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Taková nostalgie spíše…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ROM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(jen čte), zatímco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RW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(může i zapisovat)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Připojení skrz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SATA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kabel</a:t>
            </a:r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7C6E2180-4B49-4D8C-A4BB-483FF04A6B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8672" y="2963119"/>
            <a:ext cx="5193175" cy="3894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0560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Rozšiřující karty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Připojení skrz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PCI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PCI express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různé karty pro různé účely</a:t>
            </a:r>
          </a:p>
          <a:p>
            <a:pPr lvl="1"/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zvuková karta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pro kvalitnější zvuk</a:t>
            </a:r>
          </a:p>
          <a:p>
            <a:pPr lvl="1"/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grafická karta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není-li integrována na MB nebo kvůli hrám</a:t>
            </a:r>
          </a:p>
          <a:p>
            <a:pPr lvl="1"/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televizní karta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příjem televizního signálu</a:t>
            </a:r>
          </a:p>
          <a:p>
            <a:pPr lvl="1"/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řadiče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karty obsahující přídavné konektory, např. USB 3.0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5290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Rozšiřující karty</a:t>
            </a:r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CA56B9C6-C95F-4F5D-B5F2-15FCD023C8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274" y="1772555"/>
            <a:ext cx="3810000" cy="208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08" name="Picture 4">
            <a:extLst>
              <a:ext uri="{FF2B5EF4-FFF2-40B4-BE49-F238E27FC236}">
                <a16:creationId xmlns:a16="http://schemas.microsoft.com/office/drawing/2014/main" id="{546B8888-5181-451E-A972-6E6BAAC7E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250" y="3940397"/>
            <a:ext cx="3810000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10" name="Picture 6">
            <a:extLst>
              <a:ext uri="{FF2B5EF4-FFF2-40B4-BE49-F238E27FC236}">
                <a16:creationId xmlns:a16="http://schemas.microsoft.com/office/drawing/2014/main" id="{5759FF04-32DF-4301-9A2B-680BFE18B0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3477" y="2062645"/>
            <a:ext cx="5122878" cy="3944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88570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E4B5-A32A-4A49-9C87-275C22AB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6200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Periferní zařízení</a:t>
            </a:r>
          </a:p>
        </p:txBody>
      </p:sp>
      <p:pic>
        <p:nvPicPr>
          <p:cNvPr id="22530" name="Picture 2" descr="Váš PC prodejce.cz | PC komponenty">
            <a:extLst>
              <a:ext uri="{FF2B5EF4-FFF2-40B4-BE49-F238E27FC236}">
                <a16:creationId xmlns:a16="http://schemas.microsoft.com/office/drawing/2014/main" id="{73D1DC09-DE65-40B7-A577-0E189FFB6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0388" y="944562"/>
            <a:ext cx="8147612" cy="5397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5734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Typy periferních zařízení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vstupní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umožňují do počítače data vkládat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výstupní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umožňují data z počítače získávat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vstupně-výstupní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umožňují jak vkládání, tak i získávání dat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6465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Vstupní periferní zařízení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polohovací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myš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klávesnice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touchpad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dotyková obrazovka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herní ovladače (joystick,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gamepad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volant)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snímání pohybu celého těla nebo jeho části (Kinect)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scanner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webkamera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mikrofon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558" name="Picture 6">
            <a:extLst>
              <a:ext uri="{FF2B5EF4-FFF2-40B4-BE49-F238E27FC236}">
                <a16:creationId xmlns:a16="http://schemas.microsoft.com/office/drawing/2014/main" id="{D6B456AB-D2D5-411D-A1AA-5927F445A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2729" y="2193925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60" name="Picture 8">
            <a:extLst>
              <a:ext uri="{FF2B5EF4-FFF2-40B4-BE49-F238E27FC236}">
                <a16:creationId xmlns:a16="http://schemas.microsoft.com/office/drawing/2014/main" id="{54AC99FA-CF56-48A9-89A4-74995117A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8102" y="4792663"/>
            <a:ext cx="260985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62" name="Picture 10">
            <a:extLst>
              <a:ext uri="{FF2B5EF4-FFF2-40B4-BE49-F238E27FC236}">
                <a16:creationId xmlns:a16="http://schemas.microsoft.com/office/drawing/2014/main" id="{94296E69-D3C7-495E-91BC-FDB76C1943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4432" y="4467225"/>
            <a:ext cx="1914525" cy="239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64" name="Picture 12">
            <a:extLst>
              <a:ext uri="{FF2B5EF4-FFF2-40B4-BE49-F238E27FC236}">
                <a16:creationId xmlns:a16="http://schemas.microsoft.com/office/drawing/2014/main" id="{0C444151-6BCD-497D-BEA4-51524342F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6967" y="459740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66" name="Picture 14">
            <a:extLst>
              <a:ext uri="{FF2B5EF4-FFF2-40B4-BE49-F238E27FC236}">
                <a16:creationId xmlns:a16="http://schemas.microsoft.com/office/drawing/2014/main" id="{C30DABCA-1C08-4C36-92FA-E18A124FE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50" y="113506"/>
            <a:ext cx="249555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5538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Výstupní periferní zařízení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reproduktory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tiskárna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dataprojektor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578" name="Picture 2">
            <a:extLst>
              <a:ext uri="{FF2B5EF4-FFF2-40B4-BE49-F238E27FC236}">
                <a16:creationId xmlns:a16="http://schemas.microsoft.com/office/drawing/2014/main" id="{A9D6AA0B-2890-4F6F-9774-04CC3C0C9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5832" y="1690688"/>
            <a:ext cx="4286250" cy="3343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80" name="Picture 4">
            <a:extLst>
              <a:ext uri="{FF2B5EF4-FFF2-40B4-BE49-F238E27FC236}">
                <a16:creationId xmlns:a16="http://schemas.microsoft.com/office/drawing/2014/main" id="{A2836FF6-9F93-4441-ACDB-3C3AADF9CA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918" y="3900668"/>
            <a:ext cx="2721497" cy="2721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82" name="Picture 6">
            <a:extLst>
              <a:ext uri="{FF2B5EF4-FFF2-40B4-BE49-F238E27FC236}">
                <a16:creationId xmlns:a16="http://schemas.microsoft.com/office/drawing/2014/main" id="{552BFCAC-5951-47FA-B6D1-F34C19AAD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3028" y="1825625"/>
            <a:ext cx="2490788" cy="2490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84" name="Picture 8">
            <a:extLst>
              <a:ext uri="{FF2B5EF4-FFF2-40B4-BE49-F238E27FC236}">
                <a16:creationId xmlns:a16="http://schemas.microsoft.com/office/drawing/2014/main" id="{78B432B2-81E3-4206-9017-7FED3E1FE8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2058" y="4052669"/>
            <a:ext cx="3139633" cy="2574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6558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Vstupně-výstupní periferie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vnější paměť</a:t>
            </a:r>
          </a:p>
          <a:p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flash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disk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externí disk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multifunkční zařízení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(MFP –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multifunctional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printer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tiskárny a scanneru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modem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posílá a přijímá data mezi vaší sítí a internetem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602" name="Picture 2">
            <a:extLst>
              <a:ext uri="{FF2B5EF4-FFF2-40B4-BE49-F238E27FC236}">
                <a16:creationId xmlns:a16="http://schemas.microsoft.com/office/drawing/2014/main" id="{E598935E-8762-4CDF-BBE2-B65B48531F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0533" y="4001294"/>
            <a:ext cx="3621467" cy="267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04" name="Picture 4">
            <a:extLst>
              <a:ext uri="{FF2B5EF4-FFF2-40B4-BE49-F238E27FC236}">
                <a16:creationId xmlns:a16="http://schemas.microsoft.com/office/drawing/2014/main" id="{BFB69540-306C-4D1E-8EF7-AE8930B86E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3184" y="1535081"/>
            <a:ext cx="2358200" cy="2598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4149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530</Words>
  <Application>Microsoft Office PowerPoint</Application>
  <PresentationFormat>Širokoúhlá obrazovka</PresentationFormat>
  <Paragraphs>101</Paragraphs>
  <Slides>29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29</vt:i4>
      </vt:variant>
    </vt:vector>
  </HeadingPairs>
  <TitlesOfParts>
    <vt:vector size="34" baseType="lpstr">
      <vt:lpstr>Arial</vt:lpstr>
      <vt:lpstr>Calibri</vt:lpstr>
      <vt:lpstr>Calibri Light</vt:lpstr>
      <vt:lpstr>Times New Roman</vt:lpstr>
      <vt:lpstr>Motiv Office</vt:lpstr>
      <vt:lpstr>Hardware</vt:lpstr>
      <vt:lpstr>Základní informace</vt:lpstr>
      <vt:lpstr>Komponenty</vt:lpstr>
      <vt:lpstr>Počítačová skříň (Case)</vt:lpstr>
      <vt:lpstr>Prezentace aplikace PowerPoint</vt:lpstr>
      <vt:lpstr>Prezentace aplikace PowerPoint</vt:lpstr>
      <vt:lpstr>Procesor (CPU)</vt:lpstr>
      <vt:lpstr>Procesor (CPU)</vt:lpstr>
      <vt:lpstr>Prezentace aplikace PowerPoint</vt:lpstr>
      <vt:lpstr>Prezentace aplikace PowerPoint</vt:lpstr>
      <vt:lpstr>Operační paměť (RAM)</vt:lpstr>
      <vt:lpstr>Základní deska (MB)</vt:lpstr>
      <vt:lpstr>Prezentace aplikace PowerPoint</vt:lpstr>
      <vt:lpstr>Prezentace aplikace PowerPoint</vt:lpstr>
      <vt:lpstr>Prezentace aplikace PowerPoint</vt:lpstr>
      <vt:lpstr>Prezentace aplikace PowerPoint</vt:lpstr>
      <vt:lpstr>Grafická karta/jádro</vt:lpstr>
      <vt:lpstr>Prezentace aplikace PowerPoint</vt:lpstr>
      <vt:lpstr>Napájecí zdroj počítače (PSU)</vt:lpstr>
      <vt:lpstr>Pevný disk – HDD</vt:lpstr>
      <vt:lpstr>Solid-State Drive – SSD</vt:lpstr>
      <vt:lpstr>Optické mechaniky</vt:lpstr>
      <vt:lpstr>Rozšiřující karty</vt:lpstr>
      <vt:lpstr>Rozšiřující karty</vt:lpstr>
      <vt:lpstr>Periferní zařízení</vt:lpstr>
      <vt:lpstr>Typy periferních zařízení</vt:lpstr>
      <vt:lpstr>Vstupní periferní zařízení</vt:lpstr>
      <vt:lpstr>Výstupní periferní zařízení</vt:lpstr>
      <vt:lpstr>Vstupně-výstupní periferie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Operační systémy</dc:title>
  <dc:creator>Mottl Jan</dc:creator>
  <cp:lastModifiedBy>Mottl Jan</cp:lastModifiedBy>
  <cp:revision>36</cp:revision>
  <dcterms:created xsi:type="dcterms:W3CDTF">2020-09-17T19:44:13Z</dcterms:created>
  <dcterms:modified xsi:type="dcterms:W3CDTF">2020-12-06T17:48:22Z</dcterms:modified>
</cp:coreProperties>
</file>