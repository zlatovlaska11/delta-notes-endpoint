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301" r:id="rId10"/>
    <p:sldId id="302" r:id="rId11"/>
    <p:sldId id="304" r:id="rId12"/>
    <p:sldId id="285" r:id="rId13"/>
    <p:sldId id="284" r:id="rId14"/>
    <p:sldId id="286" r:id="rId15"/>
    <p:sldId id="291" r:id="rId16"/>
    <p:sldId id="287" r:id="rId17"/>
    <p:sldId id="288" r:id="rId18"/>
    <p:sldId id="292" r:id="rId19"/>
    <p:sldId id="293" r:id="rId20"/>
    <p:sldId id="294" r:id="rId21"/>
    <p:sldId id="300" r:id="rId22"/>
    <p:sldId id="305" r:id="rId23"/>
    <p:sldId id="295" r:id="rId24"/>
    <p:sldId id="296" r:id="rId25"/>
    <p:sldId id="297" r:id="rId26"/>
    <p:sldId id="303" r:id="rId27"/>
    <p:sldId id="289" r:id="rId28"/>
    <p:sldId id="298" r:id="rId29"/>
    <p:sldId id="290" r:id="rId30"/>
    <p:sldId id="299" r:id="rId3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5" d="100"/>
          <a:sy n="85" d="100"/>
        </p:scale>
        <p:origin x="7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QEjGKYXjw8?feature=oembed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T87iyGiXb7o?feature=oembed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Pevný disk (HDD)</a:t>
            </a:r>
          </a:p>
        </p:txBody>
      </p:sp>
      <p:pic>
        <p:nvPicPr>
          <p:cNvPr id="1026" name="Picture 2" descr="Image result for hard drive">
            <a:extLst>
              <a:ext uri="{FF2B5EF4-FFF2-40B4-BE49-F238E27FC236}">
                <a16:creationId xmlns:a16="http://schemas.microsoft.com/office/drawing/2014/main" id="{13FFB056-7031-4D12-8377-CD8C7EF80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0423" y="1552354"/>
            <a:ext cx="5084885" cy="5084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Image result for hard drive">
            <a:extLst>
              <a:ext uri="{FF2B5EF4-FFF2-40B4-BE49-F238E27FC236}">
                <a16:creationId xmlns:a16="http://schemas.microsoft.com/office/drawing/2014/main" id="{6144BA3D-D6CF-4722-9788-AF0A5D61D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54" y="1966136"/>
            <a:ext cx="5321649" cy="425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informace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274777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Veškeré informace jsou v něm uložené.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Uživatel nemusí rozumět jeho funkci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Komunikaci s ním zařizuje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1953 IBM – 1. pevný disk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ve stopách na magnetickém povrchu diskové plotny (otáčela se)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Nad plochou čtecí a zápisová hlava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cm ploten; 5 MB; 1 tuna; 35000 USD</a:t>
            </a:r>
          </a:p>
        </p:txBody>
      </p:sp>
      <p:pic>
        <p:nvPicPr>
          <p:cNvPr id="2050" name="Picture 2" descr="Image result for ibm 1953 hard drive">
            <a:extLst>
              <a:ext uri="{FF2B5EF4-FFF2-40B4-BE49-F238E27FC236}">
                <a16:creationId xmlns:a16="http://schemas.microsoft.com/office/drawing/2014/main" id="{791A711E-6EB7-4BC3-8A15-F2E9B384F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976" y="3406946"/>
            <a:ext cx="4612986" cy="308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2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Vývoj pevných disků</a:t>
            </a:r>
          </a:p>
        </p:txBody>
      </p:sp>
      <p:pic>
        <p:nvPicPr>
          <p:cNvPr id="3074" name="Picture 2" descr="Image result for history of hard drive">
            <a:extLst>
              <a:ext uri="{FF2B5EF4-FFF2-40B4-BE49-F238E27FC236}">
                <a16:creationId xmlns:a16="http://schemas.microsoft.com/office/drawing/2014/main" id="{085B900D-21D4-47D1-B492-AB02359CC2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026" y="1690688"/>
            <a:ext cx="6419947" cy="4814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37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funguje HDD dnes?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Vlastně… To není úplně jinak.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tvoří: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Skleněné/kovové plotny – tenká magnetická vrstva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Nad každou plotnou – magnetická čtecí hlava (slouží i pro zápis)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 ukládají pomocí zmagnetizování místa (cívka v čtecí hlavě)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Čtení probíhá podobně – cívka přejíždí nad plotnou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Zmagnetizovaná/Nezmagnetizovaná – 1/0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Image result for hdd structure">
            <a:extLst>
              <a:ext uri="{FF2B5EF4-FFF2-40B4-BE49-F238E27FC236}">
                <a16:creationId xmlns:a16="http://schemas.microsoft.com/office/drawing/2014/main" id="{84FF1D40-0631-4B36-8F17-A0971A0BF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4504" y="365125"/>
            <a:ext cx="2597048" cy="2590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318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Organizace disku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Uspořádání disku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Geometrie disku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Magnetický povrch plotny dělíme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Stopy</a:t>
            </a:r>
          </a:p>
          <a:p>
            <a:pPr lvl="2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Očíslované (0. stupnice na vnějším okraji)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Sektory</a:t>
            </a:r>
          </a:p>
          <a:p>
            <a:pPr lvl="2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Nejmenší adresovatelná jednotka disku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Cylindry</a:t>
            </a:r>
          </a:p>
          <a:p>
            <a:pPr lvl="2"/>
            <a:r>
              <a:rPr lang="cs-CZ">
                <a:latin typeface="Times New Roman" panose="02020603050405020304" pitchFamily="18" charset="0"/>
                <a:cs typeface="Times New Roman" panose="02020603050405020304" pitchFamily="18" charset="0"/>
              </a:rPr>
              <a:t>Všechny </a:t>
            </a:r>
            <a:r>
              <a:rPr lang="cs-CZ" b="1">
                <a:latin typeface="Times New Roman" panose="02020603050405020304" pitchFamily="18" charset="0"/>
                <a:cs typeface="Times New Roman" panose="02020603050405020304" pitchFamily="18" charset="0"/>
              </a:rPr>
              <a:t>sektory</a:t>
            </a:r>
            <a:r>
              <a:rPr lang="cs-CZ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ploten nad sebou </a:t>
            </a:r>
          </a:p>
          <a:p>
            <a:pPr lvl="3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Jeden cylindr tvoří pomyslně jeden dutý válec</a:t>
            </a:r>
          </a:p>
          <a:p>
            <a:pPr lvl="2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Rovnoměrné využití hlav</a:t>
            </a:r>
          </a:p>
          <a:p>
            <a:pPr lvl="2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se neplní po plotnách, ale po cylindrech</a:t>
            </a:r>
          </a:p>
          <a:p>
            <a:pPr lvl="3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Pevné disky">
            <a:extLst>
              <a:ext uri="{FF2B5EF4-FFF2-40B4-BE49-F238E27FC236}">
                <a16:creationId xmlns:a16="http://schemas.microsoft.com/office/drawing/2014/main" id="{33E61759-205B-4F29-B606-64BD85A29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2212" y="1825625"/>
            <a:ext cx="4921047" cy="4192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40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to vidí OS?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pracuje s jednotkou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Jednotlivé clustery shlukují v sobě určitý počet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sektorů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Podle použití souborového systému (NTFS, FAT32)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Velikost clusterů je volitelná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AFA17F3-453D-4498-842D-FD96070C7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4655" y="2823730"/>
            <a:ext cx="3669145" cy="366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30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Čtení a zápis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Hlavička (cívka) na rameni</a:t>
            </a:r>
            <a:endParaRPr lang="cs-CZ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Cívka pod proudem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magnetický tok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Zmagnetizovaní daného místa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Vznikají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magnetické reverzace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Mění se směr magnetizace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Při čtení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Cívka reaguje na povrch s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 reverzací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Magnetický tok zpracován jako elektrický impuls</a:t>
            </a:r>
          </a:p>
        </p:txBody>
      </p:sp>
      <p:pic>
        <p:nvPicPr>
          <p:cNvPr id="3074" name="Picture 2" descr="Image result for hdd reading gif">
            <a:extLst>
              <a:ext uri="{FF2B5EF4-FFF2-40B4-BE49-F238E27FC236}">
                <a16:creationId xmlns:a16="http://schemas.microsoft.com/office/drawing/2014/main" id="{825883C0-0B34-40F6-A8C7-C08528DBC6D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0509" y="539750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hdd reading gif">
            <a:extLst>
              <a:ext uri="{FF2B5EF4-FFF2-40B4-BE49-F238E27FC236}">
                <a16:creationId xmlns:a16="http://schemas.microsoft.com/office/drawing/2014/main" id="{48F9A11E-CA7E-4121-AD1A-ED16D8D3910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545" y="3429000"/>
            <a:ext cx="3241964" cy="3123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94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Připojení HDD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Dříve rozhraní IDE (paralelní ATA, neboli PATA)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vodičů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málo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Nahradilo Seriál ATA (SATA)  komplexnější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Výsledek obrázku pro pata a sata">
            <a:extLst>
              <a:ext uri="{FF2B5EF4-FFF2-40B4-BE49-F238E27FC236}">
                <a16:creationId xmlns:a16="http://schemas.microsoft.com/office/drawing/2014/main" id="{6FBD1FF4-1946-4412-A7D1-B80E12E00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278" y="3541445"/>
            <a:ext cx="5445443" cy="2951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74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8676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Solid-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 (SSD)</a:t>
            </a:r>
          </a:p>
        </p:txBody>
      </p:sp>
      <p:pic>
        <p:nvPicPr>
          <p:cNvPr id="4098" name="Picture 2" descr="Image result for sdd">
            <a:extLst>
              <a:ext uri="{FF2B5EF4-FFF2-40B4-BE49-F238E27FC236}">
                <a16:creationId xmlns:a16="http://schemas.microsoft.com/office/drawing/2014/main" id="{143E0B1E-1236-4261-8ED8-B4B689ECF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528" y="1273852"/>
            <a:ext cx="5225472" cy="5225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sdd inside">
            <a:extLst>
              <a:ext uri="{FF2B5EF4-FFF2-40B4-BE49-F238E27FC236}">
                <a16:creationId xmlns:a16="http://schemas.microsoft.com/office/drawing/2014/main" id="{6E051A6C-FB0A-4FA5-AE9F-DD990EF93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399" y="2288309"/>
            <a:ext cx="5476875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769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Solid-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 (SSD)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9754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Armáda (potřeboval nemechanické disky)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Připojení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PCI Express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Není mechanická část – vyšší přenosová rychlost (bez hluku)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Flash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paměti </a:t>
            </a:r>
          </a:p>
        </p:txBody>
      </p:sp>
      <p:pic>
        <p:nvPicPr>
          <p:cNvPr id="5122" name="Picture 2" descr="Image result for ssd disc">
            <a:extLst>
              <a:ext uri="{FF2B5EF4-FFF2-40B4-BE49-F238E27FC236}">
                <a16:creationId xmlns:a16="http://schemas.microsoft.com/office/drawing/2014/main" id="{01767F42-8B70-4390-AA37-0D725DD1A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586" y="2678004"/>
            <a:ext cx="4511214" cy="2646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31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édium 3" title="SSDs vs Hard Drives as Fast As Possible">
            <a:hlinkClick r:id="" action="ppaction://media"/>
            <a:extLst>
              <a:ext uri="{FF2B5EF4-FFF2-40B4-BE49-F238E27FC236}">
                <a16:creationId xmlns:a16="http://schemas.microsoft.com/office/drawing/2014/main" id="{01123CF4-9D60-4E57-8AFF-FC138EE7613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0678" y="132043"/>
            <a:ext cx="11670644" cy="659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29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8676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Logický disk</a:t>
            </a:r>
          </a:p>
        </p:txBody>
      </p:sp>
      <p:pic>
        <p:nvPicPr>
          <p:cNvPr id="6146" name="Picture 2" descr="Image result for Logical disk">
            <a:extLst>
              <a:ext uri="{FF2B5EF4-FFF2-40B4-BE49-F238E27FC236}">
                <a16:creationId xmlns:a16="http://schemas.microsoft.com/office/drawing/2014/main" id="{CAD33F85-A16C-4F9C-A77C-800225BBE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138" y="1373622"/>
            <a:ext cx="6477723" cy="5125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912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Fyzický a logický disk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Fyzický disk – reálný kus HW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Logický disk – to, co se zobrazuje uživateli (nejčastěji písmeno „C:“)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Jeden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fyzický disk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může obsahovat více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logických disků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Image result for Logical disk">
            <a:extLst>
              <a:ext uri="{FF2B5EF4-FFF2-40B4-BE49-F238E27FC236}">
                <a16:creationId xmlns:a16="http://schemas.microsoft.com/office/drawing/2014/main" id="{38508B72-F5FD-45CD-BF0E-4DB641656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327" y="3607666"/>
            <a:ext cx="3846945" cy="2885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hard drive">
            <a:extLst>
              <a:ext uri="{FF2B5EF4-FFF2-40B4-BE49-F238E27FC236}">
                <a16:creationId xmlns:a16="http://schemas.microsoft.com/office/drawing/2014/main" id="{44D2F300-1C76-46B4-BCC5-11090FCF4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6406" y="3429000"/>
            <a:ext cx="2398700" cy="239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 result for sdd inside">
            <a:extLst>
              <a:ext uri="{FF2B5EF4-FFF2-40B4-BE49-F238E27FC236}">
                <a16:creationId xmlns:a16="http://schemas.microsoft.com/office/drawing/2014/main" id="{06391BFE-4360-4DEF-A090-B81044322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106" y="4458357"/>
            <a:ext cx="3526282" cy="215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66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Části logické struktury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MBR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(Master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tabulka souborového systému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Záznam na začátku disku (nultá stopa, první sektor)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Dvě části:</a:t>
            </a:r>
          </a:p>
          <a:p>
            <a:pPr lvl="2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Zaváděcí záznam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program (spouští BIOS)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načíst tabulku oblastí a najít, odkud načíst OS</a:t>
            </a:r>
          </a:p>
          <a:p>
            <a:pPr lvl="2"/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Partition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table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(tabulka oblastí) – informace o dělení disku na jeho oblasti</a:t>
            </a:r>
          </a:p>
        </p:txBody>
      </p:sp>
      <p:pic>
        <p:nvPicPr>
          <p:cNvPr id="8194" name="Picture 2" descr="Image result for Master boot record">
            <a:extLst>
              <a:ext uri="{FF2B5EF4-FFF2-40B4-BE49-F238E27FC236}">
                <a16:creationId xmlns:a16="http://schemas.microsoft.com/office/drawing/2014/main" id="{D2CE85F1-C3BD-42D5-BD6C-339436FA5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770" y="4212310"/>
            <a:ext cx="5900460" cy="249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61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Oprávnění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03377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Diskové kvóty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Admin může nastavit uživateli maximální místo na disku a počet souborů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Druhy oprávnění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Úplné řízení (všechno může)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Měnit (mazání a změny)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Číst a spouštět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Zobrazovat obsah složky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Čtení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Zapisovat</a:t>
            </a:r>
          </a:p>
        </p:txBody>
      </p:sp>
      <p:pic>
        <p:nvPicPr>
          <p:cNvPr id="11266" name="Picture 2" descr="Image result for file authorizations read">
            <a:extLst>
              <a:ext uri="{FF2B5EF4-FFF2-40B4-BE49-F238E27FC236}">
                <a16:creationId xmlns:a16="http://schemas.microsoft.com/office/drawing/2014/main" id="{8DF93B25-A0D6-4A56-8E43-1F10A17EB2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6" t="5741" r="16623" b="5224"/>
          <a:stretch/>
        </p:blipFill>
        <p:spPr bwMode="auto">
          <a:xfrm>
            <a:off x="7995138" y="1631340"/>
            <a:ext cx="3358662" cy="4545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9071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Rozdělení oddílů (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partitions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Primární oddíly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Primary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partitions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Každý disk maximálně 4 takové oddíly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 nich načítá OS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Windows nejvýše jeden (povinný)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Linux používá čtyři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Rozšířený oddíl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Extended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partition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Vytvoří se jako druhý  v něm se vytváří více logických disků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Logické oddíly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Logical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partitons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 nich samotné logické disky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Označení podle písmene (D:,E:,F:,…)</a:t>
            </a:r>
          </a:p>
        </p:txBody>
      </p:sp>
      <p:pic>
        <p:nvPicPr>
          <p:cNvPr id="9218" name="Picture 2" descr="Image result for Primary partitions, Extended partition,  Logical partitons">
            <a:extLst>
              <a:ext uri="{FF2B5EF4-FFF2-40B4-BE49-F238E27FC236}">
                <a16:creationId xmlns:a16="http://schemas.microsoft.com/office/drawing/2014/main" id="{DDC32102-E4F3-4F18-BEFF-1D7DAA7E7F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07" r="16221"/>
          <a:stretch/>
        </p:blipFill>
        <p:spPr bwMode="auto">
          <a:xfrm>
            <a:off x="6535249" y="5288695"/>
            <a:ext cx="5466251" cy="120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903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Rozdělení oddílů (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partitions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6B43A219-35D2-4D11-B103-0CC8BDFC0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10" y="1807477"/>
            <a:ext cx="9757380" cy="468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659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Přidělování diskového prostoru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5569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Přidělování souvislých oblastí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Nejjednodušší způsob. U této metody zabírá konkrétní soubor množinu sousedních clusterů na disku. </a:t>
            </a:r>
          </a:p>
          <a:p>
            <a:pPr lvl="2"/>
            <a:r>
              <a:rPr lang="cs-CZ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Menší potřeba posunů diskové hlavy</a:t>
            </a:r>
          </a:p>
          <a:p>
            <a:pPr lvl="2"/>
            <a:r>
              <a:rPr lang="cs-CZ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Délka hledání volného prostoru, problémy s růstem souborů a častá potřeba reorganizace dat. 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Přidělování nesouvislých oblastí disku metodou zřetězení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Ukládaný soubor je rozdělen na části (fragmenty), které jsou zapsány na různá místa disku, kdy každá část konkrétního souboru zná adresu další části téhož souboru. Jde o jednoduchý a rychlý princip, jelikož stačí uchovávat pouze počáteční adresu.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A02BB1EC-4EE8-46E0-A2A0-B12B5A1D0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650" y="5415696"/>
            <a:ext cx="462915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57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Přidělování diskového prostoru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Přidělování nesouvislých oblastí s využitím mapy souboru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 zde je soubor fragmentován, tedy rozdělen na určitý počet částí. Ke každému souboru existuje mapovací tabulka souboru MTS, v níž je zaznamenáno obsazení clusterů na disku jednotlivými částmi souboru.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D18C6566-D987-481F-881A-A925E2B08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552" y="3629454"/>
            <a:ext cx="7444895" cy="286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78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Fragmentace disku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68008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Vnitřní fragmentace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Když malý soubor zabere celý cluster, který je dál nevyužit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Vnější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Jeden soubor na více fragmentech na více částích disku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Řeší to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defragmentace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Roztroušené kusy souboru (fragmenty) přesun blíže k sobě.</a:t>
            </a:r>
          </a:p>
        </p:txBody>
      </p:sp>
      <p:pic>
        <p:nvPicPr>
          <p:cNvPr id="12290" name="Picture 2" descr="Image result for defragmentace">
            <a:extLst>
              <a:ext uri="{FF2B5EF4-FFF2-40B4-BE49-F238E27FC236}">
                <a16:creationId xmlns:a16="http://schemas.microsoft.com/office/drawing/2014/main" id="{E018F8E0-44A5-47A7-8546-BCBDA7A55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808" y="1769644"/>
            <a:ext cx="5916492" cy="440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321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Obnova smazaných souborů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Pokud uživatel smaže nějaký soubor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Na disku je jeho místo kdykoliv k přepsání, ale dokud to místo něco reálně nepotřebuje, tak fyzicky stále soubory existují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Specializované programy na obnovu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Analyzují disk (hledá smazané soubory)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Největší šance je pokud se dál nezapisuje na disk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Může udělat i restart</a:t>
            </a:r>
          </a:p>
        </p:txBody>
      </p:sp>
    </p:spTree>
    <p:extLst>
      <p:ext uri="{BB962C8B-B14F-4D97-AF65-F5344CB8AC3E}">
        <p14:creationId xmlns:p14="http://schemas.microsoft.com/office/powerpoint/2010/main" val="94667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édium 3" title="What Happens to Deleted Data as Fast As Possible">
            <a:hlinkClick r:id="" action="ppaction://media"/>
            <a:extLst>
              <a:ext uri="{FF2B5EF4-FFF2-40B4-BE49-F238E27FC236}">
                <a16:creationId xmlns:a16="http://schemas.microsoft.com/office/drawing/2014/main" id="{9B2709A1-F357-4682-953C-B6333249A9F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76545" y="141008"/>
            <a:ext cx="11638909" cy="657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532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5053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Souborové systémy</a:t>
            </a:r>
          </a:p>
        </p:txBody>
      </p:sp>
      <p:pic>
        <p:nvPicPr>
          <p:cNvPr id="13314" name="Picture 2" descr="Image result for file systems">
            <a:extLst>
              <a:ext uri="{FF2B5EF4-FFF2-40B4-BE49-F238E27FC236}">
                <a16:creationId xmlns:a16="http://schemas.microsoft.com/office/drawing/2014/main" id="{97A3C3F6-56BB-4F11-B902-42F536991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231" y="1253415"/>
            <a:ext cx="5161537" cy="5219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0076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informace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Soubory musí být na daném disku uloženy podle nějakých pravidel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Souborový systém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!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Vznikaly s vývojem nějakého OS, či pro zápis na nějaké medium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Uživatel se díky němu zabývá jen logickou strukturou informace</a:t>
            </a:r>
          </a:p>
        </p:txBody>
      </p:sp>
    </p:spTree>
    <p:extLst>
      <p:ext uri="{BB962C8B-B14F-4D97-AF65-F5344CB8AC3E}">
        <p14:creationId xmlns:p14="http://schemas.microsoft.com/office/powerpoint/2010/main" val="421285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 (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821218" cy="4351338"/>
          </a:xfrm>
        </p:spPr>
        <p:txBody>
          <a:bodyPr>
            <a:normAutofit fontScale="92500" lnSpcReduction="2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Princip dvou tabulek, které obsahují informace o obsazení clusteru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Různé verze: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FAT 16</a:t>
            </a:r>
          </a:p>
          <a:p>
            <a:pPr lvl="2"/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16 bitové adresování (65536 clusterů(216 bitů))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FAT 32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/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32 bitové adresování (hranice velikosti oddílu 2 TB)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Chybovost FAT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Problémy s fragmentací souborů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Ztracení informací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Překřížené hledání souborů</a:t>
            </a:r>
          </a:p>
        </p:txBody>
      </p:sp>
      <p:pic>
        <p:nvPicPr>
          <p:cNvPr id="14338" name="Picture 2" descr="Image result for FAT table">
            <a:extLst>
              <a:ext uri="{FF2B5EF4-FFF2-40B4-BE49-F238E27FC236}">
                <a16:creationId xmlns:a16="http://schemas.microsoft.com/office/drawing/2014/main" id="{7446C8FF-39A7-400C-8A0A-0A5F15B600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1" t="11852" r="39773"/>
          <a:stretch/>
        </p:blipFill>
        <p:spPr bwMode="auto">
          <a:xfrm>
            <a:off x="6692187" y="1799750"/>
            <a:ext cx="5499813" cy="469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26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Alokační tabulka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Popisuje každý cluster logického oddílu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Hodnota v tabulce určuje, jestli je cluster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Využíván souborem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Volný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Poškozený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Pokud soubor přesahuje cluster je v tabulce napsáno v jakém clusteru pokračuje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NTFS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více údajů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Podporuje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Žurnálnování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8787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 descr="Image result for alocanion table">
            <a:extLst>
              <a:ext uri="{FF2B5EF4-FFF2-40B4-BE49-F238E27FC236}">
                <a16:creationId xmlns:a16="http://schemas.microsoft.com/office/drawing/2014/main" id="{AB673964-ACA0-4702-8F32-3190D0A5A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424" y="370711"/>
            <a:ext cx="9111152" cy="6116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1245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NTFS </a:t>
            </a:r>
            <a:r>
              <a:rPr lang="cs-CZ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(New Technology </a:t>
            </a:r>
            <a:r>
              <a:rPr lang="cs-CZ" sz="5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cs-CZ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Systém) 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OS Windows 2000 a vyšší</a:t>
            </a:r>
          </a:p>
          <a:p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Veškeré velikosti clusterů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16 bitové kódování (Unicode) – libovolný jazyk pro pojmenování</a:t>
            </a:r>
          </a:p>
          <a:p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Lze zrekonstruovat poškozené soubory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Oproti FAT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Žurnálování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Zabezpečení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Komprese dat</a:t>
            </a:r>
          </a:p>
        </p:txBody>
      </p:sp>
      <p:pic>
        <p:nvPicPr>
          <p:cNvPr id="15362" name="Picture 2" descr="Image result for ntfs">
            <a:extLst>
              <a:ext uri="{FF2B5EF4-FFF2-40B4-BE49-F238E27FC236}">
                <a16:creationId xmlns:a16="http://schemas.microsoft.com/office/drawing/2014/main" id="{A8C39A72-A60C-4B24-A1DA-A682B88D6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945" y="4312286"/>
            <a:ext cx="8137958" cy="218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66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Žurnálování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Pokud během zápisu dat dojde k havárii  zůstane souborový systém v nekonzistentním stavu – Při dalším startu se nekonzistentní data opraví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Během zápisu dat probíhá i zápis do speciální souboru (záznam), kam se zapisuje průběh operace a jde zde dohledat, kde došlo k výpadku.</a:t>
            </a:r>
          </a:p>
        </p:txBody>
      </p:sp>
    </p:spTree>
    <p:extLst>
      <p:ext uri="{BB962C8B-B14F-4D97-AF65-F5344CB8AC3E}">
        <p14:creationId xmlns:p14="http://schemas.microsoft.com/office/powerpoint/2010/main" val="6888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DE993248-2AF3-408E-BDD5-3BD34B49D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28" y="3994515"/>
            <a:ext cx="7968907" cy="249836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NTFS </a:t>
            </a:r>
            <a:r>
              <a:rPr lang="cs-CZ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(New Technology </a:t>
            </a:r>
            <a:r>
              <a:rPr lang="cs-CZ" sz="5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cs-CZ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Systém) 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Přidává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metadata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16 speciálních skrytých souborů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Master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File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Table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(MFT) – databáze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MFT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si vyhradí 12% disku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CF9E9DE4-DC99-47BE-BBFC-9D79F9353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855" y="2221237"/>
            <a:ext cx="4396145" cy="274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6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1994</TotalTime>
  <Words>982</Words>
  <Application>Microsoft Office PowerPoint</Application>
  <PresentationFormat>Širokoúhlá obrazovka</PresentationFormat>
  <Paragraphs>155</Paragraphs>
  <Slides>30</Slides>
  <Notes>0</Notes>
  <HiddenSlides>0</HiddenSlides>
  <MMClips>2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Motiv Office</vt:lpstr>
      <vt:lpstr>Pevný disk (HDD)</vt:lpstr>
      <vt:lpstr>Základní informace</vt:lpstr>
      <vt:lpstr>Vývoj pevných disků</vt:lpstr>
      <vt:lpstr>Jak funguje HDD dnes?</vt:lpstr>
      <vt:lpstr>Organizace disku</vt:lpstr>
      <vt:lpstr>Jak to vidí OS?</vt:lpstr>
      <vt:lpstr>Čtení a zápis</vt:lpstr>
      <vt:lpstr>Připojení HDD</vt:lpstr>
      <vt:lpstr>Solid-state drive (SSD)</vt:lpstr>
      <vt:lpstr>Solid-state drive (SSD)</vt:lpstr>
      <vt:lpstr>Prezentace aplikace PowerPoint</vt:lpstr>
      <vt:lpstr>Logický disk</vt:lpstr>
      <vt:lpstr>Fyzický a logický disk</vt:lpstr>
      <vt:lpstr>Části logické struktury</vt:lpstr>
      <vt:lpstr>Oprávnění</vt:lpstr>
      <vt:lpstr>Rozdělení oddílů (partitions)</vt:lpstr>
      <vt:lpstr>Rozdělení oddílů (partitions)</vt:lpstr>
      <vt:lpstr>Přidělování diskového prostoru</vt:lpstr>
      <vt:lpstr>Přidělování diskového prostoru</vt:lpstr>
      <vt:lpstr>Fragmentace disku</vt:lpstr>
      <vt:lpstr>Obnova smazaných souborů</vt:lpstr>
      <vt:lpstr>Prezentace aplikace PowerPoint</vt:lpstr>
      <vt:lpstr>Souborové systémy</vt:lpstr>
      <vt:lpstr>Základní informace</vt:lpstr>
      <vt:lpstr>FAT (File Allocation Table)</vt:lpstr>
      <vt:lpstr>Alokační tabulka</vt:lpstr>
      <vt:lpstr>Prezentace aplikace PowerPoint</vt:lpstr>
      <vt:lpstr>NTFS (New Technology File Systém) </vt:lpstr>
      <vt:lpstr>Žurnálování</vt:lpstr>
      <vt:lpstr>NTFS (New Technology File Systém)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155</cp:revision>
  <dcterms:created xsi:type="dcterms:W3CDTF">2020-09-17T19:44:13Z</dcterms:created>
  <dcterms:modified xsi:type="dcterms:W3CDTF">2023-03-25T20:44:32Z</dcterms:modified>
</cp:coreProperties>
</file>