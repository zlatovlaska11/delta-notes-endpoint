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89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90" r:id="rId16"/>
    <p:sldId id="292" r:id="rId17"/>
    <p:sldId id="293" r:id="rId18"/>
    <p:sldId id="294" r:id="rId19"/>
    <p:sldId id="295" r:id="rId20"/>
    <p:sldId id="296" r:id="rId2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85" d="100"/>
          <a:sy n="85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25.03.2023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a0RTgxJJy8?feature=oembed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</a:t>
            </a:r>
          </a:p>
        </p:txBody>
      </p:sp>
      <p:pic>
        <p:nvPicPr>
          <p:cNvPr id="4" name="Picture 2" descr="Why the best RAID configuration is no RAID configuration | The SHI Blog">
            <a:extLst>
              <a:ext uri="{FF2B5EF4-FFF2-40B4-BE49-F238E27FC236}">
                <a16:creationId xmlns:a16="http://schemas.microsoft.com/office/drawing/2014/main" id="{399AD5E4-A722-42A4-8E76-928923521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049" y="1783896"/>
            <a:ext cx="8425901" cy="460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informace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edundant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rray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ndependent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isks.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Snaha zpracování dat paralelně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na více discích na kterých pracuje paralelně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Detekce chyby, pokud selže jeden disk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Zavedeno kvůli větší rychlosti procesoru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Využití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(záznamy mezi disky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opraví se mezi sebou)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2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Využití v praxi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Primárně se nevyužívá u osobních počítačů.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Primárně řeší velká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serverová úložiště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Případně úložiště na lokální sítí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(Network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Attached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026" name="Picture 2" descr="QNAP TS-453D-4G 4TB 4 Bay Desktop NAS Solution | Installed with 4 x 1TB  Western Digital Red Drives: Network Attached Storage: Amazon.com.au">
            <a:extLst>
              <a:ext uri="{FF2B5EF4-FFF2-40B4-BE49-F238E27FC236}">
                <a16:creationId xmlns:a16="http://schemas.microsoft.com/office/drawing/2014/main" id="{E8F3D23F-304C-6D9B-05C0-7EA3864A6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665275"/>
            <a:ext cx="3697004" cy="264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 recovery for server, RAID arrays, NAS servers">
            <a:extLst>
              <a:ext uri="{FF2B5EF4-FFF2-40B4-BE49-F238E27FC236}">
                <a16:creationId xmlns:a16="http://schemas.microsoft.com/office/drawing/2014/main" id="{D26121EE-13C6-99E5-844F-0A8B6198A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294" y="3587561"/>
            <a:ext cx="4833505" cy="272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32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0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Nemá redundanci (všechny disky jen na data)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na všech discích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Operace se provádí na všech zároveň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zvyšuje to rychlost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5F9E9EB-DCE4-4B2F-8464-2DECBB3F9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473" y="3254228"/>
            <a:ext cx="7619054" cy="323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06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0 (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stripování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Rozdělení dat na více disků =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stripování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dat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Systémově OS vnímá jako jeden disk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Fyzický disk rozdělen na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strips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93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3B1270BC-2D51-4081-B5DD-A52D6469B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700" y="542235"/>
            <a:ext cx="9032599" cy="5773529"/>
          </a:xfrm>
          <a:prstGeom prst="rect">
            <a:avLst/>
          </a:prstGeom>
        </p:spPr>
      </p:pic>
      <p:sp>
        <p:nvSpPr>
          <p:cNvPr id="7" name="Obdélník 6">
            <a:extLst>
              <a:ext uri="{FF2B5EF4-FFF2-40B4-BE49-F238E27FC236}">
                <a16:creationId xmlns:a16="http://schemas.microsoft.com/office/drawing/2014/main" id="{486CA946-2007-402D-98F9-16270D40A054}"/>
              </a:ext>
            </a:extLst>
          </p:cNvPr>
          <p:cNvSpPr/>
          <p:nvPr/>
        </p:nvSpPr>
        <p:spPr>
          <a:xfrm>
            <a:off x="3094291" y="4441372"/>
            <a:ext cx="7338395" cy="2175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9710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0 (efektivita)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Ideální organizace dat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data, která spolu souvisejí (např. soubor) by měla být uložena v sousedních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 jednom stripe) – pak přenos paralelně.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Výsledek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výrazně efektivnější operace související s diskem – hlavně rychlost přenosu (možnost přenosu jednoho souboru paralelně – jeho jednotlivé části). 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4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1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Zrcadlené disky (snaha o zvýšení spolehlivosti)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Každý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strip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mapován na dva fyzické disky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Redundance (jednoduché zotavení po chybě)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D77584F-CA9B-4A37-A2EE-3E0CDC246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56" y="3429000"/>
            <a:ext cx="10401886" cy="356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7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1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Čtení dat – 1 disk (ten, který je rychlejší)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Zápis dat – paralelně na oba disky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Zotavení po poruše – data z disku, který je v pořádku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84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2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Čtyři disky –  Data +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Tři disky – Informace pro opravu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Disky jsou synchronizované (hlavy ve stejných pozicí)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Paralelní přístup – požadavek řeší všechny disky naráz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13DAB05-464D-4D65-AF46-41CC56927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060" y="4115669"/>
            <a:ext cx="9747739" cy="237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9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3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Čtyři disky – Data + Jeden disk – Informace pro opravu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Podobné jako RAID 2 (pouze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jeden redundantní disk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Paritní bity (ukládají se do nich informace z datových bitů)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Rekonstrukce, pokud jeden z disků selže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1A43B06F-8F21-4AD4-8B31-E35509398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745" y="3918527"/>
            <a:ext cx="7770090" cy="277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94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5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Parita typu „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block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-level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distributed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“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Parita na každém disku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Porucha na více discích neřešitelná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76EF7B5F-76CC-4946-B443-15EBD2A9A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330" y="3429000"/>
            <a:ext cx="9501554" cy="332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6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6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Dvojí parita – do bloků na různých discích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Porucha 2 disků lze opravit, více už ne.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F61B8E87-BC30-4690-9162-8F6C28793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235" y="3162277"/>
            <a:ext cx="9979855" cy="333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édium 3" title="IT in Three: What is RAID?">
            <a:hlinkClick r:id="" action="ppaction://media"/>
            <a:extLst>
              <a:ext uri="{FF2B5EF4-FFF2-40B4-BE49-F238E27FC236}">
                <a16:creationId xmlns:a16="http://schemas.microsoft.com/office/drawing/2014/main" id="{350E1190-B55B-4003-AF83-049E2828580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67278" y="700772"/>
            <a:ext cx="9657443" cy="545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84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Víceúrovňové typy RAID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Jedná se o kombinaci více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RAIDů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Většinou se jedná o schopnost využívat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redundanci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stripování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dat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24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01 (RAID 0+1)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660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Kombinace RAID 0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stripování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dat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 RAID 1 – redundance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Velikost se vypočítává: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 = kapacita nejmenšího použitého disku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 = celkový počet disků v poli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4FA57DED-C642-8250-EE18-965BAE984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218" y="1562009"/>
            <a:ext cx="4860637" cy="486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E95F16C2-B043-449D-35E2-2772FD27D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248" y="3992328"/>
            <a:ext cx="3178975" cy="129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47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10 (RAID 1+0)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660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Kombinace RAID 0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stripování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dat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 RAID 1 – redundance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Velikost se vypočítává: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 = kapacita nejmenšího použitého disku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 = celkový počet disků v poli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E95F16C2-B043-449D-35E2-2772FD27D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248" y="3992328"/>
            <a:ext cx="3178975" cy="1298454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C127601-CF04-55C9-673F-C574BF3A1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7759" y="1816660"/>
            <a:ext cx="4651120" cy="465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311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50 (RAID 5+0)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660"/>
            <a:ext cx="559031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Kombinace RAID 0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stripování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dat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 RAID 5 – redundance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Velikost se vypočítává: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 = kapacita disku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 = počet disků v podřazeném poli RAID 5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 = počet podřazených polí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81B9F9A7-5B30-586B-7638-69B6D7278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705" y="2057021"/>
            <a:ext cx="5590310" cy="3726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3C6851D6-55F0-4E09-C140-64B287E82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09" y="5167312"/>
            <a:ext cx="5852491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5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60 (RAID 6+0)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660"/>
            <a:ext cx="1102129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Kombinace RAID 0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stripování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dat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 RAID 6 – redundance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undefined">
            <a:extLst>
              <a:ext uri="{FF2B5EF4-FFF2-40B4-BE49-F238E27FC236}">
                <a16:creationId xmlns:a16="http://schemas.microsoft.com/office/drawing/2014/main" id="{4A94B82F-7B3F-387F-C446-9CC734A35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11127"/>
            <a:ext cx="12192000" cy="420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0AF94469-58C3-BB45-5AC2-53CE084B2C83}"/>
              </a:ext>
            </a:extLst>
          </p:cNvPr>
          <p:cNvSpPr txBox="1"/>
          <p:nvPr/>
        </p:nvSpPr>
        <p:spPr>
          <a:xfrm>
            <a:off x="7541559" y="1784826"/>
            <a:ext cx="62618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Velikost se vypočítává: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 = kapacita disku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 = počet disků v podřazeném poli RAID 6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 = počet podřazených polí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09D965A1-64E0-F8B6-FE32-2E7C54E72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81" y="2844119"/>
            <a:ext cx="3680393" cy="75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7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100 (RAID 10+0)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4734"/>
            <a:ext cx="1102129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Kombinace RAID 0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stripování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dat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 RAID 1 – redundance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0AF94469-58C3-BB45-5AC2-53CE084B2C83}"/>
              </a:ext>
            </a:extLst>
          </p:cNvPr>
          <p:cNvSpPr txBox="1"/>
          <p:nvPr/>
        </p:nvSpPr>
        <p:spPr>
          <a:xfrm>
            <a:off x="838200" y="4326044"/>
            <a:ext cx="32235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Velikost se vypočítává: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 = kapacita nejmenšího použitého disku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 = celkový počet disků v poli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8BA0EAA-25A2-8420-8327-98C140BA7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07596"/>
            <a:ext cx="2986747" cy="1242807"/>
          </a:xfrm>
          <a:prstGeom prst="rect">
            <a:avLst/>
          </a:prstGeom>
        </p:spPr>
      </p:pic>
      <p:pic>
        <p:nvPicPr>
          <p:cNvPr id="6146" name="Picture 2" descr="undefined">
            <a:extLst>
              <a:ext uri="{FF2B5EF4-FFF2-40B4-BE49-F238E27FC236}">
                <a16:creationId xmlns:a16="http://schemas.microsoft.com/office/drawing/2014/main" id="{197B1DA5-FE28-CD54-E095-2A8A25C25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169" y="1999702"/>
            <a:ext cx="7815862" cy="465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97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2080</TotalTime>
  <Words>548</Words>
  <Application>Microsoft Office PowerPoint</Application>
  <PresentationFormat>Širokoúhlá obrazovka</PresentationFormat>
  <Paragraphs>87</Paragraphs>
  <Slides>20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Motiv Office</vt:lpstr>
      <vt:lpstr>RAID</vt:lpstr>
      <vt:lpstr>Základní informace</vt:lpstr>
      <vt:lpstr>Využití v praxi</vt:lpstr>
      <vt:lpstr>RAID 0</vt:lpstr>
      <vt:lpstr>RAID 0 (stripování)</vt:lpstr>
      <vt:lpstr>Prezentace aplikace PowerPoint</vt:lpstr>
      <vt:lpstr>RAID 0 (efektivita)</vt:lpstr>
      <vt:lpstr>RAID 1</vt:lpstr>
      <vt:lpstr>RAID 1</vt:lpstr>
      <vt:lpstr>RAID 2</vt:lpstr>
      <vt:lpstr>RAID 3</vt:lpstr>
      <vt:lpstr>RAID 5</vt:lpstr>
      <vt:lpstr>RAID 6</vt:lpstr>
      <vt:lpstr>Prezentace aplikace PowerPoint</vt:lpstr>
      <vt:lpstr>Víceúrovňové typy RAID</vt:lpstr>
      <vt:lpstr>RAID 01 (RAID 0+1)</vt:lpstr>
      <vt:lpstr>RAID 10 (RAID 1+0)</vt:lpstr>
      <vt:lpstr>RAID 50 (RAID 5+0)</vt:lpstr>
      <vt:lpstr>RAID 60 (RAID 6+0)</vt:lpstr>
      <vt:lpstr>RAID 100 (RAID 10+0)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162</cp:revision>
  <dcterms:created xsi:type="dcterms:W3CDTF">2020-09-17T19:44:13Z</dcterms:created>
  <dcterms:modified xsi:type="dcterms:W3CDTF">2023-03-25T17:28:16Z</dcterms:modified>
</cp:coreProperties>
</file>