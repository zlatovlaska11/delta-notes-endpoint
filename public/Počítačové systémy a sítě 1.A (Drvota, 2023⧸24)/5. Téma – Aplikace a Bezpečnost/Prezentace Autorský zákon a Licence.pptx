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85" d="100"/>
          <a:sy n="85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24.01.2022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24.01.2022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24.01.2022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24.01.2022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24.01.2022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24.01.2022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24.01.2022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24.01.2022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24.01.2022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24.01.2022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24.01.2022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24.01.2022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3992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Autorský zákon a licence</a:t>
            </a:r>
          </a:p>
        </p:txBody>
      </p:sp>
      <p:pic>
        <p:nvPicPr>
          <p:cNvPr id="1028" name="Picture 4" descr="Image result for author law">
            <a:extLst>
              <a:ext uri="{FF2B5EF4-FFF2-40B4-BE49-F238E27FC236}">
                <a16:creationId xmlns:a16="http://schemas.microsoft.com/office/drawing/2014/main" id="{FC07CD5D-B9F7-4689-A5F8-BECE6CB98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821" y="1804988"/>
            <a:ext cx="8238357" cy="4369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Autorské právo 						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Vzniká ve chvílí vzniku díla (začátku práce na něm)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Osobnostní právo během života autora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Majetkové právo po život autora a 70 let po jeho smrti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Zákon 121/2000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Image result for autorské právo">
            <a:extLst>
              <a:ext uri="{FF2B5EF4-FFF2-40B4-BE49-F238E27FC236}">
                <a16:creationId xmlns:a16="http://schemas.microsoft.com/office/drawing/2014/main" id="{835FBE94-F86C-4D0D-B862-19D169638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13695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autorské právo">
            <a:extLst>
              <a:ext uri="{FF2B5EF4-FFF2-40B4-BE49-F238E27FC236}">
                <a16:creationId xmlns:a16="http://schemas.microsoft.com/office/drawing/2014/main" id="{766C8880-8BCB-4931-96F2-37CED0492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3825875"/>
            <a:ext cx="3810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Volné dílo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Dílo na které se nevztahuje autorský zákon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Volné dílo vzniká po konci majetkového práva (70 let od smrti autora)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lze s volným dílem dělat?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Užití pro osobní potřebu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Dočasné vyrobení kopie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Užití díla trvale umístěného na veřejném prostranství 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Úřední a zpravodajská licence 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Autor se vzdal práv</a:t>
            </a:r>
          </a:p>
        </p:txBody>
      </p:sp>
      <p:pic>
        <p:nvPicPr>
          <p:cNvPr id="3074" name="Picture 2" descr="Image result for Volné dílo">
            <a:extLst>
              <a:ext uri="{FF2B5EF4-FFF2-40B4-BE49-F238E27FC236}">
                <a16:creationId xmlns:a16="http://schemas.microsoft.com/office/drawing/2014/main" id="{55EA6595-8630-433B-B98E-F45FC61C5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70338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5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Organizace chránící vlastnictví</a:t>
            </a:r>
          </a:p>
        </p:txBody>
      </p:sp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535BD02F-A649-4389-910F-3FE49534BC0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Intellectual Property Organization (WIPO)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OSN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založená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1967,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sídlo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Ženevě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vykonává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dozor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oblasti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ochrany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autorských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práv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dalších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práv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duševního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vlastnictví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Kolektivní správci autorských děl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děl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pověřit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zastupováním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věci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výběru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poplatků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užití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díla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DIvadelní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LIterární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Audiovizuální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agentura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Ochranný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Autorský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práva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dílům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hudebním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BSA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Business Software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Alliance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sdružení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sofwarového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průmyslu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hájící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zájmy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Adobe, Microsoft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nebo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Autodesk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1BEDB76-AD5C-42C0-AEE4-A0D235750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6954" y="4267688"/>
            <a:ext cx="1161318" cy="1161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5B0FD073-262A-45A6-B1FE-EE9F36B1D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7773" y="135742"/>
            <a:ext cx="1789235" cy="1281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A24422A9-7CEE-4E98-8B65-4102C39F40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1309" y="4787900"/>
            <a:ext cx="1697397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70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licencí autor upravuje podmínky užití svého díla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definuje právní vztah mezi uživatelem a autorem 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vzniká 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základě zákona (např. podle § 29–39 autorského zákona)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základě smlouvy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 přiřadí dílu veřejnou licenci (např.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Creative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Commons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51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Proprietární licence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Proprietární (z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majetek)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dává vám právo software pouze využívat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výrobce je nadále vlastníkem softwaru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uzavřený kód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Různé typy distribucí (viz. prezentace Aplikace)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A1ED2BD-5D93-4FFE-8541-DBF8E4511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675" y="22090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580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sourcové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licence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= volné užití, úprava a distribuce</a:t>
            </a:r>
          </a:p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Copyleft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díla mají odvozená práva</a:t>
            </a:r>
          </a:p>
          <a:p>
            <a:r>
              <a:rPr lang="cs-CZ" b="1">
                <a:latin typeface="Times New Roman" panose="02020603050405020304" pitchFamily="18" charset="0"/>
                <a:cs typeface="Times New Roman" panose="02020603050405020304" pitchFamily="18" charset="0"/>
              </a:rPr>
              <a:t>Benevolentní</a:t>
            </a:r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možnost využít i k proprietárním účelům </a:t>
            </a:r>
          </a:p>
          <a:p>
            <a:pPr marL="0" indent="0">
              <a:buNone/>
            </a:pP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7EA8F56-6B4D-461C-A7A5-E62BA4B1B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2814" y="36512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09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Creative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Commons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licence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Licence vzniklé pro svobodné šíření děl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 definuje podmínky užití díla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FDA238C-69EE-4A5D-95FF-51698555A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839" y="135548"/>
            <a:ext cx="1555140" cy="155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mage result for creative commons licence">
            <a:extLst>
              <a:ext uri="{FF2B5EF4-FFF2-40B4-BE49-F238E27FC236}">
                <a16:creationId xmlns:a16="http://schemas.microsoft.com/office/drawing/2014/main" id="{4A6E89ED-3B94-46A4-86DB-D7792B4C4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5009" y="2625725"/>
            <a:ext cx="434340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408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Creative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Commons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licence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FDA238C-69EE-4A5D-95FF-51698555A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839" y="135548"/>
            <a:ext cx="1555140" cy="155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AC4099BE-D7FF-4BD9-851D-0315757A8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809" y="1805965"/>
            <a:ext cx="9942382" cy="457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52193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299</Words>
  <Application>Microsoft Office PowerPoint</Application>
  <PresentationFormat>Širokoúhlá obrazovka</PresentationFormat>
  <Paragraphs>50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Motiv Office</vt:lpstr>
      <vt:lpstr>Autorský zákon a licence</vt:lpstr>
      <vt:lpstr>Autorské právo       </vt:lpstr>
      <vt:lpstr>Volné dílo</vt:lpstr>
      <vt:lpstr>Organizace chránící vlastnictví</vt:lpstr>
      <vt:lpstr>Licence</vt:lpstr>
      <vt:lpstr>Proprietární licence</vt:lpstr>
      <vt:lpstr>Open-sourcové licence</vt:lpstr>
      <vt:lpstr>Creative Commons licence</vt:lpstr>
      <vt:lpstr>Creative Commons licence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124</cp:revision>
  <dcterms:created xsi:type="dcterms:W3CDTF">2020-09-17T19:44:13Z</dcterms:created>
  <dcterms:modified xsi:type="dcterms:W3CDTF">2022-01-24T20:24:44Z</dcterms:modified>
</cp:coreProperties>
</file>