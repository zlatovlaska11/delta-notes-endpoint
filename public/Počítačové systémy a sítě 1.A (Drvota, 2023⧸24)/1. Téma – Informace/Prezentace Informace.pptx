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5" r:id="rId14"/>
    <p:sldId id="276" r:id="rId15"/>
    <p:sldId id="277" r:id="rId16"/>
    <p:sldId id="270" r:id="rId17"/>
    <p:sldId id="271" r:id="rId18"/>
    <p:sldId id="274" r:id="rId19"/>
    <p:sldId id="273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Světlý sty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Střední sty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větlý styl 1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větlý styl 3 – zvýraznění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653F79-E5A4-4278-80F8-83D00CB05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5378A9F-FB98-4E6F-933C-7D6F7724B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D4CB6B-B139-4C10-873F-51767B1A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06F91-3C5C-4FC8-85D6-2779F5C4BE06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A764C14-4FE4-4DDF-88FF-8FC4225E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C11687C-69CD-4C1E-BD95-F67D17ACE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B4F9-5F3B-4C51-8355-9FB172B4CC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878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AD6095-F2EA-4B24-AF63-78F27AA1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8FC9B7-08B5-4E8A-9037-D86312716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D65BF62-BA37-48B9-9198-5CCD45B87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06F91-3C5C-4FC8-85D6-2779F5C4BE06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8A88A5B-6AE1-4C62-923D-B32D86078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B151D64-798F-4CE4-BA44-E0B56012F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B4F9-5F3B-4C51-8355-9FB172B4CC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2812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696C42-56E0-4D8C-9CAF-80D3941A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71F091B-525D-48ED-B182-645759756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90B46B9-99F3-4EC4-B89B-43A0BDA75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06F91-3C5C-4FC8-85D6-2779F5C4BE06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91D21F9-043B-42FC-9B52-B0AF296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7A6C157-EE42-4B5E-8582-5DBEF6A27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B4F9-5F3B-4C51-8355-9FB172B4CC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9740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2B1D43-E091-4F1B-9106-09FAE49BC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C899889-BFF6-43C7-8F96-5A389AFB3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17E5BEB-9B58-462B-BFB3-282582D6F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2F1B65A-34A5-4260-8106-1D32A6233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06F91-3C5C-4FC8-85D6-2779F5C4BE06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98D14CA-3E1D-4EFC-9624-46F51E010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8778AEB-AC5E-4E8C-AAE9-C615ACFB9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B4F9-5F3B-4C51-8355-9FB172B4CC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6595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9DFA58-FF48-4609-AFF4-45C57F04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B4312B4-F26B-45D4-801A-A84980B7A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78EEA09-290D-43E1-8988-AF209B712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3C109C8-C3F8-459B-BDCE-30A5A1637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EF3222D-3FE6-45EF-8B1E-0405351A2D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CCA2C140-B675-45B0-A83B-DD70E0E4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06F91-3C5C-4FC8-85D6-2779F5C4BE06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DBD8DC9-5692-4864-A787-3116A46B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21503CB8-C64F-4980-B216-DE84395C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B4F9-5F3B-4C51-8355-9FB172B4CC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44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E5FE53-7865-491E-980C-6617BAEF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15E97AD-4DB7-4075-BF2A-54DFFB56F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06F91-3C5C-4FC8-85D6-2779F5C4BE06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23C5285-8E50-4DA5-B557-0B982B52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7E6FDB5-B244-4B81-BD93-38A4DD16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B4F9-5F3B-4C51-8355-9FB172B4CC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078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D036915-2353-4068-82D9-31D67CFF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06F91-3C5C-4FC8-85D6-2779F5C4BE06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91650EA-DDB7-4EAE-864E-FA8ED985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A9EB060-895F-42E3-A34D-A5D5ED24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B4F9-5F3B-4C51-8355-9FB172B4CC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3094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C7DE9C-7346-448F-9538-F84D34B2A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64E770-D5E9-4C8E-AD14-8AB8C7E89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46B1EFD-C2F4-41E2-BF67-B2A4C0BF8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9A82BC7-121B-40C4-90C0-E09FE786B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06F91-3C5C-4FC8-85D6-2779F5C4BE06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92F467D-5E75-4E64-A531-BD3EBAF86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606278F-331A-41D1-B7AB-971808FD6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B4F9-5F3B-4C51-8355-9FB172B4CC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783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DE1272-9E6E-4B1D-BCC1-7C2481178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60553EE-0270-40F4-9196-7ED42D240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0A26A93-8A8C-4D07-A2AA-219CE2D99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778AE06-815E-4792-9BEC-7A0FC6A90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06F91-3C5C-4FC8-85D6-2779F5C4BE06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9329378-CEBC-459E-B9D1-E8D0B80E3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6F1FD18-FF85-49D1-9BEA-045E4362C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B4F9-5F3B-4C51-8355-9FB172B4CC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865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069A68-802D-4E44-B050-CC60BC5B6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268D233-397A-4318-831C-6FC09E572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22EBABF-37D8-4203-91A3-A9682628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06F91-3C5C-4FC8-85D6-2779F5C4BE06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0CFD209-7608-4CFF-A93E-40047BAE0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9B627FA-23AA-4DC5-BF3C-2A56F500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B4F9-5F3B-4C51-8355-9FB172B4CC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1495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4713E19-9FE9-4971-A9F2-ABD940A8B1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2DEA92E-7A80-4F89-8EE3-231BCAA78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3B23B8F-95B4-48D1-A415-4C764D0B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06F91-3C5C-4FC8-85D6-2779F5C4BE06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13B01DE-DBB2-4D85-B3AA-F9F04F33A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77F33BA-3A4D-47E6-80E4-1C8D887F2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B4F9-5F3B-4C51-8355-9FB172B4CC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8077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6666698-2C7D-4AB5-AFA4-E8C3719B7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98D45B5-1C12-4EE7-98E9-086CFEB1F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08C8C58-9016-4DFB-8A71-7A773FFB7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06F91-3C5C-4FC8-85D6-2779F5C4BE06}" type="datetimeFigureOut">
              <a:rPr lang="cs-CZ" smtClean="0"/>
              <a:t>13.09.2021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4CDC25-7B29-4D66-9AC1-607688088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C0C0D9D-4F57-46FE-AAA7-17BDC7975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BB4F9-5F3B-4C51-8355-9FB172B4CCC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336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ideoseries?list=PLS3iL7hsj4DH7nHzhWa2JJMu21UO1pJCf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3CEE89-2562-4B36-9721-4B486A762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0820"/>
            <a:ext cx="9144000" cy="932155"/>
          </a:xfrm>
        </p:spPr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Informace</a:t>
            </a:r>
          </a:p>
        </p:txBody>
      </p:sp>
      <p:pic>
        <p:nvPicPr>
          <p:cNvPr id="1026" name="Picture 2" descr="Schema of communication as transmission. | Download Scientific Diagram">
            <a:extLst>
              <a:ext uri="{FF2B5EF4-FFF2-40B4-BE49-F238E27FC236}">
                <a16:creationId xmlns:a16="http://schemas.microsoft.com/office/drawing/2014/main" id="{7E4ACCFD-DDE2-4C46-94B0-84BF72A48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406" y="1747653"/>
            <a:ext cx="9383188" cy="4210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979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E822A7-0488-43C3-86C3-D84AF159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předáváme informace?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333335-402C-43F0-851A-C6E65F496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Informací předáváme nějaké sdělení</a:t>
            </a:r>
          </a:p>
        </p:txBody>
      </p:sp>
      <p:pic>
        <p:nvPicPr>
          <p:cNvPr id="2050" name="Picture 2" descr="Opinion: Talking less, listening more - NewsTimes">
            <a:extLst>
              <a:ext uri="{FF2B5EF4-FFF2-40B4-BE49-F238E27FC236}">
                <a16:creationId xmlns:a16="http://schemas.microsoft.com/office/drawing/2014/main" id="{704B1EB3-AF9B-4505-8F6C-E5F5A3C59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733675"/>
            <a:ext cx="5410200" cy="2905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100+ Pixel Pictures &amp; Images [HD] | Download Free Photos on Unsplash">
            <a:extLst>
              <a:ext uri="{FF2B5EF4-FFF2-40B4-BE49-F238E27FC236}">
                <a16:creationId xmlns:a16="http://schemas.microsoft.com/office/drawing/2014/main" id="{ED4A1048-3DCB-46D5-9EF5-273105CBA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99" y="211137"/>
            <a:ext cx="3228975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w to Understand Binary Code - Instructables">
            <a:extLst>
              <a:ext uri="{FF2B5EF4-FFF2-40B4-BE49-F238E27FC236}">
                <a16:creationId xmlns:a16="http://schemas.microsoft.com/office/drawing/2014/main" id="{7E541484-BDD2-45E1-AFF1-BA933909C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629024"/>
            <a:ext cx="4572000" cy="275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323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nline médium 7" title="What is Information Theory? (Information Entropy)">
            <a:hlinkClick r:id="" action="ppaction://media"/>
            <a:extLst>
              <a:ext uri="{FF2B5EF4-FFF2-40B4-BE49-F238E27FC236}">
                <a16:creationId xmlns:a16="http://schemas.microsoft.com/office/drawing/2014/main" id="{B53AE50E-940A-453E-A414-8BD4D670953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99533" y="280987"/>
            <a:ext cx="11192933" cy="62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39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E822A7-0488-43C3-86C3-D84AF159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informace</a:t>
            </a:r>
          </a:p>
        </p:txBody>
      </p:sp>
      <p:pic>
        <p:nvPicPr>
          <p:cNvPr id="3074" name="Picture 2" descr="off and on - Liberal Dictionary">
            <a:extLst>
              <a:ext uri="{FF2B5EF4-FFF2-40B4-BE49-F238E27FC236}">
                <a16:creationId xmlns:a16="http://schemas.microsoft.com/office/drawing/2014/main" id="{C93B1E56-8952-443A-BC29-DFCF949BF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154490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036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E822A7-0488-43C3-86C3-D84AF159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333335-402C-43F0-851A-C6E65F496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1/0 = zapnuto/vypnuto, ano/ne, pravda/nepravda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bitů = 1 Byte / Bajt (B)</a:t>
            </a:r>
          </a:p>
          <a:p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00F0E682-343D-443E-939B-FF31C1152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0953" y="2181225"/>
            <a:ext cx="1751446" cy="215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206DB83F-7276-45AF-96EF-724997376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74" y="4467225"/>
            <a:ext cx="3438525" cy="171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1A428D27-C3D6-4D1D-874F-9D80903DD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1789" y="2475839"/>
            <a:ext cx="1180565" cy="1906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96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3FB3993F-4AF3-4754-9E8D-18D3B406E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5" y="114300"/>
            <a:ext cx="11440369" cy="6629400"/>
          </a:xfrm>
          <a:prstGeom prst="rect">
            <a:avLst/>
          </a:prstGeom>
        </p:spPr>
      </p:pic>
      <p:sp>
        <p:nvSpPr>
          <p:cNvPr id="5" name="Nadpis 1">
            <a:extLst>
              <a:ext uri="{FF2B5EF4-FFF2-40B4-BE49-F238E27FC236}">
                <a16:creationId xmlns:a16="http://schemas.microsoft.com/office/drawing/2014/main" id="{308C8BDB-A2E4-4610-9351-548100EF7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Dvojková binární soustava</a:t>
            </a:r>
          </a:p>
        </p:txBody>
      </p:sp>
    </p:spTree>
    <p:extLst>
      <p:ext uri="{BB962C8B-B14F-4D97-AF65-F5344CB8AC3E}">
        <p14:creationId xmlns:p14="http://schemas.microsoft.com/office/powerpoint/2010/main" val="2725366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83C09E-58E9-4130-A447-FA1EBE9A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uložit text pomocí znaků?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59FDC2-9504-4FA0-9308-68CC69F4A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„šifrovací“ tabulky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znakové sady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/>
          </a:p>
        </p:txBody>
      </p:sp>
      <p:pic>
        <p:nvPicPr>
          <p:cNvPr id="2050" name="Picture 2" descr="Informatika na Gymnáziu a Jazykové škole s právem státní jazykové zkoušky  Zlín">
            <a:extLst>
              <a:ext uri="{FF2B5EF4-FFF2-40B4-BE49-F238E27FC236}">
                <a16:creationId xmlns:a16="http://schemas.microsoft.com/office/drawing/2014/main" id="{46A1F5E9-5AF0-44FB-A32E-96EEBAA12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608" y="2271389"/>
            <a:ext cx="8312783" cy="4493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9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83C09E-58E9-4130-A447-FA1EBE9A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Znakové sady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59FDC2-9504-4FA0-9308-68CC69F4A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Původně 7 bitů = 1 znak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Kolik znaků obsahovala?</a:t>
            </a:r>
          </a:p>
          <a:p>
            <a:pPr lvl="2"/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cs-CZ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128</a:t>
            </a:r>
            <a:endParaRPr lang="cs-CZ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cs-C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znaků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Později 8 bitů – 1 Byte = 1 znak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Kolik znaků obsahovala?</a:t>
            </a:r>
          </a:p>
          <a:p>
            <a:pPr lvl="2"/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cs-CZ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256</a:t>
            </a:r>
            <a:endParaRPr lang="cs-CZ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cs-C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znaků</a:t>
            </a:r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Výpis znaků ASCII v C++ | PCDAYS Magazine">
            <a:extLst>
              <a:ext uri="{FF2B5EF4-FFF2-40B4-BE49-F238E27FC236}">
                <a16:creationId xmlns:a16="http://schemas.microsoft.com/office/drawing/2014/main" id="{716CEAD2-AB42-49AE-93BF-3C2EDBA35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0037" y="775795"/>
            <a:ext cx="6335682" cy="5717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72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E822A7-0488-43C3-86C3-D84AF159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Znakové sady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333335-402C-43F0-851A-C6E65F496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Unicode 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(UTF-8)</a:t>
            </a:r>
            <a:endParaRPr lang="cs-CZ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Problém s ASCII – málo znaků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Unicode 1–4 B (32 bitů)</a:t>
            </a:r>
          </a:p>
          <a:p>
            <a:pPr lvl="2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Kolik se dá zakódovat znaků?</a:t>
            </a:r>
          </a:p>
          <a:p>
            <a:pPr lvl="1"/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Utf8 Character Set Table &amp; A Selection Of Unicode Code Points Viewed In  Firefox Sc 1 St Smashing Magazine">
            <a:extLst>
              <a:ext uri="{FF2B5EF4-FFF2-40B4-BE49-F238E27FC236}">
                <a16:creationId xmlns:a16="http://schemas.microsoft.com/office/drawing/2014/main" id="{DEBC772B-BA20-44CB-AF04-CCACC0B06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564" y="571500"/>
            <a:ext cx="523875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969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C0DD81-AC09-4BE5-96E5-DCED167D7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Napiš slovo „Ahoj“ v binárním kódu</a:t>
            </a:r>
            <a:endParaRPr lang="cs-CZ" dirty="0"/>
          </a:p>
        </p:txBody>
      </p:sp>
      <p:pic>
        <p:nvPicPr>
          <p:cNvPr id="4" name="Picture 2" descr="Informatika na Gymnáziu a Jazykové škole s právem státní jazykové zkoušky  Zlín">
            <a:extLst>
              <a:ext uri="{FF2B5EF4-FFF2-40B4-BE49-F238E27FC236}">
                <a16:creationId xmlns:a16="http://schemas.microsoft.com/office/drawing/2014/main" id="{C7D5F38B-AB1F-408A-B7D6-3579EEAA8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399" y="1308162"/>
            <a:ext cx="10267201" cy="554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03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C0DD81-AC09-4BE5-96E5-DCED167D7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Napiš slovo „Ahoj“ v binárním kódu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D17290AA-B4AD-45A0-AA02-C678EC18C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Najít písmena v ASCII tabulce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65, h = 104, o = 111, j = 106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Převést každé decimální číslo do binárního kódu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 = 01000001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104 = 01101000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 = 01101111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106 = 01101010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Pomáhá si napsat tahák násobků</a:t>
            </a:r>
          </a:p>
        </p:txBody>
      </p:sp>
    </p:spTree>
    <p:extLst>
      <p:ext uri="{BB962C8B-B14F-4D97-AF65-F5344CB8AC3E}">
        <p14:creationId xmlns:p14="http://schemas.microsoft.com/office/powerpoint/2010/main" val="78128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E822A7-0488-43C3-86C3-D84AF159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se data zapisovala…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333335-402C-43F0-851A-C6E65F496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Nějaké základní jednotky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kilo 	= 1 000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Mega 	= 1 000 000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Giga 	= 1 000 000 000</a:t>
            </a:r>
          </a:p>
          <a:p>
            <a:pPr lvl="1"/>
            <a:r>
              <a:rPr lang="cs-CZ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Tera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= 1 000 000 000 000</a:t>
            </a:r>
          </a:p>
          <a:p>
            <a:pPr lvl="1"/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Kapacita médií: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CD = cca 700 MB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DVD = cca 4,7 GB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25F4894-4DAC-4532-B8E2-2B8DB26AB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173" y="1806574"/>
            <a:ext cx="5984991" cy="232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E2081EDF-C1CC-4AD8-9B36-6D6B01A29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132" y="4251322"/>
            <a:ext cx="4791075" cy="252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67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E822A7-0488-43C3-86C3-D84AF159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Není kilo jako kilo…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333335-402C-43F0-851A-C6E65F496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technický důvodů je velikost pamětí u počítačů  násobkem nějaké mocniny dvou (binární předpony)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KB = 1 · 2</a:t>
            </a:r>
            <a:r>
              <a:rPr lang="cs-CZ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1 024 B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MB = 1 · 2</a:t>
            </a:r>
            <a:r>
              <a:rPr lang="cs-CZ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 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1 048 576 B 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GB = 1 · 2</a:t>
            </a:r>
            <a:r>
              <a:rPr lang="cs-CZ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1 073 741 824 B</a:t>
            </a:r>
          </a:p>
          <a:p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např: 64 KB = 64 · 2</a:t>
            </a:r>
            <a:r>
              <a:rPr lang="cs-CZ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64 · 1 024 = 65 536 B</a:t>
            </a:r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98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E822A7-0488-43C3-86C3-D84AF159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Není kilo jako kilo…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333335-402C-43F0-851A-C6E65F496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určování velikosti pomocí binárních předpon nedodržují všichni (např. výrobci úložišť – SSD, HDD, flashdisků) 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velikost udávají pomocí dekadických předpon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kB = 1 · 10</a:t>
            </a:r>
            <a:r>
              <a:rPr lang="cs-CZ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1 000 B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MB = 1 · 10</a:t>
            </a:r>
            <a:r>
              <a:rPr lang="cs-CZ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1 000 000 B 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GB = 1 · 10</a:t>
            </a:r>
            <a:r>
              <a:rPr lang="cs-CZ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1 000 000 000 B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operační systém (OS) to správně přepočítá = na každý GB s binární předponou mu cca 74 milionů B chybí!</a:t>
            </a:r>
          </a:p>
          <a:p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750 GB =750 000 000 000 / 1024 / 1024 / 1024 = 698,4 GB</a:t>
            </a:r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99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E822A7-0488-43C3-86C3-D84AF159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Kibibyty</a:t>
            </a:r>
            <a:r>
              <a:rPr lang="cs-CZ" sz="480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cs-CZ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333335-402C-43F0-851A-C6E65F496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 r. 1998 je možné používat nové značení, aby k těmto zmatkům nedocházelo, používá pouze binární předpony</a:t>
            </a: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Kibibyte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KiB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1 024      2</a:t>
            </a:r>
            <a:r>
              <a:rPr lang="cs-CZ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Mebibyte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MiB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1 048 576      2</a:t>
            </a:r>
            <a:r>
              <a:rPr lang="cs-CZ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Gibibyte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GiB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1 073 741 824      2</a:t>
            </a:r>
            <a:r>
              <a:rPr lang="cs-CZ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Tebibyte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TiB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1 099 511 627 776      2</a:t>
            </a:r>
            <a:r>
              <a:rPr lang="cs-CZ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85880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E822A7-0488-43C3-86C3-D84AF159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Hexadecimální kódování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333335-402C-43F0-851A-C6E65F496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Proč nějaký další kódování?</a:t>
            </a:r>
          </a:p>
          <a:p>
            <a:pPr lvl="1"/>
            <a:r>
              <a:rPr lang="cs-CZ" sz="2800">
                <a:latin typeface="Times New Roman" panose="02020603050405020304" pitchFamily="18" charset="0"/>
                <a:cs typeface="Times New Roman" panose="02020603050405020304" pitchFamily="18" charset="0"/>
              </a:rPr>
              <a:t>Zápis barev 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HTML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 adresy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IPv6 (IPv4 nestačily adresy)</a:t>
            </a:r>
          </a:p>
          <a:p>
            <a:pPr lvl="1"/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to kratší…</a:t>
            </a:r>
          </a:p>
        </p:txBody>
      </p:sp>
      <p:pic>
        <p:nvPicPr>
          <p:cNvPr id="1028" name="Picture 4" descr="3. Uses of Hex (HTML/MAC/debugging)">
            <a:extLst>
              <a:ext uri="{FF2B5EF4-FFF2-40B4-BE49-F238E27FC236}">
                <a16:creationId xmlns:a16="http://schemas.microsoft.com/office/drawing/2014/main" id="{4ACAE5E3-F986-4A91-A6FE-DCECAB7B1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75" y="1690688"/>
            <a:ext cx="5162550" cy="4860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85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E822A7-0488-43C3-86C3-D84AF159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Hexadecimální kódování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333335-402C-43F0-851A-C6E65F496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Binární soustava – 0–1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Decimální soustava – 0–9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Hexadecimální soustava – 0–F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A–F znamenají 10–15</a:t>
            </a:r>
          </a:p>
          <a:p>
            <a:pPr lvl="1"/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Převod jako binární, akorát místo mocnin 2 se mocní16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3F7 = 3*16</a:t>
            </a:r>
            <a:r>
              <a:rPr lang="cs-CZ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+ 15*16</a:t>
            </a:r>
            <a:r>
              <a:rPr lang="cs-CZ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+ 7*16</a:t>
            </a:r>
            <a:r>
              <a:rPr lang="cs-CZ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1015</a:t>
            </a:r>
          </a:p>
        </p:txBody>
      </p:sp>
    </p:spTree>
    <p:extLst>
      <p:ext uri="{BB962C8B-B14F-4D97-AF65-F5344CB8AC3E}">
        <p14:creationId xmlns:p14="http://schemas.microsoft.com/office/powerpoint/2010/main" val="125224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91537A-6B1E-4707-B59C-1095864E8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525" y="22415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graphicFrame>
        <p:nvGraphicFramePr>
          <p:cNvPr id="4" name="Tabulka 3">
            <a:extLst>
              <a:ext uri="{FF2B5EF4-FFF2-40B4-BE49-F238E27FC236}">
                <a16:creationId xmlns:a16="http://schemas.microsoft.com/office/drawing/2014/main" id="{17BE8171-C242-4723-B389-8E02A70B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555425"/>
              </p:ext>
            </p:extLst>
          </p:nvPr>
        </p:nvGraphicFramePr>
        <p:xfrm>
          <a:off x="1506700" y="643467"/>
          <a:ext cx="9178601" cy="557106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48534">
                  <a:extLst>
                    <a:ext uri="{9D8B030D-6E8A-4147-A177-3AD203B41FA5}">
                      <a16:colId xmlns:a16="http://schemas.microsoft.com/office/drawing/2014/main" val="118689625"/>
                    </a:ext>
                  </a:extLst>
                </a:gridCol>
                <a:gridCol w="2309000">
                  <a:extLst>
                    <a:ext uri="{9D8B030D-6E8A-4147-A177-3AD203B41FA5}">
                      <a16:colId xmlns:a16="http://schemas.microsoft.com/office/drawing/2014/main" val="4200414563"/>
                    </a:ext>
                  </a:extLst>
                </a:gridCol>
                <a:gridCol w="4021067">
                  <a:extLst>
                    <a:ext uri="{9D8B030D-6E8A-4147-A177-3AD203B41FA5}">
                      <a16:colId xmlns:a16="http://schemas.microsoft.com/office/drawing/2014/main" val="3995493397"/>
                    </a:ext>
                  </a:extLst>
                </a:gridCol>
              </a:tblGrid>
              <a:tr h="104406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4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Desítková</a:t>
                      </a:r>
                    </a:p>
                  </a:txBody>
                  <a:tcPr marL="0" marR="94779" marT="48941" marB="2447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4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Binární</a:t>
                      </a:r>
                    </a:p>
                  </a:txBody>
                  <a:tcPr marL="0" marR="94779" marT="48941" marB="2447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43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Hexadecimální</a:t>
                      </a:r>
                    </a:p>
                  </a:txBody>
                  <a:tcPr marL="0" marR="94779" marT="48941" marB="2447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242057"/>
                  </a:ext>
                </a:extLst>
              </a:tr>
              <a:tr h="9054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1100101 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cs-CZ" sz="3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127371"/>
                  </a:ext>
                </a:extLst>
              </a:tr>
              <a:tr h="9054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FE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145073"/>
                  </a:ext>
                </a:extLst>
              </a:tr>
              <a:tr h="9054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12  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cs-CZ" sz="3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cs-CZ" sz="3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959885"/>
                  </a:ext>
                </a:extLst>
              </a:tr>
              <a:tr h="9054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cs-CZ" sz="3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10101111 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cs-CZ" sz="3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318118"/>
                  </a:ext>
                </a:extLst>
              </a:tr>
              <a:tr h="9054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174 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cs-CZ" sz="32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760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473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91537A-6B1E-4707-B59C-1095864E8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525" y="22415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graphicFrame>
        <p:nvGraphicFramePr>
          <p:cNvPr id="4" name="Tabulka 3">
            <a:extLst>
              <a:ext uri="{FF2B5EF4-FFF2-40B4-BE49-F238E27FC236}">
                <a16:creationId xmlns:a16="http://schemas.microsoft.com/office/drawing/2014/main" id="{17BE8171-C242-4723-B389-8E02A70B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41815"/>
              </p:ext>
            </p:extLst>
          </p:nvPr>
        </p:nvGraphicFramePr>
        <p:xfrm>
          <a:off x="1506700" y="643467"/>
          <a:ext cx="9178601" cy="557106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48534">
                  <a:extLst>
                    <a:ext uri="{9D8B030D-6E8A-4147-A177-3AD203B41FA5}">
                      <a16:colId xmlns:a16="http://schemas.microsoft.com/office/drawing/2014/main" val="118689625"/>
                    </a:ext>
                  </a:extLst>
                </a:gridCol>
                <a:gridCol w="2309000">
                  <a:extLst>
                    <a:ext uri="{9D8B030D-6E8A-4147-A177-3AD203B41FA5}">
                      <a16:colId xmlns:a16="http://schemas.microsoft.com/office/drawing/2014/main" val="4200414563"/>
                    </a:ext>
                  </a:extLst>
                </a:gridCol>
                <a:gridCol w="4021067">
                  <a:extLst>
                    <a:ext uri="{9D8B030D-6E8A-4147-A177-3AD203B41FA5}">
                      <a16:colId xmlns:a16="http://schemas.microsoft.com/office/drawing/2014/main" val="3995493397"/>
                    </a:ext>
                  </a:extLst>
                </a:gridCol>
              </a:tblGrid>
              <a:tr h="104406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4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Desítková</a:t>
                      </a:r>
                    </a:p>
                  </a:txBody>
                  <a:tcPr marL="0" marR="94779" marT="48941" marB="2447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4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Binární</a:t>
                      </a:r>
                    </a:p>
                  </a:txBody>
                  <a:tcPr marL="0" marR="94779" marT="48941" marB="2447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4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Hexadecimální</a:t>
                      </a:r>
                    </a:p>
                  </a:txBody>
                  <a:tcPr marL="0" marR="94779" marT="48941" marB="2447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242057"/>
                  </a:ext>
                </a:extLst>
              </a:tr>
              <a:tr h="9054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101 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1100101 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65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127371"/>
                  </a:ext>
                </a:extLst>
              </a:tr>
              <a:tr h="9054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254 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11111110 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FE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145073"/>
                  </a:ext>
                </a:extLst>
              </a:tr>
              <a:tr h="9054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 </a:t>
                      </a: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00001100 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959885"/>
                  </a:ext>
                </a:extLst>
              </a:tr>
              <a:tr h="9054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175 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10101111 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AF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318118"/>
                  </a:ext>
                </a:extLst>
              </a:tr>
              <a:tr h="9054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174 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10101110</a:t>
                      </a: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3200" b="0" i="0" u="none" strike="noStrike" cap="none" spc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AE</a:t>
                      </a:r>
                    </a:p>
                  </a:txBody>
                  <a:tcPr marL="0" marR="94779" marT="73411" marB="244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760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52623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533</Words>
  <Application>Microsoft Office PowerPoint</Application>
  <PresentationFormat>Širokoúhlá obrazovka</PresentationFormat>
  <Paragraphs>113</Paragraphs>
  <Slides>19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Motiv Office</vt:lpstr>
      <vt:lpstr>Informace</vt:lpstr>
      <vt:lpstr>Jak předáváme informace?</vt:lpstr>
      <vt:lpstr>Prezentace aplikace PowerPoint</vt:lpstr>
      <vt:lpstr>Základní informace</vt:lpstr>
      <vt:lpstr>Bit</vt:lpstr>
      <vt:lpstr>Dvojková binární soustava</vt:lpstr>
      <vt:lpstr>Jak uložit text pomocí znaků?</vt:lpstr>
      <vt:lpstr>Znakové sady</vt:lpstr>
      <vt:lpstr>Znakové sady</vt:lpstr>
      <vt:lpstr>Napiš slovo „Ahoj“ v binárním kódu</vt:lpstr>
      <vt:lpstr>Napiš slovo „Ahoj“ v binárním kódu</vt:lpstr>
      <vt:lpstr>Jak se data zapisovala…</vt:lpstr>
      <vt:lpstr>Není kilo jako kilo…</vt:lpstr>
      <vt:lpstr>Není kilo jako kilo…</vt:lpstr>
      <vt:lpstr>Kibibyty…</vt:lpstr>
      <vt:lpstr>Hexadecimální kódování</vt:lpstr>
      <vt:lpstr>Hexadecimální kódování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Informace</dc:title>
  <dc:creator>Mottl Jan</dc:creator>
  <cp:lastModifiedBy>Mottl Jan</cp:lastModifiedBy>
  <cp:revision>5</cp:revision>
  <dcterms:created xsi:type="dcterms:W3CDTF">2020-09-13T12:20:28Z</dcterms:created>
  <dcterms:modified xsi:type="dcterms:W3CDTF">2021-09-13T16:13:25Z</dcterms:modified>
</cp:coreProperties>
</file>