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4" r:id="rId19"/>
    <p:sldId id="293" r:id="rId20"/>
    <p:sldId id="295" r:id="rId21"/>
    <p:sldId id="296" r:id="rId22"/>
    <p:sldId id="297" r:id="rId23"/>
    <p:sldId id="298" r:id="rId24"/>
    <p:sldId id="299" r:id="rId25"/>
    <p:sldId id="301" r:id="rId26"/>
    <p:sldId id="300" r:id="rId27"/>
    <p:sldId id="303" r:id="rId28"/>
    <p:sldId id="304" r:id="rId29"/>
    <p:sldId id="305" r:id="rId30"/>
    <p:sldId id="306" r:id="rId31"/>
    <p:sldId id="307" r:id="rId32"/>
    <p:sldId id="308" r:id="rId33"/>
    <p:sldId id="310" r:id="rId34"/>
    <p:sldId id="309" r:id="rId35"/>
    <p:sldId id="311" r:id="rId36"/>
    <p:sldId id="312" r:id="rId37"/>
    <p:sldId id="314" r:id="rId38"/>
    <p:sldId id="315" r:id="rId39"/>
    <p:sldId id="316" r:id="rId4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4AEA209-C073-45F3-BD96-6C1F3A63D139}">
          <p14:sldIdLst>
            <p14:sldId id="25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4"/>
            <p14:sldId id="293"/>
            <p14:sldId id="295"/>
            <p14:sldId id="296"/>
            <p14:sldId id="297"/>
            <p14:sldId id="298"/>
            <p14:sldId id="299"/>
            <p14:sldId id="301"/>
            <p14:sldId id="300"/>
            <p14:sldId id="303"/>
            <p14:sldId id="304"/>
            <p14:sldId id="305"/>
            <p14:sldId id="306"/>
            <p14:sldId id="307"/>
            <p14:sldId id="308"/>
            <p14:sldId id="310"/>
            <p14:sldId id="309"/>
            <p14:sldId id="311"/>
            <p14:sldId id="312"/>
            <p14:sldId id="314"/>
            <p14:sldId id="315"/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7" d="100"/>
          <a:sy n="87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13.06.2021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13.06.2021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13.06.2021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13.06.2021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13.06.2021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13.06.2021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13.06.2021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13.06.2021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13.06.2021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13.06.2021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13.06.2021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13.06.2021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1Ke-H8I1uk?feature=oembe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Rck3BALhI5c?feature=oembed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DrUUqHsy0k?start=1&amp;feature=oembed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Počítačové sítě</a:t>
            </a:r>
          </a:p>
        </p:txBody>
      </p:sp>
      <p:pic>
        <p:nvPicPr>
          <p:cNvPr id="1028" name="Picture 4" descr="What are the Most Common Computer Network Problems? - Ophtek">
            <a:extLst>
              <a:ext uri="{FF2B5EF4-FFF2-40B4-BE49-F238E27FC236}">
                <a16:creationId xmlns:a16="http://schemas.microsoft.com/office/drawing/2014/main" id="{1EA57911-8302-43CD-8978-885C3812C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120" y="1698101"/>
            <a:ext cx="6402667" cy="48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Nadpis 1">
            <a:extLst>
              <a:ext uri="{FF2B5EF4-FFF2-40B4-BE49-F238E27FC236}">
                <a16:creationId xmlns:a16="http://schemas.microsoft.com/office/drawing/2014/main" id="{E13FF00A-8432-4F2D-98CC-93C9720D3B29}"/>
              </a:ext>
            </a:extLst>
          </p:cNvPr>
          <p:cNvSpPr txBox="1">
            <a:spLocks/>
          </p:cNvSpPr>
          <p:nvPr/>
        </p:nvSpPr>
        <p:spPr>
          <a:xfrm>
            <a:off x="1524000" y="5989638"/>
            <a:ext cx="9144000" cy="8683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Inspirace prezentace Mgr. Koutek</a:t>
            </a:r>
          </a:p>
        </p:txBody>
      </p:sp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je síť?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Spojení 2 či více počítačů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čemu to je dobré?</a:t>
            </a:r>
          </a:p>
        </p:txBody>
      </p:sp>
      <p:pic>
        <p:nvPicPr>
          <p:cNvPr id="2052" name="Picture 4" descr="TOPIC 1 : INTRODUCTION OF COMPUTER NETWORK | Oh My Network~~">
            <a:extLst>
              <a:ext uri="{FF2B5EF4-FFF2-40B4-BE49-F238E27FC236}">
                <a16:creationId xmlns:a16="http://schemas.microsoft.com/office/drawing/2014/main" id="{437C2954-AFDE-4806-9C84-4D51AF0C1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094" y="1864846"/>
            <a:ext cx="6170705" cy="462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Typy sítí dle rozlehlosti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Network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stát, kontinent, svět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pronajatá kabeláž, optický kabel, satelit,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Metropolitant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Network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území města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wifi, ethernet (optický kabel)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Network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místnost, budova, až několik budov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 (metalická kabeláž), wifi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Network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například mobil a PC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nejčastěji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bluetooth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USB</a:t>
            </a:r>
          </a:p>
        </p:txBody>
      </p:sp>
      <p:pic>
        <p:nvPicPr>
          <p:cNvPr id="3074" name="Picture 2" descr="Understanding connectivity for “Internet Of Things”">
            <a:extLst>
              <a:ext uri="{FF2B5EF4-FFF2-40B4-BE49-F238E27FC236}">
                <a16:creationId xmlns:a16="http://schemas.microsoft.com/office/drawing/2014/main" id="{6099B575-3AC0-4B86-AEBE-37804F544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908" y="2985593"/>
            <a:ext cx="4618891" cy="3191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1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Typy sítí dle technologie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spojení počítačů pomocí kabelu (optická / metalická kabeláž)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bezdrátové spojení zařízení na větší vzdálenosti (různé frekvence a technologie)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bezdrátové spojení různých zařízení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Sítě mobilních operátorů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LTE, 4G, 5G,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Různé průmyslové sítě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průmyslových provozech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specifické účely s různými požadavky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např. pro čidla, ovládání motorů, …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sítě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zařízení Internet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Portable HiFi – best wifi music receivers review">
            <a:extLst>
              <a:ext uri="{FF2B5EF4-FFF2-40B4-BE49-F238E27FC236}">
                <a16:creationId xmlns:a16="http://schemas.microsoft.com/office/drawing/2014/main" id="{3BD6F250-7AF2-4C24-ACED-4323A71A9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026" y="3820391"/>
            <a:ext cx="4566773" cy="2356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6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Struktura sítě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komponenty / hardware / kabeláž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připojené počítače a zařízení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kabeláž, spoje (datové linky, kanály)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aktivní prvky (router, switch, přístupový bod, …)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topologie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vzájemné uspořádání komponent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12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Topologie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7410174C-03BD-46C0-A9AA-0DF12B6F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634" y="1525823"/>
            <a:ext cx="9070731" cy="503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013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Kabeláž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Kabelová síť =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Kroucená dvojlinka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Optický kabel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Kroucená dvoulinka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metalická kabeláž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RJ-45 koncovka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Krátká vzdálenost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Optická kabeláž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Světlo = informace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Dlouhá vzdálenost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KROUCENÁ DVOULINKA UTP/K5/305/HTG - UTP, FTP kabely - Delta">
            <a:extLst>
              <a:ext uri="{FF2B5EF4-FFF2-40B4-BE49-F238E27FC236}">
                <a16:creationId xmlns:a16="http://schemas.microsoft.com/office/drawing/2014/main" id="{F0D176EB-5667-4269-9C84-418391AEC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630" y="365125"/>
            <a:ext cx="3686922" cy="239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řenos dat v počítačových sítích">
            <a:extLst>
              <a:ext uri="{FF2B5EF4-FFF2-40B4-BE49-F238E27FC236}">
                <a16:creationId xmlns:a16="http://schemas.microsoft.com/office/drawing/2014/main" id="{E8B40BA5-A301-4860-939D-89C35E42D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255" y="681037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Supermicro CBL-SFP+AOC-3M, 3M 10GbE SFP+ TO SFP+ Fiber Active Optical Cable  (AOC),RoHS | smicro.cz">
            <a:extLst>
              <a:ext uri="{FF2B5EF4-FFF2-40B4-BE49-F238E27FC236}">
                <a16:creationId xmlns:a16="http://schemas.microsoft.com/office/drawing/2014/main" id="{4259C1D3-BC0B-4EBD-B5FA-722487140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251" y="3278677"/>
            <a:ext cx="4248727" cy="318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65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Optický kabel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4B8A767-0CCD-4EFE-973B-C7B1C896A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73" y="2011272"/>
            <a:ext cx="5368636" cy="4336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>
            <a:extLst>
              <a:ext uri="{FF2B5EF4-FFF2-40B4-BE49-F238E27FC236}">
                <a16:creationId xmlns:a16="http://schemas.microsoft.com/office/drawing/2014/main" id="{AD2A8FB0-1EF8-47ED-96F1-41E6A7229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39143"/>
            <a:ext cx="5671127" cy="540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452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Optický kabel</a:t>
            </a:r>
          </a:p>
        </p:txBody>
      </p:sp>
      <p:pic>
        <p:nvPicPr>
          <p:cNvPr id="3" name="Online médium 2" title="How Does LIGHT Carry Data? - Fiber Optics Explained">
            <a:hlinkClick r:id="" action="ppaction://media"/>
            <a:extLst>
              <a:ext uri="{FF2B5EF4-FFF2-40B4-BE49-F238E27FC236}">
                <a16:creationId xmlns:a16="http://schemas.microsoft.com/office/drawing/2014/main" id="{7A8396BC-FC62-4269-B19E-405F7161F4C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841806" y="1690688"/>
            <a:ext cx="8508388" cy="480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7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Optický kabel</a:t>
            </a:r>
          </a:p>
        </p:txBody>
      </p:sp>
      <p:pic>
        <p:nvPicPr>
          <p:cNvPr id="7170" name="Picture 2" descr="Animation: The Global Fiber Optic Network Explained">
            <a:extLst>
              <a:ext uri="{FF2B5EF4-FFF2-40B4-BE49-F238E27FC236}">
                <a16:creationId xmlns:a16="http://schemas.microsoft.com/office/drawing/2014/main" id="{B4C1E098-CD71-4B3C-8036-C813C4669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172" y="1690688"/>
            <a:ext cx="9335655" cy="488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473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Optický kabel</a:t>
            </a:r>
          </a:p>
        </p:txBody>
      </p:sp>
      <p:pic>
        <p:nvPicPr>
          <p:cNvPr id="8196" name="Picture 4" descr="Essay about Submarine Cables System - Fiber Transceiver Solution">
            <a:extLst>
              <a:ext uri="{FF2B5EF4-FFF2-40B4-BE49-F238E27FC236}">
                <a16:creationId xmlns:a16="http://schemas.microsoft.com/office/drawing/2014/main" id="{462267A9-E471-482F-80AE-35D6ACDD5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76977"/>
            <a:ext cx="6954917" cy="4115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Earthquake Detection: Undersea Fiber-Optic Cables as Acoustic Sensors">
            <a:extLst>
              <a:ext uri="{FF2B5EF4-FFF2-40B4-BE49-F238E27FC236}">
                <a16:creationId xmlns:a16="http://schemas.microsoft.com/office/drawing/2014/main" id="{8C970068-19DD-4B00-A7E2-CD0CF1739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070" y="339114"/>
            <a:ext cx="4237892" cy="282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090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Komponenty / Hardware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Síťová karta (NIC)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portem pro konektor RJ-45 /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(směrovač)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slouží ke spojení 2 sítí – tzv.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routování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například ke spojení lokální sítě s internetem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(přepínač)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když máte málo RJ-45 portů v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routru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pamatuje si, kde je jaký počítač/zařízení připojeno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funguje jako spojovatelka v rámci lokální sítě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1E5638-2EC9-4F5E-AB5E-F649E1264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3874" y="365125"/>
            <a:ext cx="2185721" cy="2462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82EC5E6-CDF5-477D-8B04-9F1046A09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0" y="4030297"/>
            <a:ext cx="6280727" cy="3532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8886AF5-1E0A-41FB-B3F1-EA8C19251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733" y="2893281"/>
            <a:ext cx="2733964" cy="2050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36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Komponenty / Hardware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33039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Modem = modulátor demodulátor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zařízení pro přenos digitálních dat pomocí analogové přenosové trasy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přenosová trasa může být telefonní linka, koaxiální kabel, radiový přenos, …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pokud umožňuje připojení více počítačů nazýváme ho routerem (např. ADSL router)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případě mobilních sítí – zařízení umožňující připojení do sítě daného typu (3G, 4G, …)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66A0200-B24D-4000-8C33-852888165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709" y="2630488"/>
            <a:ext cx="4114990" cy="274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361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</a:p>
        </p:txBody>
      </p:sp>
      <p:pic>
        <p:nvPicPr>
          <p:cNvPr id="3074" name="Picture 2" descr="Nová wifi v MZK | Moravian Library in Brno">
            <a:extLst>
              <a:ext uri="{FF2B5EF4-FFF2-40B4-BE49-F238E27FC236}">
                <a16:creationId xmlns:a16="http://schemas.microsoft.com/office/drawing/2014/main" id="{BC7C8CBB-B0F1-4CAE-9F66-971CB8A3F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755409"/>
            <a:ext cx="6096000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932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Výhody/Nevýhody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Výhody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rychlé pokrytí plochy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nejsou nutné stavební úpravy většího rozsahu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Nevýhody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pomalejší než Ethernet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větší chybovost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 data létají vzduchem › zabezpečení?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volná pásma bezdrátového přenosu již nestačí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71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Point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(AP, přístupový bod)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vysílá SSID (název wifi)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klienti se k němu připojují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obvykle potřebuje další aktivní prvek, aby síť mohla fungovat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dalšímu prvku je připojen kabelem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Wifi router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funguje jako AP, switch a router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poskytuje DHCP, DNS a je výchozí branou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755E601-54FD-4377-BA4F-9B58C431F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400" y="3521075"/>
            <a:ext cx="419100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1FC185BF-5C7F-4E1A-9694-0326193BD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0091" y="423033"/>
            <a:ext cx="2535309" cy="253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67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215C4C57-494F-449B-B82B-0BF3EBA98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18" y="1615004"/>
            <a:ext cx="5495865" cy="3627989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62AB0B30-5262-4506-8D29-828243702D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67"/>
          <a:stretch/>
        </p:blipFill>
        <p:spPr>
          <a:xfrm>
            <a:off x="6345118" y="1474725"/>
            <a:ext cx="5185874" cy="390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91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Nastavení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sítě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SSID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název sítě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šifrování provozu sítě: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WPA2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poskytuje zabezpečení sítě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bez znalosti klíče se do sítě nepřipojíte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jsou šifrována = ochrana proti odposlechu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Zabezpečení sítě?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Změnit heslo k síti i k administrativě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69F0934-1A02-4A39-AD24-7D57E2FB8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322" y="1556971"/>
            <a:ext cx="4151930" cy="1872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49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dostat data z A do B?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velký problém rozdělíme na menší problémy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vrstvy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menší problémy řešíme ve vrstvách odděleně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jednotlivá řešení menších problémů si vrstvy předávají podobně jako na výrobní lince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začátku základní díl (zpráva)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zaměstnanci (vrstvy) postupně přidávají obaly, jak jede díl po pásu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konci zpráva zabalená do několika vrstev obalů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postup lze i obrátit – postupně odstraňovat vrstvy obalů až získáme původní zprávu</a:t>
            </a:r>
          </a:p>
        </p:txBody>
      </p:sp>
    </p:spTree>
    <p:extLst>
      <p:ext uri="{BB962C8B-B14F-4D97-AF65-F5344CB8AC3E}">
        <p14:creationId xmlns:p14="http://schemas.microsoft.com/office/powerpoint/2010/main" val="4927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Vrstvy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síť organizována na úrovni vrstev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OSI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původní model má 7 vrstev, zjednodušen na 4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 vrstvě se pracuje dle určitých pravidel =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protokolu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16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FB18CE75-CA37-41A0-8AE4-B38FC9DFC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8" y="0"/>
            <a:ext cx="107746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949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B157FC71-B56A-4DD2-BA2E-1FC4064F7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10" y="0"/>
            <a:ext cx="106373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3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DBD0DBE3-F023-46FE-BDE4-6C4AC6799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27" y="0"/>
            <a:ext cx="106755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36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B37FE439-A843-4049-B3D3-C9F987C10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62" y="0"/>
            <a:ext cx="106972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79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080537-C12A-4F56-B25E-4BCE23FAA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49" y="0"/>
            <a:ext cx="106181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64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 adresa (fyzická adresa)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určuje zařízení v rámci LAN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přidělen síťové kartě při její výrobě, rodné číslo síťové karty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zapisuje se pomocí hexadecimálních číslic (48 bitů)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např. 01-23-45-67-89-ab / 01:23:45:67:89:ab / 0123.4567.89ab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první polovina přidělena výrobci (= dle MAC lze určit výrobce)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jedinečnost druhé poloviny zaručuje výrobce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40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adresa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jednoznačně určuje počítač v rámci sítě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zní určit zda PC do té či oné sítě patří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něco jako telefonní číslo počítače/zařízení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verze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IPv4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(např. 173.194.122.8)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IPv6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(např. 2001:0718:1c01:0016:0214:22ff:fec9:0ca5)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57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Síťové porty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čísla v rozsahu 1 až 65535 určující konkrétní aplikaci v rámci jednoho počítače/serveru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i UDP mají svůj nezávislý rozsah portů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píše se za IP a je oddělen dvojtečkou (IPv4)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např: 173.194.122.8: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serveru může být ve firewallu otevřeno více portů pro různé aplikace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je port webového serveru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58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>
            <a:extLst>
              <a:ext uri="{FF2B5EF4-FFF2-40B4-BE49-F238E27FC236}">
                <a16:creationId xmlns:a16="http://schemas.microsoft.com/office/drawing/2014/main" id="{9CB89BD4-2CF3-4BEB-A175-5643C37A5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51" y="0"/>
            <a:ext cx="103656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477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Některé protokoly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HTTP/HTTPS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přenos WWW stránek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FTP/FTPS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přenos souborů a práci s úložišti dat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IMAP, POP3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přijímání pošty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odesílání pošty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přenos balíčků dat (paketů), garantuje doručení i správné pořadí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negarantuje doručení ani správné pořadí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doručuje/směruje datagramy na základě IP adresy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Protokol DNS </a:t>
            </a:r>
            <a:r>
              <a:rPr lang="pl-PL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(Domain Name System)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překlad IP adres na doménové názvy a obráceně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člověka je IP těžko zapamatovatelná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jsou přiřazeny symbolické názvy (doménové)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překlad probíhá od domény 1. řádu (.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cz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překlad zajišťují DNS servery, které si dotaz předávají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kořenové DNS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národní domény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obecné domény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lokální DNS servery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(servery providerů</a:t>
            </a: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DB4FDB3-AB00-489D-9CF0-9E8DD0D69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4" y="4521200"/>
            <a:ext cx="40671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54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A20A23C8-C3C3-4742-8111-2F439DD3D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41" y="959827"/>
            <a:ext cx="10507117" cy="493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9784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édium 1" title="DNS as Fast As Possible">
            <a:hlinkClick r:id="" action="ppaction://media"/>
            <a:extLst>
              <a:ext uri="{FF2B5EF4-FFF2-40B4-BE49-F238E27FC236}">
                <a16:creationId xmlns:a16="http://schemas.microsoft.com/office/drawing/2014/main" id="{9E922BBA-48B0-4B19-8583-FD192A4D948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74965" y="648616"/>
            <a:ext cx="9842069" cy="556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5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Protokol DHCP </a:t>
            </a:r>
            <a:r>
              <a:rPr lang="pl-PL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(Dynamic Host Configuration Protocol)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služba/server poskytující automatické nastavení IP protokolu při připojení do sítě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přidělí zařízení IP adresu, masku / délku předpony sítě a DNS server(y)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zajišťuje, že je pro každé zařízení má unikátní IP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služba DHCP běží na serveru nebo routeru v síti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umožňuje rezervovat adresy pro konkrétní zařízení dle MAC adresy</a:t>
            </a: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60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Protokol DHCP </a:t>
            </a:r>
            <a:r>
              <a:rPr lang="pl-PL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(Dynamic Host Configuration Protocol)</a:t>
            </a:r>
            <a:endParaRPr lang="pl-PL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služba/server poskytující automatické nastavení IP protokolu při připojení do sítě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přidělí zařízení IP adresu, masku / délku předpony sítě a DNS server(y)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zajišťuje, že je pro každé zařízení má unikátní IP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služba DHCP běží na serveru nebo routeru v síti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umožňuje rezervovat adresy pro konkrétní zařízení dle MAC adresy</a:t>
            </a: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76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Uniform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Resource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Locator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předpis 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odkazu na zdroj (např. webovou stránku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Drátové technologie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Optický kabel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Kabelová TV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xDSL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(ADSL, VDSL…)</a:t>
            </a:r>
          </a:p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Bezdrátové technologie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Mobilní připojení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92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FUP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maximální objem dat, který je možné stáhnout za určité období (obvykle měsíc)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 se rychlost sníží na minimum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Agregace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sdílení rychlosti (kapacity) připojení více zákazníky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celková kapacita se dělí mezi zákazníky dle vytížení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např. agregace 1:20 na 20 Mbit/s = když budeme stahovat všichni najednou tak max. 1 Mbit/s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30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nline médium 7" title="History of the Internet (Historie Internetu - CZ titulky)">
            <a:hlinkClick r:id="" action="ppaction://media"/>
            <a:extLst>
              <a:ext uri="{FF2B5EF4-FFF2-40B4-BE49-F238E27FC236}">
                <a16:creationId xmlns:a16="http://schemas.microsoft.com/office/drawing/2014/main" id="{65199E3E-934C-4F8A-8771-1B0995AD480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81557" y="652340"/>
            <a:ext cx="9828885" cy="555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93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Příkazy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www.google.com 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odezva serveru, za jak dlouho mi odpoví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ipconfig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vypíše aktuální nastavení všech síťových adaptérů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tracert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www.google.com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trasování cesty paketů (dat) k serveru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70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2163</TotalTime>
  <Words>1129</Words>
  <Application>Microsoft Office PowerPoint</Application>
  <PresentationFormat>Širokoúhlá obrazovka</PresentationFormat>
  <Paragraphs>198</Paragraphs>
  <Slides>39</Slides>
  <Notes>0</Notes>
  <HiddenSlides>0</HiddenSlides>
  <MMClips>3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Times New Roman</vt:lpstr>
      <vt:lpstr>Motiv Office</vt:lpstr>
      <vt:lpstr>Počítačové sítě</vt:lpstr>
      <vt:lpstr>Co je síť?</vt:lpstr>
      <vt:lpstr>Typy sítí dle rozlehlosti</vt:lpstr>
      <vt:lpstr>Typy sítí dle technologie</vt:lpstr>
      <vt:lpstr>Struktura sítě</vt:lpstr>
      <vt:lpstr>Topologie</vt:lpstr>
      <vt:lpstr>Kabeláž</vt:lpstr>
      <vt:lpstr>Optický kabel</vt:lpstr>
      <vt:lpstr>Optický kabel</vt:lpstr>
      <vt:lpstr>Optický kabel</vt:lpstr>
      <vt:lpstr>Optický kabel</vt:lpstr>
      <vt:lpstr>Komponenty / Hardware</vt:lpstr>
      <vt:lpstr>Komponenty / Hardware</vt:lpstr>
      <vt:lpstr>WIFI</vt:lpstr>
      <vt:lpstr>Výhody/Nevýhody</vt:lpstr>
      <vt:lpstr>Hardware</vt:lpstr>
      <vt:lpstr>Prezentace aplikace PowerPoint</vt:lpstr>
      <vt:lpstr>Nastavení WiFi sítě</vt:lpstr>
      <vt:lpstr>Jak dostat data z A do B?</vt:lpstr>
      <vt:lpstr>Vrstvy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MAC adresa (fyzická adresa)</vt:lpstr>
      <vt:lpstr>IP adresa</vt:lpstr>
      <vt:lpstr>Síťové porty</vt:lpstr>
      <vt:lpstr>Prezentace aplikace PowerPoint</vt:lpstr>
      <vt:lpstr>Některé protokoly</vt:lpstr>
      <vt:lpstr>Protokol DNS (Domain Name System)</vt:lpstr>
      <vt:lpstr>Prezentace aplikace PowerPoint</vt:lpstr>
      <vt:lpstr>Prezentace aplikace PowerPoint</vt:lpstr>
      <vt:lpstr>Protokol DHCP (Dynamic Host Configuration Protocol)</vt:lpstr>
      <vt:lpstr>Protokol DHCP (Dynamic Host Configuration Protocol)</vt:lpstr>
      <vt:lpstr>Internet</vt:lpstr>
      <vt:lpstr>Internet</vt:lpstr>
      <vt:lpstr>Prezentace aplikace PowerPoint</vt:lpstr>
      <vt:lpstr>Příkazy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167</cp:revision>
  <dcterms:created xsi:type="dcterms:W3CDTF">2020-09-17T19:44:13Z</dcterms:created>
  <dcterms:modified xsi:type="dcterms:W3CDTF">2021-06-13T21:27:30Z</dcterms:modified>
</cp:coreProperties>
</file>