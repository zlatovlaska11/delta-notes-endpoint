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60" r:id="rId8"/>
    <p:sldId id="259" r:id="rId9"/>
    <p:sldId id="261" r:id="rId10"/>
    <p:sldId id="27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4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>
                <a:solidFill>
                  <a:schemeClr val="tx1"/>
                </a:solidFill>
              </a:rPr>
              <a:t>Telefony</a:t>
            </a:r>
            <a:endParaRPr lang="en-US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Všechna zařízení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27-4C20-BB94-C49F727D340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27-4C20-BB94-C49F727D340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27-4C20-BB94-C49F727D3408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&lt; </a:t>
                    </a:r>
                    <a:fld id="{C95632D9-3BDA-465D-AC3A-75289CEAC511}" type="VALUE">
                      <a:rPr lang="en-US" smtClean="0"/>
                      <a:pPr/>
                      <a:t>[HODNOTA]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D27-4C20-BB94-C49F727D34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List1!$A$2:$A$4</c:f>
              <c:strCache>
                <c:ptCount val="3"/>
                <c:pt idx="0">
                  <c:v>Android</c:v>
                </c:pt>
                <c:pt idx="1">
                  <c:v>iOS</c:v>
                </c:pt>
                <c:pt idx="2">
                  <c:v>Windows</c:v>
                </c:pt>
              </c:strCache>
            </c:strRef>
          </c:cat>
          <c:val>
            <c:numRef>
              <c:f>List1!$B$2:$B$4</c:f>
              <c:numCache>
                <c:formatCode>0%</c:formatCode>
                <c:ptCount val="3"/>
                <c:pt idx="0">
                  <c:v>0.71</c:v>
                </c:pt>
                <c:pt idx="1">
                  <c:v>0.28000000000000003</c:v>
                </c:pt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60-4CB3-94D6-A85FAA6D96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dirty="0">
                <a:solidFill>
                  <a:schemeClr val="tx1"/>
                </a:solidFill>
              </a:rPr>
              <a:t>Tablety</a:t>
            </a:r>
            <a:endParaRPr lang="en-US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Všechna zařízení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27-4C20-BB94-C49F727D340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27-4C20-BB94-C49F727D340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List1!$A$2:$A$3</c:f>
              <c:strCache>
                <c:ptCount val="2"/>
                <c:pt idx="0">
                  <c:v>Android</c:v>
                </c:pt>
                <c:pt idx="1">
                  <c:v>iOS</c:v>
                </c:pt>
              </c:strCache>
            </c:strRef>
          </c:cat>
          <c:val>
            <c:numRef>
              <c:f>List1!$B$2:$B$3</c:f>
              <c:numCache>
                <c:formatCode>0%</c:formatCode>
                <c:ptCount val="2"/>
                <c:pt idx="0">
                  <c:v>0.49</c:v>
                </c:pt>
                <c:pt idx="1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60-4CB3-94D6-A85FAA6D96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>
                <a:solidFill>
                  <a:schemeClr val="tx1"/>
                </a:solidFill>
              </a:rPr>
              <a:t>Všechna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zařízení</a:t>
            </a:r>
            <a:endParaRPr lang="en-US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List1!$B$1</c:f>
              <c:strCache>
                <c:ptCount val="1"/>
                <c:pt idx="0">
                  <c:v>Všechna zařízení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88-4D18-9B7F-199947CFEBF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88-4D18-9B7F-199947CFEBF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88-4D18-9B7F-199947CFEBF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88-4D18-9B7F-199947CFEBF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988-4D18-9B7F-199947CFEB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List1!$A$2:$A$6</c:f>
              <c:strCache>
                <c:ptCount val="5"/>
                <c:pt idx="0">
                  <c:v>Android</c:v>
                </c:pt>
                <c:pt idx="1">
                  <c:v>Windows</c:v>
                </c:pt>
                <c:pt idx="2">
                  <c:v>iOS</c:v>
                </c:pt>
                <c:pt idx="3">
                  <c:v>Mac</c:v>
                </c:pt>
                <c:pt idx="4">
                  <c:v>Linux</c:v>
                </c:pt>
              </c:strCache>
            </c:strRef>
          </c:cat>
          <c:val>
            <c:numRef>
              <c:f>List1!$B$2:$B$6</c:f>
              <c:numCache>
                <c:formatCode>0%</c:formatCode>
                <c:ptCount val="5"/>
                <c:pt idx="0">
                  <c:v>0.42</c:v>
                </c:pt>
                <c:pt idx="1">
                  <c:v>0.3</c:v>
                </c:pt>
                <c:pt idx="2">
                  <c:v>0.18</c:v>
                </c:pt>
                <c:pt idx="3">
                  <c:v>0.06</c:v>
                </c:pt>
                <c:pt idx="4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60-4CB3-94D6-A85FAA6D96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CDE6A-FAE5-4139-BA6B-4928C7BE562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70DAA-4660-4D79-9E5D-79DD4ED1F8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007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flowsoftware.marshmallowfilemanage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Android, jak ho asi všichni znáte je mobilní OS, používá ho většina mobilních telefonů různých značek, například Xiaomi,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Note</a:t>
            </a:r>
            <a:r>
              <a:rPr lang="cs-CZ" dirty="0"/>
              <a:t>, Samsung, Sony….</a:t>
            </a:r>
          </a:p>
          <a:p>
            <a:r>
              <a:rPr lang="cs-CZ" dirty="0"/>
              <a:t>Je založen na linuxovém jádru, to znamená, že je vydáván pod licencí, která umožňuje používat tento OS komerčně.</a:t>
            </a:r>
          </a:p>
          <a:p>
            <a:r>
              <a:rPr lang="cs-CZ" dirty="0"/>
              <a:t>Jedná se o Open source software, znamenaje že má otevřený zdrojový kód, který je tedy technicky dostupný a legálně upravitelný, to ale závisí i na licenci.</a:t>
            </a:r>
          </a:p>
          <a:p>
            <a:r>
              <a:rPr lang="cs-CZ" dirty="0"/>
              <a:t>Má v sobě doplněn software dle určité značky telefonu, ty už otevřené nejsou a obvykle je v mobilních telefonech budete mít předinstalované, dále pak podporuje </a:t>
            </a:r>
            <a:r>
              <a:rPr lang="cs-CZ" dirty="0" err="1"/>
              <a:t>google</a:t>
            </a:r>
            <a:r>
              <a:rPr lang="cs-CZ" dirty="0"/>
              <a:t> služby, kterými disponuje právě většina Android zařízení.</a:t>
            </a:r>
          </a:p>
          <a:p>
            <a:r>
              <a:rPr lang="cs-CZ" dirty="0"/>
              <a:t>Android neběží jen na mobilech, ale i na chytrých televizích a tabletech, takže se s ním setkáte i jinde.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3017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Takto byla propagována vůbec první verze androidu, tzv. Android 1.0 </a:t>
            </a:r>
            <a:r>
              <a:rPr lang="cs-CZ" dirty="0" err="1"/>
              <a:t>apple</a:t>
            </a:r>
            <a:r>
              <a:rPr lang="cs-CZ" dirty="0"/>
              <a:t> </a:t>
            </a:r>
            <a:r>
              <a:rPr lang="cs-CZ" dirty="0" err="1"/>
              <a:t>pie</a:t>
            </a:r>
            <a:r>
              <a:rPr lang="cs-CZ" dirty="0"/>
              <a:t>, vyšel 23. září 2008. Zas tolik toho neuměl, ale základy které dnes děláte na svém mobilu by zvládl,.</a:t>
            </a:r>
          </a:p>
          <a:p>
            <a:endParaRPr lang="cs-CZ" dirty="0"/>
          </a:p>
          <a:p>
            <a:r>
              <a:rPr lang="cs-CZ" dirty="0"/>
              <a:t>Společnost Android jako taková byla založena už v roce 2003, avšak zlom pro ni nastal v roce 2005 kdy ji odkoupil Google. Po odkupu se vyvinula právě platforma založena na linuxovém jádře a povedlo se získat několik partnerů, kteří pracovali na chytrých telefonech. </a:t>
            </a:r>
          </a:p>
          <a:p>
            <a:endParaRPr lang="cs-CZ" dirty="0"/>
          </a:p>
          <a:p>
            <a:r>
              <a:rPr lang="cs-CZ" dirty="0"/>
              <a:t>V říjnu roku 2008 byl na americký trh uveden první mobilní telefon právě s Android OS, jednalo se o T-mobile G1. V české republice byl uveden až další rok. V tom roce se taky zvětšil počet zařízení používajících Android asi na 20 různých, oproti dnešním dnům je to ale i tak dost málo,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1871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Tady můžete vidět fotku prvního zařízení, které bylo úspěšně distribuováno právě s android OS, moc se teda těm dnešním nepodobá, ale tak lidem to asi stačilo.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0604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Architektura tohoto OS je rozdělena do 5 vrstev, každá z těch vrstev má svůj účel a nemusí být přímo odděleny od zbylých vrstev.</a:t>
            </a: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Nejnižší vrstva architektury je </a:t>
            </a:r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jádro operačního systému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které tvoří abstraktní vrstvu mezi používaným hardwarem a zbytkem </a:t>
            </a:r>
            <a:r>
              <a:rPr lang="cs-CZ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softwaru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ve vyšších vrstvách. Jádrem systému Android je modifikovaný </a:t>
            </a:r>
            <a:r>
              <a:rPr lang="cs-CZ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Linux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firmy vyvíjející Android tak jsou předními přispěvateli linuxového jádra.</a:t>
            </a: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Další vrstvou jsou </a:t>
            </a:r>
            <a:r>
              <a:rPr lang="cs-CZ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knihovny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které jsou napsány v </a:t>
            </a:r>
            <a:r>
              <a:rPr lang="cs-CZ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nebo </a:t>
            </a:r>
            <a:r>
              <a:rPr lang="cs-CZ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C++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kódu a využívají je různé komponenty systému. Tyto funkce jsou vývojářům poskytnuty prostřednictvím </a:t>
            </a:r>
            <a:r>
              <a:rPr lang="cs-C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Android Application Framework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Jako příklad můžu uvést Media </a:t>
            </a:r>
            <a:r>
              <a:rPr lang="cs-CZ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která podporuje přehrávání videí, zvuků a zpracování obrázků s různými souborovými typy (JPG, PNG, MP4, MP3 a tak dále).</a:t>
            </a:r>
          </a:p>
          <a:p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Android Runtime pak obsahuje </a:t>
            </a:r>
            <a:r>
              <a:rPr lang="cs-CZ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virtuání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aplikační stroj, ten se konkrétně jmenuje </a:t>
            </a:r>
            <a:r>
              <a:rPr lang="cs-CZ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Dalvik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v této vrstvě najdeme základní knihovny programovacího jazyka Java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8136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Tady vidíte schéma právě všech těch vrstev co ten Android má, pro vývojáře je nejdůležitější právě Application framework, právě tam se mohou dostat k nejvíce službám.</a:t>
            </a: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Tyto služby mohou zpřístupňovat data v jiných aplikacích, prvky uživatelského rozhraní, upozorňovací stavový řádek, aplikace běžící na pozadí, hardware používaného zařízení a mnoho dalších služeb a funkcí.</a:t>
            </a:r>
          </a:p>
          <a:p>
            <a:endParaRPr lang="cs-CZ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Za zmínku patří sada prvků view, tam jsou prvky pro sestavení uživatelského rozhraní jako seznamy, textová pole, tlačítka a další. 	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11206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Pokud používáte zařízení se standardním Androidem 6.x (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-apple-system"/>
              </a:rPr>
              <a:t>Marshmallow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) nebo novějším, je k dispozici vestavěný správce souborů ... v nastavení je prostě skryt. Přejděte do Nastavení&gt; Úložiště&gt; Jiné a budete mít úplný seznam všech souborů a složek v interním úložišti. (Pokud chcete, aby byl tento správce souborů snadněji přístupný, </a:t>
            </a:r>
            <a:r>
              <a:rPr lang="cs-CZ" b="0" i="0" u="none" strike="noStrike" dirty="0">
                <a:solidFill>
                  <a:srgbClr val="007BFF"/>
                </a:solidFill>
                <a:effectLst/>
                <a:latin typeface="-apple-system"/>
              </a:rPr>
              <a:t>S</a:t>
            </a:r>
            <a:r>
              <a:rPr lang="cs-CZ" b="0" i="0" u="none" strike="noStrike" dirty="0">
                <a:solidFill>
                  <a:srgbClr val="007BFF"/>
                </a:solidFill>
                <a:effectLst/>
                <a:latin typeface="-apple-system"/>
                <a:hlinkClick r:id="rId3"/>
              </a:rPr>
              <a:t>právce souborů </a:t>
            </a:r>
            <a:r>
              <a:rPr lang="cs-CZ" b="0" i="0" u="none" strike="noStrike" dirty="0" err="1">
                <a:solidFill>
                  <a:srgbClr val="007BFF"/>
                </a:solidFill>
                <a:effectLst/>
                <a:latin typeface="-apple-system"/>
                <a:hlinkClick r:id="rId3"/>
              </a:rPr>
              <a:t>Marshmallow</a:t>
            </a:r>
            <a:r>
              <a:rPr lang="cs-CZ" b="0" i="0" u="none" strike="noStrike" dirty="0">
                <a:solidFill>
                  <a:srgbClr val="007BFF"/>
                </a:solidFill>
                <a:effectLst/>
                <a:latin typeface="-apple-system"/>
                <a:hlinkClick r:id="rId3"/>
              </a:rPr>
              <a:t> 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aplikace ji přidá jako ikonu na domovskou obrazovku.)</a:t>
            </a:r>
          </a:p>
          <a:p>
            <a:pPr algn="l"/>
            <a:endParaRPr lang="cs-CZ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Samozřejmě různí distributoři různých zařízení používajících Android to mohou mít jinak, ale všude jde se dostat ke každému souboru, co se v telefonu nachází.</a:t>
            </a:r>
          </a:p>
          <a:p>
            <a:br>
              <a:rPr lang="cs-CZ" dirty="0"/>
            </a:b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3251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Android má svůj vlastní Antivir, který vám pomůže odstranit vše co tam nechcete.</a:t>
            </a:r>
          </a:p>
          <a:p>
            <a:r>
              <a:rPr lang="cs-CZ" dirty="0" err="1"/>
              <a:t>Find</a:t>
            </a:r>
            <a:r>
              <a:rPr lang="cs-CZ" dirty="0"/>
              <a:t> my </a:t>
            </a:r>
            <a:r>
              <a:rPr lang="cs-CZ" dirty="0" err="1"/>
              <a:t>Device</a:t>
            </a:r>
            <a:r>
              <a:rPr lang="cs-CZ" dirty="0"/>
              <a:t> – Na styl </a:t>
            </a:r>
            <a:r>
              <a:rPr lang="cs-CZ" dirty="0" err="1"/>
              <a:t>Find</a:t>
            </a:r>
            <a:r>
              <a:rPr lang="cs-CZ" dirty="0"/>
              <a:t> My </a:t>
            </a:r>
            <a:r>
              <a:rPr lang="cs-CZ" dirty="0" err="1"/>
              <a:t>Phone</a:t>
            </a:r>
            <a:r>
              <a:rPr lang="cs-CZ" dirty="0"/>
              <a:t>, ale musíte se přihlásit přes </a:t>
            </a:r>
            <a:r>
              <a:rPr lang="cs-CZ" dirty="0" err="1"/>
              <a:t>google</a:t>
            </a:r>
            <a:endParaRPr lang="cs-CZ" dirty="0"/>
          </a:p>
          <a:p>
            <a:r>
              <a:rPr lang="cs-CZ" dirty="0"/>
              <a:t>Bezpečný internet – určuje vám zda tam není nějaký problém to samé bezpečnost aplikací</a:t>
            </a:r>
          </a:p>
          <a:p>
            <a:r>
              <a:rPr lang="cs-CZ" dirty="0"/>
              <a:t>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5274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Přehlednost -  jednoduchá manipulace se zařízením, velmi snadné focení a rychlá odezva aplikací</a:t>
            </a:r>
          </a:p>
          <a:p>
            <a:r>
              <a:rPr lang="cs-CZ" dirty="0"/>
              <a:t>Praktičnost – předem stažené důležité aplikace</a:t>
            </a:r>
          </a:p>
          <a:p>
            <a:r>
              <a:rPr lang="cs-CZ" dirty="0"/>
              <a:t>Ovládání – jednoduché stahování souborů, poté využití těchto souborů, bohatší možnosti telefonu od grafiky až po funkčnost telefonu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0665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Android má některé prvky i o několik let dříve než IOS, ale IOS se těchto prvků ujmou na jiné úrovni a vylepší to </a:t>
            </a:r>
          </a:p>
          <a:p>
            <a:r>
              <a:rPr lang="cs-CZ" dirty="0"/>
              <a:t>IOS má skvělé párování </a:t>
            </a:r>
          </a:p>
          <a:p>
            <a:r>
              <a:rPr lang="cs-CZ" dirty="0"/>
              <a:t>Android nechává hodně věcí na uživateli s tím se pojí i zabezpečení</a:t>
            </a:r>
          </a:p>
          <a:p>
            <a:r>
              <a:rPr lang="cs-CZ" dirty="0"/>
              <a:t>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2702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Nyní se pojďme podívat na využití androidu v porovnání s ostatními operačními systémy. Využití bychom mohli rozdělit na 3 základní sekce a těmi jsou: telefony, tablety a všechna zařízení, kam telefony i tablety patří.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7534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První tu máme sekci telefony, pro které je Android známý a ve které naprosto dominuje a zabírá na trhu téměř ¾ všech mobilních zařízení. Hlavní, a prakticky jediný, konkurent iOS zabírá něco málo přes ¼ a pak. Pak tady jsou lidi, kteří používají Windows </a:t>
            </a:r>
            <a:r>
              <a:rPr lang="cs-CZ" dirty="0" err="1"/>
              <a:t>phone</a:t>
            </a:r>
            <a:r>
              <a:rPr lang="cs-CZ" dirty="0"/>
              <a:t>. I když, spíš nejsou… Však, kolik jste potkali lidí, co používají Windows </a:t>
            </a:r>
            <a:r>
              <a:rPr lang="cs-CZ" dirty="0" err="1"/>
              <a:t>phone</a:t>
            </a:r>
            <a:r>
              <a:rPr lang="cs-CZ" dirty="0"/>
              <a:t>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0393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Další máme sekci tablety. V odvětví tabletů je Android v závěsu </a:t>
            </a:r>
            <a:r>
              <a:rPr lang="cs-CZ" dirty="0" err="1"/>
              <a:t>iOSu</a:t>
            </a:r>
            <a:r>
              <a:rPr lang="cs-CZ" dirty="0"/>
              <a:t>, a i když jen o nějaké desetiny procent, pořád je to docela velký rozdíl oproti dominanci v sekci telefonů. </a:t>
            </a:r>
            <a:r>
              <a:rPr lang="cs-CZ" dirty="0" err="1"/>
              <a:t>Overall</a:t>
            </a:r>
            <a:r>
              <a:rPr lang="cs-CZ" dirty="0"/>
              <a:t> je ale tento boj vcelku vyrovnaný.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9481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 jako poslední máme sekci se všemi zařízeními. Tedy: telefony, tablety, desktopové počítače i laptopy, no prostě všechna zařízení, která potřebují nějaký operační systém. Zde je, podobně jako u telefonů, Android ve vedení, kdy společně s </a:t>
            </a:r>
            <a:r>
              <a:rPr lang="cs-CZ" dirty="0" err="1"/>
              <a:t>Windowsem</a:t>
            </a:r>
            <a:r>
              <a:rPr lang="cs-CZ" dirty="0"/>
              <a:t> tvoří dvojici nejvyužívanějších operačních systémů – téměř ¾. Zbylá čtvrtina je zabrána </a:t>
            </a:r>
            <a:r>
              <a:rPr lang="cs-CZ" dirty="0" err="1"/>
              <a:t>iOSem</a:t>
            </a:r>
            <a:r>
              <a:rPr lang="cs-CZ" dirty="0"/>
              <a:t> a Macem, společně s jedním procentem zařízení, využívajících Linux.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9864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Minimální požadavky nejnovějšího Androidu 12 stanovené </a:t>
            </a:r>
            <a:r>
              <a:rPr lang="cs-CZ" dirty="0" err="1"/>
              <a:t>googlem</a:t>
            </a:r>
            <a:r>
              <a:rPr lang="cs-CZ" dirty="0"/>
              <a:t> jsou:</a:t>
            </a:r>
          </a:p>
          <a:p>
            <a:pPr marL="171450" indent="-171450">
              <a:buFontTx/>
              <a:buChar char="-"/>
            </a:pPr>
            <a:r>
              <a:rPr lang="cs-CZ" dirty="0"/>
              <a:t>Alespoň 6GB operační paměti. (A11 – 2GB, A10 – 1,5GB)</a:t>
            </a:r>
          </a:p>
          <a:p>
            <a:pPr marL="171450" indent="-171450">
              <a:buFontTx/>
              <a:buChar char="-"/>
            </a:pPr>
            <a:r>
              <a:rPr lang="cs-CZ" dirty="0"/>
              <a:t>Zadní kamera s rozlišením alespoň 12MP a podporou natáčení 4K videa v rychlosti alespoň 30 FPS.</a:t>
            </a:r>
          </a:p>
          <a:p>
            <a:pPr marL="171450" indent="-171450">
              <a:buFontTx/>
              <a:buChar char="-"/>
            </a:pPr>
            <a:r>
              <a:rPr lang="cs-CZ" dirty="0"/>
              <a:t>Dále také FHD display, tedy rozlišení 1080 x 1920 pixelů a kvalita rozlišení alespoň 400 PPI, tedy 400 pixelů na palec.</a:t>
            </a:r>
          </a:p>
          <a:p>
            <a:pPr marL="171450" indent="-171450">
              <a:buFontTx/>
              <a:buChar char="-"/>
            </a:pPr>
            <a:r>
              <a:rPr lang="cs-CZ" dirty="0"/>
              <a:t>Rychlost zápisu minimálně 120 </a:t>
            </a:r>
            <a:r>
              <a:rPr lang="cs-CZ" dirty="0" err="1"/>
              <a:t>MB/s</a:t>
            </a:r>
            <a:r>
              <a:rPr lang="cs-CZ" dirty="0"/>
              <a:t> (10 </a:t>
            </a:r>
            <a:r>
              <a:rPr lang="cs-CZ" dirty="0" err="1"/>
              <a:t>random</a:t>
            </a:r>
            <a:r>
              <a:rPr lang="cs-CZ" dirty="0"/>
              <a:t>) a rychlost čtení alespoň 250 </a:t>
            </a:r>
            <a:r>
              <a:rPr lang="cs-CZ" dirty="0" err="1"/>
              <a:t>MB/s</a:t>
            </a:r>
            <a:r>
              <a:rPr lang="cs-CZ" dirty="0"/>
              <a:t> (40 </a:t>
            </a:r>
            <a:r>
              <a:rPr lang="cs-CZ" dirty="0" err="1"/>
              <a:t>random</a:t>
            </a:r>
            <a:r>
              <a:rPr lang="cs-CZ" dirty="0"/>
              <a:t>).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7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Aktualizace začíná tím, že uživatel obdrží nějaké oznámení o tom, že je možné aktualizovat operační systém zařízení, ale dostupné aktualizace lze také zkontrolovat v nastavení telefonu. Aktualizaci může uživatel buď provést hned, nebo ji odložit. Pokud uživatel aktualizaci potvrdí, zařízení se vypne, aktualizuje a poté opět zapne. Tento proces je otázka několika minut, ale samozřejmě se může i protáhnout a aktualizace může zabrat daleko více. Aktualizace by měly být pro </a:t>
            </a:r>
            <a:r>
              <a:rPr lang="cs-CZ" dirty="0" err="1"/>
              <a:t>Androidová</a:t>
            </a:r>
            <a:r>
              <a:rPr lang="cs-CZ" dirty="0"/>
              <a:t> zařízení dostupné minimálně na 2-3 roky, ale tato doba hodně záleží na výrobci. Samozřejmě, abyste mohli OS aktualizovat, potřebujete mít pro to dostatečné hw specifikace.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7274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Android, a obecně všechna zařízení, která běží na Linuxu, ovladače nemají. Respektive ovladače mají, ale ty jsou již součástí operačního systému. V tom případě se tedy nemusíte bát o aktualizaci ovladačů, jelikož ta vždy probíhá na straně OS a nemusíte se tedy starat o to, že byste měli zastaralé ovladače, jako tomu je například u </a:t>
            </a:r>
            <a:r>
              <a:rPr lang="cs-CZ" dirty="0" err="1"/>
              <a:t>Windowsu</a:t>
            </a:r>
            <a:r>
              <a:rPr lang="cs-CZ" dirty="0"/>
              <a:t>. Jediný ovladač, ke kterému je možné se dostat, je USB ovladač. Ten je totiž hodně důležitý pro přenos a tudíž je možné, aby si ho uživatel aktualizoval sám. Systém totiž není neomylný.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610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70DAA-4660-4D79-9E5D-79DD4ED1F8B1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678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16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071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244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667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102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800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028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819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788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088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734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3939C92-045E-4C9E-82E6-E5117FAAEC0F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FD67DFA-E0EA-479D-925D-93ABC9B356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649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droid-developers.googleblog.com/2015/03/android-51-lollipop-sdk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android-architecture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efastcode.com/cs-czk/article/how-to-manage-files-and-use-the-file-system-on-androi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h3.googleusercontent.com/k-2BsI5KgLC2JxQd2rFA-3RHg8-tvoXjinZFNvZLnGlbcxR8xkVM9GW3tqBK5xbTSJKr3-Ei2SVuDoAuYaR3-AL5DVlV5vNj10d6x-604UYNa0sfGEU=s0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apple.com/assets/634D939C5E97521C571D4A74/634D93BB5E97521C571D4AAB/en_US/25d2b842586efdabfc837a654325df79.png" TargetMode="External"/><Relationship Id="rId3" Type="http://schemas.openxmlformats.org/officeDocument/2006/relationships/hyperlink" Target="https://cs.wikipedia.org/wiki/Android_(opera%C4%8Dn%C3%AD_syst%C3%A9m)" TargetMode="External"/><Relationship Id="rId7" Type="http://schemas.openxmlformats.org/officeDocument/2006/relationships/hyperlink" Target="https://www.digitaltrends.com/wp-content/uploads/2020/08/find8.jpg?fit=1080%2C2340&amp;p=1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obilemarketingreads.com/google-launches-new-curriculum-for-android-app-development-with-kotlin/" TargetMode="External"/><Relationship Id="rId5" Type="http://schemas.openxmlformats.org/officeDocument/2006/relationships/hyperlink" Target="https://www.guidingtech.com/what-happens-when-you-update-your-phone-android-iphone/" TargetMode="External"/><Relationship Id="rId4" Type="http://schemas.openxmlformats.org/officeDocument/2006/relationships/hyperlink" Target="https://unbox.ph/editorials/google-android-12-requirements-at-least-6gb-ram-1080p-displa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DE41DC-226D-17B9-7C4A-A8C934FCE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685070" cy="3255264"/>
          </a:xfrm>
        </p:spPr>
        <p:txBody>
          <a:bodyPr>
            <a:normAutofit/>
          </a:bodyPr>
          <a:lstStyle/>
          <a:p>
            <a:r>
              <a:rPr lang="cs-CZ" b="1"/>
              <a:t>Android</a:t>
            </a:r>
            <a:endParaRPr lang="cs-CZ" b="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36255B2-ABEE-1A93-500C-CD0B85592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70" cy="914400"/>
          </a:xfrm>
        </p:spPr>
        <p:txBody>
          <a:bodyPr>
            <a:normAutofit/>
          </a:bodyPr>
          <a:lstStyle/>
          <a:p>
            <a:r>
              <a:rPr lang="cs-CZ" dirty="0"/>
              <a:t>Michal Tvaroh, Jakub Bárta, Lukáš Žďárský 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F3381D6-BDAE-C9E3-AE54-856F81086E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5" r="12582" b="-2"/>
          <a:stretch/>
        </p:blipFill>
        <p:spPr>
          <a:xfrm>
            <a:off x="5120640" y="759599"/>
            <a:ext cx="6367271" cy="5330650"/>
          </a:xfrm>
          <a:prstGeom prst="rect">
            <a:avLst/>
          </a:prstGeom>
        </p:spPr>
      </p:pic>
      <p:sp>
        <p:nvSpPr>
          <p:cNvPr id="9" name="Rectangle 13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054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13A95FF-1A75-49AA-86AE-EED61BD0E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3C655C-5245-10E1-455B-8A7A360E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1123837"/>
            <a:ext cx="4016116" cy="1255469"/>
          </a:xfrm>
        </p:spPr>
        <p:txBody>
          <a:bodyPr>
            <a:normAutofit/>
          </a:bodyPr>
          <a:lstStyle/>
          <a:p>
            <a:r>
              <a:rPr lang="cs-CZ" b="1" u="sng" dirty="0"/>
              <a:t>Popis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933394-F3DA-948A-1EF2-A27D5CA55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 anchor="t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Mobilní OS</a:t>
            </a:r>
          </a:p>
          <a:p>
            <a:r>
              <a:rPr lang="cs-CZ" dirty="0">
                <a:solidFill>
                  <a:srgbClr val="FFFFFF"/>
                </a:solidFill>
              </a:rPr>
              <a:t>Linuxové jádro</a:t>
            </a:r>
          </a:p>
          <a:p>
            <a:r>
              <a:rPr lang="cs-CZ" dirty="0">
                <a:solidFill>
                  <a:srgbClr val="FFFFFF"/>
                </a:solidFill>
              </a:rPr>
              <a:t>Open Source</a:t>
            </a:r>
          </a:p>
          <a:p>
            <a:r>
              <a:rPr lang="cs-CZ" dirty="0">
                <a:solidFill>
                  <a:srgbClr val="FFFFFF"/>
                </a:solidFill>
              </a:rPr>
              <a:t>Doplněn o software se službami</a:t>
            </a:r>
          </a:p>
          <a:p>
            <a:r>
              <a:rPr lang="cs-CZ" dirty="0">
                <a:solidFill>
                  <a:srgbClr val="FFFFFF"/>
                </a:solidFill>
              </a:rPr>
              <a:t>Smartphony, tablety, chytré televize…</a:t>
            </a:r>
          </a:p>
        </p:txBody>
      </p:sp>
      <p:pic>
        <p:nvPicPr>
          <p:cNvPr id="13" name="Obrázek 12" descr="Obsah obrázku text, interiér&#10;&#10;Popis byl vytvořen automaticky">
            <a:extLst>
              <a:ext uri="{FF2B5EF4-FFF2-40B4-BE49-F238E27FC236}">
                <a16:creationId xmlns:a16="http://schemas.microsoft.com/office/drawing/2014/main" id="{9546298B-876E-E27E-7CBE-8EFB820F7B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7" r="30587" b="-1"/>
          <a:stretch/>
        </p:blipFill>
        <p:spPr>
          <a:xfrm>
            <a:off x="5137463" y="759599"/>
            <a:ext cx="6193767" cy="53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2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758953"/>
            <a:ext cx="3577575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6D60EC9-B484-6EA1-0A0D-78E2320E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45" y="1123837"/>
            <a:ext cx="2947482" cy="1038177"/>
          </a:xfrm>
        </p:spPr>
        <p:txBody>
          <a:bodyPr anchor="b">
            <a:normAutofit/>
          </a:bodyPr>
          <a:lstStyle/>
          <a:p>
            <a:r>
              <a:rPr lang="cs-CZ" sz="3200" b="1" u="sng" dirty="0"/>
              <a:t>Začátky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62F72A5-0311-0EA5-BB1F-38A222F79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162014"/>
            <a:ext cx="2947482" cy="3744264"/>
          </a:xfrm>
        </p:spPr>
        <p:txBody>
          <a:bodyPr anchor="t">
            <a:normAutofit/>
          </a:bodyPr>
          <a:lstStyle/>
          <a:p>
            <a:pPr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endParaRPr lang="cs-CZ" sz="1600" dirty="0">
              <a:solidFill>
                <a:srgbClr val="FFFFFF"/>
              </a:solidFill>
            </a:endParaRPr>
          </a:p>
          <a:p>
            <a:pPr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FFFFFF"/>
                </a:solidFill>
              </a:rPr>
              <a:t>Společnost založena 2003</a:t>
            </a:r>
          </a:p>
          <a:p>
            <a:pPr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FFFFFF"/>
                </a:solidFill>
              </a:rPr>
              <a:t>2005 -&gt; odkup Googlem</a:t>
            </a:r>
          </a:p>
          <a:p>
            <a:pPr marL="0" indent="0">
              <a:buClr>
                <a:schemeClr val="bg1">
                  <a:lumMod val="95000"/>
                </a:schemeClr>
              </a:buClr>
              <a:buNone/>
            </a:pPr>
            <a:r>
              <a:rPr lang="cs-CZ" sz="1600" dirty="0">
                <a:solidFill>
                  <a:srgbClr val="FFFFFF"/>
                </a:solidFill>
              </a:rPr>
              <a:t>Pracovalo se na chytrých mobilních zařízeních, první vzniklo roku 2007.</a:t>
            </a:r>
          </a:p>
          <a:p>
            <a:pPr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FFFFFF"/>
                </a:solidFill>
              </a:rPr>
              <a:t>Říjen roku 2008 -&gt; první komerční telefon</a:t>
            </a:r>
          </a:p>
          <a:p>
            <a:pPr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FFFFFF"/>
                </a:solidFill>
              </a:rPr>
              <a:t>T-mobile G1</a:t>
            </a:r>
          </a:p>
          <a:p>
            <a:pPr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FFFFFF"/>
                </a:solidFill>
              </a:rPr>
              <a:t>2009 - &gt; Vzrůst zařízení s androidem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39B0FC1-0297-CBC8-F4AD-3D7ED5AC8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9935" y="1182473"/>
            <a:ext cx="7491363" cy="447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AFE5DF4-7C45-6C7B-91A5-189B44034741}"/>
              </a:ext>
            </a:extLst>
          </p:cNvPr>
          <p:cNvSpPr txBox="1"/>
          <p:nvPr/>
        </p:nvSpPr>
        <p:spPr>
          <a:xfrm>
            <a:off x="7807841" y="5488127"/>
            <a:ext cx="373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0 Apple Pie - Android </a:t>
            </a:r>
            <a:r>
              <a:rPr lang="cs-CZ" sz="1000" b="0" i="0" dirty="0" err="1">
                <a:solidFill>
                  <a:srgbClr val="000000"/>
                </a:solidFill>
                <a:effectLst/>
                <a:latin typeface="+mj-lt"/>
              </a:rPr>
              <a:t>Version</a:t>
            </a:r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 1.0 Apple Pie - Free Transparent PNG </a:t>
            </a:r>
            <a:r>
              <a:rPr lang="cs-CZ" sz="1000" b="0" i="0" dirty="0" err="1">
                <a:solidFill>
                  <a:srgbClr val="000000"/>
                </a:solidFill>
                <a:effectLst/>
                <a:latin typeface="+mj-lt"/>
              </a:rPr>
              <a:t>Clipart</a:t>
            </a:r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cs-CZ" sz="1000" b="0" i="0" dirty="0" err="1">
                <a:solidFill>
                  <a:srgbClr val="000000"/>
                </a:solidFill>
                <a:effectLst/>
                <a:latin typeface="+mj-lt"/>
              </a:rPr>
              <a:t>Images</a:t>
            </a:r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cs-CZ" sz="1000" b="0" i="0" dirty="0" err="1">
                <a:solidFill>
                  <a:srgbClr val="000000"/>
                </a:solidFill>
                <a:effectLst/>
                <a:latin typeface="+mj-lt"/>
              </a:rPr>
              <a:t>Download</a:t>
            </a:r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. </a:t>
            </a:r>
            <a:r>
              <a:rPr lang="cs-CZ" sz="1000" b="0" i="1" dirty="0" err="1">
                <a:solidFill>
                  <a:srgbClr val="000000"/>
                </a:solidFill>
                <a:effectLst/>
                <a:latin typeface="+mj-lt"/>
              </a:rPr>
              <a:t>ClipartMax</a:t>
            </a:r>
            <a:r>
              <a:rPr lang="cs-CZ" sz="1000" b="0" i="1" dirty="0">
                <a:solidFill>
                  <a:srgbClr val="000000"/>
                </a:solidFill>
                <a:effectLst/>
                <a:latin typeface="+mj-lt"/>
              </a:rPr>
              <a:t> - PNG </a:t>
            </a:r>
            <a:r>
              <a:rPr lang="cs-CZ" sz="1000" b="0" i="1" dirty="0" err="1">
                <a:solidFill>
                  <a:srgbClr val="000000"/>
                </a:solidFill>
                <a:effectLst/>
                <a:latin typeface="+mj-lt"/>
              </a:rPr>
              <a:t>Clipart</a:t>
            </a:r>
            <a:r>
              <a:rPr lang="cs-CZ" sz="1000" b="0" i="1" dirty="0">
                <a:solidFill>
                  <a:srgbClr val="000000"/>
                </a:solidFill>
                <a:effectLst/>
                <a:latin typeface="+mj-lt"/>
              </a:rPr>
              <a:t> Free </a:t>
            </a:r>
            <a:r>
              <a:rPr lang="cs-CZ" sz="1000" b="0" i="1" dirty="0" err="1">
                <a:solidFill>
                  <a:srgbClr val="000000"/>
                </a:solidFill>
                <a:effectLst/>
                <a:latin typeface="+mj-lt"/>
              </a:rPr>
              <a:t>Download</a:t>
            </a:r>
            <a:r>
              <a:rPr lang="cs-CZ" sz="1000" b="0" i="1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cs-CZ" sz="1000" b="0" i="1" dirty="0" err="1">
                <a:solidFill>
                  <a:srgbClr val="000000"/>
                </a:solidFill>
                <a:effectLst/>
                <a:latin typeface="+mj-lt"/>
              </a:rPr>
              <a:t>Largest</a:t>
            </a:r>
            <a:r>
              <a:rPr lang="cs-CZ" sz="1000" b="0" i="1" dirty="0">
                <a:solidFill>
                  <a:srgbClr val="000000"/>
                </a:solidFill>
                <a:effectLst/>
                <a:latin typeface="+mj-lt"/>
              </a:rPr>
              <a:t> Transparent </a:t>
            </a:r>
            <a:r>
              <a:rPr lang="cs-CZ" sz="1000" b="0" i="1" dirty="0" err="1">
                <a:solidFill>
                  <a:srgbClr val="000000"/>
                </a:solidFill>
                <a:effectLst/>
                <a:latin typeface="+mj-lt"/>
              </a:rPr>
              <a:t>Clip</a:t>
            </a:r>
            <a:r>
              <a:rPr lang="cs-CZ" sz="1000" b="0" i="1" dirty="0">
                <a:solidFill>
                  <a:srgbClr val="000000"/>
                </a:solidFill>
                <a:effectLst/>
                <a:latin typeface="+mj-lt"/>
              </a:rPr>
              <a:t> Art </a:t>
            </a:r>
            <a:r>
              <a:rPr lang="cs-CZ" sz="1000" b="0" i="1" dirty="0" err="1">
                <a:solidFill>
                  <a:srgbClr val="000000"/>
                </a:solidFill>
                <a:effectLst/>
                <a:latin typeface="+mj-lt"/>
              </a:rPr>
              <a:t>Images</a:t>
            </a:r>
            <a:r>
              <a:rPr lang="cs-CZ" sz="1000" b="0" i="1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cs-CZ" sz="1000" b="0" i="1" dirty="0" err="1">
                <a:solidFill>
                  <a:srgbClr val="000000"/>
                </a:solidFill>
                <a:effectLst/>
                <a:latin typeface="+mj-lt"/>
              </a:rPr>
              <a:t>Collection</a:t>
            </a:r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 [online]. Copyright ©clipartmax.com All </a:t>
            </a:r>
            <a:r>
              <a:rPr lang="cs-CZ" sz="1000" b="0" i="0" dirty="0" err="1">
                <a:solidFill>
                  <a:srgbClr val="000000"/>
                </a:solidFill>
                <a:effectLst/>
                <a:latin typeface="+mj-lt"/>
              </a:rPr>
              <a:t>Rights</a:t>
            </a:r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cs-CZ" sz="1000" b="0" i="0" dirty="0" err="1">
                <a:solidFill>
                  <a:srgbClr val="000000"/>
                </a:solidFill>
                <a:effectLst/>
                <a:latin typeface="+mj-lt"/>
              </a:rPr>
              <a:t>Reserved</a:t>
            </a:r>
            <a:r>
              <a:rPr lang="cs-CZ" sz="1000" b="0" i="0" dirty="0">
                <a:solidFill>
                  <a:srgbClr val="000000"/>
                </a:solidFill>
                <a:effectLst/>
                <a:latin typeface="+mj-lt"/>
              </a:rPr>
              <a:t>. [cit. 16.11.2022]. </a:t>
            </a:r>
            <a:endParaRPr lang="cs-CZ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672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-Mobile G1: CNET reviews the first-ever Android phone - CNET">
            <a:extLst>
              <a:ext uri="{FF2B5EF4-FFF2-40B4-BE49-F238E27FC236}">
                <a16:creationId xmlns:a16="http://schemas.microsoft.com/office/drawing/2014/main" id="{C5DC89DF-5A5E-F2AA-C86E-D92735027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3"/>
            <a:ext cx="10490199" cy="590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F95F926F-333D-41A1-B178-38C3BC200CCD}"/>
              </a:ext>
            </a:extLst>
          </p:cNvPr>
          <p:cNvSpPr txBox="1"/>
          <p:nvPr/>
        </p:nvSpPr>
        <p:spPr>
          <a:xfrm>
            <a:off x="381000" y="6236255"/>
            <a:ext cx="303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1" dirty="0"/>
              <a:t>T-mobile G1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B544DB2-EEC8-1D3F-ADC1-9E77A0E1A389}"/>
              </a:ext>
            </a:extLst>
          </p:cNvPr>
          <p:cNvSpPr txBox="1"/>
          <p:nvPr/>
        </p:nvSpPr>
        <p:spPr>
          <a:xfrm>
            <a:off x="6494399" y="6205477"/>
            <a:ext cx="45562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000000"/>
                </a:solidFill>
                <a:effectLst/>
                <a:latin typeface="Roboto Slab"/>
              </a:rPr>
              <a:t>T-Mobile G1: CNET reviews the first-ever Android phone - CNET. </a:t>
            </a:r>
            <a:r>
              <a:rPr lang="en-US" sz="1000" b="0" i="1" dirty="0">
                <a:solidFill>
                  <a:srgbClr val="000000"/>
                </a:solidFill>
                <a:effectLst/>
                <a:latin typeface="Roboto Slab"/>
              </a:rPr>
              <a:t>CNET: Product reviews, advice, how-</a:t>
            </a:r>
            <a:r>
              <a:rPr lang="en-US" sz="1000" b="0" i="1" dirty="0" err="1">
                <a:solidFill>
                  <a:srgbClr val="000000"/>
                </a:solidFill>
                <a:effectLst/>
                <a:latin typeface="Roboto Slab"/>
              </a:rPr>
              <a:t>tos</a:t>
            </a:r>
            <a:r>
              <a:rPr lang="en-US" sz="1000" b="0" i="1" dirty="0">
                <a:solidFill>
                  <a:srgbClr val="000000"/>
                </a:solidFill>
                <a:effectLst/>
                <a:latin typeface="Roboto Slab"/>
              </a:rPr>
              <a:t> and the latest news</a:t>
            </a:r>
            <a:r>
              <a:rPr lang="en-US" sz="1000" b="0" i="0" dirty="0">
                <a:solidFill>
                  <a:srgbClr val="000000"/>
                </a:solidFill>
                <a:effectLst/>
                <a:latin typeface="Roboto Slab"/>
              </a:rPr>
              <a:t> [online]. Copyright © 2022 CNET, a Red Ventures company. [cit. 16.11.2022].</a:t>
            </a:r>
            <a:endParaRPr lang="cs-CZ" sz="1000" dirty="0"/>
          </a:p>
        </p:txBody>
      </p:sp>
    </p:spTree>
    <p:extLst>
      <p:ext uri="{BB962C8B-B14F-4D97-AF65-F5344CB8AC3E}">
        <p14:creationId xmlns:p14="http://schemas.microsoft.com/office/powerpoint/2010/main" val="202254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8A4DBD17-19AD-4376-A55A-C527EF944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DB7C943-6BFC-4A35-8DFA-0B204CD18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755294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1ECC73-770C-3AE7-3E99-4CD8C07C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37" y="-1398099"/>
            <a:ext cx="6068070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900" b="1" u="sng" spc="-100" dirty="0"/>
              <a:t>Architektura</a:t>
            </a:r>
            <a:endParaRPr lang="en-US" sz="5900" b="1" u="sng" spc="-100" dirty="0"/>
          </a:p>
        </p:txBody>
      </p:sp>
      <p:pic>
        <p:nvPicPr>
          <p:cNvPr id="2050" name="Picture 2" descr="Android Developers Blog: Android 5.0 Lollipop SDK and Nexus Preview Images">
            <a:extLst>
              <a:ext uri="{FF2B5EF4-FFF2-40B4-BE49-F238E27FC236}">
                <a16:creationId xmlns:a16="http://schemas.microsoft.com/office/drawing/2014/main" id="{65604A73-279E-B227-2CA2-5B70631132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4" r="3" b="3"/>
          <a:stretch/>
        </p:blipFill>
        <p:spPr bwMode="auto">
          <a:xfrm>
            <a:off x="8037574" y="759599"/>
            <a:ext cx="3458249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9DF27D9-327F-4301-A56A-9A8EC61E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22FFB2C-6156-E62E-08CA-286402C5AF4A}"/>
              </a:ext>
            </a:extLst>
          </p:cNvPr>
          <p:cNvSpPr txBox="1"/>
          <p:nvPr/>
        </p:nvSpPr>
        <p:spPr>
          <a:xfrm>
            <a:off x="328296" y="2118049"/>
            <a:ext cx="596053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chemeClr val="bg1"/>
                </a:solidFill>
              </a:rPr>
              <a:t>Rozdělena do 5 vrstev</a:t>
            </a: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endParaRPr lang="cs-CZ" sz="24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chemeClr val="bg1"/>
                </a:solidFill>
              </a:rPr>
              <a:t>Nejnižší = jádro</a:t>
            </a: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endParaRPr lang="cs-CZ" sz="24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chemeClr val="bg1"/>
                </a:solidFill>
              </a:rPr>
              <a:t>Knihovny</a:t>
            </a: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endParaRPr lang="cs-CZ" sz="24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chemeClr val="bg1"/>
                </a:solidFill>
              </a:rPr>
              <a:t>Android Runtime</a:t>
            </a: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Arial" panose="020B0604020202020204" pitchFamily="34" charset="0"/>
              <a:buChar char="•"/>
            </a:pP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EE1211EB-FD2E-6A4E-2C87-E026E18A0FCC}"/>
              </a:ext>
            </a:extLst>
          </p:cNvPr>
          <p:cNvSpPr txBox="1"/>
          <p:nvPr/>
        </p:nvSpPr>
        <p:spPr>
          <a:xfrm>
            <a:off x="7517363" y="6088705"/>
            <a:ext cx="4674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b="0" i="0" dirty="0">
                <a:solidFill>
                  <a:srgbClr val="000000"/>
                </a:solidFill>
                <a:effectLst/>
                <a:latin typeface="+mj-lt"/>
              </a:rPr>
              <a:t>Android 5.1  </a:t>
            </a:r>
            <a:r>
              <a:rPr lang="cs-CZ" sz="1200" b="0" i="0" dirty="0" err="1">
                <a:solidFill>
                  <a:srgbClr val="000000"/>
                </a:solidFill>
                <a:effectLst/>
                <a:latin typeface="+mj-lt"/>
              </a:rPr>
              <a:t>Lolipop</a:t>
            </a:r>
            <a:r>
              <a:rPr lang="cs-CZ" sz="1200" b="0" i="0" dirty="0">
                <a:solidFill>
                  <a:srgbClr val="000000"/>
                </a:solidFill>
                <a:effectLst/>
                <a:latin typeface="+mj-lt"/>
              </a:rPr>
              <a:t> SDK[online]. </a:t>
            </a:r>
            <a:r>
              <a:rPr lang="it-IT" sz="1200" b="0" i="0" dirty="0">
                <a:effectLst/>
                <a:latin typeface="+mj-lt"/>
              </a:rPr>
              <a:t>[cit. 2022-11-20].</a:t>
            </a:r>
            <a:r>
              <a:rPr lang="cs-CZ" sz="1200" b="0" i="0" dirty="0">
                <a:solidFill>
                  <a:srgbClr val="000000"/>
                </a:solidFill>
                <a:effectLst/>
                <a:latin typeface="+mj-lt"/>
              </a:rPr>
              <a:t> Dostupné z: </a:t>
            </a:r>
            <a:r>
              <a:rPr lang="cs-CZ" sz="1200" b="0" i="0" u="none" strike="noStrike" dirty="0">
                <a:solidFill>
                  <a:srgbClr val="000000"/>
                </a:solidFill>
                <a:effectLst/>
                <a:latin typeface="+mj-lt"/>
                <a:hlinkClick r:id="rId4"/>
              </a:rPr>
              <a:t>https://android-developers.googleblog.com/2015/03/android-51-lollipop-sdk.html</a:t>
            </a:r>
            <a:endParaRPr lang="cs-CZ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590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ACF636-E4A0-12D7-0431-A3D1E395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/>
              <a:t>Application</a:t>
            </a:r>
            <a:br>
              <a:rPr lang="cs-CZ" b="1" u="sng" dirty="0"/>
            </a:br>
            <a:r>
              <a:rPr lang="cs-CZ" b="1" u="sng" dirty="0"/>
              <a:t>framework</a:t>
            </a:r>
          </a:p>
        </p:txBody>
      </p:sp>
      <p:pic>
        <p:nvPicPr>
          <p:cNvPr id="1028" name="Picture 4" descr="Android Architecture - GeeksforGeeks">
            <a:extLst>
              <a:ext uri="{FF2B5EF4-FFF2-40B4-BE49-F238E27FC236}">
                <a16:creationId xmlns:a16="http://schemas.microsoft.com/office/drawing/2014/main" id="{52A44171-9FDE-0125-5423-566795BDB9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837" y="863790"/>
            <a:ext cx="5135286" cy="512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BD5477F4-B386-17EB-65B0-F40C43B69170}"/>
              </a:ext>
            </a:extLst>
          </p:cNvPr>
          <p:cNvSpPr txBox="1"/>
          <p:nvPr/>
        </p:nvSpPr>
        <p:spPr>
          <a:xfrm>
            <a:off x="5387786" y="5952931"/>
            <a:ext cx="4385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b="0" i="0" dirty="0">
                <a:solidFill>
                  <a:srgbClr val="000000"/>
                </a:solidFill>
                <a:effectLst/>
                <a:latin typeface="+mj-lt"/>
              </a:rPr>
              <a:t>Android </a:t>
            </a:r>
            <a:r>
              <a:rPr lang="cs-CZ" sz="1400" b="0" i="0" dirty="0" err="1">
                <a:solidFill>
                  <a:srgbClr val="000000"/>
                </a:solidFill>
                <a:effectLst/>
                <a:latin typeface="+mj-lt"/>
              </a:rPr>
              <a:t>Architecture</a:t>
            </a:r>
            <a:r>
              <a:rPr lang="cs-CZ" sz="1400" b="0" i="0" dirty="0">
                <a:solidFill>
                  <a:srgbClr val="000000"/>
                </a:solidFill>
                <a:effectLst/>
                <a:latin typeface="+mj-lt"/>
              </a:rPr>
              <a:t> - </a:t>
            </a:r>
            <a:r>
              <a:rPr lang="cs-CZ" sz="1400" b="0" i="0" dirty="0" err="1">
                <a:solidFill>
                  <a:srgbClr val="000000"/>
                </a:solidFill>
                <a:effectLst/>
                <a:latin typeface="+mj-lt"/>
              </a:rPr>
              <a:t>GeeksforGeeks</a:t>
            </a:r>
            <a:r>
              <a:rPr lang="cs-CZ" sz="1400" b="0" i="0" dirty="0">
                <a:solidFill>
                  <a:srgbClr val="000000"/>
                </a:solidFill>
                <a:effectLst/>
                <a:latin typeface="+mj-lt"/>
              </a:rPr>
              <a:t>. </a:t>
            </a:r>
            <a:r>
              <a:rPr lang="cs-CZ" sz="1400" b="0" i="1" dirty="0" err="1">
                <a:solidFill>
                  <a:srgbClr val="000000"/>
                </a:solidFill>
                <a:effectLst/>
                <a:latin typeface="+mj-lt"/>
              </a:rPr>
              <a:t>GeeksforGeeks</a:t>
            </a:r>
            <a:r>
              <a:rPr lang="cs-CZ" sz="1400" b="0" i="1" dirty="0">
                <a:solidFill>
                  <a:srgbClr val="000000"/>
                </a:solidFill>
                <a:effectLst/>
                <a:latin typeface="+mj-lt"/>
              </a:rPr>
              <a:t> | A </a:t>
            </a:r>
            <a:r>
              <a:rPr lang="cs-CZ" sz="1400" b="0" i="1" dirty="0" err="1">
                <a:solidFill>
                  <a:srgbClr val="000000"/>
                </a:solidFill>
                <a:effectLst/>
                <a:latin typeface="+mj-lt"/>
              </a:rPr>
              <a:t>computer</a:t>
            </a:r>
            <a:r>
              <a:rPr lang="cs-CZ" sz="1400" b="0" i="1" dirty="0">
                <a:solidFill>
                  <a:srgbClr val="000000"/>
                </a:solidFill>
                <a:effectLst/>
                <a:latin typeface="+mj-lt"/>
              </a:rPr>
              <a:t> science </a:t>
            </a:r>
            <a:r>
              <a:rPr lang="cs-CZ" sz="1400" b="0" i="1" dirty="0" err="1">
                <a:solidFill>
                  <a:srgbClr val="000000"/>
                </a:solidFill>
                <a:effectLst/>
                <a:latin typeface="+mj-lt"/>
              </a:rPr>
              <a:t>portal</a:t>
            </a:r>
            <a:r>
              <a:rPr lang="cs-CZ" sz="1400" b="0" i="1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cs-CZ" sz="1400" b="0" i="1" dirty="0" err="1">
                <a:solidFill>
                  <a:srgbClr val="000000"/>
                </a:solidFill>
                <a:effectLst/>
                <a:latin typeface="+mj-lt"/>
              </a:rPr>
              <a:t>for</a:t>
            </a:r>
            <a:r>
              <a:rPr lang="cs-CZ" sz="1400" b="0" i="1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cs-CZ" sz="1400" b="0" i="1" dirty="0" err="1">
                <a:solidFill>
                  <a:srgbClr val="000000"/>
                </a:solidFill>
                <a:effectLst/>
                <a:latin typeface="+mj-lt"/>
              </a:rPr>
              <a:t>geeks</a:t>
            </a:r>
            <a:r>
              <a:rPr lang="cs-CZ" sz="1400" b="0" i="0" dirty="0">
                <a:solidFill>
                  <a:srgbClr val="000000"/>
                </a:solidFill>
                <a:effectLst/>
                <a:latin typeface="+mj-lt"/>
              </a:rPr>
              <a:t> [online] [cit. 2022-11-20]. Dostupné z: </a:t>
            </a:r>
            <a:r>
              <a:rPr lang="cs-CZ" sz="1400" b="0" i="0" u="none" strike="noStrike" dirty="0">
                <a:solidFill>
                  <a:srgbClr val="000000"/>
                </a:solidFill>
                <a:effectLst/>
                <a:latin typeface="+mj-lt"/>
                <a:hlinkClick r:id="rId4"/>
              </a:rPr>
              <a:t>https://www.geeksforgeeks.org/android-architecture/</a:t>
            </a:r>
            <a:endParaRPr lang="cs-CZ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107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2" name="Rectangle 5128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3CFEC8C-F420-1618-E9A7-7333A9C30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123837"/>
            <a:ext cx="6451110" cy="1255469"/>
          </a:xfrm>
        </p:spPr>
        <p:txBody>
          <a:bodyPr>
            <a:normAutofit/>
          </a:bodyPr>
          <a:lstStyle/>
          <a:p>
            <a:r>
              <a:rPr lang="cs-CZ" b="1" u="sng"/>
              <a:t>Souborové systémy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EABF1A-61A4-4067-824A-B00D08DF7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8" y="2510395"/>
            <a:ext cx="6451109" cy="3274586"/>
          </a:xfrm>
        </p:spPr>
        <p:txBody>
          <a:bodyPr anchor="t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Viditelný oproti iOS </a:t>
            </a:r>
          </a:p>
          <a:p>
            <a:r>
              <a:rPr lang="cs-CZ" dirty="0">
                <a:solidFill>
                  <a:srgbClr val="FFFFFF"/>
                </a:solidFill>
              </a:rPr>
              <a:t>Větší možnosti</a:t>
            </a:r>
          </a:p>
          <a:p>
            <a:r>
              <a:rPr lang="cs-CZ" dirty="0">
                <a:solidFill>
                  <a:srgbClr val="FFFFFF"/>
                </a:solidFill>
              </a:rPr>
              <a:t>Možnost doplnění správců dle výběru</a:t>
            </a:r>
          </a:p>
          <a:p>
            <a:r>
              <a:rPr lang="cs-CZ" dirty="0">
                <a:solidFill>
                  <a:srgbClr val="FFFFFF"/>
                </a:solidFill>
              </a:rPr>
              <a:t>Závislý na verzi (mění se)</a:t>
            </a:r>
          </a:p>
        </p:txBody>
      </p:sp>
      <p:pic>
        <p:nvPicPr>
          <p:cNvPr id="5124" name="Picture 4" descr="Jak spravovat soubory a používat systém souborů v systému Android -  TheFastCode">
            <a:extLst>
              <a:ext uri="{FF2B5EF4-FFF2-40B4-BE49-F238E27FC236}">
                <a16:creationId xmlns:a16="http://schemas.microsoft.com/office/drawing/2014/main" id="{47B3843F-28C2-6DA1-426B-8705D9A88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42842" y="758953"/>
            <a:ext cx="2998490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3" name="Rectangle 5132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63350A0-188C-F70C-BEEA-02D452116862}"/>
              </a:ext>
            </a:extLst>
          </p:cNvPr>
          <p:cNvSpPr txBox="1"/>
          <p:nvPr/>
        </p:nvSpPr>
        <p:spPr>
          <a:xfrm>
            <a:off x="7589159" y="6058303"/>
            <a:ext cx="4066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</a:rPr>
              <a:t>Jak </a:t>
            </a:r>
            <a:r>
              <a:rPr lang="en-US" sz="1200" b="0" i="0" dirty="0" err="1">
                <a:solidFill>
                  <a:srgbClr val="000000"/>
                </a:solidFill>
                <a:effectLst/>
              </a:rPr>
              <a:t>spravovat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effectLst/>
              </a:rPr>
              <a:t>soubory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 a </a:t>
            </a:r>
            <a:r>
              <a:rPr lang="en-US" sz="1200" b="0" i="0" dirty="0" err="1">
                <a:solidFill>
                  <a:srgbClr val="000000"/>
                </a:solidFill>
                <a:effectLst/>
              </a:rPr>
              <a:t>používat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effectLst/>
              </a:rPr>
              <a:t>systém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rgbClr val="000000"/>
                </a:solidFill>
                <a:effectLst/>
              </a:rPr>
              <a:t>souborů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 v </a:t>
            </a:r>
            <a:r>
              <a:rPr lang="en-US" sz="1200" b="0" i="0" dirty="0" err="1">
                <a:solidFill>
                  <a:srgbClr val="000000"/>
                </a:solidFill>
                <a:effectLst/>
              </a:rPr>
              <a:t>systému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 Android</a:t>
            </a:r>
            <a:r>
              <a:rPr lang="cs-CZ" sz="1200" b="0" i="0" dirty="0">
                <a:solidFill>
                  <a:srgbClr val="000000"/>
                </a:solidFill>
                <a:effectLst/>
              </a:rPr>
              <a:t> | 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[online]</a:t>
            </a:r>
            <a:r>
              <a:rPr lang="cs-CZ" sz="1200" b="0" i="0" dirty="0">
                <a:solidFill>
                  <a:srgbClr val="000000"/>
                </a:solidFill>
                <a:effectLst/>
              </a:rPr>
              <a:t> </a:t>
            </a:r>
            <a:r>
              <a:rPr lang="cs-CZ" sz="1200" b="0" i="0" dirty="0">
                <a:solidFill>
                  <a:srgbClr val="000000"/>
                </a:solidFill>
                <a:effectLst/>
                <a:latin typeface="+mj-lt"/>
              </a:rPr>
              <a:t>[cit. 2022-11-20] </a:t>
            </a:r>
            <a:r>
              <a:rPr lang="en-US" sz="1200" b="0" i="0" dirty="0">
                <a:solidFill>
                  <a:srgbClr val="000000"/>
                </a:solidFill>
                <a:effectLst/>
              </a:rPr>
              <a:t>. Dostupné z: 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hlinkClick r:id="rId4"/>
              </a:rPr>
              <a:t>https://www.thefastcode.com/cs-czk/article/how-to-manage-files-and-use-the-file-system-on-android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87735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EB17C8F6-D357-4254-BBAC-96B01EEBE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47203"/>
            <a:ext cx="11707367" cy="2572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0171D0-4DCB-59CC-16A2-CCF19B7B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4052" y="4336597"/>
            <a:ext cx="4825480" cy="1883228"/>
          </a:xfrm>
        </p:spPr>
        <p:txBody>
          <a:bodyPr>
            <a:normAutofit fontScale="90000"/>
          </a:bodyPr>
          <a:lstStyle/>
          <a:p>
            <a:pPr algn="r"/>
            <a:r>
              <a:rPr lang="cs-CZ" sz="5400" b="1" u="sng" dirty="0"/>
              <a:t>Bezpečnost</a:t>
            </a:r>
            <a:br>
              <a:rPr lang="cs-CZ" sz="4100" b="1" u="sng" dirty="0"/>
            </a:br>
            <a:br>
              <a:rPr lang="cs-CZ" sz="4100" dirty="0"/>
            </a:br>
            <a:endParaRPr lang="cs-CZ" sz="4100" b="1" u="sng" dirty="0"/>
          </a:p>
        </p:txBody>
      </p:sp>
      <p:pic>
        <p:nvPicPr>
          <p:cNvPr id="1036" name="Picture 12" descr="Android – Google Play Protect">
            <a:extLst>
              <a:ext uri="{FF2B5EF4-FFF2-40B4-BE49-F238E27FC236}">
                <a16:creationId xmlns:a16="http://schemas.microsoft.com/office/drawing/2014/main" id="{8CD3E473-73EC-C7FC-13E9-737CD750E1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56" r="-4" b="1989"/>
          <a:stretch/>
        </p:blipFill>
        <p:spPr bwMode="auto">
          <a:xfrm>
            <a:off x="702483" y="407401"/>
            <a:ext cx="3170655" cy="302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91440FD-D71C-F221-6211-D4278634F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22" b="5"/>
          <a:stretch/>
        </p:blipFill>
        <p:spPr bwMode="auto">
          <a:xfrm>
            <a:off x="3667329" y="398588"/>
            <a:ext cx="2815978" cy="317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 is rolling out Google Play Protect, a machine-learning system to  protect Android usersSecurity Affairs">
            <a:extLst>
              <a:ext uri="{FF2B5EF4-FFF2-40B4-BE49-F238E27FC236}">
                <a16:creationId xmlns:a16="http://schemas.microsoft.com/office/drawing/2014/main" id="{F89143AD-CFFB-65A7-7B68-D1090E7D8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" r="5" b="7650"/>
          <a:stretch/>
        </p:blipFill>
        <p:spPr bwMode="auto">
          <a:xfrm>
            <a:off x="6483307" y="398588"/>
            <a:ext cx="3019921" cy="281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droid – Google Play Protect">
            <a:extLst>
              <a:ext uri="{FF2B5EF4-FFF2-40B4-BE49-F238E27FC236}">
                <a16:creationId xmlns:a16="http://schemas.microsoft.com/office/drawing/2014/main" id="{EE90FDD7-A1A6-91ED-C4FD-A8843C6426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8" r="-2" b="9499"/>
          <a:stretch/>
        </p:blipFill>
        <p:spPr bwMode="auto">
          <a:xfrm>
            <a:off x="9299285" y="664933"/>
            <a:ext cx="2539147" cy="226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DF052F-A692-317D-B5CD-132E76271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123" y="4555164"/>
            <a:ext cx="4846151" cy="2106016"/>
          </a:xfrm>
        </p:spPr>
        <p:txBody>
          <a:bodyPr>
            <a:normAutofit/>
          </a:bodyPr>
          <a:lstStyle/>
          <a:p>
            <a:r>
              <a:rPr lang="cs-CZ" sz="1800" dirty="0">
                <a:solidFill>
                  <a:srgbClr val="FFFFFF"/>
                </a:solidFill>
              </a:rPr>
              <a:t>Google Play </a:t>
            </a:r>
            <a:r>
              <a:rPr lang="cs-CZ" sz="1800" dirty="0" err="1">
                <a:solidFill>
                  <a:srgbClr val="FFFFFF"/>
                </a:solidFill>
              </a:rPr>
              <a:t>Protect</a:t>
            </a:r>
            <a:r>
              <a:rPr lang="cs-CZ" sz="1800" dirty="0">
                <a:solidFill>
                  <a:srgbClr val="FFFFFF"/>
                </a:solidFill>
              </a:rPr>
              <a:t> – Antivir</a:t>
            </a:r>
          </a:p>
          <a:p>
            <a:r>
              <a:rPr lang="cs-CZ" sz="1800" dirty="0" err="1">
                <a:solidFill>
                  <a:srgbClr val="FFFFFF"/>
                </a:solidFill>
              </a:rPr>
              <a:t>Find</a:t>
            </a:r>
            <a:r>
              <a:rPr lang="cs-CZ" sz="1800" dirty="0">
                <a:solidFill>
                  <a:srgbClr val="FFFFFF"/>
                </a:solidFill>
              </a:rPr>
              <a:t> My </a:t>
            </a:r>
            <a:r>
              <a:rPr lang="cs-CZ" sz="1800" dirty="0" err="1">
                <a:solidFill>
                  <a:srgbClr val="FFFFFF"/>
                </a:solidFill>
              </a:rPr>
              <a:t>Device</a:t>
            </a:r>
            <a:endParaRPr lang="cs-CZ" sz="1800" dirty="0">
              <a:solidFill>
                <a:srgbClr val="FFFFFF"/>
              </a:solidFill>
            </a:endParaRPr>
          </a:p>
          <a:p>
            <a:r>
              <a:rPr lang="cs-CZ" sz="1800" dirty="0">
                <a:solidFill>
                  <a:srgbClr val="FFFFFF"/>
                </a:solidFill>
              </a:rPr>
              <a:t>Bezpečný internet</a:t>
            </a:r>
          </a:p>
          <a:p>
            <a:r>
              <a:rPr lang="cs-CZ" sz="1800" dirty="0">
                <a:solidFill>
                  <a:srgbClr val="FFFFFF"/>
                </a:solidFill>
              </a:rPr>
              <a:t>Bezpečnost aplikací</a:t>
            </a:r>
          </a:p>
          <a:p>
            <a:r>
              <a:rPr lang="cs-CZ" sz="1800" dirty="0">
                <a:solidFill>
                  <a:srgbClr val="FFFFFF"/>
                </a:solidFill>
              </a:rPr>
              <a:t>Časově opakované kontroly</a:t>
            </a:r>
          </a:p>
          <a:p>
            <a:endParaRPr lang="cs-CZ" sz="1800" dirty="0">
              <a:solidFill>
                <a:srgbClr val="FFFFFF"/>
              </a:solidFill>
            </a:endParaRPr>
          </a:p>
          <a:p>
            <a:endParaRPr lang="cs-CZ" sz="1800" dirty="0">
              <a:solidFill>
                <a:srgbClr val="FFFFFF"/>
              </a:solidFill>
            </a:endParaRPr>
          </a:p>
          <a:p>
            <a:endParaRPr lang="cs-CZ" sz="1800" dirty="0">
              <a:solidFill>
                <a:srgbClr val="FFFFFF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53EFB08-667D-DDD2-1CD7-32E1F42F4B66}"/>
              </a:ext>
            </a:extLst>
          </p:cNvPr>
          <p:cNvSpPr txBox="1"/>
          <p:nvPr/>
        </p:nvSpPr>
        <p:spPr>
          <a:xfrm>
            <a:off x="271351" y="3422162"/>
            <a:ext cx="114360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Play-protect</a:t>
            </a:r>
            <a:r>
              <a:rPr lang="en-US" sz="8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In: . [cit. 2022-11-20]. Dostupné z: https://www.android.com/static/2016/img/security/overview/device-with-gmail.png</a:t>
            </a:r>
            <a:endParaRPr lang="cs-CZ" sz="800" dirty="0"/>
          </a:p>
        </p:txBody>
      </p:sp>
    </p:spTree>
    <p:extLst>
      <p:ext uri="{BB962C8B-B14F-4D97-AF65-F5344CB8AC3E}">
        <p14:creationId xmlns:p14="http://schemas.microsoft.com/office/powerpoint/2010/main" val="25642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2000"/>
            <a:ext cx="4053525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AB1511-1F83-8FD4-C7BC-4F0CDCFE0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616348" cy="13226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u="sng" dirty="0" err="1"/>
              <a:t>Vizuální</a:t>
            </a:r>
            <a:r>
              <a:rPr lang="en-US" b="1" u="sng" dirty="0"/>
              <a:t> </a:t>
            </a:r>
            <a:r>
              <a:rPr lang="en-US" b="1" u="sng" dirty="0" err="1"/>
              <a:t>stránka</a:t>
            </a:r>
            <a:endParaRPr lang="en-US" b="1" u="sng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556AD24-3409-FD28-3265-210A5F607F00}"/>
              </a:ext>
            </a:extLst>
          </p:cNvPr>
          <p:cNvSpPr txBox="1"/>
          <p:nvPr/>
        </p:nvSpPr>
        <p:spPr>
          <a:xfrm>
            <a:off x="34330" y="2446474"/>
            <a:ext cx="4053526" cy="33868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182880" defTabSz="914400">
              <a:lnSpc>
                <a:spcPts val="43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 err="1">
                <a:solidFill>
                  <a:srgbClr val="FFFFFF"/>
                </a:solidFill>
              </a:rPr>
              <a:t>Přehlednost</a:t>
            </a:r>
            <a:r>
              <a:rPr lang="en-US" dirty="0">
                <a:solidFill>
                  <a:srgbClr val="FFFFFF"/>
                </a:solidFill>
              </a:rPr>
              <a:t> – </a:t>
            </a:r>
            <a:r>
              <a:rPr lang="cs-CZ" dirty="0">
                <a:solidFill>
                  <a:srgbClr val="FFFFFF"/>
                </a:solidFill>
              </a:rPr>
              <a:t>S</a:t>
            </a:r>
            <a:r>
              <a:rPr lang="en-US" dirty="0" err="1">
                <a:solidFill>
                  <a:srgbClr val="FFFFFF"/>
                </a:solidFill>
              </a:rPr>
              <a:t>nadné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zacházení</a:t>
            </a:r>
            <a:endParaRPr lang="en-US" dirty="0">
              <a:solidFill>
                <a:srgbClr val="FFFFFF"/>
              </a:solidFill>
            </a:endParaRPr>
          </a:p>
          <a:p>
            <a:pPr indent="-182880" defTabSz="914400">
              <a:lnSpc>
                <a:spcPts val="43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 err="1">
                <a:solidFill>
                  <a:srgbClr val="FFFFFF"/>
                </a:solidFill>
              </a:rPr>
              <a:t>Praktičnost</a:t>
            </a:r>
            <a:r>
              <a:rPr lang="en-US" dirty="0">
                <a:solidFill>
                  <a:srgbClr val="FFFFFF"/>
                </a:solidFill>
              </a:rPr>
              <a:t> – </a:t>
            </a:r>
            <a:r>
              <a:rPr lang="cs-CZ" dirty="0">
                <a:solidFill>
                  <a:srgbClr val="FFFFFF"/>
                </a:solidFill>
              </a:rPr>
              <a:t>A</a:t>
            </a:r>
            <a:r>
              <a:rPr lang="en-US" dirty="0" err="1">
                <a:solidFill>
                  <a:srgbClr val="FFFFFF"/>
                </a:solidFill>
              </a:rPr>
              <a:t>ntivir</a:t>
            </a:r>
            <a:r>
              <a:rPr lang="en-US" dirty="0">
                <a:solidFill>
                  <a:srgbClr val="FFFFFF"/>
                </a:solidFill>
              </a:rPr>
              <a:t>, google</a:t>
            </a:r>
          </a:p>
          <a:p>
            <a:pPr indent="-182880" defTabSz="914400">
              <a:lnSpc>
                <a:spcPts val="43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 err="1">
                <a:solidFill>
                  <a:srgbClr val="FFFFFF"/>
                </a:solidFill>
              </a:rPr>
              <a:t>Ovládání</a:t>
            </a:r>
            <a:r>
              <a:rPr lang="en-US" dirty="0">
                <a:solidFill>
                  <a:srgbClr val="FFFFFF"/>
                </a:solidFill>
              </a:rPr>
              <a:t> – </a:t>
            </a:r>
            <a:r>
              <a:rPr lang="cs-CZ" dirty="0">
                <a:solidFill>
                  <a:srgbClr val="FFFFFF"/>
                </a:solidFill>
              </a:rPr>
              <a:t>L</a:t>
            </a:r>
            <a:r>
              <a:rPr lang="en-US" dirty="0" err="1">
                <a:solidFill>
                  <a:srgbClr val="FFFFFF"/>
                </a:solidFill>
              </a:rPr>
              <a:t>ehké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stahování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cs-CZ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souborů</a:t>
            </a:r>
            <a:endParaRPr lang="en-US" dirty="0">
              <a:solidFill>
                <a:srgbClr val="FFFFFF"/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056" name="Picture 8" descr="Get Android 11 on Redmi Note 7 Pro with AwakenOS 1.3">
            <a:extLst>
              <a:ext uri="{FF2B5EF4-FFF2-40B4-BE49-F238E27FC236}">
                <a16:creationId xmlns:a16="http://schemas.microsoft.com/office/drawing/2014/main" id="{E47F4804-C0ED-7057-8F30-2C2F7AB91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38"/>
          <a:stretch/>
        </p:blipFill>
        <p:spPr bwMode="auto">
          <a:xfrm>
            <a:off x="8367462" y="2916935"/>
            <a:ext cx="2854455" cy="337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ift Card Promotions, Where to Buy, &amp; Management - Google Play">
            <a:extLst>
              <a:ext uri="{FF2B5EF4-FFF2-40B4-BE49-F238E27FC236}">
                <a16:creationId xmlns:a16="http://schemas.microsoft.com/office/drawing/2014/main" id="{5800EEBA-D404-AFD7-B51B-28CC08713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6704" y="569874"/>
            <a:ext cx="3435969" cy="217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3 nejlepší témata: udělejte si stylové Vánoce i v telefonu">
            <a:extLst>
              <a:ext uri="{FF2B5EF4-FFF2-40B4-BE49-F238E27FC236}">
                <a16:creationId xmlns:a16="http://schemas.microsoft.com/office/drawing/2014/main" id="{EDB4E706-8E1B-802D-7BAB-80589950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7514" y="503637"/>
            <a:ext cx="2705960" cy="585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4D98FB79-C08F-F44C-C828-562C96A6EABB}"/>
              </a:ext>
            </a:extLst>
          </p:cNvPr>
          <p:cNvSpPr txBox="1"/>
          <p:nvPr/>
        </p:nvSpPr>
        <p:spPr>
          <a:xfrm>
            <a:off x="219422" y="6068223"/>
            <a:ext cx="4236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0" i="0" dirty="0">
                <a:effectLst/>
                <a:latin typeface="+mj-lt"/>
              </a:rPr>
              <a:t>Android Apps [online]. In: . [cit. 2022-11-20]. Dostupné z: </a:t>
            </a:r>
            <a:r>
              <a:rPr lang="it-IT" sz="1200" b="0" i="0" dirty="0">
                <a:effectLst/>
                <a:latin typeface="+mj-lt"/>
                <a:hlinkClick r:id="rId6" tooltip="https://lh3.googleusercontent.com/k-2BsI5KgLC2JxQd2rFA-3RHg8-tvoXjinZFNvZLnGlbcxR8xkVM9GW3tqBK5xbTSJKr3-Ei2SVuDoAuYaR3-AL5DVlV5vNj10d6x-604UYNa0sfGEU=s0"/>
              </a:rPr>
              <a:t>https://lh3.googleusercontent.com/k-2BsI5KgLC2JxQd2rFA-3RHg8-tvoXjinZFNvZLnGlbcxR8xkVM9GW3tqBK5xbTSJKr3-Ei2SVuDoAuYaR3-AL5DVlV5vNj10d6x-604UYNa0sfGEU=s0</a:t>
            </a:r>
            <a:endParaRPr lang="cs-CZ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691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Rectangle 3097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102" name="Rectangle 3101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00114"/>
            <a:ext cx="4053525" cy="425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5CBB302-B70A-614E-E1AF-40272A15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3" y="1508760"/>
            <a:ext cx="4053525" cy="7474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u="sng" spc="-100" dirty="0" err="1"/>
              <a:t>Porovnání</a:t>
            </a:r>
            <a:r>
              <a:rPr lang="en-US" sz="4400" b="1" u="sng" spc="-100" dirty="0"/>
              <a:t> s IOS</a:t>
            </a:r>
          </a:p>
        </p:txBody>
      </p:sp>
      <p:pic>
        <p:nvPicPr>
          <p:cNvPr id="3080" name="Picture 8" descr="How to Track an Android Phone, Tablet, or Smartwatch | Digital Trends">
            <a:extLst>
              <a:ext uri="{FF2B5EF4-FFF2-40B4-BE49-F238E27FC236}">
                <a16:creationId xmlns:a16="http://schemas.microsoft.com/office/drawing/2014/main" id="{1F136222-1F5D-9297-DB31-D57AA0764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8765" y="1300113"/>
            <a:ext cx="1969220" cy="425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Locate a device in Find My on iPhone - Apple Support">
            <a:extLst>
              <a:ext uri="{FF2B5EF4-FFF2-40B4-BE49-F238E27FC236}">
                <a16:creationId xmlns:a16="http://schemas.microsoft.com/office/drawing/2014/main" id="{078776F4-761C-B406-78FD-E8495C4D56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10"/>
          <a:stretch/>
        </p:blipFill>
        <p:spPr bwMode="auto">
          <a:xfrm>
            <a:off x="8938655" y="1300113"/>
            <a:ext cx="2101457" cy="425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B0A30E9-CB98-83DD-0AE2-482C2218853F}"/>
              </a:ext>
            </a:extLst>
          </p:cNvPr>
          <p:cNvSpPr txBox="1"/>
          <p:nvPr/>
        </p:nvSpPr>
        <p:spPr>
          <a:xfrm>
            <a:off x="228600" y="2425407"/>
            <a:ext cx="3468189" cy="303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cs-CZ" dirty="0">
                <a:solidFill>
                  <a:schemeClr val="bg1"/>
                </a:solidFill>
              </a:rPr>
              <a:t>Rychlost &gt; kvalita</a:t>
            </a:r>
          </a:p>
          <a:p>
            <a:pPr>
              <a:lnSpc>
                <a:spcPts val="2900"/>
              </a:lnSpc>
            </a:pPr>
            <a:r>
              <a:rPr lang="cs-CZ" dirty="0">
                <a:solidFill>
                  <a:schemeClr val="bg1"/>
                </a:solidFill>
              </a:rPr>
              <a:t>Horší propojenost</a:t>
            </a:r>
          </a:p>
          <a:p>
            <a:pPr>
              <a:lnSpc>
                <a:spcPts val="2900"/>
              </a:lnSpc>
            </a:pPr>
            <a:r>
              <a:rPr lang="cs-CZ" dirty="0">
                <a:solidFill>
                  <a:schemeClr val="bg1"/>
                </a:solidFill>
              </a:rPr>
              <a:t>Větší volnost</a:t>
            </a:r>
          </a:p>
          <a:p>
            <a:pPr>
              <a:lnSpc>
                <a:spcPts val="2900"/>
              </a:lnSpc>
            </a:pPr>
            <a:r>
              <a:rPr lang="cs-CZ" dirty="0">
                <a:solidFill>
                  <a:schemeClr val="bg1"/>
                </a:solidFill>
              </a:rPr>
              <a:t>Nedokonalé zabezpečení</a:t>
            </a:r>
          </a:p>
          <a:p>
            <a:pPr>
              <a:lnSpc>
                <a:spcPts val="2900"/>
              </a:lnSpc>
            </a:pPr>
            <a:r>
              <a:rPr lang="cs-CZ" dirty="0">
                <a:solidFill>
                  <a:schemeClr val="bg1"/>
                </a:solidFill>
              </a:rPr>
              <a:t>Levnější produkty</a:t>
            </a:r>
          </a:p>
          <a:p>
            <a:pPr>
              <a:lnSpc>
                <a:spcPts val="2900"/>
              </a:lnSpc>
            </a:pPr>
            <a:r>
              <a:rPr lang="cs-CZ" dirty="0">
                <a:solidFill>
                  <a:schemeClr val="bg1"/>
                </a:solidFill>
              </a:rPr>
              <a:t>Dostupnější </a:t>
            </a:r>
          </a:p>
          <a:p>
            <a:pPr>
              <a:lnSpc>
                <a:spcPts val="2900"/>
              </a:lnSpc>
            </a:pPr>
            <a:endParaRPr lang="cs-CZ" dirty="0">
              <a:solidFill>
                <a:schemeClr val="bg1"/>
              </a:solidFill>
            </a:endParaRPr>
          </a:p>
          <a:p>
            <a:pPr>
              <a:lnSpc>
                <a:spcPts val="2900"/>
              </a:lnSpc>
            </a:pP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31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F9C44B-E61F-5B9E-2912-4AEC337E2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1283461"/>
          </a:xfrm>
        </p:spPr>
        <p:txBody>
          <a:bodyPr anchor="b">
            <a:normAutofit/>
          </a:bodyPr>
          <a:lstStyle/>
          <a:p>
            <a:r>
              <a:rPr lang="cs-CZ" b="1" u="sng" dirty="0"/>
              <a:t>Využití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C31608-BC41-5F83-A38C-CBBE3888F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407298"/>
            <a:ext cx="2947482" cy="3498980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cs-CZ" sz="1600" dirty="0">
              <a:solidFill>
                <a:srgbClr val="FFFFFF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cs-CZ" sz="1600" dirty="0">
              <a:solidFill>
                <a:srgbClr val="FFFFFF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cs-CZ" sz="1600" dirty="0">
                <a:solidFill>
                  <a:srgbClr val="FFFFFF"/>
                </a:solidFill>
              </a:rPr>
              <a:t>Telefony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1600" dirty="0">
                <a:solidFill>
                  <a:srgbClr val="FFFFFF"/>
                </a:solidFill>
              </a:rPr>
              <a:t>  Tablety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1600" dirty="0">
                <a:solidFill>
                  <a:srgbClr val="FFFFFF"/>
                </a:solidFill>
              </a:rPr>
              <a:t>  Všechna zařízení</a:t>
            </a:r>
          </a:p>
        </p:txBody>
      </p:sp>
      <p:pic>
        <p:nvPicPr>
          <p:cNvPr id="1026" name="Picture 2" descr="Skvělé aplikace na Android TV, které musíte mít. Znáte je?">
            <a:extLst>
              <a:ext uri="{FF2B5EF4-FFF2-40B4-BE49-F238E27FC236}">
                <a16:creationId xmlns:a16="http://schemas.microsoft.com/office/drawing/2014/main" id="{F63838C3-1486-CEF6-69C4-1720E7B09C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39" b="1"/>
          <a:stretch/>
        </p:blipFill>
        <p:spPr bwMode="auto">
          <a:xfrm>
            <a:off x="3778897" y="758952"/>
            <a:ext cx="7772401" cy="533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36C2C06F-BC4B-05F1-EBB0-7099B00603F5}"/>
              </a:ext>
            </a:extLst>
          </p:cNvPr>
          <p:cNvSpPr txBox="1"/>
          <p:nvPr/>
        </p:nvSpPr>
        <p:spPr>
          <a:xfrm>
            <a:off x="7162800" y="6089904"/>
            <a:ext cx="431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Homepage | Svět Androida [online]. Copyright © [cit. 20.11.2022]. 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32615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911242-B129-F6BB-AB6A-50618618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Využití</a:t>
            </a:r>
          </a:p>
        </p:txBody>
      </p:sp>
      <p:graphicFrame>
        <p:nvGraphicFramePr>
          <p:cNvPr id="6" name="Zástupný obsah 5">
            <a:extLst>
              <a:ext uri="{FF2B5EF4-FFF2-40B4-BE49-F238E27FC236}">
                <a16:creationId xmlns:a16="http://schemas.microsoft.com/office/drawing/2014/main" id="{D5D957D7-D1E9-C326-9196-F09D0FD370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39241" y="868362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3121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911242-B129-F6BB-AB6A-50618618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Využití</a:t>
            </a:r>
          </a:p>
        </p:txBody>
      </p:sp>
      <p:graphicFrame>
        <p:nvGraphicFramePr>
          <p:cNvPr id="6" name="Zástupný obsah 5">
            <a:extLst>
              <a:ext uri="{FF2B5EF4-FFF2-40B4-BE49-F238E27FC236}">
                <a16:creationId xmlns:a16="http://schemas.microsoft.com/office/drawing/2014/main" id="{D5D957D7-D1E9-C326-9196-F09D0FD370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39241" y="868362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22735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911242-B129-F6BB-AB6A-50618618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Využití</a:t>
            </a:r>
          </a:p>
        </p:txBody>
      </p:sp>
      <p:graphicFrame>
        <p:nvGraphicFramePr>
          <p:cNvPr id="6" name="Zástupný obsah 5">
            <a:extLst>
              <a:ext uri="{FF2B5EF4-FFF2-40B4-BE49-F238E27FC236}">
                <a16:creationId xmlns:a16="http://schemas.microsoft.com/office/drawing/2014/main" id="{D5D957D7-D1E9-C326-9196-F09D0FD370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39241" y="868362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247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13A95FF-1A75-49AA-86AE-EED61BD0E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DDAFB8-46C9-FB6F-F55C-9AB4311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1123837"/>
            <a:ext cx="4016116" cy="1255469"/>
          </a:xfrm>
        </p:spPr>
        <p:txBody>
          <a:bodyPr>
            <a:normAutofit/>
          </a:bodyPr>
          <a:lstStyle/>
          <a:p>
            <a:r>
              <a:rPr lang="cs-CZ" b="1" u="sng" dirty="0"/>
              <a:t>Minimální požadavky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565019-4393-9C83-1AA1-BFD22D00E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 anchor="t"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6GB RAM</a:t>
            </a:r>
          </a:p>
          <a:p>
            <a:r>
              <a:rPr lang="cs-CZ">
                <a:solidFill>
                  <a:srgbClr val="FFFFFF"/>
                </a:solidFill>
              </a:rPr>
              <a:t>12MP zadní kamera</a:t>
            </a:r>
          </a:p>
          <a:p>
            <a:r>
              <a:rPr lang="cs-CZ">
                <a:solidFill>
                  <a:srgbClr val="FFFFFF"/>
                </a:solidFill>
              </a:rPr>
              <a:t>FHD display</a:t>
            </a:r>
          </a:p>
          <a:p>
            <a:r>
              <a:rPr lang="cs-CZ">
                <a:solidFill>
                  <a:srgbClr val="FFFFFF"/>
                </a:solidFill>
              </a:rPr>
              <a:t>Zápis 120MB/s</a:t>
            </a:r>
          </a:p>
          <a:p>
            <a:r>
              <a:rPr lang="cs-CZ">
                <a:solidFill>
                  <a:srgbClr val="FFFFFF"/>
                </a:solidFill>
              </a:rPr>
              <a:t>Čtení 250MB/s</a:t>
            </a:r>
          </a:p>
        </p:txBody>
      </p:sp>
      <p:pic>
        <p:nvPicPr>
          <p:cNvPr id="2050" name="Picture 2" descr="Google launches new curriculum for Android app development with Kotlin |  Mobile Marketing Reads">
            <a:extLst>
              <a:ext uri="{FF2B5EF4-FFF2-40B4-BE49-F238E27FC236}">
                <a16:creationId xmlns:a16="http://schemas.microsoft.com/office/drawing/2014/main" id="{4E5CF585-59FA-0944-1FC1-6651DBEFA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2" r="18032" b="-1"/>
          <a:stretch/>
        </p:blipFill>
        <p:spPr bwMode="auto">
          <a:xfrm>
            <a:off x="5137463" y="759599"/>
            <a:ext cx="6193767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206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758953"/>
            <a:ext cx="3577575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D45F0E-D698-C9FB-B66C-EEC1D5383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1038177"/>
          </a:xfrm>
        </p:spPr>
        <p:txBody>
          <a:bodyPr anchor="b">
            <a:normAutofit/>
          </a:bodyPr>
          <a:lstStyle/>
          <a:p>
            <a:r>
              <a:rPr lang="cs-CZ" sz="2400" b="1" u="sng"/>
              <a:t>Aktualizace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64AF0A-4AA0-1389-9DF1-A43747244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162014"/>
            <a:ext cx="2947482" cy="3744264"/>
          </a:xfrm>
        </p:spPr>
        <p:txBody>
          <a:bodyPr anchor="t">
            <a:normAutofit/>
          </a:bodyPr>
          <a:lstStyle/>
          <a:p>
            <a:r>
              <a:rPr lang="cs-CZ" sz="1600">
                <a:solidFill>
                  <a:srgbClr val="FFFFFF"/>
                </a:solidFill>
              </a:rPr>
              <a:t>Uživatel dostane oznámení o aktualizaci</a:t>
            </a:r>
          </a:p>
          <a:p>
            <a:r>
              <a:rPr lang="cs-CZ" sz="1600">
                <a:solidFill>
                  <a:srgbClr val="FFFFFF"/>
                </a:solidFill>
              </a:rPr>
              <a:t>Při potvrzení aktualizace se zařízení vypne a aktualizuje</a:t>
            </a:r>
          </a:p>
          <a:p>
            <a:r>
              <a:rPr lang="cs-CZ" sz="1600">
                <a:solidFill>
                  <a:srgbClr val="FFFFFF"/>
                </a:solidFill>
              </a:rPr>
              <a:t>Aktualizace by měly být dostupné 2-3 roky</a:t>
            </a:r>
          </a:p>
        </p:txBody>
      </p:sp>
      <p:pic>
        <p:nvPicPr>
          <p:cNvPr id="3074" name="Picture 2" descr="Samsung: Android updates even faster in the future? | NextPit">
            <a:extLst>
              <a:ext uri="{FF2B5EF4-FFF2-40B4-BE49-F238E27FC236}">
                <a16:creationId xmlns:a16="http://schemas.microsoft.com/office/drawing/2014/main" id="{49BA9C67-5FA5-111F-709A-A7D7C6B1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9935" y="1313572"/>
            <a:ext cx="7491363" cy="421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36647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1FCF8D96-ACCE-4A38-BFE7-4D631184D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9254"/>
            <a:ext cx="5608255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FBBEF4-335C-7A59-1A97-99A44885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123837"/>
            <a:ext cx="4998963" cy="1255469"/>
          </a:xfrm>
        </p:spPr>
        <p:txBody>
          <a:bodyPr>
            <a:normAutofit/>
          </a:bodyPr>
          <a:lstStyle/>
          <a:p>
            <a:r>
              <a:rPr lang="cs-CZ" b="1" u="sng" dirty="0"/>
              <a:t>Drivery</a:t>
            </a:r>
            <a:br>
              <a:rPr lang="cs-CZ" b="1" u="sng" dirty="0"/>
            </a:br>
            <a:endParaRPr lang="cs-CZ" b="1" u="sng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4C8FA0-5C2B-9055-015B-35311F186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998962" cy="3274586"/>
          </a:xfrm>
        </p:spPr>
        <p:txBody>
          <a:bodyPr anchor="t"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Součástí OS</a:t>
            </a:r>
          </a:p>
          <a:p>
            <a:r>
              <a:rPr lang="cs-CZ">
                <a:solidFill>
                  <a:srgbClr val="FFFFFF"/>
                </a:solidFill>
              </a:rPr>
              <a:t>Není třeba je manuálně aktualizovat</a:t>
            </a:r>
          </a:p>
          <a:p>
            <a:r>
              <a:rPr lang="cs-CZ">
                <a:solidFill>
                  <a:srgbClr val="FFFFFF"/>
                </a:solidFill>
              </a:rPr>
              <a:t>USB drivery</a:t>
            </a:r>
          </a:p>
        </p:txBody>
      </p:sp>
      <p:pic>
        <p:nvPicPr>
          <p:cNvPr id="4098" name="Picture 2" descr="USB Driver for Android Devices - Apps on Google Play">
            <a:extLst>
              <a:ext uri="{FF2B5EF4-FFF2-40B4-BE49-F238E27FC236}">
                <a16:creationId xmlns:a16="http://schemas.microsoft.com/office/drawing/2014/main" id="{FFA5AF1A-D1B8-B8C0-32FA-14B971BED6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8" b="-4"/>
          <a:stretch/>
        </p:blipFill>
        <p:spPr bwMode="auto">
          <a:xfrm>
            <a:off x="6083162" y="759254"/>
            <a:ext cx="5238340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842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78C413-35E6-3D10-3EA3-0BE2F0D6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Diskuze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1622D8-AF24-13D5-DE03-4E08D961E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Máte mobilní zařízení s Android OS? Co je na něm skvělé a co zas naopak nemusíte?</a:t>
            </a:r>
          </a:p>
          <a:p>
            <a:r>
              <a:rPr lang="cs-CZ" dirty="0"/>
              <a:t>Jaká sdělená informace vám přišla nejzajímavější?</a:t>
            </a:r>
          </a:p>
          <a:p>
            <a:r>
              <a:rPr lang="cs-CZ" dirty="0"/>
              <a:t>Pro koho jsou podle vás Android zařízení dobrá, a pro koho ne?</a:t>
            </a:r>
          </a:p>
          <a:p>
            <a:r>
              <a:rPr lang="cs-CZ" dirty="0"/>
              <a:t>Jakou jinou výhodu/nevýhodu najdete proti iOS?</a:t>
            </a:r>
          </a:p>
          <a:p>
            <a:r>
              <a:rPr lang="cs-CZ" dirty="0"/>
              <a:t>Jaký je dle vašeho názoru primární důvod, proč si člověk koupí Android zařízení?</a:t>
            </a:r>
          </a:p>
          <a:p>
            <a:r>
              <a:rPr lang="cs-CZ" dirty="0"/>
              <a:t>Doporučili byste Android mobil svému prarodičovi?</a:t>
            </a:r>
          </a:p>
          <a:p>
            <a:r>
              <a:rPr lang="cs-CZ" dirty="0"/>
              <a:t>Byla naše prezentace dostatečně S.M.A.R.T. ?</a:t>
            </a:r>
          </a:p>
        </p:txBody>
      </p:sp>
    </p:spTree>
    <p:extLst>
      <p:ext uri="{BB962C8B-B14F-4D97-AF65-F5344CB8AC3E}">
        <p14:creationId xmlns:p14="http://schemas.microsoft.com/office/powerpoint/2010/main" val="1378507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EF6B5C-6390-8D78-3AB2-6355CAB8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14B8A3-F518-5580-735A-129B7622B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1600" b="0" i="0" dirty="0">
                <a:solidFill>
                  <a:srgbClr val="000000"/>
                </a:solidFill>
                <a:effectLst/>
              </a:rPr>
              <a:t>Android (operační systém) – Wikipedie. [online]. </a:t>
            </a:r>
            <a:r>
              <a:rPr lang="cs-CZ" sz="1600" dirty="0">
                <a:solidFill>
                  <a:srgbClr val="000000"/>
                </a:solidFill>
              </a:rPr>
              <a:t>Copyright © 2021 [cit. 20.11.2022].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 Dostupné 	z: </a:t>
            </a:r>
            <a:r>
              <a:rPr lang="cs-CZ" sz="1600" b="0" i="0" u="none" strike="noStrike" dirty="0">
                <a:solidFill>
                  <a:srgbClr val="000000"/>
                </a:solidFill>
                <a:effectLst/>
                <a:hlinkClick r:id="rId3"/>
              </a:rPr>
              <a:t>https://cs.wikipedia.org/wiki/Android_(opera%C4%8Dn%C3%AD_syst%C3%A9m)</a:t>
            </a:r>
            <a:endParaRPr lang="cs-CZ" sz="1600" dirty="0">
              <a:solidFill>
                <a:srgbClr val="000000"/>
              </a:solidFill>
            </a:endParaRPr>
          </a:p>
          <a:p>
            <a:r>
              <a:rPr lang="cs-CZ" sz="1600" dirty="0">
                <a:solidFill>
                  <a:srgbClr val="000000"/>
                </a:solidFill>
              </a:rPr>
              <a:t>Google Android 12 </a:t>
            </a:r>
            <a:r>
              <a:rPr lang="cs-CZ" sz="1600" dirty="0" err="1">
                <a:solidFill>
                  <a:srgbClr val="000000"/>
                </a:solidFill>
              </a:rPr>
              <a:t>Requirements</a:t>
            </a:r>
            <a:r>
              <a:rPr lang="cs-CZ" sz="1600" dirty="0">
                <a:solidFill>
                  <a:srgbClr val="000000"/>
                </a:solidFill>
              </a:rPr>
              <a:t>: At Least 6GB RAM, 1080p Display. </a:t>
            </a:r>
            <a:r>
              <a:rPr lang="cs-CZ" sz="1600" i="1" dirty="0">
                <a:solidFill>
                  <a:srgbClr val="000000"/>
                </a:solidFill>
              </a:rPr>
              <a:t>Tech </a:t>
            </a:r>
            <a:r>
              <a:rPr lang="cs-CZ" sz="1600" i="1" dirty="0" err="1">
                <a:solidFill>
                  <a:srgbClr val="000000"/>
                </a:solidFill>
              </a:rPr>
              <a:t>News</a:t>
            </a:r>
            <a:r>
              <a:rPr lang="cs-CZ" sz="1600" i="1" dirty="0">
                <a:solidFill>
                  <a:srgbClr val="000000"/>
                </a:solidFill>
              </a:rPr>
              <a:t> and </a:t>
            </a:r>
            <a:r>
              <a:rPr lang="cs-CZ" sz="1600" i="1" dirty="0" err="1">
                <a:solidFill>
                  <a:srgbClr val="000000"/>
                </a:solidFill>
              </a:rPr>
              <a:t>Gadget</a:t>
            </a:r>
            <a:r>
              <a:rPr lang="cs-CZ" sz="1600" i="1" dirty="0">
                <a:solidFill>
                  <a:srgbClr val="000000"/>
                </a:solidFill>
              </a:rPr>
              <a:t> </a:t>
            </a:r>
            <a:r>
              <a:rPr lang="cs-CZ" sz="1600" i="1" dirty="0" err="1">
                <a:solidFill>
                  <a:srgbClr val="000000"/>
                </a:solidFill>
              </a:rPr>
              <a:t>Reviews</a:t>
            </a:r>
            <a:r>
              <a:rPr lang="cs-CZ" sz="1600" i="1" dirty="0">
                <a:solidFill>
                  <a:srgbClr val="000000"/>
                </a:solidFill>
              </a:rPr>
              <a:t> </a:t>
            </a:r>
            <a:r>
              <a:rPr lang="cs-CZ" sz="1600" i="1" dirty="0" err="1">
                <a:solidFill>
                  <a:srgbClr val="000000"/>
                </a:solidFill>
              </a:rPr>
              <a:t>Philippines</a:t>
            </a:r>
            <a:r>
              <a:rPr lang="cs-CZ" sz="1600" i="1" dirty="0">
                <a:solidFill>
                  <a:srgbClr val="000000"/>
                </a:solidFill>
              </a:rPr>
              <a:t> | </a:t>
            </a:r>
            <a:r>
              <a:rPr lang="cs-CZ" sz="1600" i="1" dirty="0" err="1">
                <a:solidFill>
                  <a:srgbClr val="000000"/>
                </a:solidFill>
              </a:rPr>
              <a:t>Unbox</a:t>
            </a:r>
            <a:r>
              <a:rPr lang="cs-CZ" sz="1600" i="1" dirty="0">
                <a:solidFill>
                  <a:srgbClr val="000000"/>
                </a:solidFill>
              </a:rPr>
              <a:t> PH</a:t>
            </a:r>
            <a:r>
              <a:rPr lang="cs-CZ" sz="1600" dirty="0">
                <a:solidFill>
                  <a:srgbClr val="000000"/>
                </a:solidFill>
              </a:rPr>
              <a:t> [online]. Copyright © 2021 [cit. 20.11.2022]. Dostupné z: </a:t>
            </a:r>
            <a:r>
              <a:rPr lang="cs-CZ" sz="1600" dirty="0">
                <a:solidFill>
                  <a:srgbClr val="000000"/>
                </a:solidFill>
                <a:hlinkClick r:id="rId4"/>
              </a:rPr>
              <a:t>https://unbox.ph/editorials/google-android-12-requirements-at-least-6gb-ram-1080p-display/</a:t>
            </a:r>
            <a:endParaRPr lang="cs-CZ" sz="1600" dirty="0">
              <a:solidFill>
                <a:srgbClr val="000000"/>
              </a:solidFill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What Happens When You Update Your Android Phone or iPhone. </a:t>
            </a:r>
            <a:r>
              <a:rPr lang="en-US" sz="1600" b="0" i="1" dirty="0">
                <a:solidFill>
                  <a:srgbClr val="000000"/>
                </a:solidFill>
                <a:effectLst/>
                <a:latin typeface="+mj-lt"/>
              </a:rPr>
              <a:t>Guiding Tech - How To Articles, Gadget Buying Guides, Tech Lists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 [online]. Copyright © 2022 Guiding Tech. All Rights Reserved. [cit. 20.11.2022]. Dostupné z: 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+mj-lt"/>
                <a:hlinkClick r:id="rId5"/>
              </a:rPr>
              <a:t>https://www.guidingtech.com/what-happens-when-you-update-your-phone-android-iphone/</a:t>
            </a:r>
            <a:endParaRPr lang="cs-CZ" sz="16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cs-CZ" sz="1600" b="0" i="0" dirty="0">
                <a:solidFill>
                  <a:srgbClr val="000000"/>
                </a:solidFill>
                <a:effectLst/>
              </a:rPr>
              <a:t>Google </a:t>
            </a:r>
            <a:r>
              <a:rPr lang="cs-CZ" sz="1600" b="0" i="0" dirty="0" err="1">
                <a:solidFill>
                  <a:srgbClr val="000000"/>
                </a:solidFill>
                <a:effectLst/>
              </a:rPr>
              <a:t>launches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 </a:t>
            </a:r>
            <a:r>
              <a:rPr lang="cs-CZ" sz="1600" b="0" i="0" dirty="0" err="1">
                <a:solidFill>
                  <a:srgbClr val="000000"/>
                </a:solidFill>
                <a:effectLst/>
              </a:rPr>
              <a:t>new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 curriculum </a:t>
            </a:r>
            <a:r>
              <a:rPr lang="cs-CZ" sz="1600" b="0" i="0" dirty="0" err="1">
                <a:solidFill>
                  <a:srgbClr val="000000"/>
                </a:solidFill>
                <a:effectLst/>
              </a:rPr>
              <a:t>for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 Android </a:t>
            </a:r>
            <a:r>
              <a:rPr lang="cs-CZ" sz="1600" b="0" i="0" dirty="0" err="1">
                <a:solidFill>
                  <a:srgbClr val="000000"/>
                </a:solidFill>
                <a:effectLst/>
              </a:rPr>
              <a:t>app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 development </a:t>
            </a:r>
            <a:r>
              <a:rPr lang="cs-CZ" sz="1600" b="0" i="0" dirty="0" err="1">
                <a:solidFill>
                  <a:srgbClr val="000000"/>
                </a:solidFill>
                <a:effectLst/>
              </a:rPr>
              <a:t>with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 Kotlin | Mobile Marketing </a:t>
            </a:r>
            <a:r>
              <a:rPr lang="cs-CZ" sz="1600" b="0" i="0" dirty="0" err="1">
                <a:solidFill>
                  <a:srgbClr val="000000"/>
                </a:solidFill>
                <a:effectLst/>
              </a:rPr>
              <a:t>Reads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. </a:t>
            </a:r>
            <a:r>
              <a:rPr lang="cs-CZ" sz="1600" b="0" i="1" dirty="0">
                <a:solidFill>
                  <a:srgbClr val="000000"/>
                </a:solidFill>
                <a:effectLst/>
              </a:rPr>
              <a:t>Mobile Marketing </a:t>
            </a:r>
            <a:r>
              <a:rPr lang="cs-CZ" sz="1600" b="0" i="1" dirty="0" err="1">
                <a:solidFill>
                  <a:srgbClr val="000000"/>
                </a:solidFill>
                <a:effectLst/>
              </a:rPr>
              <a:t>Reads</a:t>
            </a:r>
            <a:r>
              <a:rPr lang="cs-CZ" sz="1600" b="0" i="1" dirty="0">
                <a:solidFill>
                  <a:srgbClr val="000000"/>
                </a:solidFill>
                <a:effectLst/>
              </a:rPr>
              <a:t> - All </a:t>
            </a:r>
            <a:r>
              <a:rPr lang="cs-CZ" sz="1600" b="0" i="1" dirty="0" err="1">
                <a:solidFill>
                  <a:srgbClr val="000000"/>
                </a:solidFill>
                <a:effectLst/>
              </a:rPr>
              <a:t>about</a:t>
            </a:r>
            <a:r>
              <a:rPr lang="cs-CZ" sz="1600" b="0" i="1" dirty="0">
                <a:solidFill>
                  <a:srgbClr val="000000"/>
                </a:solidFill>
                <a:effectLst/>
              </a:rPr>
              <a:t> </a:t>
            </a:r>
            <a:r>
              <a:rPr lang="cs-CZ" sz="1600" b="0" i="1" dirty="0" err="1">
                <a:solidFill>
                  <a:srgbClr val="000000"/>
                </a:solidFill>
                <a:effectLst/>
              </a:rPr>
              <a:t>the</a:t>
            </a:r>
            <a:r>
              <a:rPr lang="cs-CZ" sz="1600" b="0" i="1" dirty="0">
                <a:solidFill>
                  <a:srgbClr val="000000"/>
                </a:solidFill>
                <a:effectLst/>
              </a:rPr>
              <a:t> mobile </a:t>
            </a:r>
            <a:r>
              <a:rPr lang="cs-CZ" sz="1600" b="0" i="1" dirty="0" err="1">
                <a:solidFill>
                  <a:srgbClr val="000000"/>
                </a:solidFill>
                <a:effectLst/>
              </a:rPr>
              <a:t>world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 [online]. Copyright © Mobile Marketing </a:t>
            </a:r>
            <a:r>
              <a:rPr lang="cs-CZ" sz="1600" b="0" i="0" dirty="0" err="1">
                <a:solidFill>
                  <a:srgbClr val="000000"/>
                </a:solidFill>
                <a:effectLst/>
              </a:rPr>
              <a:t>Reads</a:t>
            </a:r>
            <a:r>
              <a:rPr lang="cs-CZ" sz="1600" b="0" i="0" dirty="0">
                <a:solidFill>
                  <a:srgbClr val="000000"/>
                </a:solidFill>
                <a:effectLst/>
              </a:rPr>
              <a:t> 2022 [cit. 20.11.2022]. Dostupné z: </a:t>
            </a:r>
            <a:r>
              <a:rPr lang="cs-CZ" sz="1600" b="0" i="0" u="sng" dirty="0">
                <a:solidFill>
                  <a:srgbClr val="000000"/>
                </a:solidFill>
                <a:effectLst/>
                <a:hlinkClick r:id="rId6"/>
              </a:rPr>
              <a:t>https://mobilemarketingreads.com/google-launches-new-curriculum-for-android-app-development-with-kotlin/</a:t>
            </a:r>
            <a:endParaRPr lang="cs-CZ" sz="1600" b="0" i="0" u="sng" dirty="0">
              <a:solidFill>
                <a:srgbClr val="000000"/>
              </a:solidFill>
              <a:effectLst/>
            </a:endParaRPr>
          </a:p>
          <a:p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</a:rPr>
              <a:t>Find My Device [online]. In: . [cit. 2022-11-20]. Dostupné z</a:t>
            </a:r>
            <a:r>
              <a:rPr lang="en-US" sz="1600" b="0" i="0" dirty="0">
                <a:solidFill>
                  <a:srgbClr val="DCDDDE"/>
                </a:solidFill>
                <a:effectLst/>
                <a:latin typeface="+mj-lt"/>
              </a:rPr>
              <a:t>: </a:t>
            </a:r>
            <a:r>
              <a:rPr lang="en-US" sz="1600" b="0" i="0" dirty="0">
                <a:effectLst/>
                <a:latin typeface="+mj-lt"/>
                <a:hlinkClick r:id="rId7" tooltip="https://www.digitaltrends.com/wp-content/uploads/2020/08/find8.jpg?fit=1080%2C2340&amp;p=1"/>
              </a:rPr>
              <a:t>https://www.digitaltrends.com/wp-content/uploads/2020/08/find8.jpg?fit=1080%2C2340&amp;p=1</a:t>
            </a:r>
            <a:endParaRPr lang="cs-CZ" sz="1600" b="0" i="0" dirty="0">
              <a:effectLst/>
              <a:latin typeface="+mj-lt"/>
            </a:endParaRPr>
          </a:p>
          <a:p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</a:rPr>
              <a:t>Find My Phone [online]. In: . [cit. 2022-11-20]. Dostupné z: </a:t>
            </a:r>
            <a:r>
              <a:rPr lang="en-US" sz="1600" b="0" i="0" dirty="0">
                <a:effectLst/>
                <a:latin typeface="Whitney"/>
                <a:hlinkClick r:id="rId8" tooltip="https://help.apple.com/assets/634D939C5E97521C571D4A74/634D93BB5E97521C571D4AAB/en_US/25d2b842586efdabfc837a654325df79.png"/>
              </a:rPr>
              <a:t>https://help.apple.com/assets/634D939C5E97521C571D4A74/634D93BB5E97521C571D4AAB/en_US/25d2b842586efdabfc837a654325df79.png</a:t>
            </a:r>
            <a:endParaRPr lang="cs-CZ" sz="1600" b="0" i="0" u="sng" dirty="0">
              <a:solidFill>
                <a:srgbClr val="000000"/>
              </a:solidFill>
              <a:effectLst/>
              <a:latin typeface="+mj-lt"/>
            </a:endParaRPr>
          </a:p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995675416"/>
      </p:ext>
    </p:extLst>
  </p:cSld>
  <p:clrMapOvr>
    <a:masterClrMapping/>
  </p:clrMapOvr>
</p:sld>
</file>

<file path=ppt/theme/theme1.xml><?xml version="1.0" encoding="utf-8"?>
<a:theme xmlns:a="http://schemas.openxmlformats.org/drawingml/2006/main" name="Rámeček">
  <a:themeElements>
    <a:clrScheme name="Zeleno-žlutá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ámeček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Rámeček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B9824D9504AE49A61F66C1EADB70E1" ma:contentTypeVersion="5" ma:contentTypeDescription="Vytvoří nový dokument" ma:contentTypeScope="" ma:versionID="8ffa8fc89b63a5ce36547a61f81c5795">
  <xsd:schema xmlns:xsd="http://www.w3.org/2001/XMLSchema" xmlns:xs="http://www.w3.org/2001/XMLSchema" xmlns:p="http://schemas.microsoft.com/office/2006/metadata/properties" xmlns:ns3="2fdf368a-f443-49d9-8039-a87943f25e5e" xmlns:ns4="5df54dde-d18f-4bad-8f22-5569bd684ca8" targetNamespace="http://schemas.microsoft.com/office/2006/metadata/properties" ma:root="true" ma:fieldsID="37c383acaef9ad70e050263c850a8f87" ns3:_="" ns4:_="">
    <xsd:import namespace="2fdf368a-f443-49d9-8039-a87943f25e5e"/>
    <xsd:import namespace="5df54dde-d18f-4bad-8f22-5569bd684c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f368a-f443-49d9-8039-a87943f25e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54dde-d18f-4bad-8f22-5569bd684c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B7F087-6242-4E5B-B558-036319FB78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5BCF2E-5825-425C-86B7-77D830079C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df368a-f443-49d9-8039-a87943f25e5e"/>
    <ds:schemaRef ds:uri="5df54dde-d18f-4bad-8f22-5569bd684c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F7DD07-4B08-4229-BE7F-A447523A7AA4}">
  <ds:schemaRefs>
    <ds:schemaRef ds:uri="2fdf368a-f443-49d9-8039-a87943f25e5e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5df54dde-d18f-4bad-8f22-5569bd684ca8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2163</Words>
  <Application>Microsoft Office PowerPoint</Application>
  <PresentationFormat>Širokoúhlá obrazovka</PresentationFormat>
  <Paragraphs>166</Paragraphs>
  <Slides>19</Slides>
  <Notes>17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8" baseType="lpstr">
      <vt:lpstr>-apple-system</vt:lpstr>
      <vt:lpstr>Arial</vt:lpstr>
      <vt:lpstr>Calibri</vt:lpstr>
      <vt:lpstr>Corbel</vt:lpstr>
      <vt:lpstr>Open Sans</vt:lpstr>
      <vt:lpstr>Roboto Slab</vt:lpstr>
      <vt:lpstr>Whitney</vt:lpstr>
      <vt:lpstr>Wingdings 2</vt:lpstr>
      <vt:lpstr>Rámeček</vt:lpstr>
      <vt:lpstr>Android</vt:lpstr>
      <vt:lpstr>Popis</vt:lpstr>
      <vt:lpstr>Začátky</vt:lpstr>
      <vt:lpstr>Prezentace aplikace PowerPoint</vt:lpstr>
      <vt:lpstr>Architektura</vt:lpstr>
      <vt:lpstr>Application framework</vt:lpstr>
      <vt:lpstr>Souborové systémy</vt:lpstr>
      <vt:lpstr>Bezpečnost  </vt:lpstr>
      <vt:lpstr>Vizuální stránka</vt:lpstr>
      <vt:lpstr>Porovnání s IOS</vt:lpstr>
      <vt:lpstr>Využití</vt:lpstr>
      <vt:lpstr>Využití</vt:lpstr>
      <vt:lpstr>Využití</vt:lpstr>
      <vt:lpstr>Využití</vt:lpstr>
      <vt:lpstr>Minimální požadavky</vt:lpstr>
      <vt:lpstr>Aktualizace</vt:lpstr>
      <vt:lpstr>Drivery </vt:lpstr>
      <vt:lpstr>Diskuze</vt:lpstr>
      <vt:lpstr>Citace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</dc:title>
  <dc:creator>Michal TVAROH</dc:creator>
  <cp:lastModifiedBy>Michal TVAROH</cp:lastModifiedBy>
  <cp:revision>5</cp:revision>
  <dcterms:created xsi:type="dcterms:W3CDTF">2022-11-14T08:18:58Z</dcterms:created>
  <dcterms:modified xsi:type="dcterms:W3CDTF">2022-11-20T18:57:59Z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0x0101001BB9824D9504AE49A61F66C1EADB70E1</vt:lpwstr>
  </property>
</Properties>
</file>