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Lexend Light" panose="020B0604020202020204" charset="-18"/>
      <p:regular r:id="rId22"/>
      <p:bold r:id="rId23"/>
    </p:embeddedFont>
    <p:embeddedFont>
      <p:font typeface="Lexend Medium" panose="020B0604020202020204" charset="-18"/>
      <p:regular r:id="rId24"/>
      <p:bold r:id="rId25"/>
    </p:embeddedFont>
    <p:embeddedFont>
      <p:font typeface="Nunito" panose="020B0604020202020204" pitchFamily="2" charset="-18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E49632-C3B0-4294-B6E0-8A68B7BF18BC}">
  <a:tblStyle styleId="{85E49632-C3B0-4294-B6E0-8A68B7BF18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97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9b1597a6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9b1597a6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50"/>
              <a:buChar char="-"/>
            </a:pPr>
            <a:r>
              <a:rPr lang="cs" sz="1050">
                <a:solidFill>
                  <a:srgbClr val="202122"/>
                </a:solidFill>
                <a:highlight>
                  <a:srgbClr val="FFFFFF"/>
                </a:highlight>
              </a:rPr>
              <a:t>Debian další distribuce Linuxu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50"/>
              <a:buChar char="-"/>
            </a:pPr>
            <a:r>
              <a:rPr lang="cs" sz="1050">
                <a:solidFill>
                  <a:srgbClr val="202122"/>
                </a:solidFill>
                <a:highlight>
                  <a:srgbClr val="FFFFFF"/>
                </a:highlight>
              </a:rPr>
              <a:t>Nejpoužívanější na desktopech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50"/>
              <a:buChar char="-"/>
            </a:pPr>
            <a:r>
              <a:rPr lang="cs" sz="1050">
                <a:solidFill>
                  <a:srgbClr val="202122"/>
                </a:solidFill>
                <a:highlight>
                  <a:srgbClr val="FFFFFF"/>
                </a:highlight>
              </a:rPr>
              <a:t>Zulušsky se mluví v Jihoafrické rpublice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50"/>
              <a:buChar char="-"/>
            </a:pPr>
            <a:r>
              <a:rPr lang="cs" sz="1050">
                <a:solidFill>
                  <a:srgbClr val="202122"/>
                </a:solidFill>
                <a:highlight>
                  <a:srgbClr val="FFFFFF"/>
                </a:highlight>
              </a:rPr>
              <a:t>Releases: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295275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50"/>
              <a:buChar char="-"/>
            </a:pPr>
            <a:r>
              <a:rPr lang="cs" sz="1050">
                <a:solidFill>
                  <a:srgbClr val="202122"/>
                </a:solidFill>
                <a:highlight>
                  <a:srgbClr val="FFFFFF"/>
                </a:highlight>
              </a:rPr>
              <a:t>1X za půl roku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lvl="1" indent="-295275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50"/>
              <a:buChar char="-"/>
            </a:pPr>
            <a:r>
              <a:rPr lang="cs" sz="1050">
                <a:solidFill>
                  <a:srgbClr val="202122"/>
                </a:solidFill>
                <a:highlight>
                  <a:srgbClr val="FFFFFF"/>
                </a:highlight>
              </a:rPr>
              <a:t>1X za 2 roky s dlouhodobou podporou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9b1597a62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9b1597a62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9b1597a620_31_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9b1597a620_31_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9b1597a62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9b1597a62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9b1597a62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9b1597a62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9b1597a620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9b1597a620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9b1597a62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9b1597a62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Na rozdíl od Windows se většina softwaru v Linuxu neinstaluje z internetu, ale přes tvz. správce balíčků. Ubuntu používá 2 - apt a snap. Čas od času se musí nějaký software balíček aktualizovat. Protože Ubuntu je velmi beginner friendly, tak pro to existuje i grafický program. Jde to, ale také přes terminál. Všechny balíčky nainstalované s apt se aktualizují pomocí “apt update” a ”apt upgrade”. </a:t>
            </a:r>
            <a:r>
              <a:rPr lang="cs">
                <a:solidFill>
                  <a:schemeClr val="dk1"/>
                </a:solidFill>
              </a:rPr>
              <a:t> Všechny balíčky nainstalované přes snap se aktualizují pomocí “snap refresh”.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9b1597a62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9b1597a62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OS většinou instaluje ovladače automaticky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Může nastat problém, při dostupnosti více ovladačů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Pak je potřeba je nainstalovat ručně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9b1597a62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9b1597a62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velmi bezpečný os, protože je na něj málo virů, kvůli malé četnosti použití a struktuře OS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9438fe498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9438fe498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9b1597a62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9b1597a62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9438fe498d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9438fe498d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9438fe498d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9438fe498d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9438fe498d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9438fe498d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truelist.co/blog/linux-statistics/" TargetMode="External"/><Relationship Id="rId3" Type="http://schemas.openxmlformats.org/officeDocument/2006/relationships/hyperlink" Target="https://ubuntu.com/" TargetMode="External"/><Relationship Id="rId7" Type="http://schemas.openxmlformats.org/officeDocument/2006/relationships/hyperlink" Target="https://en.wikipedia.org/wiki/Usage_share_of_operating_system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en.wikipedia.org/wiki/TOP500" TargetMode="External"/><Relationship Id="rId5" Type="http://schemas.openxmlformats.org/officeDocument/2006/relationships/hyperlink" Target="https://cs.wikipedia.org/wiki/Ubuntu" TargetMode="External"/><Relationship Id="rId4" Type="http://schemas.openxmlformats.org/officeDocument/2006/relationships/hyperlink" Target="https://ubuntu.cz/" TargetMode="External"/><Relationship Id="rId9" Type="http://schemas.openxmlformats.org/officeDocument/2006/relationships/hyperlink" Target="https://ubuntu.com/desktop/flavours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wikimedia.org/wiki/File:Ubuntu-logo-2022.svg" TargetMode="External"/><Relationship Id="rId3" Type="http://schemas.openxmlformats.org/officeDocument/2006/relationships/hyperlink" Target="https://fossbytes.com/wp-content/uploads/2020/03/Official-Ubuntu-Flavors-Call-For-Help-To-Join-In-their-Ubuntu-Testing-Week.png" TargetMode="External"/><Relationship Id="rId7" Type="http://schemas.openxmlformats.org/officeDocument/2006/relationships/hyperlink" Target="https://en.wikipedia.org/wiki/TOP500#/media/File:Operating_systems_used_on_top_500_supercomputers.sv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.to/kcdchennai/linux-file-system-4idj" TargetMode="External"/><Relationship Id="rId5" Type="http://schemas.openxmlformats.org/officeDocument/2006/relationships/hyperlink" Target="https://www.shell.com.cn/en_cn/motorists/motoring-tips-and-advice/10-safety-tips/_jcr_content/par/textimage/image.img.960.jpeg/1459541012998/hazard-sign-graphic.jpeg?imwidth=960" TargetMode="External"/><Relationship Id="rId4" Type="http://schemas.openxmlformats.org/officeDocument/2006/relationships/hyperlink" Target="https://upload.wikimedia.org/wikipedia/commons/4/4b/Ubuntu_Kylin_logo.png" TargetMode="External"/><Relationship Id="rId9" Type="http://schemas.openxmlformats.org/officeDocument/2006/relationships/hyperlink" Target="https://www.dracik.cz/galerie/2_126176/fisher-price-pejskuv-dalkovy-ovladac-original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subTitle" idx="1"/>
          </p:nvPr>
        </p:nvSpPr>
        <p:spPr>
          <a:xfrm>
            <a:off x="311700" y="3119088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Nejpoužívanější distribuce Linuxu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262" y="1231812"/>
            <a:ext cx="5197476" cy="18323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 txBox="1"/>
          <p:nvPr/>
        </p:nvSpPr>
        <p:spPr>
          <a:xfrm>
            <a:off x="5820502" y="4516682"/>
            <a:ext cx="311632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Calibri"/>
                <a:ea typeface="Calibri"/>
                <a:cs typeface="Calibri"/>
                <a:sym typeface="Calibri"/>
              </a:rPr>
              <a:t>Komárek, Halbrštát, Horkel, Kolakovský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4442" y="207300"/>
            <a:ext cx="5405182" cy="4729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/>
          <p:nvPr/>
        </p:nvSpPr>
        <p:spPr>
          <a:xfrm>
            <a:off x="3470325" y="207300"/>
            <a:ext cx="5405100" cy="4729200"/>
          </a:xfrm>
          <a:prstGeom prst="rect">
            <a:avLst/>
          </a:prstGeom>
          <a:gradFill>
            <a:gsLst>
              <a:gs pos="0">
                <a:srgbClr val="FFFFFF">
                  <a:alpha val="0"/>
                  <a:alpha val="42990"/>
                </a:srgbClr>
              </a:gs>
              <a:gs pos="100000">
                <a:schemeClr val="dk1">
                  <a:alpha val="42990"/>
                </a:scheme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020">
                <a:latin typeface="Lexend Light"/>
                <a:ea typeface="Lexend Light"/>
                <a:cs typeface="Lexend Light"/>
                <a:sym typeface="Lexend Light"/>
              </a:rPr>
              <a:t>Obecné</a:t>
            </a:r>
            <a:endParaRPr sz="302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38" name="Google Shape;138;p14"/>
          <p:cNvSpPr txBox="1">
            <a:spLocks noGrp="1"/>
          </p:cNvSpPr>
          <p:nvPr>
            <p:ph type="body" idx="1"/>
          </p:nvPr>
        </p:nvSpPr>
        <p:spPr>
          <a:xfrm>
            <a:off x="819150" y="1520975"/>
            <a:ext cx="7505700" cy="29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Open-source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Založené na Debianu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3 vydání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AutoNum type="arabicPeriod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Desktop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AutoNum type="arabicPeriod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Server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AutoNum type="arabicPeriod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IoT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Vznik v roce 2004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“Lidskost” v Zuluštině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Canonical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39" name="Google Shape;13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8200" y="683674"/>
            <a:ext cx="2462301" cy="291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/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"/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00"/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300"/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"/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"/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020">
                <a:latin typeface="Lexend Light"/>
                <a:ea typeface="Lexend Light"/>
                <a:cs typeface="Lexend Light"/>
                <a:sym typeface="Lexend Light"/>
              </a:rPr>
              <a:t>Používanost</a:t>
            </a:r>
            <a:endParaRPr sz="302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5" name="Google Shape;145;p15"/>
          <p:cNvSpPr txBox="1">
            <a:spLocks noGrp="1"/>
          </p:cNvSpPr>
          <p:nvPr>
            <p:ph type="body" idx="1"/>
          </p:nvPr>
        </p:nvSpPr>
        <p:spPr>
          <a:xfrm>
            <a:off x="819150" y="1628500"/>
            <a:ext cx="7505700" cy="2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Linux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5 % z desktopových OS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Nejpoužívanější u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Serverů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Superpočítačů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100 % z 500 nejvýkonnějších superpočítačů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Ubuntu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Nejpoužívanější distribuce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34 % z linux distribucí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Používá 9. nejvýkonnější superpočítač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99825"/>
            <a:ext cx="3762375" cy="22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/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"/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"/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"/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300"/>
                                        <p:tgtEl>
                                          <p:spTgt spid="1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300"/>
                                        <p:tgtEl>
                                          <p:spTgt spid="1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/>
                                        <p:tgtEl>
                                          <p:spTgt spid="1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00"/>
                                        <p:tgtEl>
                                          <p:spTgt spid="1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t="59" b="49"/>
          <a:stretch/>
        </p:blipFill>
        <p:spPr>
          <a:xfrm>
            <a:off x="0" y="0"/>
            <a:ext cx="9143999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/>
          <p:nvPr/>
        </p:nvSpPr>
        <p:spPr>
          <a:xfrm>
            <a:off x="4015775" y="1898475"/>
            <a:ext cx="3810300" cy="277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4181975" y="2148800"/>
            <a:ext cx="3477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3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Desktopové prostředí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4294967295"/>
          </p:nvPr>
        </p:nvSpPr>
        <p:spPr>
          <a:xfrm>
            <a:off x="4181975" y="3257000"/>
            <a:ext cx="3477900" cy="11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Grafické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Gnome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Podobné MacOS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 rotWithShape="1">
          <a:blip r:embed="rId3">
            <a:alphaModFix/>
          </a:blip>
          <a:srcRect r="50575"/>
          <a:stretch/>
        </p:blipFill>
        <p:spPr>
          <a:xfrm>
            <a:off x="3034425" y="206575"/>
            <a:ext cx="5905274" cy="47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020">
                <a:latin typeface="Lexend Light"/>
                <a:ea typeface="Lexend Light"/>
                <a:cs typeface="Lexend Light"/>
                <a:sym typeface="Lexend Light"/>
              </a:rPr>
              <a:t>Specifikace</a:t>
            </a:r>
            <a:endParaRPr sz="302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3030025" y="207300"/>
            <a:ext cx="5905200" cy="4729200"/>
          </a:xfrm>
          <a:prstGeom prst="rect">
            <a:avLst/>
          </a:prstGeom>
          <a:gradFill>
            <a:gsLst>
              <a:gs pos="0">
                <a:srgbClr val="FFFFFF">
                  <a:alpha val="21568"/>
                  <a:alpha val="42990"/>
                </a:srgbClr>
              </a:gs>
              <a:gs pos="100000">
                <a:schemeClr val="dk1">
                  <a:alpha val="42990"/>
                </a:scheme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"/>
          </p:nvPr>
        </p:nvSpPr>
        <p:spPr>
          <a:xfrm>
            <a:off x="819150" y="1628500"/>
            <a:ext cx="7505700" cy="26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Podporované architektury: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AMD64 (x86-64)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ARM64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Aktuální verze kernelu: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Ubuntu 22.10: 5.19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>
                <a:latin typeface="Lexend Light"/>
                <a:ea typeface="Lexend Light"/>
                <a:cs typeface="Lexend Light"/>
                <a:sym typeface="Lexend Light"/>
              </a:rPr>
              <a:t>Ubuntu 22.04 LTS: 5.15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00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819150" y="844725"/>
            <a:ext cx="7505700" cy="9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020">
                <a:latin typeface="Lexend Light"/>
                <a:ea typeface="Lexend Light"/>
                <a:cs typeface="Lexend Light"/>
                <a:sym typeface="Lexend Light"/>
              </a:rPr>
              <a:t>Minimální požadavky</a:t>
            </a:r>
            <a:endParaRPr sz="302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aphicFrame>
        <p:nvGraphicFramePr>
          <p:cNvPr id="168" name="Google Shape;168;p18"/>
          <p:cNvGraphicFramePr/>
          <p:nvPr/>
        </p:nvGraphicFramePr>
        <p:xfrm>
          <a:off x="952500" y="1781175"/>
          <a:ext cx="7239000" cy="2254250"/>
        </p:xfrm>
        <a:graphic>
          <a:graphicData uri="http://schemas.openxmlformats.org/drawingml/2006/table">
            <a:tbl>
              <a:tblPr>
                <a:noFill/>
                <a:tableStyleId>{85E49632-C3B0-4294-B6E0-8A68B7BF18BC}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 </a:t>
                      </a:r>
                      <a:endParaRPr sz="2000">
                        <a:solidFill>
                          <a:schemeClr val="dk2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Server</a:t>
                      </a:r>
                      <a:endParaRPr sz="2000">
                        <a:solidFill>
                          <a:schemeClr val="dk2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Desktop</a:t>
                      </a:r>
                      <a:endParaRPr sz="2000">
                        <a:solidFill>
                          <a:schemeClr val="dk2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Procesor</a:t>
                      </a:r>
                      <a:endParaRPr sz="2000">
                        <a:solidFill>
                          <a:schemeClr val="dk2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1 GHz</a:t>
                      </a:r>
                      <a:endParaRPr sz="2000">
                        <a:solidFill>
                          <a:schemeClr val="dk2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2 GHz</a:t>
                      </a:r>
                      <a:endParaRPr sz="2000">
                        <a:solidFill>
                          <a:schemeClr val="dk2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RAM</a:t>
                      </a:r>
                      <a:endParaRPr sz="2000">
                        <a:solidFill>
                          <a:schemeClr val="dk2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1 GB</a:t>
                      </a:r>
                      <a:endParaRPr sz="2000">
                        <a:solidFill>
                          <a:schemeClr val="dk2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4 GB</a:t>
                      </a:r>
                      <a:endParaRPr sz="2000">
                        <a:solidFill>
                          <a:schemeClr val="dk2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Pevný disk</a:t>
                      </a:r>
                      <a:endParaRPr sz="2000">
                        <a:solidFill>
                          <a:schemeClr val="dk2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2.5 GiB ~ 2.7 GB</a:t>
                      </a:r>
                      <a:endParaRPr sz="2000">
                        <a:solidFill>
                          <a:schemeClr val="dk2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25 GiB ~ 27 GB</a:t>
                      </a:r>
                      <a:endParaRPr sz="2000">
                        <a:solidFill>
                          <a:schemeClr val="dk2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Rozlišení</a:t>
                      </a:r>
                      <a:endParaRPr sz="2000">
                        <a:solidFill>
                          <a:schemeClr val="dk2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640 x 480</a:t>
                      </a:r>
                      <a:endParaRPr sz="2000">
                        <a:solidFill>
                          <a:schemeClr val="dk2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 sz="2000">
                          <a:solidFill>
                            <a:schemeClr val="dk2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1024 x 768</a:t>
                      </a:r>
                      <a:endParaRPr sz="2000">
                        <a:solidFill>
                          <a:schemeClr val="dk2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L="63500" marR="63500" marT="63500" marB="635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52950"/>
            <a:ext cx="8520600" cy="403759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311700" y="356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020">
                <a:latin typeface="Lexend Light"/>
                <a:ea typeface="Lexend Light"/>
                <a:cs typeface="Lexend Light"/>
                <a:sym typeface="Lexend Light"/>
              </a:rPr>
              <a:t>Souborový systém</a:t>
            </a:r>
            <a:endParaRPr sz="302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311700" y="101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ext4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819150" y="827325"/>
            <a:ext cx="7505700" cy="9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020">
                <a:latin typeface="Lexend Light"/>
                <a:ea typeface="Lexend Light"/>
                <a:cs typeface="Lexend Light"/>
                <a:sym typeface="Lexend Light"/>
              </a:rPr>
              <a:t>Aktualizace</a:t>
            </a:r>
            <a:endParaRPr sz="302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81" name="Google Shape;181;p20"/>
          <p:cNvSpPr txBox="1">
            <a:spLocks noGrp="1"/>
          </p:cNvSpPr>
          <p:nvPr>
            <p:ph type="body" idx="1"/>
          </p:nvPr>
        </p:nvSpPr>
        <p:spPr>
          <a:xfrm>
            <a:off x="819150" y="1628500"/>
            <a:ext cx="7505700" cy="31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Přes grafický program: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Přes příkazový řádek: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 dirty="0">
                <a:latin typeface="Lexend Light"/>
                <a:ea typeface="Lexend Light"/>
                <a:cs typeface="Lexend Light"/>
                <a:sym typeface="Lexend Light"/>
              </a:rPr>
              <a:t>(sudo) apt update</a:t>
            </a:r>
            <a:endParaRPr sz="16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 dirty="0">
                <a:latin typeface="Lexend Light"/>
                <a:ea typeface="Lexend Light"/>
                <a:cs typeface="Lexend Light"/>
                <a:sym typeface="Lexend Light"/>
              </a:rPr>
              <a:t>(sudo) apt upgrade</a:t>
            </a:r>
            <a:endParaRPr sz="16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 dirty="0">
                <a:latin typeface="Lexend Light"/>
                <a:ea typeface="Lexend Light"/>
                <a:cs typeface="Lexend Light"/>
                <a:sym typeface="Lexend Light"/>
              </a:rPr>
              <a:t>(sudo) snap refresh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050" y="2115388"/>
            <a:ext cx="4354400" cy="10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>
            <a:spLocks noGrp="1"/>
          </p:cNvSpPr>
          <p:nvPr>
            <p:ph type="title"/>
          </p:nvPr>
        </p:nvSpPr>
        <p:spPr>
          <a:xfrm>
            <a:off x="819150" y="836025"/>
            <a:ext cx="7505700" cy="9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020">
                <a:latin typeface="Lexend Light"/>
                <a:ea typeface="Lexend Light"/>
                <a:cs typeface="Lexend Light"/>
                <a:sym typeface="Lexend Light"/>
              </a:rPr>
              <a:t>Ovladače</a:t>
            </a:r>
            <a:endParaRPr sz="302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88" name="Google Shape;188;p21"/>
          <p:cNvSpPr txBox="1">
            <a:spLocks noGrp="1"/>
          </p:cNvSpPr>
          <p:nvPr>
            <p:ph type="body" idx="1"/>
          </p:nvPr>
        </p:nvSpPr>
        <p:spPr>
          <a:xfrm>
            <a:off x="819150" y="1619800"/>
            <a:ext cx="75057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Většinou není potřeba instalace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Jednoduché díky grafickému prostředí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238668">
            <a:off x="1371783" y="2597886"/>
            <a:ext cx="1390610" cy="2026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64687">
            <a:off x="7104079" y="553191"/>
            <a:ext cx="1192917" cy="1068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564822">
            <a:off x="6443557" y="2932229"/>
            <a:ext cx="1504610" cy="1357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225" y="206950"/>
            <a:ext cx="5006474" cy="47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/>
          <p:nvPr/>
        </p:nvSpPr>
        <p:spPr>
          <a:xfrm>
            <a:off x="3928750" y="207300"/>
            <a:ext cx="5006400" cy="4729200"/>
          </a:xfrm>
          <a:prstGeom prst="rect">
            <a:avLst/>
          </a:prstGeom>
          <a:gradFill>
            <a:gsLst>
              <a:gs pos="0">
                <a:srgbClr val="FFFFFF">
                  <a:alpha val="21176"/>
                  <a:alpha val="42990"/>
                </a:srgbClr>
              </a:gs>
              <a:gs pos="100000">
                <a:schemeClr val="dk1">
                  <a:alpha val="42990"/>
                </a:schemeClr>
              </a:gs>
              <a:gs pos="100000">
                <a:schemeClr val="dk1">
                  <a:alpha val="42990"/>
                </a:scheme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8" name="Google Shape;198;p22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020">
                <a:latin typeface="Lexend Light"/>
                <a:ea typeface="Lexend Light"/>
                <a:cs typeface="Lexend Light"/>
                <a:sym typeface="Lexend Light"/>
              </a:rPr>
              <a:t>Bezpečnost</a:t>
            </a:r>
            <a:endParaRPr sz="302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9" name="Google Shape;199;p22"/>
          <p:cNvSpPr txBox="1">
            <a:spLocks noGrp="1"/>
          </p:cNvSpPr>
          <p:nvPr>
            <p:ph type="body" idx="1"/>
          </p:nvPr>
        </p:nvSpPr>
        <p:spPr>
          <a:xfrm>
            <a:off x="819150" y="1619800"/>
            <a:ext cx="75057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Bez antiviru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Bezpečný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 dirty="0">
                <a:latin typeface="Lexend Light"/>
                <a:ea typeface="Lexend Light"/>
                <a:cs typeface="Lexend Light"/>
                <a:sym typeface="Lexend Light"/>
              </a:rPr>
              <a:t>velká komunita → opravování kódu</a:t>
            </a:r>
            <a:endParaRPr sz="16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Málo virů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3"/>
          <p:cNvPicPr preferRelativeResize="0"/>
          <p:nvPr/>
        </p:nvPicPr>
        <p:blipFill rotWithShape="1">
          <a:blip r:embed="rId3">
            <a:alphaModFix/>
          </a:blip>
          <a:srcRect l="8510" r="22466"/>
          <a:stretch/>
        </p:blipFill>
        <p:spPr>
          <a:xfrm>
            <a:off x="3196600" y="206525"/>
            <a:ext cx="5743674" cy="47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/>
          <p:nvPr/>
        </p:nvSpPr>
        <p:spPr>
          <a:xfrm>
            <a:off x="7478313" y="2980913"/>
            <a:ext cx="1174200" cy="11742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" name="Google Shape;20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8275" y="2980863"/>
            <a:ext cx="1174275" cy="117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/>
          <p:nvPr/>
        </p:nvSpPr>
        <p:spPr>
          <a:xfrm>
            <a:off x="3191600" y="207300"/>
            <a:ext cx="5743800" cy="4729200"/>
          </a:xfrm>
          <a:prstGeom prst="rect">
            <a:avLst/>
          </a:prstGeom>
          <a:gradFill>
            <a:gsLst>
              <a:gs pos="0">
                <a:srgbClr val="FFFFFF">
                  <a:alpha val="52156"/>
                  <a:alpha val="42990"/>
                </a:srgbClr>
              </a:gs>
              <a:gs pos="100000">
                <a:srgbClr val="FFFFFF">
                  <a:alpha val="4299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8" name="Google Shape;208;p23"/>
          <p:cNvSpPr txBox="1">
            <a:spLocks noGrp="1"/>
          </p:cNvSpPr>
          <p:nvPr>
            <p:ph type="body" idx="1"/>
          </p:nvPr>
        </p:nvSpPr>
        <p:spPr>
          <a:xfrm>
            <a:off x="819150" y="1628500"/>
            <a:ext cx="7505700" cy="27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Upravené Ubuntu komunitou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Různé grafické prostředí a aplikace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Nejznámější: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 dirty="0">
                <a:latin typeface="Lexend Light"/>
                <a:ea typeface="Lexend Light"/>
                <a:cs typeface="Lexend Light"/>
                <a:sym typeface="Lexend Light"/>
              </a:rPr>
              <a:t>Kubuntu</a:t>
            </a:r>
            <a:endParaRPr sz="16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 dirty="0">
                <a:latin typeface="Lexend Light"/>
                <a:ea typeface="Lexend Light"/>
                <a:cs typeface="Lexend Light"/>
                <a:sym typeface="Lexend Light"/>
              </a:rPr>
              <a:t>Ubuntu Studio</a:t>
            </a:r>
            <a:endParaRPr sz="16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 dirty="0">
                <a:latin typeface="Lexend Light"/>
                <a:ea typeface="Lexend Light"/>
                <a:cs typeface="Lexend Light"/>
                <a:sym typeface="Lexend Light"/>
              </a:rPr>
              <a:t>Lubuntu</a:t>
            </a:r>
            <a:endParaRPr sz="16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 dirty="0">
                <a:latin typeface="Lexend Light"/>
                <a:ea typeface="Lexend Light"/>
                <a:cs typeface="Lexend Light"/>
                <a:sym typeface="Lexend Light"/>
              </a:rPr>
              <a:t>Ubuntu Unity</a:t>
            </a:r>
            <a:endParaRPr sz="16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Char char="-"/>
            </a:pPr>
            <a:r>
              <a:rPr lang="cs" sz="1600" dirty="0">
                <a:latin typeface="Lexend Light"/>
                <a:ea typeface="Lexend Light"/>
                <a:cs typeface="Lexend Light"/>
                <a:sym typeface="Lexend Light"/>
              </a:rPr>
              <a:t>UwUntu</a:t>
            </a:r>
            <a:endParaRPr sz="1600" dirty="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9" name="Google Shape;209;p23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Flavors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020">
                <a:latin typeface="Lexend Light"/>
                <a:ea typeface="Lexend Light"/>
                <a:cs typeface="Lexend Light"/>
                <a:sym typeface="Lexend Light"/>
              </a:rPr>
              <a:t>Linux (Ubuntu) proti jiným OS</a:t>
            </a:r>
            <a:endParaRPr sz="302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24"/>
          <p:cNvSpPr txBox="1">
            <a:spLocks noGrp="1"/>
          </p:cNvSpPr>
          <p:nvPr>
            <p:ph type="body" idx="1"/>
          </p:nvPr>
        </p:nvSpPr>
        <p:spPr>
          <a:xfrm>
            <a:off x="819150" y="1628500"/>
            <a:ext cx="3686100" cy="28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Výhody: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OpenSource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Zdarma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Přizpůsobitelnost</a:t>
            </a:r>
          </a:p>
          <a:p>
            <a:pPr indent="-355600">
              <a:buSzPts val="2000"/>
              <a:buFont typeface="Lexend Light"/>
              <a:buChar char="-"/>
            </a:pPr>
            <a:r>
              <a:rPr lang="cs-CZ" sz="2000" dirty="0">
                <a:latin typeface="Lexend Light"/>
                <a:ea typeface="Lexend Light"/>
                <a:cs typeface="Lexend Light"/>
                <a:sym typeface="Lexend Light"/>
              </a:rPr>
              <a:t>Výkon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Velká bezpečnost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Soukromí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6" name="Google Shape;216;p24"/>
          <p:cNvSpPr txBox="1">
            <a:spLocks noGrp="1"/>
          </p:cNvSpPr>
          <p:nvPr>
            <p:ph type="body" idx="2"/>
          </p:nvPr>
        </p:nvSpPr>
        <p:spPr>
          <a:xfrm>
            <a:off x="4638675" y="1628625"/>
            <a:ext cx="3686100" cy="28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Nevýhody: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Menší výběr aplikací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 dirty="0">
                <a:latin typeface="Lexend Light"/>
                <a:ea typeface="Lexend Light"/>
                <a:cs typeface="Lexend Light"/>
                <a:sym typeface="Lexend Light"/>
              </a:rPr>
              <a:t>Menší komunita</a:t>
            </a:r>
            <a:endParaRPr sz="2000" dirty="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Diskuze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2" name="Google Shape;222;p25"/>
          <p:cNvSpPr txBox="1">
            <a:spLocks noGrp="1"/>
          </p:cNvSpPr>
          <p:nvPr>
            <p:ph type="body" idx="1"/>
          </p:nvPr>
        </p:nvSpPr>
        <p:spPr>
          <a:xfrm>
            <a:off x="819150" y="1619800"/>
            <a:ext cx="75057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Máte nějaké zkušenosti s Ubuntu nebo Linuxem obecně?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Plánujete si nainstalovat Linux, proč?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-"/>
            </a:pPr>
            <a:r>
              <a:rPr lang="cs" sz="2000">
                <a:latin typeface="Lexend Light"/>
                <a:ea typeface="Lexend Light"/>
                <a:cs typeface="Lexend Light"/>
                <a:sym typeface="Lexend Light"/>
              </a:rPr>
              <a:t>Největší klady/zápory používání?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Citace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1"/>
          </p:nvPr>
        </p:nvSpPr>
        <p:spPr>
          <a:xfrm>
            <a:off x="819150" y="1619800"/>
            <a:ext cx="81219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exend Light"/>
              <a:buChar char="-"/>
            </a:pPr>
            <a:r>
              <a:rPr lang="cs" i="1">
                <a:latin typeface="Lexend Light"/>
                <a:ea typeface="Lexend Light"/>
                <a:cs typeface="Lexend Light"/>
                <a:sym typeface="Lexend Light"/>
              </a:rPr>
              <a:t>Web Ubuntu</a:t>
            </a: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 [online]. [cit. 20. 11. 2022]. Dostupné z: </a:t>
            </a:r>
            <a:r>
              <a:rPr lang="cs" u="sng">
                <a:solidFill>
                  <a:schemeClr val="accent5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https://ubuntu.com/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Lexend Light"/>
              <a:buChar char="-"/>
            </a:pPr>
            <a:r>
              <a:rPr lang="cs" i="1">
                <a:latin typeface="Lexend Light"/>
                <a:ea typeface="Lexend Light"/>
                <a:cs typeface="Lexend Light"/>
                <a:sym typeface="Lexend Light"/>
              </a:rPr>
              <a:t>Web Ubuntu</a:t>
            </a: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 [online]. [cit. 20. 11. 2022]. Dostupné z: </a:t>
            </a:r>
            <a:r>
              <a:rPr lang="cs" u="sng">
                <a:solidFill>
                  <a:schemeClr val="accent5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https://ubuntu.cz/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Lexend Light"/>
              <a:buChar char="-"/>
            </a:pP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Ubuntu. In: </a:t>
            </a:r>
            <a:r>
              <a:rPr lang="cs" i="1">
                <a:latin typeface="Lexend Light"/>
                <a:ea typeface="Lexend Light"/>
                <a:cs typeface="Lexend Light"/>
                <a:sym typeface="Lexend Light"/>
              </a:rPr>
              <a:t>Wikipedia: the free encyclopedia</a:t>
            </a: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 [online]. San Francisco (CA): Wikimedia Foundation, 3. 11. 2022 [cit. 20. 11. 2022]. Dostupné z: </a:t>
            </a:r>
            <a:r>
              <a:rPr lang="cs" u="sng">
                <a:solidFill>
                  <a:schemeClr val="accent5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https://cs.wikipedia.org/wiki/Ubuntu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Lexend Light"/>
              <a:buChar char="-"/>
            </a:pP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TOP500. In: </a:t>
            </a:r>
            <a:r>
              <a:rPr lang="cs" i="1">
                <a:latin typeface="Lexend Light"/>
                <a:ea typeface="Lexend Light"/>
                <a:cs typeface="Lexend Light"/>
                <a:sym typeface="Lexend Light"/>
              </a:rPr>
              <a:t>Wikipedia: the free encyclopedia</a:t>
            </a: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 [online]. San Francisco (CA): Wikimedia Foundation, 18. 11. 2022 [cit. 20. 11. 2022]. Dostupné z: </a:t>
            </a:r>
            <a:r>
              <a:rPr lang="cs" u="sng">
                <a:solidFill>
                  <a:schemeClr val="accent5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https://en.wikipedia.org/wiki/TOP500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Lexend Light"/>
              <a:buChar char="-"/>
            </a:pP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Usage share of operating systems. In: </a:t>
            </a:r>
            <a:r>
              <a:rPr lang="cs" i="1">
                <a:latin typeface="Lexend Light"/>
                <a:ea typeface="Lexend Light"/>
                <a:cs typeface="Lexend Light"/>
                <a:sym typeface="Lexend Light"/>
              </a:rPr>
              <a:t>Wikipedia: the free encyclopedia</a:t>
            </a: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 [online]. San Francisco (CA): Wikimedia Foundation, 7. 11. 2022 [cit. 20. 11. 2022]. Dostupné z: </a:t>
            </a:r>
            <a:r>
              <a:rPr lang="cs" u="sng">
                <a:solidFill>
                  <a:schemeClr val="accent5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https://en.wikipedia.org/wiki/Usage_share_of_operating_systems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Lexend Light"/>
              <a:buChar char="-"/>
            </a:pP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Linux statistics. In: </a:t>
            </a:r>
            <a:r>
              <a:rPr lang="cs" i="1">
                <a:latin typeface="Lexend Light"/>
                <a:ea typeface="Lexend Light"/>
                <a:cs typeface="Lexend Light"/>
                <a:sym typeface="Lexend Light"/>
              </a:rPr>
              <a:t>Truelist </a:t>
            </a: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[online]. [cit. 20. 11. 2022]. Dostupné z: </a:t>
            </a:r>
            <a:r>
              <a:rPr lang="cs" u="sng">
                <a:solidFill>
                  <a:schemeClr val="accent5"/>
                </a:solidFill>
                <a:latin typeface="Lexend Light"/>
                <a:ea typeface="Lexend Light"/>
                <a:cs typeface="Lexend Light"/>
                <a:sym typeface="Lexend Ligh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https://truelist.co/blog/linux-statistics/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800"/>
              <a:buFont typeface="Lexend Light"/>
              <a:buChar char="-"/>
            </a:pP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Ubuntu Flavours. Ubuntu [online]. [cit. 2022-11-20]. Dostupné z: </a:t>
            </a:r>
            <a:r>
              <a:rPr lang="cs" u="sng">
                <a:solidFill>
                  <a:schemeClr val="accent5"/>
                </a:solidFill>
                <a:latin typeface="Lexend Light"/>
                <a:ea typeface="Lexend Light"/>
                <a:cs typeface="Lexend Light"/>
                <a:sym typeface="Lexend Ligh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https://ubuntu.com/desktop/flavours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Lexend Light"/>
                <a:ea typeface="Lexend Light"/>
                <a:cs typeface="Lexend Light"/>
                <a:sym typeface="Lexend Light"/>
              </a:rPr>
              <a:t>Citace obrázků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4" name="Google Shape;234;p27"/>
          <p:cNvSpPr txBox="1">
            <a:spLocks noGrp="1"/>
          </p:cNvSpPr>
          <p:nvPr>
            <p:ph type="body" idx="1"/>
          </p:nvPr>
        </p:nvSpPr>
        <p:spPr>
          <a:xfrm>
            <a:off x="819150" y="1619800"/>
            <a:ext cx="75057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6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Font typeface="Lexend Light"/>
              <a:buChar char="-"/>
            </a:pPr>
            <a:r>
              <a:rPr lang="cs" sz="1200" i="1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Ubuntu flavours</a:t>
            </a:r>
            <a:r>
              <a:rPr lang="cs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[online]. In: . [cit. 2022-11-20]. Dostupné z: </a:t>
            </a:r>
            <a:r>
              <a:rPr lang="cs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https://fossbytes.com/wp-content/uploads/2020/03/Official-Ubuntu-Flavors-Call-For-Help-To-Join-In-their-Ubuntu-Testing-Week.png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4607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66666"/>
              <a:buFont typeface="Lexend Light"/>
              <a:buChar char="-"/>
            </a:pPr>
            <a:r>
              <a:rPr lang="cs" sz="1200" i="1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Kylin logo</a:t>
            </a:r>
            <a:r>
              <a:rPr lang="cs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[online]. In: . [cit. 2022-11-20]. Dostupné z: </a:t>
            </a:r>
            <a:r>
              <a:rPr lang="cs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/>
              </a:rPr>
              <a:t>https://upload.wikimedia.org/wikipedia/commons/4/4b/Ubuntu_Kylin_logo.png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908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12529"/>
              </a:buClr>
              <a:buSzPct val="100000"/>
              <a:buFont typeface="Arial"/>
              <a:buChar char="-"/>
            </a:pPr>
            <a:r>
              <a:rPr lang="cs" sz="1200" i="1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Safety</a:t>
            </a:r>
            <a:r>
              <a:rPr lang="cs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[online]. In: . [cit. 2022-11-20]. Dostupné z: </a:t>
            </a:r>
            <a:r>
              <a:rPr lang="cs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https://www.shell.com.cn/en_cn/motorists/motoring-tips-and-advice/10-safety-tips/_jcr_content/par/textimage/image.img.960.jpeg/1459541012998/hazard-sign-graphic.jpeg?imwidth=960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908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12529"/>
              </a:buClr>
              <a:buSzPct val="100000"/>
              <a:buFont typeface="Arial"/>
              <a:buChar char="-"/>
            </a:pPr>
            <a:r>
              <a:rPr lang="cs" sz="1200" i="1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Linux file system</a:t>
            </a:r>
            <a:r>
              <a:rPr lang="cs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[online]. In: . [cit. 2022-11-20]. Dostupné z: </a:t>
            </a:r>
            <a:r>
              <a:rPr lang="cs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6"/>
              </a:rPr>
              <a:t>https://dev.to/kcdchennai/linux-file-system-4idj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908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12529"/>
              </a:buClr>
              <a:buSzPct val="100000"/>
              <a:buFont typeface="Arial"/>
              <a:buChar char="-"/>
            </a:pPr>
            <a:r>
              <a:rPr lang="cs" sz="1200" i="1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Operating systems usage</a:t>
            </a:r>
            <a:r>
              <a:rPr lang="cs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[online]. In: . [cit. 2022-11-20]. Dostupné z: </a:t>
            </a:r>
            <a:r>
              <a:rPr lang="cs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7"/>
              </a:rPr>
              <a:t>https://en.wikipedia.org/wiki/TOP500#/media/File:Operating_systems_used_on_top_500_supercomputers.svg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908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12529"/>
              </a:buClr>
              <a:buSzPct val="100000"/>
              <a:buFont typeface="Arial"/>
              <a:buChar char="-"/>
            </a:pPr>
            <a:r>
              <a:rPr lang="cs" sz="1200" i="1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Ubuntu logo</a:t>
            </a:r>
            <a:r>
              <a:rPr lang="cs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[online]. In: . [cit. 2022-11-20]. Dostupné z: </a:t>
            </a:r>
            <a:r>
              <a:rPr lang="cs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8"/>
              </a:rPr>
              <a:t>https://commons.wikimedia.org/wiki/File:Ubuntu-logo-2022.svg</a:t>
            </a:r>
            <a:r>
              <a:rPr lang="cs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9085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212529"/>
              </a:buClr>
              <a:buSzPct val="100000"/>
              <a:buFont typeface="Arial"/>
              <a:buChar char="-"/>
            </a:pPr>
            <a:r>
              <a:rPr lang="cs" sz="1200" i="1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Dalkovy ovladac</a:t>
            </a:r>
            <a:r>
              <a:rPr lang="cs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[online]. In: . [cit. 2022-11-20]. Dostupné z: </a:t>
            </a:r>
            <a:r>
              <a:rPr lang="cs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9"/>
              </a:rPr>
              <a:t>https://www.dracik.cz/galerie/2_126176/fisher-price-pejskuv-dalkovy-ovladac-original.jpg</a:t>
            </a:r>
            <a:r>
              <a:rPr lang="cs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910</Words>
  <Application>Microsoft Office PowerPoint</Application>
  <PresentationFormat>Předvádění na obrazovce (16:9)</PresentationFormat>
  <Paragraphs>123</Paragraphs>
  <Slides>15</Slides>
  <Notes>15</Notes>
  <HiddenSlides>1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1" baseType="lpstr">
      <vt:lpstr>Lexend Light</vt:lpstr>
      <vt:lpstr>Calibri</vt:lpstr>
      <vt:lpstr>Lexend Medium</vt:lpstr>
      <vt:lpstr>Nunito</vt:lpstr>
      <vt:lpstr>Arial</vt:lpstr>
      <vt:lpstr>Shift</vt:lpstr>
      <vt:lpstr>Prezentace aplikace PowerPoint</vt:lpstr>
      <vt:lpstr>Obecné</vt:lpstr>
      <vt:lpstr>Používanost</vt:lpstr>
      <vt:lpstr>Prezentace aplikace PowerPoint</vt:lpstr>
      <vt:lpstr>Specifikace</vt:lpstr>
      <vt:lpstr>Minimální požadavky</vt:lpstr>
      <vt:lpstr>Souborový systém</vt:lpstr>
      <vt:lpstr>Aktualizace</vt:lpstr>
      <vt:lpstr>Ovladače</vt:lpstr>
      <vt:lpstr>Bezpečnost</vt:lpstr>
      <vt:lpstr>Flavors</vt:lpstr>
      <vt:lpstr>Linux (Ubuntu) proti jiným OS</vt:lpstr>
      <vt:lpstr>Diskuze</vt:lpstr>
      <vt:lpstr>Citace</vt:lpstr>
      <vt:lpstr>Citace obrázků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cp:lastModifiedBy>Matěj KOMÁREK</cp:lastModifiedBy>
  <cp:revision>2</cp:revision>
  <dcterms:modified xsi:type="dcterms:W3CDTF">2022-11-20T21:19:16Z</dcterms:modified>
</cp:coreProperties>
</file>