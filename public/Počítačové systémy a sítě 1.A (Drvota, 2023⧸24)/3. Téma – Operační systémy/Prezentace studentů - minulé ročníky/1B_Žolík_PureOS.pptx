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9" r:id="rId5"/>
    <p:sldId id="266" r:id="rId6"/>
    <p:sldId id="260" r:id="rId7"/>
    <p:sldId id="265" r:id="rId8"/>
    <p:sldId id="264" r:id="rId9"/>
    <p:sldId id="261" r:id="rId10"/>
    <p:sldId id="262" r:id="rId11"/>
    <p:sldId id="268" r:id="rId12"/>
    <p:sldId id="267" r:id="rId1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3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799E6C-0920-E0AF-95F3-34D5DE850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1F4B606-9895-B02F-0406-79FAEC129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9F80C4E-FFCE-F049-EA40-904E66FFA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BFFD0-7638-407A-AB8C-F58CE75DB831}" type="datetimeFigureOut">
              <a:rPr lang="cs-CZ" smtClean="0"/>
              <a:t>27.11.2022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344F581-0BD1-0D20-23C2-5E1819790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20CEB9B-B36B-8B27-75BB-A800B41EA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FBE3A-E618-4971-977F-5ADAE81CB9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06586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BE2D1B1-AF71-D800-D95D-384C78A23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06295AE-A59D-0B04-3E82-92B2DCA0B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3DE1BCA-CD68-1497-45A0-EDD21F260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BFFD0-7638-407A-AB8C-F58CE75DB831}" type="datetimeFigureOut">
              <a:rPr lang="cs-CZ" smtClean="0"/>
              <a:t>27.11.2022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24914B9-FFDE-4AB4-118D-C953D4350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A776F5-693B-84C7-A2F2-010B97E68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FBE3A-E618-4971-977F-5ADAE81CB9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01482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54F4EB6-16FB-22F9-0898-37949A4DD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2BCF096-593E-B521-2E95-6D23FD540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3836BE9-20AF-FBFB-2087-D9DF30D27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BFFD0-7638-407A-AB8C-F58CE75DB831}" type="datetimeFigureOut">
              <a:rPr lang="cs-CZ" smtClean="0"/>
              <a:t>27.11.2022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D3BB110-B886-5248-32C7-F92D40E36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ED90FEF-47B4-1A91-82AB-C25499E15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FBE3A-E618-4971-977F-5ADAE81CB9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89750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9B81D6-7475-103B-B5DC-C3EBFD3FD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0191059-98B3-53DD-1244-BF64A42320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0ED59C5-A97A-1144-D84E-ECE310AA8C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90B36CB-9753-2D50-8D69-44010E08E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BFFD0-7638-407A-AB8C-F58CE75DB831}" type="datetimeFigureOut">
              <a:rPr lang="cs-CZ" smtClean="0"/>
              <a:t>27.11.2022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8C74B7E-49EC-863B-6280-76F95D132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8CACC39-206B-C185-373E-CE99A730D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FBE3A-E618-4971-977F-5ADAE81CB9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66373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6D30E6C-D49C-2DA6-4B80-A1D19FEFD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F50C223-7C7D-4DBF-2D08-D2E009E2B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B9DD359-453E-E9A1-B932-368700E4F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9E6ED1CA-16D5-0123-EC01-7B29E15267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B9966E7D-51CA-AE0B-C5D7-B756D02E6A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E3D64A55-63BC-8773-EDD1-AF3B2C6A1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BFFD0-7638-407A-AB8C-F58CE75DB831}" type="datetimeFigureOut">
              <a:rPr lang="cs-CZ" smtClean="0"/>
              <a:t>27.11.2022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9D62921A-C7F9-ACE9-C0B2-D55BFA638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30BDACD9-2168-5621-7C13-90372B761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FBE3A-E618-4971-977F-5ADAE81CB9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0571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C40BE7-B29B-4E44-905D-10703AE73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5916C8C5-F316-19DB-9A91-0D9488D55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BFFD0-7638-407A-AB8C-F58CE75DB831}" type="datetimeFigureOut">
              <a:rPr lang="cs-CZ" smtClean="0"/>
              <a:t>27.11.2022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7CF7FE1-43CC-08FA-97C5-46722E9B2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E60C951-D0A5-42B7-FB43-9A9132B2D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FBE3A-E618-4971-977F-5ADAE81CB9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21607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6DF602CF-3946-DEB3-1B45-A68647994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BFFD0-7638-407A-AB8C-F58CE75DB831}" type="datetimeFigureOut">
              <a:rPr lang="cs-CZ" smtClean="0"/>
              <a:t>27.11.2022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92F72458-0FBE-FE34-7290-6EC07F5D1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E4F7991-76CB-80F2-87E0-9E20A2404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FBE3A-E618-4971-977F-5ADAE81CB9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38930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225EF1-20F4-589C-213C-4DCAA708E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B07D94A-7DE8-20D6-AE52-DF4D18A11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4CBA8EA-9EFA-8BBB-05AC-11854B9AF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6D52D69-56A0-E958-12AF-967DE5CBE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BFFD0-7638-407A-AB8C-F58CE75DB831}" type="datetimeFigureOut">
              <a:rPr lang="cs-CZ" smtClean="0"/>
              <a:t>27.11.2022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D7EE3DB-DA74-875A-63A5-369CA2FE5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F985980A-E3E2-2A20-B44D-28E27958B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FBE3A-E618-4971-977F-5ADAE81CB9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34231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530408A-2BC6-FA31-C965-353695C2F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3EE96120-242C-5416-EC54-8237507C0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99B0BA1-83E1-4929-88EC-B1C8725D5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160C9BD-5F17-3861-EFAA-DFEC9DF00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BFFD0-7638-407A-AB8C-F58CE75DB831}" type="datetimeFigureOut">
              <a:rPr lang="cs-CZ" smtClean="0"/>
              <a:t>27.11.2022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F74FF39-229E-FD79-0509-51344808E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55246F1-3899-E25B-398D-EF2BB7B67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FBE3A-E618-4971-977F-5ADAE81CB9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77291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663700-B2C4-55EC-21AB-B1909A004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E31A9BA-2D93-509C-69F0-158E0301EC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14128D4-61DF-CD7E-9149-35656394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BFFD0-7638-407A-AB8C-F58CE75DB831}" type="datetimeFigureOut">
              <a:rPr lang="cs-CZ" smtClean="0"/>
              <a:t>27.11.2022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F8E94DC-6106-6102-1500-1E7B5FAF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FFB82B0-9E75-7F14-4894-798ABE34C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FBE3A-E618-4971-977F-5ADAE81CB9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71234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27860539-337D-58DF-682D-9915D2EEA0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96B78A98-090B-60E1-00E3-7D774AB700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59EF9F8-E8F3-C243-5C67-D5886A181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BFFD0-7638-407A-AB8C-F58CE75DB831}" type="datetimeFigureOut">
              <a:rPr lang="cs-CZ" smtClean="0"/>
              <a:t>27.11.2022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3B0F057-BA08-73A6-2947-1A64C015F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C099474-D5CA-4307-4DED-28DBC9F42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FBE3A-E618-4971-977F-5ADAE81CB9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12791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4C5B4DB6-D19D-8663-35A2-124C5BC33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780D136-EAB3-59B5-0000-B5E56B8B1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67B69D7-3E5F-1514-5B0B-7FF0985ECA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BFFD0-7638-407A-AB8C-F58CE75DB831}" type="datetimeFigureOut">
              <a:rPr lang="cs-CZ" smtClean="0"/>
              <a:t>27.11.2022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B780564-3CBD-401F-2861-89FB768761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2C300EB-25C5-F4F0-BB59-30F69F6404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FBE3A-E618-4971-977F-5ADAE81CB9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49162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ureos.net/" TargetMode="External"/><Relationship Id="rId2" Type="http://schemas.openxmlformats.org/officeDocument/2006/relationships/hyperlink" Target="https://puri.sm/pages/android-vs-pureo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6A823FC-3AEA-AC53-F8AD-5F519DCFB4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408" y="992094"/>
            <a:ext cx="3616913" cy="2795160"/>
          </a:xfrm>
        </p:spPr>
        <p:txBody>
          <a:bodyPr>
            <a:normAutofit/>
          </a:bodyPr>
          <a:lstStyle/>
          <a:p>
            <a:r>
              <a:rPr lang="cs-CZ" sz="4400"/>
              <a:t>PureOs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AFD2B2F-F850-B44D-46BA-CAF5499B18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6287" y="4121253"/>
            <a:ext cx="3125337" cy="1136843"/>
          </a:xfrm>
        </p:spPr>
        <p:txBody>
          <a:bodyPr>
            <a:normAutofit/>
          </a:bodyPr>
          <a:lstStyle/>
          <a:p>
            <a:r>
              <a:rPr lang="cs-CZ" sz="1800" dirty="0"/>
              <a:t>Matouš Růžička, Vít </a:t>
            </a:r>
            <a:r>
              <a:rPr lang="cs-CZ" sz="1800" dirty="0" err="1"/>
              <a:t>Vohlídal</a:t>
            </a:r>
            <a:r>
              <a:rPr lang="cs-CZ" sz="1800" dirty="0"/>
              <a:t>. Ondřej Kout</a:t>
            </a:r>
          </a:p>
        </p:txBody>
      </p:sp>
      <p:pic>
        <p:nvPicPr>
          <p:cNvPr id="2050" name="Picture 2" descr="Výsledek obrázku pro PureOS">
            <a:extLst>
              <a:ext uri="{FF2B5EF4-FFF2-40B4-BE49-F238E27FC236}">
                <a16:creationId xmlns:a16="http://schemas.microsoft.com/office/drawing/2014/main" id="{EAEE5B2F-6CF7-25DA-0B83-4A9B6B83F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4801" y="578738"/>
            <a:ext cx="5670549" cy="5670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6373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Rectangle 1039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E477E90-3E18-F85B-FD49-39DD4C00F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2724014"/>
            <a:ext cx="10905066" cy="4393982"/>
          </a:xfrm>
        </p:spPr>
        <p:txBody>
          <a:bodyPr>
            <a:normAutofit/>
          </a:bodyPr>
          <a:lstStyle/>
          <a:p>
            <a:r>
              <a:rPr lang="cs-CZ" sz="2000" dirty="0" err="1"/>
              <a:t>PureOs</a:t>
            </a:r>
            <a:r>
              <a:rPr lang="cs-CZ" sz="2000" dirty="0"/>
              <a:t> byl založen v Prosinci 2017 společností </a:t>
            </a:r>
            <a:r>
              <a:rPr lang="cs-CZ" sz="2000" dirty="0" err="1"/>
              <a:t>Purism</a:t>
            </a:r>
            <a:r>
              <a:rPr lang="cs-CZ" sz="2000" dirty="0"/>
              <a:t>, která jej využívá ve svých vlastních </a:t>
            </a:r>
            <a:r>
              <a:rPr lang="cs-CZ" sz="2000" dirty="0" err="1"/>
              <a:t>notebookech</a:t>
            </a:r>
            <a:r>
              <a:rPr lang="cs-CZ" sz="2000" dirty="0"/>
              <a:t> a chytrých telefonech </a:t>
            </a:r>
            <a:r>
              <a:rPr lang="cs-CZ" sz="2000" dirty="0" err="1"/>
              <a:t>Librem</a:t>
            </a:r>
            <a:r>
              <a:rPr lang="cs-CZ" sz="2000" dirty="0"/>
              <a:t>.</a:t>
            </a:r>
          </a:p>
          <a:p>
            <a:endParaRPr lang="cs-CZ" sz="2000" dirty="0"/>
          </a:p>
          <a:p>
            <a:r>
              <a:rPr lang="cs-CZ" sz="2000" dirty="0"/>
              <a:t>Je distribuce operačního systému GNU/Linux zaměřená na soukromí a bezpečnost, je založena na linuxové distribuci </a:t>
            </a:r>
            <a:r>
              <a:rPr lang="cs-CZ" sz="2000" dirty="0" err="1"/>
              <a:t>Debianu</a:t>
            </a:r>
            <a:r>
              <a:rPr lang="cs-CZ" sz="2000" dirty="0"/>
              <a:t> a využívaném desktopovém prostředí GNOME. </a:t>
            </a:r>
          </a:p>
          <a:p>
            <a:endParaRPr lang="cs-CZ" sz="2000" dirty="0"/>
          </a:p>
          <a:p>
            <a:endParaRPr lang="cs-CZ" sz="2000" dirty="0"/>
          </a:p>
          <a:p>
            <a:endParaRPr lang="cs-CZ" sz="2000" dirty="0"/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Isosceles Triangle 1043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Isosceles Triangle 1045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53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E6E154-8529-B889-2206-1755E4FC6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cs-CZ" sz="3600"/>
              <a:t>PureOs výhody (mobil).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04D95E7-0FCC-4487-7ABC-9414A8DC4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782981"/>
            <a:ext cx="10905066" cy="4393982"/>
          </a:xfrm>
        </p:spPr>
        <p:txBody>
          <a:bodyPr>
            <a:normAutofit/>
          </a:bodyPr>
          <a:lstStyle/>
          <a:p>
            <a:r>
              <a:rPr lang="cs-CZ" sz="2000"/>
              <a:t>PureOs je Open Source.</a:t>
            </a:r>
          </a:p>
          <a:p>
            <a:endParaRPr lang="cs-CZ" sz="2000"/>
          </a:p>
          <a:p>
            <a:r>
              <a:rPr lang="cs-CZ" sz="2000"/>
              <a:t>Snadné používání.</a:t>
            </a:r>
          </a:p>
          <a:p>
            <a:r>
              <a:rPr lang="cs-CZ" sz="2000"/>
              <a:t>Má počítačovou verzi OS.</a:t>
            </a:r>
          </a:p>
          <a:p>
            <a:r>
              <a:rPr lang="cs-CZ" sz="2000"/>
              <a:t>Mužou se stahovat aplikace které nejsou na mobilu ale na počítači. (např. Audacity)</a:t>
            </a:r>
          </a:p>
          <a:p>
            <a:r>
              <a:rPr lang="cs-CZ" sz="2000"/>
              <a:t>Nešpehují vás.</a:t>
            </a:r>
          </a:p>
          <a:p>
            <a:r>
              <a:rPr lang="cs-CZ" sz="2000"/>
              <a:t>Blokuje velmi dobře viry.</a:t>
            </a:r>
          </a:p>
          <a:p>
            <a:r>
              <a:rPr lang="cs-CZ" sz="2000"/>
              <a:t>Lehké používání.</a:t>
            </a:r>
          </a:p>
          <a:p>
            <a:r>
              <a:rPr lang="cs-CZ" sz="2000"/>
              <a:t>Vyhýbá se Bloatwaru.</a:t>
            </a:r>
          </a:p>
          <a:p>
            <a:r>
              <a:rPr lang="cs-CZ" sz="2000"/>
              <a:t>Není založeno na Androidu nebo iOS.</a:t>
            </a:r>
          </a:p>
          <a:p>
            <a:endParaRPr lang="cs-CZ" sz="2000"/>
          </a:p>
          <a:p>
            <a:endParaRPr lang="cs-CZ" sz="2000"/>
          </a:p>
          <a:p>
            <a:endParaRPr lang="cs-CZ" sz="20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260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D792753-18BE-1BF4-9823-83A7BFA25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cs-CZ" sz="3600"/>
              <a:t>PureOs nevýhody (mobil)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DBE3F4-205A-ABAD-9003-AAE19CC94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782981"/>
            <a:ext cx="10905066" cy="4393982"/>
          </a:xfrm>
        </p:spPr>
        <p:txBody>
          <a:bodyPr>
            <a:normAutofit/>
          </a:bodyPr>
          <a:lstStyle/>
          <a:p>
            <a:r>
              <a:rPr lang="cs-CZ" sz="2000" dirty="0" err="1"/>
              <a:t>PureOs</a:t>
            </a:r>
            <a:r>
              <a:rPr lang="cs-CZ" sz="2000" dirty="0"/>
              <a:t> je NEJSPÍŠE jedině na </a:t>
            </a:r>
            <a:r>
              <a:rPr lang="cs-CZ" sz="2000" dirty="0" err="1"/>
              <a:t>Librem</a:t>
            </a:r>
            <a:r>
              <a:rPr lang="cs-CZ" sz="2000" dirty="0"/>
              <a:t> 5 telefonech.</a:t>
            </a:r>
          </a:p>
          <a:p>
            <a:r>
              <a:rPr lang="cs-CZ" sz="2000" dirty="0" err="1"/>
              <a:t>Librem</a:t>
            </a:r>
            <a:r>
              <a:rPr lang="cs-CZ" sz="2000" dirty="0"/>
              <a:t> 5 je moc drahý.</a:t>
            </a:r>
          </a:p>
          <a:p>
            <a:r>
              <a:rPr lang="cs-CZ" sz="2000" dirty="0"/>
              <a:t>Načítání aplikací trvá dlouho. </a:t>
            </a:r>
          </a:p>
          <a:p>
            <a:endParaRPr lang="cs-CZ" sz="2000"/>
          </a:p>
          <a:p>
            <a:endParaRPr lang="cs-CZ" sz="2000"/>
          </a:p>
          <a:p>
            <a:endParaRPr lang="cs-CZ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5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65FD61B1-0B9C-B835-DAD9-AC2864B3D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14" y="1490138"/>
            <a:ext cx="10872172" cy="1386203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26174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7" name="Rectangle 4126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DCA2328-E419-9742-C195-4409D995B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6901193" cy="1135737"/>
          </a:xfrm>
        </p:spPr>
        <p:txBody>
          <a:bodyPr>
            <a:normAutofit/>
          </a:bodyPr>
          <a:lstStyle/>
          <a:p>
            <a:r>
              <a:rPr lang="cs-CZ" sz="3600"/>
              <a:t>Librem 5</a:t>
            </a:r>
          </a:p>
        </p:txBody>
      </p:sp>
      <p:sp>
        <p:nvSpPr>
          <p:cNvPr id="4102" name="Content Placeholder 4101">
            <a:extLst>
              <a:ext uri="{FF2B5EF4-FFF2-40B4-BE49-F238E27FC236}">
                <a16:creationId xmlns:a16="http://schemas.microsoft.com/office/drawing/2014/main" id="{58FBAC88-B512-3AF2-1A8B-5A4EC6820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1782981"/>
            <a:ext cx="6901193" cy="4393982"/>
          </a:xfrm>
        </p:spPr>
        <p:txBody>
          <a:bodyPr>
            <a:normAutofit/>
          </a:bodyPr>
          <a:lstStyle/>
          <a:p>
            <a:r>
              <a:rPr lang="cs-CZ" sz="2000" dirty="0"/>
              <a:t>Stojí 1200 </a:t>
            </a:r>
            <a:r>
              <a:rPr lang="cs-CZ" sz="2000" dirty="0" err="1"/>
              <a:t>dollarů</a:t>
            </a:r>
            <a:r>
              <a:rPr lang="cs-CZ" sz="2000" dirty="0"/>
              <a:t>.</a:t>
            </a:r>
          </a:p>
          <a:p>
            <a:r>
              <a:rPr lang="cs-CZ" sz="2000" dirty="0"/>
              <a:t>Telefon, který používá </a:t>
            </a:r>
            <a:r>
              <a:rPr lang="cs-CZ" sz="2000" dirty="0" err="1"/>
              <a:t>PureOS</a:t>
            </a:r>
            <a:r>
              <a:rPr lang="cs-CZ" sz="2000" dirty="0"/>
              <a:t>.</a:t>
            </a:r>
          </a:p>
          <a:p>
            <a:r>
              <a:rPr lang="cs-CZ" sz="2000" dirty="0"/>
              <a:t>Vlastnosti telefonu:</a:t>
            </a:r>
          </a:p>
          <a:p>
            <a:pPr marL="0" indent="0">
              <a:buNone/>
            </a:pPr>
            <a:r>
              <a:rPr lang="cs-CZ" sz="2000" dirty="0"/>
              <a:t>    Hardware </a:t>
            </a:r>
            <a:r>
              <a:rPr lang="cs-CZ" sz="2000" dirty="0" err="1"/>
              <a:t>kill</a:t>
            </a:r>
            <a:r>
              <a:rPr lang="cs-CZ" sz="2000" dirty="0"/>
              <a:t> switch pro </a:t>
            </a:r>
            <a:r>
              <a:rPr lang="cs-CZ" sz="2000" dirty="0" err="1"/>
              <a:t>WiFi</a:t>
            </a:r>
            <a:r>
              <a:rPr lang="cs-CZ" sz="2000" dirty="0"/>
              <a:t>, Bluetooth, </a:t>
            </a:r>
            <a:br>
              <a:rPr lang="cs-CZ" sz="1400" dirty="0"/>
            </a:br>
            <a:r>
              <a:rPr lang="cs-CZ" sz="2000" dirty="0"/>
              <a:t>Cell </a:t>
            </a:r>
            <a:r>
              <a:rPr lang="cs-CZ" sz="2000" dirty="0" err="1"/>
              <a:t>Signal</a:t>
            </a:r>
            <a:r>
              <a:rPr lang="cs-CZ" sz="1400" dirty="0" err="1"/>
              <a:t>,</a:t>
            </a:r>
            <a:r>
              <a:rPr lang="cs-CZ" sz="2000" dirty="0" err="1"/>
              <a:t>mikrofon</a:t>
            </a:r>
            <a:r>
              <a:rPr lang="cs-CZ" sz="2000" dirty="0"/>
              <a:t> a  kameru, vyměnitelnou baterii, Desktopový software, updaty.</a:t>
            </a:r>
          </a:p>
        </p:txBody>
      </p:sp>
      <p:sp>
        <p:nvSpPr>
          <p:cNvPr id="4129" name="Isosceles Triangle 4128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31" name="Rectangle 4130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First impressions of Purism Librem 5">
            <a:extLst>
              <a:ext uri="{FF2B5EF4-FFF2-40B4-BE49-F238E27FC236}">
                <a16:creationId xmlns:a16="http://schemas.microsoft.com/office/drawing/2014/main" id="{D160951E-E6A5-7B32-15DB-9C1F23A3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19869" y="1143224"/>
            <a:ext cx="3428663" cy="457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33" name="Group 4132">
            <a:extLst>
              <a:ext uri="{FF2B5EF4-FFF2-40B4-BE49-F238E27FC236}">
                <a16:creationId xmlns:a16="http://schemas.microsoft.com/office/drawing/2014/main" id="{912209CB-3E4C-43AE-B507-08269FAE8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94720" y="0"/>
            <a:ext cx="1097280" cy="1097280"/>
            <a:chOff x="11094720" y="0"/>
            <a:chExt cx="1097280" cy="1097280"/>
          </a:xfrm>
        </p:grpSpPr>
        <p:sp>
          <p:nvSpPr>
            <p:cNvPr id="4134" name="Isosceles Triangle 4133">
              <a:extLst>
                <a:ext uri="{FF2B5EF4-FFF2-40B4-BE49-F238E27FC236}">
                  <a16:creationId xmlns:a16="http://schemas.microsoft.com/office/drawing/2014/main" id="{A580F890-B085-4E95-96AA-55AEBEC5CE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1094720" y="0"/>
              <a:ext cx="1097280" cy="1097280"/>
            </a:xfrm>
            <a:prstGeom prst="triangle">
              <a:avLst>
                <a:gd name="adj" fmla="val 10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35" name="Rectangle 4134">
              <a:extLst>
                <a:ext uri="{FF2B5EF4-FFF2-40B4-BE49-F238E27FC236}">
                  <a16:creationId xmlns:a16="http://schemas.microsoft.com/office/drawing/2014/main" id="{7BCB7912-FEA6-4C89-8E9B-D95EF15647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189552" y="127618"/>
              <a:ext cx="457894" cy="457894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34965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ABB624F-BF77-4AE1-B71D-2D681D473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4" name="Obrázek 13">
            <a:extLst>
              <a:ext uri="{FF2B5EF4-FFF2-40B4-BE49-F238E27FC236}">
                <a16:creationId xmlns:a16="http://schemas.microsoft.com/office/drawing/2014/main" id="{3DDAA5D6-6CC8-F7AF-5BD1-2FD8C6FCD7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203" r="17408" b="2"/>
          <a:stretch/>
        </p:blipFill>
        <p:spPr>
          <a:xfrm>
            <a:off x="-1" y="10"/>
            <a:ext cx="7370057" cy="6857990"/>
          </a:xfrm>
          <a:prstGeom prst="rect">
            <a:avLst/>
          </a:prstGeom>
        </p:spPr>
      </p:pic>
      <p:pic>
        <p:nvPicPr>
          <p:cNvPr id="16" name="Obrázek 15">
            <a:extLst>
              <a:ext uri="{FF2B5EF4-FFF2-40B4-BE49-F238E27FC236}">
                <a16:creationId xmlns:a16="http://schemas.microsoft.com/office/drawing/2014/main" id="{4C5EACBC-B4EB-8D63-0B65-2D7EA20FC7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764" b="2"/>
          <a:stretch/>
        </p:blipFill>
        <p:spPr>
          <a:xfrm>
            <a:off x="7534656" y="1"/>
            <a:ext cx="4657344" cy="3346704"/>
          </a:xfrm>
          <a:prstGeom prst="rect">
            <a:avLst/>
          </a:prstGeom>
        </p:spPr>
      </p:pic>
      <p:pic>
        <p:nvPicPr>
          <p:cNvPr id="18" name="Obrázek 17">
            <a:extLst>
              <a:ext uri="{FF2B5EF4-FFF2-40B4-BE49-F238E27FC236}">
                <a16:creationId xmlns:a16="http://schemas.microsoft.com/office/drawing/2014/main" id="{F5A55455-8A4B-8E32-B981-D8BCF9214C8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886" r="9877" b="-2"/>
          <a:stretch/>
        </p:blipFill>
        <p:spPr>
          <a:xfrm>
            <a:off x="7534654" y="3511296"/>
            <a:ext cx="4657346" cy="3346704"/>
          </a:xfrm>
          <a:prstGeom prst="rect">
            <a:avLst/>
          </a:prstGeom>
        </p:spPr>
      </p:pic>
      <p:sp>
        <p:nvSpPr>
          <p:cNvPr id="12" name="AutoShape 14">
            <a:extLst>
              <a:ext uri="{FF2B5EF4-FFF2-40B4-BE49-F238E27FC236}">
                <a16:creationId xmlns:a16="http://schemas.microsoft.com/office/drawing/2014/main" id="{AEE7E44E-7377-D374-A0F7-DF366DE6D1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020192"/>
            <a:ext cx="2561208" cy="256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8519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Rectangle 205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4D220F2-FF21-B178-6C49-F337EB595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cs-CZ" sz="3600" dirty="0"/>
              <a:t>Aktualizace softwaru.</a:t>
            </a:r>
          </a:p>
        </p:txBody>
      </p:sp>
      <p:grpSp>
        <p:nvGrpSpPr>
          <p:cNvPr id="2061" name="Group 2060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2062" name="Rectangle 2061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3" name="Isosceles Triangle 2062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65" name="Group 2064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2066" name="Isosceles Triangle 2065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7" name="Rectangle 2066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50" name="Picture 2" descr="Software updates including one that requires a system restart">
            <a:extLst>
              <a:ext uri="{FF2B5EF4-FFF2-40B4-BE49-F238E27FC236}">
                <a16:creationId xmlns:a16="http://schemas.microsoft.com/office/drawing/2014/main" id="{FC58472F-A4FD-3FC2-0987-3D6AECB4E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37213" y="1303765"/>
            <a:ext cx="2670533" cy="534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ady to install an OS update">
            <a:extLst>
              <a:ext uri="{FF2B5EF4-FFF2-40B4-BE49-F238E27FC236}">
                <a16:creationId xmlns:a16="http://schemas.microsoft.com/office/drawing/2014/main" id="{8BD5FE3A-C24F-36A1-B652-2AB9502BB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42447" y="1299988"/>
            <a:ext cx="2672846" cy="5345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8371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F3F3468-D181-A67D-71DC-BFF208DDE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cs-CZ" sz="3600" dirty="0"/>
              <a:t>Mobil specifikace</a:t>
            </a:r>
            <a:r>
              <a:rPr lang="cs-CZ" sz="4000" dirty="0"/>
              <a:t>:</a:t>
            </a:r>
            <a:endParaRPr lang="cs-CZ" sz="36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A812EDC-C480-CEB1-0817-3AA6D7CE5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782981"/>
            <a:ext cx="10905066" cy="439398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sz="2000" b="0" i="0" dirty="0">
                <a:effectLst/>
                <a:latin typeface="Droid Serif"/>
              </a:rPr>
              <a:t>CPU: NXP® i.MX 8M </a:t>
            </a:r>
            <a:r>
              <a:rPr lang="cs-CZ" sz="2000" b="0" i="0" dirty="0" err="1">
                <a:effectLst/>
                <a:latin typeface="Droid Serif"/>
              </a:rPr>
              <a:t>Quad</a:t>
            </a:r>
            <a:r>
              <a:rPr lang="cs-CZ" sz="2000" b="0" i="0" dirty="0">
                <a:effectLst/>
                <a:latin typeface="Droid Serif"/>
              </a:rPr>
              <a:t> </a:t>
            </a:r>
            <a:r>
              <a:rPr lang="cs-CZ" sz="2000" b="0" i="0" dirty="0" err="1">
                <a:effectLst/>
                <a:latin typeface="Droid Serif"/>
              </a:rPr>
              <a:t>core</a:t>
            </a:r>
            <a:r>
              <a:rPr lang="cs-CZ" sz="2000" b="0" i="0" dirty="0">
                <a:effectLst/>
                <a:latin typeface="Droid Serif"/>
              </a:rPr>
              <a:t> </a:t>
            </a:r>
            <a:r>
              <a:rPr lang="cs-CZ" sz="2000" b="0" i="0" dirty="0" err="1">
                <a:effectLst/>
                <a:latin typeface="Droid Serif"/>
              </a:rPr>
              <a:t>Cortex</a:t>
            </a:r>
            <a:r>
              <a:rPr lang="cs-CZ" sz="2000" b="0" i="0" dirty="0">
                <a:effectLst/>
                <a:latin typeface="Droid Serif"/>
              </a:rPr>
              <a:t> A53, 64bit ARM @max 1.5GHz (</a:t>
            </a:r>
            <a:r>
              <a:rPr lang="cs-CZ" sz="2000" b="0" i="0" dirty="0" err="1">
                <a:effectLst/>
                <a:latin typeface="Droid Serif"/>
              </a:rPr>
              <a:t>auxiliary</a:t>
            </a:r>
            <a:r>
              <a:rPr lang="cs-CZ" sz="2000" b="0" i="0" dirty="0">
                <a:effectLst/>
                <a:latin typeface="Droid Serif"/>
              </a:rPr>
              <a:t> </a:t>
            </a:r>
            <a:r>
              <a:rPr lang="cs-CZ" sz="2000" b="0" i="0" dirty="0" err="1">
                <a:effectLst/>
                <a:latin typeface="Droid Serif"/>
              </a:rPr>
              <a:t>Cortex</a:t>
            </a:r>
            <a:r>
              <a:rPr lang="cs-CZ" sz="2000" b="0" i="0" dirty="0">
                <a:effectLst/>
                <a:latin typeface="Droid Serif"/>
              </a:rPr>
              <a:t> M4)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0" i="0" dirty="0">
                <a:effectLst/>
                <a:latin typeface="Droid Serif"/>
              </a:rPr>
              <a:t>GPU: </a:t>
            </a:r>
            <a:r>
              <a:rPr lang="cs-CZ" sz="2000" b="0" i="0" dirty="0" err="1">
                <a:effectLst/>
                <a:latin typeface="Droid Serif"/>
              </a:rPr>
              <a:t>Vivante</a:t>
            </a:r>
            <a:r>
              <a:rPr lang="cs-CZ" sz="2000" b="0" i="0" dirty="0">
                <a:effectLst/>
                <a:latin typeface="Droid Serif"/>
              </a:rPr>
              <a:t> GC7000Lite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0" i="0" dirty="0">
                <a:effectLst/>
                <a:latin typeface="Droid Serif"/>
              </a:rPr>
              <a:t>RAM: 3 GB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0" i="0" dirty="0" err="1">
                <a:effectLst/>
                <a:latin typeface="Droid Serif"/>
              </a:rPr>
              <a:t>Storage</a:t>
            </a:r>
            <a:r>
              <a:rPr lang="cs-CZ" sz="2000" b="0" i="0" dirty="0">
                <a:effectLst/>
                <a:latin typeface="Droid Serif"/>
              </a:rPr>
              <a:t>: 32 GB </a:t>
            </a:r>
            <a:r>
              <a:rPr lang="cs-CZ" sz="2000" b="0" i="0" dirty="0" err="1">
                <a:effectLst/>
                <a:latin typeface="Droid Serif"/>
              </a:rPr>
              <a:t>eMMC</a:t>
            </a:r>
            <a:r>
              <a:rPr lang="cs-CZ" sz="2000" b="0" i="0" dirty="0">
                <a:effectLst/>
                <a:latin typeface="Droid Serif"/>
              </a:rPr>
              <a:t> </a:t>
            </a:r>
            <a:r>
              <a:rPr lang="cs-CZ" sz="2000" b="0" i="0" dirty="0" err="1">
                <a:effectLst/>
                <a:latin typeface="Droid Serif"/>
              </a:rPr>
              <a:t>internal</a:t>
            </a:r>
            <a:r>
              <a:rPr lang="cs-CZ" sz="2000" b="0" i="0" dirty="0">
                <a:effectLst/>
                <a:latin typeface="Droid Serif"/>
              </a:rPr>
              <a:t> </a:t>
            </a:r>
            <a:r>
              <a:rPr lang="cs-CZ" sz="2000" b="0" i="0" dirty="0" err="1">
                <a:effectLst/>
                <a:latin typeface="Droid Serif"/>
              </a:rPr>
              <a:t>storage</a:t>
            </a:r>
            <a:endParaRPr lang="cs-CZ" sz="2000" b="0" i="0" dirty="0">
              <a:effectLst/>
              <a:latin typeface="Droid Serif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0" i="0" dirty="0" err="1">
                <a:effectLst/>
                <a:latin typeface="Droid Serif"/>
              </a:rPr>
              <a:t>Screen</a:t>
            </a:r>
            <a:r>
              <a:rPr lang="cs-CZ" sz="2000" b="0" i="0" dirty="0">
                <a:effectLst/>
                <a:latin typeface="Droid Serif"/>
              </a:rPr>
              <a:t>: 5.7″ IPS TFT 720×1440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0" i="0" dirty="0">
                <a:effectLst/>
                <a:latin typeface="Droid Serif"/>
              </a:rPr>
              <a:t>3.5mm Jack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0" i="0" dirty="0" err="1">
                <a:effectLst/>
                <a:latin typeface="Droid Serif"/>
              </a:rPr>
              <a:t>Battery</a:t>
            </a:r>
            <a:r>
              <a:rPr lang="cs-CZ" sz="2000" b="0" i="0" dirty="0">
                <a:effectLst/>
                <a:latin typeface="Droid Serif"/>
              </a:rPr>
              <a:t>: 4,500mAh, user-</a:t>
            </a:r>
            <a:r>
              <a:rPr lang="cs-CZ" sz="2000" b="0" i="0" dirty="0" err="1">
                <a:effectLst/>
                <a:latin typeface="Droid Serif"/>
              </a:rPr>
              <a:t>replaceable</a:t>
            </a:r>
            <a:endParaRPr lang="cs-CZ" sz="2000" b="0" i="0" dirty="0">
              <a:effectLst/>
              <a:latin typeface="Droid Serif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0" i="0" dirty="0">
                <a:effectLst/>
                <a:latin typeface="Droid Serif"/>
              </a:rPr>
              <a:t>USB: USB C: USB 3.0 data, </a:t>
            </a:r>
            <a:r>
              <a:rPr lang="cs-CZ" sz="2000" b="0" i="0" dirty="0" err="1">
                <a:effectLst/>
                <a:latin typeface="Droid Serif"/>
              </a:rPr>
              <a:t>PowerDelivery</a:t>
            </a:r>
            <a:r>
              <a:rPr lang="cs-CZ" sz="2000" b="0" i="0" dirty="0">
                <a:effectLst/>
                <a:latin typeface="Droid Serif"/>
              </a:rPr>
              <a:t> (</a:t>
            </a:r>
            <a:r>
              <a:rPr lang="cs-CZ" sz="2000" b="0" i="0" dirty="0" err="1">
                <a:effectLst/>
                <a:latin typeface="Droid Serif"/>
              </a:rPr>
              <a:t>Dual</a:t>
            </a:r>
            <a:r>
              <a:rPr lang="cs-CZ" sz="2000" b="0" i="0" dirty="0">
                <a:effectLst/>
                <a:latin typeface="Droid Serif"/>
              </a:rPr>
              <a:t>-Role Port), video out (</a:t>
            </a:r>
            <a:r>
              <a:rPr lang="cs-CZ" sz="2000" b="0" i="0" dirty="0" err="1">
                <a:effectLst/>
                <a:latin typeface="Droid Serif"/>
              </a:rPr>
              <a:t>DisplayPort</a:t>
            </a:r>
            <a:r>
              <a:rPr lang="cs-CZ" sz="2000" b="0" i="0" dirty="0">
                <a:effectLst/>
                <a:latin typeface="Droid Serif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0" i="0" dirty="0" err="1">
                <a:effectLst/>
                <a:latin typeface="Droid Serif"/>
              </a:rPr>
              <a:t>Back</a:t>
            </a:r>
            <a:r>
              <a:rPr lang="cs-CZ" sz="2000" b="0" i="0" dirty="0">
                <a:effectLst/>
                <a:latin typeface="Droid Serif"/>
              </a:rPr>
              <a:t> </a:t>
            </a:r>
            <a:r>
              <a:rPr lang="cs-CZ" sz="2000" b="0" i="0" dirty="0" err="1">
                <a:effectLst/>
                <a:latin typeface="Droid Serif"/>
              </a:rPr>
              <a:t>Camera</a:t>
            </a:r>
            <a:r>
              <a:rPr lang="cs-CZ" sz="2000" b="0" i="0" dirty="0">
                <a:effectLst/>
                <a:latin typeface="Droid Serif"/>
              </a:rPr>
              <a:t>: 13 </a:t>
            </a:r>
            <a:r>
              <a:rPr lang="cs-CZ" sz="2000" b="0" i="0" dirty="0" err="1">
                <a:effectLst/>
                <a:latin typeface="Droid Serif"/>
              </a:rPr>
              <a:t>Mpx</a:t>
            </a:r>
            <a:r>
              <a:rPr lang="cs-CZ" sz="2000" b="0" i="0" dirty="0">
                <a:effectLst/>
                <a:latin typeface="Droid Serif"/>
              </a:rPr>
              <a:t> </a:t>
            </a:r>
            <a:r>
              <a:rPr lang="cs-CZ" sz="2000" b="0" i="0" dirty="0" err="1">
                <a:effectLst/>
                <a:latin typeface="Droid Serif"/>
              </a:rPr>
              <a:t>with</a:t>
            </a:r>
            <a:r>
              <a:rPr lang="cs-CZ" sz="2000" b="0" i="0" dirty="0">
                <a:effectLst/>
                <a:latin typeface="Droid Serif"/>
              </a:rPr>
              <a:t> </a:t>
            </a:r>
            <a:r>
              <a:rPr lang="cs-CZ" sz="2000" b="0" i="0" dirty="0" err="1">
                <a:effectLst/>
                <a:latin typeface="Droid Serif"/>
              </a:rPr>
              <a:t>flash</a:t>
            </a:r>
            <a:r>
              <a:rPr lang="cs-CZ" sz="2000" b="0" i="0" dirty="0">
                <a:effectLst/>
                <a:latin typeface="Droid Serif"/>
              </a:rPr>
              <a:t> LED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0" i="0" dirty="0">
                <a:effectLst/>
                <a:latin typeface="Droid Serif"/>
              </a:rPr>
              <a:t>Front </a:t>
            </a:r>
            <a:r>
              <a:rPr lang="cs-CZ" sz="2000" b="0" i="0" dirty="0" err="1">
                <a:effectLst/>
                <a:latin typeface="Droid Serif"/>
              </a:rPr>
              <a:t>Camera</a:t>
            </a:r>
            <a:r>
              <a:rPr lang="cs-CZ" sz="2000" b="0" i="0" dirty="0">
                <a:effectLst/>
                <a:latin typeface="Droid Serif"/>
              </a:rPr>
              <a:t>: 8 Mp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29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3066AFB6-AB90-1BDF-33DC-DD946617BA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9007" y="643467"/>
            <a:ext cx="7553985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778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6D6306C-ED4F-4AAE-B4A5-EEA6AFAD7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F6F3B95-DFC6-45DE-75A8-A200F4F7A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698171"/>
            <a:ext cx="3962061" cy="4516360"/>
          </a:xfrm>
        </p:spPr>
        <p:txBody>
          <a:bodyPr anchor="t">
            <a:normAutofit/>
          </a:bodyPr>
          <a:lstStyle/>
          <a:p>
            <a:r>
              <a:rPr lang="cs-CZ" sz="3600"/>
              <a:t>Otázky.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C5361D-F897-4856-B945-0455A365E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15435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508C0C5-2268-42B5-B3C8-4D0899E05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41ACBDB-38F8-4B34-8183-BD95B4E55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739327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00DB52-3455-4E2F-867B-A6D0516E1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653800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C625AC5-986C-7C5A-9794-8586993CB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0020" y="1698170"/>
            <a:ext cx="6478513" cy="4516361"/>
          </a:xfrm>
        </p:spPr>
        <p:txBody>
          <a:bodyPr>
            <a:normAutofit/>
          </a:bodyPr>
          <a:lstStyle/>
          <a:p>
            <a:r>
              <a:rPr lang="cs-CZ" sz="2000" dirty="0"/>
              <a:t>Otázky: 1. Co berete jako největší výhodu tohoto operačního systému a co by jste nejvíce využily vy. </a:t>
            </a:r>
          </a:p>
          <a:p>
            <a:endParaRPr lang="cs-CZ" sz="2000" dirty="0"/>
          </a:p>
          <a:p>
            <a:r>
              <a:rPr lang="cs-CZ" sz="2000" dirty="0"/>
              <a:t>2. Myslíte si že cena odpovídá tomu co můžete dostat. </a:t>
            </a:r>
          </a:p>
          <a:p>
            <a:endParaRPr lang="cs-CZ" sz="2000" dirty="0"/>
          </a:p>
          <a:p>
            <a:r>
              <a:rPr lang="cs-CZ" sz="2000" dirty="0"/>
              <a:t>3. Má někdo z vás zkušenost s </a:t>
            </a:r>
            <a:r>
              <a:rPr lang="cs-CZ" sz="2000"/>
              <a:t>těmito telefony.</a:t>
            </a:r>
            <a:endParaRPr lang="cs-CZ" sz="2000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9E914C83-E0D8-4953-92D5-169D28CB4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5423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512E083-F550-46AF-8490-767ECFD00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67297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169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6D6306C-ED4F-4AAE-B4A5-EEA6AFAD7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4E915B3-DFA5-594A-6653-D1CE78164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698171"/>
            <a:ext cx="3962061" cy="4516360"/>
          </a:xfrm>
        </p:spPr>
        <p:txBody>
          <a:bodyPr anchor="t">
            <a:normAutofit/>
          </a:bodyPr>
          <a:lstStyle/>
          <a:p>
            <a:r>
              <a:rPr lang="cs-CZ" sz="3600"/>
              <a:t>Citace.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C5361D-F897-4856-B945-0455A365E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15435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508C0C5-2268-42B5-B3C8-4D0899E05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41ACBDB-38F8-4B34-8183-BD95B4E55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739327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00DB52-3455-4E2F-867B-A6D0516E1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653800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704CC0F-AE54-4D0E-9C5B-FDFD8F49E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0020" y="1698170"/>
            <a:ext cx="6478513" cy="4516361"/>
          </a:xfrm>
        </p:spPr>
        <p:txBody>
          <a:bodyPr>
            <a:normAutofit/>
          </a:bodyPr>
          <a:lstStyle/>
          <a:p>
            <a:r>
              <a:rPr lang="it-IT" sz="2000" b="0" i="1">
                <a:effectLst/>
                <a:latin typeface="Open Sans" panose="020B0606030504020204" pitchFamily="34" charset="0"/>
              </a:rPr>
              <a:t>Purism</a:t>
            </a:r>
            <a:r>
              <a:rPr lang="it-IT" sz="2000" b="0" i="0">
                <a:effectLst/>
                <a:latin typeface="Open Sans" panose="020B0606030504020204" pitchFamily="34" charset="0"/>
              </a:rPr>
              <a:t> [online]. [cit. 2022-11-27]. Dostupné z: </a:t>
            </a:r>
            <a:r>
              <a:rPr lang="it-IT" sz="2000" b="0" i="0">
                <a:effectLst/>
                <a:latin typeface="Open Sans" panose="020B0606030504020204" pitchFamily="34" charset="0"/>
                <a:hlinkClick r:id="rId2"/>
              </a:rPr>
              <a:t>https://puri.sm/pages/android-vs-pureos/</a:t>
            </a:r>
            <a:endParaRPr lang="cs-CZ" sz="2000" b="0" i="0">
              <a:effectLst/>
              <a:latin typeface="Open Sans" panose="020B0606030504020204" pitchFamily="34" charset="0"/>
            </a:endParaRPr>
          </a:p>
          <a:p>
            <a:endParaRPr lang="cs-CZ" sz="2000">
              <a:latin typeface="Open Sans" panose="020B0606030504020204" pitchFamily="34" charset="0"/>
            </a:endParaRPr>
          </a:p>
          <a:p>
            <a:r>
              <a:rPr lang="it-IT" sz="2000" b="0" i="1">
                <a:effectLst/>
                <a:latin typeface="Open Sans" panose="020B0606030504020204" pitchFamily="34" charset="0"/>
              </a:rPr>
              <a:t>Purism</a:t>
            </a:r>
            <a:r>
              <a:rPr lang="it-IT" sz="2000" b="0" i="0">
                <a:effectLst/>
                <a:latin typeface="Open Sans" panose="020B0606030504020204" pitchFamily="34" charset="0"/>
              </a:rPr>
              <a:t> [online]. [cit. 2022-11-27]. Dostupné z: </a:t>
            </a:r>
            <a:r>
              <a:rPr lang="it-IT" sz="2000" b="0" i="0">
                <a:effectLst/>
                <a:latin typeface="Open Sans" panose="020B0606030504020204" pitchFamily="34" charset="0"/>
                <a:hlinkClick r:id="rId3"/>
              </a:rPr>
              <a:t>https://pureos.net</a:t>
            </a:r>
            <a:endParaRPr lang="cs-CZ" sz="2000" b="0" i="0">
              <a:effectLst/>
              <a:latin typeface="Open Sans" panose="020B0606030504020204" pitchFamily="34" charset="0"/>
            </a:endParaRPr>
          </a:p>
          <a:p>
            <a:endParaRPr lang="cs-CZ" sz="2000">
              <a:latin typeface="Open Sans" panose="020B0606030504020204" pitchFamily="34" charset="0"/>
            </a:endParaRPr>
          </a:p>
          <a:p>
            <a:r>
              <a:rPr lang="it-IT" sz="2000" b="0" i="1">
                <a:effectLst/>
                <a:latin typeface="Open Sans" panose="020B0606030504020204" pitchFamily="34" charset="0"/>
              </a:rPr>
              <a:t>Purism</a:t>
            </a:r>
            <a:r>
              <a:rPr lang="it-IT" sz="2000" b="0" i="0">
                <a:effectLst/>
                <a:latin typeface="Open Sans" panose="020B0606030504020204" pitchFamily="34" charset="0"/>
              </a:rPr>
              <a:t> [online]. [cit. 2022-11-27]. Dostupné z: https://tracker.pureos.net/w/</a:t>
            </a:r>
            <a:endParaRPr lang="cs-CZ" sz="200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9E914C83-E0D8-4953-92D5-169D28CB4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5423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512E083-F550-46AF-8490-767ECFD00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67297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21885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375</Words>
  <Application>Microsoft Office PowerPoint</Application>
  <PresentationFormat>Širokoúhlá obrazovka</PresentationFormat>
  <Paragraphs>52</Paragraphs>
  <Slides>12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Droid Serif</vt:lpstr>
      <vt:lpstr>Open Sans</vt:lpstr>
      <vt:lpstr>Motiv Office</vt:lpstr>
      <vt:lpstr>PureOs</vt:lpstr>
      <vt:lpstr>Prezentace aplikace PowerPoint</vt:lpstr>
      <vt:lpstr>PureOs výhody (mobil).</vt:lpstr>
      <vt:lpstr>PureOs nevýhody (mobil)</vt:lpstr>
      <vt:lpstr>Prezentace aplikace PowerPoint</vt:lpstr>
      <vt:lpstr>Librem 5</vt:lpstr>
      <vt:lpstr>Prezentace aplikace PowerPoint</vt:lpstr>
      <vt:lpstr>Aktualizace softwaru.</vt:lpstr>
      <vt:lpstr>Mobil specifikace:</vt:lpstr>
      <vt:lpstr>Prezentace aplikace PowerPoint</vt:lpstr>
      <vt:lpstr>Otázky.</vt:lpstr>
      <vt:lpstr>Citace.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PureOs</dc:title>
  <dc:creator>Matouš</dc:creator>
  <cp:lastModifiedBy>Matouš</cp:lastModifiedBy>
  <cp:revision>16</cp:revision>
  <dcterms:created xsi:type="dcterms:W3CDTF">2022-11-26T00:31:34Z</dcterms:created>
  <dcterms:modified xsi:type="dcterms:W3CDTF">2022-11-27T20:29:37Z</dcterms:modified>
</cp:coreProperties>
</file>