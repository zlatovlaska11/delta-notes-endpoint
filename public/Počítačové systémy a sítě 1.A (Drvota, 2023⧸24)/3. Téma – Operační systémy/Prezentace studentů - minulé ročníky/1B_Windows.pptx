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9" r:id="rId8"/>
    <p:sldId id="270" r:id="rId9"/>
    <p:sldId id="272" r:id="rId10"/>
    <p:sldId id="271" r:id="rId11"/>
    <p:sldId id="273" r:id="rId12"/>
    <p:sldId id="263" r:id="rId13"/>
    <p:sldId id="278" r:id="rId14"/>
    <p:sldId id="264" r:id="rId15"/>
    <p:sldId id="265" r:id="rId16"/>
    <p:sldId id="266" r:id="rId17"/>
    <p:sldId id="267" r:id="rId18"/>
    <p:sldId id="268" r:id="rId19"/>
    <p:sldId id="280" r:id="rId20"/>
    <p:sldId id="274" r:id="rId21"/>
    <p:sldId id="275" r:id="rId22"/>
    <p:sldId id="276" r:id="rId23"/>
    <p:sldId id="277" r:id="rId24"/>
    <p:sldId id="279" r:id="rId25"/>
    <p:sldId id="281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69445-3C6B-44A2-A76B-D2FE1B3DA76E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49D3A-0C89-418E-8E1D-BFE26BD32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94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Je to na Windows 11 (Protože je to nejstabilnější) </a:t>
            </a:r>
          </a:p>
          <a:p>
            <a:r>
              <a:rPr lang="cs-CZ" dirty="0" err="1"/>
              <a:t>Gigaherzt</a:t>
            </a:r>
            <a:r>
              <a:rPr lang="cs-CZ" dirty="0"/>
              <a:t> – takt procesoru, udává kolik se </a:t>
            </a:r>
            <a:r>
              <a:rPr lang="cs-CZ" dirty="0" err="1"/>
              <a:t>uděje</a:t>
            </a:r>
            <a:r>
              <a:rPr lang="cs-CZ" dirty="0"/>
              <a:t> cyklů dějů(výpočtu) z jednu sekundu</a:t>
            </a:r>
          </a:p>
          <a:p>
            <a:r>
              <a:rPr lang="cs-CZ" dirty="0"/>
              <a:t>Jádro – vypočítává všechny </a:t>
            </a:r>
            <a:r>
              <a:rPr lang="cs-CZ" dirty="0" err="1"/>
              <a:t>ulohy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9D3A-0C89-418E-8E1D-BFE26BD3202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89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Prostor, v kterém počítá procesor úlohy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9D3A-0C89-418E-8E1D-BFE26BD3202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868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Prostor, kam se se všechno ukládá a po vypnutí se nezamkne 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9D3A-0C89-418E-8E1D-BFE26BD3202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965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DirectX 12 – umožňuje softwaru (převážně hrám) pracovat přímo s grafickým a zvukovým hardwarem </a:t>
            </a:r>
          </a:p>
          <a:p>
            <a:r>
              <a:rPr lang="cs-CZ" dirty="0"/>
              <a:t>WDDM 2.0 – </a:t>
            </a:r>
            <a:r>
              <a:rPr lang="cs-CZ" dirty="0" err="1"/>
              <a:t>Memory</a:t>
            </a:r>
            <a:r>
              <a:rPr lang="cs-CZ" dirty="0"/>
              <a:t> managment – aby si zdroje mohli sami organizovat grafické karty 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9D3A-0C89-418E-8E1D-BFE26BD3202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4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9D3A-0C89-418E-8E1D-BFE26BD3202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353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A09848-7435-0188-E4BB-F5B8572B7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E2AB61E-6753-4A2D-2894-90EB00053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AFEE6B-C080-D344-EEDD-DFCAAE503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42EB1F4-CDC9-500C-3EEB-1EACC75A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4914EA-9C4B-1091-66C2-F56F5B3B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399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7EC7BD-CD04-E30B-5AA4-3DDB0571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2BE033-28DE-805C-160C-F73E7650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15AE07-2CCD-8040-77E8-6706EC3B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1FE8B17-10F4-C3C2-8130-FE0FA24B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452EBA-2DA0-F950-B8F0-DFFCB537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492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30E16D-42F9-5D27-A86F-3B1FCAE5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D03FA8B-010C-6DC9-AA6C-49DC6CF0C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329788-488C-CF23-00DF-013D466A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C00D85-8E17-21E4-D8E2-91821923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7E8910B-6263-8683-8290-993C06BB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275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4A7941-0C26-DDC2-E93C-BB41ABA9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DBC65A-2829-C1E8-8A0A-DD3FF47DE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7A81E16-BC7D-B153-07D0-31DA20D40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FF5C17-DFB4-1208-55F7-5527C4C5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83C0563-811A-CC2F-1425-A4863443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C2DCEE6-3ABA-B309-DE35-BB9C3A4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5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7BEFC2-1391-6C96-722C-2CF82913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0C583F-C742-EC3B-1705-A50851AC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B39F6CF-FC07-616A-C2BE-1245181D4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1CC8C85-DDCF-CE2F-318F-5343F807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8171C6C-06E6-41A2-A3EA-B7066B3EF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637E663-DDE9-81C3-6013-AE54A8A7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C4B55D0-8F42-BEBD-E68A-479F272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1A8019A-7B0E-F5D3-A944-C1EBF746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648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F79ECE-8539-4D63-3BE5-3CD226C0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E832221-25F4-C4A6-FD2D-B81A3103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8CC9F0F-D34B-705C-29AC-D052762F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54B7521-E229-9B81-EDB0-CBFE5DBE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677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0870E1B-38BE-B4C9-B662-0EAC875F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8065A5E-D2B6-59EA-B191-F245F0B67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1034A95-610D-5418-93C7-82C6A68A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069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211150-9D31-488D-1BC7-F36ED01A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D06033-8A9A-2089-BA9D-353317F13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11812AF-9CF0-FAE6-FD05-51F847E43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40DA152-1A5F-7AF7-199F-505DDE04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5A4B1E1-B8BE-BE4C-D718-4B3DB386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A9AFCAD-D890-1477-1698-30DE83DB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263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9675D8-1405-79D5-C4B9-7444DC8A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A26C9E7-726A-0162-1030-F28CD3DA6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E8D6EAB-63A1-1C2C-5546-6FC060E6C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DD7612B-A69E-3B5A-05F1-A7BBF58A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D32A148-537C-3345-CB03-923A97CD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002F9AF-47D6-7F82-7902-0D2F6AAB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619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A4A662-BCDC-0FBF-F810-263070C3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6399855-CFD7-50B6-BE1C-739582AC6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D89322-6930-052F-F049-90855A22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370664-FA0C-C8E0-0DFC-F567654E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A64E555-9B6F-63CA-CB59-57506588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8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4E2F369-0ABE-2258-82EE-03A79D26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BBD9EFC-EB90-B292-2CB5-9682BFFD9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B485620-67C4-869F-C00C-D91D16F2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ED4A7F-3CD4-62B6-4371-4489D5D5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A76758-701F-D01C-10C2-C35F6DE0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018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42CC660-7D57-5958-AD8A-45CD9955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F20DC88-CEAD-8A6A-09AA-94832AC86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EECEE69-D325-1646-BB2B-4170EC571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1BFF6-08D3-4EE8-BF5B-7DEE42E8836A}" type="datetimeFigureOut">
              <a:rPr lang="en-GB" smtClean="0"/>
              <a:t>20/11/2022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D664053-4622-DE7B-4B2A-AB0B4DFF2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E5ED3CB-6D4E-5781-5A9C-E27DAFC3F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57BFE-2A9B-4C1E-90CA-08B4C4DC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77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windows/windows-11-specifications?r=1" TargetMode="External"/><Relationship Id="rId2" Type="http://schemas.openxmlformats.org/officeDocument/2006/relationships/hyperlink" Target="https://support.microsoft.com/cs-cz/windows/windows-11-a-zabezpe%C4%8Den%C3%A9-spu%C5%A1t%C4%9Bn%C3%AD-a8ff1202-c0d9-42f5-940f-843abef64fa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hip.cz/novinky/objeveni-chyb-v-ram-zatezovy-test-proveri-operacni-pamet-vaseho-systemu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cs-cz/geforce/technologies/dx12/" TargetMode="External"/><Relationship Id="rId2" Type="http://schemas.openxmlformats.org/officeDocument/2006/relationships/hyperlink" Target="https://support.microsoft.com/cs-cz/windows/-windows-p%C5%99%C3%ADstup-k-syst%C3%A9mu-soubor%C5%AF-a-ochrana-osobn%C3%ADch-%C3%BAdaj%C5%AF-a7d90b20-b252-0e7b-6a29-a3a688e5c7b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cs-cz/windows/comprehensive-security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jii.com/wiki/Usage_share_of_operating_syste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5811E-2B00-FEEF-6F01-743353ABE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242" y="971106"/>
            <a:ext cx="7245267" cy="1954619"/>
          </a:xfrm>
        </p:spPr>
        <p:txBody>
          <a:bodyPr>
            <a:normAutofit/>
          </a:bodyPr>
          <a:lstStyle/>
          <a:p>
            <a:r>
              <a:rPr lang="cs-CZ" sz="11500" b="1" dirty="0">
                <a:solidFill>
                  <a:schemeClr val="bg1"/>
                </a:solidFill>
              </a:rPr>
              <a:t>Windows</a:t>
            </a:r>
            <a:r>
              <a:rPr lang="cs-CZ" sz="8000" b="1" dirty="0">
                <a:solidFill>
                  <a:schemeClr val="bg1"/>
                </a:solidFill>
              </a:rPr>
              <a:t> </a:t>
            </a:r>
            <a:endParaRPr lang="en-GB" sz="8000" b="1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D0C7BC8-0A3D-B0BE-4867-5C7D363A34B1}"/>
              </a:ext>
            </a:extLst>
          </p:cNvPr>
          <p:cNvSpPr txBox="1"/>
          <p:nvPr/>
        </p:nvSpPr>
        <p:spPr>
          <a:xfrm>
            <a:off x="909742" y="5816010"/>
            <a:ext cx="7222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Hlava Marek, Macák Erik, Žižka Josef, Jelínek Jakub  2022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760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D053D-8C49-977F-84A9-FCC1FE47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0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5400" b="1" dirty="0">
                <a:solidFill>
                  <a:schemeClr val="bg1">
                    <a:lumMod val="95000"/>
                  </a:schemeClr>
                </a:solidFill>
              </a:rPr>
              <a:t>Minimální HW požadavky</a:t>
            </a:r>
            <a:endParaRPr lang="en-GB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BAF2E41-85FC-C39C-2541-3A9D592417B2}"/>
              </a:ext>
            </a:extLst>
          </p:cNvPr>
          <p:cNvSpPr txBox="1"/>
          <p:nvPr/>
        </p:nvSpPr>
        <p:spPr>
          <a:xfrm>
            <a:off x="786809" y="2182032"/>
            <a:ext cx="2466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95000"/>
                  </a:schemeClr>
                </a:solidFill>
              </a:rPr>
              <a:t>Procesor</a:t>
            </a:r>
            <a:endParaRPr lang="en-GB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55DE705-D44F-111F-869D-7B02E0AFB7B9}"/>
              </a:ext>
            </a:extLst>
          </p:cNvPr>
          <p:cNvSpPr txBox="1"/>
          <p:nvPr/>
        </p:nvSpPr>
        <p:spPr>
          <a:xfrm>
            <a:off x="786809" y="4859186"/>
            <a:ext cx="5599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i="0" dirty="0">
                <a:solidFill>
                  <a:schemeClr val="bg1"/>
                </a:solidFill>
                <a:effectLst/>
              </a:rPr>
              <a:t>1 gigahertz (GHz)</a:t>
            </a:r>
            <a:r>
              <a:rPr lang="cs-CZ" sz="3200" b="0" i="0" dirty="0">
                <a:solidFill>
                  <a:schemeClr val="bg1"/>
                </a:solidFill>
                <a:effectLst/>
              </a:rPr>
              <a:t>  nebo rychlejší se 2 nebo více jádry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Procesor Intel Core i5-10500 3,10GHz 12MB L3 LGA1200, tray (bez chladiče) -  Procesory | BílýRáj.cz">
            <a:extLst>
              <a:ext uri="{FF2B5EF4-FFF2-40B4-BE49-F238E27FC236}">
                <a16:creationId xmlns:a16="http://schemas.microsoft.com/office/drawing/2014/main" id="{DB730C9E-D00D-35C2-CC56-EB9EF7168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282" y="2239926"/>
            <a:ext cx="2043439" cy="204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899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D053D-8C49-977F-84A9-FCC1FE47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0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5400" b="1" dirty="0">
                <a:solidFill>
                  <a:schemeClr val="bg1">
                    <a:lumMod val="95000"/>
                  </a:schemeClr>
                </a:solidFill>
              </a:rPr>
              <a:t>Minimální HW požadavky</a:t>
            </a:r>
            <a:endParaRPr lang="en-GB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BAF2E41-85FC-C39C-2541-3A9D592417B2}"/>
              </a:ext>
            </a:extLst>
          </p:cNvPr>
          <p:cNvSpPr txBox="1"/>
          <p:nvPr/>
        </p:nvSpPr>
        <p:spPr>
          <a:xfrm>
            <a:off x="786809" y="2182032"/>
            <a:ext cx="2466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95000"/>
                  </a:schemeClr>
                </a:solidFill>
              </a:rPr>
              <a:t>Operační paměť</a:t>
            </a:r>
            <a:endParaRPr lang="en-GB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55DE705-D44F-111F-869D-7B02E0AFB7B9}"/>
              </a:ext>
            </a:extLst>
          </p:cNvPr>
          <p:cNvSpPr txBox="1"/>
          <p:nvPr/>
        </p:nvSpPr>
        <p:spPr>
          <a:xfrm>
            <a:off x="786809" y="4859186"/>
            <a:ext cx="559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4 Gigabyte  (GB)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2050" name="Picture 2" descr="Objevení chyb v RAM: zátěžový test prověří operační paměť vašeho systému |  Chip.cz - recenze a testy">
            <a:extLst>
              <a:ext uri="{FF2B5EF4-FFF2-40B4-BE49-F238E27FC236}">
                <a16:creationId xmlns:a16="http://schemas.microsoft.com/office/drawing/2014/main" id="{50966E8E-3C9F-926A-55A5-C9C389CE1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53" y="1998814"/>
            <a:ext cx="3055089" cy="240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651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D053D-8C49-977F-84A9-FCC1FE47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0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5400" b="1" dirty="0">
                <a:solidFill>
                  <a:schemeClr val="bg1">
                    <a:lumMod val="95000"/>
                  </a:schemeClr>
                </a:solidFill>
              </a:rPr>
              <a:t>Minimální HW požadavky</a:t>
            </a:r>
            <a:endParaRPr lang="en-GB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BAF2E41-85FC-C39C-2541-3A9D592417B2}"/>
              </a:ext>
            </a:extLst>
          </p:cNvPr>
          <p:cNvSpPr txBox="1"/>
          <p:nvPr/>
        </p:nvSpPr>
        <p:spPr>
          <a:xfrm>
            <a:off x="786809" y="2182032"/>
            <a:ext cx="2466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95000"/>
                  </a:schemeClr>
                </a:solidFill>
              </a:rPr>
              <a:t>Úložný prostor</a:t>
            </a:r>
            <a:endParaRPr lang="en-GB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55DE705-D44F-111F-869D-7B02E0AFB7B9}"/>
              </a:ext>
            </a:extLst>
          </p:cNvPr>
          <p:cNvSpPr txBox="1"/>
          <p:nvPr/>
        </p:nvSpPr>
        <p:spPr>
          <a:xfrm>
            <a:off x="786809" y="4859186"/>
            <a:ext cx="5599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64 Gigabyte  (GB)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3080" name="Picture 8" descr="Seagate BarraCuda, 3,5&amp;quot; - 4TB_246734386">
            <a:extLst>
              <a:ext uri="{FF2B5EF4-FFF2-40B4-BE49-F238E27FC236}">
                <a16:creationId xmlns:a16="http://schemas.microsoft.com/office/drawing/2014/main" id="{897AC6D0-3003-0105-C6CE-3E26CA65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042" y="1761571"/>
            <a:ext cx="2078665" cy="301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70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D053D-8C49-977F-84A9-FCC1FE47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60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cs-CZ" sz="5400" b="1" dirty="0">
                <a:solidFill>
                  <a:schemeClr val="bg1">
                    <a:lumMod val="95000"/>
                  </a:schemeClr>
                </a:solidFill>
              </a:rPr>
              <a:t>Minimální HW požadavky</a:t>
            </a:r>
            <a:endParaRPr lang="en-GB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BAF2E41-85FC-C39C-2541-3A9D592417B2}"/>
              </a:ext>
            </a:extLst>
          </p:cNvPr>
          <p:cNvSpPr txBox="1"/>
          <p:nvPr/>
        </p:nvSpPr>
        <p:spPr>
          <a:xfrm>
            <a:off x="786809" y="2182032"/>
            <a:ext cx="2466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000" b="1" dirty="0">
                <a:solidFill>
                  <a:schemeClr val="bg1">
                    <a:lumMod val="95000"/>
                  </a:schemeClr>
                </a:solidFill>
              </a:rPr>
              <a:t>Grafická karta</a:t>
            </a:r>
            <a:endParaRPr lang="en-GB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55DE705-D44F-111F-869D-7B02E0AFB7B9}"/>
              </a:ext>
            </a:extLst>
          </p:cNvPr>
          <p:cNvSpPr txBox="1"/>
          <p:nvPr/>
        </p:nvSpPr>
        <p:spPr>
          <a:xfrm>
            <a:off x="786809" y="4859186"/>
            <a:ext cx="5599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Kompatibilní s DirectX 12 nebo novějším ovladačem WDDM 2.0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4098" name="Picture 2" descr="Herní grafická karta RTX 2080 8GB VRAM GDDR6 Strix ROG - Brno | Bazoš.cz">
            <a:extLst>
              <a:ext uri="{FF2B5EF4-FFF2-40B4-BE49-F238E27FC236}">
                <a16:creationId xmlns:a16="http://schemas.microsoft.com/office/drawing/2014/main" id="{E19334C8-72E6-465F-0D5B-138EFF651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1136" b="5086"/>
          <a:stretch/>
        </p:blipFill>
        <p:spPr bwMode="auto">
          <a:xfrm>
            <a:off x="3586716" y="1761571"/>
            <a:ext cx="3584910" cy="296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834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391DBD-083A-D342-E5CC-DADF9CE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Drivery (ovladače)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FEE16D-AF44-86CA-67E2-04A420496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5824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Většinu ovladačů si operační systém stáhne sám 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Pokud něco některá chybí, tak si je stačí lehce stáhnout z jejich webových stránek 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Vše se pak nastavuje  ve správci zařízení</a:t>
            </a:r>
          </a:p>
        </p:txBody>
      </p:sp>
    </p:spTree>
    <p:extLst>
      <p:ext uri="{BB962C8B-B14F-4D97-AF65-F5344CB8AC3E}">
        <p14:creationId xmlns:p14="http://schemas.microsoft.com/office/powerpoint/2010/main" val="1742547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85BF54-36C5-A902-9FE1-E611A22C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Souborové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80ECA1-0FEF-A7FD-B5B4-080771ED3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0757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Je to základní uspořádání souborů</a:t>
            </a:r>
          </a:p>
          <a:p>
            <a:r>
              <a:rPr lang="cs-CZ" dirty="0">
                <a:solidFill>
                  <a:schemeClr val="bg1"/>
                </a:solidFill>
              </a:rPr>
              <a:t>používá souborové systémy FAT, NTFS, </a:t>
            </a:r>
            <a:r>
              <a:rPr lang="cs-CZ" dirty="0" err="1">
                <a:solidFill>
                  <a:schemeClr val="bg1"/>
                </a:solidFill>
              </a:rPr>
              <a:t>exFAT</a:t>
            </a:r>
            <a:r>
              <a:rPr lang="cs-CZ" dirty="0">
                <a:solidFill>
                  <a:schemeClr val="bg1"/>
                </a:solidFill>
              </a:rPr>
              <a:t> a </a:t>
            </a:r>
            <a:r>
              <a:rPr lang="cs-CZ" dirty="0" err="1">
                <a:solidFill>
                  <a:schemeClr val="bg1"/>
                </a:solidFill>
              </a:rPr>
              <a:t>ReFS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8ECA156-0EA2-64ED-2D8D-B3EE9BA5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80348"/>
            <a:ext cx="9135402" cy="5693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714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D7564F-D61E-442B-47FF-29450158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FAT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55BF62-A7A7-B5E3-E3AB-BC4BD87E4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22476" cy="4351338"/>
          </a:xfrm>
        </p:spPr>
        <p:txBody>
          <a:bodyPr/>
          <a:lstStyle/>
          <a:p>
            <a:r>
              <a:rPr lang="cs-CZ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File</a:t>
            </a:r>
            <a:r>
              <a:rPr lang="cs-CZ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Allocation</a:t>
            </a:r>
            <a:r>
              <a:rPr lang="cs-CZ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Table</a:t>
            </a:r>
          </a:p>
          <a:p>
            <a:r>
              <a:rPr lang="cs-CZ" dirty="0">
                <a:solidFill>
                  <a:schemeClr val="bg1"/>
                </a:solidFill>
              </a:rPr>
              <a:t>Kvůli jednoduchosti a rozšíření se používá na výměnných médiích</a:t>
            </a:r>
          </a:p>
          <a:p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887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C92637-0673-8247-7967-B011DFA4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 err="1">
                <a:solidFill>
                  <a:schemeClr val="bg1"/>
                </a:solidFill>
              </a:rPr>
              <a:t>exFAT</a:t>
            </a:r>
            <a:endParaRPr lang="cs-CZ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8A9EA8-29AA-55A8-EB83-6555C25F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5280" cy="4351338"/>
          </a:xfrm>
        </p:spPr>
        <p:txBody>
          <a:bodyPr/>
          <a:lstStyle/>
          <a:p>
            <a:r>
              <a:rPr lang="cs-CZ" dirty="0" err="1">
                <a:solidFill>
                  <a:schemeClr val="bg1"/>
                </a:solidFill>
              </a:rPr>
              <a:t>Extended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File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Allocation</a:t>
            </a:r>
            <a:r>
              <a:rPr lang="cs-CZ" dirty="0">
                <a:solidFill>
                  <a:schemeClr val="bg1"/>
                </a:solidFill>
              </a:rPr>
              <a:t> Table, někdy označovaný jako FAT64</a:t>
            </a:r>
          </a:p>
          <a:p>
            <a:r>
              <a:rPr lang="cs-CZ" dirty="0">
                <a:solidFill>
                  <a:schemeClr val="bg1"/>
                </a:solidFill>
              </a:rPr>
              <a:t>Je určený  pro výměnná paměťová média</a:t>
            </a:r>
          </a:p>
          <a:p>
            <a:r>
              <a:rPr lang="cs-CZ" dirty="0">
                <a:solidFill>
                  <a:schemeClr val="bg1"/>
                </a:solidFill>
              </a:rPr>
              <a:t>Je nástupcem FAT32 </a:t>
            </a:r>
          </a:p>
          <a:p>
            <a:r>
              <a:rPr lang="cs-CZ" dirty="0">
                <a:solidFill>
                  <a:schemeClr val="bg1"/>
                </a:solidFill>
              </a:rPr>
              <a:t>V lednu 2009 patentováno Microsoftem</a:t>
            </a:r>
          </a:p>
        </p:txBody>
      </p:sp>
    </p:spTree>
    <p:extLst>
      <p:ext uri="{BB962C8B-B14F-4D97-AF65-F5344CB8AC3E}">
        <p14:creationId xmlns:p14="http://schemas.microsoft.com/office/powerpoint/2010/main" val="190716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C3A0D2-D5DF-4995-6FFE-EFC61C60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>
                <a:solidFill>
                  <a:schemeClr val="bg1"/>
                </a:solidFill>
              </a:rPr>
              <a:t>NFTS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526272-89E3-7E60-14A8-9F63FE28F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3623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New Technology </a:t>
            </a:r>
            <a:r>
              <a:rPr lang="cs-CZ" dirty="0" err="1">
                <a:solidFill>
                  <a:schemeClr val="bg1"/>
                </a:solidFill>
              </a:rPr>
              <a:t>File</a:t>
            </a:r>
            <a:r>
              <a:rPr lang="cs-CZ" dirty="0">
                <a:solidFill>
                  <a:schemeClr val="bg1"/>
                </a:solidFill>
              </a:rPr>
              <a:t> Systém</a:t>
            </a:r>
          </a:p>
          <a:p>
            <a:r>
              <a:rPr lang="cs-CZ" dirty="0">
                <a:solidFill>
                  <a:schemeClr val="bg1"/>
                </a:solidFill>
              </a:rPr>
              <a:t>Souborový systém vyvinutý pro Windows </a:t>
            </a:r>
          </a:p>
          <a:p>
            <a:r>
              <a:rPr lang="cs-CZ" dirty="0">
                <a:solidFill>
                  <a:schemeClr val="bg1"/>
                </a:solidFill>
              </a:rPr>
              <a:t>Vyvíjeli </a:t>
            </a:r>
            <a:r>
              <a:rPr lang="cs-CZ" dirty="0" err="1">
                <a:solidFill>
                  <a:schemeClr val="bg1"/>
                </a:solidFill>
              </a:rPr>
              <a:t>Microstoft</a:t>
            </a:r>
            <a:r>
              <a:rPr lang="cs-CZ" dirty="0">
                <a:solidFill>
                  <a:schemeClr val="bg1"/>
                </a:solidFill>
              </a:rPr>
              <a:t> a IBM</a:t>
            </a:r>
          </a:p>
        </p:txBody>
      </p:sp>
    </p:spTree>
    <p:extLst>
      <p:ext uri="{BB962C8B-B14F-4D97-AF65-F5344CB8AC3E}">
        <p14:creationId xmlns:p14="http://schemas.microsoft.com/office/powerpoint/2010/main" val="1270503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404006-5B69-EB4A-A376-4A386C93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b="1" dirty="0" err="1">
                <a:solidFill>
                  <a:schemeClr val="bg1"/>
                </a:solidFill>
              </a:rPr>
              <a:t>ReFS</a:t>
            </a:r>
            <a:endParaRPr lang="cs-CZ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871021-630E-0498-2050-0EF131380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60184" cy="4351338"/>
          </a:xfrm>
        </p:spPr>
        <p:txBody>
          <a:bodyPr/>
          <a:lstStyle/>
          <a:p>
            <a:r>
              <a:rPr lang="cs-CZ" dirty="0" err="1">
                <a:solidFill>
                  <a:schemeClr val="bg1"/>
                </a:solidFill>
              </a:rPr>
              <a:t>Resilient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File</a:t>
            </a:r>
            <a:r>
              <a:rPr lang="cs-CZ" dirty="0">
                <a:solidFill>
                  <a:schemeClr val="bg1"/>
                </a:solidFill>
              </a:rPr>
              <a:t> </a:t>
            </a:r>
            <a:r>
              <a:rPr lang="cs-CZ" dirty="0" err="1">
                <a:solidFill>
                  <a:schemeClr val="bg1"/>
                </a:solidFill>
              </a:rPr>
              <a:t>System</a:t>
            </a: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Nástupce NFTS</a:t>
            </a:r>
          </a:p>
          <a:p>
            <a:r>
              <a:rPr lang="cs-CZ" dirty="0">
                <a:solidFill>
                  <a:schemeClr val="bg1"/>
                </a:solidFill>
              </a:rPr>
              <a:t>Ve většině testů byl </a:t>
            </a:r>
            <a:r>
              <a:rPr lang="cs-CZ" dirty="0" err="1">
                <a:solidFill>
                  <a:schemeClr val="bg1"/>
                </a:solidFill>
              </a:rPr>
              <a:t>ReFS</a:t>
            </a:r>
            <a:r>
              <a:rPr lang="cs-CZ" dirty="0">
                <a:solidFill>
                  <a:schemeClr val="bg1"/>
                </a:solidFill>
              </a:rPr>
              <a:t> o trochu rychlejší, než stávající NTFS</a:t>
            </a:r>
          </a:p>
          <a:p>
            <a:r>
              <a:rPr lang="cs-CZ" dirty="0">
                <a:solidFill>
                  <a:schemeClr val="bg1"/>
                </a:solidFill>
              </a:rPr>
              <a:t>Se zapnutou kontrolou integrity byl </a:t>
            </a:r>
            <a:r>
              <a:rPr lang="cs-CZ" dirty="0" err="1">
                <a:solidFill>
                  <a:schemeClr val="bg1"/>
                </a:solidFill>
              </a:rPr>
              <a:t>ReFS</a:t>
            </a:r>
            <a:r>
              <a:rPr lang="cs-CZ" dirty="0">
                <a:solidFill>
                  <a:schemeClr val="bg1"/>
                </a:solidFill>
              </a:rPr>
              <a:t> o dost pomalejší</a:t>
            </a:r>
          </a:p>
        </p:txBody>
      </p:sp>
    </p:spTree>
    <p:extLst>
      <p:ext uri="{BB962C8B-B14F-4D97-AF65-F5344CB8AC3E}">
        <p14:creationId xmlns:p14="http://schemas.microsoft.com/office/powerpoint/2010/main" val="506318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A88904-B08D-1B87-39CA-75C91EC5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Aktualizace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73B66A-F66F-2F43-66A0-FAE9390A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089"/>
            <a:ext cx="6281057" cy="4198873"/>
          </a:xfrm>
        </p:spPr>
        <p:txBody>
          <a:bodyPr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</a:rPr>
              <a:t>Veškeré aktualizace probíhají v nastavení (služba Windows Update)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Aktualizace je čas od času potřeba vyhledat </a:t>
            </a: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  <a:sym typeface="Wingdings" panose="05000000000000000000" pitchFamily="2" charset="2"/>
              </a:rPr>
              <a:t>Vyhledávaní probíhá přes jedno tlačítko</a:t>
            </a: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3307660-E96F-405A-E3C1-F067D779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90" y="2954256"/>
            <a:ext cx="3079908" cy="157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3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F72C59-0CA0-22AC-518E-F11D3CDB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Klady a zápory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CDE00D1-A108-4DCD-58D0-23FA87C7C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3000" u="sng" dirty="0">
                <a:solidFill>
                  <a:schemeClr val="bg1"/>
                </a:solidFill>
              </a:rPr>
              <a:t>Klady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DCEA15B-8FF8-5176-0B97-57351F2CC7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Dobře kompatibilní s většinou hardwaru </a:t>
            </a:r>
          </a:p>
          <a:p>
            <a:r>
              <a:rPr lang="cs-CZ" dirty="0">
                <a:solidFill>
                  <a:schemeClr val="bg1"/>
                </a:solidFill>
              </a:rPr>
              <a:t>Velmi pokročilé funkce systému</a:t>
            </a:r>
          </a:p>
          <a:p>
            <a:r>
              <a:rPr lang="cs-CZ" dirty="0">
                <a:solidFill>
                  <a:schemeClr val="bg1"/>
                </a:solidFill>
              </a:rPr>
              <a:t>Kvalitní a profesionální užití softwaru  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98A82A2-5FB1-39A8-F742-197205647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cs-CZ" sz="3000" u="sng" dirty="0">
                <a:solidFill>
                  <a:schemeClr val="bg1"/>
                </a:solidFill>
              </a:rPr>
              <a:t>Zápory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51866EC-D96F-BADA-92B6-D8B58D31AE3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Cena (pro legální používání je nutno zakoupit </a:t>
            </a:r>
            <a:r>
              <a:rPr lang="cs-CZ" dirty="0" err="1">
                <a:solidFill>
                  <a:schemeClr val="bg1"/>
                </a:solidFill>
              </a:rPr>
              <a:t>license</a:t>
            </a:r>
            <a:r>
              <a:rPr lang="cs-CZ" dirty="0">
                <a:solidFill>
                  <a:schemeClr val="bg1"/>
                </a:solidFill>
              </a:rPr>
              <a:t>)</a:t>
            </a:r>
          </a:p>
          <a:p>
            <a:r>
              <a:rPr lang="cs-CZ" dirty="0">
                <a:solidFill>
                  <a:schemeClr val="bg1"/>
                </a:solidFill>
              </a:rPr>
              <a:t>Nejčastějším terčem virů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80808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265E9-518F-4CC8-4541-5B5B5A84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Bezpečnost</a:t>
            </a:r>
            <a:endParaRPr lang="en-GB" sz="54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9323D3-544E-578D-8CCB-9B01F7FA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3350"/>
            <a:ext cx="6262396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Windows má celou řadu bezpečnostních systému, mimo jiné má i integrovaný  antivirus (Windows </a:t>
            </a:r>
            <a:r>
              <a:rPr lang="cs-CZ" dirty="0" err="1">
                <a:solidFill>
                  <a:schemeClr val="bg1"/>
                </a:solidFill>
              </a:rPr>
              <a:t>Defender</a:t>
            </a:r>
            <a:r>
              <a:rPr lang="cs-CZ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Vše se dá pak jednoduše ovládat a kontrolovat v už předinstalované aplikaci Windows </a:t>
            </a:r>
            <a:r>
              <a:rPr lang="cs-CZ" dirty="0" err="1">
                <a:solidFill>
                  <a:schemeClr val="bg1"/>
                </a:solidFill>
              </a:rPr>
              <a:t>security</a:t>
            </a:r>
            <a:r>
              <a:rPr lang="cs-CZ" dirty="0">
                <a:solidFill>
                  <a:schemeClr val="bg1"/>
                </a:solidFill>
              </a:rPr>
              <a:t>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124" name="Picture 4" descr="Microsoft Defender – Wikipedie">
            <a:extLst>
              <a:ext uri="{FF2B5EF4-FFF2-40B4-BE49-F238E27FC236}">
                <a16:creationId xmlns:a16="http://schemas.microsoft.com/office/drawing/2014/main" id="{AB2C6050-8EF4-E04D-0804-16154DFCB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78" y="825427"/>
            <a:ext cx="1730521" cy="173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668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2165E6-7E65-B1C3-B08D-366A1BAD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Vizuální stránka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CCB031-5900-A10D-44B8-95C51C25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7921"/>
            <a:ext cx="6669024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solidFill>
                  <a:schemeClr val="bg1"/>
                </a:solidFill>
              </a:rPr>
              <a:t>Windows 11 má velice animací a oproti Windows 10 je vše jemnější a příjemnější na pohled 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Určitě je přehledný a lehký na ovladatelnost, ale zároveň nabídne i spoustu „hlubších“ funkcí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Jako základní kombinace barev je modrá s šedou 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7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2165E6-7E65-B1C3-B08D-366A1BAD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Vizuální stránka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CCB031-5900-A10D-44B8-95C51C25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1825625"/>
            <a:ext cx="6652614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Jeho úplně přepracované ikony aplikací působí něžným a velmi elegantním dojmem 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3383471-8E1F-D1B9-7292-62BC9DF9E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693" y="2944815"/>
            <a:ext cx="6652614" cy="354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2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2165E6-7E65-B1C3-B08D-366A1BAD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Vizuální stránka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CCB031-5900-A10D-44B8-95C51C25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6164" cy="4351338"/>
          </a:xfrm>
        </p:spPr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Jako hlavní obrázek pro Windows 11 byla vybrána jakási vlnovka</a:t>
            </a: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04C45E5-2BEE-7A64-3A36-9A4397991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972" y="2914241"/>
            <a:ext cx="5220355" cy="326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4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38548B-B411-2946-7DA5-45FAB2CD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Popularita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126AED-022D-650A-1767-B31FE41C4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6083808" cy="4759643"/>
          </a:xfrm>
        </p:spPr>
        <p:txBody>
          <a:bodyPr>
            <a:normAutofit lnSpcReduction="10000"/>
          </a:bodyPr>
          <a:lstStyle/>
          <a:p>
            <a:r>
              <a:rPr lang="cs-CZ" b="0" i="0" dirty="0">
                <a:solidFill>
                  <a:schemeClr val="bg1"/>
                </a:solidFill>
                <a:effectLst/>
              </a:rPr>
              <a:t>Microsoft Windows je nejčastěji instalovaným </a:t>
            </a:r>
            <a:r>
              <a:rPr lang="cs-CZ" b="1" i="0" dirty="0">
                <a:solidFill>
                  <a:schemeClr val="bg1"/>
                </a:solidFill>
                <a:effectLst/>
              </a:rPr>
              <a:t>operačním systémem</a:t>
            </a:r>
            <a:r>
              <a:rPr lang="cs-CZ" b="0" i="0" dirty="0">
                <a:solidFill>
                  <a:schemeClr val="bg1"/>
                </a:solidFill>
                <a:effectLst/>
              </a:rPr>
              <a:t>, má celosvětově přibližně 77% až 87,8%.</a:t>
            </a:r>
          </a:p>
          <a:p>
            <a:endParaRPr lang="cs-CZ" b="0" i="0" dirty="0">
              <a:solidFill>
                <a:schemeClr val="bg1"/>
              </a:solidFill>
              <a:effectLst/>
            </a:endParaRPr>
          </a:p>
          <a:p>
            <a:r>
              <a:rPr lang="cs-CZ" b="0" i="0" dirty="0">
                <a:solidFill>
                  <a:schemeClr val="bg1"/>
                </a:solidFill>
                <a:effectLst/>
              </a:rPr>
              <a:t>Však jeho popularita taky klesá oproti nárustům z minula, to je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způspbeno</a:t>
            </a:r>
            <a:r>
              <a:rPr lang="cs-CZ" b="0" i="0" dirty="0">
                <a:solidFill>
                  <a:schemeClr val="bg1"/>
                </a:solidFill>
                <a:effectLst/>
              </a:rPr>
              <a:t> vyvíjením nových OS</a:t>
            </a:r>
          </a:p>
          <a:p>
            <a:endParaRPr lang="cs-CZ" b="0" i="0" dirty="0">
              <a:solidFill>
                <a:schemeClr val="bg1"/>
              </a:solidFill>
              <a:effectLst/>
            </a:endParaRPr>
          </a:p>
          <a:p>
            <a:r>
              <a:rPr lang="cs-CZ" dirty="0">
                <a:solidFill>
                  <a:schemeClr val="bg1"/>
                </a:solidFill>
              </a:rPr>
              <a:t>Hned druhý v pořadí je taky velice známí operační systém MacOS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0DCD9C-3D0E-11B3-C243-F9809759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Výhody oproti jiným OS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FDC4AC-BAD3-49F1-3EF6-0B82A88E1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Windows vs macOS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FA2DC81-B324-773D-BC85-FD8201263B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Otevřenější z hlediska instalace a počtu aplikací </a:t>
            </a:r>
          </a:p>
          <a:p>
            <a:r>
              <a:rPr lang="cs-CZ" dirty="0">
                <a:solidFill>
                  <a:schemeClr val="bg1"/>
                </a:solidFill>
              </a:rPr>
              <a:t>Lepší multitasking oken </a:t>
            </a:r>
          </a:p>
          <a:p>
            <a:r>
              <a:rPr lang="cs-CZ" dirty="0">
                <a:solidFill>
                  <a:schemeClr val="bg1"/>
                </a:solidFill>
              </a:rPr>
              <a:t>Značně lepší pro gaming 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6B41A1D-EEA6-963A-4F93-AE71A950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cs-CZ" sz="3200" dirty="0">
                <a:solidFill>
                  <a:schemeClr val="bg1"/>
                </a:solidFill>
              </a:rPr>
              <a:t>Windows vs Linux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B0E9D5E-5AC2-2F57-FEC8-AD98F6EA7D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Vysoká kompatibilita s aplikacemi </a:t>
            </a:r>
          </a:p>
          <a:p>
            <a:r>
              <a:rPr lang="cs-CZ" dirty="0">
                <a:solidFill>
                  <a:schemeClr val="bg1"/>
                </a:solidFill>
              </a:rPr>
              <a:t>Jednodušší orientování a fungování </a:t>
            </a:r>
          </a:p>
        </p:txBody>
      </p:sp>
    </p:spTree>
    <p:extLst>
      <p:ext uri="{BB962C8B-B14F-4D97-AF65-F5344CB8AC3E}">
        <p14:creationId xmlns:p14="http://schemas.microsoft.com/office/powerpoint/2010/main" val="3185325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Diskuze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2EA5D-D3B6-46CF-722C-720B0D5C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2340864"/>
            <a:ext cx="6986016" cy="2340864"/>
          </a:xfrm>
        </p:spPr>
        <p:txBody>
          <a:bodyPr/>
          <a:lstStyle/>
          <a:p>
            <a:r>
              <a:rPr lang="cs-CZ" sz="3200" b="1" dirty="0">
                <a:solidFill>
                  <a:schemeClr val="bg1"/>
                </a:solidFill>
              </a:rPr>
              <a:t>Kdo již</a:t>
            </a:r>
            <a:r>
              <a:rPr lang="cs-CZ" sz="3200" dirty="0">
                <a:solidFill>
                  <a:schemeClr val="bg1"/>
                </a:solidFill>
              </a:rPr>
              <a:t> </a:t>
            </a:r>
            <a:r>
              <a:rPr lang="cs-CZ" sz="3200" b="1" dirty="0">
                <a:solidFill>
                  <a:schemeClr val="bg1"/>
                </a:solidFill>
              </a:rPr>
              <a:t>má nainstalovaný Windows 11?</a:t>
            </a:r>
          </a:p>
          <a:p>
            <a:endParaRPr lang="cs-CZ" sz="3200" b="1" dirty="0">
              <a:solidFill>
                <a:schemeClr val="bg1"/>
              </a:solidFill>
            </a:endParaRP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Výhody/nevýhody doposud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Proč by si ho jistí uživatelé nestáhli?</a:t>
            </a:r>
          </a:p>
          <a:p>
            <a:pPr lvl="1"/>
            <a:endParaRPr lang="cs-CZ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286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Diskuze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2EA5D-D3B6-46CF-722C-720B0D5C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2409602"/>
            <a:ext cx="5495544" cy="1325563"/>
          </a:xfrm>
        </p:spPr>
        <p:txBody>
          <a:bodyPr>
            <a:normAutofit fontScale="92500" lnSpcReduction="20000"/>
          </a:bodyPr>
          <a:lstStyle/>
          <a:p>
            <a:r>
              <a:rPr lang="cs-CZ" sz="3200" b="1" dirty="0">
                <a:solidFill>
                  <a:schemeClr val="bg1"/>
                </a:solidFill>
              </a:rPr>
              <a:t>Je Windows nejlepším OS?</a:t>
            </a:r>
          </a:p>
          <a:p>
            <a:endParaRPr lang="cs-CZ" sz="3200" b="1" dirty="0">
              <a:solidFill>
                <a:schemeClr val="bg1"/>
              </a:solidFill>
            </a:endParaRP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Ano/Ne -  Proč?</a:t>
            </a:r>
          </a:p>
          <a:p>
            <a:pPr lvl="1"/>
            <a:endParaRPr lang="cs-CZ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372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Diskuze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2EA5D-D3B6-46CF-722C-720B0D5C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2340864"/>
            <a:ext cx="6986016" cy="2340864"/>
          </a:xfrm>
        </p:spPr>
        <p:txBody>
          <a:bodyPr>
            <a:normAutofit/>
          </a:bodyPr>
          <a:lstStyle/>
          <a:p>
            <a:r>
              <a:rPr lang="cs-CZ" sz="3200" b="1" dirty="0">
                <a:solidFill>
                  <a:schemeClr val="bg1"/>
                </a:solidFill>
              </a:rPr>
              <a:t>Co byste na OS Windows změnili a proč?</a:t>
            </a:r>
          </a:p>
          <a:p>
            <a:endParaRPr lang="cs-CZ" sz="3200" b="1" dirty="0">
              <a:solidFill>
                <a:schemeClr val="bg1"/>
              </a:solidFill>
            </a:endParaRPr>
          </a:p>
          <a:p>
            <a:pPr lvl="1"/>
            <a:endParaRPr lang="cs-CZ" dirty="0">
              <a:solidFill>
                <a:schemeClr val="bg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525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Zdroje 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2EA5D-D3B6-46CF-722C-720B0D5C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8239"/>
            <a:ext cx="6473952" cy="1338828"/>
          </a:xfr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cs-CZ" sz="1800" dirty="0">
                <a:solidFill>
                  <a:schemeClr val="bg1"/>
                </a:solidFill>
              </a:rPr>
              <a:t>Windows 11 a zabezpečené spuštění - Podpora Microsoftu. [online]. Dostupné z: </a:t>
            </a:r>
            <a:r>
              <a:rPr lang="cs-CZ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https://support.microsoft.com/cs-cz/windows/windows-11-a-zabezpe%C4%8Den%C3%A9-spu%C5%A1t%C4%9Bn%C3%AD-a8ff1202-c0d9-42f5-940f-843abef64fad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5050628-EFCF-6799-3304-75373CB9379D}"/>
              </a:ext>
            </a:extLst>
          </p:cNvPr>
          <p:cNvSpPr txBox="1"/>
          <p:nvPr/>
        </p:nvSpPr>
        <p:spPr>
          <a:xfrm>
            <a:off x="838200" y="1725588"/>
            <a:ext cx="6986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chemeClr val="bg1"/>
                </a:solidFill>
                <a:effectLst/>
              </a:rPr>
              <a:t>Windows 11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Specs</a:t>
            </a:r>
            <a:r>
              <a:rPr lang="cs-CZ" b="0" i="0" dirty="0">
                <a:solidFill>
                  <a:schemeClr val="bg1"/>
                </a:solidFill>
                <a:effectLst/>
              </a:rPr>
              <a:t> and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System</a:t>
            </a:r>
            <a:r>
              <a:rPr lang="cs-CZ" b="0" i="0" dirty="0">
                <a:solidFill>
                  <a:schemeClr val="bg1"/>
                </a:solidFill>
                <a:effectLst/>
              </a:rPr>
              <a:t>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Requirements</a:t>
            </a:r>
            <a:r>
              <a:rPr lang="cs-CZ" b="0" i="0" dirty="0">
                <a:solidFill>
                  <a:schemeClr val="bg1"/>
                </a:solidFill>
                <a:effectLst/>
              </a:rPr>
              <a:t> | Microsoft. </a:t>
            </a:r>
            <a:r>
              <a:rPr lang="cs-CZ" b="0" i="1" dirty="0">
                <a:solidFill>
                  <a:schemeClr val="bg1"/>
                </a:solidFill>
                <a:effectLst/>
              </a:rPr>
              <a:t>Microsoft </a:t>
            </a:r>
            <a:r>
              <a:rPr lang="cs-CZ" b="0" i="1" dirty="0" err="1">
                <a:solidFill>
                  <a:schemeClr val="bg1"/>
                </a:solidFill>
                <a:effectLst/>
              </a:rPr>
              <a:t>Corporation</a:t>
            </a:r>
            <a:r>
              <a:rPr lang="cs-CZ" b="0" i="0" dirty="0">
                <a:solidFill>
                  <a:schemeClr val="bg1"/>
                </a:solidFill>
                <a:effectLst/>
              </a:rPr>
              <a:t> [online]. Dostupné z: </a:t>
            </a:r>
            <a:r>
              <a:rPr lang="cs-CZ" b="0" i="0" u="none" strike="noStrike" dirty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https://www.microsoft.com/en-us/windows/windows-11-specifications?r=1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36F773B-CEFF-454C-0DA8-3C9178C90C22}"/>
              </a:ext>
            </a:extLst>
          </p:cNvPr>
          <p:cNvSpPr txBox="1"/>
          <p:nvPr/>
        </p:nvSpPr>
        <p:spPr>
          <a:xfrm>
            <a:off x="838200" y="4576586"/>
            <a:ext cx="58283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chemeClr val="bg1"/>
                </a:solidFill>
                <a:effectLst/>
              </a:rPr>
              <a:t>Objevení chyb v RAM: zátěžový test prověří operační paměť vašeho systému | Chip.cz - recenze a testy. </a:t>
            </a:r>
            <a:r>
              <a:rPr lang="cs-CZ" b="0" i="1" dirty="0">
                <a:solidFill>
                  <a:schemeClr val="bg1"/>
                </a:solidFill>
                <a:effectLst/>
              </a:rPr>
              <a:t>Informace, testy a novinky o hardware, software a internetu – CHIP.cz</a:t>
            </a:r>
            <a:r>
              <a:rPr lang="cs-CZ" b="0" i="0" dirty="0">
                <a:solidFill>
                  <a:schemeClr val="bg1"/>
                </a:solidFill>
                <a:effectLst/>
              </a:rPr>
              <a:t> [online]. Copyright © 2003 [cit. 20.11.2022]. Dostupné z: </a:t>
            </a:r>
            <a:r>
              <a:rPr lang="cs-CZ" b="0" i="0" u="none" strike="noStrike" dirty="0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https://www.chip.cz/novinky/objeveni-chyb-v-ram-zatezovy-test-proveri-operacni-pamet-vaseho-systemu/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048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Zdroje 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F2EA5D-D3B6-46CF-722C-720B0D5C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9378"/>
            <a:ext cx="6473952" cy="1588127"/>
          </a:xfr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cs-CZ" sz="1800" b="0" i="0" dirty="0">
                <a:solidFill>
                  <a:schemeClr val="bg1"/>
                </a:solidFill>
                <a:effectLst/>
              </a:rPr>
              <a:t>Windows přístup k systému souborů a ochrana osobních údajů - Podpora Microsoftu. [online]. Dostupné z: </a:t>
            </a:r>
            <a:r>
              <a:rPr lang="cs-CZ" sz="1800" b="0" i="0" u="none" strike="noStrike" dirty="0">
                <a:solidFill>
                  <a:schemeClr val="bg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https://support.microsoft.com/cs-cz/windows/-windows-p%C5%99%C3%ADstup-k-syst%C3%A9mu-soubor%C5%AF-a-ochrana-osobn%C3%ADch-%C3%BAdaj%C5%AF-a7d90b20-b252-0e7b-6a29-a3a688e5c7be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5050628-EFCF-6799-3304-75373CB9379D}"/>
              </a:ext>
            </a:extLst>
          </p:cNvPr>
          <p:cNvSpPr txBox="1"/>
          <p:nvPr/>
        </p:nvSpPr>
        <p:spPr>
          <a:xfrm>
            <a:off x="838200" y="1725588"/>
            <a:ext cx="6986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chemeClr val="bg1"/>
                </a:solidFill>
                <a:effectLst/>
              </a:rPr>
              <a:t>Technologie DirectX 12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Ultimate</a:t>
            </a:r>
            <a:r>
              <a:rPr lang="cs-CZ" b="0" i="0" dirty="0">
                <a:solidFill>
                  <a:schemeClr val="bg1"/>
                </a:solidFill>
                <a:effectLst/>
              </a:rPr>
              <a:t> | NVIDIA . [online]. Copyright © 2022 NVIDIA </a:t>
            </a:r>
            <a:r>
              <a:rPr lang="cs-CZ" b="0" i="0" dirty="0" err="1">
                <a:solidFill>
                  <a:schemeClr val="bg1"/>
                </a:solidFill>
                <a:effectLst/>
              </a:rPr>
              <a:t>Corporation</a:t>
            </a:r>
            <a:r>
              <a:rPr lang="cs-CZ" b="0" i="0" dirty="0">
                <a:solidFill>
                  <a:schemeClr val="bg1"/>
                </a:solidFill>
                <a:effectLst/>
              </a:rPr>
              <a:t> [cit. 20.11.2022]. Dostupné z: </a:t>
            </a:r>
            <a:r>
              <a:rPr lang="cs-CZ" b="0" i="0" u="none" strike="noStrike" dirty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https://www.nvidia.com/cs-cz/geforce/technologies/dx12/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36F773B-CEFF-454C-0DA8-3C9178C90C22}"/>
              </a:ext>
            </a:extLst>
          </p:cNvPr>
          <p:cNvSpPr txBox="1"/>
          <p:nvPr/>
        </p:nvSpPr>
        <p:spPr>
          <a:xfrm>
            <a:off x="838200" y="4576586"/>
            <a:ext cx="5828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chemeClr val="bg1"/>
                </a:solidFill>
                <a:effectLst/>
                <a:latin typeface="Calibri "/>
              </a:rPr>
              <a:t>Zabezpečení Windows: </a:t>
            </a:r>
            <a:r>
              <a:rPr lang="cs-CZ" b="0" i="0" dirty="0" err="1">
                <a:solidFill>
                  <a:schemeClr val="bg1"/>
                </a:solidFill>
                <a:effectLst/>
                <a:latin typeface="Calibri "/>
              </a:rPr>
              <a:t>Defender</a:t>
            </a:r>
            <a:r>
              <a:rPr lang="cs-CZ" b="0" i="0" dirty="0">
                <a:solidFill>
                  <a:schemeClr val="bg1"/>
                </a:solidFill>
                <a:effectLst/>
                <a:latin typeface="Calibri "/>
              </a:rPr>
              <a:t>, Antivirus a další položky pro Windows 11 | Microsoft. </a:t>
            </a:r>
            <a:r>
              <a:rPr lang="cs-CZ" b="0" i="1" dirty="0">
                <a:solidFill>
                  <a:schemeClr val="bg1"/>
                </a:solidFill>
                <a:effectLst/>
                <a:latin typeface="Calibri "/>
              </a:rPr>
              <a:t>Microsoft </a:t>
            </a:r>
            <a:r>
              <a:rPr lang="cs-CZ" b="0" i="1" dirty="0" err="1">
                <a:solidFill>
                  <a:schemeClr val="bg1"/>
                </a:solidFill>
                <a:effectLst/>
                <a:latin typeface="Calibri "/>
              </a:rPr>
              <a:t>Corporation</a:t>
            </a:r>
            <a:r>
              <a:rPr lang="cs-CZ" b="0" i="0" dirty="0">
                <a:solidFill>
                  <a:schemeClr val="bg1"/>
                </a:solidFill>
                <a:effectLst/>
                <a:latin typeface="Calibri "/>
              </a:rPr>
              <a:t> [online]. Copyright © Microsoft 2022 [cit. 20.11.2022]. Dostupné z: </a:t>
            </a:r>
            <a:r>
              <a:rPr lang="cs-CZ" b="0" i="0" u="none" strike="noStrike" dirty="0">
                <a:solidFill>
                  <a:schemeClr val="bg1"/>
                </a:solidFill>
                <a:effectLst/>
                <a:latin typeface="Calibri 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https://www.microsoft.com/cs-cz/windows/comprehensive-security</a:t>
            </a:r>
            <a:endParaRPr lang="en-GB" dirty="0">
              <a:solidFill>
                <a:schemeClr val="bg1"/>
              </a:solidFill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3858877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51B9BA-8EF8-9226-3F8C-199C3B97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6000" b="1" dirty="0">
                <a:solidFill>
                  <a:schemeClr val="bg1"/>
                </a:solidFill>
              </a:rPr>
              <a:t>Zdroje  </a:t>
            </a:r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B5050628-EFCF-6799-3304-75373CB9379D}"/>
              </a:ext>
            </a:extLst>
          </p:cNvPr>
          <p:cNvSpPr txBox="1"/>
          <p:nvPr/>
        </p:nvSpPr>
        <p:spPr>
          <a:xfrm>
            <a:off x="838200" y="1725588"/>
            <a:ext cx="698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 err="1">
                <a:solidFill>
                  <a:schemeClr val="bg1"/>
                </a:solidFill>
                <a:effectLst/>
              </a:rPr>
              <a:t>Usage_share_of_operating_systems</a:t>
            </a:r>
            <a:r>
              <a:rPr lang="cs-CZ" b="0" i="0" dirty="0">
                <a:solidFill>
                  <a:schemeClr val="bg1"/>
                </a:solidFill>
                <a:effectLst/>
              </a:rPr>
              <a:t>[online]. Dostupné z: </a:t>
            </a:r>
            <a:r>
              <a:rPr lang="cs-CZ" b="0" i="0" u="none" strike="noStrike" dirty="0">
                <a:solidFill>
                  <a:schemeClr val="bg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https://wikijii.com/wiki/Usage_share_of_operating_systems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99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870</Words>
  <Application>Microsoft Office PowerPoint</Application>
  <PresentationFormat>Širokoúhlá obrazovka</PresentationFormat>
  <Paragraphs>119</Paragraphs>
  <Slides>25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</vt:lpstr>
      <vt:lpstr>Calibri Light</vt:lpstr>
      <vt:lpstr>Motiv Office</vt:lpstr>
      <vt:lpstr>Windows </vt:lpstr>
      <vt:lpstr>Minimální HW požadavky</vt:lpstr>
      <vt:lpstr>Minimální HW požadavky</vt:lpstr>
      <vt:lpstr>Minimální HW požadavky</vt:lpstr>
      <vt:lpstr>Minimální HW požadavky</vt:lpstr>
      <vt:lpstr>Drivery (ovladače)</vt:lpstr>
      <vt:lpstr>Souborové systémy</vt:lpstr>
      <vt:lpstr>FAT</vt:lpstr>
      <vt:lpstr>exFAT</vt:lpstr>
      <vt:lpstr>NFTS</vt:lpstr>
      <vt:lpstr>ReFS</vt:lpstr>
      <vt:lpstr>Aktualizace </vt:lpstr>
      <vt:lpstr>Klady a zápory</vt:lpstr>
      <vt:lpstr>Bezpečnost</vt:lpstr>
      <vt:lpstr>Vizuální stránka </vt:lpstr>
      <vt:lpstr>Vizuální stránka </vt:lpstr>
      <vt:lpstr>Vizuální stránka </vt:lpstr>
      <vt:lpstr>Popularita</vt:lpstr>
      <vt:lpstr>Výhody oproti jiným OS</vt:lpstr>
      <vt:lpstr>Diskuze </vt:lpstr>
      <vt:lpstr>Diskuze </vt:lpstr>
      <vt:lpstr>Diskuze </vt:lpstr>
      <vt:lpstr>Zdroje  </vt:lpstr>
      <vt:lpstr>Zdroje  </vt:lpstr>
      <vt:lpstr>Zdroje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</dc:title>
  <dc:creator>Marek HLAVA</dc:creator>
  <cp:lastModifiedBy>Marek HLAVA</cp:lastModifiedBy>
  <cp:revision>2</cp:revision>
  <dcterms:created xsi:type="dcterms:W3CDTF">2022-11-20T09:24:48Z</dcterms:created>
  <dcterms:modified xsi:type="dcterms:W3CDTF">2022-11-20T21:45:45Z</dcterms:modified>
</cp:coreProperties>
</file>