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4"/>
  </p:sldMasterIdLst>
  <p:notesMasterIdLst>
    <p:notesMasterId r:id="rId14"/>
  </p:notesMasterIdLst>
  <p:sldIdLst>
    <p:sldId id="256" r:id="rId5"/>
    <p:sldId id="266" r:id="rId6"/>
    <p:sldId id="257" r:id="rId7"/>
    <p:sldId id="264" r:id="rId8"/>
    <p:sldId id="261" r:id="rId9"/>
    <p:sldId id="260" r:id="rId10"/>
    <p:sldId id="263" r:id="rId11"/>
    <p:sldId id="262" r:id="rId12"/>
    <p:sldId id="265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A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9" y="6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D8B56-62E7-45A0-B0F3-A2237B28A1DC}" type="datetimeFigureOut">
              <a:rPr lang="cs-CZ" smtClean="0"/>
              <a:t>27.11.2022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4D0DD-C76D-46F3-B5CB-C441E0CA725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086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4D0DD-C76D-46F3-B5CB-C441E0CA725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64297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/>
              <a:t>Point </a:t>
            </a:r>
            <a:r>
              <a:rPr lang="cs-CZ" dirty="0" err="1"/>
              <a:t>release</a:t>
            </a:r>
            <a:r>
              <a:rPr lang="cs-CZ" dirty="0"/>
              <a:t>-verze musí být úplně přeinstalované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4D0DD-C76D-46F3-B5CB-C441E0CA725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3923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/bin-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Obsahuje spustitelné programy, které jsou součástí operačního systému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Manjaro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. Veškeré příkazy, jako je například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cat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cp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,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ls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, more, tar, jsou k nalezení v tomto adresáři.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Boot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 – Obsahuje linuxové jádro ( kernel ) a další soubory potřebné pro správu zavaděčů LILO či GRUB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Dev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– Obsahuje všechny soubory jednotlivých zařízení jako jsou například DVD mechanika/USB apod. Linux považuje každé zařízení za zvláštní soubor. Všechny tyto soubory jsou umístěny v adresáři 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dev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etc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– ten obsahuje většinu systémových konfiguračních souborů a inicializačních skriptů v 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etc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rc.d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 podadresáři.</a:t>
            </a:r>
          </a:p>
          <a:p>
            <a:pPr marL="742950" lvl="1" indent="-285750"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Dev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null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– je speciální adresář, který zlikviduje všechna data do něj zapsaná a neposkytuje žádné údaje pro čtení.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Home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 –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Home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adresář, ve kterém jsou domovské adresáře jednotlivých uživatelů, zde se nachází veškeré vaše nastavení a uživatelská data.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Lib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 – Obsahuje soubory knihoven, včetně modulů potřebných k zavedení systému.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Lost</a:t>
            </a: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+ </a:t>
            </a:r>
            <a:r>
              <a:rPr lang="cs-CZ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found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 – adresář pro ztracené soubory. Každý diskový oddíl má jeden takový adresář.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cs-CZ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/ Media </a:t>
            </a:r>
            <a:r>
              <a:rPr lang="cs-CZ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 – adresář pro vyměnitelná média, jako jsou CD/DVD-ROM, diskety …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4D0DD-C76D-46F3-B5CB-C441E0CA725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91544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Prohlíží weby  a maily pro škodlivý obsah</a:t>
            </a:r>
          </a:p>
          <a:p>
            <a:r>
              <a:rPr lang="cs-CZ" dirty="0"/>
              <a:t>Kontroluje bezpečnost souborů </a:t>
            </a:r>
            <a:r>
              <a:rPr lang="cs-CZ" dirty="0" err="1"/>
              <a:t>piložených</a:t>
            </a:r>
            <a:r>
              <a:rPr lang="cs-CZ" dirty="0"/>
              <a:t> v emailech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4D0DD-C76D-46F3-B5CB-C441E0CA725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88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18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81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2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21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4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1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4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5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865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0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783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njaro.org/" TargetMode="External"/><Relationship Id="rId2" Type="http://schemas.openxmlformats.org/officeDocument/2006/relationships/hyperlink" Target="https://manjaro.cz/struktura-souboroveho-systemu-v-manjaro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zhuanlan.zhihu.com/p/351601549" TargetMode="External"/><Relationship Id="rId4" Type="http://schemas.openxmlformats.org/officeDocument/2006/relationships/hyperlink" Target="https://wiki.manjaro.org/index.php/Download_Manjaro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7D522F64-6B4B-409B-B1CF-F152D3BE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6680303-3A8D-0435-967E-8E7F5630DC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5" y="581337"/>
            <a:ext cx="5248275" cy="2928626"/>
          </a:xfrm>
        </p:spPr>
        <p:txBody>
          <a:bodyPr>
            <a:normAutofit/>
          </a:bodyPr>
          <a:lstStyle/>
          <a:p>
            <a:r>
              <a:rPr lang="cs-CZ"/>
              <a:t>Manjaro Linux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2981006-1E74-AEAD-41B7-BACFD82881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725" y="3602038"/>
            <a:ext cx="5248275" cy="1655762"/>
          </a:xfrm>
        </p:spPr>
        <p:txBody>
          <a:bodyPr>
            <a:normAutofit/>
          </a:bodyPr>
          <a:lstStyle/>
          <a:p>
            <a:r>
              <a:rPr lang="cs-CZ"/>
              <a:t>Faltejsková Natálie, Jakubčo Tomáš, Veselý Lukáš, Žáček Jan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6A62EAB3-AC9F-4EF0-B30A-075BFCA0C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599" y="584439"/>
            <a:ext cx="4119488" cy="5685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A1B71865-609C-4668-A1FC-1244205367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999" y="-6437"/>
            <a:ext cx="4141317" cy="6864437"/>
            <a:chOff x="7425999" y="-6437"/>
            <a:chExt cx="4141317" cy="6864437"/>
          </a:xfrm>
        </p:grpSpPr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940F10A6-9982-431C-AFE2-C8B02A782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663B161F-B113-45E7-A15E-75219A934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71204C2C-DB1B-4391-92E9-5F6AE97E3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E64D1424-7E38-4B8A-A277-F9A0DA9B9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8536F218-1C91-405B-9157-B835AA34D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25999" y="3429000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49F572A2-C89F-4348-8012-8CB7FE401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  <a:endCxn id="5" idx="2"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499343" y="584439"/>
              <a:ext cx="16306" cy="5685856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4" name="Picture 10" descr="Manjaro Linux Logo Png, Transparent Png - kindpng">
            <a:extLst>
              <a:ext uri="{FF2B5EF4-FFF2-40B4-BE49-F238E27FC236}">
                <a16:creationId xmlns:a16="http://schemas.microsoft.com/office/drawing/2014/main" id="{033D80E2-45E5-E7C3-ED09-262927C9B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99088" y="1105563"/>
            <a:ext cx="1756408" cy="1839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33845504-F954-F401-265B-193CDC24C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38646" y="1136517"/>
            <a:ext cx="1777258" cy="177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A6384EA-4E65-669A-2C5D-0DFC8C4D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06469" y="3933235"/>
            <a:ext cx="1764094" cy="183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ade a cool Manjaro logo with rounded corners. : r/ManjaroLinux">
            <a:extLst>
              <a:ext uri="{FF2B5EF4-FFF2-40B4-BE49-F238E27FC236}">
                <a16:creationId xmlns:a16="http://schemas.microsoft.com/office/drawing/2014/main" id="{5D9EB8AF-24CF-B01D-E777-694EA6358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9496" y="3935779"/>
            <a:ext cx="1756408" cy="182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056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DBC9C2-2A39-44A2-9D95-D1DE9E2B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3379BC-3088-4AE8-8EF7-59370D7EB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1DE74C-25AE-4959-99D5-0A77F1DFC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D9235EF-4E81-496D-ADA8-13EED901E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7241A77-6415-454C-B86E-F42A280267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F9F464D6-F6BE-7523-DF05-A3498B343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4933950" cy="1596291"/>
          </a:xfrm>
        </p:spPr>
        <p:txBody>
          <a:bodyPr>
            <a:normAutofit/>
          </a:bodyPr>
          <a:lstStyle/>
          <a:p>
            <a:r>
              <a:rPr lang="cs-CZ" dirty="0"/>
              <a:t>Co to je?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AF0A77-D6F9-9C26-9627-E4D2DFA40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cs-CZ" sz="2400" dirty="0"/>
              <a:t>10.7.2011</a:t>
            </a:r>
          </a:p>
          <a:p>
            <a:r>
              <a:rPr lang="cs-CZ" sz="2400" dirty="0"/>
              <a:t>Variace Linux</a:t>
            </a:r>
          </a:p>
          <a:p>
            <a:endParaRPr lang="cs-CZ" sz="2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2B0B7D-C67A-4103-B2F0-ACE40BD56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091410" y="574154"/>
            <a:ext cx="4590" cy="5693884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ázek 3">
            <a:extLst>
              <a:ext uri="{FF2B5EF4-FFF2-40B4-BE49-F238E27FC236}">
                <a16:creationId xmlns:a16="http://schemas.microsoft.com/office/drawing/2014/main" id="{BC9E3B6E-FFA2-7D55-6F9E-6574791B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260" y="2137936"/>
            <a:ext cx="4824168" cy="258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3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90864D9E-0A0C-482E-86DE-9C4E729C3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2D7BDD-1884-2137-334D-A2483179D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726" y="579694"/>
            <a:ext cx="3910046" cy="2930269"/>
          </a:xfrm>
        </p:spPr>
        <p:txBody>
          <a:bodyPr>
            <a:normAutofit/>
          </a:bodyPr>
          <a:lstStyle/>
          <a:p>
            <a:r>
              <a:rPr lang="cs-CZ" dirty="0"/>
              <a:t>Aktualizace – </a:t>
            </a:r>
            <a:r>
              <a:rPr lang="cs-CZ" dirty="0" err="1"/>
              <a:t>Rolling</a:t>
            </a:r>
            <a:r>
              <a:rPr lang="cs-CZ" dirty="0"/>
              <a:t> </a:t>
            </a:r>
            <a:r>
              <a:rPr lang="cs-CZ" dirty="0" err="1"/>
              <a:t>release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3339FF8-3483-262D-EBFF-CA4962D82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726" y="3602038"/>
            <a:ext cx="3910046" cy="266680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Časté menší updaty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400" dirty="0"/>
              <a:t>Mohou být vypuštěny kdykoli</a:t>
            </a:r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859EF20D-5821-4F54-BD14-AB7D16330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71535" y="-6437"/>
            <a:ext cx="6400800" cy="6864437"/>
            <a:chOff x="5171535" y="-6437"/>
            <a:chExt cx="6400800" cy="6864437"/>
          </a:xfrm>
        </p:grpSpPr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658C3964-BF34-4211-835A-24B827B779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581337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4C498194-83A5-4CCE-AA0B-12C3FE68E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71535" y="6276734"/>
              <a:ext cx="64008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6B125AC6-B711-4F7C-B0D2-8369A8D67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V="1">
              <a:off x="5171535" y="0"/>
              <a:ext cx="0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7543B8FC-DC9A-4AC0-BF25-85AF5B49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What is a Rolling Release Linux Distribution?">
            <a:extLst>
              <a:ext uri="{FF2B5EF4-FFF2-40B4-BE49-F238E27FC236}">
                <a16:creationId xmlns:a16="http://schemas.microsoft.com/office/drawing/2014/main" id="{8AD8E19A-2A90-1D48-6FAA-70FE7343E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7075" y="2000350"/>
            <a:ext cx="5714598" cy="285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27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F6E885-A1E9-E3EE-612E-E29535DE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je to vlastně s adresářem?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5087AD2-4FAA-CE25-92CD-82965215136E}"/>
              </a:ext>
            </a:extLst>
          </p:cNvPr>
          <p:cNvSpPr txBox="1"/>
          <p:nvPr/>
        </p:nvSpPr>
        <p:spPr>
          <a:xfrm>
            <a:off x="990600" y="2407920"/>
            <a:ext cx="7940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76AF83"/>
                </a:solidFill>
              </a:rPr>
              <a:t>/bin – jádro a potřebné soubory pro správu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76AF83"/>
                </a:solidFill>
              </a:rPr>
              <a:t>/</a:t>
            </a:r>
            <a:r>
              <a:rPr lang="cs-CZ" sz="2400" dirty="0" err="1">
                <a:solidFill>
                  <a:srgbClr val="76AF83"/>
                </a:solidFill>
              </a:rPr>
              <a:t>dev</a:t>
            </a:r>
            <a:r>
              <a:rPr lang="cs-CZ" sz="2400" dirty="0">
                <a:solidFill>
                  <a:srgbClr val="76AF83"/>
                </a:solidFill>
              </a:rPr>
              <a:t> – soubory jednotlivých zařízení (DVD, USB…)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76AF83"/>
                </a:solidFill>
              </a:rPr>
              <a:t>/</a:t>
            </a:r>
            <a:r>
              <a:rPr lang="cs-CZ" sz="2400" dirty="0" err="1">
                <a:solidFill>
                  <a:srgbClr val="76AF83"/>
                </a:solidFill>
              </a:rPr>
              <a:t>Home</a:t>
            </a:r>
            <a:r>
              <a:rPr lang="cs-CZ" sz="2400" dirty="0">
                <a:solidFill>
                  <a:srgbClr val="76AF83"/>
                </a:solidFill>
              </a:rPr>
              <a:t> – veškerá uživatelská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76AF83"/>
                </a:solidFill>
              </a:rPr>
              <a:t>/Media – adresář pro vyměnitelná média (CD, DVD-ROM, diskety…)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>
                <a:solidFill>
                  <a:srgbClr val="76AF83"/>
                </a:solidFill>
              </a:rPr>
              <a:t>/</a:t>
            </a:r>
            <a:r>
              <a:rPr lang="cs-CZ" sz="2400" dirty="0" err="1">
                <a:solidFill>
                  <a:srgbClr val="76AF83"/>
                </a:solidFill>
              </a:rPr>
              <a:t>Mnt</a:t>
            </a:r>
            <a:r>
              <a:rPr lang="cs-CZ" sz="2400" dirty="0">
                <a:solidFill>
                  <a:srgbClr val="76AF83"/>
                </a:solidFill>
              </a:rPr>
              <a:t> – pro dočasně připojené jednotky (USB)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2400" dirty="0">
              <a:solidFill>
                <a:srgbClr val="76AF83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5C5BEE8-F664-C51D-50E6-B1A26D5E4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028255" y="-4611415"/>
            <a:ext cx="9138704" cy="420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99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7" name="Rectangle 4106">
            <a:extLst>
              <a:ext uri="{FF2B5EF4-FFF2-40B4-BE49-F238E27FC236}">
                <a16:creationId xmlns:a16="http://schemas.microsoft.com/office/drawing/2014/main" id="{CF10C978-51B5-420C-9A05-C8F194EAC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-597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28D34D1C-4E49-4D32-96F1-E49CEBBF8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111" name="Group 4110">
            <a:extLst>
              <a:ext uri="{FF2B5EF4-FFF2-40B4-BE49-F238E27FC236}">
                <a16:creationId xmlns:a16="http://schemas.microsoft.com/office/drawing/2014/main" id="{8DE1C2A4-07AC-4931-BB55-109C585A5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0"/>
            <a:ext cx="12192000" cy="6857912"/>
            <a:chOff x="572" y="0"/>
            <a:chExt cx="12192000" cy="6857912"/>
          </a:xfrm>
        </p:grpSpPr>
        <p:cxnSp>
          <p:nvCxnSpPr>
            <p:cNvPr id="4112" name="Straight Connector 4111">
              <a:extLst>
                <a:ext uri="{FF2B5EF4-FFF2-40B4-BE49-F238E27FC236}">
                  <a16:creationId xmlns:a16="http://schemas.microsoft.com/office/drawing/2014/main" id="{62F4E679-EE44-4368-A9DB-0885B3833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 flipV="1">
              <a:off x="6096000" y="581055"/>
              <a:ext cx="4520" cy="569565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13" name="Group 4112">
              <a:extLst>
                <a:ext uri="{FF2B5EF4-FFF2-40B4-BE49-F238E27FC236}">
                  <a16:creationId xmlns:a16="http://schemas.microsoft.com/office/drawing/2014/main" id="{44936CF5-3DDC-44F6-9C3D-659B31F82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" y="0"/>
              <a:ext cx="12192000" cy="6857912"/>
              <a:chOff x="572" y="0"/>
              <a:chExt cx="12192000" cy="6857912"/>
            </a:xfrm>
          </p:grpSpPr>
          <p:cxnSp>
            <p:nvCxnSpPr>
              <p:cNvPr id="4114" name="Straight Connector 4113">
                <a:extLst>
                  <a:ext uri="{FF2B5EF4-FFF2-40B4-BE49-F238E27FC236}">
                    <a16:creationId xmlns:a16="http://schemas.microsoft.com/office/drawing/2014/main" id="{8EA52A28-303F-4B8C-A110-BF8EDC1398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667" y="6276706"/>
                <a:ext cx="12189811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5" name="Straight Connector 4114">
                <a:extLst>
                  <a:ext uri="{FF2B5EF4-FFF2-40B4-BE49-F238E27FC236}">
                    <a16:creationId xmlns:a16="http://schemas.microsoft.com/office/drawing/2014/main" id="{0C593429-1971-4E78-AAC7-4D8EE5BEC3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72" y="580876"/>
                <a:ext cx="12192000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6" name="Straight Connector 4115">
                <a:extLst>
                  <a:ext uri="{FF2B5EF4-FFF2-40B4-BE49-F238E27FC236}">
                    <a16:creationId xmlns:a16="http://schemas.microsoft.com/office/drawing/2014/main" id="{AFF7FC5C-1A57-437E-9E66-1F97558177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8134324" y="3428956"/>
                <a:ext cx="6857912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7" name="Straight Connector 4116">
                <a:extLst>
                  <a:ext uri="{FF2B5EF4-FFF2-40B4-BE49-F238E27FC236}">
                    <a16:creationId xmlns:a16="http://schemas.microsoft.com/office/drawing/2014/main" id="{3E2A2E1E-5A55-4724-9E05-1EB4F20D29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-2794261" y="3428956"/>
                <a:ext cx="6857912" cy="0"/>
              </a:xfrm>
              <a:prstGeom prst="line">
                <a:avLst/>
              </a:prstGeom>
              <a:ln w="1270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Nadpis 1">
            <a:extLst>
              <a:ext uri="{FF2B5EF4-FFF2-40B4-BE49-F238E27FC236}">
                <a16:creationId xmlns:a16="http://schemas.microsoft.com/office/drawing/2014/main" id="{41A9D61B-5A87-7A02-7021-BB889A516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429"/>
            <a:ext cx="4933950" cy="1543185"/>
          </a:xfrm>
        </p:spPr>
        <p:txBody>
          <a:bodyPr>
            <a:normAutofit/>
          </a:bodyPr>
          <a:lstStyle/>
          <a:p>
            <a:r>
              <a:rPr lang="cs-CZ" dirty="0"/>
              <a:t>Antivirus?</a:t>
            </a:r>
          </a:p>
        </p:txBody>
      </p:sp>
      <p:sp>
        <p:nvSpPr>
          <p:cNvPr id="4104" name="Content Placeholder 4103">
            <a:extLst>
              <a:ext uri="{FF2B5EF4-FFF2-40B4-BE49-F238E27FC236}">
                <a16:creationId xmlns:a16="http://schemas.microsoft.com/office/drawing/2014/main" id="{C0AC44F2-5195-4101-3AE5-745BE598D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196"/>
            <a:ext cx="4933950" cy="3430575"/>
          </a:xfrm>
        </p:spPr>
        <p:txBody>
          <a:bodyPr>
            <a:normAutofit/>
          </a:bodyPr>
          <a:lstStyle/>
          <a:p>
            <a:r>
              <a:rPr lang="cs-CZ" sz="2400" dirty="0"/>
              <a:t>Téměř žádné viry na Linux</a:t>
            </a:r>
          </a:p>
          <a:p>
            <a:r>
              <a:rPr lang="cs-CZ" sz="2400" dirty="0" err="1"/>
              <a:t>ClamAV</a:t>
            </a:r>
            <a:endParaRPr lang="cs-CZ" sz="2400" dirty="0"/>
          </a:p>
          <a:p>
            <a:pPr lvl="1"/>
            <a:r>
              <a:rPr lang="cs-CZ" sz="2400" dirty="0"/>
              <a:t>Zdarma</a:t>
            </a:r>
          </a:p>
          <a:p>
            <a:pPr lvl="1"/>
            <a:r>
              <a:rPr lang="cs-CZ" sz="2400" dirty="0"/>
              <a:t>Skenování emailů</a:t>
            </a:r>
          </a:p>
          <a:p>
            <a:pPr lvl="1"/>
            <a:r>
              <a:rPr lang="cs-CZ" sz="2400" dirty="0"/>
              <a:t>Detekování vniknutí</a:t>
            </a:r>
          </a:p>
          <a:p>
            <a:endParaRPr lang="cs-CZ" sz="24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499025E-F3E7-7796-79E9-C9E8DC9BB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37232" y="780429"/>
            <a:ext cx="2586198" cy="258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ow to install and use ClamAV on Manjaro Linux">
            <a:extLst>
              <a:ext uri="{FF2B5EF4-FFF2-40B4-BE49-F238E27FC236}">
                <a16:creationId xmlns:a16="http://schemas.microsoft.com/office/drawing/2014/main" id="{B15FAC18-54FF-9641-DE09-BEC66FBF6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71469" y="3528568"/>
            <a:ext cx="4902744" cy="2586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1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6FC630-64D7-BB0C-7555-2A85F3B26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-995686"/>
            <a:ext cx="9829800" cy="2387600"/>
          </a:xfrm>
        </p:spPr>
        <p:txBody>
          <a:bodyPr/>
          <a:lstStyle/>
          <a:p>
            <a:r>
              <a:rPr lang="cs-CZ" dirty="0" err="1"/>
              <a:t>Minimalní</a:t>
            </a:r>
            <a:r>
              <a:rPr lang="cs-CZ" dirty="0"/>
              <a:t> hardware </a:t>
            </a:r>
            <a:r>
              <a:rPr lang="cs-CZ" dirty="0" err="1"/>
              <a:t>pozadavky</a:t>
            </a:r>
            <a:r>
              <a:rPr lang="cs-CZ" dirty="0"/>
              <a:t>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07D10B3-86D1-2C31-AD4E-6DB171B56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839739"/>
            <a:ext cx="9829800" cy="3777289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cs-CZ" sz="2400" b="0" i="0" dirty="0">
                <a:solidFill>
                  <a:srgbClr val="76AF83"/>
                </a:solidFill>
                <a:effectLst/>
                <a:latin typeface="Avenir Next LT Pro (Základní text)"/>
              </a:rPr>
              <a:t>1 GB paměti RAM;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b="0" i="0" dirty="0">
                <a:solidFill>
                  <a:srgbClr val="76AF83"/>
                </a:solidFill>
                <a:effectLst/>
                <a:latin typeface="Avenir Next LT Pro (Základní text)"/>
              </a:rPr>
              <a:t>Minimálně 3 GB místa na instalovaném médiu;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b="0" i="0" dirty="0">
                <a:solidFill>
                  <a:srgbClr val="76AF83"/>
                </a:solidFill>
                <a:effectLst/>
                <a:latin typeface="Avenir Next LT Pro (Základní text)"/>
              </a:rPr>
              <a:t>Dvoujádrový procesor s 1 GHz nebo vyšším;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b="0" i="0" dirty="0">
                <a:solidFill>
                  <a:srgbClr val="76AF83"/>
                </a:solidFill>
                <a:effectLst/>
                <a:latin typeface="Avenir Next LT Pro (Základní text)"/>
              </a:rPr>
              <a:t>Aktivní připojení k internetu;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sz="2400" b="0" i="0" dirty="0">
                <a:solidFill>
                  <a:srgbClr val="76AF83"/>
                </a:solidFill>
                <a:effectLst/>
                <a:latin typeface="Avenir Next LT Pro (Základní text)"/>
              </a:rPr>
              <a:t>Grafická karta s podporou HD grafiky.</a:t>
            </a:r>
          </a:p>
          <a:p>
            <a:endParaRPr lang="cs-CZ" sz="2400" dirty="0">
              <a:solidFill>
                <a:srgbClr val="76AF83"/>
              </a:solidFill>
              <a:latin typeface="Avenir Next LT Pro (Základní text)"/>
            </a:endParaRPr>
          </a:p>
        </p:txBody>
      </p:sp>
    </p:spTree>
    <p:extLst>
      <p:ext uri="{BB962C8B-B14F-4D97-AF65-F5344CB8AC3E}">
        <p14:creationId xmlns:p14="http://schemas.microsoft.com/office/powerpoint/2010/main" val="3163797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93B835-5B2D-4AAC-8552-07183AEE7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378" y="0"/>
            <a:ext cx="9829800" cy="1493297"/>
          </a:xfrm>
        </p:spPr>
        <p:txBody>
          <a:bodyPr/>
          <a:lstStyle/>
          <a:p>
            <a:r>
              <a:rPr lang="cs-CZ" dirty="0"/>
              <a:t>Produkty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2FA2825-F6B2-9335-C8F8-7C517CF4F5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29E2788-E09C-E188-6F31-17DED169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1" y="1725468"/>
            <a:ext cx="12192000" cy="503489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A4C70B8-35A0-8B94-775E-1894F6363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922" y="2263709"/>
            <a:ext cx="3725078" cy="449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26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8AA37C-E0BE-417D-A8E5-5C127911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73" y="-584200"/>
            <a:ext cx="10515600" cy="2852737"/>
          </a:xfrm>
        </p:spPr>
        <p:txBody>
          <a:bodyPr/>
          <a:lstStyle/>
          <a:p>
            <a:r>
              <a:rPr lang="cs-CZ" dirty="0"/>
              <a:t>Diskuze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27DE141-837A-3F53-4E19-6F738115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78906"/>
            <a:ext cx="10515600" cy="1500187"/>
          </a:xfrm>
        </p:spPr>
        <p:txBody>
          <a:bodyPr>
            <a:noAutofit/>
          </a:bodyPr>
          <a:lstStyle/>
          <a:p>
            <a:r>
              <a:rPr lang="cs-CZ" sz="3200" dirty="0"/>
              <a:t>Linux os? Co si o </a:t>
            </a:r>
            <a:r>
              <a:rPr lang="cs-CZ" sz="3200" dirty="0" err="1"/>
              <a:t>nem</a:t>
            </a:r>
            <a:r>
              <a:rPr lang="cs-CZ" sz="3200" dirty="0"/>
              <a:t> </a:t>
            </a:r>
            <a:r>
              <a:rPr lang="cs-CZ" sz="3200" dirty="0" err="1"/>
              <a:t>myslite</a:t>
            </a:r>
            <a:r>
              <a:rPr lang="cs-CZ" sz="3200" dirty="0"/>
              <a:t>?</a:t>
            </a:r>
          </a:p>
          <a:p>
            <a:r>
              <a:rPr lang="cs-CZ" sz="3200" dirty="0" err="1"/>
              <a:t>Rolling</a:t>
            </a:r>
            <a:r>
              <a:rPr lang="cs-CZ" sz="3200" dirty="0"/>
              <a:t> </a:t>
            </a:r>
            <a:r>
              <a:rPr lang="cs-CZ" sz="3200" dirty="0" err="1"/>
              <a:t>release</a:t>
            </a:r>
            <a:r>
              <a:rPr lang="cs-CZ" sz="3200" dirty="0"/>
              <a:t>, ano či ne?</a:t>
            </a:r>
          </a:p>
          <a:p>
            <a:r>
              <a:rPr lang="cs-CZ" sz="3200" dirty="0"/>
              <a:t>Proč by jste si ho vybrali, nebo nevybrali?</a:t>
            </a:r>
          </a:p>
        </p:txBody>
      </p:sp>
    </p:spTree>
    <p:extLst>
      <p:ext uri="{BB962C8B-B14F-4D97-AF65-F5344CB8AC3E}">
        <p14:creationId xmlns:p14="http://schemas.microsoft.com/office/powerpoint/2010/main" val="957328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7C6752B5-72EB-675A-18DE-E1597314F47D}"/>
              </a:ext>
            </a:extLst>
          </p:cNvPr>
          <p:cNvSpPr txBox="1"/>
          <p:nvPr/>
        </p:nvSpPr>
        <p:spPr>
          <a:xfrm>
            <a:off x="1138870" y="1096959"/>
            <a:ext cx="934173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Struktura souborového systému v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Manjaro.cz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2016 [cit. 2022-11-27].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2"/>
              </a:rPr>
              <a:t>https://manjaro.cz/struktura-souboroveho-systemu-v-manjaro/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dirty="0">
                <a:solidFill>
                  <a:srgbClr val="212529"/>
                </a:solidFill>
                <a:latin typeface="Open Sans" panose="020B0606030504020204" pitchFamily="34" charset="0"/>
              </a:rPr>
              <a:t>¨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Manjaro.org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[cit. 2022-11-27].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3"/>
              </a:rPr>
              <a:t>https://manjaro.org/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Download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Manjaro.org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 [cit. 2022-11-27].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4"/>
              </a:rPr>
              <a:t>https://wiki.manjaro.org/index.php/Download_Manjaro/en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ja-JP" alt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浅谈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</a:t>
            </a:r>
            <a:r>
              <a:rPr lang="ja-JP" alt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使用感受及推荐建议</a:t>
            </a:r>
            <a:r>
              <a:rPr lang="en-US" altLang="ja-JP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Manjaro.org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 </a:t>
            </a:r>
            <a:r>
              <a:rPr lang="cs-CZ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2015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[cit. 2022-11-27]. Dostupné z: 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  <a:hlinkClick r:id="rId5"/>
              </a:rPr>
              <a:t>https://zhuanlan.zhihu.com/p/351601549</a:t>
            </a:r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System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repair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cs-CZ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issues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. </a:t>
            </a:r>
            <a:r>
              <a:rPr lang="cs-CZ" b="0" i="1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Manjaro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[online]. </a:t>
            </a:r>
            <a:r>
              <a:rPr lang="cs-CZ" b="1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2022</a:t>
            </a:r>
            <a:r>
              <a:rPr lang="cs-CZ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[cit. 2022-11-27]. Dostupné z: https://forum.manjaro.org/t/system-repair-issues/108045</a:t>
            </a:r>
          </a:p>
          <a:p>
            <a:endParaRPr lang="cs-CZ" b="0" i="0" dirty="0">
              <a:solidFill>
                <a:srgbClr val="212529"/>
              </a:solidFill>
              <a:effectLst/>
              <a:latin typeface="Open Sans" panose="020B0606030504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3401223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AnalogousFromRegularSeedRightStep">
      <a:dk1>
        <a:srgbClr val="000000"/>
      </a:dk1>
      <a:lt1>
        <a:srgbClr val="FFFFFF"/>
      </a:lt1>
      <a:dk2>
        <a:srgbClr val="1D3322"/>
      </a:dk2>
      <a:lt2>
        <a:srgbClr val="E2E5E8"/>
      </a:lt2>
      <a:accent1>
        <a:srgbClr val="E58E24"/>
      </a:accent1>
      <a:accent2>
        <a:srgbClr val="AAA412"/>
      </a:accent2>
      <a:accent3>
        <a:srgbClr val="7AB11F"/>
      </a:accent3>
      <a:accent4>
        <a:srgbClr val="35B914"/>
      </a:accent4>
      <a:accent5>
        <a:srgbClr val="21BA42"/>
      </a:accent5>
      <a:accent6>
        <a:srgbClr val="14B87C"/>
      </a:accent6>
      <a:hlink>
        <a:srgbClr val="3F79BF"/>
      </a:hlink>
      <a:folHlink>
        <a:srgbClr val="7F7F7F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5" ma:contentTypeDescription="Vytvoří nový dokument" ma:contentTypeScope="" ma:versionID="8ffa8fc89b63a5ce36547a61f81c5795">
  <xsd:schema xmlns:xsd="http://www.w3.org/2001/XMLSchema" xmlns:xs="http://www.w3.org/2001/XMLSchema" xmlns:p="http://schemas.microsoft.com/office/2006/metadata/properties" xmlns:ns3="2fdf368a-f443-49d9-8039-a87943f25e5e" xmlns:ns4="5df54dde-d18f-4bad-8f22-5569bd684ca8" targetNamespace="http://schemas.microsoft.com/office/2006/metadata/properties" ma:root="true" ma:fieldsID="37c383acaef9ad70e050263c850a8f87" ns3:_="" ns4:_="">
    <xsd:import namespace="2fdf368a-f443-49d9-8039-a87943f25e5e"/>
    <xsd:import namespace="5df54dde-d18f-4bad-8f22-5569bd684c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061E86-8705-4C5C-8383-E267DD2CAE80}">
  <ds:schemaRefs>
    <ds:schemaRef ds:uri="2fdf368a-f443-49d9-8039-a87943f25e5e"/>
    <ds:schemaRef ds:uri="5df54dde-d18f-4bad-8f22-5569bd684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A015DD0-C6C2-461A-AEC1-159728C936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A16B29-1322-424B-A94E-A2B49C2BE5E2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terms/"/>
    <ds:schemaRef ds:uri="2fdf368a-f443-49d9-8039-a87943f25e5e"/>
    <ds:schemaRef ds:uri="5df54dde-d18f-4bad-8f22-5569bd684ca8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547</Words>
  <Application>Microsoft Office PowerPoint</Application>
  <PresentationFormat>Širokoúhlá obrazovka</PresentationFormat>
  <Paragraphs>58</Paragraphs>
  <Slides>9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7" baseType="lpstr">
      <vt:lpstr>Arial</vt:lpstr>
      <vt:lpstr>Avenir Next LT Pro</vt:lpstr>
      <vt:lpstr>Avenir Next LT Pro (Základní text)</vt:lpstr>
      <vt:lpstr>Calibri</vt:lpstr>
      <vt:lpstr>Footlight MT Light</vt:lpstr>
      <vt:lpstr>Georgia</vt:lpstr>
      <vt:lpstr>Open Sans</vt:lpstr>
      <vt:lpstr>ArchVTI</vt:lpstr>
      <vt:lpstr>Manjaro Linux</vt:lpstr>
      <vt:lpstr>Co to je?</vt:lpstr>
      <vt:lpstr>Aktualizace – Rolling release</vt:lpstr>
      <vt:lpstr>Jak je to vlastně s adresářem?</vt:lpstr>
      <vt:lpstr>Antivirus?</vt:lpstr>
      <vt:lpstr>Minimalní hardware pozadavky </vt:lpstr>
      <vt:lpstr>Produkty </vt:lpstr>
      <vt:lpstr>Diskuze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Manjaro Linux</dc:title>
  <dc:creator>Natálie FALTEJSKOVÁ</dc:creator>
  <cp:lastModifiedBy>Tomáš JAKUBČO</cp:lastModifiedBy>
  <cp:revision>2</cp:revision>
  <dcterms:created xsi:type="dcterms:W3CDTF">2022-11-26T12:29:23Z</dcterms:created>
  <dcterms:modified xsi:type="dcterms:W3CDTF">2022-11-27T22:46:10Z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