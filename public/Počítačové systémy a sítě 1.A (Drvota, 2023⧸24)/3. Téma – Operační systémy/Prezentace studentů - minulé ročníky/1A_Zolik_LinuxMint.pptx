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0"/>
  </p:notesMasterIdLst>
  <p:sldIdLst>
    <p:sldId id="256" r:id="rId5"/>
    <p:sldId id="270" r:id="rId6"/>
    <p:sldId id="260" r:id="rId7"/>
    <p:sldId id="274" r:id="rId8"/>
    <p:sldId id="271" r:id="rId9"/>
    <p:sldId id="258" r:id="rId10"/>
    <p:sldId id="259" r:id="rId11"/>
    <p:sldId id="266" r:id="rId12"/>
    <p:sldId id="265" r:id="rId13"/>
    <p:sldId id="263" r:id="rId14"/>
    <p:sldId id="267" r:id="rId15"/>
    <p:sldId id="261" r:id="rId16"/>
    <p:sldId id="268" r:id="rId17"/>
    <p:sldId id="272" r:id="rId18"/>
    <p:sldId id="269" r:id="rId1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3A10D6-811D-BA9A-CB22-E30BB928AE64}" v="222" dt="2022-11-20T09:18:10.153"/>
    <p1510:client id="{D4BF0FCD-85EB-46FE-87E9-D4A353E37842}" v="5068" dt="2022-11-20T09:17:04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284" autoAdjust="0"/>
  </p:normalViewPr>
  <p:slideViewPr>
    <p:cSldViewPr snapToGrid="0">
      <p:cViewPr varScale="1">
        <p:scale>
          <a:sx n="75" d="100"/>
          <a:sy n="75" d="100"/>
        </p:scale>
        <p:origin x="94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4A25A-8D30-4C60-A831-F60A77179EEC}" type="datetimeFigureOut">
              <a:rPr lang="cs-CZ" smtClean="0"/>
              <a:t>21.11.2022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47697-D2BB-4596-A8B1-B7EA064FDD7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79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ux-mint-czech.cz/nainstalujte-si-nove-stabilni-jadro-3-6-8-do-linuxmintu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710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/>
              <a:t>Linux Mint je user-friendly alternativa Ubuntu nebo Winowsu.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/>
              <a:t>Operační systém běží i na starších zařízeních a nabízí různá desktopová prostředí.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altLang="cs-CZ" sz="1200" b="0" i="0" u="none" strike="noStrike" cap="none" normalizeH="0" baseline="0">
                <a:ln>
                  <a:noFill/>
                </a:ln>
                <a:effectLst/>
              </a:rPr>
              <a:t>Distribuce podporuje řadu bezplatných a placených programů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altLang="cs-CZ" sz="12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altLang="cs-CZ" sz="1200" b="0" i="0" u="none" strike="noStrike" cap="none" normalizeH="0" baseline="0">
              <a:ln>
                <a:noFill/>
              </a:ln>
              <a:effectLst/>
            </a:endParaRPr>
          </a:p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6778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kumimoji="0" lang="cs-CZ" altLang="cs-CZ" sz="1200" b="0" i="0" u="none" strike="noStrike" cap="none" normalizeH="0" baseline="0">
                <a:ln>
                  <a:noFill/>
                </a:ln>
                <a:effectLst/>
              </a:rPr>
              <a:t>Vývojáři jsou : </a:t>
            </a:r>
            <a:r>
              <a:rPr lang="cs-CZ" sz="1200" err="1">
                <a:effectLst/>
              </a:rPr>
              <a:t>Clément</a:t>
            </a:r>
            <a:r>
              <a:rPr lang="cs-CZ" sz="1200">
                <a:effectLst/>
              </a:rPr>
              <a:t> </a:t>
            </a:r>
            <a:r>
              <a:rPr lang="cs-CZ" sz="1200" err="1">
                <a:effectLst/>
              </a:rPr>
              <a:t>Lefèbvre</a:t>
            </a:r>
            <a:r>
              <a:rPr lang="cs-CZ" sz="1200">
                <a:effectLst/>
              </a:rPr>
              <a:t>, Vincent </a:t>
            </a:r>
            <a:r>
              <a:rPr lang="cs-CZ" sz="1200" err="1">
                <a:effectLst/>
              </a:rPr>
              <a:t>Vermeulen</a:t>
            </a:r>
            <a:r>
              <a:rPr lang="cs-CZ" sz="1200">
                <a:effectLst/>
              </a:rPr>
              <a:t>, Oscar799, ale i</a:t>
            </a:r>
            <a:r>
              <a:rPr lang="cs-CZ"/>
              <a:t> </a:t>
            </a:r>
            <a:r>
              <a:rPr lang="cs-CZ" sz="1200">
                <a:effectLst/>
              </a:rPr>
              <a:t> komunita</a:t>
            </a:r>
            <a:endParaRPr lang="cs-CZ"/>
          </a:p>
          <a:p>
            <a:pPr>
              <a:defRPr/>
            </a:pPr>
            <a:r>
              <a:rPr lang="cs-CZ">
                <a:cs typeface="Calibri"/>
              </a:rPr>
              <a:t>Vychází z </a:t>
            </a:r>
            <a:r>
              <a:rPr lang="cs-CZ" err="1">
                <a:cs typeface="Calibri"/>
              </a:rPr>
              <a:t>Ubantu</a:t>
            </a:r>
            <a:endParaRPr lang="cs-CZ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>
                <a:effectLst/>
              </a:rPr>
              <a:t>Rok vydání 27 srpna 2006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>
                <a:cs typeface="Calibri"/>
              </a:rPr>
              <a:t>První verze Ada</a:t>
            </a:r>
            <a:endParaRPr lang="cs-CZ" sz="1200">
              <a:effectLst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/>
              <a:t>Aktuálně ´´Vanessa´´ verze 21</a:t>
            </a:r>
            <a:endParaRPr lang="cs-CZ" sz="1200"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20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200" b="0" i="0" u="none" strike="noStrike" baseline="30000">
              <a:solidFill>
                <a:srgbClr val="0645AD"/>
              </a:solidFill>
              <a:effectLst/>
            </a:endParaRPr>
          </a:p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0933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20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200" b="0" i="0" u="none" strike="noStrike" baseline="30000">
              <a:solidFill>
                <a:srgbClr val="0645AD"/>
              </a:solidFill>
              <a:effectLst/>
            </a:endParaRPr>
          </a:p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9856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/>
              <a:t>Jednoduchý přehledný os</a:t>
            </a:r>
          </a:p>
          <a:p>
            <a:r>
              <a:rPr lang="cs-CZ" sz="1200"/>
              <a:t>Vylepseny software a mnoho novych funkci a komfortu</a:t>
            </a:r>
          </a:p>
          <a:p>
            <a:r>
              <a:rPr lang="cs-CZ" sz="1200"/>
              <a:t>Diky funkci kiss je jednoducha orientace a ovladani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/>
              <a:t>Verze 20.3 která má podporu do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/>
            </a:br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1566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-Doporučeno 4GB pro komfortnější používání</a:t>
            </a:r>
            <a:endParaRPr lang="cs-CZ">
              <a:cs typeface="Calibri"/>
            </a:endParaRPr>
          </a:p>
          <a:p>
            <a:r>
              <a:rPr lang="cs-CZ"/>
              <a:t>-Doporučeno 100GB místa</a:t>
            </a:r>
            <a:endParaRPr lang="cs-CZ">
              <a:cs typeface="Calibri"/>
            </a:endParaRPr>
          </a:p>
          <a:p>
            <a:r>
              <a:rPr lang="cs-CZ">
                <a:cs typeface="Calibri"/>
              </a:rPr>
              <a:t>-</a:t>
            </a:r>
            <a:r>
              <a:rPr lang="cs-CZ" err="1">
                <a:cs typeface="Calibri"/>
              </a:rPr>
              <a:t>Minimalní</a:t>
            </a:r>
            <a:r>
              <a:rPr lang="cs-CZ">
                <a:cs typeface="Calibri"/>
              </a:rPr>
              <a:t> rozlišení 1024x768</a:t>
            </a:r>
          </a:p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8697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1" i="0">
                <a:effectLst/>
                <a:latin typeface="Tahoma" panose="020B0604030504040204" pitchFamily="34" charset="0"/>
              </a:rPr>
              <a:t>/</a:t>
            </a:r>
            <a:r>
              <a:rPr lang="cs-CZ" sz="1200" b="0" i="0">
                <a:effectLst/>
                <a:latin typeface="Tahoma" panose="020B0604030504040204" pitchFamily="34" charset="0"/>
              </a:rPr>
              <a:t>  – je Kořenový adresář, který tvoří základ systému souborů. Všechny soubory a adresáře jsou logicky obsazeny přímo v kořenovém adresáři, bez ohledu na jejich fyzickém umístění.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1" i="0">
                <a:effectLst/>
                <a:latin typeface="Tahoma" panose="020B0604030504040204" pitchFamily="34" charset="0"/>
              </a:rPr>
              <a:t>/ Bin</a:t>
            </a:r>
            <a:r>
              <a:rPr lang="cs-CZ" sz="1200" b="0" i="0">
                <a:effectLst/>
                <a:latin typeface="Tahoma" panose="020B0604030504040204" pitchFamily="34" charset="0"/>
              </a:rPr>
              <a:t>  – Obsahuje spustitelné programy, které jsou součástí operačního systému </a:t>
            </a:r>
            <a:r>
              <a:rPr lang="cs-CZ" sz="1200" b="0" i="0" err="1">
                <a:effectLst/>
                <a:latin typeface="Tahoma" panose="020B0604030504040204" pitchFamily="34" charset="0"/>
              </a:rPr>
              <a:t>LinuxMint</a:t>
            </a:r>
            <a:r>
              <a:rPr lang="cs-CZ" sz="1200" b="0" i="0">
                <a:effectLst/>
                <a:latin typeface="Tahoma" panose="020B0604030504040204" pitchFamily="34" charset="0"/>
              </a:rPr>
              <a:t>. Veškeré </a:t>
            </a:r>
            <a:r>
              <a:rPr lang="cs-CZ" sz="1200" b="0" i="0" err="1">
                <a:effectLst/>
                <a:latin typeface="Tahoma" panose="020B0604030504040204" pitchFamily="34" charset="0"/>
              </a:rPr>
              <a:t>LinuxMint</a:t>
            </a:r>
            <a:r>
              <a:rPr lang="cs-CZ" sz="1200" b="0" i="0">
                <a:effectLst/>
                <a:latin typeface="Tahoma" panose="020B0604030504040204" pitchFamily="34" charset="0"/>
              </a:rPr>
              <a:t> příkazy, jako je například </a:t>
            </a:r>
            <a:r>
              <a:rPr lang="cs-CZ" sz="1200" b="0" i="0" err="1">
                <a:effectLst/>
                <a:latin typeface="Tahoma" panose="020B0604030504040204" pitchFamily="34" charset="0"/>
              </a:rPr>
              <a:t>cat</a:t>
            </a:r>
            <a:r>
              <a:rPr lang="cs-CZ" sz="1200" b="0" i="0">
                <a:effectLst/>
                <a:latin typeface="Tahoma" panose="020B0604030504040204" pitchFamily="34" charset="0"/>
              </a:rPr>
              <a:t>, </a:t>
            </a:r>
            <a:r>
              <a:rPr lang="cs-CZ" sz="1200" b="0" i="0" err="1">
                <a:effectLst/>
                <a:latin typeface="Tahoma" panose="020B0604030504040204" pitchFamily="34" charset="0"/>
              </a:rPr>
              <a:t>cp</a:t>
            </a:r>
            <a:r>
              <a:rPr lang="cs-CZ" sz="1200" b="0" i="0">
                <a:effectLst/>
                <a:latin typeface="Tahoma" panose="020B0604030504040204" pitchFamily="34" charset="0"/>
              </a:rPr>
              <a:t>, </a:t>
            </a:r>
            <a:r>
              <a:rPr lang="cs-CZ" sz="1200" b="0" i="0" err="1">
                <a:effectLst/>
                <a:latin typeface="Tahoma" panose="020B0604030504040204" pitchFamily="34" charset="0"/>
              </a:rPr>
              <a:t>ls</a:t>
            </a:r>
            <a:r>
              <a:rPr lang="cs-CZ" sz="1200" b="0" i="0">
                <a:effectLst/>
                <a:latin typeface="Tahoma" panose="020B0604030504040204" pitchFamily="34" charset="0"/>
              </a:rPr>
              <a:t>, more, tar, jsou k nalezení v tomto adresáři.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1" i="0">
                <a:effectLst/>
                <a:latin typeface="Tahoma" panose="020B0604030504040204" pitchFamily="34" charset="0"/>
              </a:rPr>
              <a:t>/ </a:t>
            </a:r>
            <a:r>
              <a:rPr lang="cs-CZ" sz="1200" b="1" i="0" err="1">
                <a:effectLst/>
                <a:latin typeface="Tahoma" panose="020B0604030504040204" pitchFamily="34" charset="0"/>
              </a:rPr>
              <a:t>Boot</a:t>
            </a:r>
            <a:r>
              <a:rPr lang="cs-CZ" sz="1200" b="0" i="0">
                <a:effectLst/>
                <a:latin typeface="Tahoma" panose="020B0604030504040204" pitchFamily="34" charset="0"/>
              </a:rPr>
              <a:t>  – Obsahuje linuxové jádro ( </a:t>
            </a:r>
            <a:r>
              <a:rPr lang="cs-CZ" sz="1200" b="0" i="0" u="none" strike="noStrike">
                <a:effectLst/>
                <a:latin typeface="Tahoma" panose="020B0604030504040204" pitchFamily="34" charset="0"/>
                <a:hlinkClick r:id="rId3" tooltip="Upgrade jádra na 3.6.8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kernel</a:t>
            </a:r>
            <a:r>
              <a:rPr lang="cs-CZ" sz="1200" b="0" i="0">
                <a:effectLst/>
                <a:latin typeface="Tahoma" panose="020B0604030504040204" pitchFamily="34" charset="0"/>
              </a:rPr>
              <a:t> ) a další soubory potřebné pro správu LILO a GRUB zavaděče.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1" i="0">
                <a:effectLst/>
                <a:latin typeface="Tahoma" panose="020B0604030504040204" pitchFamily="34" charset="0"/>
              </a:rPr>
              <a:t>/ </a:t>
            </a:r>
            <a:r>
              <a:rPr lang="cs-CZ" sz="1200" b="1" i="0" err="1">
                <a:effectLst/>
                <a:latin typeface="Tahoma" panose="020B0604030504040204" pitchFamily="34" charset="0"/>
              </a:rPr>
              <a:t>Dev</a:t>
            </a:r>
            <a:r>
              <a:rPr lang="cs-CZ" sz="1200" b="1" i="0">
                <a:effectLst/>
                <a:latin typeface="Tahoma" panose="020B0604030504040204" pitchFamily="34" charset="0"/>
              </a:rPr>
              <a:t> </a:t>
            </a:r>
            <a:r>
              <a:rPr lang="cs-CZ" sz="1200" b="0" i="0">
                <a:effectLst/>
                <a:latin typeface="Tahoma" panose="020B0604030504040204" pitchFamily="34" charset="0"/>
              </a:rPr>
              <a:t> – Obsahuje všechny soubory zařízení jako jsou například DVD mechanika/USB apod.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0" i="0">
                <a:effectLst/>
                <a:latin typeface="Tahoma" panose="020B0604030504040204" pitchFamily="34" charset="0"/>
              </a:rPr>
              <a:t>Všechny tyto soubory jsou umístěny v adresáři / </a:t>
            </a:r>
            <a:r>
              <a:rPr lang="cs-CZ" sz="1200" b="0" i="0" err="1">
                <a:effectLst/>
                <a:latin typeface="Tahoma" panose="020B0604030504040204" pitchFamily="34" charset="0"/>
              </a:rPr>
              <a:t>dev</a:t>
            </a:r>
            <a:r>
              <a:rPr lang="cs-CZ" sz="1200" b="0" i="0">
                <a:effectLst/>
                <a:latin typeface="Tahoma" panose="020B0604030504040204" pitchFamily="34" charset="0"/>
              </a:rPr>
              <a:t> </a:t>
            </a:r>
            <a:r>
              <a:rPr lang="cs-CZ" sz="1200" b="1" i="0">
                <a:effectLst/>
                <a:latin typeface="Tahoma" panose="020B0604030504040204" pitchFamily="34" charset="0"/>
              </a:rPr>
              <a:t>/ </a:t>
            </a:r>
            <a:r>
              <a:rPr lang="cs-CZ" sz="1200" b="1" i="0" err="1">
                <a:effectLst/>
                <a:latin typeface="Tahoma" panose="020B0604030504040204" pitchFamily="34" charset="0"/>
              </a:rPr>
              <a:t>etc</a:t>
            </a:r>
            <a:endParaRPr lang="cs-CZ" sz="1200" b="1" i="0">
              <a:effectLst/>
              <a:latin typeface="Tahoma" panose="020B060403050404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1200" b="1" i="0">
                <a:effectLst/>
              </a:rPr>
              <a:t>/ </a:t>
            </a:r>
            <a:r>
              <a:rPr lang="cs-CZ" sz="1200" b="1" i="0" err="1">
                <a:effectLst/>
              </a:rPr>
              <a:t>Dev</a:t>
            </a:r>
            <a:r>
              <a:rPr lang="cs-CZ" sz="1200" b="1" i="0">
                <a:effectLst/>
              </a:rPr>
              <a:t> / </a:t>
            </a:r>
            <a:r>
              <a:rPr lang="cs-CZ" sz="1200" b="1" i="0" err="1">
                <a:effectLst/>
              </a:rPr>
              <a:t>null</a:t>
            </a:r>
            <a:r>
              <a:rPr lang="cs-CZ" sz="1200" b="1" i="0">
                <a:effectLst/>
              </a:rPr>
              <a:t> </a:t>
            </a:r>
            <a:r>
              <a:rPr lang="cs-CZ" sz="1200" b="0" i="0">
                <a:effectLst/>
              </a:rPr>
              <a:t> – je speciální adresář, který zlikviduje všechna data na něj zapsaná a neposkytuje žádné údaje pro čtení</a:t>
            </a:r>
          </a:p>
          <a:p>
            <a:pPr>
              <a:buFont typeface="Arial" panose="020B0604020202020204" pitchFamily="34" charset="0"/>
              <a:buNone/>
            </a:pPr>
            <a:r>
              <a:rPr lang="cs-CZ" sz="1200" b="1" i="0">
                <a:effectLst/>
              </a:rPr>
              <a:t>/ </a:t>
            </a:r>
            <a:r>
              <a:rPr lang="cs-CZ" sz="1200" b="1" i="0" err="1">
                <a:effectLst/>
              </a:rPr>
              <a:t>Usr</a:t>
            </a:r>
            <a:r>
              <a:rPr lang="cs-CZ" sz="1200" b="1" i="0">
                <a:effectLst/>
              </a:rPr>
              <a:t>  </a:t>
            </a:r>
            <a:r>
              <a:rPr lang="cs-CZ" sz="1200" b="0" i="0">
                <a:effectLst/>
              </a:rPr>
              <a:t>– obsahuje  sub-adresáře  pro mnoho programů, jako je X </a:t>
            </a:r>
            <a:r>
              <a:rPr lang="cs-CZ" sz="1200" b="0" i="0" err="1">
                <a:effectLst/>
              </a:rPr>
              <a:t>Window</a:t>
            </a:r>
            <a:r>
              <a:rPr lang="cs-CZ" sz="1200" b="0" i="0">
                <a:effectLst/>
              </a:rPr>
              <a:t> </a:t>
            </a:r>
            <a:r>
              <a:rPr lang="cs-CZ" sz="1200" b="0" i="0" err="1">
                <a:effectLst/>
              </a:rPr>
              <a:t>System</a:t>
            </a:r>
            <a:r>
              <a:rPr lang="cs-CZ" sz="1200" b="0" i="0">
                <a:effectLst/>
              </a:rPr>
              <a:t> ( grafická podoba Vašeho pracovního prostředí )</a:t>
            </a:r>
          </a:p>
          <a:p>
            <a:pPr>
              <a:buFont typeface="Arial" panose="020B0604020202020204" pitchFamily="34" charset="0"/>
              <a:buNone/>
            </a:pPr>
            <a:r>
              <a:rPr lang="cs-CZ" sz="1200" b="1" i="0">
                <a:effectLst/>
              </a:rPr>
              <a:t>/ Var </a:t>
            </a:r>
            <a:r>
              <a:rPr lang="cs-CZ" sz="1200" b="0" i="0">
                <a:effectLst/>
              </a:rPr>
              <a:t> – Obsahuje různé systémové soubory, jako je protokol, poštovní adresáře, tisková fronta, atd., jenž mají tendenci ke změně velikosti v reálném čase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200" b="0" i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s-CZ" sz="1200" b="0" i="0">
              <a:effectLst/>
              <a:latin typeface="Tahoma" panose="020B0604030504040204" pitchFamily="34" charset="0"/>
            </a:endParaRPr>
          </a:p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7132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>
                <a:cs typeface="Calibri"/>
              </a:rPr>
              <a:t>ATI drivery nebo </a:t>
            </a:r>
            <a:r>
              <a:rPr lang="cs-CZ"/>
              <a:t>Nvidia </a:t>
            </a:r>
            <a:r>
              <a:rPr lang="cs-CZ">
                <a:cs typeface="Calibri"/>
              </a:rPr>
              <a:t>drivery jdou jednoduše stáhnout. </a:t>
            </a:r>
          </a:p>
          <a:p>
            <a:r>
              <a:rPr lang="cs-CZ" sz="1200" b="0" i="0">
                <a:effectLst/>
              </a:rPr>
              <a:t>Instalace: Launch Menu ‣ Administration ‣ Driver Manager, zde zaškrtneme drivery, které chceme nainstalovat a klikneme na ´´apply changes´´.</a:t>
            </a:r>
          </a:p>
          <a:p>
            <a:r>
              <a:rPr lang="cs-CZ" sz="1200">
                <a:cs typeface="Calibri"/>
              </a:rPr>
              <a:t>Pokud nemáme přístup k internetu, ukáže se tohle okno.</a:t>
            </a:r>
          </a:p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8512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>
                <a:cs typeface="Calibri"/>
              </a:rPr>
              <a:t>Správce aktualizací poskytuje informace o všech aktualizacích . Po kliknutí na něj vám ukáže všechny dostupné aktualizace.</a:t>
            </a:r>
            <a:r>
              <a:rPr lang="cs-CZ"/>
              <a:t> Také můžete vidět, jakou verzi máte instalovanou v počítači, a jaká je dostupná aktualizaci. Jde vidět úroveň stability jednotlivých aktualizací</a:t>
            </a:r>
            <a:r>
              <a:rPr lang="cs-CZ">
                <a:cs typeface="Calibri"/>
              </a:rPr>
              <a:t> a jak je aktualizace bezpečná.</a:t>
            </a:r>
            <a:r>
              <a:rPr lang="cs-CZ"/>
              <a:t> Linux </a:t>
            </a:r>
            <a:r>
              <a:rPr lang="cs-CZ" err="1"/>
              <a:t>Mint</a:t>
            </a:r>
            <a:r>
              <a:rPr lang="cs-CZ"/>
              <a:t> přiděluje úroveň stability, která označuje, jak je instalace určité aktualizace bezpečná. 1-5. 1,2 </a:t>
            </a:r>
            <a:r>
              <a:rPr lang="cs-CZ" err="1"/>
              <a:t>bezpecne</a:t>
            </a:r>
            <a:r>
              <a:rPr lang="cs-CZ"/>
              <a:t>, 3 na </a:t>
            </a:r>
            <a:r>
              <a:rPr lang="cs-CZ" err="1"/>
              <a:t>pomezi</a:t>
            </a:r>
            <a:r>
              <a:rPr lang="cs-CZ"/>
              <a:t> a 4,5 nejsou doporučeny pro stahování.</a:t>
            </a:r>
            <a:endParaRPr lang="cs-CZ">
              <a:cs typeface="Calibri"/>
            </a:endParaRPr>
          </a:p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171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Má lepší zabezpečení než </a:t>
            </a:r>
            <a:r>
              <a:rPr lang="cs-CZ" err="1"/>
              <a:t>Windows.Není</a:t>
            </a:r>
            <a:r>
              <a:rPr lang="cs-CZ"/>
              <a:t> potřeba </a:t>
            </a:r>
            <a:r>
              <a:rPr lang="cs-CZ" err="1"/>
              <a:t>nativirus</a:t>
            </a:r>
            <a:r>
              <a:rPr lang="cs-CZ"/>
              <a:t>, ale není špatné ho mít. Menší uživatelské oprávnění  = virus se většinou nedostane přes lokální soubory .V uživatelem nastaveném řetězci tabulek  jsou stanovena pravidla, která jsou porovnávána se sadou paketů. Používání různých emailových klientů a balíčkovacích systémů = vysoce diverzifikace. Linux převážně </a:t>
            </a:r>
            <a:r>
              <a:rPr lang="cs-CZ" err="1"/>
              <a:t>využívájí</a:t>
            </a:r>
            <a:r>
              <a:rPr lang="cs-CZ"/>
              <a:t> lidé, kteří rozumí počítačům = nekliknou na divné odkazy. Protože má méně uživatelů je na něj také méně virů a cílených útoků.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289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>
                <a:latin typeface="+mn-lt"/>
                <a:cs typeface="Calibri"/>
              </a:rPr>
              <a:t>Oproti např Windows nebo mac je </a:t>
            </a:r>
            <a:r>
              <a:rPr lang="cs-CZ" b="0" err="1">
                <a:latin typeface="+mn-lt"/>
                <a:cs typeface="Calibri"/>
              </a:rPr>
              <a:t>mint</a:t>
            </a:r>
            <a:r>
              <a:rPr lang="cs-CZ" b="0">
                <a:latin typeface="+mn-lt"/>
                <a:cs typeface="Calibri"/>
              </a:rPr>
              <a:t> zdarma</a:t>
            </a:r>
          </a:p>
          <a:p>
            <a:r>
              <a:rPr lang="cs-CZ" b="0" err="1">
                <a:latin typeface="+mn-lt"/>
                <a:cs typeface="Calibri"/>
              </a:rPr>
              <a:t>Rozdil</a:t>
            </a:r>
            <a:r>
              <a:rPr lang="cs-CZ" b="0">
                <a:latin typeface="+mn-lt"/>
                <a:cs typeface="Calibri"/>
              </a:rPr>
              <a:t> mezi mac os (open source)</a:t>
            </a:r>
          </a:p>
          <a:p>
            <a:r>
              <a:rPr lang="cs-CZ" b="0">
                <a:latin typeface="+mn-lt"/>
                <a:cs typeface="Calibri"/>
              </a:rPr>
              <a:t>Na vývoji samotného os se podílela i komunita</a:t>
            </a:r>
          </a:p>
          <a:p>
            <a:r>
              <a:rPr lang="cs-CZ" b="0" i="0">
                <a:solidFill>
                  <a:srgbClr val="BDC1C6"/>
                </a:solidFill>
                <a:effectLst/>
                <a:latin typeface="+mn-lt"/>
              </a:rPr>
              <a:t>přívětivost pro začátečníky a elegantní design</a:t>
            </a:r>
          </a:p>
          <a:p>
            <a:r>
              <a:rPr lang="cs-CZ" b="0" i="0">
                <a:solidFill>
                  <a:srgbClr val="BDC1C6"/>
                </a:solidFill>
                <a:effectLst/>
                <a:latin typeface="+mn-lt"/>
                <a:cs typeface="Calibri"/>
              </a:rPr>
              <a:t>Nove verze os se vydají, za když jsou si vývojáři jisti, ze je verze 100</a:t>
            </a:r>
            <a:r>
              <a:rPr lang="en-US" b="0" i="0">
                <a:solidFill>
                  <a:srgbClr val="BDC1C6"/>
                </a:solidFill>
                <a:effectLst/>
                <a:latin typeface="+mn-lt"/>
                <a:cs typeface="Calibri"/>
              </a:rPr>
              <a:t>%</a:t>
            </a:r>
            <a:r>
              <a:rPr lang="cs-CZ" b="0" i="0">
                <a:solidFill>
                  <a:srgbClr val="BDC1C6"/>
                </a:solidFill>
                <a:effectLst/>
                <a:latin typeface="+mn-lt"/>
                <a:cs typeface="Calibri"/>
              </a:rPr>
              <a:t> připravena, to samé platí pro nove funkce, ty jsou uvolňovány za ve chvíli, kdy funguji opravdu tak jak mají. (windows11)</a:t>
            </a:r>
          </a:p>
          <a:p>
            <a:r>
              <a:rPr lang="cs-CZ" b="0" i="0">
                <a:solidFill>
                  <a:srgbClr val="BDC1C6"/>
                </a:solidFill>
                <a:effectLst/>
                <a:latin typeface="+mn-lt"/>
                <a:cs typeface="Calibri"/>
              </a:rPr>
              <a:t>Os nemá 64 bitovou architekturu</a:t>
            </a:r>
          </a:p>
          <a:p>
            <a:r>
              <a:rPr lang="cs-CZ" b="0" i="0">
                <a:solidFill>
                  <a:srgbClr val="BDC1C6"/>
                </a:solidFill>
                <a:effectLst/>
                <a:latin typeface="+mn-lt"/>
                <a:cs typeface="Calibri"/>
              </a:rPr>
              <a:t>Nemá správce zařízeni, to znamená, ze se nemůžu podívat jaká zařízeni jsou připojena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8049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2211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3767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1543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47697-D2BB-4596-A8B1-B7EA064FDD73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039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67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13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9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1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4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1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3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21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69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60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26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6056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25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4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ux-mint-czech.cz/nainstalujte-si-nove-stabilni-jadro-3-6-8-do-linuxmintu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Linux_Mint" TargetMode="External"/><Relationship Id="rId3" Type="http://schemas.openxmlformats.org/officeDocument/2006/relationships/hyperlink" Target="https://linuxmint.com/faq.php" TargetMode="External"/><Relationship Id="rId7" Type="http://schemas.openxmlformats.org/officeDocument/2006/relationships/hyperlink" Target="https://www.linux-mint-czech.cz/tag/bezpecnos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ux-mint-czech.cz/2012/12/struktura-souboroveho-systemu-v-linuxmintu/" TargetMode="External"/><Relationship Id="rId5" Type="http://schemas.openxmlformats.org/officeDocument/2006/relationships/hyperlink" Target="https://linuxmint-installation-guide.readthedocs.io/en/latest/drivers.html" TargetMode="External"/><Relationship Id="rId4" Type="http://schemas.openxmlformats.org/officeDocument/2006/relationships/hyperlink" Target="https://linuxmint.com/documentation/user-guide/MATE/czech_10.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8F7C31-9AE5-7070-8DE6-56C3E8AD5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028699"/>
            <a:ext cx="9418320" cy="3862083"/>
          </a:xfrm>
        </p:spPr>
        <p:txBody>
          <a:bodyPr anchor="ctr">
            <a:normAutofit/>
          </a:bodyPr>
          <a:lstStyle/>
          <a:p>
            <a:pPr algn="ctr"/>
            <a:r>
              <a:rPr lang="cs-CZ" sz="6000" b="1">
                <a:cs typeface="Calibri Light"/>
              </a:rPr>
              <a:t>Linux </a:t>
            </a:r>
            <a:r>
              <a:rPr lang="cs-CZ" sz="6000" b="1" noProof="1">
                <a:cs typeface="Calibri Light"/>
              </a:rPr>
              <a:t>Mint</a:t>
            </a:r>
            <a:br>
              <a:rPr lang="cs-CZ" sz="6000" b="1" noProof="1">
                <a:cs typeface="Calibri Light"/>
              </a:rPr>
            </a:br>
            <a:r>
              <a:rPr lang="cs-CZ" sz="2000">
                <a:cs typeface="Calibri Light"/>
              </a:rPr>
              <a:t>Šimon Doležal, Martin Pytlík, Jan Navrátil</a:t>
            </a:r>
            <a:endParaRPr lang="cs-CZ" sz="2000" b="1">
              <a:cs typeface="Calibri Light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540BAA-6E3C-DCD4-48B0-482B3682A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5237670"/>
            <a:ext cx="9418320" cy="118326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cs-CZ"/>
          </a:p>
          <a:p>
            <a:pPr algn="ctr"/>
            <a:endParaRPr lang="cs-CZ">
              <a:cs typeface="Calibri"/>
            </a:endParaRPr>
          </a:p>
        </p:txBody>
      </p:sp>
      <p:pic>
        <p:nvPicPr>
          <p:cNvPr id="4" name="Obrázek 21">
            <a:extLst>
              <a:ext uri="{FF2B5EF4-FFF2-40B4-BE49-F238E27FC236}">
                <a16:creationId xmlns:a16="http://schemas.microsoft.com/office/drawing/2014/main" id="{74E9AD17-EB7A-8BEE-690D-173247A30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048" y="3149102"/>
            <a:ext cx="2990044" cy="2979312"/>
          </a:xfrm>
          <a:prstGeom prst="rect">
            <a:avLst/>
          </a:prstGeom>
        </p:spPr>
      </p:pic>
      <p:pic>
        <p:nvPicPr>
          <p:cNvPr id="1028" name="Picture 4" descr="Linux - PNG image with transparent background | Free Png Images">
            <a:extLst>
              <a:ext uri="{FF2B5EF4-FFF2-40B4-BE49-F238E27FC236}">
                <a16:creationId xmlns:a16="http://schemas.microsoft.com/office/drawing/2014/main" id="{6F15537D-3E8E-C4B2-F74E-AA5D5252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81" y="3378607"/>
            <a:ext cx="2364105" cy="30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201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Co to je Linux </a:t>
            </a:r>
            <a:r>
              <a:rPr lang="cs-CZ" sz="4000" b="1" err="1">
                <a:cs typeface="Calibri Light"/>
              </a:rPr>
              <a:t>mint</a:t>
            </a:r>
            <a:r>
              <a:rPr lang="cs-CZ" sz="4000" b="1">
                <a:cs typeface="Calibri Light"/>
              </a:rPr>
              <a:t>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Open source</a:t>
            </a:r>
            <a:endParaRPr lang="cs-CZ" sz="2400"/>
          </a:p>
          <a:p>
            <a:pPr>
              <a:buClr>
                <a:srgbClr val="FFFFFF"/>
              </a:buClr>
            </a:pPr>
            <a:r>
              <a:rPr lang="cs-CZ" sz="2400">
                <a:ea typeface="+mn-lt"/>
                <a:cs typeface="+mn-lt"/>
              </a:rPr>
              <a:t>User-friendly</a:t>
            </a:r>
            <a:r>
              <a:rPr lang="cs-CZ" sz="2400"/>
              <a:t> alternativa Ubuntu nebo Winowsu</a:t>
            </a:r>
            <a:endParaRPr lang="cs-CZ" sz="2400">
              <a:cs typeface="Calibri"/>
            </a:endParaRPr>
          </a:p>
          <a:p>
            <a:r>
              <a:rPr lang="cs-CZ" sz="2400"/>
              <a:t>Podpora starších zařízení</a:t>
            </a:r>
            <a:endParaRPr lang="cs-CZ" sz="2400">
              <a:cs typeface="Calibri"/>
            </a:endParaRPr>
          </a:p>
          <a:p>
            <a:r>
              <a:rPr lang="cs-CZ" sz="2400"/>
              <a:t>Podpora spousty programů</a:t>
            </a:r>
          </a:p>
          <a:p>
            <a:pPr marL="0" indent="0">
              <a:buNone/>
            </a:pPr>
            <a:endParaRPr lang="cs-CZ" sz="2400">
              <a:cs typeface="Calibri"/>
            </a:endParaRPr>
          </a:p>
          <a:p>
            <a:pPr>
              <a:buClr>
                <a:srgbClr val="FFFFFF"/>
              </a:buClr>
            </a:pPr>
            <a:endParaRPr lang="cs-CZ" sz="2400">
              <a:cs typeface="Calibri"/>
            </a:endParaRPr>
          </a:p>
          <a:p>
            <a:endParaRPr lang="cs-CZ" sz="2400">
              <a:cs typeface="Calibri"/>
            </a:endParaRPr>
          </a:p>
        </p:txBody>
      </p:sp>
      <p:pic>
        <p:nvPicPr>
          <p:cNvPr id="5124" name="Picture 4" descr="Linux Mint 21 release could be imminent as testing of ISOs begins - Neowin">
            <a:extLst>
              <a:ext uri="{FF2B5EF4-FFF2-40B4-BE49-F238E27FC236}">
                <a16:creationId xmlns:a16="http://schemas.microsoft.com/office/drawing/2014/main" id="{A80F449A-8E15-7010-470D-6EBA579C5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653" y="3209212"/>
            <a:ext cx="5698824" cy="320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86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Historie</a:t>
            </a:r>
            <a:endParaRPr lang="cs-CZ" sz="4000" b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199" y="1919393"/>
            <a:ext cx="8420911" cy="3649133"/>
          </a:xfrm>
        </p:spPr>
        <p:txBody>
          <a:bodyPr anchor="t">
            <a:normAutofit/>
          </a:bodyPr>
          <a:lstStyle/>
          <a:p>
            <a:r>
              <a:rPr lang="cs-CZ" sz="2400">
                <a:cs typeface="Calibri"/>
              </a:rPr>
              <a:t>27. Srpna</a:t>
            </a:r>
            <a:r>
              <a:rPr lang="en-US" sz="2400">
                <a:cs typeface="Calibri"/>
              </a:rPr>
              <a:t>, 2006</a:t>
            </a:r>
            <a:endParaRPr lang="cs-CZ" sz="2400"/>
          </a:p>
          <a:p>
            <a:pPr>
              <a:buClr>
                <a:srgbClr val="FFFFFF"/>
              </a:buClr>
            </a:pPr>
            <a:r>
              <a:rPr lang="cs-CZ" sz="2400" err="1"/>
              <a:t>Clément</a:t>
            </a:r>
            <a:r>
              <a:rPr lang="cs-CZ" sz="2400">
                <a:effectLst/>
              </a:rPr>
              <a:t> </a:t>
            </a:r>
            <a:r>
              <a:rPr lang="cs-CZ" sz="2400" err="1">
                <a:effectLst/>
              </a:rPr>
              <a:t>Lefèbvre</a:t>
            </a:r>
            <a:r>
              <a:rPr lang="cs-CZ" sz="2400">
                <a:effectLst/>
              </a:rPr>
              <a:t>, Vincent </a:t>
            </a:r>
            <a:r>
              <a:rPr lang="cs-CZ" sz="2400" err="1">
                <a:effectLst/>
              </a:rPr>
              <a:t>Vermeulen</a:t>
            </a:r>
            <a:r>
              <a:rPr lang="cs-CZ" sz="2400">
                <a:effectLst/>
              </a:rPr>
              <a:t>, Oscar799</a:t>
            </a:r>
            <a:r>
              <a:rPr lang="cs-CZ" sz="2400"/>
              <a:t> </a:t>
            </a:r>
            <a:r>
              <a:rPr lang="cs-CZ" sz="2400">
                <a:effectLst/>
              </a:rPr>
              <a:t> a komunita</a:t>
            </a:r>
            <a:endParaRPr lang="cs-CZ" sz="2400" b="0" i="0" u="none" strike="noStrike" baseline="30000">
              <a:effectLst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Vychází z </a:t>
            </a:r>
            <a:r>
              <a:rPr lang="cs-CZ" sz="2400" err="1">
                <a:cs typeface="Calibri"/>
              </a:rPr>
              <a:t>Ubuntu</a:t>
            </a:r>
            <a:endParaRPr lang="cs-CZ" sz="2400"/>
          </a:p>
          <a:p>
            <a:r>
              <a:rPr lang="cs-CZ" sz="2400"/>
              <a:t>Každá verze se nazvaná podle ženského jména končícího na ´´a´´</a:t>
            </a:r>
            <a:endParaRPr lang="cs-CZ" sz="2400"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sz="2400">
                <a:ea typeface="+mn-lt"/>
                <a:cs typeface="+mn-lt"/>
              </a:rPr>
              <a:t>1.0 </a:t>
            </a:r>
            <a:r>
              <a:rPr lang="cs-CZ" sz="240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-  "Ada"</a:t>
            </a:r>
            <a:endParaRPr lang="en-US" sz="2400">
              <a:cs typeface="Calibri"/>
            </a:endParaRPr>
          </a:p>
          <a:p>
            <a:r>
              <a:rPr lang="cs-CZ" sz="2400"/>
              <a:t>Aktuálně  </a:t>
            </a:r>
            <a:r>
              <a:rPr lang="cs-CZ" sz="2400">
                <a:ea typeface="+mn-lt"/>
                <a:cs typeface="+mn-lt"/>
              </a:rPr>
              <a:t>21</a:t>
            </a:r>
            <a:r>
              <a:rPr lang="cs-CZ" sz="2400"/>
              <a:t> -  "Vanessa"</a:t>
            </a:r>
            <a:endParaRPr lang="cs-CZ" sz="2400">
              <a:cs typeface="Calibri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62F5427-18F5-ECE4-1D30-B57F2B375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679" y="4165591"/>
            <a:ext cx="3390901" cy="254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B744B904-09EC-2FEF-5D5A-A8E9204F5147}"/>
              </a:ext>
            </a:extLst>
          </p:cNvPr>
          <p:cNvSpPr txBox="1"/>
          <p:nvPr/>
        </p:nvSpPr>
        <p:spPr>
          <a:xfrm>
            <a:off x="9884653" y="3740826"/>
            <a:ext cx="19552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/>
              <a:t>"Verze Ada"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9101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-592898"/>
            <a:ext cx="10131425" cy="1456267"/>
          </a:xfrm>
        </p:spPr>
        <p:txBody>
          <a:bodyPr anchor="b">
            <a:normAutofit/>
          </a:bodyPr>
          <a:lstStyle/>
          <a:p>
            <a:r>
              <a:rPr lang="cs-CZ" sz="4000" b="1"/>
              <a:t>verze</a:t>
            </a:r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854AB056-98EB-AFDE-7D85-8ADE9CAE3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67" y="863369"/>
            <a:ext cx="5819733" cy="5712795"/>
          </a:xfrm>
        </p:spPr>
        <p:txBody>
          <a:bodyPr anchor="t">
            <a:normAutofit lnSpcReduction="10000"/>
          </a:bodyPr>
          <a:lstStyle/>
          <a:p>
            <a:r>
              <a:rPr lang="cs-CZ" sz="2400" dirty="0">
                <a:cs typeface="Calibri"/>
              </a:rPr>
              <a:t>Zastaralá:                       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1.0 Ada 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2.0 Barbara 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2.1 Bea </a:t>
            </a:r>
            <a:endParaRPr lang="cs-CZ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endParaRPr lang="cs-CZ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Stabilní: 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2.2 Bianca 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3.0 </a:t>
            </a:r>
            <a:r>
              <a:rPr lang="cs-CZ" sz="2400" dirty="0" err="1">
                <a:cs typeface="Calibri"/>
              </a:rPr>
              <a:t>Cassandra</a:t>
            </a:r>
            <a:r>
              <a:rPr lang="cs-CZ" sz="2400" dirty="0">
                <a:cs typeface="Calibri"/>
              </a:rPr>
              <a:t> 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3.1 Celena </a:t>
            </a:r>
            <a:endParaRPr lang="en-US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cs typeface="Calibri"/>
              </a:rPr>
              <a:t>4.0 </a:t>
            </a:r>
            <a:r>
              <a:rPr lang="cs-CZ" sz="2400" dirty="0" err="1">
                <a:cs typeface="Calibri"/>
              </a:rPr>
              <a:t>Daryna</a:t>
            </a:r>
            <a:r>
              <a:rPr lang="cs-CZ" sz="2400" dirty="0">
                <a:cs typeface="Calibri"/>
              </a:rPr>
              <a:t> </a:t>
            </a:r>
            <a:endParaRPr lang="cs-CZ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Alfa (testovací ) : test </a:t>
            </a:r>
            <a:r>
              <a:rPr lang="cs-CZ" sz="2400" dirty="0" err="1">
                <a:ea typeface="+mn-lt"/>
                <a:cs typeface="+mn-lt"/>
              </a:rPr>
              <a:t>release</a:t>
            </a:r>
            <a:r>
              <a:rPr lang="cs-CZ" sz="2400" dirty="0">
                <a:ea typeface="+mn-lt"/>
                <a:cs typeface="+mn-lt"/>
              </a:rPr>
              <a:t> </a:t>
            </a:r>
            <a:r>
              <a:rPr lang="cs-CZ" sz="2400" dirty="0" err="1">
                <a:ea typeface="+mn-lt"/>
                <a:cs typeface="+mn-lt"/>
              </a:rPr>
              <a:t>Debian</a:t>
            </a:r>
            <a:r>
              <a:rPr lang="cs-CZ" sz="2400" dirty="0">
                <a:ea typeface="+mn-lt"/>
                <a:cs typeface="+mn-lt"/>
              </a:rPr>
              <a:t> ALPHA 023</a:t>
            </a:r>
            <a:endParaRPr lang="cs-CZ" dirty="0"/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EF442407-A35D-C09E-E9D5-1E6073086431}"/>
              </a:ext>
            </a:extLst>
          </p:cNvPr>
          <p:cNvSpPr txBox="1">
            <a:spLocks/>
          </p:cNvSpPr>
          <p:nvPr/>
        </p:nvSpPr>
        <p:spPr>
          <a:xfrm>
            <a:off x="6250488" y="863369"/>
            <a:ext cx="5461348" cy="57127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dirty="0">
                <a:ea typeface="+mn-lt"/>
                <a:cs typeface="+mn-lt"/>
              </a:rPr>
              <a:t>Beta : </a:t>
            </a: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4.0 </a:t>
            </a:r>
            <a:r>
              <a:rPr lang="cs-CZ" sz="2400" dirty="0" err="1">
                <a:ea typeface="+mn-lt"/>
                <a:cs typeface="+mn-lt"/>
              </a:rPr>
              <a:t>Daryna</a:t>
            </a:r>
            <a:r>
              <a:rPr lang="cs-CZ" sz="2400" dirty="0">
                <a:ea typeface="+mn-lt"/>
                <a:cs typeface="+mn-lt"/>
              </a:rPr>
              <a:t> BETA 00&amp; </a:t>
            </a: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4.0 </a:t>
            </a:r>
            <a:r>
              <a:rPr lang="cs-CZ" sz="2400" dirty="0" err="1">
                <a:ea typeface="+mn-lt"/>
                <a:cs typeface="+mn-lt"/>
              </a:rPr>
              <a:t>Daryna</a:t>
            </a:r>
            <a:endParaRPr lang="cs-CZ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 B 4.0 </a:t>
            </a:r>
            <a:r>
              <a:rPr lang="cs-CZ" sz="2400" dirty="0" err="1">
                <a:ea typeface="+mn-lt"/>
                <a:cs typeface="+mn-lt"/>
              </a:rPr>
              <a:t>Daryna</a:t>
            </a:r>
            <a:r>
              <a:rPr lang="cs-CZ" sz="2400" dirty="0">
                <a:ea typeface="+mn-lt"/>
                <a:cs typeface="+mn-lt"/>
              </a:rPr>
              <a:t> BETA 044</a:t>
            </a:r>
          </a:p>
          <a:p>
            <a:pPr marL="0" indent="0">
              <a:buClr>
                <a:srgbClr val="FFFFFF"/>
              </a:buClr>
              <a:buNone/>
            </a:pPr>
            <a:endParaRPr lang="cs-CZ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>
                <a:ea typeface="+mn-lt"/>
                <a:cs typeface="+mn-lt"/>
              </a:rPr>
              <a:t> Další:</a:t>
            </a:r>
            <a:endParaRPr lang="cs-CZ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 5 </a:t>
            </a:r>
            <a:r>
              <a:rPr lang="cs-CZ" sz="2400" dirty="0" err="1">
                <a:ea typeface="+mn-lt"/>
                <a:cs typeface="+mn-lt"/>
              </a:rPr>
              <a:t>Elyssa</a:t>
            </a:r>
            <a:endParaRPr lang="cs-CZ" sz="2400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 6 Felicia</a:t>
            </a: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 7 Gloria </a:t>
            </a: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8 Helena </a:t>
            </a:r>
          </a:p>
          <a:p>
            <a:pPr>
              <a:buClr>
                <a:srgbClr val="FFFFFF"/>
              </a:buClr>
            </a:pPr>
            <a:r>
              <a:rPr lang="cs-CZ" sz="2400" dirty="0">
                <a:ea typeface="+mn-lt"/>
                <a:cs typeface="+mn-lt"/>
              </a:rPr>
              <a:t>9 </a:t>
            </a:r>
            <a:r>
              <a:rPr lang="cs-CZ" sz="2400" dirty="0" err="1">
                <a:ea typeface="+mn-lt"/>
                <a:cs typeface="+mn-lt"/>
              </a:rPr>
              <a:t>Isadora</a:t>
            </a:r>
            <a:endParaRPr lang="cs-CZ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9916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ea typeface="+mj-lt"/>
                <a:cs typeface="+mj-lt"/>
              </a:rPr>
              <a:t>Vizualní stránka, UI 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cs-CZ" sz="2400"/>
              <a:t>Jednoduchý, přehledný</a:t>
            </a:r>
          </a:p>
          <a:p>
            <a:r>
              <a:rPr lang="cs-CZ" sz="2400"/>
              <a:t>Lehká adaptace</a:t>
            </a:r>
          </a:p>
          <a:p>
            <a:r>
              <a:rPr lang="cs-CZ" sz="2400"/>
              <a:t>Využívá KISS (keep it super simple)</a:t>
            </a:r>
          </a:p>
          <a:p>
            <a:r>
              <a:rPr lang="cs-CZ" sz="2400"/>
              <a:t>Základní verze obsahuje všechny funkce</a:t>
            </a:r>
          </a:p>
          <a:p>
            <a:r>
              <a:rPr lang="cs-CZ" sz="2400"/>
              <a:t>Podpora verze 21 do roku 2025</a:t>
            </a:r>
          </a:p>
        </p:txBody>
      </p:sp>
      <p:pic>
        <p:nvPicPr>
          <p:cNvPr id="4098" name="Picture 2" descr="Linux Mint 19.1 „Tessa“ se představuje - Linux E X P R E S">
            <a:extLst>
              <a:ext uri="{FF2B5EF4-FFF2-40B4-BE49-F238E27FC236}">
                <a16:creationId xmlns:a16="http://schemas.microsoft.com/office/drawing/2014/main" id="{6969D00F-0797-68A1-ADF7-0F307DA00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648" y="3719841"/>
            <a:ext cx="4202348" cy="262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Linux Mint 21 Beta is Now Available to Download - OMG! Ubuntu!">
            <a:extLst>
              <a:ext uri="{FF2B5EF4-FFF2-40B4-BE49-F238E27FC236}">
                <a16:creationId xmlns:a16="http://schemas.microsoft.com/office/drawing/2014/main" id="{CA0B9C16-DD0F-9AFF-7F0F-C165DC81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648" y="632315"/>
            <a:ext cx="4202348" cy="236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5332B021-DD6B-5644-7F31-6418C7603318}"/>
              </a:ext>
            </a:extLst>
          </p:cNvPr>
          <p:cNvSpPr txBox="1"/>
          <p:nvPr/>
        </p:nvSpPr>
        <p:spPr>
          <a:xfrm>
            <a:off x="9475822" y="3197641"/>
            <a:ext cx="198444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/>
              <a:t>Verze "Vanessa"</a:t>
            </a:r>
          </a:p>
        </p:txBody>
      </p:sp>
    </p:spTree>
    <p:extLst>
      <p:ext uri="{BB962C8B-B14F-4D97-AF65-F5344CB8AC3E}">
        <p14:creationId xmlns:p14="http://schemas.microsoft.com/office/powerpoint/2010/main" val="2237100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/>
              <a:t>Hardware požadavky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en-US" sz="2400"/>
              <a:t> 2GB RAM </a:t>
            </a:r>
            <a:endParaRPr lang="cs-CZ" sz="2400"/>
          </a:p>
          <a:p>
            <a:r>
              <a:rPr lang="en-US" sz="2400"/>
              <a:t>20GB </a:t>
            </a:r>
            <a:r>
              <a:rPr lang="cs-CZ" sz="2400"/>
              <a:t>místa na disku</a:t>
            </a:r>
          </a:p>
          <a:p>
            <a:r>
              <a:rPr lang="en-US" sz="2400"/>
              <a:t>1024×768 r</a:t>
            </a:r>
            <a:r>
              <a:rPr lang="cs-CZ" sz="2400"/>
              <a:t>ozlišení</a:t>
            </a:r>
          </a:p>
        </p:txBody>
      </p:sp>
      <p:pic>
        <p:nvPicPr>
          <p:cNvPr id="1032" name="Picture 8" descr="iMemory – An Intelligent Memory">
            <a:extLst>
              <a:ext uri="{FF2B5EF4-FFF2-40B4-BE49-F238E27FC236}">
                <a16:creationId xmlns:a16="http://schemas.microsoft.com/office/drawing/2014/main" id="{4E214953-34FE-DDBD-FA0E-D88936789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73216">
            <a:off x="5613288" y="434050"/>
            <a:ext cx="4390457" cy="439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ard Disk Drive PNG Transparent Images - PNG All">
            <a:extLst>
              <a:ext uri="{FF2B5EF4-FFF2-40B4-BE49-F238E27FC236}">
                <a16:creationId xmlns:a16="http://schemas.microsoft.com/office/drawing/2014/main" id="{F0FF1406-DD0A-0442-3ED9-33C66FC70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830" y="3864668"/>
            <a:ext cx="3702510" cy="238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FCF81CC-1D3C-80E2-6FFD-979DAE11E1AD}"/>
              </a:ext>
            </a:extLst>
          </p:cNvPr>
          <p:cNvSpPr txBox="1"/>
          <p:nvPr/>
        </p:nvSpPr>
        <p:spPr>
          <a:xfrm>
            <a:off x="9095362" y="1776991"/>
            <a:ext cx="174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RAM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F135E44F-EBCB-232A-BB2E-472679C61F1D}"/>
              </a:ext>
            </a:extLst>
          </p:cNvPr>
          <p:cNvSpPr txBox="1"/>
          <p:nvPr/>
        </p:nvSpPr>
        <p:spPr>
          <a:xfrm>
            <a:off x="8414426" y="3864668"/>
            <a:ext cx="1429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Disk</a:t>
            </a:r>
          </a:p>
        </p:txBody>
      </p:sp>
    </p:spTree>
    <p:extLst>
      <p:ext uri="{BB962C8B-B14F-4D97-AF65-F5344CB8AC3E}">
        <p14:creationId xmlns:p14="http://schemas.microsoft.com/office/powerpoint/2010/main" val="206135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Souborové systémy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</a:rPr>
              <a:t>/</a:t>
            </a:r>
            <a:r>
              <a:rPr lang="cs-CZ" sz="2400" b="0" i="0">
                <a:effectLst/>
              </a:rPr>
              <a:t>  –  Kořenový adresář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</a:rPr>
              <a:t>/ Bin</a:t>
            </a:r>
            <a:r>
              <a:rPr lang="cs-CZ" sz="2400" b="0" i="0">
                <a:effectLst/>
              </a:rPr>
              <a:t>  –  Spustitelné programy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</a:rPr>
              <a:t>/ Boot</a:t>
            </a:r>
            <a:r>
              <a:rPr lang="cs-CZ" sz="2400" b="0" i="0">
                <a:effectLst/>
              </a:rPr>
              <a:t>  – Linuxové jádro (</a:t>
            </a:r>
            <a:r>
              <a:rPr lang="cs-CZ" sz="2400" b="0" i="0" u="none" strike="noStrike">
                <a:effectLst/>
                <a:hlinkClick r:id="rId3" tooltip="Upgrade jádra na 3.6.8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kernel</a:t>
            </a:r>
            <a:r>
              <a:rPr lang="cs-CZ" sz="2400" b="0" i="0" u="none" strike="noStrike">
                <a:effectLst/>
              </a:rPr>
              <a:t>)</a:t>
            </a:r>
            <a:r>
              <a:rPr lang="cs-CZ" sz="2400" b="0" i="0">
                <a:effectLst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</a:rPr>
              <a:t>/ Dev </a:t>
            </a:r>
            <a:r>
              <a:rPr lang="cs-CZ" sz="2400" b="0" i="0">
                <a:effectLst/>
              </a:rPr>
              <a:t> – Všechny soubory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</a:rPr>
              <a:t>/ Dev / null </a:t>
            </a:r>
            <a:r>
              <a:rPr lang="cs-CZ" sz="2400" b="0" i="0">
                <a:effectLst/>
              </a:rPr>
              <a:t> – Likvidace všech dat na něj zapsaná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</a:rPr>
              <a:t>/ Usr  </a:t>
            </a:r>
            <a:r>
              <a:rPr lang="cs-CZ" sz="2400" b="0" i="0">
                <a:effectLst/>
              </a:rPr>
              <a:t>– Sub-adresáře pro mnoho programů (X </a:t>
            </a:r>
            <a:r>
              <a:rPr lang="cs-CZ" sz="2400"/>
              <a:t>W</a:t>
            </a:r>
            <a:r>
              <a:rPr lang="cs-CZ" sz="2400" b="0" i="0">
                <a:effectLst/>
              </a:rPr>
              <a:t>indow system)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400" b="1" i="0">
                <a:effectLst/>
              </a:rPr>
              <a:t>/ Var </a:t>
            </a:r>
            <a:r>
              <a:rPr lang="cs-CZ" sz="2400" b="0" i="0">
                <a:effectLst/>
              </a:rPr>
              <a:t> – Různé systémové soubory (protokol, poštovní adresáře)</a:t>
            </a:r>
          </a:p>
        </p:txBody>
      </p:sp>
      <p:pic>
        <p:nvPicPr>
          <p:cNvPr id="2050" name="Picture 2" descr="What is /dev/null and How to Use It">
            <a:extLst>
              <a:ext uri="{FF2B5EF4-FFF2-40B4-BE49-F238E27FC236}">
                <a16:creationId xmlns:a16="http://schemas.microsoft.com/office/drawing/2014/main" id="{9F281E5E-6E00-EAE5-D752-3B2AE388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838" y="578762"/>
            <a:ext cx="5047003" cy="279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70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Drivery</a:t>
            </a:r>
            <a:endParaRPr lang="cs-CZ" sz="4000" b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cs-CZ" sz="2400">
                <a:cs typeface="Calibri"/>
              </a:rPr>
              <a:t>Nejsou defaultně nainstalovány</a:t>
            </a:r>
          </a:p>
          <a:p>
            <a:r>
              <a:rPr lang="cs-CZ" sz="2400" b="0" i="0">
                <a:effectLst/>
              </a:rPr>
              <a:t>Instalace: Launch Menu ‣ Administration ‣ Driver Manager</a:t>
            </a:r>
          </a:p>
          <a:p>
            <a:endParaRPr lang="cs-CZ" sz="2400">
              <a:cs typeface="Calibri"/>
            </a:endParaRPr>
          </a:p>
          <a:p>
            <a:pPr>
              <a:buClr>
                <a:srgbClr val="FFFFFF"/>
              </a:buClr>
            </a:pPr>
            <a:endParaRPr lang="cs-CZ" sz="2400">
              <a:cs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40B4AF3-9578-5A9B-81EC-25888AC1C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355" y="3279019"/>
            <a:ext cx="3926529" cy="309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BE39724-3CBF-B6F6-1571-842FDED6F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224" y="3279019"/>
            <a:ext cx="3926529" cy="309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348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Aktualizace</a:t>
            </a:r>
            <a:endParaRPr lang="cs-CZ" sz="4000" b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cs-CZ" sz="2400">
                <a:cs typeface="Calibri"/>
              </a:rPr>
              <a:t>Správce aktualizací</a:t>
            </a: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Přehled o všech dostupných aktualizacích</a:t>
            </a: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Stupně nebezpečí instalace aplikací 1-5</a:t>
            </a:r>
          </a:p>
        </p:txBody>
      </p:sp>
      <p:pic>
        <p:nvPicPr>
          <p:cNvPr id="6" name="Obrázek 6" descr="Obsah obrázku text&#10;&#10;Popis se vygeneroval automaticky.">
            <a:extLst>
              <a:ext uri="{FF2B5EF4-FFF2-40B4-BE49-F238E27FC236}">
                <a16:creationId xmlns:a16="http://schemas.microsoft.com/office/drawing/2014/main" id="{964704E1-08A6-89C9-B935-562B2A5C0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071" y="1420319"/>
            <a:ext cx="5154119" cy="515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21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ea typeface="+mj-lt"/>
                <a:cs typeface="+mj-lt"/>
              </a:rPr>
              <a:t>Bezpečnost 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Skvělé zabezpečení </a:t>
            </a:r>
            <a:endParaRPr lang="en-US" sz="240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>
                <a:ea typeface="+mn-lt"/>
                <a:cs typeface="+mn-lt"/>
              </a:rPr>
              <a:t>Není potřeba antivirus</a:t>
            </a:r>
          </a:p>
          <a:p>
            <a:pPr>
              <a:buClr>
                <a:srgbClr val="FFFFFF"/>
              </a:buClr>
            </a:pPr>
            <a:r>
              <a:rPr lang="cs-CZ" sz="2400">
                <a:ea typeface="+mn-lt"/>
                <a:cs typeface="+mn-lt"/>
              </a:rPr>
              <a:t>Menší uživatelská oprávnění</a:t>
            </a:r>
            <a:endParaRPr lang="en-US" sz="240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 err="1">
                <a:ea typeface="+mn-lt"/>
                <a:cs typeface="+mn-lt"/>
              </a:rPr>
              <a:t>Iptables</a:t>
            </a:r>
          </a:p>
          <a:p>
            <a:pPr>
              <a:buClr>
                <a:srgbClr val="FFFFFF"/>
              </a:buClr>
            </a:pPr>
            <a:r>
              <a:rPr lang="cs-CZ" sz="2400">
                <a:ea typeface="+mn-lt"/>
                <a:cs typeface="+mn-lt"/>
              </a:rPr>
              <a:t>Znalí uživatelé</a:t>
            </a: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Méně uživatelů</a:t>
            </a:r>
          </a:p>
        </p:txBody>
      </p:sp>
      <p:pic>
        <p:nvPicPr>
          <p:cNvPr id="5" name="Obrázek 5" descr="Obsah obrázku text, ovládací panel&#10;&#10;Popis se vygeneroval automaticky.">
            <a:extLst>
              <a:ext uri="{FF2B5EF4-FFF2-40B4-BE49-F238E27FC236}">
                <a16:creationId xmlns:a16="http://schemas.microsoft.com/office/drawing/2014/main" id="{E11D858F-14BC-810B-75EF-4FC7F00CF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750" y="638496"/>
            <a:ext cx="4458510" cy="2670144"/>
          </a:xfrm>
          <a:prstGeom prst="rect">
            <a:avLst/>
          </a:prstGeom>
        </p:spPr>
      </p:pic>
      <p:pic>
        <p:nvPicPr>
          <p:cNvPr id="6" name="Obrázek 6">
            <a:extLst>
              <a:ext uri="{FF2B5EF4-FFF2-40B4-BE49-F238E27FC236}">
                <a16:creationId xmlns:a16="http://schemas.microsoft.com/office/drawing/2014/main" id="{341C09EC-7D86-CE2A-5045-AD4904D88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903" y="3923722"/>
            <a:ext cx="4376212" cy="246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3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Odlišnosti </a:t>
            </a:r>
            <a:endParaRPr lang="cs-CZ" sz="4000" b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r>
              <a:rPr lang="cs-CZ" sz="2400"/>
              <a:t>Zdarma</a:t>
            </a:r>
          </a:p>
          <a:p>
            <a:r>
              <a:rPr lang="cs-CZ" sz="2400"/>
              <a:t>Podíl komunity na vývoji</a:t>
            </a:r>
          </a:p>
          <a:p>
            <a:r>
              <a:rPr lang="cs-CZ" sz="2400"/>
              <a:t>Přívětivost pro začátečníky</a:t>
            </a:r>
          </a:p>
          <a:p>
            <a:r>
              <a:rPr lang="cs-CZ" sz="2400"/>
              <a:t>Nové verze až 100</a:t>
            </a:r>
            <a:r>
              <a:rPr lang="en-US" sz="2400"/>
              <a:t>%</a:t>
            </a:r>
            <a:r>
              <a:rPr lang="cs-CZ" sz="2400"/>
              <a:t> připravené</a:t>
            </a:r>
          </a:p>
        </p:txBody>
      </p:sp>
      <p:pic>
        <p:nvPicPr>
          <p:cNvPr id="4" name="Obrázek 4">
            <a:extLst>
              <a:ext uri="{FF2B5EF4-FFF2-40B4-BE49-F238E27FC236}">
                <a16:creationId xmlns:a16="http://schemas.microsoft.com/office/drawing/2014/main" id="{03B48688-648F-ACEF-FD79-C79E4459B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543" y="3853516"/>
            <a:ext cx="5733655" cy="2013885"/>
          </a:xfrm>
          <a:prstGeom prst="rect">
            <a:avLst/>
          </a:prstGeom>
        </p:spPr>
      </p:pic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7335CEB8-4F6E-7AC2-77AF-553FC3A69CE8}"/>
              </a:ext>
            </a:extLst>
          </p:cNvPr>
          <p:cNvSpPr txBox="1">
            <a:spLocks/>
          </p:cNvSpPr>
          <p:nvPr/>
        </p:nvSpPr>
        <p:spPr>
          <a:xfrm>
            <a:off x="5681136" y="2142067"/>
            <a:ext cx="4995334" cy="36491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/>
              <a:t>Os nemá 64 bitovou architekturu</a:t>
            </a:r>
          </a:p>
          <a:p>
            <a:r>
              <a:rPr lang="cs-CZ" sz="2400"/>
              <a:t> nemá správce zařízení</a:t>
            </a:r>
          </a:p>
          <a:p>
            <a:r>
              <a:rPr lang="cs-CZ" sz="2400"/>
              <a:t>Výkonově náročný</a:t>
            </a:r>
          </a:p>
        </p:txBody>
      </p:sp>
    </p:spTree>
    <p:extLst>
      <p:ext uri="{BB962C8B-B14F-4D97-AF65-F5344CB8AC3E}">
        <p14:creationId xmlns:p14="http://schemas.microsoft.com/office/powerpoint/2010/main" val="2912091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Popularita</a:t>
            </a:r>
            <a:endParaRPr lang="cs-CZ" sz="4000" b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cs-CZ" sz="2400">
                <a:cs typeface="Calibri"/>
              </a:rPr>
              <a:t>Jeden z nejpopulárnějších Linuxů</a:t>
            </a: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Několik milionů uživatelů</a:t>
            </a:r>
          </a:p>
          <a:p>
            <a:pPr>
              <a:buClr>
                <a:srgbClr val="FFFFFF"/>
              </a:buClr>
            </a:pPr>
            <a:endParaRPr lang="cs-CZ" sz="2400">
              <a:cs typeface="Calibri"/>
            </a:endParaRPr>
          </a:p>
        </p:txBody>
      </p:sp>
      <p:pic>
        <p:nvPicPr>
          <p:cNvPr id="4" name="Obrázek 4" descr="Obsah obrázku mapa&#10;&#10;Popis se vygeneroval automaticky.">
            <a:extLst>
              <a:ext uri="{FF2B5EF4-FFF2-40B4-BE49-F238E27FC236}">
                <a16:creationId xmlns:a16="http://schemas.microsoft.com/office/drawing/2014/main" id="{B719B256-BEA0-A6EA-7930-2562EAD0B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087" y="2412827"/>
            <a:ext cx="4820433" cy="3649661"/>
          </a:xfrm>
          <a:prstGeom prst="rect">
            <a:avLst/>
          </a:prstGeom>
        </p:spPr>
      </p:pic>
      <p:pic>
        <p:nvPicPr>
          <p:cNvPr id="6" name="Obrázek 6">
            <a:extLst>
              <a:ext uri="{FF2B5EF4-FFF2-40B4-BE49-F238E27FC236}">
                <a16:creationId xmlns:a16="http://schemas.microsoft.com/office/drawing/2014/main" id="{36BDB136-171E-5FFD-67B3-68976ADCD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484" y="3722467"/>
            <a:ext cx="4943340" cy="25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9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09600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Diskuze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919393"/>
            <a:ext cx="7808140" cy="3649133"/>
          </a:xfrm>
        </p:spPr>
        <p:txBody>
          <a:bodyPr anchor="t">
            <a:normAutofit/>
          </a:bodyPr>
          <a:lstStyle/>
          <a:p>
            <a:r>
              <a:rPr lang="cs-CZ" sz="2800">
                <a:cs typeface="Calibri"/>
              </a:rPr>
              <a:t>Setkali jste se někdy Linuxem </a:t>
            </a:r>
            <a:r>
              <a:rPr lang="cs-CZ" sz="2800" err="1">
                <a:cs typeface="Calibri"/>
              </a:rPr>
              <a:t>Mint</a:t>
            </a:r>
            <a:r>
              <a:rPr lang="cs-CZ" sz="2800">
                <a:cs typeface="Calibri"/>
              </a:rPr>
              <a:t>?</a:t>
            </a:r>
          </a:p>
          <a:p>
            <a:pPr>
              <a:buClr>
                <a:srgbClr val="FFFFFF"/>
              </a:buClr>
            </a:pPr>
            <a:r>
              <a:rPr lang="cs-CZ" sz="2800">
                <a:cs typeface="Calibri"/>
              </a:rPr>
              <a:t>Myslíte si, že je Linux </a:t>
            </a:r>
            <a:r>
              <a:rPr lang="cs-CZ" sz="2800" err="1">
                <a:cs typeface="Calibri"/>
              </a:rPr>
              <a:t>Mint</a:t>
            </a:r>
            <a:r>
              <a:rPr lang="cs-CZ" sz="2800">
                <a:cs typeface="Calibri"/>
              </a:rPr>
              <a:t> lepší než </a:t>
            </a:r>
            <a:r>
              <a:rPr lang="cs-CZ" sz="2800" err="1">
                <a:cs typeface="Calibri"/>
              </a:rPr>
              <a:t>Ubuntu</a:t>
            </a:r>
            <a:r>
              <a:rPr lang="cs-CZ" sz="2800">
                <a:cs typeface="Calibri"/>
              </a:rPr>
              <a:t>?</a:t>
            </a:r>
          </a:p>
          <a:p>
            <a:pPr>
              <a:buClr>
                <a:srgbClr val="FFFFFF"/>
              </a:buClr>
            </a:pPr>
            <a:r>
              <a:rPr lang="cs-CZ" sz="2800">
                <a:cs typeface="Calibri"/>
              </a:rPr>
              <a:t>Myslíte si, že Linux </a:t>
            </a:r>
            <a:r>
              <a:rPr lang="cs-CZ" sz="2800" err="1">
                <a:cs typeface="Calibri"/>
              </a:rPr>
              <a:t>Mint</a:t>
            </a:r>
            <a:r>
              <a:rPr lang="cs-CZ" sz="2800">
                <a:cs typeface="Calibri"/>
              </a:rPr>
              <a:t> je lepší než Windows?</a:t>
            </a:r>
          </a:p>
          <a:p>
            <a:pPr>
              <a:buClr>
                <a:srgbClr val="FFFFFF"/>
              </a:buClr>
            </a:pPr>
            <a:r>
              <a:rPr lang="cs-CZ" sz="2800">
                <a:cs typeface="Calibri"/>
              </a:rPr>
              <a:t>Přešli by jste na něj?</a:t>
            </a:r>
          </a:p>
          <a:p>
            <a:pPr>
              <a:buClr>
                <a:srgbClr val="FFFFFF"/>
              </a:buClr>
            </a:pPr>
            <a:endParaRPr lang="cs-CZ" sz="2800">
              <a:cs typeface="Calibri"/>
            </a:endParaRPr>
          </a:p>
        </p:txBody>
      </p:sp>
      <p:pic>
        <p:nvPicPr>
          <p:cNvPr id="5" name="Obrázek 5">
            <a:extLst>
              <a:ext uri="{FF2B5EF4-FFF2-40B4-BE49-F238E27FC236}">
                <a16:creationId xmlns:a16="http://schemas.microsoft.com/office/drawing/2014/main" id="{E539CFFD-E2B0-21E0-54B0-A979A3B15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165" y="3612933"/>
            <a:ext cx="3466405" cy="294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11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4207" y="2510425"/>
            <a:ext cx="7808140" cy="1099457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Děkujeme za pozornost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55D2DEE-1B7A-491C-2039-F37CC5DE1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373" y="2452492"/>
            <a:ext cx="2919608" cy="291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hite circle Illustrations in PNG, SVG, GIF">
            <a:extLst>
              <a:ext uri="{FF2B5EF4-FFF2-40B4-BE49-F238E27FC236}">
                <a16:creationId xmlns:a16="http://schemas.microsoft.com/office/drawing/2014/main" id="{85FE07BA-5961-685B-14A5-D0F5DFD33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106" y="2872536"/>
            <a:ext cx="856143" cy="85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wnload Tux Kernel Racer Penguins Linux Penguin HQ PNG Image | FreePNGImg">
            <a:extLst>
              <a:ext uri="{FF2B5EF4-FFF2-40B4-BE49-F238E27FC236}">
                <a16:creationId xmlns:a16="http://schemas.microsoft.com/office/drawing/2014/main" id="{8202781A-C981-F2B4-C1F8-403FE2BC0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30" y="2510425"/>
            <a:ext cx="2725294" cy="330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010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BA8123-B72E-F331-EECD-83B5C62B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43" y="94034"/>
            <a:ext cx="7808140" cy="788172"/>
          </a:xfrm>
        </p:spPr>
        <p:txBody>
          <a:bodyPr anchor="b">
            <a:normAutofit/>
          </a:bodyPr>
          <a:lstStyle/>
          <a:p>
            <a:r>
              <a:rPr lang="cs-CZ" sz="4000" b="1">
                <a:cs typeface="Calibri Light"/>
              </a:rPr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35F9D3-BF40-616B-EE78-CC539FB0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116" y="803954"/>
            <a:ext cx="11215990" cy="5960011"/>
          </a:xfrm>
        </p:spPr>
        <p:txBody>
          <a:bodyPr anchor="t">
            <a:normAutofit/>
          </a:bodyPr>
          <a:lstStyle/>
          <a:p>
            <a:r>
              <a:rPr lang="fr-FR" sz="2400" b="0" i="1" err="1">
                <a:effectLst/>
                <a:ea typeface="Open Sans"/>
                <a:cs typeface="Open Sans"/>
              </a:rPr>
              <a:t>Linuxmint</a:t>
            </a:r>
            <a:r>
              <a:rPr lang="fr-FR" sz="2400" b="0" i="0">
                <a:effectLst/>
                <a:ea typeface="Open Sans"/>
                <a:cs typeface="Open Sans"/>
              </a:rPr>
              <a:t> [online]. [</a:t>
            </a:r>
            <a:r>
              <a:rPr lang="fr-FR" sz="2400" b="0" i="0" err="1">
                <a:effectLst/>
                <a:ea typeface="Open Sans"/>
                <a:cs typeface="Open Sans"/>
              </a:rPr>
              <a:t>cit</a:t>
            </a:r>
            <a:r>
              <a:rPr lang="fr-FR" sz="2400" b="0" i="0">
                <a:effectLst/>
                <a:ea typeface="Open Sans"/>
                <a:cs typeface="Open Sans"/>
              </a:rPr>
              <a:t>. 2022-11-16]. </a:t>
            </a:r>
            <a:r>
              <a:rPr lang="fr-FR" sz="2400" b="0" i="0" err="1">
                <a:effectLst/>
                <a:ea typeface="Open Sans"/>
                <a:cs typeface="Open Sans"/>
              </a:rPr>
              <a:t>Dostupné</a:t>
            </a:r>
            <a:r>
              <a:rPr lang="fr-FR" sz="2400" b="0" i="0">
                <a:effectLst/>
                <a:ea typeface="Open Sans"/>
                <a:cs typeface="Open Sans"/>
              </a:rPr>
              <a:t> z: </a:t>
            </a:r>
            <a:r>
              <a:rPr lang="fr-FR" sz="2400" b="0" i="0">
                <a:effectLst/>
                <a:ea typeface="Open Sans"/>
                <a:cs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https://linuxmint.com/faq.php</a:t>
            </a:r>
            <a:endParaRPr lang="cs-CZ" sz="2400" b="0" i="0">
              <a:effectLst/>
              <a:ea typeface="Open Sans"/>
              <a:cs typeface="Open Sans"/>
            </a:endParaRPr>
          </a:p>
          <a:p>
            <a:pPr>
              <a:buClr>
                <a:srgbClr val="FFFFFF"/>
              </a:buClr>
            </a:pPr>
            <a:r>
              <a:rPr lang="fr-FR" sz="2400"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https://linuxmint.com/documentation/user-guide/MATE/czech_10.0.pdf</a:t>
            </a:r>
            <a:endParaRPr lang="cs-CZ" sz="240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it-IT" sz="2400" b="0" i="0">
                <a:effectLst/>
              </a:rPr>
              <a:t>[online]. [cit. 2022-11-16]. </a:t>
            </a:r>
            <a:r>
              <a:rPr lang="it-IT" sz="2400" b="0" i="0" err="1">
                <a:effectLst/>
              </a:rPr>
              <a:t>Dostupné</a:t>
            </a:r>
            <a:r>
              <a:rPr lang="it-IT" sz="2400" b="0" i="0">
                <a:effectLst/>
              </a:rPr>
              <a:t> z: </a:t>
            </a:r>
            <a:r>
              <a:rPr lang="it-IT" sz="2400" b="0" i="0"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https://linuxmint-installation-guide.readthedocs.io/en/latest/drivers.html</a:t>
            </a:r>
            <a:endParaRPr lang="cs-CZ" sz="2400" b="0" i="0">
              <a:effectLst/>
            </a:endParaRPr>
          </a:p>
          <a:p>
            <a:pPr>
              <a:buClr>
                <a:srgbClr val="FFFFFF"/>
              </a:buClr>
            </a:pPr>
            <a:r>
              <a:rPr lang="fr-FR" sz="2400" b="0" i="1" err="1">
                <a:effectLst/>
              </a:rPr>
              <a:t>Linuxmint</a:t>
            </a:r>
            <a:r>
              <a:rPr lang="fr-FR" sz="2400" b="0" i="0">
                <a:effectLst/>
              </a:rPr>
              <a:t> [online]. [</a:t>
            </a:r>
            <a:r>
              <a:rPr lang="fr-FR" sz="2400" b="0" i="0" err="1">
                <a:effectLst/>
              </a:rPr>
              <a:t>cit</a:t>
            </a:r>
            <a:r>
              <a:rPr lang="fr-FR" sz="2400" b="0" i="0">
                <a:effectLst/>
              </a:rPr>
              <a:t>. 2022-11-16]. </a:t>
            </a:r>
            <a:r>
              <a:rPr lang="fr-FR" sz="2400" b="0" i="0" err="1">
                <a:effectLst/>
              </a:rPr>
              <a:t>Dostupné</a:t>
            </a:r>
            <a:r>
              <a:rPr lang="fr-FR" sz="2400" b="0" i="0">
                <a:effectLst/>
              </a:rPr>
              <a:t> z: </a:t>
            </a:r>
            <a:r>
              <a:rPr lang="fr-FR" sz="2400" b="0" i="0"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https://www.linux-mint-czech.cz/2012/12/struktura-souboroveho-systemu-v-linuxmintu/</a:t>
            </a:r>
            <a:endParaRPr lang="cs-CZ" sz="2400" b="0" i="0">
              <a:effectLst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fr-FR" sz="2400" err="1">
                <a:ea typeface="+mn-lt"/>
                <a:cs typeface="+mn-lt"/>
              </a:rPr>
              <a:t>Proč</a:t>
            </a:r>
            <a:r>
              <a:rPr lang="fr-FR" sz="2400">
                <a:ea typeface="+mn-lt"/>
                <a:cs typeface="+mn-lt"/>
              </a:rPr>
              <a:t> je Linux </a:t>
            </a:r>
            <a:r>
              <a:rPr lang="fr-FR" sz="2400" err="1">
                <a:ea typeface="+mn-lt"/>
                <a:cs typeface="+mn-lt"/>
              </a:rPr>
              <a:t>bezpečnější</a:t>
            </a:r>
            <a:r>
              <a:rPr lang="fr-FR" sz="2400">
                <a:ea typeface="+mn-lt"/>
                <a:cs typeface="+mn-lt"/>
              </a:rPr>
              <a:t> </a:t>
            </a:r>
            <a:r>
              <a:rPr lang="fr-FR" sz="2400" err="1">
                <a:ea typeface="+mn-lt"/>
                <a:cs typeface="+mn-lt"/>
              </a:rPr>
              <a:t>než</a:t>
            </a:r>
            <a:r>
              <a:rPr lang="fr-FR" sz="2400">
                <a:ea typeface="+mn-lt"/>
                <a:cs typeface="+mn-lt"/>
              </a:rPr>
              <a:t> </a:t>
            </a:r>
            <a:r>
              <a:rPr lang="fr-FR" sz="2400" err="1">
                <a:ea typeface="+mn-lt"/>
                <a:cs typeface="+mn-lt"/>
              </a:rPr>
              <a:t>ostatní</a:t>
            </a:r>
            <a:r>
              <a:rPr lang="fr-FR" sz="2400">
                <a:ea typeface="+mn-lt"/>
                <a:cs typeface="+mn-lt"/>
              </a:rPr>
              <a:t> OS. </a:t>
            </a:r>
            <a:r>
              <a:rPr lang="fr-FR" sz="2400" i="1" err="1">
                <a:ea typeface="+mn-lt"/>
                <a:cs typeface="+mn-lt"/>
              </a:rPr>
              <a:t>LinuxMint</a:t>
            </a:r>
            <a:r>
              <a:rPr lang="fr-FR" sz="2400">
                <a:ea typeface="+mn-lt"/>
                <a:cs typeface="+mn-lt"/>
              </a:rPr>
              <a:t> [online]. 2015, 3.7. [</a:t>
            </a:r>
            <a:r>
              <a:rPr lang="fr-FR" sz="2400" err="1">
                <a:ea typeface="+mn-lt"/>
                <a:cs typeface="+mn-lt"/>
              </a:rPr>
              <a:t>cit</a:t>
            </a:r>
            <a:r>
              <a:rPr lang="fr-FR" sz="2400">
                <a:ea typeface="+mn-lt"/>
                <a:cs typeface="+mn-lt"/>
              </a:rPr>
              <a:t>. 2022-11-16]. </a:t>
            </a:r>
            <a:r>
              <a:rPr lang="fr-FR" sz="2400" err="1">
                <a:ea typeface="+mn-lt"/>
                <a:cs typeface="+mn-lt"/>
              </a:rPr>
              <a:t>Dostupné</a:t>
            </a:r>
            <a:r>
              <a:rPr lang="fr-FR" sz="2400">
                <a:ea typeface="+mn-lt"/>
                <a:cs typeface="+mn-lt"/>
              </a:rPr>
              <a:t> z: </a:t>
            </a:r>
            <a:r>
              <a:rPr lang="fr-FR" sz="2400">
                <a:solidFill>
                  <a:srgbClr val="C573D2"/>
                </a:solidFill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https://www.linux-mint-czech.cz/tag/bezpecnost</a:t>
            </a:r>
            <a:r>
              <a:rPr lang="fr-FR" sz="2400">
                <a:ea typeface="+mn-lt"/>
                <a:cs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cs-CZ" sz="240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it-IT" sz="2400" b="0" i="0">
                <a:effectLst/>
              </a:rPr>
              <a:t>[online]. [cit. 2022-11-16]. </a:t>
            </a:r>
            <a:r>
              <a:rPr lang="it-IT" sz="2400" b="0" i="0" err="1">
                <a:effectLst/>
              </a:rPr>
              <a:t>Dostupné</a:t>
            </a:r>
            <a:r>
              <a:rPr lang="it-IT" sz="2400" b="0" i="0">
                <a:effectLst/>
              </a:rPr>
              <a:t> z: </a:t>
            </a:r>
            <a:r>
              <a:rPr lang="it-IT" sz="2400" b="0" i="0">
                <a:effectLst/>
                <a:hlinkClick r:id="rId8"/>
              </a:rPr>
              <a:t>https://en.wikipedia.org/wiki/Linux_Mint</a:t>
            </a:r>
            <a:endParaRPr lang="fr-FR" sz="2400">
              <a:ea typeface="Open Sans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it-IT" sz="2400">
                <a:ea typeface="+mn-lt"/>
                <a:cs typeface="+mn-lt"/>
              </a:rPr>
              <a:t>PHULARE, Arvind. </a:t>
            </a:r>
            <a:r>
              <a:rPr lang="it-IT" sz="2400" err="1">
                <a:ea typeface="+mn-lt"/>
                <a:cs typeface="+mn-lt"/>
              </a:rPr>
              <a:t>What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Linux </a:t>
            </a:r>
            <a:r>
              <a:rPr lang="it-IT" sz="2400" err="1">
                <a:ea typeface="+mn-lt"/>
                <a:cs typeface="+mn-lt"/>
              </a:rPr>
              <a:t>Mint</a:t>
            </a:r>
            <a:r>
              <a:rPr lang="it-IT" sz="2400">
                <a:ea typeface="+mn-lt"/>
                <a:cs typeface="+mn-lt"/>
              </a:rPr>
              <a:t> and </a:t>
            </a:r>
            <a:r>
              <a:rPr lang="it-IT" sz="2400" err="1">
                <a:ea typeface="+mn-lt"/>
                <a:cs typeface="+mn-lt"/>
              </a:rPr>
              <a:t>how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it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better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than</a:t>
            </a:r>
            <a:r>
              <a:rPr lang="it-IT" sz="2400">
                <a:ea typeface="+mn-lt"/>
                <a:cs typeface="+mn-lt"/>
              </a:rPr>
              <a:t> Ubuntu?. </a:t>
            </a:r>
            <a:r>
              <a:rPr lang="it-IT" sz="2400" i="1" err="1">
                <a:ea typeface="+mn-lt"/>
                <a:cs typeface="+mn-lt"/>
              </a:rPr>
              <a:t>Menium</a:t>
            </a:r>
            <a:r>
              <a:rPr lang="it-IT" sz="2400">
                <a:ea typeface="+mn-lt"/>
                <a:cs typeface="+mn-lt"/>
              </a:rPr>
              <a:t> [online]. Medium, 2019, 18.10. [cit. 2022-11-20]. </a:t>
            </a:r>
            <a:r>
              <a:rPr lang="it-IT" sz="2400" err="1">
                <a:ea typeface="+mn-lt"/>
                <a:cs typeface="+mn-lt"/>
              </a:rPr>
              <a:t>Dostupné</a:t>
            </a:r>
            <a:r>
              <a:rPr lang="it-IT" sz="2400">
                <a:ea typeface="+mn-lt"/>
                <a:cs typeface="+mn-lt"/>
              </a:rPr>
              <a:t> z: https://medium.com/edureka/linux-mint-904d4de15c58</a:t>
            </a:r>
            <a:endParaRPr lang="it-IT" sz="2400">
              <a:ea typeface="Open Sans"/>
              <a:cs typeface="Calibri"/>
            </a:endParaRPr>
          </a:p>
          <a:p>
            <a:pPr>
              <a:buClr>
                <a:srgbClr val="FFFFFF"/>
              </a:buClr>
            </a:pPr>
            <a:endParaRPr lang="it-IT" sz="2400">
              <a:ea typeface="Open Sans"/>
              <a:cs typeface="Calibri"/>
            </a:endParaRPr>
          </a:p>
          <a:p>
            <a:pPr>
              <a:buClr>
                <a:srgbClr val="FFFFFF"/>
              </a:buClr>
            </a:pPr>
            <a:endParaRPr lang="fr-FR" sz="2400">
              <a:ea typeface="Open Sans"/>
              <a:cs typeface="Open Sans"/>
            </a:endParaRPr>
          </a:p>
          <a:p>
            <a:endParaRPr lang="cs-CZ" sz="24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494617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B9824D9504AE49A61F66C1EADB70E1" ma:contentTypeVersion="5" ma:contentTypeDescription="Vytvoří nový dokument" ma:contentTypeScope="" ma:versionID="cb3706fe7ff55eafc3ea05ff45ac5916">
  <xsd:schema xmlns:xsd="http://www.w3.org/2001/XMLSchema" xmlns:xs="http://www.w3.org/2001/XMLSchema" xmlns:p="http://schemas.microsoft.com/office/2006/metadata/properties" xmlns:ns3="2fdf368a-f443-49d9-8039-a87943f25e5e" xmlns:ns4="5df54dde-d18f-4bad-8f22-5569bd684ca8" targetNamespace="http://schemas.microsoft.com/office/2006/metadata/properties" ma:root="true" ma:fieldsID="e1f8e85d21ca41886236b41da3336830" ns3:_="" ns4:_="">
    <xsd:import namespace="2fdf368a-f443-49d9-8039-a87943f25e5e"/>
    <xsd:import namespace="5df54dde-d18f-4bad-8f22-5569bd684c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f368a-f443-49d9-8039-a87943f25e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54dde-d18f-4bad-8f22-5569bd684c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9CD7B8-AD9B-45AA-9D65-F52FAF1CF31C}">
  <ds:schemaRefs>
    <ds:schemaRef ds:uri="2fdf368a-f443-49d9-8039-a87943f25e5e"/>
    <ds:schemaRef ds:uri="5df54dde-d18f-4bad-8f22-5569bd684c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9E58E79-216A-402E-8109-C16D5A2261AF}">
  <ds:schemaRefs>
    <ds:schemaRef ds:uri="2fdf368a-f443-49d9-8039-a87943f25e5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  <ds:schemaRef ds:uri="5df54dde-d18f-4bad-8f22-5569bd684ca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B8FADE6-A272-4FE2-8E30-43D2E4DB4C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PresentationFormat>Širokoúhlá obrazovka</PresentationFormat>
  <Paragraphs>154</Paragraphs>
  <Slides>15</Slides>
  <Notes>15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Tahoma</vt:lpstr>
      <vt:lpstr>Celestial</vt:lpstr>
      <vt:lpstr>Linux Mint Šimon Doležal, Martin Pytlík, Jan Navrátil</vt:lpstr>
      <vt:lpstr>Co to je Linux mint?</vt:lpstr>
      <vt:lpstr>Historie</vt:lpstr>
      <vt:lpstr>verze</vt:lpstr>
      <vt:lpstr>Vizualní stránka, UI  </vt:lpstr>
      <vt:lpstr>Hardware požadavky</vt:lpstr>
      <vt:lpstr>Souborové systémy</vt:lpstr>
      <vt:lpstr>Drivery</vt:lpstr>
      <vt:lpstr>Aktualizace</vt:lpstr>
      <vt:lpstr>Bezpečnost </vt:lpstr>
      <vt:lpstr>Odlišnosti </vt:lpstr>
      <vt:lpstr>Popularita</vt:lpstr>
      <vt:lpstr>Diskuze</vt:lpstr>
      <vt:lpstr>Děkujeme za pozornost</vt:lpstr>
      <vt:lpstr>Citace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Šimon DOLEŽAL</dc:creator>
  <cp:lastModifiedBy>Šimon DOLEŽAL</cp:lastModifiedBy>
  <cp:revision>1</cp:revision>
  <dcterms:created xsi:type="dcterms:W3CDTF">2022-11-16T07:11:57Z</dcterms:created>
  <dcterms:modified xsi:type="dcterms:W3CDTF">2022-11-21T07:19:10Z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0x0101001BB9824D9504AE49A61F66C1EADB70E1</vt:lpwstr>
  </property>
</Properties>
</file>