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Roboto"/>
      <p:regular r:id="rId27"/>
      <p:bold r:id="rId28"/>
      <p:italic r:id="rId29"/>
      <p:boldItalic r:id="rId30"/>
    </p:embeddedFont>
    <p:embeddedFont>
      <p:font typeface="Old Standard TT"/>
      <p:regular r:id="rId31"/>
      <p:bold r:id="rId32"/>
      <p:italic r:id="rId33"/>
    </p:embeddedFont>
    <p:embeddedFont>
      <p:font typeface="Merriweather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Merkomas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ldStandardTT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33" Type="http://schemas.openxmlformats.org/officeDocument/2006/relationships/font" Target="fonts/OldStandardTT-italic.fntdata"/><Relationship Id="rId10" Type="http://schemas.openxmlformats.org/officeDocument/2006/relationships/slide" Target="slides/slide4.xml"/><Relationship Id="rId32" Type="http://schemas.openxmlformats.org/officeDocument/2006/relationships/font" Target="fonts/OldStandardTT-bold.fntdata"/><Relationship Id="rId13" Type="http://schemas.openxmlformats.org/officeDocument/2006/relationships/slide" Target="slides/slide7.xml"/><Relationship Id="rId35" Type="http://schemas.openxmlformats.org/officeDocument/2006/relationships/font" Target="fonts/Merriweather-bold.fntdata"/><Relationship Id="rId12" Type="http://schemas.openxmlformats.org/officeDocument/2006/relationships/slide" Target="slides/slide6.xml"/><Relationship Id="rId34" Type="http://schemas.openxmlformats.org/officeDocument/2006/relationships/font" Target="fonts/Merriweather-regular.fntdata"/><Relationship Id="rId15" Type="http://schemas.openxmlformats.org/officeDocument/2006/relationships/slide" Target="slides/slide9.xml"/><Relationship Id="rId37" Type="http://schemas.openxmlformats.org/officeDocument/2006/relationships/font" Target="fonts/Merriweather-boldItalic.fntdata"/><Relationship Id="rId14" Type="http://schemas.openxmlformats.org/officeDocument/2006/relationships/slide" Target="slides/slide8.xml"/><Relationship Id="rId36" Type="http://schemas.openxmlformats.org/officeDocument/2006/relationships/font" Target="fonts/Merriweather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2-11-18T20:23:17.937">
    <p:pos x="6000" y="0"/>
    <p:text>s tímhle slides nehýbat
dík</p:text>
  </p:cm>
  <p:cm authorId="0" idx="2" dt="2022-11-18T20:23:17.937">
    <p:pos x="6000" y="0"/>
    <p:text>používám jako template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s.wikipedia.org/wiki/Linuxov%C3%A1_distribuce" TargetMode="External"/><Relationship Id="rId3" Type="http://schemas.openxmlformats.org/officeDocument/2006/relationships/hyperlink" Target="https://cs.wikipedia.org/wiki/Debian" TargetMode="Externa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92d8453a2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92d8453a2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92d8453a2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92d8453a2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Ubuntu je open source linuxová distribuce (což znamená, že jí může kdokoliv upravovat a používat) založená na Debianu, což je jedna z nejstarších aktivních linuxových distribucí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50">
                <a:solidFill>
                  <a:schemeClr val="lt1"/>
                </a:solidFill>
              </a:rPr>
              <a:t>Ubuntu je open source </a:t>
            </a:r>
            <a:r>
              <a:rPr lang="en" sz="1950">
                <a:solidFill>
                  <a:schemeClr val="lt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linuxová distribuce</a:t>
            </a:r>
            <a:r>
              <a:rPr lang="en" sz="1950">
                <a:solidFill>
                  <a:schemeClr val="lt1"/>
                </a:solidFill>
              </a:rPr>
              <a:t> založená na Debianu</a:t>
            </a:r>
            <a:br>
              <a:rPr lang="en"/>
            </a:br>
            <a:r>
              <a:rPr lang="en" sz="1950">
                <a:solidFill>
                  <a:schemeClr val="dk1"/>
                </a:solidFill>
              </a:rPr>
              <a:t>Ubuntu je open source linuxová distribuce založená na </a:t>
            </a:r>
            <a:r>
              <a:rPr lang="en" sz="195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Debian</a:t>
            </a:r>
            <a:r>
              <a:rPr lang="en" sz="1950">
                <a:solidFill>
                  <a:schemeClr val="dk1"/>
                </a:solidFill>
              </a:rPr>
              <a:t>u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92d8453a27_1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92d8453a27_1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Ubuntu jde rozjet snad i na bramboře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na kalkulacce? Taky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9440bd8fc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9440bd8f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Ubuntu jde rozjet snad i na bramboře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na kalkulacce? taky</a:t>
            </a:r>
            <a:br>
              <a:rPr lang="en"/>
            </a:b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936686bcab_5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936686bcab_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9440bd8fc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9440bd8fc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9440bd8fc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9440bd8fc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9440bd8fc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9440bd8fc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9440bd8fc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9440bd8fc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9440bd8fc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9440bd8fc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9440bd8fcb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9440bd8fcb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9440bd8fcb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9440bd8fcb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92d8453a27_1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92d8453a27_1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Ubuntu je vydáváno dvakrát ročně s podporou dané verze 9 měsíců a každé dva roky vychází verze s dlouhodobou podporou (LTS, Long Term Support), která má podporu 5 let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92d8453a27_1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92d8453a27_1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Prvím ze způsobů updatování systému je pomocí terminálu.</a:t>
            </a:r>
            <a:br>
              <a:rPr lang="en"/>
            </a:br>
            <a:r>
              <a:rPr lang="en"/>
              <a:t>Stačí zadat dva jednoduché příkazy (sudo apt update a sudo apt upgrade)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ano, v terminálu lze sputit více příkazů naráz</a:t>
            </a:r>
            <a:br>
              <a:rPr lang="en"/>
            </a:b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936686bc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1936686bc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Druhým způsobem updatování je zabudovaná GUI aplikace software updater</a:t>
            </a:r>
            <a:br>
              <a:rPr lang="en"/>
            </a:br>
            <a:r>
              <a:rPr lang="en"/>
              <a:t>Mam hlad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chci uzovku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92d8453a27_1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92d8453a27_1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92d8453a27_1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192d8453a27_1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92d8453a27_1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192d8453a27_1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936686bcab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1936686bcab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92d8453a27_1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192d8453a27_1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hyperlink" Target="https://cs.wikipedia.org/wiki/Linuxov%C3%A1_distribuc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hyperlink" Target="https://ubuntu.com" TargetMode="External"/><Relationship Id="rId6" Type="http://schemas.openxmlformats.org/officeDocument/2006/relationships/hyperlink" Target="https://www.dell.com/support/kbdoc/cs-cz/000131456/vysv%C4%9Btlen-iacute-typ%C5%AF-a-definic-odd-iacute-l%C5%AF-a-adres-aacute-%C5%99%C5%AF-syst-eacute-mu-ubuntu-linux#FileSystem" TargetMode="External"/><Relationship Id="rId7" Type="http://schemas.openxmlformats.org/officeDocument/2006/relationships/hyperlink" Target="https://en.wikipedia.org/wiki/Ext3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Relationship Id="rId3" Type="http://schemas.openxmlformats.org/officeDocument/2006/relationships/comments" Target="../comments/comment1.xml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0" y="-12"/>
            <a:ext cx="9144043" cy="5143524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3"/>
          <p:cNvSpPr txBox="1"/>
          <p:nvPr/>
        </p:nvSpPr>
        <p:spPr>
          <a:xfrm>
            <a:off x="1646375" y="398500"/>
            <a:ext cx="58512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LINUX </a:t>
            </a:r>
            <a:endParaRPr sz="40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UBUNTU</a:t>
            </a:r>
            <a:endParaRPr sz="40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2710775" y="2171550"/>
            <a:ext cx="372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Damián Michálek a Michaela Farková</a:t>
            </a:r>
            <a:endParaRPr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074" y="370137"/>
            <a:ext cx="7827950" cy="44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 txBox="1"/>
          <p:nvPr/>
        </p:nvSpPr>
        <p:spPr>
          <a:xfrm>
            <a:off x="1046100" y="1294188"/>
            <a:ext cx="7005900" cy="1085100"/>
          </a:xfrm>
          <a:prstGeom prst="rect">
            <a:avLst/>
          </a:prstGeom>
          <a:noFill/>
          <a:ln cap="flat" cmpd="sng" w="952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2425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Char char="●"/>
            </a:pPr>
            <a:r>
              <a:rPr lang="en" sz="1950">
                <a:solidFill>
                  <a:schemeClr val="lt1"/>
                </a:solidFill>
              </a:rPr>
              <a:t>Operační systém :´)</a:t>
            </a:r>
            <a:endParaRPr sz="1950">
              <a:solidFill>
                <a:schemeClr val="lt1"/>
              </a:solidFill>
            </a:endParaRPr>
          </a:p>
          <a:p>
            <a:pPr indent="-352425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Char char="●"/>
            </a:pPr>
            <a:r>
              <a:rPr lang="en" sz="1950">
                <a:solidFill>
                  <a:schemeClr val="lt1"/>
                </a:solidFill>
              </a:rPr>
              <a:t>O</a:t>
            </a:r>
            <a:r>
              <a:rPr lang="en" sz="1950">
                <a:solidFill>
                  <a:schemeClr val="lt1"/>
                </a:solidFill>
              </a:rPr>
              <a:t>pen source </a:t>
            </a:r>
            <a:r>
              <a:rPr lang="en" sz="1950">
                <a:solidFill>
                  <a:schemeClr val="lt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linuxová distribuce</a:t>
            </a:r>
            <a:r>
              <a:rPr lang="en" sz="1950">
                <a:solidFill>
                  <a:schemeClr val="lt1"/>
                </a:solidFill>
              </a:rPr>
              <a:t> </a:t>
            </a:r>
            <a:endParaRPr sz="1950">
              <a:solidFill>
                <a:schemeClr val="lt1"/>
              </a:solidFill>
            </a:endParaRPr>
          </a:p>
          <a:p>
            <a:pPr indent="-352425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Char char="●"/>
            </a:pPr>
            <a:r>
              <a:rPr lang="en" sz="1950">
                <a:solidFill>
                  <a:schemeClr val="lt1"/>
                </a:solidFill>
              </a:rPr>
              <a:t>Založené na Debian</a:t>
            </a:r>
            <a:endParaRPr sz="1950">
              <a:solidFill>
                <a:schemeClr val="lt1"/>
              </a:solidFill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1700" y="0"/>
            <a:ext cx="4894699" cy="11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4650" y="4408025"/>
            <a:ext cx="4894699" cy="73547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/>
          <p:cNvSpPr txBox="1"/>
          <p:nvPr/>
        </p:nvSpPr>
        <p:spPr>
          <a:xfrm>
            <a:off x="2620200" y="222025"/>
            <a:ext cx="38577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Co je Ubuntu?</a:t>
            </a:r>
            <a:endParaRPr sz="31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074" y="370137"/>
            <a:ext cx="7827950" cy="44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/>
          <p:nvPr/>
        </p:nvSpPr>
        <p:spPr>
          <a:xfrm>
            <a:off x="1046100" y="1294188"/>
            <a:ext cx="7005900" cy="1385400"/>
          </a:xfrm>
          <a:prstGeom prst="rect">
            <a:avLst/>
          </a:prstGeom>
          <a:noFill/>
          <a:ln cap="flat" cmpd="sng" w="952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50">
                <a:solidFill>
                  <a:schemeClr val="lt1"/>
                </a:solidFill>
              </a:rPr>
              <a:t>512MB RAM</a:t>
            </a:r>
            <a:endParaRPr sz="17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50">
                <a:solidFill>
                  <a:schemeClr val="lt1"/>
                </a:solidFill>
              </a:rPr>
              <a:t>512 MB úložiště</a:t>
            </a:r>
            <a:endParaRPr sz="1950">
              <a:solidFill>
                <a:schemeClr val="lt1"/>
              </a:solidFill>
            </a:endParaRPr>
          </a:p>
          <a:p>
            <a:pPr indent="-35242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Char char="-"/>
            </a:pPr>
            <a:r>
              <a:rPr lang="en" sz="1950">
                <a:solidFill>
                  <a:schemeClr val="lt1"/>
                </a:solidFill>
              </a:rPr>
              <a:t>Absolutní minimum ke spuštění</a:t>
            </a:r>
            <a:endParaRPr sz="1950">
              <a:solidFill>
                <a:schemeClr val="lt1"/>
              </a:solidFill>
            </a:endParaRPr>
          </a:p>
        </p:txBody>
      </p:sp>
      <p:pic>
        <p:nvPicPr>
          <p:cNvPr id="84" name="Google Shape;8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1700" y="0"/>
            <a:ext cx="4894699" cy="11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4650" y="4408025"/>
            <a:ext cx="4894699" cy="7354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/>
        </p:nvSpPr>
        <p:spPr>
          <a:xfrm>
            <a:off x="2620200" y="222025"/>
            <a:ext cx="38577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Systémové požadavky</a:t>
            </a:r>
            <a:endParaRPr sz="26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(absolutní minimum)</a:t>
            </a:r>
            <a:endParaRPr sz="26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074" y="370137"/>
            <a:ext cx="7827950" cy="44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 txBox="1"/>
          <p:nvPr/>
        </p:nvSpPr>
        <p:spPr>
          <a:xfrm>
            <a:off x="1046100" y="1294188"/>
            <a:ext cx="7005900" cy="1985700"/>
          </a:xfrm>
          <a:prstGeom prst="rect">
            <a:avLst/>
          </a:prstGeom>
          <a:noFill/>
          <a:ln cap="flat" cmpd="sng" w="952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50">
                <a:solidFill>
                  <a:schemeClr val="lt1"/>
                </a:solidFill>
              </a:rPr>
              <a:t>2GHz 2 jádrový procesor</a:t>
            </a:r>
            <a:endParaRPr sz="19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50">
                <a:solidFill>
                  <a:schemeClr val="lt1"/>
                </a:solidFill>
              </a:rPr>
              <a:t>4GB RAM</a:t>
            </a:r>
            <a:endParaRPr sz="19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50">
                <a:solidFill>
                  <a:schemeClr val="lt1"/>
                </a:solidFill>
              </a:rPr>
              <a:t>25GB úložiště</a:t>
            </a:r>
            <a:endParaRPr sz="19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50">
                <a:solidFill>
                  <a:schemeClr val="lt1"/>
                </a:solidFill>
              </a:rPr>
              <a:t>K instalaci:</a:t>
            </a:r>
            <a:endParaRPr sz="19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50">
                <a:solidFill>
                  <a:schemeClr val="lt1"/>
                </a:solidFill>
              </a:rPr>
              <a:t>DVD jednotka nebo USB port</a:t>
            </a:r>
            <a:endParaRPr sz="1950">
              <a:solidFill>
                <a:schemeClr val="lt1"/>
              </a:solidFill>
            </a:endParaRPr>
          </a:p>
        </p:txBody>
      </p:sp>
      <p:pic>
        <p:nvPicPr>
          <p:cNvPr id="94" name="Google Shape;9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1700" y="0"/>
            <a:ext cx="4894699" cy="11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4650" y="4408025"/>
            <a:ext cx="4894699" cy="7354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2620200" y="222025"/>
            <a:ext cx="38577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Systémové požadavky</a:t>
            </a:r>
            <a:endParaRPr sz="23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(doporučené minimální)</a:t>
            </a:r>
            <a:endParaRPr sz="23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6225"/>
            <a:ext cx="914399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074" y="370149"/>
            <a:ext cx="7827950" cy="44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 txBox="1"/>
          <p:nvPr/>
        </p:nvSpPr>
        <p:spPr>
          <a:xfrm>
            <a:off x="1046100" y="1294188"/>
            <a:ext cx="7005900" cy="484800"/>
          </a:xfrm>
          <a:prstGeom prst="rect">
            <a:avLst/>
          </a:prstGeom>
          <a:noFill/>
          <a:ln cap="flat" cmpd="sng" w="952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950">
                <a:solidFill>
                  <a:schemeClr val="lt1"/>
                </a:solidFill>
              </a:rPr>
              <a:t>Většina potřebných - Built-in</a:t>
            </a:r>
            <a:endParaRPr sz="1950">
              <a:solidFill>
                <a:schemeClr val="lt1"/>
              </a:solidFill>
            </a:endParaRPr>
          </a:p>
        </p:txBody>
      </p:sp>
      <p:pic>
        <p:nvPicPr>
          <p:cNvPr id="104" name="Google Shape;10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1700" y="0"/>
            <a:ext cx="4894699" cy="11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4650" y="4408025"/>
            <a:ext cx="4894699" cy="73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7"/>
          <p:cNvSpPr txBox="1"/>
          <p:nvPr/>
        </p:nvSpPr>
        <p:spPr>
          <a:xfrm>
            <a:off x="2620200" y="222025"/>
            <a:ext cx="38577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Ovladače</a:t>
            </a:r>
            <a:br>
              <a:rPr lang="en" sz="31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" sz="31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(drivers)</a:t>
            </a:r>
            <a:endParaRPr sz="31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07" name="Google Shape;10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925" y="1900362"/>
            <a:ext cx="4737000" cy="238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5775" y="2293275"/>
            <a:ext cx="4289000" cy="263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6225"/>
            <a:ext cx="914399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074" y="370149"/>
            <a:ext cx="7827950" cy="44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 txBox="1"/>
          <p:nvPr/>
        </p:nvSpPr>
        <p:spPr>
          <a:xfrm>
            <a:off x="1096700" y="956763"/>
            <a:ext cx="7005900" cy="484800"/>
          </a:xfrm>
          <a:prstGeom prst="rect">
            <a:avLst/>
          </a:prstGeom>
          <a:noFill/>
          <a:ln cap="flat" cmpd="sng" w="952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950">
                <a:solidFill>
                  <a:schemeClr val="lt1"/>
                </a:solidFill>
              </a:rPr>
              <a:t>Konzole nebo built-in aplikace</a:t>
            </a:r>
            <a:endParaRPr sz="1950">
              <a:solidFill>
                <a:schemeClr val="lt1"/>
              </a:solidFill>
            </a:endParaRPr>
          </a:p>
        </p:txBody>
      </p:sp>
      <p:pic>
        <p:nvPicPr>
          <p:cNvPr id="116" name="Google Shape;11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1700" y="0"/>
            <a:ext cx="4894699" cy="11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4650" y="4408025"/>
            <a:ext cx="4894699" cy="73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8"/>
          <p:cNvSpPr txBox="1"/>
          <p:nvPr/>
        </p:nvSpPr>
        <p:spPr>
          <a:xfrm>
            <a:off x="2620200" y="222025"/>
            <a:ext cx="38577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Instalace aplikací</a:t>
            </a:r>
            <a:endParaRPr sz="31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19" name="Google Shape;11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200" y="1779475"/>
            <a:ext cx="5574625" cy="2808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2475" y="2211350"/>
            <a:ext cx="5129150" cy="349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074" y="370137"/>
            <a:ext cx="7827950" cy="44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9"/>
          <p:cNvSpPr txBox="1"/>
          <p:nvPr/>
        </p:nvSpPr>
        <p:spPr>
          <a:xfrm>
            <a:off x="1046100" y="1294188"/>
            <a:ext cx="7005900" cy="1385400"/>
          </a:xfrm>
          <a:prstGeom prst="rect">
            <a:avLst/>
          </a:prstGeom>
          <a:noFill/>
          <a:ln cap="flat" cmpd="sng" w="952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950">
                <a:solidFill>
                  <a:schemeClr val="lt1"/>
                </a:solidFill>
              </a:rPr>
              <a:t>EXT3 (third extended filesystem)</a:t>
            </a:r>
            <a:endParaRPr sz="1950">
              <a:solidFill>
                <a:schemeClr val="lt1"/>
              </a:solidFill>
            </a:endParaRPr>
          </a:p>
          <a:p>
            <a:pPr indent="-352425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Char char="●"/>
            </a:pPr>
            <a:r>
              <a:rPr lang="en" sz="1950">
                <a:solidFill>
                  <a:schemeClr val="lt1"/>
                </a:solidFill>
              </a:rPr>
              <a:t>Běžně používaný u linuxu</a:t>
            </a:r>
            <a:endParaRPr sz="1950">
              <a:solidFill>
                <a:schemeClr val="lt1"/>
              </a:solidFill>
            </a:endParaRPr>
          </a:p>
          <a:p>
            <a:pPr indent="-352425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Char char="●"/>
            </a:pPr>
            <a:r>
              <a:rPr lang="en" sz="1950">
                <a:solidFill>
                  <a:schemeClr val="lt1"/>
                </a:solidFill>
              </a:rPr>
              <a:t>“Žurnálovací” souborový systém</a:t>
            </a:r>
            <a:endParaRPr sz="1950">
              <a:solidFill>
                <a:schemeClr val="lt1"/>
              </a:solidFill>
            </a:endParaRPr>
          </a:p>
          <a:p>
            <a:pPr indent="-352425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Char char="●"/>
            </a:pPr>
            <a:r>
              <a:rPr lang="en" sz="1950">
                <a:solidFill>
                  <a:schemeClr val="lt1"/>
                </a:solidFill>
              </a:rPr>
              <a:t>3 úrovně žurnálování</a:t>
            </a:r>
            <a:endParaRPr sz="1950">
              <a:solidFill>
                <a:schemeClr val="lt1"/>
              </a:solidFill>
            </a:endParaRPr>
          </a:p>
        </p:txBody>
      </p:sp>
      <p:pic>
        <p:nvPicPr>
          <p:cNvPr id="128" name="Google Shape;12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1700" y="0"/>
            <a:ext cx="4894699" cy="11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4650" y="4408025"/>
            <a:ext cx="4894699" cy="73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9"/>
          <p:cNvSpPr txBox="1"/>
          <p:nvPr/>
        </p:nvSpPr>
        <p:spPr>
          <a:xfrm>
            <a:off x="2620200" y="222025"/>
            <a:ext cx="38577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Souborový systém</a:t>
            </a:r>
            <a:endParaRPr sz="31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074" y="370137"/>
            <a:ext cx="7827950" cy="44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0"/>
          <p:cNvSpPr txBox="1"/>
          <p:nvPr/>
        </p:nvSpPr>
        <p:spPr>
          <a:xfrm>
            <a:off x="1046100" y="1294188"/>
            <a:ext cx="7005900" cy="1085100"/>
          </a:xfrm>
          <a:prstGeom prst="rect">
            <a:avLst/>
          </a:prstGeom>
          <a:noFill/>
          <a:ln cap="flat" cmpd="sng" w="952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950">
                <a:solidFill>
                  <a:schemeClr val="lt1"/>
                </a:solidFill>
              </a:rPr>
              <a:t>Deníkový zápis</a:t>
            </a:r>
            <a:endParaRPr sz="1950">
              <a:solidFill>
                <a:schemeClr val="lt1"/>
              </a:solidFill>
            </a:endParaRPr>
          </a:p>
          <a:p>
            <a:pPr indent="-352425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Char char="●"/>
            </a:pPr>
            <a:r>
              <a:rPr lang="en" sz="1950">
                <a:solidFill>
                  <a:schemeClr val="lt1"/>
                </a:solidFill>
              </a:rPr>
              <a:t>Uspořádaný zápis</a:t>
            </a:r>
            <a:endParaRPr sz="1950">
              <a:solidFill>
                <a:schemeClr val="lt1"/>
              </a:solidFill>
            </a:endParaRPr>
          </a:p>
          <a:p>
            <a:pPr indent="-352425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Char char="●"/>
            </a:pPr>
            <a:r>
              <a:rPr lang="en" sz="1950">
                <a:solidFill>
                  <a:schemeClr val="lt1"/>
                </a:solidFill>
              </a:rPr>
              <a:t>Zpětný zápis</a:t>
            </a:r>
            <a:endParaRPr sz="1950">
              <a:solidFill>
                <a:schemeClr val="lt1"/>
              </a:solidFill>
            </a:endParaRPr>
          </a:p>
        </p:txBody>
      </p:sp>
      <p:pic>
        <p:nvPicPr>
          <p:cNvPr id="138" name="Google Shape;13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1700" y="0"/>
            <a:ext cx="4894699" cy="11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4650" y="4408025"/>
            <a:ext cx="4894699" cy="73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0"/>
          <p:cNvSpPr txBox="1"/>
          <p:nvPr/>
        </p:nvSpPr>
        <p:spPr>
          <a:xfrm>
            <a:off x="2620200" y="222025"/>
            <a:ext cx="38577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Žurnálovací úrovně</a:t>
            </a:r>
            <a:endParaRPr sz="31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074" y="370137"/>
            <a:ext cx="7827950" cy="44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1"/>
          <p:cNvSpPr txBox="1"/>
          <p:nvPr/>
        </p:nvSpPr>
        <p:spPr>
          <a:xfrm>
            <a:off x="1046100" y="1294188"/>
            <a:ext cx="7005900" cy="2178000"/>
          </a:xfrm>
          <a:prstGeom prst="rect">
            <a:avLst/>
          </a:prstGeom>
          <a:noFill/>
          <a:ln cap="flat" cmpd="sng" w="952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6075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Char char="●"/>
            </a:pPr>
            <a:r>
              <a:rPr lang="en" sz="1850">
                <a:solidFill>
                  <a:schemeClr val="lt1"/>
                </a:solidFill>
              </a:rPr>
              <a:t>Metadata + obsah souboru - před uložením do hlavního systému se uloží do “deníku”</a:t>
            </a:r>
            <a:endParaRPr sz="1850">
              <a:solidFill>
                <a:schemeClr val="lt1"/>
              </a:solidFill>
            </a:endParaRPr>
          </a:p>
          <a:p>
            <a:pPr indent="-346075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Char char="●"/>
            </a:pPr>
            <a:r>
              <a:rPr lang="en" sz="1850">
                <a:solidFill>
                  <a:schemeClr val="lt1"/>
                </a:solidFill>
              </a:rPr>
              <a:t>Nejnižší riziko</a:t>
            </a:r>
            <a:endParaRPr sz="1850">
              <a:solidFill>
                <a:schemeClr val="lt1"/>
              </a:solidFill>
            </a:endParaRPr>
          </a:p>
          <a:p>
            <a:pPr indent="-346075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Char char="●"/>
            </a:pPr>
            <a:r>
              <a:rPr lang="en" sz="1850">
                <a:solidFill>
                  <a:schemeClr val="lt1"/>
                </a:solidFill>
              </a:rPr>
              <a:t>“Deník” jede na disku nepřetržitě</a:t>
            </a:r>
            <a:endParaRPr sz="1850">
              <a:solidFill>
                <a:schemeClr val="lt1"/>
              </a:solidFill>
            </a:endParaRPr>
          </a:p>
          <a:p>
            <a:pPr indent="-346075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Char char="●"/>
            </a:pPr>
            <a:r>
              <a:rPr lang="en" sz="1850">
                <a:solidFill>
                  <a:schemeClr val="lt1"/>
                </a:solidFill>
              </a:rPr>
              <a:t>Může zlepšit výkon při dostatku místa</a:t>
            </a:r>
            <a:endParaRPr sz="1850">
              <a:solidFill>
                <a:schemeClr val="lt1"/>
              </a:solidFill>
            </a:endParaRPr>
          </a:p>
          <a:p>
            <a:pPr indent="-346075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Char char="●"/>
            </a:pPr>
            <a:r>
              <a:rPr lang="en" sz="1850">
                <a:solidFill>
                  <a:schemeClr val="lt1"/>
                </a:solidFill>
              </a:rPr>
              <a:t>Může snížit výkon při malém prostoru (data se zapíšou 2x)</a:t>
            </a:r>
            <a:endParaRPr sz="1850">
              <a:solidFill>
                <a:schemeClr val="lt1"/>
              </a:solidFill>
            </a:endParaRPr>
          </a:p>
          <a:p>
            <a:pPr indent="-346075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Char char="●"/>
            </a:pPr>
            <a:r>
              <a:t/>
            </a:r>
            <a:endParaRPr sz="1850">
              <a:solidFill>
                <a:schemeClr val="lt1"/>
              </a:solidFill>
            </a:endParaRPr>
          </a:p>
        </p:txBody>
      </p:sp>
      <p:pic>
        <p:nvPicPr>
          <p:cNvPr id="148" name="Google Shape;14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1700" y="0"/>
            <a:ext cx="4894699" cy="11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4650" y="4408025"/>
            <a:ext cx="4894699" cy="73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1"/>
          <p:cNvSpPr txBox="1"/>
          <p:nvPr/>
        </p:nvSpPr>
        <p:spPr>
          <a:xfrm>
            <a:off x="2620200" y="222025"/>
            <a:ext cx="38577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Deníkový zápis</a:t>
            </a:r>
            <a:endParaRPr sz="31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074" y="370137"/>
            <a:ext cx="7827950" cy="44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2"/>
          <p:cNvSpPr txBox="1"/>
          <p:nvPr/>
        </p:nvSpPr>
        <p:spPr>
          <a:xfrm>
            <a:off x="1046100" y="1294188"/>
            <a:ext cx="7005900" cy="1685400"/>
          </a:xfrm>
          <a:prstGeom prst="rect">
            <a:avLst/>
          </a:prstGeom>
          <a:noFill/>
          <a:ln cap="flat" cmpd="sng" w="952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2425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Char char="●"/>
            </a:pPr>
            <a:r>
              <a:rPr lang="en" sz="1950">
                <a:solidFill>
                  <a:schemeClr val="lt1"/>
                </a:solidFill>
              </a:rPr>
              <a:t>Střední </a:t>
            </a:r>
            <a:r>
              <a:rPr lang="en" sz="1950">
                <a:solidFill>
                  <a:schemeClr val="lt1"/>
                </a:solidFill>
              </a:rPr>
              <a:t>riziko</a:t>
            </a:r>
            <a:endParaRPr sz="1950">
              <a:solidFill>
                <a:schemeClr val="lt1"/>
              </a:solidFill>
            </a:endParaRPr>
          </a:p>
          <a:p>
            <a:pPr indent="-352425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Char char="●"/>
            </a:pPr>
            <a:r>
              <a:rPr lang="en" sz="1950">
                <a:solidFill>
                  <a:schemeClr val="lt1"/>
                </a:solidFill>
              </a:rPr>
              <a:t>Zapisují se pouze metadata</a:t>
            </a:r>
            <a:endParaRPr sz="1950">
              <a:solidFill>
                <a:schemeClr val="lt1"/>
              </a:solidFill>
            </a:endParaRPr>
          </a:p>
          <a:p>
            <a:pPr indent="-352425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Char char="●"/>
            </a:pPr>
            <a:r>
              <a:rPr lang="en" sz="1950">
                <a:solidFill>
                  <a:schemeClr val="lt1"/>
                </a:solidFill>
              </a:rPr>
              <a:t>Zaručeno, že obsah souborů je zapsán dříve, než jsou metadata označena za “odevzdané” v “deníku”</a:t>
            </a:r>
            <a:endParaRPr sz="1950">
              <a:solidFill>
                <a:schemeClr val="lt1"/>
              </a:solidFill>
            </a:endParaRPr>
          </a:p>
          <a:p>
            <a:pPr indent="-352425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Char char="●"/>
            </a:pPr>
            <a:r>
              <a:rPr lang="en" sz="1950">
                <a:solidFill>
                  <a:schemeClr val="lt1"/>
                </a:solidFill>
              </a:rPr>
              <a:t>Často výchozí nastavení v linux distros</a:t>
            </a:r>
            <a:endParaRPr sz="1950">
              <a:solidFill>
                <a:schemeClr val="lt1"/>
              </a:solidFill>
            </a:endParaRPr>
          </a:p>
        </p:txBody>
      </p:sp>
      <p:pic>
        <p:nvPicPr>
          <p:cNvPr id="158" name="Google Shape;15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1700" y="0"/>
            <a:ext cx="4894699" cy="11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4650" y="4408025"/>
            <a:ext cx="4894699" cy="73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2"/>
          <p:cNvSpPr txBox="1"/>
          <p:nvPr/>
        </p:nvSpPr>
        <p:spPr>
          <a:xfrm>
            <a:off x="2620200" y="222025"/>
            <a:ext cx="38577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Uspořádaný </a:t>
            </a:r>
            <a:r>
              <a:rPr lang="en" sz="31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zápis</a:t>
            </a:r>
            <a:endParaRPr sz="31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074" y="370137"/>
            <a:ext cx="7827950" cy="44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3"/>
          <p:cNvSpPr txBox="1"/>
          <p:nvPr/>
        </p:nvSpPr>
        <p:spPr>
          <a:xfrm>
            <a:off x="1046100" y="1294188"/>
            <a:ext cx="7005900" cy="1685400"/>
          </a:xfrm>
          <a:prstGeom prst="rect">
            <a:avLst/>
          </a:prstGeom>
          <a:noFill/>
          <a:ln cap="flat" cmpd="sng" w="952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2425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Char char="●"/>
            </a:pPr>
            <a:r>
              <a:rPr lang="en" sz="1950">
                <a:solidFill>
                  <a:schemeClr val="lt1"/>
                </a:solidFill>
              </a:rPr>
              <a:t>Nejvyšší riziko</a:t>
            </a:r>
            <a:endParaRPr sz="1950">
              <a:solidFill>
                <a:schemeClr val="lt1"/>
              </a:solidFill>
            </a:endParaRPr>
          </a:p>
          <a:p>
            <a:pPr indent="-352425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Char char="●"/>
            </a:pPr>
            <a:r>
              <a:rPr lang="en" sz="1950">
                <a:solidFill>
                  <a:schemeClr val="lt1"/>
                </a:solidFill>
              </a:rPr>
              <a:t>Zapisují se jen metadata</a:t>
            </a:r>
            <a:endParaRPr sz="1950">
              <a:solidFill>
                <a:schemeClr val="lt1"/>
              </a:solidFill>
            </a:endParaRPr>
          </a:p>
          <a:p>
            <a:pPr indent="-352425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Char char="●"/>
            </a:pPr>
            <a:r>
              <a:rPr lang="en" sz="1950">
                <a:solidFill>
                  <a:schemeClr val="lt1"/>
                </a:solidFill>
              </a:rPr>
              <a:t>Obsah se zapisuje před/po aktualizaci “deníku”</a:t>
            </a:r>
            <a:endParaRPr sz="1950">
              <a:solidFill>
                <a:schemeClr val="lt1"/>
              </a:solidFill>
            </a:endParaRPr>
          </a:p>
          <a:p>
            <a:pPr indent="-352425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Char char="●"/>
            </a:pPr>
            <a:r>
              <a:rPr lang="en" sz="1950">
                <a:solidFill>
                  <a:schemeClr val="lt1"/>
                </a:solidFill>
              </a:rPr>
              <a:t>Může dojít k poškození dat upravených před havárií</a:t>
            </a:r>
            <a:endParaRPr sz="1950">
              <a:solidFill>
                <a:schemeClr val="lt1"/>
              </a:solidFill>
            </a:endParaRPr>
          </a:p>
          <a:p>
            <a:pPr indent="-352425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Char char="●"/>
            </a:pPr>
            <a:r>
              <a:t/>
            </a:r>
            <a:endParaRPr sz="1950">
              <a:solidFill>
                <a:schemeClr val="lt1"/>
              </a:solidFill>
            </a:endParaRPr>
          </a:p>
        </p:txBody>
      </p:sp>
      <p:pic>
        <p:nvPicPr>
          <p:cNvPr id="168" name="Google Shape;16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1700" y="0"/>
            <a:ext cx="4894699" cy="11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4650" y="4408025"/>
            <a:ext cx="4894699" cy="73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3"/>
          <p:cNvSpPr txBox="1"/>
          <p:nvPr/>
        </p:nvSpPr>
        <p:spPr>
          <a:xfrm>
            <a:off x="2620200" y="222025"/>
            <a:ext cx="38577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Zpětný</a:t>
            </a:r>
            <a:r>
              <a:rPr lang="en" sz="31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zápis</a:t>
            </a:r>
            <a:endParaRPr sz="31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074" y="370137"/>
            <a:ext cx="7827950" cy="44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4"/>
          <p:cNvSpPr txBox="1"/>
          <p:nvPr/>
        </p:nvSpPr>
        <p:spPr>
          <a:xfrm>
            <a:off x="1046100" y="1294188"/>
            <a:ext cx="7005900" cy="484800"/>
          </a:xfrm>
          <a:prstGeom prst="rect">
            <a:avLst/>
          </a:prstGeom>
          <a:noFill/>
          <a:ln cap="flat" cmpd="sng" w="952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950">
                <a:solidFill>
                  <a:schemeClr val="lt1"/>
                </a:solidFill>
              </a:rPr>
              <a:t>Linux = málo virů = málo antivirů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78" name="Google Shape;17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1700" y="0"/>
            <a:ext cx="4894699" cy="11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4650" y="4408025"/>
            <a:ext cx="4894699" cy="73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4"/>
          <p:cNvSpPr txBox="1"/>
          <p:nvPr/>
        </p:nvSpPr>
        <p:spPr>
          <a:xfrm>
            <a:off x="2620200" y="222025"/>
            <a:ext cx="38577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Bezpečnost</a:t>
            </a:r>
            <a:endParaRPr sz="31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074" y="370137"/>
            <a:ext cx="7827950" cy="44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5"/>
          <p:cNvSpPr txBox="1"/>
          <p:nvPr/>
        </p:nvSpPr>
        <p:spPr>
          <a:xfrm>
            <a:off x="1046100" y="1294188"/>
            <a:ext cx="7005900" cy="738900"/>
          </a:xfrm>
          <a:prstGeom prst="rect">
            <a:avLst/>
          </a:prstGeom>
          <a:noFill/>
          <a:ln cap="flat" cmpd="sng" w="952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Dvakrát ročně nová verze - podpora 9 měsíců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každé dva roky LTS verze - podpora 5 let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88" name="Google Shape;18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1700" y="0"/>
            <a:ext cx="4894699" cy="11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4650" y="4408025"/>
            <a:ext cx="4894699" cy="73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5"/>
          <p:cNvSpPr txBox="1"/>
          <p:nvPr/>
        </p:nvSpPr>
        <p:spPr>
          <a:xfrm>
            <a:off x="2620200" y="222025"/>
            <a:ext cx="38577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Updaty</a:t>
            </a:r>
            <a:endParaRPr sz="31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074" y="370137"/>
            <a:ext cx="7827950" cy="440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1700" y="0"/>
            <a:ext cx="4894699" cy="11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6"/>
          <p:cNvSpPr txBox="1"/>
          <p:nvPr/>
        </p:nvSpPr>
        <p:spPr>
          <a:xfrm>
            <a:off x="1046100" y="1119388"/>
            <a:ext cx="7005900" cy="461700"/>
          </a:xfrm>
          <a:prstGeom prst="rect">
            <a:avLst/>
          </a:prstGeom>
          <a:noFill/>
          <a:ln cap="flat" cmpd="sng" w="952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Pomocí terminálu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99" name="Google Shape;19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4650" y="4408025"/>
            <a:ext cx="4894699" cy="735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6"/>
          <p:cNvSpPr txBox="1"/>
          <p:nvPr/>
        </p:nvSpPr>
        <p:spPr>
          <a:xfrm>
            <a:off x="2620200" y="222025"/>
            <a:ext cx="38577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Způsoby updatů</a:t>
            </a:r>
            <a:endParaRPr sz="31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01" name="Google Shape;201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50887" y="1772975"/>
            <a:ext cx="4396326" cy="2887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074" y="370137"/>
            <a:ext cx="7827950" cy="440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1700" y="0"/>
            <a:ext cx="4894699" cy="11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7"/>
          <p:cNvSpPr txBox="1"/>
          <p:nvPr/>
        </p:nvSpPr>
        <p:spPr>
          <a:xfrm>
            <a:off x="1046100" y="1119388"/>
            <a:ext cx="7005900" cy="461700"/>
          </a:xfrm>
          <a:prstGeom prst="rect">
            <a:avLst/>
          </a:prstGeom>
          <a:noFill/>
          <a:ln cap="flat" cmpd="sng" w="952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Pomocí “Software Updater” 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210" name="Google Shape;21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4650" y="4408025"/>
            <a:ext cx="4894699" cy="7354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7"/>
          <p:cNvSpPr txBox="1"/>
          <p:nvPr/>
        </p:nvSpPr>
        <p:spPr>
          <a:xfrm>
            <a:off x="2620200" y="222025"/>
            <a:ext cx="38577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Způsoby updatů</a:t>
            </a:r>
            <a:endParaRPr sz="31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12" name="Google Shape;21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79125" y="1581100"/>
            <a:ext cx="3985750" cy="328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074" y="370137"/>
            <a:ext cx="7827950" cy="44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8"/>
          <p:cNvSpPr txBox="1"/>
          <p:nvPr/>
        </p:nvSpPr>
        <p:spPr>
          <a:xfrm>
            <a:off x="1046100" y="1530388"/>
            <a:ext cx="7005900" cy="2401200"/>
          </a:xfrm>
          <a:prstGeom prst="rect">
            <a:avLst/>
          </a:prstGeom>
          <a:noFill/>
          <a:ln cap="flat" cmpd="sng" w="952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GUI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Používaný hlavně na PC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Systém jednoduše ovladatelný  i obyčejným uživatelem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Textové rozhraní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Spíše používaný na serverech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Trochu těžší ovládání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220" name="Google Shape;22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1700" y="0"/>
            <a:ext cx="4894699" cy="11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4650" y="4408025"/>
            <a:ext cx="4894699" cy="735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8"/>
          <p:cNvSpPr txBox="1"/>
          <p:nvPr/>
        </p:nvSpPr>
        <p:spPr>
          <a:xfrm>
            <a:off x="2620200" y="6700"/>
            <a:ext cx="38577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Grafické vs Textové</a:t>
            </a:r>
            <a:endParaRPr sz="29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Rozhraní</a:t>
            </a:r>
            <a:br>
              <a:rPr lang="en" sz="29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" sz="29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(user friendliness)</a:t>
            </a:r>
            <a:endParaRPr sz="29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074" y="370137"/>
            <a:ext cx="7827950" cy="44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9"/>
          <p:cNvSpPr txBox="1"/>
          <p:nvPr/>
        </p:nvSpPr>
        <p:spPr>
          <a:xfrm>
            <a:off x="1046100" y="1294188"/>
            <a:ext cx="7005900" cy="2586000"/>
          </a:xfrm>
          <a:prstGeom prst="rect">
            <a:avLst/>
          </a:prstGeom>
          <a:noFill/>
          <a:ln cap="flat" cmpd="sng" w="952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2425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Char char="●"/>
            </a:pPr>
            <a:r>
              <a:rPr lang="en" sz="1950">
                <a:solidFill>
                  <a:schemeClr val="lt1"/>
                </a:solidFill>
              </a:rPr>
              <a:t>+ User friendly oproti některým distros</a:t>
            </a:r>
            <a:endParaRPr sz="1950">
              <a:solidFill>
                <a:schemeClr val="lt1"/>
              </a:solidFill>
            </a:endParaRPr>
          </a:p>
          <a:p>
            <a:pPr indent="-352425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Char char="●"/>
            </a:pPr>
            <a:r>
              <a:rPr lang="en" sz="1950">
                <a:solidFill>
                  <a:schemeClr val="lt1"/>
                </a:solidFill>
              </a:rPr>
              <a:t>+ Jedno z nejpoužívanějších distros</a:t>
            </a:r>
            <a:endParaRPr sz="1950">
              <a:solidFill>
                <a:schemeClr val="lt1"/>
              </a:solidFill>
            </a:endParaRPr>
          </a:p>
          <a:p>
            <a:pPr indent="-352425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Char char="●"/>
            </a:pPr>
            <a:r>
              <a:rPr lang="en" sz="1950">
                <a:solidFill>
                  <a:schemeClr val="lt1"/>
                </a:solidFill>
              </a:rPr>
              <a:t>+ Vysoká podpora komunity</a:t>
            </a:r>
            <a:endParaRPr sz="1950">
              <a:solidFill>
                <a:schemeClr val="lt1"/>
              </a:solidFill>
            </a:endParaRPr>
          </a:p>
          <a:p>
            <a:pPr indent="-352425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Char char="●"/>
            </a:pPr>
            <a:r>
              <a:rPr lang="en" sz="1950">
                <a:solidFill>
                  <a:schemeClr val="lt1"/>
                </a:solidFill>
              </a:rPr>
              <a:t>+ Jde rozjet na bramboře</a:t>
            </a:r>
            <a:endParaRPr sz="1950">
              <a:solidFill>
                <a:schemeClr val="lt1"/>
              </a:solidFill>
            </a:endParaRPr>
          </a:p>
          <a:p>
            <a:pPr indent="-352425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Char char="●"/>
            </a:pPr>
            <a:r>
              <a:rPr lang="en" sz="1950">
                <a:solidFill>
                  <a:schemeClr val="lt1"/>
                </a:solidFill>
              </a:rPr>
              <a:t>- Ne všechny hry jdou spustit (linux problem)</a:t>
            </a:r>
            <a:endParaRPr sz="1950">
              <a:solidFill>
                <a:schemeClr val="lt1"/>
              </a:solidFill>
            </a:endParaRPr>
          </a:p>
          <a:p>
            <a:pPr indent="-352425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Char char="●"/>
            </a:pPr>
            <a:r>
              <a:rPr lang="en" sz="1950">
                <a:solidFill>
                  <a:schemeClr val="lt1"/>
                </a:solidFill>
              </a:rPr>
              <a:t>- Občasné problémy s kompatibilitou hw </a:t>
            </a:r>
            <a:br>
              <a:rPr lang="en" sz="1950">
                <a:solidFill>
                  <a:schemeClr val="lt1"/>
                </a:solidFill>
              </a:rPr>
            </a:br>
            <a:r>
              <a:rPr lang="en" sz="1950">
                <a:solidFill>
                  <a:schemeClr val="lt1"/>
                </a:solidFill>
              </a:rPr>
              <a:t>(osobně zatím bez problému)</a:t>
            </a:r>
            <a:endParaRPr sz="1950">
              <a:solidFill>
                <a:schemeClr val="lt1"/>
              </a:solidFill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50">
              <a:solidFill>
                <a:schemeClr val="lt1"/>
              </a:solidFill>
            </a:endParaRPr>
          </a:p>
        </p:txBody>
      </p:sp>
      <p:pic>
        <p:nvPicPr>
          <p:cNvPr id="230" name="Google Shape;23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1700" y="0"/>
            <a:ext cx="4894699" cy="11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4650" y="4408025"/>
            <a:ext cx="4894699" cy="73547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9"/>
          <p:cNvSpPr txBox="1"/>
          <p:nvPr/>
        </p:nvSpPr>
        <p:spPr>
          <a:xfrm>
            <a:off x="2620200" y="222025"/>
            <a:ext cx="38577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Odlišnosti/Zvláštnosti</a:t>
            </a:r>
            <a:endParaRPr sz="26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937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Georgia"/>
              <a:buChar char="+"/>
            </a:pPr>
            <a:r>
              <a:rPr lang="en" sz="2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popularita</a:t>
            </a:r>
            <a:endParaRPr sz="26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074" y="370137"/>
            <a:ext cx="7827950" cy="44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0"/>
          <p:cNvSpPr txBox="1"/>
          <p:nvPr/>
        </p:nvSpPr>
        <p:spPr>
          <a:xfrm>
            <a:off x="1046100" y="1294188"/>
            <a:ext cx="7005900" cy="1685400"/>
          </a:xfrm>
          <a:prstGeom prst="rect">
            <a:avLst/>
          </a:prstGeom>
          <a:noFill/>
          <a:ln cap="flat" cmpd="sng" w="952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950">
                <a:solidFill>
                  <a:schemeClr val="lt1"/>
                </a:solidFill>
              </a:rPr>
              <a:t>Používali jste někdo Ubuntu?</a:t>
            </a:r>
            <a:endParaRPr sz="1950">
              <a:solidFill>
                <a:schemeClr val="lt1"/>
              </a:solidFill>
            </a:endParaRPr>
          </a:p>
          <a:p>
            <a:pPr indent="-352425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Char char="●"/>
            </a:pPr>
            <a:r>
              <a:rPr lang="en" sz="1950">
                <a:solidFill>
                  <a:schemeClr val="lt1"/>
                </a:solidFill>
              </a:rPr>
              <a:t>Plánujete někdo používat Ubuntu? Proč ne?</a:t>
            </a:r>
            <a:endParaRPr sz="1950">
              <a:solidFill>
                <a:schemeClr val="lt1"/>
              </a:solidFill>
            </a:endParaRPr>
          </a:p>
          <a:p>
            <a:pPr indent="-352425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Char char="●"/>
            </a:pPr>
            <a:r>
              <a:rPr lang="en" sz="1950">
                <a:solidFill>
                  <a:schemeClr val="lt1"/>
                </a:solidFill>
              </a:rPr>
              <a:t>Myslíte si, že by ubuntu šlo spustit i na bramboře?</a:t>
            </a:r>
            <a:endParaRPr sz="1950">
              <a:solidFill>
                <a:schemeClr val="lt1"/>
              </a:solidFill>
            </a:endParaRPr>
          </a:p>
          <a:p>
            <a:pPr indent="-352425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Char char="●"/>
            </a:pPr>
            <a:r>
              <a:rPr lang="en" sz="1950">
                <a:solidFill>
                  <a:schemeClr val="lt1"/>
                </a:solidFill>
              </a:rPr>
              <a:t>Vidíte nějaké výhody oproti Windows?</a:t>
            </a:r>
            <a:endParaRPr sz="1950">
              <a:solidFill>
                <a:schemeClr val="lt1"/>
              </a:solidFill>
            </a:endParaRPr>
          </a:p>
          <a:p>
            <a:pPr indent="-352425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Char char="●"/>
            </a:pPr>
            <a:r>
              <a:t/>
            </a:r>
            <a:endParaRPr sz="1950">
              <a:solidFill>
                <a:schemeClr val="lt1"/>
              </a:solidFill>
            </a:endParaRPr>
          </a:p>
        </p:txBody>
      </p:sp>
      <p:pic>
        <p:nvPicPr>
          <p:cNvPr id="240" name="Google Shape;24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1700" y="0"/>
            <a:ext cx="4894699" cy="11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4650" y="4408025"/>
            <a:ext cx="4894699" cy="73547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0"/>
          <p:cNvSpPr txBox="1"/>
          <p:nvPr/>
        </p:nvSpPr>
        <p:spPr>
          <a:xfrm>
            <a:off x="2620200" y="222025"/>
            <a:ext cx="38577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Diskuze</a:t>
            </a:r>
            <a:endParaRPr sz="31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074" y="370137"/>
            <a:ext cx="7827950" cy="44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1"/>
          <p:cNvSpPr txBox="1"/>
          <p:nvPr/>
        </p:nvSpPr>
        <p:spPr>
          <a:xfrm>
            <a:off x="1046100" y="1294188"/>
            <a:ext cx="7005900" cy="3624900"/>
          </a:xfrm>
          <a:prstGeom prst="rect">
            <a:avLst/>
          </a:prstGeom>
          <a:noFill/>
          <a:ln cap="flat" cmpd="sng" w="952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i="1" lang="en" sz="1800">
                <a:solidFill>
                  <a:schemeClr val="lt1"/>
                </a:solidFill>
                <a:highlight>
                  <a:srgbClr val="000000"/>
                </a:highlight>
              </a:rPr>
              <a:t>Canonical</a:t>
            </a:r>
            <a:r>
              <a:rPr lang="en" sz="1800">
                <a:solidFill>
                  <a:schemeClr val="lt1"/>
                </a:solidFill>
                <a:highlight>
                  <a:srgbClr val="000000"/>
                </a:highlight>
              </a:rPr>
              <a:t> [online]. [cit. 2022-11-20]. Dostupné z: </a:t>
            </a:r>
            <a:r>
              <a:rPr lang="en" sz="1800" u="sng">
                <a:solidFill>
                  <a:schemeClr val="hlink"/>
                </a:solidFill>
                <a:highlight>
                  <a:srgbClr val="000000"/>
                </a:highlight>
                <a:hlinkClick r:id="rId5"/>
              </a:rPr>
              <a:t>https://ubuntu.com</a:t>
            </a:r>
            <a:endParaRPr sz="1800">
              <a:solidFill>
                <a:schemeClr val="lt1"/>
              </a:solidFill>
              <a:highlight>
                <a:srgbClr val="000000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i="1" lang="en" sz="1800">
                <a:solidFill>
                  <a:schemeClr val="lt1"/>
                </a:solidFill>
                <a:highlight>
                  <a:srgbClr val="000000"/>
                </a:highlight>
              </a:rPr>
              <a:t>Dell Technologies: Popis typů a definic oddílů a adresářů systému Ubuntu Linux</a:t>
            </a:r>
            <a:r>
              <a:rPr lang="en" sz="1800">
                <a:solidFill>
                  <a:schemeClr val="lt1"/>
                </a:solidFill>
                <a:highlight>
                  <a:srgbClr val="000000"/>
                </a:highlight>
              </a:rPr>
              <a:t> [online]. [cit. 2022-11-20]. Dostupné z: </a:t>
            </a:r>
            <a:r>
              <a:rPr lang="en" sz="1800" u="sng">
                <a:solidFill>
                  <a:schemeClr val="hlink"/>
                </a:solidFill>
                <a:highlight>
                  <a:srgbClr val="000000"/>
                </a:highlight>
                <a:hlinkClick r:id="rId6"/>
              </a:rPr>
              <a:t>https://www.dell.com/support/kbdoc/cs-cz/000131456/vysvětlen-iacute-typů-a-definic-odd-iacute-lů-a-adres-aacute-řů-syst-eacute-mu-ubuntu-linux#FileSystem</a:t>
            </a:r>
            <a:endParaRPr sz="1800">
              <a:solidFill>
                <a:schemeClr val="lt1"/>
              </a:solidFill>
              <a:highlight>
                <a:srgbClr val="000000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  <a:highlight>
                  <a:srgbClr val="000000"/>
                </a:highlight>
              </a:rPr>
              <a:t>EXT3. In: Wikipedia: the free encyclopedia [online]. San Francisco (CA): Wikimedia Foundation, 2001- [cit. 2022-11-20]. Dostupné z: </a:t>
            </a:r>
            <a:r>
              <a:rPr lang="en" sz="1800" u="sng">
                <a:solidFill>
                  <a:schemeClr val="hlink"/>
                </a:solidFill>
                <a:highlight>
                  <a:srgbClr val="000000"/>
                </a:highlight>
                <a:hlinkClick r:id="rId7"/>
              </a:rPr>
              <a:t>https://en.wikipedia.org/wiki/Ext3</a:t>
            </a:r>
            <a:endParaRPr sz="1800">
              <a:solidFill>
                <a:schemeClr val="lt1"/>
              </a:solidFill>
              <a:highlight>
                <a:srgbClr val="000000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t/>
            </a:r>
            <a:endParaRPr sz="1800">
              <a:solidFill>
                <a:schemeClr val="lt1"/>
              </a:solidFill>
              <a:highlight>
                <a:srgbClr val="000000"/>
              </a:highlight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50">
              <a:solidFill>
                <a:schemeClr val="lt1"/>
              </a:solidFill>
            </a:endParaRPr>
          </a:p>
        </p:txBody>
      </p:sp>
      <p:pic>
        <p:nvPicPr>
          <p:cNvPr id="250" name="Google Shape;25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1700" y="0"/>
            <a:ext cx="4894699" cy="11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4650" y="4408025"/>
            <a:ext cx="4894699" cy="73547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1"/>
          <p:cNvSpPr txBox="1"/>
          <p:nvPr/>
        </p:nvSpPr>
        <p:spPr>
          <a:xfrm>
            <a:off x="2620200" y="222025"/>
            <a:ext cx="38577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Citace - WIP</a:t>
            </a:r>
            <a:endParaRPr sz="31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5074" y="370137"/>
            <a:ext cx="7827950" cy="44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2"/>
          <p:cNvSpPr txBox="1"/>
          <p:nvPr/>
        </p:nvSpPr>
        <p:spPr>
          <a:xfrm>
            <a:off x="1046100" y="1294188"/>
            <a:ext cx="7005900" cy="484800"/>
          </a:xfrm>
          <a:prstGeom prst="rect">
            <a:avLst/>
          </a:prstGeom>
          <a:noFill/>
          <a:ln cap="flat" cmpd="sng" w="952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950">
                <a:solidFill>
                  <a:schemeClr val="lt1"/>
                </a:solidFill>
              </a:rPr>
              <a:t>text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260" name="Google Shape;260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01700" y="0"/>
            <a:ext cx="4894699" cy="11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24650" y="4408025"/>
            <a:ext cx="4894699" cy="73547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2"/>
          <p:cNvSpPr txBox="1"/>
          <p:nvPr/>
        </p:nvSpPr>
        <p:spPr>
          <a:xfrm>
            <a:off x="2620200" y="222025"/>
            <a:ext cx="38577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title</a:t>
            </a:r>
            <a:endParaRPr sz="31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