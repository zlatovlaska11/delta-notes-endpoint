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87" r:id="rId5"/>
  </p:sldMasterIdLst>
  <p:sldIdLst>
    <p:sldId id="271" r:id="rId6"/>
    <p:sldId id="270" r:id="rId7"/>
    <p:sldId id="257" r:id="rId8"/>
    <p:sldId id="258" r:id="rId9"/>
    <p:sldId id="261" r:id="rId10"/>
    <p:sldId id="262" r:id="rId11"/>
    <p:sldId id="263" r:id="rId12"/>
    <p:sldId id="267" r:id="rId13"/>
    <p:sldId id="269" r:id="rId14"/>
    <p:sldId id="265" r:id="rId15"/>
    <p:sldId id="266" r:id="rId16"/>
    <p:sldId id="260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6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A4DAC-B5F8-4B44-91F8-34BD6E1D9DA8}" v="5" dt="2022-11-21T07:19:13.062"/>
    <p1510:client id="{5B4F2133-6233-44E7-99B6-13184E86954F}" v="282" vWet="284" dt="2022-11-20T21:04:49.206"/>
    <p1510:client id="{BF740417-667B-A21C-D11E-CCEBEA166A61}" v="964" dt="2022-11-20T21:39:41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91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11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17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60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05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59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03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7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2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3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2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00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0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7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6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73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13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1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28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71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3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0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13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27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6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0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76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11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84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6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0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1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e.com/cz/ios/ios-16/" TargetMode="External"/><Relationship Id="rId7" Type="http://schemas.openxmlformats.org/officeDocument/2006/relationships/hyperlink" Target="https://support.apple.com/cs-cz/guide/iphone/iph6e7d349d1/ios" TargetMode="External"/><Relationship Id="rId2" Type="http://schemas.openxmlformats.org/officeDocument/2006/relationships/hyperlink" Target="https://cs.wikipedia.org/wiki/Souborov%C3%BD_syst%C3%A9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zbozi.cz/magazin/c/srovnani-androidu-a-ios/" TargetMode="External"/><Relationship Id="rId5" Type="http://schemas.openxmlformats.org/officeDocument/2006/relationships/hyperlink" Target="https://www.mediaguru.cz/slovnik-a-mediatypy/slovnik/klicova-slova/user-friendly/" TargetMode="External"/><Relationship Id="rId4" Type="http://schemas.openxmlformats.org/officeDocument/2006/relationships/hyperlink" Target="https://recoverhdd.com/wp-content/themes/soft/images/blog/apfs-file-system/apfs-logo.web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8FC577E8-61B0-71C1-8645-4694BCAEF3F0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5">
            <a:extLst>
              <a:ext uri="{FF2B5EF4-FFF2-40B4-BE49-F238E27FC236}">
                <a16:creationId xmlns:a16="http://schemas.microsoft.com/office/drawing/2014/main" id="{DF1600E9-69D4-33C2-DE67-8945F831BF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72" r="-195" b="24951"/>
          <a:stretch/>
        </p:blipFill>
        <p:spPr>
          <a:xfrm>
            <a:off x="2295274" y="1047783"/>
            <a:ext cx="7674044" cy="3882200"/>
          </a:xfrm>
          <a:prstGeom prst="rect">
            <a:avLst/>
          </a:prstGeom>
        </p:spPr>
      </p:pic>
      <p:sp>
        <p:nvSpPr>
          <p:cNvPr id="3" name="Podnadpis 2">
            <a:extLst>
              <a:ext uri="{FF2B5EF4-FFF2-40B4-BE49-F238E27FC236}">
                <a16:creationId xmlns:a16="http://schemas.microsoft.com/office/drawing/2014/main" id="{26569C34-C776-EA00-F584-B2F458B22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201" y="4705919"/>
            <a:ext cx="7197726" cy="370653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1"/>
                </a:solidFill>
                <a:latin typeface="Franklin Gothic"/>
                <a:cs typeface="Calibri"/>
              </a:rPr>
              <a:t>RADEK DOLEJŠKA, JAKUB KUDLAČÍK, ONDŘEJ KREJČÍ</a:t>
            </a:r>
          </a:p>
        </p:txBody>
      </p:sp>
    </p:spTree>
    <p:extLst>
      <p:ext uri="{BB962C8B-B14F-4D97-AF65-F5344CB8AC3E}">
        <p14:creationId xmlns:p14="http://schemas.microsoft.com/office/powerpoint/2010/main" val="1823754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>
            <a:extLst>
              <a:ext uri="{FF2B5EF4-FFF2-40B4-BE49-F238E27FC236}">
                <a16:creationId xmlns:a16="http://schemas.microsoft.com/office/drawing/2014/main" id="{05D19C25-03FC-2CC3-F1E0-548A11D71AF0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F66C886-BB48-36EF-72AA-37C5236B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724" y="638908"/>
            <a:ext cx="10131425" cy="1456267"/>
          </a:xfrm>
        </p:spPr>
        <p:txBody>
          <a:bodyPr/>
          <a:lstStyle/>
          <a:p>
            <a:r>
              <a:rPr lang="cs-CZ" sz="6000">
                <a:solidFill>
                  <a:srgbClr val="E84648"/>
                </a:solidFill>
                <a:latin typeface="Franklin Gothic"/>
              </a:rPr>
              <a:t>Seznámení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 s iOS</a:t>
            </a:r>
            <a:endParaRPr lang="cs-CZ">
              <a:solidFill>
                <a:srgbClr val="E84648"/>
              </a:solidFill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9C30A2-571B-F27D-68A5-5BBF7EC10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1" y="2063914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  <a:latin typeface="Franklin Gothic"/>
              </a:rPr>
              <a:t>      Je to mobilní operační systém pro zařízení iPhone od společnosti Apple.</a:t>
            </a:r>
            <a:endParaRPr lang="cs-CZ">
              <a:solidFill>
                <a:srgbClr val="E84648"/>
              </a:solidFill>
              <a:cs typeface="Calibri" panose="020F0502020204030204"/>
            </a:endParaRPr>
          </a:p>
          <a:p>
            <a:r>
              <a:rPr lang="en-US">
                <a:solidFill>
                  <a:srgbClr val="E84648"/>
                </a:solidFill>
                <a:latin typeface="Franklin Gothic"/>
              </a:rPr>
              <a:t>     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První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verze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byla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vydaná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6.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března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2008.</a:t>
            </a: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   Původně se jmenoval „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iPhone software development kit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“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(iPhone SDK).</a:t>
            </a:r>
          </a:p>
          <a:p>
            <a:r>
              <a:rPr lang="en-US">
                <a:solidFill>
                  <a:srgbClr val="E84648"/>
                </a:solidFill>
                <a:latin typeface="Franklin Gothic"/>
              </a:rPr>
              <a:t>     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Systém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byl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 7. června 2010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přejmenován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na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"iOS".</a:t>
            </a:r>
          </a:p>
          <a:p>
            <a:endParaRPr lang="en-US">
              <a:solidFill>
                <a:srgbClr val="E84648"/>
              </a:solidFill>
              <a:latin typeface="Franklin Gothic"/>
            </a:endParaRPr>
          </a:p>
          <a:p>
            <a:endParaRPr lang="cs-CZ">
              <a:solidFill>
                <a:srgbClr val="E84648"/>
              </a:solidFill>
              <a:cs typeface="Calibri" panose="020F0502020204030204"/>
            </a:endParaRPr>
          </a:p>
        </p:txBody>
      </p:sp>
      <p:pic>
        <p:nvPicPr>
          <p:cNvPr id="10" name="Obrázek 10" descr="Obsah obrázku text, interiér, různé, uspořádáno&#10;&#10;Popis se vygeneroval automaticky.">
            <a:extLst>
              <a:ext uri="{FF2B5EF4-FFF2-40B4-BE49-F238E27FC236}">
                <a16:creationId xmlns:a16="http://schemas.microsoft.com/office/drawing/2014/main" id="{1B73B3B2-75FA-C743-1EFA-25831508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86" y="3520178"/>
            <a:ext cx="4091353" cy="273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61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6371671D-B473-75F3-8927-5D4AF59FF763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9BA485B-D663-724A-0A4A-935A91989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724" y="599831"/>
            <a:ext cx="10131425" cy="1456267"/>
          </a:xfrm>
        </p:spPr>
        <p:txBody>
          <a:bodyPr/>
          <a:lstStyle/>
          <a:p>
            <a:r>
              <a:rPr lang="cs-CZ" sz="4800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hardware požadavky</a:t>
            </a:r>
            <a:r>
              <a:rPr lang="cs-CZ" sz="4000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 pro </a:t>
            </a:r>
            <a:r>
              <a:rPr lang="cs-CZ" sz="4000" err="1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ios</a:t>
            </a:r>
            <a:endParaRPr lang="en-US" sz="4000">
              <a:solidFill>
                <a:srgbClr val="E84648"/>
              </a:solidFill>
              <a:latin typeface="Franklin Gothic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FBC0F2-53FF-FF52-AA6F-BC39C083C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16" y="2142067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</a:rPr>
              <a:t>     Minimální systémové požadavky si určuje sám Apple.</a:t>
            </a:r>
          </a:p>
          <a:p>
            <a:pPr>
              <a:buClr>
                <a:srgbClr val="FFFFFF"/>
              </a:buClr>
            </a:pPr>
            <a:r>
              <a:rPr lang="cs-CZ">
                <a:solidFill>
                  <a:srgbClr val="E84648"/>
                </a:solidFill>
              </a:rPr>
              <a:t>     Proto si může určit od jaké řady daný OS bude fungovat.</a:t>
            </a:r>
            <a:endParaRPr lang="cs-CZ">
              <a:solidFill>
                <a:srgbClr val="E84648"/>
              </a:solidFill>
              <a:cs typeface="Calibri"/>
            </a:endParaRPr>
          </a:p>
          <a:p>
            <a:r>
              <a:rPr lang="cs-CZ">
                <a:solidFill>
                  <a:srgbClr val="E84648"/>
                </a:solidFill>
              </a:rPr>
              <a:t>     Např. U poslední verze systému si Apple určil podporu od iPhone 8 a vyšší.</a:t>
            </a:r>
            <a:endParaRPr lang="cs-CZ">
              <a:solidFill>
                <a:srgbClr val="E84648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92086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>
            <a:extLst>
              <a:ext uri="{FF2B5EF4-FFF2-40B4-BE49-F238E27FC236}">
                <a16:creationId xmlns:a16="http://schemas.microsoft.com/office/drawing/2014/main" id="{EF369288-B61B-3CE3-83C1-A9934041AA71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CCDC7-14EA-E803-D3CC-2C51144A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>
                <a:solidFill>
                  <a:srgbClr val="E84648"/>
                </a:solidFill>
                <a:latin typeface="Franklin Gothic"/>
                <a:ea typeface="STKaiti"/>
              </a:rPr>
              <a:t>Souborové</a:t>
            </a:r>
            <a:r>
              <a:rPr lang="cs-CZ" sz="4800" b="0" i="0" u="none" strike="noStrike">
                <a:solidFill>
                  <a:srgbClr val="E84648"/>
                </a:solidFill>
                <a:effectLst/>
                <a:latin typeface="Franklin Gothic"/>
                <a:ea typeface="STKaiti"/>
              </a:rPr>
              <a:t> systémy</a:t>
            </a:r>
            <a:endParaRPr lang="en-US" sz="4800">
              <a:solidFill>
                <a:srgbClr val="E84648"/>
              </a:solidFill>
              <a:latin typeface="Franklin Gothic"/>
              <a:ea typeface="STKaiti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45B3-BD0F-4BCB-48A6-6C96C7C0D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03" y="1904267"/>
            <a:ext cx="9090739" cy="4246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  <a:latin typeface="Franklin Gothic"/>
              </a:rPr>
              <a:t>  Dříve HFS+.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en-US">
                <a:solidFill>
                  <a:srgbClr val="E84648"/>
                </a:solidFill>
                <a:latin typeface="Franklin Gothic"/>
              </a:rPr>
              <a:t>  Od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roku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2017 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- 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Apple File System APFS.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en-US">
                <a:solidFill>
                  <a:srgbClr val="E84648"/>
                </a:solidFill>
                <a:latin typeface="Franklin Gothic"/>
              </a:rPr>
              <a:t> 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Vyvinutý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Apple Inc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en-US">
                <a:solidFill>
                  <a:srgbClr val="E84648"/>
                </a:solidFill>
                <a:latin typeface="Franklin Gothic"/>
              </a:rPr>
              <a:t> 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Proprietární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systém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souborů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Dostupný od těchto verzí a výše: 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E84648"/>
                </a:solidFill>
                <a:latin typeface="Franklin Gothic"/>
              </a:rPr>
              <a:t>  macOS Sierra, iOS 10.3,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tvOS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10.2,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watchOS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3.2 a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iPadOS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endParaRPr lang="cs-CZ">
              <a:solidFill>
                <a:srgbClr val="E84648"/>
              </a:solidFill>
              <a:cs typeface="Calibri"/>
            </a:endParaRPr>
          </a:p>
          <a:p>
            <a:endParaRPr lang="en-US">
              <a:solidFill>
                <a:srgbClr val="E84648"/>
              </a:solidFill>
              <a:cs typeface="Calibri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E13FE8E-BBCA-8EDF-D987-19E630FCB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922" y="2038453"/>
            <a:ext cx="4357903" cy="22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13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>
            <a:extLst>
              <a:ext uri="{FF2B5EF4-FFF2-40B4-BE49-F238E27FC236}">
                <a16:creationId xmlns:a16="http://schemas.microsoft.com/office/drawing/2014/main" id="{34FADFA6-F3A9-C14C-13C9-67DAE5390318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AE7EDC4-C777-B418-4575-770CF4AA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Aktualizace</a:t>
            </a:r>
            <a:endParaRPr lang="cs-CZ" sz="5400">
              <a:solidFill>
                <a:srgbClr val="E84648"/>
              </a:solidFill>
              <a:latin typeface="Franklin Gothic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C0B3D6-9490-64B2-653C-EFDCDD62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26" y="1904267"/>
            <a:ext cx="7967277" cy="4246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</a:rPr>
              <a:t>  </a:t>
            </a:r>
            <a:r>
              <a:rPr lang="cs-CZ">
                <a:solidFill>
                  <a:srgbClr val="E84648"/>
                </a:solidFill>
                <a:latin typeface="Calibri"/>
                <a:cs typeface="Calibri"/>
              </a:rPr>
              <a:t> 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Přejděte do Nastavení &gt; Obecné &gt; Aktualizace softwaru.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Automatické aktualizace.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Při aktualizaci je potřeba zařízení restartovat.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Drivery se u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iPhone se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instalují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automaticky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při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aktualizacích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 </a:t>
            </a:r>
            <a:r>
              <a:rPr lang="en-US" err="1">
                <a:solidFill>
                  <a:srgbClr val="E84648"/>
                </a:solidFill>
                <a:latin typeface="Franklin Gothic"/>
              </a:rPr>
              <a:t>systému</a:t>
            </a:r>
            <a:r>
              <a:rPr lang="en-US">
                <a:solidFill>
                  <a:srgbClr val="E84648"/>
                </a:solidFill>
                <a:latin typeface="Franklin Gothic"/>
              </a:rPr>
              <a:t>.</a:t>
            </a:r>
            <a:endParaRPr lang="en-US">
              <a:solidFill>
                <a:srgbClr val="E84648"/>
              </a:solidFill>
              <a:latin typeface="Franklin Gothic"/>
              <a:cs typeface="Calibri"/>
            </a:endParaRPr>
          </a:p>
          <a:p>
            <a:endParaRPr lang="cs-CZ">
              <a:solidFill>
                <a:srgbClr val="E84648"/>
              </a:solidFill>
              <a:cs typeface="Calibri"/>
            </a:endParaRPr>
          </a:p>
          <a:p>
            <a:endParaRPr lang="cs-CZ">
              <a:solidFill>
                <a:srgbClr val="E84648"/>
              </a:solidFill>
              <a:cs typeface="Calibri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088D502-5F32-B93E-9E7F-C3273F79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36" y="968399"/>
            <a:ext cx="2275461" cy="49199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Obrázek 7">
            <a:extLst>
              <a:ext uri="{FF2B5EF4-FFF2-40B4-BE49-F238E27FC236}">
                <a16:creationId xmlns:a16="http://schemas.microsoft.com/office/drawing/2014/main" id="{487404E1-B0BE-0530-B2FD-2093D410F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937" y="3774178"/>
            <a:ext cx="3554047" cy="237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55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D647B36C-8CFE-7BF4-013C-EB29A27A950C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070A27B-47B2-4656-E8EA-5BC214A4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Bezpečnost</a:t>
            </a:r>
            <a:endParaRPr lang="cs-CZ" sz="4800">
              <a:solidFill>
                <a:srgbClr val="E84648"/>
              </a:solidFill>
              <a:latin typeface="Franklin Gothic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3DBADA-DEAA-1252-0C9E-317343A19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16" y="2102990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  <a:latin typeface="Franklin Gothic"/>
              </a:rPr>
              <a:t>   iPhony jsou bezpečnější zejména z toho důvodu, že představují menšinu na trhu.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   Apple </a:t>
            </a:r>
            <a:r>
              <a:rPr lang="cs-CZ" err="1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Store</a:t>
            </a:r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 má přísnější pravidla pro prověření aplikací.</a:t>
            </a: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Antivirovou aplikaci, která by umožňovala kontrolu celého zařízení </a:t>
            </a:r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v Apple </a:t>
            </a:r>
            <a:r>
              <a:rPr lang="cs-CZ" err="1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Store</a:t>
            </a:r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 nenajdete.</a:t>
            </a: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Funkce Najít.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</p:txBody>
      </p:sp>
      <p:pic>
        <p:nvPicPr>
          <p:cNvPr id="6" name="Obrázek 6">
            <a:extLst>
              <a:ext uri="{FF2B5EF4-FFF2-40B4-BE49-F238E27FC236}">
                <a16:creationId xmlns:a16="http://schemas.microsoft.com/office/drawing/2014/main" id="{738D92D2-15E1-D6E6-9402-D8D2844C15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1" t="4891" r="6910" b="12889"/>
          <a:stretch/>
        </p:blipFill>
        <p:spPr>
          <a:xfrm>
            <a:off x="7430476" y="3523761"/>
            <a:ext cx="3769208" cy="263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05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90093AB3-385D-C25A-7F3B-519D05AD811F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E26AF5B-9857-23CE-19CC-79F4B42F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400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Vizuální stránka IOS</a:t>
            </a:r>
            <a:endParaRPr lang="cs-CZ" sz="4400">
              <a:solidFill>
                <a:srgbClr val="E84648"/>
              </a:solidFill>
              <a:latin typeface="Franklin Gothic"/>
              <a:cs typeface="Calibri Light"/>
            </a:endParaRPr>
          </a:p>
        </p:txBody>
      </p:sp>
      <p:pic>
        <p:nvPicPr>
          <p:cNvPr id="6" name="Obrázek 6">
            <a:extLst>
              <a:ext uri="{FF2B5EF4-FFF2-40B4-BE49-F238E27FC236}">
                <a16:creationId xmlns:a16="http://schemas.microsoft.com/office/drawing/2014/main" id="{E54D44BC-2B0A-7918-E551-E633D658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861" y="2699141"/>
            <a:ext cx="7256584" cy="3823872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2D2A9B-B216-16D7-94A4-F59ADE70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09" y="2171375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  <a:latin typeface="Franklin Gothic"/>
              </a:rPr>
              <a:t>    Velice originální, elegantní a jednoduchý vzhled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r>
              <a:rPr lang="cs-CZ">
                <a:solidFill>
                  <a:srgbClr val="E84648"/>
                </a:solidFill>
                <a:latin typeface="Franklin Gothic"/>
              </a:rPr>
              <a:t>    Využívá hodně minimalistického stylu, kvůli jednoduchému vyznání se v systému a ovládání.</a:t>
            </a: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endParaRPr lang="cs-CZ">
              <a:solidFill>
                <a:srgbClr val="E84648"/>
              </a:solidFill>
              <a:cs typeface="Calibri"/>
            </a:endParaRPr>
          </a:p>
        </p:txBody>
      </p:sp>
      <p:pic>
        <p:nvPicPr>
          <p:cNvPr id="7" name="Obrázek 7">
            <a:extLst>
              <a:ext uri="{FF2B5EF4-FFF2-40B4-BE49-F238E27FC236}">
                <a16:creationId xmlns:a16="http://schemas.microsoft.com/office/drawing/2014/main" id="{BE567AEC-68A6-C0DA-3951-B0AD219DC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3" y="3226094"/>
            <a:ext cx="4374662" cy="297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6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68FD8F2E-C2AE-EF76-0D20-201CAEEFC739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E26AF5B-9857-23CE-19CC-79F4B42F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User-</a:t>
            </a:r>
            <a:r>
              <a:rPr lang="cs-CZ" sz="4400" err="1">
                <a:solidFill>
                  <a:srgbClr val="E84648"/>
                </a:solidFill>
                <a:latin typeface="Franklin Gothic"/>
                <a:ea typeface="+mj-lt"/>
                <a:cs typeface="+mj-lt"/>
              </a:rPr>
              <a:t>friendly</a:t>
            </a:r>
            <a:endParaRPr lang="cs-CZ" sz="4400">
              <a:solidFill>
                <a:srgbClr val="E84648"/>
              </a:solidFill>
              <a:latin typeface="Franklin Gothic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2D2A9B-B216-16D7-94A4-F59ADE70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09" y="2181144"/>
            <a:ext cx="10825040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E84648"/>
                </a:solidFill>
                <a:latin typeface="Franklin Gothic"/>
              </a:rPr>
              <a:t>   User-</a:t>
            </a:r>
            <a:r>
              <a:rPr lang="cs-CZ" err="1">
                <a:solidFill>
                  <a:srgbClr val="E84648"/>
                </a:solidFill>
                <a:latin typeface="Franklin Gothic"/>
              </a:rPr>
              <a:t>friendly</a:t>
            </a:r>
            <a:r>
              <a:rPr lang="cs-CZ">
                <a:solidFill>
                  <a:srgbClr val="E84648"/>
                </a:solidFill>
                <a:latin typeface="Franklin Gothic"/>
              </a:rPr>
              <a:t> = uživatelsky</a:t>
            </a:r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 přátelský (přívětivý)</a:t>
            </a:r>
          </a:p>
          <a:p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   Internetové stránky, které jsou přehledné a kde uživatel lehce nalezne vše, co hledá. </a:t>
            </a:r>
          </a:p>
          <a:p>
            <a:r>
              <a:rPr lang="cs-CZ">
                <a:solidFill>
                  <a:srgbClr val="E84648"/>
                </a:solidFill>
                <a:latin typeface="Franklin Gothic"/>
                <a:ea typeface="+mn-lt"/>
                <a:cs typeface="+mn-lt"/>
              </a:rPr>
              <a:t>   Dá se tak označit jakýkoliv program, systém, přístroj, mobilní telefon atd.</a:t>
            </a:r>
          </a:p>
          <a:p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  <a:p>
            <a:pPr marL="0" indent="0">
              <a:buNone/>
            </a:pPr>
            <a:endParaRPr lang="cs-CZ">
              <a:solidFill>
                <a:srgbClr val="E84648"/>
              </a:solidFill>
              <a:latin typeface="Franklin Gothic"/>
              <a:cs typeface="Calibri"/>
            </a:endParaRP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4826760-49C8-7D3C-AF1E-01F719495968}"/>
              </a:ext>
            </a:extLst>
          </p:cNvPr>
          <p:cNvSpPr/>
          <p:nvPr/>
        </p:nvSpPr>
        <p:spPr>
          <a:xfrm>
            <a:off x="278603" y="3426466"/>
            <a:ext cx="3487254" cy="386067"/>
          </a:xfrm>
          <a:prstGeom prst="rect">
            <a:avLst/>
          </a:prstGeom>
          <a:solidFill>
            <a:srgbClr val="E84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cs-CZ">
                <a:cs typeface="Calibri"/>
              </a:rPr>
              <a:t>Je podle vás iOS user-</a:t>
            </a:r>
            <a:r>
              <a:rPr lang="cs-CZ" err="1">
                <a:cs typeface="Calibri"/>
              </a:rPr>
              <a:t>friendly</a:t>
            </a:r>
            <a:r>
              <a:rPr lang="cs-CZ">
                <a:cs typeface="Calibri"/>
              </a:rPr>
              <a:t>?</a:t>
            </a:r>
          </a:p>
        </p:txBody>
      </p:sp>
      <p:pic>
        <p:nvPicPr>
          <p:cNvPr id="8" name="Obrázek 8">
            <a:extLst>
              <a:ext uri="{FF2B5EF4-FFF2-40B4-BE49-F238E27FC236}">
                <a16:creationId xmlns:a16="http://schemas.microsoft.com/office/drawing/2014/main" id="{A7AA2CC7-9E8F-0DF7-F89E-7C25F718D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632" y="3614860"/>
            <a:ext cx="4472353" cy="253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2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6C135B8-D4B8-15FB-0E1E-D0B8A43C1D1A}"/>
              </a:ext>
            </a:extLst>
          </p:cNvPr>
          <p:cNvSpPr/>
          <p:nvPr/>
        </p:nvSpPr>
        <p:spPr>
          <a:xfrm>
            <a:off x="376296" y="319851"/>
            <a:ext cx="11439407" cy="1099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37EA06-B949-691E-FD01-2AFF91C0F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675" y="532198"/>
            <a:ext cx="9692640" cy="676451"/>
          </a:xfrm>
        </p:spPr>
        <p:txBody>
          <a:bodyPr>
            <a:noAutofit/>
          </a:bodyPr>
          <a:lstStyle/>
          <a:p>
            <a:pPr algn="ctr"/>
            <a:r>
              <a:rPr lang="cs-CZ" sz="4000">
                <a:solidFill>
                  <a:srgbClr val="E84648"/>
                </a:solidFill>
                <a:latin typeface="Franklin Gothic"/>
              </a:rPr>
              <a:t>IOS                            vs.                  Android</a:t>
            </a:r>
            <a:endParaRPr lang="cs-CZ" sz="4000">
              <a:solidFill>
                <a:srgbClr val="E84648"/>
              </a:solidFill>
              <a:cs typeface="Calibri Light"/>
            </a:endParaRP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A600447-BFCB-BCB3-BB3E-59AE21B5D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2334" y="1856268"/>
            <a:ext cx="4500098" cy="47262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Franklin Gothic"/>
              </a:rPr>
              <a:t>Rychle dostupné aktualizace systému.</a:t>
            </a:r>
          </a:p>
          <a:p>
            <a:r>
              <a:rPr lang="cs-CZ">
                <a:latin typeface="Franklin Gothic"/>
              </a:rPr>
              <a:t>Služby </a:t>
            </a:r>
            <a:r>
              <a:rPr lang="cs-CZ" err="1">
                <a:latin typeface="Franklin Gothic"/>
              </a:rPr>
              <a:t>iMessage</a:t>
            </a:r>
            <a:r>
              <a:rPr lang="cs-CZ">
                <a:latin typeface="Franklin Gothic"/>
              </a:rPr>
              <a:t>, </a:t>
            </a:r>
            <a:r>
              <a:rPr lang="cs-CZ" err="1">
                <a:latin typeface="Franklin Gothic"/>
              </a:rPr>
              <a:t>FaceTime</a:t>
            </a:r>
            <a:r>
              <a:rPr lang="cs-CZ">
                <a:latin typeface="Franklin Gothic"/>
              </a:rPr>
              <a:t>, </a:t>
            </a:r>
            <a:r>
              <a:rPr lang="cs-CZ" err="1">
                <a:latin typeface="Franklin Gothic"/>
              </a:rPr>
              <a:t>FindMy</a:t>
            </a:r>
            <a:r>
              <a:rPr lang="cs-CZ">
                <a:latin typeface="Franklin Gothic"/>
              </a:rPr>
              <a:t> a </a:t>
            </a:r>
            <a:r>
              <a:rPr lang="cs-CZ" err="1">
                <a:latin typeface="Franklin Gothic"/>
              </a:rPr>
              <a:t>AirDrop</a:t>
            </a:r>
            <a:r>
              <a:rPr lang="cs-CZ">
                <a:latin typeface="Franklin Gothic"/>
              </a:rPr>
              <a:t>.</a:t>
            </a:r>
          </a:p>
          <a:p>
            <a:r>
              <a:rPr lang="cs-CZ">
                <a:latin typeface="Franklin Gothic"/>
              </a:rPr>
              <a:t>Extrémní důraz na bezpečnost uživatelských dat.</a:t>
            </a:r>
          </a:p>
          <a:p>
            <a:r>
              <a:rPr lang="cs-CZ">
                <a:latin typeface="Franklin Gothic"/>
              </a:rPr>
              <a:t>Dokonalá propojitelnost s produkty stejného výrobce.</a:t>
            </a:r>
          </a:p>
          <a:p>
            <a:r>
              <a:rPr lang="cs-CZ">
                <a:latin typeface="Franklin Gothic"/>
              </a:rPr>
              <a:t>Minimum nebezpečných aplikací v </a:t>
            </a:r>
            <a:r>
              <a:rPr lang="cs-CZ" err="1">
                <a:latin typeface="Franklin Gothic"/>
              </a:rPr>
              <a:t>App</a:t>
            </a:r>
            <a:r>
              <a:rPr lang="cs-CZ">
                <a:latin typeface="Franklin Gothic"/>
              </a:rPr>
              <a:t> </a:t>
            </a:r>
            <a:r>
              <a:rPr lang="cs-CZ" err="1">
                <a:latin typeface="Franklin Gothic"/>
              </a:rPr>
              <a:t>Store</a:t>
            </a:r>
            <a:r>
              <a:rPr lang="cs-CZ">
                <a:latin typeface="Franklin Gothic"/>
              </a:rPr>
              <a:t>.</a:t>
            </a:r>
          </a:p>
          <a:p>
            <a:r>
              <a:rPr lang="cs-CZ">
                <a:latin typeface="Franklin Gothic"/>
              </a:rPr>
              <a:t>Takřka nulové riziko chytit virus.</a:t>
            </a:r>
          </a:p>
          <a:p>
            <a:r>
              <a:rPr lang="cs-CZ">
                <a:latin typeface="Franklin Gothic"/>
                <a:ea typeface="+mn-lt"/>
                <a:cs typeface="+mn-lt"/>
              </a:rPr>
              <a:t>Minimální zpomalování telefonu postupem času.</a:t>
            </a:r>
          </a:p>
          <a:p>
            <a:endParaRPr lang="cs-CZ">
              <a:latin typeface="Franklin Gothic"/>
            </a:endParaRPr>
          </a:p>
          <a:p>
            <a:endParaRPr lang="cs-CZ">
              <a:latin typeface="Franklin Gothic"/>
            </a:endParaRP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C8E9520-EC55-0EFA-FFE9-0E0DFC34D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6018" y="1855183"/>
            <a:ext cx="4480560" cy="47273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cs-CZ">
                <a:latin typeface="Franklin Gothic"/>
              </a:rPr>
              <a:t>Možnost instalace aplikací mimo obchod Google Play.</a:t>
            </a:r>
          </a:p>
          <a:p>
            <a:r>
              <a:rPr lang="cs-CZ">
                <a:latin typeface="Franklin Gothic"/>
              </a:rPr>
              <a:t>Větší výběr aplikací v Google Play.</a:t>
            </a:r>
          </a:p>
          <a:p>
            <a:r>
              <a:rPr lang="cs-CZ">
                <a:latin typeface="Franklin Gothic"/>
              </a:rPr>
              <a:t>Větší otevřenost systému pro nejrůznější uživatelské úpravy.</a:t>
            </a:r>
          </a:p>
          <a:p>
            <a:r>
              <a:rPr lang="cs-CZ">
                <a:latin typeface="Franklin Gothic"/>
              </a:rPr>
              <a:t>Multitasking.</a:t>
            </a:r>
          </a:p>
          <a:p>
            <a:r>
              <a:rPr lang="cs-CZ">
                <a:latin typeface="Franklin Gothic"/>
              </a:rPr>
              <a:t>Propracovaná správa souborů uložených v telefonu.</a:t>
            </a:r>
          </a:p>
          <a:p>
            <a:endParaRPr lang="cs-CZ" b="1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5089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>
            <a:extLst>
              <a:ext uri="{FF2B5EF4-FFF2-40B4-BE49-F238E27FC236}">
                <a16:creationId xmlns:a16="http://schemas.microsoft.com/office/drawing/2014/main" id="{F907B82D-B2CF-CF27-70E5-32EA544F8EC3}"/>
              </a:ext>
            </a:extLst>
          </p:cNvPr>
          <p:cNvSpPr/>
          <p:nvPr/>
        </p:nvSpPr>
        <p:spPr>
          <a:xfrm>
            <a:off x="376296" y="319851"/>
            <a:ext cx="11439407" cy="6218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4" name="Obrázek 4">
            <a:extLst>
              <a:ext uri="{FF2B5EF4-FFF2-40B4-BE49-F238E27FC236}">
                <a16:creationId xmlns:a16="http://schemas.microsoft.com/office/drawing/2014/main" id="{9BCD03AE-D3B5-24D0-431E-17B99394A0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12"/>
          <a:stretch/>
        </p:blipFill>
        <p:spPr>
          <a:xfrm>
            <a:off x="3066164" y="410320"/>
            <a:ext cx="6077039" cy="6029353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53A2DA67-FAD9-1DE5-3174-AAE39091D5EA}"/>
              </a:ext>
            </a:extLst>
          </p:cNvPr>
          <p:cNvSpPr txBox="1"/>
          <p:nvPr/>
        </p:nvSpPr>
        <p:spPr>
          <a:xfrm>
            <a:off x="8619357" y="2350766"/>
            <a:ext cx="11100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>
                <a:solidFill>
                  <a:srgbClr val="3D89A7"/>
                </a:solidFill>
              </a:rPr>
              <a:t>Android</a:t>
            </a:r>
            <a:endParaRPr lang="cs-CZ">
              <a:solidFill>
                <a:srgbClr val="3D89A7"/>
              </a:solidFill>
              <a:cs typeface="Calibri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4E1FE922-9351-CCFB-AA57-B3A2A366D652}"/>
              </a:ext>
            </a:extLst>
          </p:cNvPr>
          <p:cNvSpPr txBox="1"/>
          <p:nvPr/>
        </p:nvSpPr>
        <p:spPr>
          <a:xfrm>
            <a:off x="8657348" y="3889240"/>
            <a:ext cx="11100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>
                <a:solidFill>
                  <a:srgbClr val="E84648"/>
                </a:solidFill>
              </a:rPr>
              <a:t>iOS</a:t>
            </a:r>
            <a:endParaRPr lang="cs-CZ">
              <a:solidFill>
                <a:srgbClr val="E84648"/>
              </a:solidFill>
              <a:cs typeface="Calibri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4B81B18A-6EB2-83A3-B6A3-A79C3E978376}"/>
              </a:ext>
            </a:extLst>
          </p:cNvPr>
          <p:cNvSpPr txBox="1"/>
          <p:nvPr/>
        </p:nvSpPr>
        <p:spPr>
          <a:xfrm>
            <a:off x="3691684" y="1589852"/>
            <a:ext cx="53101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2400">
                <a:solidFill>
                  <a:srgbClr val="E84648"/>
                </a:solidFill>
                <a:latin typeface="Franklin Gothic"/>
              </a:rPr>
              <a:t>POPULARITA OPERAČNÍCH SYSTÉMŮ</a:t>
            </a:r>
            <a:endParaRPr lang="cs-CZ" sz="2400">
              <a:solidFill>
                <a:srgbClr val="E84648"/>
              </a:solidFill>
              <a:latin typeface="Frankli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4736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32B54E-FF92-04EC-3B5C-EA3425824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800">
                <a:latin typeface="Franklin Gothic"/>
              </a:rPr>
              <a:t>Co podle vás je lepší na iOS než na jiných mobilních OS?</a:t>
            </a:r>
            <a:endParaRPr lang="cs-CZ" sz="2800">
              <a:latin typeface="Franklin Gothic"/>
              <a:cs typeface="Calibri"/>
            </a:endParaRPr>
          </a:p>
          <a:p>
            <a:endParaRPr lang="cs-CZ">
              <a:latin typeface="Franklin Gothic"/>
            </a:endParaRPr>
          </a:p>
          <a:p>
            <a:r>
              <a:rPr lang="cs-CZ" sz="2800">
                <a:latin typeface="Franklin Gothic"/>
              </a:rPr>
              <a:t>Používáte iOS? Jaké s tím máte zkušenosti?</a:t>
            </a:r>
            <a:endParaRPr lang="cs-CZ" sz="2800">
              <a:latin typeface="Franklin Gothic"/>
              <a:cs typeface="Calibri"/>
            </a:endParaRPr>
          </a:p>
          <a:p>
            <a:pPr>
              <a:buClr>
                <a:srgbClr val="FFFFFF"/>
              </a:buClr>
            </a:pPr>
            <a:endParaRPr lang="cs-CZ" sz="2800">
              <a:latin typeface="Franklin Gothic"/>
            </a:endParaRPr>
          </a:p>
          <a:p>
            <a:pPr>
              <a:buClr>
                <a:srgbClr val="FFFFFF"/>
              </a:buClr>
            </a:pPr>
            <a:r>
              <a:rPr lang="cs-CZ" sz="2800">
                <a:latin typeface="Franklin Gothic"/>
              </a:rPr>
              <a:t>Co by jste na iOS změnili?</a:t>
            </a:r>
          </a:p>
          <a:p>
            <a:pPr>
              <a:buClr>
                <a:prstClr val="white"/>
              </a:buClr>
            </a:pPr>
            <a:endParaRPr lang="cs-CZ">
              <a:latin typeface="Calibri" panose="020F0502020204030204"/>
              <a:cs typeface="Calibri" panose="020F0502020204030204"/>
            </a:endParaRPr>
          </a:p>
          <a:p>
            <a:endParaRPr lang="cs-CZ">
              <a:cs typeface="Calibri" panose="020F0502020204030204"/>
            </a:endParaRP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94E67B53-C3D6-C1FC-3EDB-4E31D7B5A4FB}"/>
              </a:ext>
            </a:extLst>
          </p:cNvPr>
          <p:cNvSpPr/>
          <p:nvPr/>
        </p:nvSpPr>
        <p:spPr>
          <a:xfrm>
            <a:off x="376296" y="319851"/>
            <a:ext cx="11439407" cy="1099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114BC7E-15F5-CA9E-F5B0-650B6EE3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5044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cs-CZ" sz="5400">
                <a:solidFill>
                  <a:srgbClr val="E84648"/>
                </a:solidFill>
                <a:latin typeface="Franklin Gothic"/>
              </a:rPr>
              <a:t>Diskuze</a:t>
            </a:r>
            <a:endParaRPr lang="cs-CZ"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7408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ABD7BC-F600-16DE-1583-98DB719C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>
                <a:latin typeface="Franklin Gothic"/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591AF0-751D-3791-77FF-C7E68B32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10257182" cy="4437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0" i="0" u="none" strike="noStrike" dirty="0">
                <a:effectLst/>
                <a:latin typeface="Franklin Gothic"/>
              </a:rPr>
              <a:t>Souborový systém – Wikipedie. [online]. Dostupné z: </a:t>
            </a:r>
            <a:r>
              <a:rPr lang="pt-BR" b="0" i="0" u="none" strike="noStrike" dirty="0">
                <a:effectLst/>
                <a:latin typeface="Franklin Gothic"/>
                <a:hlinkClick r:id="rId2"/>
              </a:rPr>
              <a:t>https://cs.wikipedia.org/wiki/Souborov%C3%BD_syst%C3%A9m</a:t>
            </a:r>
            <a:endParaRPr lang="cs-CZ" b="0" i="0" u="none" strike="noStrike" dirty="0">
              <a:effectLst/>
              <a:latin typeface="Franklin Gothic"/>
            </a:endParaRPr>
          </a:p>
          <a:p>
            <a:r>
              <a:rPr lang="cs-CZ" b="0" i="0" dirty="0">
                <a:effectLst/>
                <a:latin typeface="Franklin Gothic"/>
                <a:cs typeface="Arial"/>
              </a:rPr>
              <a:t>iOS 16 – Apple (CZ). Apple [online]. Copyright © [cit. 21.11.2022]. Dostupné z: </a:t>
            </a:r>
            <a:r>
              <a:rPr lang="cs-CZ" b="0" i="0" dirty="0">
                <a:effectLst/>
                <a:latin typeface="Franklin Gothic"/>
                <a:cs typeface="Arial"/>
                <a:hlinkClick r:id="rId3"/>
              </a:rPr>
              <a:t>https://www.apple.com/cz/ios/ios-16/</a:t>
            </a:r>
            <a:endParaRPr lang="cs-CZ" b="0" i="0" dirty="0">
              <a:effectLst/>
              <a:latin typeface="Franklin Gothic"/>
              <a:cs typeface="Arial"/>
            </a:endParaRPr>
          </a:p>
          <a:p>
            <a:r>
              <a:rPr lang="cs-CZ" b="0" i="0" dirty="0">
                <a:effectLst/>
                <a:latin typeface="Franklin Gothic"/>
                <a:cs typeface="Arial"/>
              </a:rPr>
              <a:t>DEN BROOSEN, </a:t>
            </a:r>
            <a:r>
              <a:rPr lang="cs-CZ" b="0" i="0" dirty="0" err="1">
                <a:effectLst/>
                <a:latin typeface="Franklin Gothic"/>
                <a:cs typeface="Arial"/>
              </a:rPr>
              <a:t>About</a:t>
            </a:r>
            <a:r>
              <a:rPr lang="cs-CZ" b="0" i="0" dirty="0">
                <a:effectLst/>
                <a:latin typeface="Franklin Gothic"/>
                <a:cs typeface="Arial"/>
              </a:rPr>
              <a:t>. </a:t>
            </a:r>
            <a:r>
              <a:rPr lang="cs-CZ" b="0" i="1" dirty="0">
                <a:effectLst/>
                <a:latin typeface="Franklin Gothic"/>
                <a:cs typeface="Arial"/>
              </a:rPr>
              <a:t>recoverhdd.com</a:t>
            </a:r>
            <a:r>
              <a:rPr lang="cs-CZ" b="0" i="0" dirty="0">
                <a:effectLst/>
                <a:latin typeface="Franklin Gothic"/>
                <a:cs typeface="Arial"/>
              </a:rPr>
              <a:t> [online]. [cit. 19.11.2022]. Dostupný na WWW:</a:t>
            </a:r>
            <a:r>
              <a:rPr lang="cs-CZ" dirty="0">
                <a:latin typeface="Franklin Gothic"/>
                <a:cs typeface="Arial"/>
              </a:rPr>
              <a:t> </a:t>
            </a:r>
            <a:r>
              <a:rPr lang="cs-CZ" dirty="0">
                <a:latin typeface="Franklin Gothic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https://recoverhdd.com/wp-content/themes/soft/images/blog/apfs-file-system/apfs-logo.webp</a:t>
            </a:r>
            <a:endParaRPr lang="cs-CZ" dirty="0">
              <a:latin typeface="Franklin Gothic"/>
              <a:ea typeface="+mn-lt"/>
              <a:cs typeface="+mn-lt"/>
            </a:endParaRPr>
          </a:p>
          <a:p>
            <a:r>
              <a:rPr lang="cs-CZ" b="0" i="0" dirty="0">
                <a:effectLst/>
                <a:latin typeface="Franklin Gothic"/>
                <a:ea typeface="+mn-lt"/>
                <a:cs typeface="Arial"/>
              </a:rPr>
              <a:t>User </a:t>
            </a:r>
            <a:r>
              <a:rPr lang="cs-CZ" b="0" i="0" dirty="0" err="1">
                <a:effectLst/>
                <a:latin typeface="Franklin Gothic"/>
                <a:ea typeface="+mn-lt"/>
                <a:cs typeface="Arial"/>
              </a:rPr>
              <a:t>friendly</a:t>
            </a:r>
            <a:r>
              <a:rPr lang="cs-CZ" b="0" i="0" dirty="0">
                <a:effectLst/>
                <a:latin typeface="Franklin Gothic"/>
                <a:ea typeface="+mn-lt"/>
                <a:cs typeface="Arial"/>
              </a:rPr>
              <a:t> | </a:t>
            </a:r>
            <a:r>
              <a:rPr lang="cs-CZ" b="0" i="0" dirty="0" err="1">
                <a:effectLst/>
                <a:latin typeface="Franklin Gothic"/>
                <a:ea typeface="+mn-lt"/>
                <a:cs typeface="Arial"/>
              </a:rPr>
              <a:t>MediaGuru</a:t>
            </a:r>
            <a:r>
              <a:rPr lang="cs-CZ" b="0" i="0" dirty="0">
                <a:effectLst/>
                <a:latin typeface="Franklin Gothic"/>
                <a:ea typeface="+mn-lt"/>
                <a:cs typeface="Arial"/>
              </a:rPr>
              <a:t>. </a:t>
            </a:r>
            <a:r>
              <a:rPr lang="cs-CZ" b="0" i="0" dirty="0" err="1">
                <a:effectLst/>
                <a:latin typeface="Franklin Gothic"/>
                <a:ea typeface="+mn-lt"/>
                <a:cs typeface="Arial"/>
              </a:rPr>
              <a:t>Homepage</a:t>
            </a:r>
            <a:r>
              <a:rPr lang="cs-CZ" b="0" i="0" dirty="0">
                <a:effectLst/>
                <a:latin typeface="Franklin Gothic"/>
                <a:ea typeface="+mn-lt"/>
                <a:cs typeface="Arial"/>
              </a:rPr>
              <a:t> | </a:t>
            </a:r>
            <a:r>
              <a:rPr lang="cs-CZ" b="0" i="0" dirty="0" err="1">
                <a:effectLst/>
                <a:latin typeface="Franklin Gothic"/>
                <a:ea typeface="+mn-lt"/>
                <a:cs typeface="Arial"/>
              </a:rPr>
              <a:t>MediaGuru</a:t>
            </a:r>
            <a:r>
              <a:rPr lang="cs-CZ" b="0" i="0" dirty="0">
                <a:effectLst/>
                <a:latin typeface="Franklin Gothic"/>
                <a:ea typeface="+mn-lt"/>
                <a:cs typeface="Arial"/>
              </a:rPr>
              <a:t> [online]. Copyright © 2022 [cit. 21.11.2022]. Dostupné z: </a:t>
            </a:r>
            <a:r>
              <a:rPr lang="cs-CZ" b="0" i="0" dirty="0">
                <a:effectLst/>
                <a:latin typeface="Franklin Gothic"/>
                <a:ea typeface="+mn-lt"/>
                <a:cs typeface="Arial"/>
                <a:hlinkClick r:id="rId5"/>
              </a:rPr>
              <a:t>https://www.mediaguru.cz/slovnik-a-mediatypy/slovnik/klicova-slova/user-friendly/</a:t>
            </a:r>
            <a:endParaRPr lang="cs-CZ" b="0" i="0" dirty="0">
              <a:effectLst/>
              <a:latin typeface="Franklin Gothic"/>
              <a:ea typeface="+mn-lt"/>
              <a:cs typeface="Arial"/>
            </a:endParaRPr>
          </a:p>
          <a:p>
            <a:r>
              <a:rPr lang="cs-CZ" dirty="0">
                <a:ea typeface="+mn-lt"/>
                <a:cs typeface="+mn-lt"/>
              </a:rPr>
              <a:t>Android vs iOS: Který je lepší? [Aktualizováno 2021] - Zboží.cz. [online]. Copyright © 1996 [cit. 21.11.2022]. Dostupné z: </a:t>
            </a:r>
            <a:r>
              <a:rPr lang="cs-CZ" dirty="0">
                <a:ea typeface="+mn-lt"/>
                <a:cs typeface="+mn-lt"/>
                <a:hlinkClick r:id="rId6"/>
              </a:rPr>
              <a:t>https://www.zbozi.cz/magazin/c/srovnani-androidu-a-ios/</a:t>
            </a:r>
            <a:endParaRPr lang="cs-CZ" dirty="0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Použití integrovaných bezpečnostních funkcí a ochrany soukromí na iPhonu - Podpora Apple (CZ). </a:t>
            </a:r>
            <a:r>
              <a:rPr lang="cs-CZ" dirty="0" err="1">
                <a:ea typeface="+mn-lt"/>
                <a:cs typeface="+mn-lt"/>
              </a:rPr>
              <a:t>Official</a:t>
            </a:r>
            <a:r>
              <a:rPr lang="cs-CZ" dirty="0">
                <a:ea typeface="+mn-lt"/>
                <a:cs typeface="+mn-lt"/>
              </a:rPr>
              <a:t> Apple Support [online]. Copyright © 2022 Apple Inc. Všechna práva vyhrazena. [cit. 21.11.2022]. Dostupné z: </a:t>
            </a:r>
            <a:r>
              <a:rPr lang="cs-CZ" dirty="0">
                <a:ea typeface="+mn-lt"/>
                <a:cs typeface="+mn-lt"/>
                <a:hlinkClick r:id="rId7"/>
              </a:rPr>
              <a:t>https://support.apple.com/cs-cz/guide/iphone/iph6e7d349d1/ios</a:t>
            </a:r>
            <a:endParaRPr lang="cs-CZ" dirty="0">
              <a:ea typeface="+mn-lt"/>
              <a:cs typeface="+mn-lt"/>
            </a:endParaRPr>
          </a:p>
          <a:p>
            <a:endParaRPr lang="cs-CZ" dirty="0">
              <a:ea typeface="+mn-lt"/>
              <a:cs typeface="+mn-lt"/>
            </a:endParaRPr>
          </a:p>
          <a:p>
            <a:endParaRPr lang="cs-CZ" dirty="0">
              <a:ea typeface="+mn-lt"/>
              <a:cs typeface="+mn-lt"/>
            </a:endParaRPr>
          </a:p>
          <a:p>
            <a:endParaRPr lang="cs-CZ" dirty="0">
              <a:ea typeface="+mn-lt"/>
              <a:cs typeface="+mn-lt"/>
            </a:endParaRPr>
          </a:p>
          <a:p>
            <a:endParaRPr lang="cs-CZ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0481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ppt/theme/theme2.xml><?xml version="1.0" encoding="utf-8"?>
<a:theme xmlns:a="http://schemas.openxmlformats.org/drawingml/2006/main" name="BrushVTI">
  <a:themeElements>
    <a:clrScheme name="AnalogousFromRegularSeedRightStep">
      <a:dk1>
        <a:srgbClr val="000000"/>
      </a:dk1>
      <a:lt1>
        <a:srgbClr val="FFFFFF"/>
      </a:lt1>
      <a:dk2>
        <a:srgbClr val="322E1C"/>
      </a:dk2>
      <a:lt2>
        <a:srgbClr val="F1F0F3"/>
      </a:lt2>
      <a:accent1>
        <a:srgbClr val="9BA842"/>
      </a:accent1>
      <a:accent2>
        <a:srgbClr val="71B13B"/>
      </a:accent2>
      <a:accent3>
        <a:srgbClr val="4BB447"/>
      </a:accent3>
      <a:accent4>
        <a:srgbClr val="3BB168"/>
      </a:accent4>
      <a:accent5>
        <a:srgbClr val="45B19B"/>
      </a:accent5>
      <a:accent6>
        <a:srgbClr val="3B98B1"/>
      </a:accent6>
      <a:hlink>
        <a:srgbClr val="7568CC"/>
      </a:hlink>
      <a:folHlink>
        <a:srgbClr val="7F7F7F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2" ma:contentTypeDescription="Vytvoří nový dokument" ma:contentTypeScope="" ma:versionID="1f6ee76c92d6abd65cce5071383a6831">
  <xsd:schema xmlns:xsd="http://www.w3.org/2001/XMLSchema" xmlns:xs="http://www.w3.org/2001/XMLSchema" xmlns:p="http://schemas.microsoft.com/office/2006/metadata/properties" xmlns:ns3="2fdf368a-f443-49d9-8039-a87943f25e5e" targetNamespace="http://schemas.microsoft.com/office/2006/metadata/properties" ma:root="true" ma:fieldsID="c61ca0b5e52e7cfac409fa4eaa08a14b" ns3:_="">
    <xsd:import namespace="2fdf368a-f443-49d9-8039-a87943f25e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20606E-2D88-4D4D-B681-A61F8DD3ADA9}">
  <ds:schemaRefs>
    <ds:schemaRef ds:uri="http://schemas.openxmlformats.org/package/2006/metadata/core-properties"/>
    <ds:schemaRef ds:uri="http://schemas.microsoft.com/office/2006/metadata/properties"/>
    <ds:schemaRef ds:uri="2fdf368a-f443-49d9-8039-a87943f25e5e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0E17F82-890A-4CCE-B196-951E419236C0}">
  <ds:schemaRefs>
    <ds:schemaRef ds:uri="2fdf368a-f443-49d9-8039-a87943f25e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052F010-80C2-43A9-9E09-E3D0238AB1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671</Words>
  <Application>Microsoft Office PowerPoint</Application>
  <PresentationFormat>Širokoúhlá obrazovka</PresentationFormat>
  <Paragraphs>67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Franklin Gothic</vt:lpstr>
      <vt:lpstr>Celestial</vt:lpstr>
      <vt:lpstr>BrushVTI</vt:lpstr>
      <vt:lpstr>Prezentace aplikace PowerPoint</vt:lpstr>
      <vt:lpstr>Seznámení s iOS</vt:lpstr>
      <vt:lpstr>hardware požadavky pro ios</vt:lpstr>
      <vt:lpstr>Souborové systémy</vt:lpstr>
      <vt:lpstr>Aktualizace</vt:lpstr>
      <vt:lpstr>Bezpečnost</vt:lpstr>
      <vt:lpstr>Vizuální stránka IOS</vt:lpstr>
      <vt:lpstr>User-friendly</vt:lpstr>
      <vt:lpstr>IOS                            vs.                  Android</vt:lpstr>
      <vt:lpstr>Prezentace aplikace PowerPoint</vt:lpstr>
      <vt:lpstr>Diskuze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Jakub KUDLAČÍK</dc:creator>
  <cp:lastModifiedBy>Jakub KUDLAČÍK</cp:lastModifiedBy>
  <cp:revision>2</cp:revision>
  <dcterms:created xsi:type="dcterms:W3CDTF">2022-11-19T19:51:54Z</dcterms:created>
  <dcterms:modified xsi:type="dcterms:W3CDTF">2022-11-21T07:19:25Z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