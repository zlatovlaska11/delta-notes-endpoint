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4"/>
  </p:sldMasterIdLst>
  <p:notesMasterIdLst>
    <p:notesMasterId r:id="rId22"/>
  </p:notesMasterIdLst>
  <p:sldIdLst>
    <p:sldId id="256" r:id="rId5"/>
    <p:sldId id="259" r:id="rId6"/>
    <p:sldId id="260" r:id="rId7"/>
    <p:sldId id="261" r:id="rId8"/>
    <p:sldId id="262" r:id="rId9"/>
    <p:sldId id="264" r:id="rId10"/>
    <p:sldId id="265" r:id="rId11"/>
    <p:sldId id="263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57" r:id="rId20"/>
    <p:sldId id="273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1026D15-D6C5-1615-552A-2489E0C1C0DF}" v="16" dt="2022-11-27T10:08:46.284"/>
    <p1510:client id="{07A54CB7-F243-4C01-5A2D-67ED22E0674A}" v="7" dt="2022-11-27T11:30:51.200"/>
    <p1510:client id="{07F08475-4DFA-4648-A56A-E9BFE0A5EA6E}" vWet="2" dt="2022-11-27T10:38:44.976"/>
    <p1510:client id="{080C0100-74B8-2541-9603-32ED7F095349}" v="44" dt="2022-11-26T12:01:21.756"/>
    <p1510:client id="{13AD21B2-F8EE-3266-673C-CBEBF3065190}" v="5" dt="2022-11-27T11:28:34.161"/>
    <p1510:client id="{1BE1E58D-A64E-D5C0-02B3-BF909C3A09CF}" v="20" dt="2022-11-27T10:13:19.323"/>
    <p1510:client id="{243952CD-2867-7245-F0EC-D736253B0187}" v="2" dt="2022-11-27T11:30:37.960"/>
    <p1510:client id="{31A22FB6-FDE8-8B7C-0DF8-090784A91D06}" v="58" dt="2022-11-26T15:13:39.916"/>
    <p1510:client id="{47E05F36-1DA9-F322-B6C4-ABC6B5F81E7D}" v="7" dt="2022-11-27T10:07:10.623"/>
    <p1510:client id="{67319ECD-2644-20E9-9DAC-10F2D53CAE1A}" v="666" dt="2022-11-26T14:21:17.028"/>
    <p1510:client id="{726BBABB-C846-A1A9-CD7C-0C29D042F242}" v="2" dt="2022-11-27T10:49:54.361"/>
    <p1510:client id="{87CB3988-04E6-4860-94EC-8B3D9A662241}" v="302" dt="2022-11-27T09:59:09.126"/>
    <p1510:client id="{8EEAEE9F-ADFF-BF5A-CA87-866B150C84AE}" v="2" dt="2022-11-26T15:51:54.366"/>
    <p1510:client id="{98423014-DCF8-F17C-6250-7BBC03BAD1BC}" v="13" dt="2022-11-26T15:39:52.550"/>
    <p1510:client id="{988D83DE-CEAF-8A7F-F146-49AC020A525C}" v="115" dt="2022-11-26T14:10:03.322"/>
    <p1510:client id="{9F7FF5F4-FF93-1839-4900-DF87D2406727}" v="39" dt="2022-11-27T10:18:01.632"/>
    <p1510:client id="{B7206D5C-185C-B741-DC37-3395BF7826CA}" v="180" dt="2022-11-27T11:12:40.376"/>
    <p1510:client id="{E588544B-54FE-7DBB-8D8C-88686C571EA2}" v="210" dt="2022-11-27T11:20:49.746"/>
    <p1510:client id="{ED46F97F-74E5-EAB8-75E2-CE820CA9F68F}" v="439" dt="2022-11-26T11:46:03.219"/>
    <p1510:client id="{F2C5DEEA-CE28-5F05-486E-254FFD31BB60}" v="240" dt="2022-11-27T11:19:05.706"/>
    <p1510:client id="{F636A00F-3FED-0F34-8F55-1F88E32C7724}" v="6" dt="2022-11-27T10:56:00.3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99FD78E-2E8C-4811-844E-00F7C412DC9E}" type="datetimeFigureOut">
              <a:t>11/27/2022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5C1880B-8586-477B-91F0-E1363BC0280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03916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cs typeface="Calibri"/>
              </a:rPr>
              <a:t>Pro </a:t>
            </a:r>
            <a:r>
              <a:rPr lang="en-US"/>
              <a:t>Windows 10 Mobile</a:t>
            </a:r>
          </a:p>
          <a:p>
            <a:endParaRPr lang="en-US">
              <a:cs typeface="Calibri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5C1880B-8586-477B-91F0-E1363BC0280E}" type="slidenum"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768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327633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6161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408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8801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9752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8242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9221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5956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96549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381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8916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006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981943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94553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44134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902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55669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11/27/2022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81774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  <p:sldLayoutId id="2147483720" r:id="rId12"/>
    <p:sldLayoutId id="2147483721" r:id="rId13"/>
    <p:sldLayoutId id="2147483722" r:id="rId14"/>
    <p:sldLayoutId id="2147483723" r:id="rId15"/>
    <p:sldLayoutId id="2147483724" r:id="rId16"/>
    <p:sldLayoutId id="214748372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otebookcheck.net/Windows-10-Mobile-minimum-requirements-published.146797.0.html" TargetMode="External"/><Relationship Id="rId2" Type="http://schemas.openxmlformats.org/officeDocument/2006/relationships/hyperlink" Target="https://en.wikipedia.org/wiki/Windows_10_Mobile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support.microsoft.com/en-us/windows/windows-10-mobile-end-of-support-faq-8c2dd1cf-a571-00f0-0881-bb83926d05c5" TargetMode="External"/><Relationship Id="rId5" Type="http://schemas.openxmlformats.org/officeDocument/2006/relationships/hyperlink" Target="http://www.rozdily.cz/Rozd%C3%ADl_mezi_NTFS_a_FAT32" TargetMode="External"/><Relationship Id="rId4" Type="http://schemas.openxmlformats.org/officeDocument/2006/relationships/hyperlink" Target="https://subscription.packtpub.com/book/networking-and-servers/9781786464200/12/ch12lvl1sec74/the-windows-phone-file-system" TargetMode="Externa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zdnet.com/article/here-are-the-real-reasons-windows-phone-failed-reveals-ex-nokia-engineer/" TargetMode="External"/><Relationship Id="rId2" Type="http://schemas.openxmlformats.org/officeDocument/2006/relationships/hyperlink" Target="https://gs.statcounter.com/os-market-share/mobile/worldwide/2017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mspoweruser.com/windows-10-mobile-pretty-weird-security-flaw/" TargetMode="External"/><Relationship Id="rId4" Type="http://schemas.openxmlformats.org/officeDocument/2006/relationships/hyperlink" Target="https://www.windowslatest.com/2019/10/10/windows-10-mobile-vulnerability-discovered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41648-03C8-E132-EDB4-75CE03D5F47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>
                <a:cs typeface="Calibri Light"/>
              </a:rPr>
              <a:t>Windows 10 Mobile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8C8CBF-B359-4708-055E-202FE9AB69F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noProof="1">
                <a:cs typeface="Calibri"/>
              </a:rPr>
              <a:t>Petr Švestka, Jiří Pečenka, Patrik Znamenáček</a:t>
            </a:r>
          </a:p>
        </p:txBody>
      </p:sp>
    </p:spTree>
    <p:extLst>
      <p:ext uri="{BB962C8B-B14F-4D97-AF65-F5344CB8AC3E}">
        <p14:creationId xmlns:p14="http://schemas.microsoft.com/office/powerpoint/2010/main" val="33127404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680298-3205-B899-4F1F-3B10788980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cs typeface="Calibri Light"/>
              </a:rPr>
              <a:t>Minimální hardwarové požadavky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7DE0B-F4C5-06D6-00C2-09B69006B7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ea typeface="+mn-lt"/>
                <a:cs typeface="+mn-lt"/>
              </a:rPr>
              <a:t>Dotyková obrazovka s rozlišením alespoň 800 x 480 pixelů</a:t>
            </a:r>
            <a:endParaRPr lang="cs-CZ" sz="2400">
              <a:cs typeface="Calibri" panose="020F0502020204030204"/>
            </a:endParaRPr>
          </a:p>
          <a:p>
            <a:pPr marL="0" indent="0">
              <a:buNone/>
            </a:pPr>
            <a:endParaRPr lang="cs-CZ">
              <a:ea typeface="+mn-lt"/>
              <a:cs typeface="+mn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DA16897-FC92-9A08-A7AB-21F663F975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319" y="2668329"/>
            <a:ext cx="2743200" cy="40852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24054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37F4BD-A159-F9B7-D94E-335A3FC54A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Minimální hardwarové požadavky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7872A-3129-8817-A820-FA126FC063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cs typeface="Calibri"/>
              </a:rPr>
              <a:t>512 MB RAM</a:t>
            </a:r>
            <a:endParaRPr lang="cs-CZ" sz="2000">
              <a:ea typeface="+mn-lt"/>
              <a:cs typeface="+mn-lt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E7F2B11-6871-A6E5-AE2C-7AEDD73759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7373" y="3027364"/>
            <a:ext cx="2743200" cy="27597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6580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AB8125-7A14-B846-9368-490944584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Minimální hardwarové požadavky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260C69-5DAB-1364-736E-95AC812528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ea typeface="+mn-lt"/>
                <a:cs typeface="+mn-lt"/>
              </a:rPr>
              <a:t>4 GB úložiště</a:t>
            </a:r>
          </a:p>
          <a:p>
            <a:pPr marL="0" indent="0">
              <a:buNone/>
            </a:pPr>
            <a:endParaRPr lang="cs-CZ">
              <a:cs typeface="Calibri"/>
            </a:endParaRP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44263310-4E25-DC05-908F-DC896FB7B9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3616" y="2779755"/>
            <a:ext cx="2743200" cy="30490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0076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121BF-5D92-D8AD-EBCD-0E4A301F0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Minimální hardwarové požadavky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7729B-581E-AFD1-7017-CAAC0E215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cs typeface="Calibri"/>
              </a:rPr>
              <a:t>Fotoaparát s rozlišením snímače alespoň 640 x 480</a:t>
            </a:r>
            <a:endParaRPr lang="en-US" sz="2400"/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1F1C0DFC-D99E-9C43-D0B9-89D16C96692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247" r="19325" b="-401"/>
          <a:stretch/>
        </p:blipFill>
        <p:spPr>
          <a:xfrm>
            <a:off x="920433" y="3389239"/>
            <a:ext cx="4040713" cy="244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512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572A87-7BFF-E1C4-89E9-9428A9C29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cs typeface="Calibri Light"/>
              </a:rPr>
              <a:t>Souborový systém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F8D876-7221-8AD2-F712-E69DC8E1F8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ea typeface="+mn-lt"/>
                <a:cs typeface="+mn-lt"/>
              </a:rPr>
              <a:t>Interní úložiště uživatelů je naformátováno ve formátu systému souborů NTFS.</a:t>
            </a:r>
          </a:p>
          <a:p>
            <a:r>
              <a:rPr lang="cs-CZ" sz="2400">
                <a:cs typeface="Calibri"/>
              </a:rPr>
              <a:t>SD karty co mají 32 GB a méně jsou naformátovány na FAT32.</a:t>
            </a:r>
          </a:p>
          <a:p>
            <a:r>
              <a:rPr lang="cs-CZ" sz="2400">
                <a:cs typeface="Calibri"/>
              </a:rPr>
              <a:t>SD </a:t>
            </a:r>
            <a:r>
              <a:rPr lang="cs-CZ" sz="2400">
                <a:ea typeface="+mn-lt"/>
                <a:cs typeface="+mn-lt"/>
              </a:rPr>
              <a:t>karty s kapacitou vyšší než 64 GB jsou naformátovány na </a:t>
            </a:r>
            <a:r>
              <a:rPr lang="cs-CZ" sz="2400" noProof="1">
                <a:ea typeface="+mn-lt"/>
                <a:cs typeface="+mn-lt"/>
              </a:rPr>
              <a:t>exFAT</a:t>
            </a:r>
            <a:r>
              <a:rPr lang="cs-CZ" sz="2400">
                <a:ea typeface="+mn-lt"/>
                <a:cs typeface="+mn-lt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334165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C1E9D7-9540-FA92-BE5F-6F5C2046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Souborový systém</a:t>
            </a:r>
            <a:endParaRPr lang="en-US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6849BC-52C7-B46B-3599-2A5C0B3BA9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027" y="1996392"/>
            <a:ext cx="3806283" cy="4342046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US" sz="2400" b="1" u="sng">
                <a:cs typeface="Calibri" panose="020F0502020204030204"/>
              </a:rPr>
              <a:t>FAT32</a:t>
            </a:r>
          </a:p>
          <a:p>
            <a:r>
              <a:rPr lang="cs-CZ" sz="2400">
                <a:ea typeface="+mn-lt"/>
                <a:cs typeface="+mn-lt"/>
              </a:rPr>
              <a:t>starší</a:t>
            </a:r>
            <a:endParaRPr lang="cs-CZ" sz="2400">
              <a:cs typeface="Calibri" panose="020F0502020204030204"/>
            </a:endParaRPr>
          </a:p>
          <a:p>
            <a:r>
              <a:rPr lang="cs-CZ" sz="2400">
                <a:ea typeface="+mn-lt"/>
                <a:cs typeface="+mn-lt"/>
              </a:rPr>
              <a:t>rychlejší</a:t>
            </a:r>
            <a:endParaRPr lang="cs-CZ" sz="2400">
              <a:cs typeface="Calibri"/>
            </a:endParaRPr>
          </a:p>
          <a:p>
            <a:r>
              <a:rPr lang="cs-CZ" sz="2400">
                <a:ea typeface="+mn-lt"/>
                <a:cs typeface="+mn-lt"/>
              </a:rPr>
              <a:t>maximální velikost souborů 4 GB</a:t>
            </a:r>
            <a:endParaRPr lang="cs-CZ" sz="2400">
              <a:cs typeface="Calibri"/>
            </a:endParaRPr>
          </a:p>
          <a:p>
            <a:r>
              <a:rPr lang="cs-CZ" sz="2400">
                <a:ea typeface="+mn-lt"/>
                <a:cs typeface="+mn-lt"/>
              </a:rPr>
              <a:t>plýtvá místem</a:t>
            </a:r>
            <a:endParaRPr lang="cs-CZ" sz="2400"/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93A06EF-12B6-1DDA-930E-61E40B30041D}"/>
              </a:ext>
            </a:extLst>
          </p:cNvPr>
          <p:cNvSpPr txBox="1">
            <a:spLocks/>
          </p:cNvSpPr>
          <p:nvPr/>
        </p:nvSpPr>
        <p:spPr>
          <a:xfrm>
            <a:off x="6566866" y="2000108"/>
            <a:ext cx="4893527" cy="467658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 sz="2400" b="1" u="sng">
                <a:ea typeface="+mn-lt"/>
                <a:cs typeface="+mn-lt"/>
              </a:rPr>
              <a:t>NTFS</a:t>
            </a:r>
          </a:p>
          <a:p>
            <a:pPr>
              <a:buFont typeface="Arial"/>
              <a:buChar char="•"/>
            </a:pPr>
            <a:r>
              <a:rPr lang="cs-CZ" sz="2400">
                <a:ea typeface="+mn-lt"/>
                <a:cs typeface="+mn-lt"/>
              </a:rPr>
              <a:t>novější</a:t>
            </a:r>
          </a:p>
          <a:p>
            <a:pPr>
              <a:buFont typeface="Arial"/>
              <a:buChar char="•"/>
            </a:pPr>
            <a:r>
              <a:rPr lang="cs-CZ" sz="2400">
                <a:ea typeface="+mn-lt"/>
                <a:cs typeface="+mn-lt"/>
              </a:rPr>
              <a:t>má lepší zabezpečení dat proti ztrátě</a:t>
            </a:r>
          </a:p>
          <a:p>
            <a:pPr>
              <a:buFont typeface="Arial"/>
              <a:buChar char="•"/>
            </a:pPr>
            <a:r>
              <a:rPr lang="cs-CZ" sz="2400">
                <a:ea typeface="+mn-lt"/>
                <a:cs typeface="+mn-lt"/>
              </a:rPr>
              <a:t>při velkém množství malých souborů je úspornější</a:t>
            </a:r>
          </a:p>
          <a:p>
            <a:pPr>
              <a:buFont typeface="Arial"/>
              <a:buChar char="•"/>
            </a:pPr>
            <a:r>
              <a:rPr lang="cs-CZ" sz="2400">
                <a:ea typeface="+mn-lt"/>
                <a:cs typeface="+mn-lt"/>
              </a:rPr>
              <a:t>neexistuje maximální velikost souboru</a:t>
            </a:r>
          </a:p>
          <a:p>
            <a:pPr>
              <a:buFont typeface="Arial"/>
              <a:buChar char="•"/>
            </a:pPr>
            <a:r>
              <a:rPr lang="cs-CZ" sz="2400">
                <a:ea typeface="+mn-lt"/>
                <a:cs typeface="+mn-lt"/>
              </a:rPr>
              <a:t>umí nastavit přístupová práva k souborům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1AFF8112-CF6C-4AAD-43DC-7D04A6778FEC}"/>
              </a:ext>
            </a:extLst>
          </p:cNvPr>
          <p:cNvSpPr txBox="1">
            <a:spLocks/>
          </p:cNvSpPr>
          <p:nvPr/>
        </p:nvSpPr>
        <p:spPr>
          <a:xfrm>
            <a:off x="5042865" y="2000107"/>
            <a:ext cx="1009186" cy="42053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en-US">
                <a:cs typeface="Calibri"/>
              </a:rPr>
              <a:t>vs</a:t>
            </a:r>
            <a:endParaRPr lang="en-US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F11B6661-6E1E-2434-48A3-1C65EB4B3008}"/>
              </a:ext>
            </a:extLst>
          </p:cNvPr>
          <p:cNvSpPr txBox="1">
            <a:spLocks/>
          </p:cNvSpPr>
          <p:nvPr/>
        </p:nvSpPr>
        <p:spPr>
          <a:xfrm>
            <a:off x="330820" y="6261953"/>
            <a:ext cx="9958036" cy="476289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400" b="1" noProof="1">
                <a:ea typeface="+mn-lt"/>
                <a:cs typeface="+mn-lt"/>
              </a:rPr>
              <a:t>ExFAT </a:t>
            </a:r>
            <a:r>
              <a:rPr lang="cs-CZ" sz="2400">
                <a:ea typeface="+mn-lt"/>
                <a:cs typeface="+mn-lt"/>
              </a:rPr>
              <a:t>je nástupcem FAT32, který je narozdíl od FAT32 64 bitový</a:t>
            </a:r>
          </a:p>
        </p:txBody>
      </p:sp>
    </p:spTree>
    <p:extLst>
      <p:ext uri="{BB962C8B-B14F-4D97-AF65-F5344CB8AC3E}">
        <p14:creationId xmlns:p14="http://schemas.microsoft.com/office/powerpoint/2010/main" val="14170921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94FD27-5E83-F125-6E0B-701D8C4D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Souborový systém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7D514-6CA0-BD3D-60E7-47E9D88669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ea typeface="+mn-lt"/>
                <a:cs typeface="+mn-lt"/>
              </a:rPr>
              <a:t>Souborový systém Windows </a:t>
            </a:r>
            <a:r>
              <a:rPr lang="en-US" sz="2400">
                <a:ea typeface="+mn-lt"/>
                <a:cs typeface="+mn-lt"/>
              </a:rPr>
              <a:t>Phone </a:t>
            </a:r>
            <a:r>
              <a:rPr lang="cs-CZ" sz="2400">
                <a:ea typeface="+mn-lt"/>
                <a:cs typeface="+mn-lt"/>
              </a:rPr>
              <a:t>je víceméně podobný souborovým systémům používaným ve Windows.</a:t>
            </a:r>
          </a:p>
          <a:p>
            <a:r>
              <a:rPr lang="cs-CZ" sz="2400">
                <a:ea typeface="+mn-lt"/>
                <a:cs typeface="+mn-lt"/>
              </a:rPr>
              <a:t>Z kořenového adresáře se lze dostat k různým souborům a složkám, které jsou na tomto zařízení k dispozici.</a:t>
            </a:r>
            <a:endParaRPr lang="cs-CZ" sz="2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48914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83C5E-764D-2103-9B62-BDB5E8ADA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1">
                <a:cs typeface="Calibri Light"/>
              </a:rPr>
              <a:t>Drivery</a:t>
            </a:r>
            <a:endParaRPr lang="en-US" noProof="1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B4E7C3-27B5-4696-B420-66A0D0C763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cs typeface="Calibri"/>
              </a:rPr>
              <a:t>Jsou součástí operačního systému.</a:t>
            </a:r>
          </a:p>
          <a:p>
            <a:r>
              <a:rPr lang="cs-CZ" sz="2400">
                <a:cs typeface="Calibri"/>
              </a:rPr>
              <a:t>Aktualizace tedy probíhaly společně s OS.</a:t>
            </a:r>
          </a:p>
          <a:p>
            <a:r>
              <a:rPr lang="cs-CZ" sz="2400">
                <a:cs typeface="Calibri"/>
              </a:rPr>
              <a:t>USB drivery se aktualizovat manuálně dají.</a:t>
            </a:r>
          </a:p>
        </p:txBody>
      </p:sp>
    </p:spTree>
    <p:extLst>
      <p:ext uri="{BB962C8B-B14F-4D97-AF65-F5344CB8AC3E}">
        <p14:creationId xmlns:p14="http://schemas.microsoft.com/office/powerpoint/2010/main" val="540760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4696C-23D5-D590-C735-F8994A39E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Aktualizace</a:t>
            </a:r>
            <a:endParaRPr lang="cs-CZ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351124-209A-F307-E125-15365F1E9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cs typeface="Calibri"/>
              </a:rPr>
              <a:t>Aktualizoval se podobně jako </a:t>
            </a:r>
            <a:r>
              <a:rPr lang="cs-CZ" sz="2400" err="1">
                <a:cs typeface="Calibri"/>
              </a:rPr>
              <a:t>windows</a:t>
            </a:r>
            <a:r>
              <a:rPr lang="cs-CZ" sz="2400">
                <a:cs typeface="Calibri"/>
              </a:rPr>
              <a:t> 10 u PC.</a:t>
            </a:r>
          </a:p>
          <a:p>
            <a:r>
              <a:rPr lang="cs-CZ" sz="2400"/>
              <a:t>Nyní se neaktualizuje.</a:t>
            </a:r>
            <a:endParaRPr lang="cs-CZ" sz="2400">
              <a:cs typeface="Calibri"/>
            </a:endParaRPr>
          </a:p>
          <a:p>
            <a:r>
              <a:rPr lang="cs-CZ" sz="2400">
                <a:ea typeface="+mn-lt"/>
                <a:cs typeface="+mn-lt"/>
              </a:rPr>
              <a:t>V roce 2017 se přestaly vydávat všechny aktualizace kromě údržbových verzí.</a:t>
            </a:r>
            <a:endParaRPr lang="cs-CZ" sz="2400">
              <a:cs typeface="Calibri" panose="020F0502020204030204"/>
            </a:endParaRPr>
          </a:p>
          <a:p>
            <a:r>
              <a:rPr lang="cs-CZ" sz="2400">
                <a:ea typeface="+mn-lt"/>
                <a:cs typeface="+mn-lt"/>
              </a:rPr>
              <a:t>10. Prosince 2019 se přestaly vydávat všechny aktualizace.</a:t>
            </a:r>
            <a:endParaRPr lang="cs-CZ" sz="2400"/>
          </a:p>
          <a:p>
            <a:endParaRPr lang="cs-CZ">
              <a:cs typeface="Calibri"/>
            </a:endParaRPr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endParaRPr lang="en-US"/>
          </a:p>
          <a:p>
            <a:pPr>
              <a:buClr>
                <a:srgbClr val="8AD0D6"/>
              </a:buClr>
            </a:pPr>
            <a:endParaRPr lang="en-US"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23428446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D490-187B-B6BE-DFCE-76F5A5B68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Bezpečnost</a:t>
            </a:r>
            <a:endParaRPr lang="cs-CZ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7A1675-AC2A-74DF-0BE0-9FAE16158E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cs typeface="Calibri"/>
              </a:rPr>
              <a:t>Stejná jako u Windows 10 u PC.</a:t>
            </a:r>
          </a:p>
          <a:p>
            <a:pPr marL="0" indent="0">
              <a:buNone/>
            </a:pPr>
            <a:r>
              <a:rPr lang="cs-CZ" sz="2400" b="1" u="sng">
                <a:cs typeface="Calibri"/>
              </a:rPr>
              <a:t>Poslední aktualizace mají 2 problémy:</a:t>
            </a:r>
          </a:p>
          <a:p>
            <a:r>
              <a:rPr lang="cs-CZ" sz="2400">
                <a:cs typeface="Calibri"/>
              </a:rPr>
              <a:t>Pin se může smazat bez kontroly.</a:t>
            </a:r>
          </a:p>
          <a:p>
            <a:r>
              <a:rPr lang="cs-CZ" sz="2400">
                <a:cs typeface="Calibri"/>
              </a:rPr>
              <a:t>Složky se můžou smazat když je Cortana zapnutá v zamykací obrazovce.</a:t>
            </a:r>
          </a:p>
        </p:txBody>
      </p:sp>
    </p:spTree>
    <p:extLst>
      <p:ext uri="{BB962C8B-B14F-4D97-AF65-F5344CB8AC3E}">
        <p14:creationId xmlns:p14="http://schemas.microsoft.com/office/powerpoint/2010/main" val="17862548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3BA035-77B2-86F4-2E66-7433462D7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Vizuální stránka</a:t>
            </a:r>
            <a:endParaRPr lang="cs-CZ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98D0D4-C3BD-F173-F8BC-F121AB8FC9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7170717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 dirty="0">
                <a:cs typeface="Calibri"/>
              </a:rPr>
              <a:t>Hlavní obrazovka vypadá jako dlaždice ve </a:t>
            </a:r>
            <a:r>
              <a:rPr lang="en-US" sz="2400" dirty="0">
                <a:cs typeface="Calibri"/>
              </a:rPr>
              <a:t>windows </a:t>
            </a:r>
            <a:r>
              <a:rPr lang="cs-CZ" sz="2400" dirty="0">
                <a:cs typeface="Calibri"/>
              </a:rPr>
              <a:t>10 PC start menu.</a:t>
            </a:r>
          </a:p>
          <a:p>
            <a:r>
              <a:rPr lang="cs-CZ" sz="2400" dirty="0">
                <a:cs typeface="Calibri"/>
              </a:rPr>
              <a:t>V navigačním baru jsou tlačítka zpět, </a:t>
            </a:r>
            <a:r>
              <a:rPr lang="en-US" sz="2400" dirty="0">
                <a:cs typeface="Calibri"/>
              </a:rPr>
              <a:t>windows </a:t>
            </a:r>
            <a:r>
              <a:rPr lang="cs-CZ" sz="2400" dirty="0">
                <a:cs typeface="Calibri"/>
              </a:rPr>
              <a:t>a vyhledávání.</a:t>
            </a:r>
          </a:p>
          <a:p>
            <a:r>
              <a:rPr lang="cs-CZ" sz="2400" dirty="0">
                <a:cs typeface="Calibri"/>
              </a:rPr>
              <a:t>Vyhledávání vypadá jako list aplikací ve start menu ale s vyhledávacím polem navrchu.</a:t>
            </a: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D16ECF01-A347-0027-9728-73652CE0C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3511" y="490847"/>
            <a:ext cx="3306018" cy="5876306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67831659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713D21-94FB-DFEA-A0FD-20A2C4AF2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Zvláštnosti a odlišnosti oproti jiným OS</a:t>
            </a:r>
            <a:endParaRPr lang="cs-CZ">
              <a:cs typeface="Calibri Ligh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2487D-B247-FECF-9128-547954BECC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411132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cs-CZ" sz="2400" b="1" u="sng">
                <a:cs typeface="Calibri"/>
              </a:rPr>
              <a:t>Klady:</a:t>
            </a:r>
            <a:endParaRPr lang="cs-CZ" sz="2400" b="1">
              <a:cs typeface="Calibri"/>
            </a:endParaRPr>
          </a:p>
          <a:p>
            <a:r>
              <a:rPr lang="cs-CZ" sz="2400">
                <a:ea typeface="+mn-lt"/>
                <a:cs typeface="+mn-lt"/>
              </a:rPr>
              <a:t>Je na mobil</a:t>
            </a:r>
          </a:p>
          <a:p>
            <a:pPr>
              <a:buClr>
                <a:srgbClr val="FFFFFF"/>
              </a:buClr>
            </a:pPr>
            <a:r>
              <a:rPr lang="cs-CZ" sz="2400">
                <a:cs typeface="Calibri"/>
              </a:rPr>
              <a:t>Dá se jednoduše spárovat s počítačem, který také používá </a:t>
            </a:r>
            <a:r>
              <a:rPr lang="en-US" sz="2400">
                <a:cs typeface="Calibri"/>
              </a:rPr>
              <a:t>windows</a:t>
            </a:r>
            <a:endParaRPr lang="cs-CZ" sz="2400"/>
          </a:p>
          <a:p>
            <a:pPr marL="0" indent="0">
              <a:buNone/>
            </a:pPr>
            <a:r>
              <a:rPr lang="cs-CZ" sz="2400" b="1" u="sng">
                <a:ea typeface="+mn-lt"/>
                <a:cs typeface="+mn-lt"/>
              </a:rPr>
              <a:t>Zápory:</a:t>
            </a:r>
          </a:p>
          <a:p>
            <a:r>
              <a:rPr lang="cs-CZ" sz="2400">
                <a:ea typeface="+mn-lt"/>
                <a:cs typeface="+mn-lt"/>
              </a:rPr>
              <a:t>Špatná podpora ze strany Microsoftu</a:t>
            </a:r>
            <a:endParaRPr lang="cs-CZ">
              <a:ea typeface="+mn-lt"/>
              <a:cs typeface="+mn-lt"/>
            </a:endParaRPr>
          </a:p>
          <a:p>
            <a:pPr>
              <a:buClr>
                <a:srgbClr val="FFFFFF"/>
              </a:buClr>
            </a:pPr>
            <a:r>
              <a:rPr lang="cs-CZ" sz="2400">
                <a:cs typeface="Calibri"/>
              </a:rPr>
              <a:t>Špatná funkčnost a výbava OS</a:t>
            </a:r>
            <a:endParaRPr lang="cs-CZ">
              <a:cs typeface="Calibri"/>
            </a:endParaRPr>
          </a:p>
          <a:p>
            <a:pPr>
              <a:buClr>
                <a:srgbClr val="FFFFFF"/>
              </a:buClr>
            </a:pPr>
            <a:r>
              <a:rPr lang="cs-CZ" sz="2400">
                <a:cs typeface="Calibri"/>
              </a:rPr>
              <a:t>Špatné zabezpečení</a:t>
            </a:r>
          </a:p>
          <a:p>
            <a:pPr>
              <a:buClr>
                <a:srgbClr val="FFFFFF"/>
              </a:buClr>
            </a:pPr>
            <a:r>
              <a:rPr lang="cs-CZ" sz="2400">
                <a:cs typeface="Calibri"/>
              </a:rPr>
              <a:t>Nenašlo se moc lidí co by pro Windows Mobile vyvíjeli aplikace</a:t>
            </a:r>
            <a:endParaRPr lang="cs-CZ" sz="24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5359129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6D23-28C3-93A1-5823-D1FAD24D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Popularita OS</a:t>
            </a:r>
            <a:endParaRPr lang="cs-CZ">
              <a:cs typeface="Calibri Light" panose="020F0302020204030204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568B7B-5A5A-7166-37D7-3532D7A746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ea typeface="+mn-lt"/>
                <a:cs typeface="+mn-lt"/>
              </a:rPr>
              <a:t>Windows OS měl své uživatele, kteří nebyli moc spokojeni</a:t>
            </a:r>
          </a:p>
          <a:p>
            <a:r>
              <a:rPr lang="cs-CZ" sz="2400">
                <a:cs typeface="Calibri"/>
              </a:rPr>
              <a:t>Byl to šestý nejpoužívanější operační systém pro mobily</a:t>
            </a:r>
          </a:p>
          <a:p>
            <a:r>
              <a:rPr lang="cs-CZ" sz="2400">
                <a:cs typeface="Calibri"/>
              </a:rPr>
              <a:t>Dnes už tak populární není, protože už není podporován</a:t>
            </a:r>
          </a:p>
        </p:txBody>
      </p:sp>
      <p:pic>
        <p:nvPicPr>
          <p:cNvPr id="4" name="Picture 4">
            <a:extLst>
              <a:ext uri="{FF2B5EF4-FFF2-40B4-BE49-F238E27FC236}">
                <a16:creationId xmlns:a16="http://schemas.microsoft.com/office/drawing/2014/main" id="{A4ED6E3F-83FF-084C-720D-D0E6101D5C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921" y="4810830"/>
            <a:ext cx="7823199" cy="736590"/>
          </a:xfrm>
          <a:prstGeom prst="rect">
            <a:avLst/>
          </a:prstGeom>
          <a:ln w="28575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8025596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E97C0C-B0E7-CF1E-B8C0-D8E8A1A01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ea typeface="+mj-lt"/>
                <a:cs typeface="+mj-lt"/>
              </a:rPr>
              <a:t>Diskuze (otázky)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FDB08-45B9-F41A-11A9-09D193F118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 sz="2400">
                <a:cs typeface="Calibri"/>
              </a:rPr>
              <a:t>Kdo z vás si myslí, že Microsoft jejich Mobilní OS vyvíjel špatně nebo naopak dobře?</a:t>
            </a:r>
          </a:p>
          <a:p>
            <a:endParaRPr lang="cs-CZ" sz="2400">
              <a:cs typeface="Calibri"/>
            </a:endParaRPr>
          </a:p>
          <a:p>
            <a:r>
              <a:rPr lang="cs-CZ" sz="2400">
                <a:cs typeface="Calibri"/>
              </a:rPr>
              <a:t>Kdyby to bylo možné koupili byste si mobil s Windows Mobile?</a:t>
            </a:r>
          </a:p>
          <a:p>
            <a:endParaRPr lang="en-US">
              <a:cs typeface="Calibri"/>
            </a:endParaRPr>
          </a:p>
          <a:p>
            <a:endParaRPr lang="en-US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6255163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C45438-08C5-4A2F-75DD-7A3F36E9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cs typeface="Calibri Light"/>
              </a:rPr>
              <a:t>Zdroje</a:t>
            </a:r>
            <a:endParaRPr lang="cs-C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2EABB2-DB3F-722C-7FCF-C648D3198F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1" y="2142067"/>
            <a:ext cx="10131425" cy="410633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noProof="1">
                <a:ea typeface="+mn-lt"/>
                <a:cs typeface="+mn-lt"/>
              </a:rPr>
              <a:t>Windows 10 Mobile. In: </a:t>
            </a:r>
            <a:r>
              <a:rPr lang="en-US" sz="1600" i="1" noProof="1">
                <a:ea typeface="+mn-lt"/>
                <a:cs typeface="+mn-lt"/>
              </a:rPr>
              <a:t>Wikipedia</a:t>
            </a:r>
            <a:r>
              <a:rPr lang="en-US" sz="1600" noProof="1">
                <a:ea typeface="+mn-lt"/>
                <a:cs typeface="+mn-lt"/>
              </a:rPr>
              <a:t> [online]. 2022, 2022-11-25 [cit. 2022-11-26]. Dostupné z: </a:t>
            </a:r>
            <a:r>
              <a:rPr lang="en-US" sz="1600" noProof="1">
                <a:ea typeface="+mn-lt"/>
                <a:cs typeface="+mn-lt"/>
                <a:hlinkClick r:id="rId2"/>
              </a:rPr>
              <a:t>https://en.wikipedia.org/wiki/Windows_10_Mobile</a:t>
            </a:r>
            <a:endParaRPr lang="en-US" sz="1600" noProof="1">
              <a:ea typeface="+mn-lt"/>
              <a:cs typeface="+mn-lt"/>
            </a:endParaRPr>
          </a:p>
          <a:p>
            <a:r>
              <a:rPr lang="en-US" sz="1600" noProof="1">
                <a:ea typeface="+mn-lt"/>
                <a:cs typeface="+mn-lt"/>
              </a:rPr>
              <a:t>ARKADIUSZ, Piasek. Windows 10 Mobile: minimum requirements published. In: </a:t>
            </a:r>
            <a:r>
              <a:rPr lang="en-US" sz="1600" i="1" noProof="1">
                <a:ea typeface="+mn-lt"/>
                <a:cs typeface="+mn-lt"/>
              </a:rPr>
              <a:t>Notebook Check</a:t>
            </a:r>
            <a:r>
              <a:rPr lang="en-US" sz="1600" noProof="1">
                <a:ea typeface="+mn-lt"/>
                <a:cs typeface="+mn-lt"/>
              </a:rPr>
              <a:t> [online]. 2015, 2015-22-7 [cit. 2022-11-26]. Dostupné z: </a:t>
            </a:r>
            <a:r>
              <a:rPr lang="en-US" sz="1600" noProof="1">
                <a:ea typeface="+mn-lt"/>
                <a:cs typeface="+mn-lt"/>
                <a:hlinkClick r:id="rId3"/>
              </a:rPr>
              <a:t>https://www.notebookcheck.net/Windows-10-Mobile-minimum-requirements-published.146797.0.html</a:t>
            </a:r>
            <a:endParaRPr lang="en-US" sz="1600" noProof="1">
              <a:ea typeface="+mn-lt"/>
              <a:cs typeface="+mn-lt"/>
            </a:endParaRPr>
          </a:p>
          <a:p>
            <a:r>
              <a:rPr lang="en-US" sz="1600" noProof="1">
                <a:ea typeface="+mn-lt"/>
                <a:cs typeface="+mn-lt"/>
              </a:rPr>
              <a:t>The Windows Phone: file system. In: Packt tube [online]. [cit. 2022-11-26]. Dostupné z: </a:t>
            </a:r>
            <a:r>
              <a:rPr lang="en-US" sz="1600" noProof="1">
                <a:ea typeface="+mn-lt"/>
                <a:cs typeface="+mn-lt"/>
                <a:hlinkClick r:id="rId4"/>
              </a:rPr>
              <a:t>https://subscription.packtpub.com/book/networking-and-servers/9781786464200/12/ch12lvl1sec74/the-windows-phone-file-system</a:t>
            </a:r>
            <a:endParaRPr lang="en-US" sz="1600" noProof="1">
              <a:ea typeface="+mn-lt"/>
              <a:cs typeface="+mn-lt"/>
            </a:endParaRPr>
          </a:p>
          <a:p>
            <a:r>
              <a:rPr lang="en-US" sz="1600" noProof="1">
                <a:ea typeface="+mn-lt"/>
                <a:cs typeface="+mn-lt"/>
              </a:rPr>
              <a:t>Rozdíl mezi NTFS a FAT32. In: </a:t>
            </a:r>
            <a:r>
              <a:rPr lang="en-US" sz="1600" i="1" noProof="1">
                <a:ea typeface="+mn-lt"/>
                <a:cs typeface="+mn-lt"/>
              </a:rPr>
              <a:t>Rozdíly</a:t>
            </a:r>
            <a:r>
              <a:rPr lang="en-US" sz="1600" noProof="1">
                <a:ea typeface="+mn-lt"/>
                <a:cs typeface="+mn-lt"/>
              </a:rPr>
              <a:t> [online]. 2019, 2019-11-5 [cit. 2022-11-26]. Dostupné z: </a:t>
            </a:r>
            <a:r>
              <a:rPr lang="en-US" sz="1600" noProof="1">
                <a:ea typeface="+mn-lt"/>
                <a:cs typeface="+mn-lt"/>
                <a:hlinkClick r:id="rId5"/>
              </a:rPr>
              <a:t>http://www.rozdily.cz/Rozd%C3%ADl_mezi_NTFS_a_FAT32</a:t>
            </a:r>
            <a:endParaRPr lang="en-US" sz="1600" noProof="1">
              <a:ea typeface="+mn-lt"/>
              <a:cs typeface="+mn-lt"/>
            </a:endParaRPr>
          </a:p>
          <a:p>
            <a:r>
              <a:rPr lang="en-US" sz="1600" i="1" noProof="1">
                <a:ea typeface="+mn-lt"/>
                <a:cs typeface="+mn-lt"/>
              </a:rPr>
              <a:t>Microsoft support: Windows 10 Mobile End of Support: FAQ</a:t>
            </a:r>
            <a:r>
              <a:rPr lang="en-US" sz="1600" noProof="1">
                <a:ea typeface="+mn-lt"/>
                <a:cs typeface="+mn-lt"/>
              </a:rPr>
              <a:t> [online]. [cit. 2022-11-26]. Dostupné z: </a:t>
            </a:r>
            <a:r>
              <a:rPr lang="en-US" sz="1600" noProof="1">
                <a:ea typeface="+mn-lt"/>
                <a:cs typeface="+mn-lt"/>
                <a:hlinkClick r:id="rId6"/>
              </a:rPr>
              <a:t>https://support.microsoft.com/en-us/windows/windows-10-mobile-end-of-support-faq-8c2dd1cf-a571-00f0-0881-bb83926d05c5</a:t>
            </a:r>
            <a:endParaRPr lang="en-US" sz="1600" noProof="1">
              <a:ea typeface="+mn-lt"/>
              <a:cs typeface="+mn-lt"/>
            </a:endParaRPr>
          </a:p>
          <a:p>
            <a:endParaRPr lang="en-US" sz="1600" noProof="1">
              <a:ea typeface="+mn-lt"/>
              <a:cs typeface="+mn-lt"/>
            </a:endParaRPr>
          </a:p>
          <a:p>
            <a:endParaRPr lang="en-US" sz="1600" noProof="1">
              <a:ea typeface="+mn-lt"/>
              <a:cs typeface="+mn-lt"/>
            </a:endParaRPr>
          </a:p>
          <a:p>
            <a:endParaRPr lang="en-US" sz="16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6586634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BEAC51-7B06-9B6F-1F98-E89981019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>
                <a:cs typeface="Calibri Light"/>
              </a:rPr>
              <a:t>Zdroje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5890C9-CDAC-5277-9E57-C1219F111C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1600" noProof="1">
                <a:ea typeface="+mn-lt"/>
                <a:cs typeface="+mn-lt"/>
              </a:rPr>
              <a:t>Mobile Operating System Market Share Worldwide 2017. </a:t>
            </a:r>
            <a:r>
              <a:rPr lang="en-US" sz="1600" i="1" noProof="1">
                <a:ea typeface="+mn-lt"/>
                <a:cs typeface="+mn-lt"/>
              </a:rPr>
              <a:t>Statcounter: GlobalStats</a:t>
            </a:r>
            <a:r>
              <a:rPr lang="en-US" sz="1600" noProof="1">
                <a:ea typeface="+mn-lt"/>
                <a:cs typeface="+mn-lt"/>
              </a:rPr>
              <a:t> [online]. [cit. 2022-11-27]. Dostupné z: </a:t>
            </a:r>
            <a:r>
              <a:rPr lang="en-US" sz="1600" noProof="1">
                <a:ea typeface="+mn-lt"/>
                <a:cs typeface="+mn-lt"/>
                <a:hlinkClick r:id="rId2"/>
              </a:rPr>
              <a:t>https://gs.statcounter.com/os-market-share/mobile/worldwide/2017</a:t>
            </a:r>
            <a:endParaRPr lang="en-US" sz="1600" noProof="1">
              <a:cs typeface="Calibri" panose="020F0502020204030204"/>
            </a:endParaRPr>
          </a:p>
          <a:p>
            <a:r>
              <a:rPr lang="en-US" sz="1600" noProof="1">
                <a:ea typeface="+mn-lt"/>
                <a:cs typeface="+mn-lt"/>
              </a:rPr>
              <a:t>TUNG, Liam. Here are the real reasons Windows Phone failed, reveals ex-Nokia engineer. </a:t>
            </a:r>
            <a:r>
              <a:rPr lang="en-US" sz="1600" i="1" noProof="1">
                <a:ea typeface="+mn-lt"/>
                <a:cs typeface="+mn-lt"/>
              </a:rPr>
              <a:t>ZDNet</a:t>
            </a:r>
            <a:r>
              <a:rPr lang="en-US" sz="1600" noProof="1">
                <a:ea typeface="+mn-lt"/>
                <a:cs typeface="+mn-lt"/>
              </a:rPr>
              <a:t> [online]. 29. 7. 2019 [cit. 2022-11-27]. Dostupné z: </a:t>
            </a:r>
            <a:r>
              <a:rPr lang="en-US" sz="1600" noProof="1">
                <a:ea typeface="+mn-lt"/>
                <a:cs typeface="+mn-lt"/>
                <a:hlinkClick r:id="rId3"/>
              </a:rPr>
              <a:t>https://www.zdnet.com/article/here-are-the-real-reasons-windows-phone-failed-reveals-ex-nokia-engineer/</a:t>
            </a:r>
            <a:endParaRPr lang="en-US" sz="1600" noProof="1">
              <a:cs typeface="Calibri"/>
            </a:endParaRPr>
          </a:p>
          <a:p>
            <a:r>
              <a:rPr lang="en-US" sz="1600" i="1" noProof="1">
                <a:cs typeface="Calibri"/>
              </a:rPr>
              <a:t>Windows Latest: Microsoft refuses to fix a security vulnerability in Windows 10 Mobile</a:t>
            </a:r>
            <a:r>
              <a:rPr lang="en-US" sz="1600" noProof="1">
                <a:cs typeface="Calibri"/>
              </a:rPr>
              <a:t> [online]. [cit. 2022-11-26]. Dostupné z: </a:t>
            </a:r>
            <a:r>
              <a:rPr lang="en-US" sz="1600" noProof="1">
                <a:cs typeface="Calibri"/>
                <a:hlinkClick r:id="rId4"/>
              </a:rPr>
              <a:t>https://www.windowslatest.com/2019/10/10/windows-10-mobile-vulnerability-discovered/</a:t>
            </a:r>
            <a:endParaRPr lang="en-US" sz="1600" noProof="1">
              <a:cs typeface="Calibri"/>
            </a:endParaRPr>
          </a:p>
          <a:p>
            <a:r>
              <a:rPr lang="en-US" sz="1600" i="1" noProof="1">
                <a:cs typeface="Calibri"/>
              </a:rPr>
              <a:t>MSPowerUser: Windows 10 Mobile has a pretty weird security flaw</a:t>
            </a:r>
            <a:r>
              <a:rPr lang="en-US" sz="1600" noProof="1">
                <a:cs typeface="Calibri"/>
              </a:rPr>
              <a:t> [online]. [cit. 2022-11-26]. Dostupné z: </a:t>
            </a:r>
            <a:r>
              <a:rPr lang="en-US" sz="1600" noProof="1">
                <a:cs typeface="Calibri"/>
                <a:hlinkClick r:id="rId5"/>
              </a:rPr>
              <a:t>https://mspoweruser.com/windows-10-mobile-pretty-weird-security-flaw/</a:t>
            </a:r>
            <a:endParaRPr lang="en-US" sz="1600" noProof="1">
              <a:cs typeface="Calibri"/>
            </a:endParaRPr>
          </a:p>
          <a:p>
            <a:endParaRPr lang="en-US" sz="16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5867530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04C7E"/>
      </a:dk2>
      <a:lt2>
        <a:srgbClr val="EBEBEB"/>
      </a:lt2>
      <a:accent1>
        <a:srgbClr val="94CE67"/>
      </a:accent1>
      <a:accent2>
        <a:srgbClr val="49D1CD"/>
      </a:accent2>
      <a:accent3>
        <a:srgbClr val="61A5D6"/>
      </a:accent3>
      <a:accent4>
        <a:srgbClr val="9D8CD3"/>
      </a:accent4>
      <a:accent5>
        <a:srgbClr val="E45C8A"/>
      </a:accent5>
      <a:accent6>
        <a:srgbClr val="F98C61"/>
      </a:accent6>
      <a:hlink>
        <a:srgbClr val="AAF172"/>
      </a:hlink>
      <a:folHlink>
        <a:srgbClr val="E7F19A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E44E6A2F-09CD-4BE0-B42D-107FF03CEED6}"/>
    </a:ext>
  </a:extLst>
</a:theme>
</file>

<file path=ppt/theme/theme2.xml><?xml version="1.0" encoding="utf-8"?>
<a:theme xmlns:a="http://schemas.openxmlformats.org/drawingml/2006/main" name="Office Theme 2013 - 202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B9824D9504AE49A61F66C1EADB70E1" ma:contentTypeVersion="5" ma:contentTypeDescription="Vytvoří nový dokument" ma:contentTypeScope="" ma:versionID="80592c702834f8873114550b251ff3eb">
  <xsd:schema xmlns:xsd="http://www.w3.org/2001/XMLSchema" xmlns:xs="http://www.w3.org/2001/XMLSchema" xmlns:p="http://schemas.microsoft.com/office/2006/metadata/properties" xmlns:ns3="5df54dde-d18f-4bad-8f22-5569bd684ca8" xmlns:ns4="2fdf368a-f443-49d9-8039-a87943f25e5e" targetNamespace="http://schemas.microsoft.com/office/2006/metadata/properties" ma:root="true" ma:fieldsID="8890d110d4c32a6b012b707f32392f57" ns3:_="" ns4:_="">
    <xsd:import namespace="5df54dde-d18f-4bad-8f22-5569bd684ca8"/>
    <xsd:import namespace="2fdf368a-f443-49d9-8039-a87943f25e5e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df54dde-d18f-4bad-8f22-5569bd684ca8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df368a-f443-49d9-8039-a87943f25e5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696887E5-3834-4785-A81C-217603BC81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F384E77-B4BD-4970-9E11-40D6DD9133D5}">
  <ds:schemaRefs>
    <ds:schemaRef ds:uri="http://schemas.microsoft.com/office/2006/metadata/properties"/>
    <ds:schemaRef ds:uri="http://schemas.microsoft.com/office/infopath/2007/PartnerControls"/>
    <ds:schemaRef ds:uri="http://www.w3.org/2000/xmlns/"/>
  </ds:schemaRefs>
</ds:datastoreItem>
</file>

<file path=customXml/itemProps3.xml><?xml version="1.0" encoding="utf-8"?>
<ds:datastoreItem xmlns:ds="http://schemas.openxmlformats.org/officeDocument/2006/customXml" ds:itemID="{5F07FC26-5B6E-4E3B-948E-FB921527A592}">
  <ds:schemaRefs>
    <ds:schemaRef ds:uri="2fdf368a-f443-49d9-8039-a87943f25e5e"/>
    <ds:schemaRef ds:uri="5df54dde-d18f-4bad-8f22-5569bd684ca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0/xmlns/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17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Celestial</vt:lpstr>
      <vt:lpstr>Windows 10 Mobile</vt:lpstr>
      <vt:lpstr>Minimální hardwarové požadavky</vt:lpstr>
      <vt:lpstr>Minimální hardwarové požadavky</vt:lpstr>
      <vt:lpstr>Minimální hardwarové požadavky</vt:lpstr>
      <vt:lpstr>Minimální hardwarové požadavky</vt:lpstr>
      <vt:lpstr>Souborový systém</vt:lpstr>
      <vt:lpstr>Souborový systém</vt:lpstr>
      <vt:lpstr>Souborový systém</vt:lpstr>
      <vt:lpstr>Drivery</vt:lpstr>
      <vt:lpstr>Aktualizace</vt:lpstr>
      <vt:lpstr>Bezpečnost</vt:lpstr>
      <vt:lpstr>Vizuální stránka</vt:lpstr>
      <vt:lpstr>Zvláštnosti a odlišnosti oproti jiným OS</vt:lpstr>
      <vt:lpstr>Popularita OS</vt:lpstr>
      <vt:lpstr>Diskuze (otázky)</vt:lpstr>
      <vt:lpstr>Zdroje</vt:lpstr>
      <vt:lpstr>Zdroje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Jiří PEČENKA</dc:creator>
  <cp:revision>10</cp:revision>
  <dcterms:created xsi:type="dcterms:W3CDTF">2022-11-18T10:35:45Z</dcterms:created>
  <dcterms:modified xsi:type="dcterms:W3CDTF">2022-11-27T11:38:26Z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0x0101001BB9824D9504AE49A61F66C1EADB70E1</vt:lpwstr>
  </property>
</Properties>
</file>