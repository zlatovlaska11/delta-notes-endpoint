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9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7" r:id="rId40"/>
    <p:sldId id="295" r:id="rId41"/>
    <p:sldId id="296" r:id="rId4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86" y="114"/>
      </p:cViewPr>
      <p:guideLst/>
    </p:cSldViewPr>
  </p:slideViewPr>
  <p:outlineViewPr>
    <p:cViewPr>
      <p:scale>
        <a:sx n="33" d="100"/>
        <a:sy n="33" d="100"/>
      </p:scale>
      <p:origin x="0" y="-627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11/20/2022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3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1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9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8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3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6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9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7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1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5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11/20/2022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70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ac_OS_X_10.0" TargetMode="External"/><Relationship Id="rId13" Type="http://schemas.openxmlformats.org/officeDocument/2006/relationships/hyperlink" Target="https://en.wikipedia.org/wiki/Mac_OS_X_10.5" TargetMode="External"/><Relationship Id="rId3" Type="http://schemas.openxmlformats.org/officeDocument/2006/relationships/hyperlink" Target="https://en.wikipedia.org/wiki/System_1" TargetMode="External"/><Relationship Id="rId7" Type="http://schemas.openxmlformats.org/officeDocument/2006/relationships/hyperlink" Target="https://en.wikipedia.org/wiki/NeXTSTEP" TargetMode="External"/><Relationship Id="rId12" Type="http://schemas.openxmlformats.org/officeDocument/2006/relationships/hyperlink" Target="https://en.wikipedia.org/wiki/Mac_OS_X_10.4" TargetMode="External"/><Relationship Id="rId17" Type="http://schemas.openxmlformats.org/officeDocument/2006/relationships/hyperlink" Target="https://en.wikipedia.org/wiki/Mac_OS_X_10.9" TargetMode="External"/><Relationship Id="rId2" Type="http://schemas.openxmlformats.org/officeDocument/2006/relationships/hyperlink" Target="https://en.wikipedia.org/wiki/MacOS" TargetMode="External"/><Relationship Id="rId16" Type="http://schemas.openxmlformats.org/officeDocument/2006/relationships/hyperlink" Target="https://en.wikipedia.org/wiki/OS_X_10.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c_OS_9" TargetMode="External"/><Relationship Id="rId11" Type="http://schemas.openxmlformats.org/officeDocument/2006/relationships/hyperlink" Target="https://en.wikipedia.org/wiki/Mac_OS_X_10.3" TargetMode="External"/><Relationship Id="rId5" Type="http://schemas.openxmlformats.org/officeDocument/2006/relationships/hyperlink" Target="https://en.wikipedia.org/wiki/Classic_Mac_OS" TargetMode="External"/><Relationship Id="rId15" Type="http://schemas.openxmlformats.org/officeDocument/2006/relationships/hyperlink" Target="https://en.wikipedia.org/wiki/OS_X_10.7" TargetMode="External"/><Relationship Id="rId10" Type="http://schemas.openxmlformats.org/officeDocument/2006/relationships/hyperlink" Target="https://en.wikipedia.org/wiki/Mac_OS_X_10.2" TargetMode="External"/><Relationship Id="rId4" Type="http://schemas.openxmlformats.org/officeDocument/2006/relationships/hyperlink" Target="https://en.wikipedia.org/wiki/Classic_Mac_OS#System_2" TargetMode="External"/><Relationship Id="rId9" Type="http://schemas.openxmlformats.org/officeDocument/2006/relationships/hyperlink" Target="https://en.wikipedia.org/wiki/Mac_OS_X_10.1" TargetMode="External"/><Relationship Id="rId14" Type="http://schemas.openxmlformats.org/officeDocument/2006/relationships/hyperlink" Target="https://en.wikipedia.org/wiki/Mac_OS_X_10.6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acOS_12" TargetMode="External"/><Relationship Id="rId13" Type="http://schemas.openxmlformats.org/officeDocument/2006/relationships/hyperlink" Target="https://apple.fandom.com/wiki/Mac_OS_X_10.4" TargetMode="External"/><Relationship Id="rId18" Type="http://schemas.openxmlformats.org/officeDocument/2006/relationships/hyperlink" Target="https://manjaro.site/step-by-step-install-macos-ventura-beta-on-proxmox-7/" TargetMode="External"/><Relationship Id="rId3" Type="http://schemas.openxmlformats.org/officeDocument/2006/relationships/hyperlink" Target="https://en.wikipedia.org/wiki/macOS_10.12" TargetMode="External"/><Relationship Id="rId7" Type="http://schemas.openxmlformats.org/officeDocument/2006/relationships/hyperlink" Target="https://en.wikipedia.org/wiki/macOS_11" TargetMode="External"/><Relationship Id="rId12" Type="http://schemas.openxmlformats.org/officeDocument/2006/relationships/hyperlink" Target="https://apple.fandom.com/wiki/Mac_OS_X_10.3" TargetMode="External"/><Relationship Id="rId17" Type="http://schemas.openxmlformats.org/officeDocument/2006/relationships/hyperlink" Target="https://apple.fandom.com/wiki/Mac_OS_X_10.8" TargetMode="External"/><Relationship Id="rId2" Type="http://schemas.openxmlformats.org/officeDocument/2006/relationships/hyperlink" Target="https://en.wikipedia.org/wiki/OS_X_10.11" TargetMode="External"/><Relationship Id="rId16" Type="http://schemas.openxmlformats.org/officeDocument/2006/relationships/hyperlink" Target="https://apple.fandom.com/wiki/Mac_OS_X_10.7" TargetMode="External"/><Relationship Id="rId20" Type="http://schemas.openxmlformats.org/officeDocument/2006/relationships/hyperlink" Target="https://www.apple.com/mideast/mac/docs/Apple_T2_Security_Chip_Overview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cOS_10.15" TargetMode="External"/><Relationship Id="rId11" Type="http://schemas.openxmlformats.org/officeDocument/2006/relationships/hyperlink" Target="https://apple.fandom.com/wiki/Mac_OS_X_10.2" TargetMode="External"/><Relationship Id="rId5" Type="http://schemas.openxmlformats.org/officeDocument/2006/relationships/hyperlink" Target="https://en.wikipedia.org/wiki/macOS_10.14" TargetMode="External"/><Relationship Id="rId15" Type="http://schemas.openxmlformats.org/officeDocument/2006/relationships/hyperlink" Target="https://apple.fandom.com/wiki/Mac_OS_X_10.6" TargetMode="External"/><Relationship Id="rId10" Type="http://schemas.openxmlformats.org/officeDocument/2006/relationships/hyperlink" Target="https://apple.fandom.com/wiki/Mac_OS_X_10.1" TargetMode="External"/><Relationship Id="rId19" Type="http://schemas.openxmlformats.org/officeDocument/2006/relationships/hyperlink" Target="https://www.pcmag.com/reviews/apple-macos-catalina" TargetMode="External"/><Relationship Id="rId4" Type="http://schemas.openxmlformats.org/officeDocument/2006/relationships/hyperlink" Target="https://en.wikipedia.org/wiki/macOS_10.13" TargetMode="External"/><Relationship Id="rId9" Type="http://schemas.openxmlformats.org/officeDocument/2006/relationships/hyperlink" Target="https://en.wikipedia.org/wiki/macOS_13" TargetMode="External"/><Relationship Id="rId14" Type="http://schemas.openxmlformats.org/officeDocument/2006/relationships/hyperlink" Target="https://apple.fandom.com/wiki/Mac_OS_X_10.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FBF1BEC-5C85-A004-A68C-6F736D335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8633" y="1247140"/>
            <a:ext cx="3608208" cy="3450844"/>
          </a:xfrm>
        </p:spPr>
        <p:txBody>
          <a:bodyPr>
            <a:normAutofit/>
          </a:bodyPr>
          <a:lstStyle/>
          <a:p>
            <a:r>
              <a:rPr lang="cs-CZ" sz="4800" dirty="0"/>
              <a:t>macOS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35AE79C-D44F-1FE7-F91B-246359C2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8633" y="4818126"/>
            <a:ext cx="3608208" cy="1268984"/>
          </a:xfrm>
        </p:spPr>
        <p:txBody>
          <a:bodyPr>
            <a:normAutofit fontScale="85000" lnSpcReduction="20000"/>
          </a:bodyPr>
          <a:lstStyle/>
          <a:p>
            <a:r>
              <a:rPr lang="cs-CZ" dirty="0"/>
              <a:t>David </a:t>
            </a:r>
            <a:r>
              <a:rPr lang="cs-CZ" dirty="0" err="1"/>
              <a:t>Menc</a:t>
            </a:r>
            <a:endParaRPr lang="cs-CZ" dirty="0"/>
          </a:p>
          <a:p>
            <a:r>
              <a:rPr lang="cs-CZ" dirty="0"/>
              <a:t>Šimon Kováč</a:t>
            </a:r>
          </a:p>
          <a:p>
            <a:r>
              <a:rPr lang="cs-CZ" dirty="0"/>
              <a:t>Jiří </a:t>
            </a:r>
            <a:r>
              <a:rPr lang="cs-CZ" dirty="0" err="1"/>
              <a:t>Wendl</a:t>
            </a:r>
            <a:endParaRPr lang="cs-C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2679E-5BA3-50B5-EB2F-A27BEC25F7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1" r="17484"/>
          <a:stretch/>
        </p:blipFill>
        <p:spPr>
          <a:xfrm>
            <a:off x="-1" y="10"/>
            <a:ext cx="7456513" cy="6857990"/>
          </a:xfrm>
          <a:custGeom>
            <a:avLst/>
            <a:gdLst/>
            <a:ahLst/>
            <a:cxnLst/>
            <a:rect l="l" t="t" r="r" b="b"/>
            <a:pathLst>
              <a:path w="7456513" h="6858000">
                <a:moveTo>
                  <a:pt x="0" y="0"/>
                </a:moveTo>
                <a:lnTo>
                  <a:pt x="6059386" y="0"/>
                </a:lnTo>
                <a:lnTo>
                  <a:pt x="6059386" y="1375489"/>
                </a:lnTo>
                <a:lnTo>
                  <a:pt x="7456513" y="1375489"/>
                </a:lnTo>
                <a:lnTo>
                  <a:pt x="74565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5818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5818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90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9B0C9A-A2A5-6C30-69C6-5715CDA32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5CFA2C-702E-A828-7932-92482EECC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macOS je operační </a:t>
            </a:r>
            <a:r>
              <a:rPr lang="cs-CZ" sz="2800" dirty="0" err="1"/>
              <a:t>sysém</a:t>
            </a:r>
            <a:r>
              <a:rPr lang="cs-CZ" sz="2800" dirty="0"/>
              <a:t> pro počítače Macintosh</a:t>
            </a:r>
          </a:p>
          <a:p>
            <a:r>
              <a:rPr lang="cs-CZ" sz="2800" dirty="0"/>
              <a:t>Vyvíjí ho Apple</a:t>
            </a:r>
          </a:p>
          <a:p>
            <a:r>
              <a:rPr lang="cs-CZ" sz="2800" dirty="0"/>
              <a:t>Unix-</a:t>
            </a:r>
            <a:r>
              <a:rPr lang="cs-CZ" sz="2800" dirty="0" err="1"/>
              <a:t>like</a:t>
            </a:r>
            <a:endParaRPr lang="cs-CZ" sz="2800" dirty="0"/>
          </a:p>
          <a:p>
            <a:r>
              <a:rPr lang="cs-CZ" sz="2800" dirty="0"/>
              <a:t>Základ macOS je Darwin, který používá jádro XNU</a:t>
            </a:r>
          </a:p>
          <a:p>
            <a:r>
              <a:rPr lang="cs-CZ" sz="2800" dirty="0"/>
              <a:t>Nejnovější verze je macOS 13.0.1 (Ventura)</a:t>
            </a:r>
          </a:p>
        </p:txBody>
      </p:sp>
    </p:spTree>
    <p:extLst>
      <p:ext uri="{BB962C8B-B14F-4D97-AF65-F5344CB8AC3E}">
        <p14:creationId xmlns:p14="http://schemas.microsoft.com/office/powerpoint/2010/main" val="261365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80BC53-8F3F-C3A5-A877-39E1775A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Podpora hardwaru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BB279F-4F28-516F-1D4C-39D42570C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macOS (základně) podporuje pouze počítače Macintosh</a:t>
            </a:r>
          </a:p>
          <a:p>
            <a:r>
              <a:rPr lang="cs-CZ" sz="2800" dirty="0"/>
              <a:t>Ovladače jádra používají </a:t>
            </a:r>
            <a:r>
              <a:rPr lang="cs-CZ" sz="2800" dirty="0" err="1"/>
              <a:t>kexty</a:t>
            </a:r>
            <a:endParaRPr lang="cs-CZ" sz="2800" dirty="0"/>
          </a:p>
          <a:p>
            <a:r>
              <a:rPr lang="cs-CZ" sz="2800" dirty="0"/>
              <a:t>Jiné ovladače používají </a:t>
            </a:r>
            <a:r>
              <a:rPr lang="cs-CZ" sz="2800" dirty="0" err="1"/>
              <a:t>DriverKit</a:t>
            </a:r>
            <a:endParaRPr lang="cs-CZ" sz="2800" dirty="0"/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31992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9A0BC-52D1-8F1C-C1BC-D451CE67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09" y="175358"/>
            <a:ext cx="9486690" cy="818555"/>
          </a:xfrm>
        </p:spPr>
        <p:txBody>
          <a:bodyPr/>
          <a:lstStyle/>
          <a:p>
            <a:r>
              <a:rPr lang="cs-CZ" dirty="0"/>
              <a:t>Uživatelské rozhraní</a:t>
            </a:r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8E9C4610-B3E9-E0B0-3FA9-8F4F1385A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997" y="849305"/>
            <a:ext cx="9613912" cy="6008695"/>
          </a:xfrm>
        </p:spPr>
      </p:pic>
    </p:spTree>
    <p:extLst>
      <p:ext uri="{BB962C8B-B14F-4D97-AF65-F5344CB8AC3E}">
        <p14:creationId xmlns:p14="http://schemas.microsoft.com/office/powerpoint/2010/main" val="127734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E0576F-E219-794B-4143-39DA6FC4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FD9F3D-A5CD-16DB-9018-9CBC239D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Aplikace mají koncovku .</a:t>
            </a:r>
            <a:r>
              <a:rPr lang="cs-CZ" sz="2800" dirty="0" err="1"/>
              <a:t>app</a:t>
            </a:r>
            <a:endParaRPr lang="cs-CZ" sz="2800" dirty="0"/>
          </a:p>
          <a:p>
            <a:r>
              <a:rPr lang="cs-CZ" sz="2800" dirty="0"/>
              <a:t>Většina dat aplikace by měly být uložené v .</a:t>
            </a:r>
            <a:r>
              <a:rPr lang="cs-CZ" sz="2800" dirty="0" err="1"/>
              <a:t>app</a:t>
            </a:r>
            <a:endParaRPr lang="cs-CZ" sz="2800" dirty="0"/>
          </a:p>
          <a:p>
            <a:r>
              <a:rPr lang="cs-CZ" sz="2800" dirty="0"/>
              <a:t>Všechny aplikace jsou uložené na disku ve složce /</a:t>
            </a:r>
            <a:r>
              <a:rPr lang="cs-CZ" sz="2800" dirty="0" err="1"/>
              <a:t>Applications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04422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7DC1B0-9868-F789-FF7D-C12BE0A6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GUI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117B7B3-0B7B-96EF-81F8-1BC20ECAE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Hlavní grafický framework je </a:t>
            </a:r>
            <a:r>
              <a:rPr lang="cs-CZ" sz="2800" dirty="0" err="1"/>
              <a:t>AppKit</a:t>
            </a:r>
            <a:r>
              <a:rPr lang="cs-CZ" sz="2800" dirty="0"/>
              <a:t> který používá </a:t>
            </a:r>
            <a:r>
              <a:rPr lang="cs-CZ" sz="2800" dirty="0" err="1"/>
              <a:t>Cocoa</a:t>
            </a:r>
            <a:r>
              <a:rPr lang="cs-CZ" sz="2800" dirty="0"/>
              <a:t> API</a:t>
            </a:r>
          </a:p>
          <a:p>
            <a:r>
              <a:rPr lang="cs-CZ" sz="2800" dirty="0"/>
              <a:t>Do macOS 14 </a:t>
            </a:r>
            <a:r>
              <a:rPr lang="cs-CZ" sz="2800" dirty="0" err="1"/>
              <a:t>Mojave</a:t>
            </a:r>
            <a:r>
              <a:rPr lang="cs-CZ" sz="2800" dirty="0"/>
              <a:t> bylo podporováno API </a:t>
            </a:r>
            <a:r>
              <a:rPr lang="cs-CZ" sz="2800" dirty="0" err="1"/>
              <a:t>Carbon</a:t>
            </a:r>
            <a:r>
              <a:rPr lang="cs-CZ" sz="2800" dirty="0"/>
              <a:t> (kompatibilita s klasickým Mac OS)</a:t>
            </a:r>
          </a:p>
          <a:p>
            <a:r>
              <a:rPr lang="cs-CZ" sz="2800" dirty="0"/>
              <a:t>Grafické API – Metal, </a:t>
            </a:r>
            <a:r>
              <a:rPr lang="cs-CZ" sz="2800" dirty="0" err="1"/>
              <a:t>OpenCL</a:t>
            </a:r>
            <a:r>
              <a:rPr lang="cs-CZ" sz="2800" dirty="0"/>
              <a:t> a </a:t>
            </a:r>
            <a:r>
              <a:rPr lang="cs-CZ" sz="2800" dirty="0" err="1"/>
              <a:t>OpenGL</a:t>
            </a:r>
            <a:endParaRPr lang="cs-CZ" sz="2800" dirty="0"/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289692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D5B5BD-B51F-CF8A-07E4-156BE9FB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Souborový systém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1220B0-F159-A099-AB68-7AEAF3564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378226"/>
            <a:ext cx="9486690" cy="5208104"/>
          </a:xfrm>
        </p:spPr>
        <p:txBody>
          <a:bodyPr>
            <a:normAutofit/>
          </a:bodyPr>
          <a:lstStyle/>
          <a:p>
            <a:r>
              <a:rPr lang="cs-CZ" sz="2800" dirty="0"/>
              <a:t>macOS (od 10.13 </a:t>
            </a:r>
            <a:r>
              <a:rPr lang="cs-CZ" sz="2800" dirty="0" err="1"/>
              <a:t>High</a:t>
            </a:r>
            <a:r>
              <a:rPr lang="cs-CZ" sz="2800" dirty="0"/>
              <a:t> </a:t>
            </a:r>
            <a:r>
              <a:rPr lang="cs-CZ" sz="2800" dirty="0" err="1"/>
              <a:t>Siera</a:t>
            </a:r>
            <a:r>
              <a:rPr lang="cs-CZ" sz="2800" dirty="0"/>
              <a:t>) používá APFS (Apple </a:t>
            </a:r>
            <a:r>
              <a:rPr lang="cs-CZ" sz="2800" dirty="0" err="1"/>
              <a:t>File</a:t>
            </a:r>
            <a:r>
              <a:rPr lang="cs-CZ" sz="2800" dirty="0"/>
              <a:t> </a:t>
            </a:r>
            <a:r>
              <a:rPr lang="cs-CZ" sz="2800" dirty="0" err="1"/>
              <a:t>System</a:t>
            </a:r>
            <a:r>
              <a:rPr lang="cs-CZ" sz="2800" dirty="0"/>
              <a:t>) jako hlavní souborový systém </a:t>
            </a:r>
          </a:p>
          <a:p>
            <a:r>
              <a:rPr lang="cs-CZ" sz="2800" dirty="0"/>
              <a:t>Před 10.13 se používal HSF+ (Mac OS </a:t>
            </a:r>
            <a:r>
              <a:rPr lang="cs-CZ" sz="2800" dirty="0" err="1"/>
              <a:t>Extended</a:t>
            </a:r>
            <a:r>
              <a:rPr lang="cs-CZ" sz="2800" dirty="0"/>
              <a:t> </a:t>
            </a:r>
            <a:r>
              <a:rPr lang="cs-CZ" sz="2800" dirty="0" err="1"/>
              <a:t>Journaled</a:t>
            </a:r>
            <a:r>
              <a:rPr lang="cs-CZ" sz="2800" dirty="0"/>
              <a:t>)</a:t>
            </a:r>
          </a:p>
          <a:p>
            <a:r>
              <a:rPr lang="cs-CZ" sz="2800" dirty="0"/>
              <a:t>Od macOS 11 (Big </a:t>
            </a:r>
            <a:r>
              <a:rPr lang="cs-CZ" sz="2800" dirty="0" err="1"/>
              <a:t>Sur</a:t>
            </a:r>
            <a:r>
              <a:rPr lang="cs-CZ" sz="2800" dirty="0"/>
              <a:t>) je operační systém uložen na podepsaném systémovém svazku který nejde upravovat</a:t>
            </a:r>
          </a:p>
          <a:p>
            <a:r>
              <a:rPr lang="cs-CZ" sz="2800" dirty="0" err="1"/>
              <a:t>Finder</a:t>
            </a:r>
            <a:r>
              <a:rPr lang="cs-CZ" sz="2800" dirty="0"/>
              <a:t> zkombinuje svazky (Systém a Data) a zobrazí se jako jeden disk</a:t>
            </a:r>
          </a:p>
        </p:txBody>
      </p:sp>
    </p:spTree>
    <p:extLst>
      <p:ext uri="{BB962C8B-B14F-4D97-AF65-F5344CB8AC3E}">
        <p14:creationId xmlns:p14="http://schemas.microsoft.com/office/powerpoint/2010/main" val="54472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080259-4521-0C05-61B2-6099C771F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Zabezpečení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2EFE79-4471-C89B-A77B-23125076F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404730"/>
            <a:ext cx="9486690" cy="4681438"/>
          </a:xfrm>
        </p:spPr>
        <p:txBody>
          <a:bodyPr>
            <a:normAutofit/>
          </a:bodyPr>
          <a:lstStyle/>
          <a:p>
            <a:r>
              <a:rPr lang="cs-CZ" sz="2800" dirty="0"/>
              <a:t>macOS má jeden z nejlepších kořenů důvěry </a:t>
            </a:r>
          </a:p>
          <a:p>
            <a:r>
              <a:rPr lang="cs-CZ" sz="2800" dirty="0"/>
              <a:t>Celé spuštění systému je zabezpečeno a ověřeno</a:t>
            </a:r>
          </a:p>
          <a:p>
            <a:r>
              <a:rPr lang="cs-CZ" sz="2800" dirty="0"/>
              <a:t>Macy od 2016 mají čipy pro zabezpečení (T1, T2 nebo vestavěné v Apple Silicon)</a:t>
            </a:r>
          </a:p>
          <a:p>
            <a:r>
              <a:rPr lang="cs-CZ" sz="2800" dirty="0"/>
              <a:t>Tyto čipy drží kryptografické klíče, ověřují </a:t>
            </a:r>
            <a:r>
              <a:rPr lang="cs-CZ" sz="2800" dirty="0" err="1"/>
              <a:t>boot</a:t>
            </a:r>
            <a:r>
              <a:rPr lang="cs-CZ" sz="2800" dirty="0"/>
              <a:t> </a:t>
            </a:r>
            <a:r>
              <a:rPr lang="cs-CZ" sz="2800" dirty="0" err="1"/>
              <a:t>rom</a:t>
            </a:r>
            <a:r>
              <a:rPr lang="cs-CZ" sz="2800" dirty="0"/>
              <a:t>, zpracovávají otisky prstů a platby Apple </a:t>
            </a:r>
            <a:r>
              <a:rPr lang="cs-CZ" sz="2800" dirty="0" err="1"/>
              <a:t>Pay</a:t>
            </a:r>
            <a:r>
              <a:rPr lang="cs-CZ" sz="2800" dirty="0"/>
              <a:t>, atd.</a:t>
            </a:r>
          </a:p>
        </p:txBody>
      </p:sp>
    </p:spTree>
    <p:extLst>
      <p:ext uri="{BB962C8B-B14F-4D97-AF65-F5344CB8AC3E}">
        <p14:creationId xmlns:p14="http://schemas.microsoft.com/office/powerpoint/2010/main" val="27936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9566314-9AD3-6F71-6B77-6D6E6301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55362"/>
            <a:ext cx="3603625" cy="1550419"/>
          </a:xfrm>
        </p:spPr>
        <p:txBody>
          <a:bodyPr>
            <a:normAutofit/>
          </a:bodyPr>
          <a:lstStyle/>
          <a:p>
            <a:r>
              <a:rPr lang="cs-CZ" dirty="0" err="1"/>
              <a:t>Secure</a:t>
            </a:r>
            <a:r>
              <a:rPr lang="cs-CZ" dirty="0"/>
              <a:t> </a:t>
            </a:r>
            <a:r>
              <a:rPr lang="cs-CZ" dirty="0" err="1"/>
              <a:t>boot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2119EB-3297-5DB4-A154-414F0DB7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2160016"/>
            <a:ext cx="3603625" cy="3926152"/>
          </a:xfrm>
        </p:spPr>
        <p:txBody>
          <a:bodyPr>
            <a:normAutofit/>
          </a:bodyPr>
          <a:lstStyle/>
          <a:p>
            <a:r>
              <a:rPr lang="cs-CZ"/>
              <a:t>U Maců s T2 všechy podepsané komponenty jsou ověřeny</a:t>
            </a:r>
          </a:p>
          <a:p>
            <a:r>
              <a:rPr lang="cs-CZ"/>
              <a:t>Proces pokračuje až po ověření všech komponentů (firmware, UEFI, bootloader, jádro a kexty ketré jsou potřebné na boot</a:t>
            </a:r>
          </a:p>
          <a:p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F4F712B-A752-301F-B4B6-778D2F9B33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0" r="10864" b="-2"/>
          <a:stretch/>
        </p:blipFill>
        <p:spPr>
          <a:xfrm>
            <a:off x="4748403" y="10"/>
            <a:ext cx="7443597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8403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8403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9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7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6" name="Rectangle 308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142EEF-CA79-C94B-3695-BCABDF5C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 err="1"/>
              <a:t>Sandbox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84BA3B-E23A-6DB4-0617-E3A632A9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Nové aplikace jsou </a:t>
            </a:r>
            <a:r>
              <a:rPr lang="cs-CZ" sz="2800" dirty="0" err="1"/>
              <a:t>sandboxované</a:t>
            </a:r>
            <a:endParaRPr lang="cs-CZ" sz="2800" dirty="0"/>
          </a:p>
          <a:p>
            <a:r>
              <a:rPr lang="cs-CZ" sz="2800" dirty="0"/>
              <a:t>Každá aplikace se musí zeptat pro přístup k disku, Bluetooth, mikrofonu atd.</a:t>
            </a:r>
          </a:p>
          <a:p>
            <a:endParaRPr lang="cs-CZ" sz="2800" dirty="0"/>
          </a:p>
          <a:p>
            <a:endParaRPr lang="cs-CZ" sz="2800" dirty="0"/>
          </a:p>
        </p:txBody>
      </p:sp>
      <p:pic>
        <p:nvPicPr>
          <p:cNvPr id="3074" name="Picture 2" descr="macos - Can't click to allow giving permissions - Ask Different">
            <a:extLst>
              <a:ext uri="{FF2B5EF4-FFF2-40B4-BE49-F238E27FC236}">
                <a16:creationId xmlns:a16="http://schemas.microsoft.com/office/drawing/2014/main" id="{EE38D2DD-4829-0575-16E8-44F8DB4F4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325" y="1322324"/>
            <a:ext cx="5199575" cy="4055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7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27D283-FA9D-F3D9-FE1A-6A01AC7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Mac OS </a:t>
            </a:r>
            <a:r>
              <a:rPr lang="cs-CZ" dirty="0" err="1"/>
              <a:t>classic</a:t>
            </a:r>
            <a:r>
              <a:rPr lang="cs-CZ" dirty="0"/>
              <a:t> (originálně </a:t>
            </a:r>
            <a:r>
              <a:rPr lang="cs-CZ" dirty="0" err="1"/>
              <a:t>System</a:t>
            </a:r>
            <a:r>
              <a:rPr lang="cs-CZ" dirty="0"/>
              <a:t> Software)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DEA5FE-0BD7-AAC2-9753-3936C5551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Od 1984 do 2001</a:t>
            </a:r>
          </a:p>
          <a:p>
            <a:r>
              <a:rPr lang="cs-CZ" sz="2800" dirty="0"/>
              <a:t>Poslední verze je Mac OS 9</a:t>
            </a:r>
          </a:p>
          <a:p>
            <a:r>
              <a:rPr lang="cs-CZ" sz="2800" dirty="0"/>
              <a:t>Popularizoval GUI</a:t>
            </a:r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411093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24FE59-02FF-1E7F-FA17-D2762064F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 err="1"/>
              <a:t>System</a:t>
            </a:r>
            <a:r>
              <a:rPr lang="cs-CZ" dirty="0"/>
              <a:t> 1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E96B0F-F8EE-D8E7-0698-C01811296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První verze Mac OS</a:t>
            </a:r>
          </a:p>
          <a:p>
            <a:r>
              <a:rPr lang="cs-CZ" sz="2800" dirty="0"/>
              <a:t>Vydán s Macintosh 128K</a:t>
            </a:r>
          </a:p>
          <a:p>
            <a:r>
              <a:rPr lang="cs-CZ" sz="2800" dirty="0"/>
              <a:t>Části (jako menu bar, </a:t>
            </a:r>
            <a:r>
              <a:rPr lang="cs-CZ" sz="2800" dirty="0" err="1"/>
              <a:t>Finder</a:t>
            </a:r>
            <a:r>
              <a:rPr lang="cs-CZ" sz="2800" dirty="0"/>
              <a:t>) jsou pořád v moderním macOS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FDE5DE-8E91-5303-30ED-7EAFD32F3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325" y="1612477"/>
            <a:ext cx="5199575" cy="347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54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8AADAC-3EF1-E31B-F91B-1808D00C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</a:t>
            </a:r>
            <a:r>
              <a:rPr lang="cs-CZ" dirty="0"/>
              <a:t> 1, 2, 3 a 4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25BB72-1196-4630-DC1A-3D965BE3E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err="1"/>
              <a:t>System</a:t>
            </a:r>
            <a:r>
              <a:rPr lang="cs-CZ" sz="2800" dirty="0"/>
              <a:t> 2 přidal </a:t>
            </a:r>
            <a:r>
              <a:rPr lang="cs-CZ" sz="2800" dirty="0" err="1"/>
              <a:t>AppleTalk</a:t>
            </a:r>
            <a:r>
              <a:rPr lang="cs-CZ" sz="2800" dirty="0"/>
              <a:t> (IR)</a:t>
            </a:r>
          </a:p>
          <a:p>
            <a:r>
              <a:rPr lang="cs-CZ" sz="2800" dirty="0" err="1"/>
              <a:t>System</a:t>
            </a:r>
            <a:r>
              <a:rPr lang="cs-CZ" sz="2800" dirty="0"/>
              <a:t> 2.1 přidal souborový systém HSF </a:t>
            </a:r>
          </a:p>
          <a:p>
            <a:r>
              <a:rPr lang="cs-CZ" sz="2800" dirty="0" err="1"/>
              <a:t>System</a:t>
            </a:r>
            <a:r>
              <a:rPr lang="cs-CZ" sz="2800" dirty="0"/>
              <a:t> 3 a </a:t>
            </a:r>
            <a:r>
              <a:rPr lang="cs-CZ" sz="2800" dirty="0" err="1"/>
              <a:t>System</a:t>
            </a:r>
            <a:r>
              <a:rPr lang="cs-CZ" sz="2800" dirty="0"/>
              <a:t> 4 jenom přidal podporu pro více hardwaru</a:t>
            </a:r>
          </a:p>
        </p:txBody>
      </p:sp>
    </p:spTree>
    <p:extLst>
      <p:ext uri="{BB962C8B-B14F-4D97-AF65-F5344CB8AC3E}">
        <p14:creationId xmlns:p14="http://schemas.microsoft.com/office/powerpoint/2010/main" val="393468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FAF814-1FF4-7609-FA2B-5FDB66EB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sz="4100" err="1"/>
              <a:t>System</a:t>
            </a:r>
            <a:r>
              <a:rPr lang="cs-CZ" sz="4100"/>
              <a:t> Software 5 a 6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34A996-A942-F09E-6035-C5EF17709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400" dirty="0"/>
              <a:t>První placená aktualizace (stála 50$)</a:t>
            </a:r>
          </a:p>
          <a:p>
            <a:r>
              <a:rPr lang="cs-CZ" sz="2400" dirty="0"/>
              <a:t>Přidal multitasking</a:t>
            </a:r>
          </a:p>
          <a:p>
            <a:r>
              <a:rPr lang="cs-CZ" sz="2400" dirty="0"/>
              <a:t>Aplikace mohly běžet v pozadí</a:t>
            </a:r>
          </a:p>
          <a:p>
            <a:r>
              <a:rPr lang="cs-CZ" sz="2400" dirty="0" err="1"/>
              <a:t>System</a:t>
            </a:r>
            <a:r>
              <a:rPr lang="cs-CZ" sz="2400" dirty="0"/>
              <a:t> Software 6 přidal podporu pro 1.44MB diskety</a:t>
            </a:r>
          </a:p>
        </p:txBody>
      </p:sp>
      <p:pic>
        <p:nvPicPr>
          <p:cNvPr id="4098" name="Picture 2" descr="Obsah obrázku stůl&#10;&#10;Popis byl vytvořen automaticky">
            <a:extLst>
              <a:ext uri="{FF2B5EF4-FFF2-40B4-BE49-F238E27FC236}">
                <a16:creationId xmlns:a16="http://schemas.microsoft.com/office/drawing/2014/main" id="{4B15A449-4D30-638E-8FF3-8B421BA35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325" y="1887779"/>
            <a:ext cx="5199575" cy="292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12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B17FF3F-56DB-A3D5-BB04-65921560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400"/>
              <a:t>Systém Software 7 / Mac OS 7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A03560-20A4-A07C-3FC2-2F929ACF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531" y="1646887"/>
            <a:ext cx="4294295" cy="4872710"/>
          </a:xfrm>
        </p:spPr>
        <p:txBody>
          <a:bodyPr>
            <a:normAutofit/>
          </a:bodyPr>
          <a:lstStyle/>
          <a:p>
            <a:r>
              <a:rPr lang="cs-CZ" sz="2800" dirty="0"/>
              <a:t>Nové UI</a:t>
            </a:r>
          </a:p>
          <a:p>
            <a:r>
              <a:rPr lang="cs-CZ" sz="2800" dirty="0"/>
              <a:t>32bitové adresovaní paměti</a:t>
            </a:r>
          </a:p>
          <a:p>
            <a:r>
              <a:rPr lang="cs-CZ" sz="2800" dirty="0" err="1"/>
              <a:t>TrueType</a:t>
            </a:r>
            <a:endParaRPr lang="cs-CZ" sz="2800" dirty="0"/>
          </a:p>
          <a:p>
            <a:r>
              <a:rPr lang="cs-CZ" sz="2800" dirty="0"/>
              <a:t>S verzí 7.6 se </a:t>
            </a:r>
            <a:r>
              <a:rPr lang="cs-CZ" sz="2800" dirty="0" err="1"/>
              <a:t>System</a:t>
            </a:r>
            <a:r>
              <a:rPr lang="cs-CZ" sz="2800" dirty="0"/>
              <a:t> Software přejmenoval na Mac OS</a:t>
            </a:r>
          </a:p>
          <a:p>
            <a:endParaRPr lang="cs-CZ" sz="2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A5BC5B1-D1AD-278C-4AC2-28F83EE21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26030" y="1581222"/>
            <a:ext cx="6453144" cy="362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12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DE4D29C-53C5-E0FC-F018-5E493999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 OS 8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7748DA-CA1D-C0CB-6C57-E98F47590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Velice podobný Mac OS 7</a:t>
            </a:r>
          </a:p>
          <a:p>
            <a:r>
              <a:rPr lang="cs-CZ" sz="2800" dirty="0"/>
              <a:t>Kontextová menu</a:t>
            </a:r>
          </a:p>
          <a:p>
            <a:r>
              <a:rPr lang="cs-CZ" sz="2800" dirty="0" err="1"/>
              <a:t>Vícevláknový</a:t>
            </a:r>
            <a:r>
              <a:rPr lang="cs-CZ" sz="2800" dirty="0"/>
              <a:t> </a:t>
            </a:r>
            <a:r>
              <a:rPr lang="cs-CZ" sz="2800" dirty="0" err="1"/>
              <a:t>Finder</a:t>
            </a:r>
            <a:r>
              <a:rPr lang="cs-CZ" sz="2800" dirty="0"/>
              <a:t> – uživatel mohl kopírovat soubory a pořád používat </a:t>
            </a:r>
            <a:r>
              <a:rPr lang="cs-CZ" sz="2800" dirty="0" err="1"/>
              <a:t>Finder</a:t>
            </a:r>
            <a:endParaRPr lang="cs-CZ" sz="2800" dirty="0"/>
          </a:p>
          <a:p>
            <a:endParaRPr lang="cs-CZ" sz="28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0C4B5F6-40B5-65CA-F2D5-CE2B92A4E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325" y="1400318"/>
            <a:ext cx="5199575" cy="389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06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1" name="Rectangle 7174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2" name="Rectangle 7176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3" name="Rectangle 7178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F4A968B-5A80-4571-660D-12DE4856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729" y="455362"/>
            <a:ext cx="3378671" cy="1550419"/>
          </a:xfrm>
        </p:spPr>
        <p:txBody>
          <a:bodyPr>
            <a:normAutofit/>
          </a:bodyPr>
          <a:lstStyle/>
          <a:p>
            <a:r>
              <a:rPr lang="cs-CZ" dirty="0"/>
              <a:t>Mac OS 9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A84EC3-2DC6-4F8B-1571-F79C73759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5728" y="2160016"/>
            <a:ext cx="3378672" cy="3926152"/>
          </a:xfrm>
        </p:spPr>
        <p:txBody>
          <a:bodyPr>
            <a:normAutofit lnSpcReduction="10000"/>
          </a:bodyPr>
          <a:lstStyle/>
          <a:p>
            <a:r>
              <a:rPr lang="cs-CZ" sz="2800" dirty="0"/>
              <a:t>Přidal podporu pro </a:t>
            </a:r>
            <a:r>
              <a:rPr lang="cs-CZ" sz="2800" dirty="0" err="1"/>
              <a:t>AirPort</a:t>
            </a:r>
            <a:r>
              <a:rPr lang="cs-CZ" sz="2800" dirty="0"/>
              <a:t> (</a:t>
            </a:r>
            <a:r>
              <a:rPr lang="cs-CZ" sz="2800" dirty="0" err="1"/>
              <a:t>WiFi</a:t>
            </a:r>
            <a:r>
              <a:rPr lang="cs-CZ" sz="2800" dirty="0"/>
              <a:t>)</a:t>
            </a:r>
          </a:p>
          <a:p>
            <a:r>
              <a:rPr lang="cs-CZ" sz="2800" dirty="0"/>
              <a:t>Podpora pro soubory větší jak 2GB</a:t>
            </a:r>
          </a:p>
          <a:p>
            <a:r>
              <a:rPr lang="cs-CZ" sz="2800" dirty="0" err="1"/>
              <a:t>Keychain</a:t>
            </a:r>
            <a:r>
              <a:rPr lang="cs-CZ" sz="2800" dirty="0"/>
              <a:t> - šifrované úložiště pro hesla a text</a:t>
            </a:r>
          </a:p>
          <a:p>
            <a:endParaRPr lang="cs-CZ" sz="2800" dirty="0"/>
          </a:p>
          <a:p>
            <a:endParaRPr lang="cs-CZ" sz="28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8DCD7C3-8816-8311-6C6B-CE01F6198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1327" y="1242021"/>
            <a:ext cx="5565250" cy="417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39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76F280-7AA4-1EC6-B337-0FC4DDBD6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 na Mac OS 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D36ED7-DA8A-D5D9-B3A9-FDD22F3D2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Steve </a:t>
            </a:r>
            <a:r>
              <a:rPr lang="cs-CZ" sz="2800" dirty="0" err="1"/>
              <a:t>Jobs</a:t>
            </a:r>
            <a:r>
              <a:rPr lang="cs-CZ" sz="2800" dirty="0"/>
              <a:t> založil firmu </a:t>
            </a:r>
            <a:r>
              <a:rPr lang="cs-CZ" sz="2800" dirty="0" err="1"/>
              <a:t>NeXT</a:t>
            </a:r>
            <a:r>
              <a:rPr lang="cs-CZ" sz="2800" dirty="0"/>
              <a:t> v 1985</a:t>
            </a:r>
          </a:p>
          <a:p>
            <a:r>
              <a:rPr lang="cs-CZ" sz="2800" dirty="0" err="1"/>
              <a:t>NeXT</a:t>
            </a:r>
            <a:r>
              <a:rPr lang="cs-CZ" sz="2800" dirty="0"/>
              <a:t> vytvořil operační systém NEXTSTEP</a:t>
            </a:r>
          </a:p>
          <a:p>
            <a:r>
              <a:rPr lang="cs-CZ" sz="2800" dirty="0"/>
              <a:t>V roce 1996 Apple koupil </a:t>
            </a:r>
            <a:r>
              <a:rPr lang="cs-CZ" sz="2800" dirty="0" err="1"/>
              <a:t>NeXT</a:t>
            </a:r>
            <a:endParaRPr lang="cs-CZ" sz="2800" dirty="0"/>
          </a:p>
          <a:p>
            <a:r>
              <a:rPr lang="cs-CZ" sz="2800" dirty="0"/>
              <a:t>Z </a:t>
            </a:r>
            <a:r>
              <a:rPr lang="cs-CZ" sz="2800" dirty="0" err="1"/>
              <a:t>NEXTSTEPu</a:t>
            </a:r>
            <a:r>
              <a:rPr lang="cs-CZ" sz="2800" dirty="0"/>
              <a:t> se stal Mac OS X</a:t>
            </a:r>
          </a:p>
        </p:txBody>
      </p:sp>
    </p:spTree>
    <p:extLst>
      <p:ext uri="{BB962C8B-B14F-4D97-AF65-F5344CB8AC3E}">
        <p14:creationId xmlns:p14="http://schemas.microsoft.com/office/powerpoint/2010/main" val="180247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CCB6AAE-3268-F7C9-73B7-B7E4C070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729" y="455362"/>
            <a:ext cx="3378671" cy="1550419"/>
          </a:xfrm>
        </p:spPr>
        <p:txBody>
          <a:bodyPr>
            <a:normAutofit/>
          </a:bodyPr>
          <a:lstStyle/>
          <a:p>
            <a:r>
              <a:rPr lang="cs-CZ" dirty="0"/>
              <a:t>NEXTSTEP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B31975-85FE-03C7-DA1E-495927CFB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5728" y="2160016"/>
            <a:ext cx="3378672" cy="3926152"/>
          </a:xfrm>
        </p:spPr>
        <p:txBody>
          <a:bodyPr>
            <a:normAutofit fontScale="92500"/>
          </a:bodyPr>
          <a:lstStyle/>
          <a:p>
            <a:r>
              <a:rPr lang="cs-CZ" sz="2800" dirty="0"/>
              <a:t>NEXTSTEP je </a:t>
            </a:r>
            <a:r>
              <a:rPr lang="cs-CZ" sz="2800" dirty="0" err="1"/>
              <a:t>unix-like</a:t>
            </a:r>
            <a:r>
              <a:rPr lang="cs-CZ" sz="2800" dirty="0"/>
              <a:t> operační systém</a:t>
            </a:r>
          </a:p>
          <a:p>
            <a:r>
              <a:rPr lang="cs-CZ" sz="2800" dirty="0"/>
              <a:t>Používá Mach jádro a části z BSD</a:t>
            </a:r>
          </a:p>
          <a:p>
            <a:r>
              <a:rPr lang="cs-CZ" sz="2800" dirty="0"/>
              <a:t>Hodně částí se pořád používá v macOS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8F2720B-B942-7086-8F1D-A461F6C11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1327" y="1151586"/>
            <a:ext cx="5565250" cy="435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96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9" name="Rectangle 922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0" name="Rectangle 922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1" name="Rectangle 922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CD4920-3C0F-3C6B-3E1B-367D7B34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 OS X 1.0 (</a:t>
            </a:r>
            <a:r>
              <a:rPr lang="cs-CZ" dirty="0" err="1"/>
              <a:t>Ceetah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C81DD4-FDD7-1676-9825-A34EFC962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Používal Darwin a jádro XNU</a:t>
            </a:r>
          </a:p>
          <a:p>
            <a:r>
              <a:rPr lang="cs-CZ" sz="2800" dirty="0"/>
              <a:t>Kompletní změna oproti Mac OS 9</a:t>
            </a:r>
          </a:p>
          <a:p>
            <a:r>
              <a:rPr lang="cs-CZ" sz="2800" dirty="0"/>
              <a:t>Mód „</a:t>
            </a:r>
            <a:r>
              <a:rPr lang="cs-CZ" sz="2800" dirty="0" err="1"/>
              <a:t>Classic</a:t>
            </a:r>
            <a:r>
              <a:rPr lang="cs-CZ" sz="2800" dirty="0"/>
              <a:t>“ pro staré aplikace</a:t>
            </a:r>
          </a:p>
          <a:p>
            <a:r>
              <a:rPr lang="cs-CZ" sz="2800" dirty="0"/>
              <a:t>Nový design „</a:t>
            </a:r>
            <a:r>
              <a:rPr lang="cs-CZ" sz="2800" dirty="0" err="1"/>
              <a:t>Aqua</a:t>
            </a:r>
            <a:r>
              <a:rPr lang="cs-CZ" sz="2800" dirty="0"/>
              <a:t>“</a:t>
            </a:r>
          </a:p>
          <a:p>
            <a:endParaRPr lang="cs-CZ" sz="28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0A34246-594B-E8FD-6BA5-D10330ABE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325" y="1400318"/>
            <a:ext cx="5199575" cy="389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24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7" name="Rectangle 1025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8" name="Rectangle 10252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9" name="Rectangle 10254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B0F642B-5DA3-C62F-3D03-F3579130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 OS X 1.1 (Puma)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E4085A-68F9-75FE-8798-7132A6554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DVD podpora</a:t>
            </a:r>
          </a:p>
          <a:p>
            <a:r>
              <a:rPr lang="cs-CZ" sz="2800" dirty="0"/>
              <a:t>Lepší výkon a stabilita</a:t>
            </a:r>
          </a:p>
          <a:p>
            <a:endParaRPr lang="cs-CZ" sz="2800" dirty="0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4C4BAB68-1CC2-D51C-08A2-748D8E2B0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2449" y="1844666"/>
            <a:ext cx="5665896" cy="318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09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6DA97320-228E-48F3-BCFA-423F983C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6928"/>
            <a:ext cx="1133856" cy="629107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2C9F0975-851A-4FEC-B19A-6EC12C0D5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5072" y="1"/>
            <a:ext cx="566928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38E8094-6198-9DAD-BA32-C8409780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55613"/>
            <a:ext cx="4767031" cy="1549400"/>
          </a:xfrm>
        </p:spPr>
        <p:txBody>
          <a:bodyPr>
            <a:normAutofit/>
          </a:bodyPr>
          <a:lstStyle/>
          <a:p>
            <a:r>
              <a:rPr lang="cs-CZ" dirty="0"/>
              <a:t>Mac OS X 10.2 (Jaguar)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ABA052-17F4-90EC-D88C-E0182E5D3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160588"/>
            <a:ext cx="4767031" cy="3925887"/>
          </a:xfrm>
        </p:spPr>
        <p:txBody>
          <a:bodyPr>
            <a:normAutofit/>
          </a:bodyPr>
          <a:lstStyle/>
          <a:p>
            <a:r>
              <a:rPr lang="cs-CZ" sz="2400" dirty="0"/>
              <a:t>Nový </a:t>
            </a:r>
            <a:r>
              <a:rPr lang="cs-CZ" sz="2400" dirty="0" err="1"/>
              <a:t>Finder</a:t>
            </a:r>
            <a:endParaRPr lang="cs-CZ" sz="2400" dirty="0"/>
          </a:p>
          <a:p>
            <a:r>
              <a:rPr lang="cs-CZ" sz="2400" dirty="0"/>
              <a:t>MP4 podpora</a:t>
            </a:r>
          </a:p>
          <a:p>
            <a:r>
              <a:rPr lang="cs-CZ" sz="2400" dirty="0"/>
              <a:t>Přidal </a:t>
            </a:r>
            <a:r>
              <a:rPr lang="cs-CZ" sz="2400" dirty="0" err="1"/>
              <a:t>Quartz</a:t>
            </a:r>
            <a:r>
              <a:rPr lang="cs-CZ" sz="2400" dirty="0"/>
              <a:t> </a:t>
            </a:r>
            <a:r>
              <a:rPr lang="cs-CZ" sz="2400" dirty="0" err="1"/>
              <a:t>Extreme</a:t>
            </a:r>
            <a:r>
              <a:rPr lang="cs-CZ" sz="2400" dirty="0"/>
              <a:t> </a:t>
            </a:r>
          </a:p>
          <a:p>
            <a:r>
              <a:rPr lang="cs-CZ" sz="2400" dirty="0"/>
              <a:t>Technologie používaná ke skládání grafiky přímo na grafické kartě</a:t>
            </a:r>
          </a:p>
          <a:p>
            <a:endParaRPr lang="cs-CZ" sz="24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558D533-277B-403F-CDCC-F83EBDE87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28817" y="1865373"/>
            <a:ext cx="5559565" cy="312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21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6DA97320-228E-48F3-BCFA-423F983C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6928"/>
            <a:ext cx="1133856" cy="629107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299" name="Rectangle 12298">
            <a:extLst>
              <a:ext uri="{FF2B5EF4-FFF2-40B4-BE49-F238E27FC236}">
                <a16:creationId xmlns:a16="http://schemas.microsoft.com/office/drawing/2014/main" id="{2C9F0975-851A-4FEC-B19A-6EC12C0D5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5072" y="1"/>
            <a:ext cx="566928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32260C-661C-0802-6F71-002FD8FAC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55613"/>
            <a:ext cx="4767031" cy="1549400"/>
          </a:xfrm>
        </p:spPr>
        <p:txBody>
          <a:bodyPr>
            <a:normAutofit/>
          </a:bodyPr>
          <a:lstStyle/>
          <a:p>
            <a:r>
              <a:rPr lang="cs-CZ" dirty="0"/>
              <a:t>Mac OS X 10.3 (</a:t>
            </a:r>
            <a:r>
              <a:rPr lang="cs-CZ" dirty="0" err="1"/>
              <a:t>Pather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45A48D-F327-A6AF-F97F-B451C31B1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160588"/>
            <a:ext cx="4767031" cy="3925887"/>
          </a:xfrm>
        </p:spPr>
        <p:txBody>
          <a:bodyPr>
            <a:normAutofit/>
          </a:bodyPr>
          <a:lstStyle/>
          <a:p>
            <a:r>
              <a:rPr lang="cs-CZ" sz="2800" dirty="0"/>
              <a:t>Přidal podporu pro zip soubory</a:t>
            </a:r>
          </a:p>
          <a:p>
            <a:r>
              <a:rPr lang="cs-CZ" sz="2800" dirty="0"/>
              <a:t>Nový </a:t>
            </a:r>
            <a:r>
              <a:rPr lang="cs-CZ" sz="2800" dirty="0" err="1"/>
              <a:t>Finder</a:t>
            </a:r>
            <a:endParaRPr lang="cs-CZ" sz="2800" dirty="0"/>
          </a:p>
          <a:p>
            <a:r>
              <a:rPr lang="cs-CZ" sz="2800" dirty="0"/>
              <a:t>„Exposé“ pro rychlé přepínání mezi aplikacemi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AAD5D9D-F4E7-F4AB-232C-55FE1817B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1852" y="1943882"/>
            <a:ext cx="5280422" cy="297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26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6DA97320-228E-48F3-BCFA-423F983C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6928"/>
            <a:ext cx="1133856" cy="629107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323" name="Rectangle 13322">
            <a:extLst>
              <a:ext uri="{FF2B5EF4-FFF2-40B4-BE49-F238E27FC236}">
                <a16:creationId xmlns:a16="http://schemas.microsoft.com/office/drawing/2014/main" id="{2C9F0975-851A-4FEC-B19A-6EC12C0D5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5072" y="1"/>
            <a:ext cx="566928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4319947-41E8-8743-26D8-188B60B0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55613"/>
            <a:ext cx="4767031" cy="1549400"/>
          </a:xfrm>
        </p:spPr>
        <p:txBody>
          <a:bodyPr>
            <a:normAutofit/>
          </a:bodyPr>
          <a:lstStyle/>
          <a:p>
            <a:r>
              <a:rPr lang="cs-CZ" dirty="0"/>
              <a:t>Mac OS X 10.4 (</a:t>
            </a:r>
            <a:r>
              <a:rPr lang="cs-CZ" dirty="0" err="1"/>
              <a:t>Tiger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EED8BF-450D-599B-3DC6-96D4E17B9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3" y="2160588"/>
            <a:ext cx="4245788" cy="3925887"/>
          </a:xfrm>
        </p:spPr>
        <p:txBody>
          <a:bodyPr>
            <a:normAutofit lnSpcReduction="10000"/>
          </a:bodyPr>
          <a:lstStyle/>
          <a:p>
            <a:r>
              <a:rPr lang="cs-CZ" sz="2800" dirty="0"/>
              <a:t>Podpora pro Intel procesory a EFI (10.4.1)</a:t>
            </a:r>
          </a:p>
          <a:p>
            <a:r>
              <a:rPr lang="cs-CZ" sz="2800" dirty="0"/>
              <a:t>Přidána </a:t>
            </a:r>
            <a:r>
              <a:rPr lang="cs-CZ" sz="2800" dirty="0" err="1"/>
              <a:t>Rosetta</a:t>
            </a:r>
            <a:r>
              <a:rPr lang="cs-CZ" sz="2800" dirty="0"/>
              <a:t> – </a:t>
            </a:r>
            <a:r>
              <a:rPr lang="cs-CZ" sz="2800" dirty="0" err="1"/>
              <a:t>PowerPC</a:t>
            </a:r>
            <a:r>
              <a:rPr lang="cs-CZ" sz="2800" dirty="0"/>
              <a:t> aplikace na Intel</a:t>
            </a:r>
          </a:p>
          <a:p>
            <a:r>
              <a:rPr lang="cs-CZ" sz="2800" dirty="0" err="1"/>
              <a:t>Spotlight</a:t>
            </a:r>
            <a:r>
              <a:rPr lang="cs-CZ" sz="2800" dirty="0"/>
              <a:t> – vyhledávaní na celém systému</a:t>
            </a:r>
          </a:p>
          <a:p>
            <a:endParaRPr lang="cs-CZ" sz="2800" dirty="0"/>
          </a:p>
          <a:p>
            <a:endParaRPr lang="cs-CZ" sz="2800" dirty="0"/>
          </a:p>
          <a:p>
            <a:endParaRPr lang="cs-CZ" sz="28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9FB1FA5-2D29-1EAF-988C-635D8574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3103" y="1941228"/>
            <a:ext cx="5266448" cy="297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91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5" name="Rectangle 1434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7" name="Rectangle 1434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422007-189B-87D9-5BBA-F03CA49A6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sz="4100"/>
              <a:t>Mac OS X 10.5 (Leopard)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E8C821-C481-B48F-2A41-D4F9A4C45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Odebráno prostředí „</a:t>
            </a:r>
            <a:r>
              <a:rPr lang="cs-CZ" sz="2800" dirty="0" err="1"/>
              <a:t>Classic</a:t>
            </a:r>
            <a:r>
              <a:rPr lang="cs-CZ" sz="2800" dirty="0"/>
              <a:t>“</a:t>
            </a:r>
          </a:p>
          <a:p>
            <a:r>
              <a:rPr lang="cs-CZ" sz="2800" dirty="0"/>
              <a:t>Podpora pro 64bitové aplikace</a:t>
            </a:r>
          </a:p>
          <a:p>
            <a:r>
              <a:rPr lang="cs-CZ" sz="2800" dirty="0"/>
              <a:t>Nový vzhled Doku</a:t>
            </a:r>
          </a:p>
          <a:p>
            <a:r>
              <a:rPr lang="cs-CZ" sz="2800" dirty="0"/>
              <a:t>Nové animace a API </a:t>
            </a:r>
            <a:r>
              <a:rPr lang="cs-CZ" sz="2800" dirty="0" err="1"/>
              <a:t>Core</a:t>
            </a:r>
            <a:r>
              <a:rPr lang="cs-CZ" sz="2800" dirty="0"/>
              <a:t> </a:t>
            </a:r>
            <a:r>
              <a:rPr lang="cs-CZ" sz="2800" dirty="0" err="1"/>
              <a:t>Animation</a:t>
            </a:r>
            <a:endParaRPr lang="cs-CZ" sz="280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DB1336E7-1F19-2BE7-4DBA-F540CBD28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7427" y="1726671"/>
            <a:ext cx="6052728" cy="340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40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99F13D6-0B11-BB0D-8307-62D08088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700"/>
              <a:t>Mac OS X 10.6 (</a:t>
            </a:r>
            <a:r>
              <a:rPr lang="cs-CZ" sz="3700" err="1"/>
              <a:t>Snow</a:t>
            </a:r>
            <a:r>
              <a:rPr lang="cs-CZ" sz="3700"/>
              <a:t> Leopard)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04D3D1-A66F-3877-0B66-026BDE481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87177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Žádné nové funkce</a:t>
            </a:r>
          </a:p>
          <a:p>
            <a:r>
              <a:rPr lang="cs-CZ" sz="2800" dirty="0"/>
              <a:t>Zlepšení stability a výkonu</a:t>
            </a:r>
          </a:p>
          <a:p>
            <a:r>
              <a:rPr lang="cs-CZ" sz="2800" dirty="0"/>
              <a:t>Nové API </a:t>
            </a:r>
            <a:r>
              <a:rPr lang="cs-CZ" sz="2800" dirty="0" err="1"/>
              <a:t>OpenCL</a:t>
            </a:r>
            <a:endParaRPr lang="cs-CZ" sz="2800" dirty="0"/>
          </a:p>
          <a:p>
            <a:r>
              <a:rPr lang="cs-CZ" sz="2800" dirty="0" err="1"/>
              <a:t>Odebráná</a:t>
            </a:r>
            <a:r>
              <a:rPr lang="cs-CZ" sz="2800" dirty="0"/>
              <a:t> podpora pro </a:t>
            </a:r>
            <a:r>
              <a:rPr lang="cs-CZ" sz="2800" dirty="0" err="1"/>
              <a:t>PowerPC</a:t>
            </a:r>
            <a:r>
              <a:rPr lang="cs-CZ" sz="2800" dirty="0"/>
              <a:t> Macy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994B94A9-A33B-D7DF-CDF2-2B32A323F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5619" y="1806544"/>
            <a:ext cx="5743193" cy="3244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69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1" name="Rectangle 1639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3" name="Rectangle 16392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5" name="Rectangle 16394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D1802-4ABA-847B-C49B-EB3FB57F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OS X 10.7 (Lion)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96BE37-9C5E-F2E7-FF3D-85DADB0B1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 lnSpcReduction="10000"/>
          </a:bodyPr>
          <a:lstStyle/>
          <a:p>
            <a:r>
              <a:rPr lang="cs-CZ" sz="2400" dirty="0"/>
              <a:t>Odebrána </a:t>
            </a:r>
            <a:r>
              <a:rPr lang="cs-CZ" sz="2400" dirty="0" err="1"/>
              <a:t>Rosetta</a:t>
            </a:r>
            <a:endParaRPr lang="cs-CZ" sz="2400" dirty="0"/>
          </a:p>
          <a:p>
            <a:r>
              <a:rPr lang="cs-CZ" sz="2400" dirty="0" err="1"/>
              <a:t>AirDrop</a:t>
            </a:r>
            <a:r>
              <a:rPr lang="cs-CZ" sz="2400" dirty="0"/>
              <a:t> a </a:t>
            </a:r>
            <a:r>
              <a:rPr lang="cs-CZ" sz="2400" dirty="0" err="1"/>
              <a:t>FaceTime</a:t>
            </a:r>
            <a:endParaRPr lang="cs-CZ" sz="2400" dirty="0"/>
          </a:p>
          <a:p>
            <a:r>
              <a:rPr lang="cs-CZ" sz="2400" dirty="0" err="1"/>
              <a:t>Fullscreen</a:t>
            </a:r>
            <a:endParaRPr lang="cs-CZ" sz="2400" dirty="0"/>
          </a:p>
          <a:p>
            <a:r>
              <a:rPr lang="cs-CZ" sz="2400" dirty="0"/>
              <a:t>Touchpad gesta</a:t>
            </a:r>
          </a:p>
          <a:p>
            <a:r>
              <a:rPr lang="cs-CZ" sz="2400" dirty="0"/>
              <a:t>Poslední verze které podporovala 32bit procesory</a:t>
            </a:r>
          </a:p>
          <a:p>
            <a:r>
              <a:rPr lang="cs-CZ" sz="2400" dirty="0"/>
              <a:t>Přejmenováno na OS X</a:t>
            </a:r>
          </a:p>
          <a:p>
            <a:endParaRPr lang="cs-CZ" sz="24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90B4BAEE-4899-CFBA-9729-07B053A1A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7903" y="1735907"/>
            <a:ext cx="6019888" cy="338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42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7" name="Rectangle 17416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2187AD0-F770-44C3-EC1C-B7A804FE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700"/>
              <a:t>OS X 10.8 (</a:t>
            </a:r>
            <a:r>
              <a:rPr lang="cs-CZ" sz="3700" err="1"/>
              <a:t>Mountain</a:t>
            </a:r>
            <a:r>
              <a:rPr lang="cs-CZ" sz="3700"/>
              <a:t> Lion)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3B0E80-C204-F1D6-4DA2-7B2EF15C7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Notifikace</a:t>
            </a:r>
          </a:p>
          <a:p>
            <a:r>
              <a:rPr lang="cs-CZ" sz="2800" dirty="0"/>
              <a:t>Nová aplikace Poznámky a Zprávy</a:t>
            </a:r>
          </a:p>
          <a:p>
            <a:r>
              <a:rPr lang="cs-CZ" sz="2800" dirty="0" err="1"/>
              <a:t>AirPlay</a:t>
            </a:r>
            <a:endParaRPr lang="cs-CZ" sz="2800" dirty="0"/>
          </a:p>
          <a:p>
            <a:endParaRPr lang="cs-CZ" sz="2800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06D2A886-07BF-29CF-31E5-C50070D01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88000" y="1720113"/>
            <a:ext cx="6076045" cy="341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44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9" name="Rectangle 1843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1" name="Rectangle 1844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3" name="Rectangle 1844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98DF63F-ADFB-20CF-8959-74AC6279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OS X 10.9 (</a:t>
            </a:r>
            <a:r>
              <a:rPr lang="cs-CZ" dirty="0" err="1"/>
              <a:t>Mavericks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A2EDB7-93DA-C626-676B-177E80A7C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Kromě 10.1 Puma je první verze Mac OS X která byla zdarma</a:t>
            </a:r>
          </a:p>
          <a:p>
            <a:r>
              <a:rPr lang="cs-CZ" sz="2800" dirty="0"/>
              <a:t>Nová aplikace Mapy</a:t>
            </a:r>
          </a:p>
          <a:p>
            <a:r>
              <a:rPr lang="cs-CZ" sz="2800" dirty="0"/>
              <a:t>Záložky v </a:t>
            </a:r>
            <a:r>
              <a:rPr lang="cs-CZ" sz="2800" dirty="0" err="1"/>
              <a:t>Finderu</a:t>
            </a:r>
            <a:endParaRPr lang="cs-CZ" sz="2800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1075BB9B-E178-8450-6872-9FF6A3DB2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5387" y="1718799"/>
            <a:ext cx="6053796" cy="342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08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3" name="Rectangle 1946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5" name="Rectangle 1946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7" name="Rectangle 1946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5B04CF-162D-26B7-235F-A3E26991D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OS X 10.10 (</a:t>
            </a:r>
            <a:r>
              <a:rPr lang="cs-CZ" dirty="0" err="1"/>
              <a:t>Yosemite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A1DBE9-227B-7CCA-91B9-8655A5BE5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Kompletní změna vzhledu</a:t>
            </a:r>
          </a:p>
          <a:p>
            <a:r>
              <a:rPr lang="cs-CZ" sz="2800" dirty="0"/>
              <a:t>iCloud Fotky</a:t>
            </a:r>
          </a:p>
          <a:p>
            <a:r>
              <a:rPr lang="cs-CZ" sz="2800" dirty="0" err="1"/>
              <a:t>Continuity</a:t>
            </a:r>
            <a:r>
              <a:rPr lang="cs-CZ" sz="2800" dirty="0"/>
              <a:t> </a:t>
            </a:r>
          </a:p>
          <a:p>
            <a:r>
              <a:rPr lang="cs-CZ" sz="2800" dirty="0"/>
              <a:t>Programovací jazyk </a:t>
            </a:r>
            <a:r>
              <a:rPr lang="cs-CZ" sz="2800" dirty="0" err="1"/>
              <a:t>Swift</a:t>
            </a:r>
            <a:endParaRPr lang="cs-CZ" sz="2800" dirty="0"/>
          </a:p>
        </p:txBody>
      </p:sp>
      <p:pic>
        <p:nvPicPr>
          <p:cNvPr id="19458" name="Picture 2" descr="Download macOS Yosemite Image/VMDK for Virtualbox and VMWare - TechRechard">
            <a:extLst>
              <a:ext uri="{FF2B5EF4-FFF2-40B4-BE49-F238E27FC236}">
                <a16:creationId xmlns:a16="http://schemas.microsoft.com/office/drawing/2014/main" id="{621CEC89-9CD3-A37B-2DBE-D6FEE63C3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35782" y="1844562"/>
            <a:ext cx="5974445" cy="373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13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87" name="Rectangle 20486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9" name="Rectangle 20488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1" name="Rectangle 20490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DBC46F-D5C3-6EA7-215E-2C4F815FB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OS X 10.11 (El </a:t>
            </a:r>
            <a:r>
              <a:rPr lang="cs-CZ" dirty="0" err="1"/>
              <a:t>Capitan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E7AF2D-FCC5-E5A7-BF99-8E77D7FED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Zlepšení stability, výkonu a zabezpečení</a:t>
            </a:r>
          </a:p>
          <a:p>
            <a:r>
              <a:rPr lang="cs-CZ" sz="2800" dirty="0"/>
              <a:t>2 aplikace vedle sebe ve </a:t>
            </a:r>
            <a:r>
              <a:rPr lang="cs-CZ" sz="2800" dirty="0" err="1"/>
              <a:t>režmu</a:t>
            </a:r>
            <a:r>
              <a:rPr lang="cs-CZ" sz="2800" dirty="0"/>
              <a:t> celé obrazovky</a:t>
            </a:r>
          </a:p>
          <a:p>
            <a:r>
              <a:rPr lang="cs-CZ" sz="2800" dirty="0"/>
              <a:t>SIP (</a:t>
            </a:r>
            <a:r>
              <a:rPr lang="cs-CZ" sz="2800" dirty="0" err="1"/>
              <a:t>System</a:t>
            </a:r>
            <a:r>
              <a:rPr lang="cs-CZ" sz="2800" dirty="0"/>
              <a:t> Integrity </a:t>
            </a:r>
            <a:r>
              <a:rPr lang="cs-CZ" sz="2800" dirty="0" err="1"/>
              <a:t>Protection</a:t>
            </a:r>
            <a:r>
              <a:rPr lang="cs-CZ" sz="2800" dirty="0"/>
              <a:t>)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D9008ADB-60A0-FE65-84F5-04B9099F7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2143" y="1801926"/>
            <a:ext cx="5759540" cy="3254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37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1" name="Rectangle 2151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3" name="Rectangle 21512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5" name="Rectangle 21514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D05BE55-0B5E-95F1-669B-1DD05B6D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macOS 10.12 (Sierra)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098643-42EA-2225-EA77-84954C6B9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Přejmenováno na macOS</a:t>
            </a:r>
          </a:p>
          <a:p>
            <a:r>
              <a:rPr lang="cs-CZ" sz="2800" dirty="0"/>
              <a:t>Siri</a:t>
            </a:r>
          </a:p>
          <a:p>
            <a:r>
              <a:rPr lang="cs-CZ" sz="2800" dirty="0"/>
              <a:t>Apple </a:t>
            </a:r>
            <a:r>
              <a:rPr lang="cs-CZ" sz="2800" dirty="0" err="1"/>
              <a:t>Pay</a:t>
            </a:r>
            <a:r>
              <a:rPr lang="cs-CZ" sz="2800" dirty="0"/>
              <a:t> a </a:t>
            </a:r>
            <a:r>
              <a:rPr lang="cs-CZ" sz="2800" dirty="0" err="1"/>
              <a:t>Touch</a:t>
            </a:r>
            <a:r>
              <a:rPr lang="cs-CZ" sz="2800" dirty="0"/>
              <a:t> ID</a:t>
            </a:r>
          </a:p>
          <a:p>
            <a:endParaRPr lang="cs-CZ" sz="2800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C769B0F3-97C9-EC43-BD91-B7E442812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6111" y="1736307"/>
            <a:ext cx="5991821" cy="338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80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7" name="Rectangle 22536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9" name="Rectangle 22538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41" name="Rectangle 22540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0B462F-0175-8DB0-885A-6DBCEFF47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macOS 10.13 (</a:t>
            </a:r>
            <a:r>
              <a:rPr lang="cs-CZ" dirty="0" err="1"/>
              <a:t>High</a:t>
            </a:r>
            <a:r>
              <a:rPr lang="cs-CZ" dirty="0"/>
              <a:t> Sierra)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90DE1C-B861-56D3-405A-06467C7B8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APFS je hlavní souborový systém</a:t>
            </a:r>
          </a:p>
          <a:p>
            <a:r>
              <a:rPr lang="cs-CZ" sz="2800" dirty="0"/>
              <a:t>Nové API Metal 2</a:t>
            </a:r>
          </a:p>
          <a:p>
            <a:r>
              <a:rPr lang="cs-CZ" sz="2800" dirty="0"/>
              <a:t>Podpora pro HEVC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349BE0AE-4275-D805-204F-B27F22C4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1509" y="1662017"/>
            <a:ext cx="6282610" cy="353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20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0B2399D-DBC6-E940-CF31-55F8F7B1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macOS 10.14 (</a:t>
            </a:r>
            <a:r>
              <a:rPr lang="cs-CZ" dirty="0" err="1"/>
              <a:t>Mojave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B23886-507E-3FAD-88EB-A1E176E4F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dirty="0" err="1"/>
              <a:t>OpenCL</a:t>
            </a:r>
            <a:r>
              <a:rPr lang="cs-CZ" dirty="0"/>
              <a:t> a </a:t>
            </a:r>
            <a:r>
              <a:rPr lang="cs-CZ" dirty="0" err="1"/>
              <a:t>OpenGL</a:t>
            </a:r>
            <a:r>
              <a:rPr lang="cs-CZ" dirty="0"/>
              <a:t> jsou zastaralé</a:t>
            </a:r>
          </a:p>
          <a:p>
            <a:r>
              <a:rPr lang="cs-CZ" dirty="0"/>
              <a:t>Tmavý režim</a:t>
            </a:r>
          </a:p>
          <a:p>
            <a:r>
              <a:rPr lang="cs-CZ" dirty="0"/>
              <a:t>Nové oprávnění aplikací</a:t>
            </a:r>
          </a:p>
          <a:p>
            <a:r>
              <a:rPr lang="cs-CZ" dirty="0"/>
              <a:t>Aplikace domácnost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5A2F0C9E-7021-5432-5347-24A7F1A21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7300" y="1703439"/>
            <a:ext cx="6200510" cy="348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59" name="Rectangle 2355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61" name="Rectangle 2356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63" name="Rectangle 2356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BC1C59F-F89A-CC10-9933-00D282E2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macOS 10.15 (</a:t>
            </a:r>
            <a:r>
              <a:rPr lang="cs-CZ" dirty="0" err="1"/>
              <a:t>Catalina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172B9D-07BA-4601-1970-F58406CE9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 fontScale="92500" lnSpcReduction="10000"/>
          </a:bodyPr>
          <a:lstStyle/>
          <a:p>
            <a:r>
              <a:rPr lang="cs-CZ" sz="2800" dirty="0"/>
              <a:t>Odebrána podpora pro 32bitové aplikace</a:t>
            </a:r>
          </a:p>
          <a:p>
            <a:r>
              <a:rPr lang="cs-CZ" sz="2800" dirty="0" err="1"/>
              <a:t>DriverKit</a:t>
            </a:r>
            <a:endParaRPr lang="cs-CZ" sz="2800" dirty="0"/>
          </a:p>
          <a:p>
            <a:r>
              <a:rPr lang="cs-CZ" sz="2800" dirty="0" err="1"/>
              <a:t>Gatekeeper</a:t>
            </a:r>
            <a:r>
              <a:rPr lang="cs-CZ" sz="2800" dirty="0"/>
              <a:t> - aplikace musí být digitálně podepsané</a:t>
            </a:r>
          </a:p>
          <a:p>
            <a:r>
              <a:rPr lang="cs-CZ" sz="2800" dirty="0" err="1"/>
              <a:t>Find</a:t>
            </a:r>
            <a:r>
              <a:rPr lang="cs-CZ" sz="2800" dirty="0"/>
              <a:t> My a Zámek Aktivace</a:t>
            </a:r>
          </a:p>
        </p:txBody>
      </p:sp>
      <p:pic>
        <p:nvPicPr>
          <p:cNvPr id="23554" name="Picture 2" descr="Apple macOS Catalina Review | PCMag">
            <a:extLst>
              <a:ext uri="{FF2B5EF4-FFF2-40B4-BE49-F238E27FC236}">
                <a16:creationId xmlns:a16="http://schemas.microsoft.com/office/drawing/2014/main" id="{0E99F99D-2348-7DE1-18E2-2852A2DFA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9667" y="1599241"/>
            <a:ext cx="5855215" cy="365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22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83" name="Rectangle 2458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85" name="Rectangle 2458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87" name="Rectangle 2458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AA4C0D2-3D06-0EB0-DE33-BDF016F54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macOS 11 (Big </a:t>
            </a:r>
            <a:r>
              <a:rPr lang="cs-CZ" dirty="0" err="1"/>
              <a:t>Sur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4167EE1-1955-6C06-5772-FEF4AD67F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185017" cy="3926152"/>
          </a:xfrm>
        </p:spPr>
        <p:txBody>
          <a:bodyPr>
            <a:normAutofit fontScale="92500" lnSpcReduction="20000"/>
          </a:bodyPr>
          <a:lstStyle/>
          <a:p>
            <a:r>
              <a:rPr lang="cs-CZ" sz="2800" dirty="0"/>
              <a:t>Nový design</a:t>
            </a:r>
          </a:p>
          <a:p>
            <a:r>
              <a:rPr lang="cs-CZ" sz="2800" dirty="0"/>
              <a:t>Podpora pro ARM Macy</a:t>
            </a:r>
          </a:p>
          <a:p>
            <a:r>
              <a:rPr lang="cs-CZ" sz="2800" dirty="0" err="1"/>
              <a:t>Rosetta</a:t>
            </a:r>
            <a:r>
              <a:rPr lang="cs-CZ" sz="2800" dirty="0"/>
              <a:t> 2 – Intel aplikace na ARM</a:t>
            </a:r>
          </a:p>
          <a:p>
            <a:r>
              <a:rPr lang="cs-CZ" sz="2800" dirty="0" err="1"/>
              <a:t>Control</a:t>
            </a:r>
            <a:r>
              <a:rPr lang="cs-CZ" sz="2800" dirty="0"/>
              <a:t> Center</a:t>
            </a:r>
          </a:p>
          <a:p>
            <a:r>
              <a:rPr lang="cs-CZ" sz="2800" dirty="0"/>
              <a:t>Time </a:t>
            </a:r>
            <a:r>
              <a:rPr lang="cs-CZ" sz="2800" dirty="0" err="1"/>
              <a:t>Machine</a:t>
            </a:r>
            <a:r>
              <a:rPr lang="cs-CZ" sz="2800" dirty="0"/>
              <a:t> využívá APFS </a:t>
            </a:r>
            <a:r>
              <a:rPr lang="cs-CZ" sz="2800" dirty="0" err="1"/>
              <a:t>snapshoty</a:t>
            </a:r>
            <a:endParaRPr lang="cs-CZ" sz="2800" dirty="0"/>
          </a:p>
          <a:p>
            <a:r>
              <a:rPr lang="cs-CZ" sz="2800" dirty="0"/>
              <a:t>VP9 a </a:t>
            </a:r>
            <a:r>
              <a:rPr lang="cs-CZ" sz="2800" dirty="0" err="1"/>
              <a:t>WebP</a:t>
            </a:r>
            <a:r>
              <a:rPr lang="cs-CZ" sz="2800" dirty="0"/>
              <a:t> v Safari</a:t>
            </a: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3DB50BD2-606E-4786-5B2C-39C360B14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8145" y="1626408"/>
            <a:ext cx="5768281" cy="36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05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8974810-15AE-F937-1E83-11507BBC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macOS 12 (</a:t>
            </a:r>
            <a:r>
              <a:rPr lang="cs-CZ" dirty="0" err="1"/>
              <a:t>Monterey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4D1178-FA3E-5331-CEAD-7D2A254C0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3556945" cy="3926152"/>
          </a:xfrm>
        </p:spPr>
        <p:txBody>
          <a:bodyPr>
            <a:normAutofit/>
          </a:bodyPr>
          <a:lstStyle/>
          <a:p>
            <a:r>
              <a:rPr lang="cs-CZ" sz="2800" dirty="0"/>
              <a:t>Aplikace Zkratky</a:t>
            </a:r>
          </a:p>
          <a:p>
            <a:r>
              <a:rPr lang="cs-CZ" sz="2800" dirty="0"/>
              <a:t>Nový design v Safari</a:t>
            </a:r>
          </a:p>
          <a:p>
            <a:r>
              <a:rPr lang="cs-CZ" sz="2800" dirty="0"/>
              <a:t>Indikátor </a:t>
            </a:r>
            <a:r>
              <a:rPr lang="cs-CZ" sz="2800" dirty="0" err="1"/>
              <a:t>zaplého</a:t>
            </a:r>
            <a:r>
              <a:rPr lang="cs-CZ" sz="2800" dirty="0"/>
              <a:t> mikrofonu</a:t>
            </a:r>
          </a:p>
          <a:p>
            <a:endParaRPr lang="cs-CZ" sz="2800" dirty="0"/>
          </a:p>
        </p:txBody>
      </p:sp>
      <p:pic>
        <p:nvPicPr>
          <p:cNvPr id="4" name="Zástupný obsah 8">
            <a:extLst>
              <a:ext uri="{FF2B5EF4-FFF2-40B4-BE49-F238E27FC236}">
                <a16:creationId xmlns:a16="http://schemas.microsoft.com/office/drawing/2014/main" id="{D9BFD34E-BC00-EA64-9867-C50C7C13D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619" y="1516114"/>
            <a:ext cx="6121223" cy="382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3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7" name="Rectangle 25606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09" name="Rectangle 25608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11" name="Rectangle 25610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DDEE2BD-E6E5-DCE0-CF16-6D7001B3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cs-CZ" dirty="0"/>
              <a:t>macOS 13 (Ventura)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CF3FFC-723E-66AB-A8DA-6504724E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cs-CZ" sz="2800" dirty="0"/>
              <a:t>Nové aplikace Počasí a Hodiny</a:t>
            </a:r>
          </a:p>
          <a:p>
            <a:r>
              <a:rPr lang="cs-CZ" sz="2800" dirty="0"/>
              <a:t>Nový design v aplikaci Domácnost</a:t>
            </a:r>
          </a:p>
          <a:p>
            <a:r>
              <a:rPr lang="cs-CZ" sz="2800" dirty="0" err="1"/>
              <a:t>Stage</a:t>
            </a:r>
            <a:r>
              <a:rPr lang="cs-CZ" sz="2800" dirty="0"/>
              <a:t> Manager</a:t>
            </a:r>
          </a:p>
          <a:p>
            <a:r>
              <a:rPr lang="cs-CZ" sz="2800" dirty="0" err="1"/>
              <a:t>Passkeys</a:t>
            </a:r>
            <a:endParaRPr lang="cs-CZ" sz="2800" dirty="0"/>
          </a:p>
        </p:txBody>
      </p:sp>
      <p:pic>
        <p:nvPicPr>
          <p:cNvPr id="25602" name="Picture 2" descr="Step by Step Install macOS Ventura Beta on Proxmox 7 - Manjaro dot site">
            <a:extLst>
              <a:ext uri="{FF2B5EF4-FFF2-40B4-BE49-F238E27FC236}">
                <a16:creationId xmlns:a16="http://schemas.microsoft.com/office/drawing/2014/main" id="{4A2AA685-6C63-1152-4134-A2C7571F5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5619" y="1804651"/>
            <a:ext cx="6216930" cy="349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96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F92837-8E23-CC7F-BFE5-1AA82EF7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Diskuze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C01226-FD3E-0947-B7E8-E669C2B7E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Používali jste někdy macOS?</a:t>
            </a:r>
          </a:p>
          <a:p>
            <a:r>
              <a:rPr lang="cs-CZ" dirty="0"/>
              <a:t>Pokud by macOS šlo nainstalovat na jakýkoliv počítač, používali by jste </a:t>
            </a:r>
            <a:r>
              <a:rPr lang="cs-CZ"/>
              <a:t>ho?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354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F41481-6157-E750-C8D8-5CE944C2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	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C6A0F9-C413-9179-8A6A-8AE87FC7E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140737"/>
            <a:ext cx="9486690" cy="5558827"/>
          </a:xfrm>
        </p:spPr>
        <p:txBody>
          <a:bodyPr>
            <a:normAutofit fontScale="55000" lnSpcReduction="20000"/>
          </a:bodyPr>
          <a:lstStyle/>
          <a:p>
            <a:r>
              <a:rPr lang="it-IT" dirty="0"/>
              <a:t>MacOS. Wikipedia [online]. [cit. 2022-11-20]. Dostupné z: </a:t>
            </a:r>
            <a:r>
              <a:rPr lang="it-IT" dirty="0">
                <a:hlinkClick r:id="rId2"/>
              </a:rPr>
              <a:t>https://en.wikipedia.org/wiki/MacOS</a:t>
            </a:r>
            <a:endParaRPr lang="cs-CZ" dirty="0"/>
          </a:p>
          <a:p>
            <a:r>
              <a:rPr lang="pl-PL" dirty="0"/>
              <a:t>System 1. Wikipedia [online]. [cit. 2022-11-20]. Dostupné z: </a:t>
            </a:r>
            <a:r>
              <a:rPr lang="pl-PL" dirty="0">
                <a:hlinkClick r:id="rId3"/>
              </a:rPr>
              <a:t>https://en.wikipedia.org/wiki/System_1</a:t>
            </a:r>
            <a:endParaRPr lang="pl-PL" dirty="0"/>
          </a:p>
          <a:p>
            <a:r>
              <a:rPr lang="pl-PL" dirty="0"/>
              <a:t>System 2. Wikipedia [online]. [cit. 2022-11-20]. Dostupné z: </a:t>
            </a:r>
            <a:r>
              <a:rPr lang="pl-PL" dirty="0">
                <a:hlinkClick r:id="rId4"/>
              </a:rPr>
              <a:t>https://en.wikipedia.org/wiki/Classic_Mac_OS#System_2</a:t>
            </a:r>
            <a:endParaRPr lang="pl-PL" dirty="0"/>
          </a:p>
          <a:p>
            <a:r>
              <a:rPr lang="cs-CZ" dirty="0" err="1"/>
              <a:t>Classic</a:t>
            </a:r>
            <a:r>
              <a:rPr lang="cs-CZ" dirty="0"/>
              <a:t> Mac OS. Wikipedia [online]. [cit. 2022-11-20]. Dostupné z: </a:t>
            </a:r>
            <a:r>
              <a:rPr lang="cs-CZ" dirty="0">
                <a:hlinkClick r:id="rId5"/>
              </a:rPr>
              <a:t>https://en.wikipedia.org/wiki/Classic_Mac_OS</a:t>
            </a:r>
            <a:endParaRPr lang="cs-CZ" dirty="0"/>
          </a:p>
          <a:p>
            <a:r>
              <a:rPr lang="cs-CZ" dirty="0"/>
              <a:t>Mac OS 9. Wikipedia [online]. [cit. 2022-11-20]. Dostupné z: </a:t>
            </a:r>
            <a:r>
              <a:rPr lang="cs-CZ" dirty="0">
                <a:hlinkClick r:id="rId6"/>
              </a:rPr>
              <a:t>https://en.wikipedia.org/wiki/Mac_OS_9</a:t>
            </a:r>
            <a:endParaRPr lang="cs-CZ" dirty="0"/>
          </a:p>
          <a:p>
            <a:r>
              <a:rPr lang="cs-CZ" dirty="0" err="1"/>
              <a:t>NeXTSTEP</a:t>
            </a:r>
            <a:r>
              <a:rPr lang="cs-CZ" dirty="0"/>
              <a:t>. Wikipedia [online]. [cit. 2022-11-20]. Dostupné z: </a:t>
            </a:r>
            <a:r>
              <a:rPr lang="cs-CZ" dirty="0">
                <a:hlinkClick r:id="rId7"/>
              </a:rPr>
              <a:t>https://en.wikipedia.org/wiki/NeXTSTEP</a:t>
            </a:r>
            <a:endParaRPr lang="cs-CZ" dirty="0"/>
          </a:p>
          <a:p>
            <a:r>
              <a:rPr lang="cs-CZ" dirty="0"/>
              <a:t>Mac OS X 10.0. Wikipedia [online]. [cit. 2022-11-20]. Dostupné z: </a:t>
            </a:r>
            <a:r>
              <a:rPr lang="cs-CZ" dirty="0">
                <a:hlinkClick r:id="rId8"/>
              </a:rPr>
              <a:t>https://en.wikipedia.org/wiki/Mac_OS_X_10.0</a:t>
            </a:r>
            <a:endParaRPr lang="cs-CZ" dirty="0"/>
          </a:p>
          <a:p>
            <a:r>
              <a:rPr lang="cs-CZ" dirty="0"/>
              <a:t>Mac OS X 10.1. Wikipedia [online]. [cit. 2022-11-20]. Dostupné z: </a:t>
            </a:r>
            <a:r>
              <a:rPr lang="cs-CZ" dirty="0">
                <a:hlinkClick r:id="rId9"/>
              </a:rPr>
              <a:t>https://en.wikipedia.org/wiki/Mac_OS_X_10.1</a:t>
            </a:r>
            <a:endParaRPr lang="cs-CZ" dirty="0"/>
          </a:p>
          <a:p>
            <a:r>
              <a:rPr lang="cs-CZ" dirty="0"/>
              <a:t>Mac OS X 10.2. Wikipedia [online]. [cit. 2022-11-20]. Dostupné z: </a:t>
            </a:r>
            <a:r>
              <a:rPr lang="cs-CZ" dirty="0">
                <a:hlinkClick r:id="rId10"/>
              </a:rPr>
              <a:t>https://en.wikipedia.org/wiki/Mac_OS_X_10.2</a:t>
            </a:r>
            <a:endParaRPr lang="cs-CZ" dirty="0"/>
          </a:p>
          <a:p>
            <a:r>
              <a:rPr lang="cs-CZ" dirty="0"/>
              <a:t>Mac OS X 10.3. Wikipedia [online]. [cit. 2022-11-20]. Dostupné z: </a:t>
            </a:r>
            <a:r>
              <a:rPr lang="cs-CZ" dirty="0">
                <a:hlinkClick r:id="rId11"/>
              </a:rPr>
              <a:t>https://en.wikipedia.org/wiki/Mac_OS_X_10.3</a:t>
            </a:r>
            <a:endParaRPr lang="cs-CZ" dirty="0"/>
          </a:p>
          <a:p>
            <a:r>
              <a:rPr lang="cs-CZ" dirty="0"/>
              <a:t>Mac OS X 10.4. Wikipedia [online]. [cit. 2022-11-20]. Dostupné z: </a:t>
            </a:r>
            <a:r>
              <a:rPr lang="cs-CZ" dirty="0">
                <a:hlinkClick r:id="rId12"/>
              </a:rPr>
              <a:t>https://en.wikipedia.org/wiki/Mac_OS_X_10.4</a:t>
            </a:r>
            <a:endParaRPr lang="cs-CZ" dirty="0"/>
          </a:p>
          <a:p>
            <a:r>
              <a:rPr lang="cs-CZ" dirty="0"/>
              <a:t>Mac OS X 10.5. Wikipedia [online]. [cit. 2022-11-20]. Dostupné z: </a:t>
            </a:r>
            <a:r>
              <a:rPr lang="cs-CZ" dirty="0">
                <a:hlinkClick r:id="rId13"/>
              </a:rPr>
              <a:t>https://en.wikipedia.org/wiki/M</a:t>
            </a:r>
            <a:r>
              <a:rPr lang="cs-CZ" dirty="0">
                <a:hlinkClick r:id="rId13"/>
              </a:rPr>
              <a:t>ac_</a:t>
            </a:r>
            <a:r>
              <a:rPr lang="cs-CZ" dirty="0">
                <a:hlinkClick r:id="rId13"/>
              </a:rPr>
              <a:t>OS_X_10.5</a:t>
            </a:r>
            <a:endParaRPr lang="cs-CZ" dirty="0"/>
          </a:p>
          <a:p>
            <a:r>
              <a:rPr lang="cs-CZ" dirty="0"/>
              <a:t>Mac OS X 10.6. Wikipedia [online]. [cit. 2022-11-20]. Dostupné z: </a:t>
            </a:r>
            <a:r>
              <a:rPr lang="cs-CZ" dirty="0">
                <a:hlinkClick r:id="rId14"/>
              </a:rPr>
              <a:t>https://en.wikipedia.org/wiki/Mac_OS_X_10.6</a:t>
            </a:r>
            <a:endParaRPr lang="cs-CZ" dirty="0"/>
          </a:p>
          <a:p>
            <a:r>
              <a:rPr lang="cs-CZ" dirty="0"/>
              <a:t>OS X 10.7. Wikipedia [online]. [cit. 2022-11-20]. Dostupné z: </a:t>
            </a:r>
            <a:r>
              <a:rPr lang="cs-CZ" dirty="0">
                <a:hlinkClick r:id="rId15"/>
              </a:rPr>
              <a:t>https://en.wikipedia.org/wiki/OS_X_10.7</a:t>
            </a:r>
            <a:endParaRPr lang="cs-CZ" dirty="0"/>
          </a:p>
          <a:p>
            <a:r>
              <a:rPr lang="cs-CZ" dirty="0"/>
              <a:t>OS X 10.8. Wikipedia [online]. [cit. 2022-11-20]. Dostupné z: </a:t>
            </a:r>
            <a:r>
              <a:rPr lang="cs-CZ" dirty="0">
                <a:hlinkClick r:id="rId16"/>
              </a:rPr>
              <a:t>https://en.wikipedia.org/wiki/OS_X_10.8</a:t>
            </a:r>
            <a:endParaRPr lang="cs-CZ" dirty="0"/>
          </a:p>
          <a:p>
            <a:r>
              <a:rPr lang="cs-CZ" dirty="0"/>
              <a:t>OS X 10.9. Wikipedia [online]. [cit. 2022-11-20]. Dostupné z: </a:t>
            </a:r>
            <a:r>
              <a:rPr lang="cs-CZ" dirty="0">
                <a:hlinkClick r:id="rId17"/>
              </a:rPr>
              <a:t>https://en.wikipedia.org/wiki/OS_X_10.9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1172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DF8140-FF3D-765A-65F7-80E0E18D5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506993"/>
            <a:ext cx="9486690" cy="6120143"/>
          </a:xfrm>
        </p:spPr>
        <p:txBody>
          <a:bodyPr>
            <a:normAutofit fontScale="47500" lnSpcReduction="20000"/>
          </a:bodyPr>
          <a:lstStyle/>
          <a:p>
            <a:r>
              <a:rPr lang="cs-CZ" dirty="0"/>
              <a:t>OS X 10.11. Wikipedia [online]. [cit. 2022-11-20]. Dostupné z: </a:t>
            </a:r>
            <a:r>
              <a:rPr lang="cs-CZ" dirty="0">
                <a:hlinkClick r:id="rId2"/>
              </a:rPr>
              <a:t>https://en.wikipedia.org/wiki/OS_X_10.11</a:t>
            </a:r>
            <a:endParaRPr lang="cs-CZ" dirty="0"/>
          </a:p>
          <a:p>
            <a:r>
              <a:rPr lang="it-IT" dirty="0"/>
              <a:t>MacOS 10.12. Wikipedia [online]. [cit. 2022-11-20]. Dostupné z: </a:t>
            </a:r>
            <a:r>
              <a:rPr lang="it-IT" dirty="0">
                <a:hlinkClick r:id="rId3"/>
              </a:rPr>
              <a:t>https://en.wikipedia.org/wiki/macOS_10.12</a:t>
            </a:r>
            <a:endParaRPr lang="cs-CZ" dirty="0"/>
          </a:p>
          <a:p>
            <a:r>
              <a:rPr lang="it-IT" dirty="0"/>
              <a:t>MacOS 10.13. Wikipedia [online]. [cit. 2022-11-20]. Dostupné z: </a:t>
            </a:r>
            <a:r>
              <a:rPr lang="it-IT" dirty="0">
                <a:hlinkClick r:id="rId4"/>
              </a:rPr>
              <a:t>https://en.wikipedia.org/wiki/macOS_10.13</a:t>
            </a:r>
            <a:endParaRPr lang="cs-CZ" dirty="0"/>
          </a:p>
          <a:p>
            <a:r>
              <a:rPr lang="it-IT" dirty="0"/>
              <a:t>MacOS 10.14. Wikipedia [online]. [cit. 2022-11-20]. Dostupné z: </a:t>
            </a:r>
            <a:r>
              <a:rPr lang="it-IT" dirty="0">
                <a:hlinkClick r:id="rId5"/>
              </a:rPr>
              <a:t>https://en.wikipedia.org/wiki/macOS_10.14</a:t>
            </a:r>
            <a:endParaRPr lang="cs-CZ" dirty="0"/>
          </a:p>
          <a:p>
            <a:r>
              <a:rPr lang="it-IT" dirty="0"/>
              <a:t>MacOS 10.15. Wikipedia [online]. [cit. 2022-11-20]. Dostupné z: </a:t>
            </a:r>
            <a:r>
              <a:rPr lang="it-IT" dirty="0">
                <a:hlinkClick r:id="rId6"/>
              </a:rPr>
              <a:t>https://en.wikipedia.org/wiki/macOS_10.15</a:t>
            </a:r>
            <a:endParaRPr lang="cs-CZ" dirty="0"/>
          </a:p>
          <a:p>
            <a:r>
              <a:rPr lang="it-IT" dirty="0"/>
              <a:t>MacOS 11. Wikipedia [online]. [cit. 2022-11-20]. Dostupné z: </a:t>
            </a:r>
            <a:r>
              <a:rPr lang="it-IT" dirty="0">
                <a:hlinkClick r:id="rId7"/>
              </a:rPr>
              <a:t>https://en.wikipedia.org/wiki/macOS_11</a:t>
            </a:r>
            <a:endParaRPr lang="cs-CZ" dirty="0"/>
          </a:p>
          <a:p>
            <a:r>
              <a:rPr lang="it-IT" dirty="0"/>
              <a:t>MacOS 12. Wikipedia [online]. [cit. 2022-11-20]. Dostupné z: </a:t>
            </a:r>
            <a:r>
              <a:rPr lang="it-IT" dirty="0">
                <a:hlinkClick r:id="rId8"/>
              </a:rPr>
              <a:t>https://en.wikipedia.org/wiki/macOS_12</a:t>
            </a:r>
            <a:endParaRPr lang="cs-CZ" dirty="0"/>
          </a:p>
          <a:p>
            <a:r>
              <a:rPr lang="it-IT" dirty="0"/>
              <a:t>MacOS 13. Wikipedia [online]. [cit. 2022-11-20]. Dostupné z: </a:t>
            </a:r>
            <a:r>
              <a:rPr lang="it-IT" dirty="0">
                <a:hlinkClick r:id="rId9"/>
              </a:rPr>
              <a:t>https://en.wikipedia.org/wiki/macOS_13</a:t>
            </a:r>
            <a:endParaRPr lang="cs-CZ" dirty="0"/>
          </a:p>
          <a:p>
            <a:r>
              <a:rPr lang="cs-CZ" dirty="0"/>
              <a:t>Mac OS X 10.1. Apple Wiki [online]. [cit. 2022-11-20]. Dostupné z: </a:t>
            </a:r>
            <a:r>
              <a:rPr lang="cs-CZ" dirty="0">
                <a:hlinkClick r:id="rId10"/>
              </a:rPr>
              <a:t>https://apple.fandom.com/wiki/Mac_OS_X_10.1</a:t>
            </a:r>
            <a:endParaRPr lang="cs-CZ" dirty="0"/>
          </a:p>
          <a:p>
            <a:r>
              <a:rPr lang="cs-CZ" dirty="0"/>
              <a:t>Mac OS X 10.2. Apple Wiki [online]. [cit. 2022-11-20]. Dostupné z: </a:t>
            </a:r>
            <a:r>
              <a:rPr lang="cs-CZ" dirty="0">
                <a:hlinkClick r:id="rId11"/>
              </a:rPr>
              <a:t>https://apple.fandom.com/wiki/Mac_OS_X_10.2</a:t>
            </a:r>
            <a:endParaRPr lang="cs-CZ" dirty="0"/>
          </a:p>
          <a:p>
            <a:r>
              <a:rPr lang="cs-CZ" dirty="0"/>
              <a:t>Mac OS X 10.3. Apple Wiki [online]. [cit. 2022-11-20]. Dostupné z: </a:t>
            </a:r>
            <a:r>
              <a:rPr lang="cs-CZ" dirty="0">
                <a:hlinkClick r:id="rId12"/>
              </a:rPr>
              <a:t>https://apple.fandom.com/wiki/Mac_OS_X_10.3</a:t>
            </a:r>
            <a:endParaRPr lang="cs-CZ" dirty="0"/>
          </a:p>
          <a:p>
            <a:r>
              <a:rPr lang="cs-CZ" dirty="0"/>
              <a:t>Mac OS X 10.4. Apple Wiki [online]. [cit. 2022-11-20]. Dostupné z: </a:t>
            </a:r>
            <a:r>
              <a:rPr lang="cs-CZ" dirty="0">
                <a:hlinkClick r:id="rId13"/>
              </a:rPr>
              <a:t>https://apple.fandom.com/wiki/Mac_OS_X_10.4</a:t>
            </a:r>
            <a:endParaRPr lang="cs-CZ" dirty="0"/>
          </a:p>
          <a:p>
            <a:r>
              <a:rPr lang="cs-CZ" dirty="0"/>
              <a:t>Mac OS X 10.5. Apple Wiki [online]. [cit. 2022-11-20]. Dostupné z: </a:t>
            </a:r>
            <a:r>
              <a:rPr lang="cs-CZ" dirty="0">
                <a:hlinkClick r:id="rId14"/>
              </a:rPr>
              <a:t>https://apple.fandom.com/wiki/Mac_OS_X_10.5</a:t>
            </a:r>
            <a:endParaRPr lang="cs-CZ" dirty="0"/>
          </a:p>
          <a:p>
            <a:r>
              <a:rPr lang="cs-CZ" dirty="0"/>
              <a:t>Mac OS X 10.6. Apple Wiki [online]. [cit. 2022-11-20]. Dostupné z: </a:t>
            </a:r>
            <a:r>
              <a:rPr lang="cs-CZ" dirty="0">
                <a:hlinkClick r:id="rId15"/>
              </a:rPr>
              <a:t>https://apple.fandom.com/wiki/Mac_OS_X_10.6</a:t>
            </a:r>
            <a:endParaRPr lang="cs-CZ" dirty="0"/>
          </a:p>
          <a:p>
            <a:r>
              <a:rPr lang="cs-CZ" dirty="0"/>
              <a:t>Mac OS X 10.7. Apple Wiki [online]. [cit. 2022-11-20]. Dostupné z: </a:t>
            </a:r>
            <a:r>
              <a:rPr lang="cs-CZ" dirty="0">
                <a:hlinkClick r:id="rId16"/>
              </a:rPr>
              <a:t>https://apple.fandom.com/wiki/Mac_OS_X_10.7</a:t>
            </a:r>
            <a:endParaRPr lang="cs-CZ" dirty="0"/>
          </a:p>
          <a:p>
            <a:r>
              <a:rPr lang="cs-CZ" dirty="0"/>
              <a:t>Mac OS X 10.8. Apple Wiki [online]. [cit. 2022-11-20]. Dostupné z: </a:t>
            </a:r>
            <a:r>
              <a:rPr lang="cs-CZ" dirty="0">
                <a:hlinkClick r:id="rId17"/>
              </a:rPr>
              <a:t>https://apple.fandom.com/wiki/Mac_OS_X_10.8</a:t>
            </a:r>
            <a:endParaRPr lang="cs-CZ" dirty="0"/>
          </a:p>
          <a:p>
            <a:r>
              <a:rPr lang="cs-CZ" dirty="0"/>
              <a:t>Mac OS X 10.9. Apple Wiki [online]. [cit. 2022-11-20]. Dostupné z: https://apple.fandom.com/wiki/Mac_OS_X_10.9</a:t>
            </a:r>
          </a:p>
          <a:p>
            <a:r>
              <a:rPr lang="it-IT" dirty="0"/>
              <a:t>Manjaro site [online]. [cit. 2022-11-20]. Dostupné z: </a:t>
            </a:r>
            <a:r>
              <a:rPr lang="it-IT" dirty="0">
                <a:hlinkClick r:id="rId18"/>
              </a:rPr>
              <a:t>https://manjaro.site/step-by-step-install-macos-ventura-beta-on-proxmox-7/</a:t>
            </a:r>
            <a:endParaRPr lang="cs-CZ" dirty="0"/>
          </a:p>
          <a:p>
            <a:r>
              <a:rPr lang="cs-CZ" dirty="0"/>
              <a:t>Apple macOS </a:t>
            </a:r>
            <a:r>
              <a:rPr lang="cs-CZ" dirty="0" err="1"/>
              <a:t>Catalina</a:t>
            </a:r>
            <a:r>
              <a:rPr lang="cs-CZ" dirty="0"/>
              <a:t> </a:t>
            </a:r>
            <a:r>
              <a:rPr lang="cs-CZ" dirty="0" err="1"/>
              <a:t>review</a:t>
            </a:r>
            <a:r>
              <a:rPr lang="cs-CZ" dirty="0"/>
              <a:t>. </a:t>
            </a:r>
            <a:r>
              <a:rPr lang="cs-CZ" dirty="0" err="1"/>
              <a:t>PCMag</a:t>
            </a:r>
            <a:r>
              <a:rPr lang="cs-CZ" dirty="0"/>
              <a:t> [online]. [cit. 2022-11-20]. Dostupné z: </a:t>
            </a:r>
            <a:r>
              <a:rPr lang="cs-CZ" dirty="0">
                <a:hlinkClick r:id="rId19"/>
              </a:rPr>
              <a:t>https://www.pcmag.com/reviews/apple-macos-catalina</a:t>
            </a:r>
            <a:endParaRPr lang="cs-CZ" dirty="0"/>
          </a:p>
          <a:p>
            <a:r>
              <a:rPr lang="en-US" dirty="0"/>
              <a:t>Apple T2 Security Chip Overview. Apple [online]. [cit. 2022-11-20]. </a:t>
            </a:r>
            <a:r>
              <a:rPr lang="en-US" dirty="0" err="1"/>
              <a:t>Dostupné</a:t>
            </a:r>
            <a:r>
              <a:rPr lang="en-US" dirty="0"/>
              <a:t> z: </a:t>
            </a:r>
            <a:r>
              <a:rPr lang="en-US" dirty="0">
                <a:hlinkClick r:id="rId20"/>
              </a:rPr>
              <a:t>https://www.apple.com/mideast/mac/docs/Apple_T2_Security_Chip_Overview.pdf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77113640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AnalogousFromDarkSeedLeftStep">
      <a:dk1>
        <a:srgbClr val="000000"/>
      </a:dk1>
      <a:lt1>
        <a:srgbClr val="FFFFFF"/>
      </a:lt1>
      <a:dk2>
        <a:srgbClr val="1B3023"/>
      </a:dk2>
      <a:lt2>
        <a:srgbClr val="F0F1F3"/>
      </a:lt2>
      <a:accent1>
        <a:srgbClr val="D49626"/>
      </a:accent1>
      <a:accent2>
        <a:srgbClr val="D54217"/>
      </a:accent2>
      <a:accent3>
        <a:srgbClr val="E7294D"/>
      </a:accent3>
      <a:accent4>
        <a:srgbClr val="D5178A"/>
      </a:accent4>
      <a:accent5>
        <a:srgbClr val="E329E7"/>
      </a:accent5>
      <a:accent6>
        <a:srgbClr val="841CD6"/>
      </a:accent6>
      <a:hlink>
        <a:srgbClr val="BF3FAC"/>
      </a:hlink>
      <a:folHlink>
        <a:srgbClr val="7F7F7F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2070</Words>
  <Application>Microsoft Office PowerPoint</Application>
  <PresentationFormat>Širokoúhlá obrazovka</PresentationFormat>
  <Paragraphs>208</Paragraphs>
  <Slides>41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41</vt:i4>
      </vt:variant>
    </vt:vector>
  </HeadingPairs>
  <TitlesOfParts>
    <vt:vector size="44" baseType="lpstr">
      <vt:lpstr>Arial</vt:lpstr>
      <vt:lpstr>Neue Haas Grotesk Text Pro</vt:lpstr>
      <vt:lpstr>InterweaveVTI</vt:lpstr>
      <vt:lpstr>macOS</vt:lpstr>
      <vt:lpstr>Základní informace</vt:lpstr>
      <vt:lpstr>Podpora hardwaru</vt:lpstr>
      <vt:lpstr>Uživatelské rozhraní</vt:lpstr>
      <vt:lpstr>Aplikace</vt:lpstr>
      <vt:lpstr>GUI</vt:lpstr>
      <vt:lpstr>Souborový systém</vt:lpstr>
      <vt:lpstr>Zabezpečení</vt:lpstr>
      <vt:lpstr>Secure boot</vt:lpstr>
      <vt:lpstr>Sandbox</vt:lpstr>
      <vt:lpstr>Mac OS classic (originálně System Software)</vt:lpstr>
      <vt:lpstr>System 1</vt:lpstr>
      <vt:lpstr>System 1, 2, 3 a 4</vt:lpstr>
      <vt:lpstr>System Software 5 a 6</vt:lpstr>
      <vt:lpstr>Systém Software 7 / Mac OS 7</vt:lpstr>
      <vt:lpstr>Mac OS 8</vt:lpstr>
      <vt:lpstr>Mac OS 9</vt:lpstr>
      <vt:lpstr>Přechod na Mac OS X</vt:lpstr>
      <vt:lpstr>NEXTSTEP</vt:lpstr>
      <vt:lpstr>Mac OS X 1.0 (Ceetah)</vt:lpstr>
      <vt:lpstr>Mac OS X 1.1 (Puma)</vt:lpstr>
      <vt:lpstr>Mac OS X 10.2 (Jaguar)</vt:lpstr>
      <vt:lpstr>Mac OS X 10.3 (Pather)</vt:lpstr>
      <vt:lpstr>Mac OS X 10.4 (Tiger)</vt:lpstr>
      <vt:lpstr>Mac OS X 10.5 (Leopard)</vt:lpstr>
      <vt:lpstr>Mac OS X 10.6 (Snow Leopard)</vt:lpstr>
      <vt:lpstr>OS X 10.7 (Lion)</vt:lpstr>
      <vt:lpstr>OS X 10.8 (Mountain Lion)</vt:lpstr>
      <vt:lpstr>OS X 10.9 (Mavericks)</vt:lpstr>
      <vt:lpstr>OS X 10.10 (Yosemite)</vt:lpstr>
      <vt:lpstr>OS X 10.11 (El Capitan)</vt:lpstr>
      <vt:lpstr>macOS 10.12 (Sierra)</vt:lpstr>
      <vt:lpstr>macOS 10.13 (High Sierra)</vt:lpstr>
      <vt:lpstr>macOS 10.14 (Mojave)</vt:lpstr>
      <vt:lpstr>macOS 10.15 (Catalina)</vt:lpstr>
      <vt:lpstr>macOS 11 (Big Sur)</vt:lpstr>
      <vt:lpstr>macOS 12 (Monterey)</vt:lpstr>
      <vt:lpstr>macOS 13 (Ventura)</vt:lpstr>
      <vt:lpstr>Diskuze</vt:lpstr>
      <vt:lpstr>Zdroje 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macOS</dc:title>
  <dc:creator>David MENC</dc:creator>
  <cp:lastModifiedBy>David MENC</cp:lastModifiedBy>
  <cp:revision>8</cp:revision>
  <dcterms:created xsi:type="dcterms:W3CDTF">2022-11-17T15:36:58Z</dcterms:created>
  <dcterms:modified xsi:type="dcterms:W3CDTF">2022-11-20T18:09:01Z</dcterms:modified>
</cp:coreProperties>
</file>