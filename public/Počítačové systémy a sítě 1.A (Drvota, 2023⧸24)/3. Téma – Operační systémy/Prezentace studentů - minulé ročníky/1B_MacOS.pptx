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60" r:id="rId8"/>
    <p:sldId id="264" r:id="rId9"/>
    <p:sldId id="265" r:id="rId10"/>
    <p:sldId id="266" r:id="rId11"/>
    <p:sldId id="263" r:id="rId12"/>
    <p:sldId id="261" r:id="rId13"/>
    <p:sldId id="262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6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365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888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50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483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114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255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770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547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596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9910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5308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3316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333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08729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8447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2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D3431B8-27F5-464E-B05A-BAA0C76547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05F026-67BD-4234-A5DB-D2D4DB75158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7072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istyle.cz/blog/prvni-krucky-s-macem" TargetMode="External"/><Relationship Id="rId3" Type="http://schemas.openxmlformats.org/officeDocument/2006/relationships/hyperlink" Target="https://support.apple.com/cs-cz/guide/disk-utility/dsku19ed921c/mac" TargetMode="External"/><Relationship Id="rId7" Type="http://schemas.openxmlformats.org/officeDocument/2006/relationships/hyperlink" Target="https://cs.wikipedia.org/wiki/Apple" TargetMode="External"/><Relationship Id="rId2" Type="http://schemas.openxmlformats.org/officeDocument/2006/relationships/hyperlink" Target="https://www.umass.edu/it/support/hardware/recommended-and-minimum-computer-configurations-macintos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MacBook_Pro" TargetMode="External"/><Relationship Id="rId5" Type="http://schemas.openxmlformats.org/officeDocument/2006/relationships/hyperlink" Target="https://cs.wikipedia.org/wiki/MacOS" TargetMode="External"/><Relationship Id="rId10" Type="http://schemas.openxmlformats.org/officeDocument/2006/relationships/hyperlink" Target="https://www.zbozi.cz/magazin/c/windows-vs-macos/" TargetMode="External"/><Relationship Id="rId4" Type="http://schemas.openxmlformats.org/officeDocument/2006/relationships/hyperlink" Target="https://support.apple.com/cs-cz/HT201541" TargetMode="External"/><Relationship Id="rId9" Type="http://schemas.openxmlformats.org/officeDocument/2006/relationships/hyperlink" Target="https://www.parallels.com/tips/mac-os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mputerhope.com/jargon/u/update.png" TargetMode="External"/><Relationship Id="rId3" Type="http://schemas.openxmlformats.org/officeDocument/2006/relationships/hyperlink" Target="https://www.pngegg.com/en/png-hpmxu" TargetMode="External"/><Relationship Id="rId7" Type="http://schemas.openxmlformats.org/officeDocument/2006/relationships/hyperlink" Target="https://cdn.alza.cz/Foto/or/articles/29257/img/antivirovy-program-uvod.jpg" TargetMode="External"/><Relationship Id="rId2" Type="http://schemas.openxmlformats.org/officeDocument/2006/relationships/hyperlink" Target="https://cs.wikipedia.org/wiki/Macintosh#/media/Soubor:IMac_G3_Bondi_Blue,_three-quarters_view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aas.hpcloud.hp.com/PROD/v2/renderbinary/6684695/3496284/p-web-core-set-up-an-older-printer-in-mac-os-x-laserjet/scr-web-core-printer-kind-is-bonjour-macos" TargetMode="External"/><Relationship Id="rId5" Type="http://schemas.openxmlformats.org/officeDocument/2006/relationships/hyperlink" Target="https://upload.wikimedia.org/wikipedia/ru/thumb/1/1a/MacOS_Monterey_screenshot.jpg/274px-MacOS_Monterey_screenshot.jpg" TargetMode="External"/><Relationship Id="rId4" Type="http://schemas.openxmlformats.org/officeDocument/2006/relationships/hyperlink" Target="https://9to5mac.com/wp-content/uploads/sites/6/2021/10/MacBook-Pro-2021.jpg?resize=1024,512" TargetMode="External"/><Relationship Id="rId9" Type="http://schemas.openxmlformats.org/officeDocument/2006/relationships/hyperlink" Target="https://www.maticad.com/wp-content/uploads/2020/09/req_hard-1-1200x878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77C005-02D8-1F7A-5E15-47F092E73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1698" y="3140217"/>
            <a:ext cx="2248593" cy="720892"/>
          </a:xfrm>
        </p:spPr>
        <p:txBody>
          <a:bodyPr>
            <a:noAutofit/>
          </a:bodyPr>
          <a:lstStyle/>
          <a:p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macOS</a:t>
            </a:r>
            <a:endParaRPr lang="cs-CZ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682B7C9-C45D-6F56-FC36-34F7357EE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8094" y="4306710"/>
            <a:ext cx="2695803" cy="447537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Ruffer</a:t>
            </a:r>
            <a:r>
              <a:rPr lang="cs-CZ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Levinský, Novák</a:t>
            </a:r>
          </a:p>
        </p:txBody>
      </p:sp>
      <p:pic>
        <p:nvPicPr>
          <p:cNvPr id="2054" name="Picture 6" descr="Logo">
            <a:extLst>
              <a:ext uri="{FF2B5EF4-FFF2-40B4-BE49-F238E27FC236}">
                <a16:creationId xmlns:a16="http://schemas.microsoft.com/office/drawing/2014/main" id="{CBA5E4D0-97D9-CBE2-ADC8-10DCF971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733" y="176987"/>
            <a:ext cx="2534527" cy="251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19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3A8AFC-9698-5CB5-55CB-97C200EA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Obecné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BEE98E-04F6-DEE9-C7A0-EF1350E0B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friendly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operační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systém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Počítačový operační systém pro počítače Macintosh společnosti Apple</a:t>
            </a:r>
          </a:p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Datum vydání - 24. března 2001</a:t>
            </a: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Užívané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cs-CZ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rogramovací</a:t>
            </a:r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jazyky: C++, C, </a:t>
            </a:r>
            <a:r>
              <a:rPr lang="cs-CZ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Swift</a:t>
            </a:r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cs-CZ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</a:t>
            </a:r>
          </a:p>
          <a:p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412039-E441-209D-C38B-10371EF7C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706" y="3985385"/>
            <a:ext cx="3080082" cy="287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F314600D-FA50-6ACF-B34C-2200CD1263C3}"/>
              </a:ext>
            </a:extLst>
          </p:cNvPr>
          <p:cNvSpPr txBox="1"/>
          <p:nvPr/>
        </p:nvSpPr>
        <p:spPr>
          <a:xfrm>
            <a:off x="8183896" y="3614454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Macintosh z </a:t>
            </a:r>
            <a:r>
              <a:rPr lang="en-GB" dirty="0" err="1"/>
              <a:t>roku</a:t>
            </a:r>
            <a:r>
              <a:rPr lang="en-GB" dirty="0"/>
              <a:t> 2001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14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1DCC46-63E3-3AEC-F532-FC53B5FD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Minimální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hardwarowé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požadavky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77FAF9-5D2F-35EA-98E6-DC746A966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- M1 Chip nebo lepší</a:t>
            </a:r>
          </a:p>
          <a:p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GB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paměti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12,5 GB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volného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místa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disku</a:t>
            </a:r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290" name="Picture 2" descr="Hardware Requirements - Maticad: Create, Imagine, Design.">
            <a:extLst>
              <a:ext uri="{FF2B5EF4-FFF2-40B4-BE49-F238E27FC236}">
                <a16:creationId xmlns:a16="http://schemas.microsoft.com/office/drawing/2014/main" id="{7EECF3C1-788B-B89F-B3AD-45F8A18A3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070" y="642285"/>
            <a:ext cx="5000336" cy="365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01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BEED71-D4FA-8EB4-1F02-9536B927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Souborový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systém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APFS</a:t>
            </a:r>
            <a:endParaRPr lang="cs-CZ" dirty="0"/>
          </a:p>
        </p:txBody>
      </p:sp>
      <p:pic>
        <p:nvPicPr>
          <p:cNvPr id="4" name="Picture 4" descr="macOS Sierra Includes a New Apple File System, APFS - Stephen Foskett, Pack  Rat">
            <a:extLst>
              <a:ext uri="{FF2B5EF4-FFF2-40B4-BE49-F238E27FC236}">
                <a16:creationId xmlns:a16="http://schemas.microsoft.com/office/drawing/2014/main" id="{D5A2B00B-9EC7-8B45-DF3D-EC4F2E3FFE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51"/>
          <a:stretch/>
        </p:blipFill>
        <p:spPr bwMode="auto">
          <a:xfrm>
            <a:off x="591849" y="336081"/>
            <a:ext cx="7301099" cy="40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PFS: nový souborový systém od Applu, největší revoluce po třiceti letech –  Letem světem Applem">
            <a:extLst>
              <a:ext uri="{FF2B5EF4-FFF2-40B4-BE49-F238E27FC236}">
                <a16:creationId xmlns:a16="http://schemas.microsoft.com/office/drawing/2014/main" id="{F77A93AB-05AB-AB8B-B2D9-76ED22031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61" y="4701280"/>
            <a:ext cx="2987040" cy="156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67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162000"/>
                <a:satMod val="200000"/>
                <a:lumMod val="124000"/>
              </a:schemeClr>
            </a:gs>
            <a:gs pos="100000">
              <a:schemeClr val="bg2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E26D9B-08FD-9DDF-94AE-BAA70ED0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Drivery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– jak je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získává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macOS</a:t>
            </a:r>
            <a:endParaRPr lang="cs-CZ" dirty="0"/>
          </a:p>
        </p:txBody>
      </p:sp>
      <p:pic>
        <p:nvPicPr>
          <p:cNvPr id="7170" name="Picture 2" descr="HP LaserJet – Nastavení starší tiskárny HP v systému mac OS X | Zákaznická  podpora HP®">
            <a:extLst>
              <a:ext uri="{FF2B5EF4-FFF2-40B4-BE49-F238E27FC236}">
                <a16:creationId xmlns:a16="http://schemas.microsoft.com/office/drawing/2014/main" id="{946A84C9-CFC3-92E3-3F4F-A0BB1B7EC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240" y="1750844"/>
            <a:ext cx="3185108" cy="1791623"/>
          </a:xfrm>
          <a:prstGeom prst="rect">
            <a:avLst/>
          </a:prstGeom>
          <a:noFill/>
          <a:effectLst>
            <a:innerShdw blurRad="57150" dist="38100" dir="14460000">
              <a:prstClr val="black">
                <a:alpha val="7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2C67F6-7190-5FF7-2BC3-6674BE2AE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696" y="733647"/>
            <a:ext cx="6593129" cy="3575884"/>
          </a:xfrm>
        </p:spPr>
        <p:txBody>
          <a:bodyPr>
            <a:normAutofit/>
          </a:bodyPr>
          <a:lstStyle/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podporuje všechny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moderní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zařízení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Drivery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stahuje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instaluje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automaticky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z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databází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online</a:t>
            </a:r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88E29D-ADE3-36BD-D874-E05795E0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Aktualizace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macOS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485DDE-0C69-2EFA-01DE-BA1FA5C7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Uživatel v</a:t>
            </a:r>
            <a:r>
              <a:rPr lang="cs-CZ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ybere Nastavení systému</a:t>
            </a:r>
          </a:p>
          <a:p>
            <a:r>
              <a:rPr lang="cs-CZ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Klikne na Obecné na bočním panelu </a:t>
            </a:r>
          </a:p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Klikne</a:t>
            </a:r>
            <a:r>
              <a:rPr lang="cs-CZ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na Aktualizace softwaru vpravo</a:t>
            </a:r>
          </a:p>
          <a:p>
            <a:r>
              <a:rPr lang="cs-CZ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Buď bude počítač hlásit, že je nový software a vyzve uživatele pro stáhnutí softwaru, nebo počítač zahlásí, že je software aktuální</a:t>
            </a:r>
          </a:p>
        </p:txBody>
      </p:sp>
      <p:pic>
        <p:nvPicPr>
          <p:cNvPr id="11266" name="Picture 2" descr="What is an Update?">
            <a:extLst>
              <a:ext uri="{FF2B5EF4-FFF2-40B4-BE49-F238E27FC236}">
                <a16:creationId xmlns:a16="http://schemas.microsoft.com/office/drawing/2014/main" id="{651B36B7-D6D2-6DC2-B7EE-23C06304E6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0"/>
          <a:stretch/>
        </p:blipFill>
        <p:spPr bwMode="auto">
          <a:xfrm>
            <a:off x="8796626" y="251017"/>
            <a:ext cx="2857500" cy="22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6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B714AE-21D3-2861-CABA-4EA051C2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Antivirus?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1C25A6-AB95-0BB3-B261-78A54CCC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Počet malware pro Mac je poměrně nízký</a:t>
            </a:r>
            <a:endParaRPr lang="en-GB" sz="28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cs-CZ" sz="24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většinou kvůli bezpečnostním funkcím macOS je nemožné vytvořit pro tento operační systém závažnější malware</a:t>
            </a:r>
            <a:endParaRPr lang="en-GB" sz="24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GB" sz="2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není</a:t>
            </a:r>
            <a:r>
              <a:rPr lang="en-GB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proto </a:t>
            </a:r>
            <a:r>
              <a:rPr lang="en-GB" sz="2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potřeba</a:t>
            </a:r>
            <a:r>
              <a:rPr lang="en-GB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antivirus</a:t>
            </a:r>
            <a:endParaRPr lang="cs-CZ"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42" name="Picture 2" descr="Nejlepší antivirus pro Windows či mobil | Alza.cz">
            <a:extLst>
              <a:ext uri="{FF2B5EF4-FFF2-40B4-BE49-F238E27FC236}">
                <a16:creationId xmlns:a16="http://schemas.microsoft.com/office/drawing/2014/main" id="{B90F0E44-B704-4417-EEA8-976C32A87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937" y="4073475"/>
            <a:ext cx="6018544" cy="233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73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770184-4197-C6AB-322C-BB1E98764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Klady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E77B32-B78F-14F2-A111-78C92E6A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Kompatibilita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ostatními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Apple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produkty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zdarma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Jendoduchá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aktualizace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novou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verzi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Kancelářský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balík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iWork –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není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potřeba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Microsoft office</a:t>
            </a: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Přizpůsobení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velmi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slušně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přizpůsobit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vzhled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Bezpečný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méně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častým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terčem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virů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4" name="Picture 4" descr="Premium Vector | Pros cons comparison make decision optimal solutions  correct wrong vector stock illustration">
            <a:extLst>
              <a:ext uri="{FF2B5EF4-FFF2-40B4-BE49-F238E27FC236}">
                <a16:creationId xmlns:a16="http://schemas.microsoft.com/office/drawing/2014/main" id="{C3B4477A-A77A-291E-FD5E-D254D0360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" r="50000"/>
          <a:stretch/>
        </p:blipFill>
        <p:spPr bwMode="auto">
          <a:xfrm>
            <a:off x="8830398" y="3195782"/>
            <a:ext cx="2927591" cy="344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83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7A0A54-5B1A-7E1D-4889-26B0D239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Zápory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29265D-B9A6-7722-99B6-B1B43D58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Moc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něm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nezahrajete</a:t>
            </a:r>
            <a:endParaRPr lang="en-GB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Nelze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jej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jednoduše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dostat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klasické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PC</a:t>
            </a:r>
          </a:p>
          <a:p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Některé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aplikace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z Windows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macOS </a:t>
            </a:r>
            <a:r>
              <a:rPr lang="en-GB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nejsou</a:t>
            </a:r>
            <a:endParaRPr lang="cs-CZ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24" name="Picture 8" descr="Premium Vector | Pros cons comparison make decision optimal solutions  correct wrong vector stock illustration">
            <a:extLst>
              <a:ext uri="{FF2B5EF4-FFF2-40B4-BE49-F238E27FC236}">
                <a16:creationId xmlns:a16="http://schemas.microsoft.com/office/drawing/2014/main" id="{2CE99025-76FF-4B14-D972-8BC86F69C7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7"/>
          <a:stretch/>
        </p:blipFill>
        <p:spPr bwMode="auto">
          <a:xfrm>
            <a:off x="8665008" y="3224260"/>
            <a:ext cx="2842780" cy="334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31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71E55F-866C-685C-01C9-43875046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2C5687-5CD7-8169-6D78-D023F1F4D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148" name="Picture 4" descr="macOS Monterey - Wikiwand">
            <a:extLst>
              <a:ext uri="{FF2B5EF4-FFF2-40B4-BE49-F238E27FC236}">
                <a16:creationId xmlns:a16="http://schemas.microsoft.com/office/drawing/2014/main" id="{8273A56D-F702-FD5B-BD0D-AD82CBA84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B506F5E0-A289-5D60-A5F0-677CB8A2B399}"/>
              </a:ext>
            </a:extLst>
          </p:cNvPr>
          <p:cNvSpPr txBox="1"/>
          <p:nvPr/>
        </p:nvSpPr>
        <p:spPr>
          <a:xfrm>
            <a:off x="4971047" y="501134"/>
            <a:ext cx="224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Screenshot z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plochy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3231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AC2568-D455-2BA0-2C62-5F9DC86D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Popularita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světě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DAFB10-680E-B950-0E6F-1D74AF375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8F6373-4A98-3CEB-BDAD-DED066F91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0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MacBook Pro: Screen Size, Features, Pricing, Specs, etc - 9to5Mac">
            <a:extLst>
              <a:ext uri="{FF2B5EF4-FFF2-40B4-BE49-F238E27FC236}">
                <a16:creationId xmlns:a16="http://schemas.microsoft.com/office/drawing/2014/main" id="{193AF23C-8FB3-3076-8A78-597FD10DCC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 bwMode="auto">
          <a:xfrm>
            <a:off x="3174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0658C17-BF49-28E3-3FBA-45ED43D3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Diskuze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7C31A8-18ED-37A0-F716-5485753D4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Používáte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macOS?</a:t>
            </a:r>
          </a:p>
          <a:p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Vlastníte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nějaký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produkt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značky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Apple?</a:t>
            </a:r>
          </a:p>
          <a:p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Zvažovali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jste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zakoupení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např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Macbooku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podle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vás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macOS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dobrý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operační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systém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cs-CZ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54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2B70C4-8068-1DB1-9F77-F89A84C9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cap="none" dirty="0" err="1">
                <a:latin typeface="Arial" panose="020B0604020202020204" pitchFamily="34" charset="0"/>
                <a:cs typeface="Arial" panose="020B0604020202020204" pitchFamily="34" charset="0"/>
              </a:rPr>
              <a:t>Citace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0906D5-292A-460A-3A41-2289DA2DC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b="0" i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Recommended &amp; Minimum Computer Configurations for Faculty &amp; Staff (Macintosh)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[online]. [cit. 2022-11-20].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Dostupné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z: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https://www.umass.edu/it/support/hardware/recommended-and-minimum-computer-configurations-macintosh</a:t>
            </a:r>
            <a:endParaRPr lang="en-US" sz="12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cs-CZ" sz="1200" b="0" i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Formáty souborových systémů dostupné v Diskové utilitě na Macu</a:t>
            </a:r>
            <a:r>
              <a:rPr lang="cs-CZ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[online]. [cit. 2022-11-20]. Dostupné z: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https://support.apple.com/cs-cz/guide/disk-utility/dsku19ed921c/mac</a:t>
            </a:r>
            <a:endParaRPr lang="cs-CZ" sz="1200" b="0" i="1" dirty="0">
              <a:solidFill>
                <a:srgbClr val="0070C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b="0" i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Aktualizace macOS na Macu</a:t>
            </a:r>
            <a:r>
              <a:rPr lang="pt-BR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[online]. [cit. 2022-11-20]. Dostupné z: </a:t>
            </a:r>
            <a:r>
              <a:rPr lang="pt-BR" sz="1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https://support.apple.com/cs-cz/HT201541</a:t>
            </a:r>
            <a:endParaRPr lang="pt-BR" sz="12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cs-CZ" sz="11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MacOS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5 [cit. 2022-11-20]. Dostupné z: 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5"/>
              </a:rPr>
              <a:t>https://cs.wikipedia.org/wiki/MacOS</a:t>
            </a:r>
            <a:endParaRPr lang="en-GB" sz="11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11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MacBook Pro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6 [cit. 2022-11-20]. Dostupné z: 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6"/>
              </a:rPr>
              <a:t>https://cs.wikipedia.org/wiki/MacBook_Pro</a:t>
            </a:r>
            <a:endParaRPr lang="en-GB" sz="11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105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Apple</a:t>
            </a:r>
            <a:r>
              <a:rPr lang="cs-CZ" sz="105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7 [cit. 2022-11-20]. Dostupné z: </a:t>
            </a:r>
            <a:r>
              <a:rPr lang="cs-CZ" sz="105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7"/>
              </a:rPr>
              <a:t>https://cs.wikipedia.org/wiki/Apple</a:t>
            </a:r>
            <a:endParaRPr lang="en-GB" sz="105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ISTYLE. </a:t>
            </a:r>
            <a:r>
              <a:rPr lang="cs-CZ" sz="11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První krůčky s Macem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1 [cit. 2022-11-20]. Dostupné z: 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8"/>
              </a:rPr>
              <a:t>https://istyle.cz/blog/prvni-krucky-s-macem</a:t>
            </a:r>
            <a:endParaRPr lang="en-GB" sz="11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en-GB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PARALLELS. </a:t>
            </a:r>
            <a:r>
              <a:rPr lang="en-GB" sz="11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MacOS vs. Windows: A Comparison of Operating Systems</a:t>
            </a:r>
            <a:r>
              <a:rPr lang="en-GB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1 [cit. 2022-11-20]. </a:t>
            </a:r>
            <a:r>
              <a:rPr lang="en-GB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Dostupné</a:t>
            </a:r>
            <a:r>
              <a:rPr lang="en-GB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z: </a:t>
            </a:r>
            <a:r>
              <a:rPr lang="en-GB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9"/>
              </a:rPr>
              <a:t>https://www.parallels.com/tips/mac-os/</a:t>
            </a:r>
            <a:endParaRPr lang="en-GB" sz="11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ZBOZI.CZ. </a:t>
            </a:r>
            <a:r>
              <a:rPr lang="cs-CZ" sz="11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Windows vs. macOS: Který operační systém je pro vás ten pravý?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1 [cit. 2022-11-20]. Dostupné z: </a:t>
            </a:r>
            <a:r>
              <a:rPr lang="cs-CZ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10"/>
              </a:rPr>
              <a:t>https://www.zbozi.cz/magazin/c/windows-vs-macos/</a:t>
            </a:r>
            <a:endParaRPr lang="en-GB" sz="11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4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5B2CD5-AA00-A484-A16F-511F7642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3F8F97-30EC-8DEA-1C97-E66441C4B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IMac (1998-2003). In: </a:t>
            </a:r>
            <a:r>
              <a:rPr lang="cs-CZ" sz="20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Wikipedia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2"/>
              </a:rPr>
              <a:t>https://cs.wikipedia.org/wiki/Macintosh#/media/Soubor:IMac_G3_Bondi_Blue,_three-quarters_view.png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MacOS Apple </a:t>
            </a:r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Operating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Systems, </a:t>
            </a:r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macos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logo, text, logo </a:t>
            </a:r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png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In: </a:t>
            </a:r>
            <a:r>
              <a:rPr lang="cs-CZ" sz="2000" b="0" i="1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Pngegg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3"/>
              </a:rPr>
              <a:t>https://www.pngegg.com/en/png-hpmxu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MacBook-Pro-2021. In: </a:t>
            </a:r>
            <a:r>
              <a:rPr lang="cs-CZ" sz="20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9to5mac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4"/>
              </a:rPr>
              <a:t>https://9to5mac.com/wp-content/uploads/sites/6/2021/10/MacBook-Pro-2021.jpg?resize=1024,512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MacOS_Monterey_screenshot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In: </a:t>
            </a:r>
            <a:r>
              <a:rPr lang="cs-CZ" sz="2000" b="0" i="1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Wikimedia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5"/>
              </a:rPr>
              <a:t>https://upload.wikimedia.org/wikipedia/ru/thumb/1/1a/MacOS_Monterey_screenshot.jpg/274px-MacOS_Monterey_screenshot.jpg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P-web-core-set-up-an-older-printer-in-mac-</a:t>
            </a:r>
            <a:r>
              <a:rPr lang="en-GB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os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-x-</a:t>
            </a:r>
            <a:r>
              <a:rPr lang="en-GB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laserjet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In: </a:t>
            </a:r>
            <a:r>
              <a:rPr lang="en-GB" sz="20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Hp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</a:t>
            </a:r>
            <a:r>
              <a:rPr lang="en-GB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Dostupné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z: 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6"/>
              </a:rPr>
              <a:t>https://kaas.hpcloud.hp.com/PROD/v2/renderbinary/6684695/3496284/p-web-core-set-up-an-older-printer-in-mac-os-x-laserjet/scr-web-core-printer-kind-is-bonjour-macos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Antivirovy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-program-</a:t>
            </a:r>
            <a:r>
              <a:rPr lang="cs-CZ" sz="20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uvod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. In: </a:t>
            </a:r>
            <a:r>
              <a:rPr lang="cs-CZ" sz="20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Alza.cz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7"/>
              </a:rPr>
              <a:t>https://cdn.alza.cz/Foto/or/articles/29257/img/antivirovy-program-uvod.jpg</a:t>
            </a:r>
            <a:endParaRPr lang="en-GB" sz="20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r>
              <a:rPr lang="it-IT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Update. In: </a:t>
            </a:r>
            <a:r>
              <a:rPr lang="it-IT" sz="2000" b="0" i="1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Computerhope</a:t>
            </a:r>
            <a:r>
              <a:rPr lang="it-IT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it-IT" sz="20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8"/>
              </a:rPr>
              <a:t>https://www.computerhope.com/jargon/u/update.png</a:t>
            </a:r>
            <a:endParaRPr lang="en-GB" sz="24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cs-CZ" sz="1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Req_hard-1-1200x878. In: </a:t>
            </a:r>
            <a:r>
              <a:rPr lang="cs-CZ" sz="1800" b="0" i="1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Maticad</a:t>
            </a:r>
            <a:r>
              <a:rPr lang="cs-CZ" sz="1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[online]. [cit. 2022-11-20]. Dostupné z: </a:t>
            </a:r>
            <a:r>
              <a:rPr lang="cs-CZ" sz="18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9"/>
              </a:rPr>
              <a:t>https://www.maticad.com/wp-content/uploads/2020/09/req_hard-1-1200x878.png</a:t>
            </a:r>
            <a:endParaRPr lang="en-GB" sz="1800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67204985"/>
      </p:ext>
    </p:extLst>
  </p:cSld>
  <p:clrMapOvr>
    <a:masterClrMapping/>
  </p:clrMapOvr>
</p:sld>
</file>

<file path=ppt/theme/theme1.xml><?xml version="1.0" encoding="utf-8"?>
<a:theme xmlns:a="http://schemas.openxmlformats.org/drawingml/2006/main" name="Řez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Řez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Řez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837</Words>
  <Application>Microsoft Office PowerPoint</Application>
  <PresentationFormat>Širokoúhlá obrazovka</PresentationFormat>
  <Paragraphs>63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Open Sans</vt:lpstr>
      <vt:lpstr>Wingdings 3</vt:lpstr>
      <vt:lpstr>Řez</vt:lpstr>
      <vt:lpstr>macOS</vt:lpstr>
      <vt:lpstr>Obecné</vt:lpstr>
      <vt:lpstr>Minimální hardwarowé požadavky</vt:lpstr>
      <vt:lpstr>Souborový systém APFS</vt:lpstr>
      <vt:lpstr>Drivery – jak je získává macOS</vt:lpstr>
      <vt:lpstr>Aktualizace macOS</vt:lpstr>
      <vt:lpstr>Antivirus?</vt:lpstr>
      <vt:lpstr>Klady</vt:lpstr>
      <vt:lpstr>Zápory</vt:lpstr>
      <vt:lpstr>Prezentace aplikace PowerPoint</vt:lpstr>
      <vt:lpstr>Popularita ve světě</vt:lpstr>
      <vt:lpstr>Diskuze</vt:lpstr>
      <vt:lpstr>Citace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MacOS</dc:title>
  <dc:creator>Lukáš Levinský</dc:creator>
  <cp:lastModifiedBy>Lukáš LEVINSKÝ</cp:lastModifiedBy>
  <cp:revision>41</cp:revision>
  <dcterms:created xsi:type="dcterms:W3CDTF">2022-11-20T17:58:39Z</dcterms:created>
  <dcterms:modified xsi:type="dcterms:W3CDTF">2022-11-20T22:26:23Z</dcterms:modified>
</cp:coreProperties>
</file>