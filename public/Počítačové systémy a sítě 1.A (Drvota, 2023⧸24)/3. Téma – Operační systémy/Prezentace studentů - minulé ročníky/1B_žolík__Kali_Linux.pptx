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9" r:id="rId5"/>
    <p:sldId id="265" r:id="rId6"/>
    <p:sldId id="258" r:id="rId7"/>
    <p:sldId id="264" r:id="rId8"/>
    <p:sldId id="260" r:id="rId9"/>
    <p:sldId id="261" r:id="rId10"/>
    <p:sldId id="267" r:id="rId11"/>
    <p:sldId id="257" r:id="rId12"/>
    <p:sldId id="266" r:id="rId13"/>
    <p:sldId id="263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A15014-6BFE-8F48-9897-C26E90EE86E9}" v="1" dt="2022-11-20T21:01:58.506"/>
    <p1510:client id="{52770B96-708A-E62E-FB03-A347421B886C}" v="1918" dt="2022-11-20T20:51:58.242"/>
    <p1510:client id="{5EC6BE8D-5C10-A18A-1131-67F053B7A0D6}" v="1" dt="2022-11-19T20:48:54.055"/>
    <p1510:client id="{B7E5E868-5ED7-7C28-C681-CC6D18DF9C37}" v="15" dt="2022-11-20T16:16:08.854"/>
    <p1510:client id="{DBCB7A37-ABE3-4406-BECD-BBDCF6683E70}" v="143" vWet="145" dt="2022-11-20T20:48:24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38" autoAdjust="0"/>
  </p:normalViewPr>
  <p:slideViewPr>
    <p:cSldViewPr snapToGrid="0">
      <p:cViewPr varScale="1">
        <p:scale>
          <a:sx n="66" d="100"/>
          <a:sy n="66" d="100"/>
        </p:scale>
        <p:origin x="58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22E82-CB39-4258-BB5D-FA6E2444C396}" type="datetimeFigureOut">
              <a:t>20.11.2022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0B088-CA1C-4847-95B7-A750D99256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8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>
                <a:ea typeface="Calibri"/>
                <a:cs typeface="Calibri"/>
              </a:rPr>
              <a:t>Nejpoužívanější OS pro kontrolu zabezpečení.</a:t>
            </a:r>
          </a:p>
          <a:p>
            <a:r>
              <a:rPr lang="en-US" dirty="0">
                <a:ea typeface="Calibri"/>
                <a:cs typeface="Calibri"/>
              </a:rPr>
              <a:t>V </a:t>
            </a:r>
            <a:r>
              <a:rPr lang="en-US" dirty="0" err="1">
                <a:ea typeface="Calibri"/>
                <a:cs typeface="Calibri"/>
              </a:rPr>
              <a:t>případě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že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nemá</a:t>
            </a:r>
            <a:r>
              <a:rPr lang="en-US" dirty="0">
                <a:ea typeface="Calibri"/>
                <a:cs typeface="Calibri"/>
              </a:rPr>
              <a:t> monitor </a:t>
            </a:r>
            <a:r>
              <a:rPr lang="en-US" dirty="0" err="1">
                <a:ea typeface="Calibri"/>
                <a:cs typeface="Calibri"/>
              </a:rPr>
              <a:t>jde</a:t>
            </a:r>
            <a:r>
              <a:rPr lang="en-US" dirty="0">
                <a:ea typeface="Calibri"/>
                <a:cs typeface="Calibri"/>
              </a:rPr>
              <a:t> s </a:t>
            </a:r>
            <a:r>
              <a:rPr lang="en-US" dirty="0" err="1">
                <a:ea typeface="Calibri"/>
                <a:cs typeface="Calibri"/>
              </a:rPr>
              <a:t>ní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manipulovat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přes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síť</a:t>
            </a:r>
            <a:endParaRPr lang="cs-CZ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0B088-CA1C-4847-95B7-A750D9925695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03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Apt - </a:t>
            </a:r>
            <a:r>
              <a:rPr lang="en-US" u="sng"/>
              <a:t>Advanced Package Tool - </a:t>
            </a:r>
            <a:r>
              <a:rPr lang="en-US" u="sng" err="1"/>
              <a:t>vychází</a:t>
            </a:r>
            <a:r>
              <a:rPr lang="en-US" u="sng"/>
              <a:t> z </a:t>
            </a:r>
            <a:r>
              <a:rPr lang="en-US" u="sng" err="1"/>
              <a:t>distribuce</a:t>
            </a:r>
            <a:r>
              <a:rPr lang="en-US" u="sng"/>
              <a:t> DEBIAN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0B088-CA1C-4847-95B7-A750D9925695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9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Apt - </a:t>
            </a:r>
            <a:r>
              <a:rPr lang="en-US" u="sng"/>
              <a:t>Advanced Package Tool - </a:t>
            </a:r>
            <a:r>
              <a:rPr lang="en-US" u="sng" err="1"/>
              <a:t>vychází</a:t>
            </a:r>
            <a:r>
              <a:rPr lang="en-US" u="sng"/>
              <a:t> z </a:t>
            </a:r>
            <a:r>
              <a:rPr lang="en-US" u="sng" err="1"/>
              <a:t>distribuce</a:t>
            </a:r>
            <a:r>
              <a:rPr lang="en-US" u="sng"/>
              <a:t> DEBIAN</a:t>
            </a:r>
          </a:p>
          <a:p>
            <a:endParaRPr lang="en-US" u="sng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0B088-CA1C-4847-95B7-A750D9925695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65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Metapackages – </a:t>
            </a:r>
            <a:r>
              <a:rPr lang="en-US" err="1">
                <a:ea typeface="Calibri"/>
                <a:cs typeface="Calibri"/>
              </a:rPr>
              <a:t>instalace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několika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balíčků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týkající</a:t>
            </a:r>
            <a:r>
              <a:rPr lang="en-US">
                <a:ea typeface="Calibri"/>
                <a:cs typeface="Calibri"/>
              </a:rPr>
              <a:t> se </a:t>
            </a:r>
            <a:r>
              <a:rPr lang="en-US" err="1">
                <a:ea typeface="Calibri"/>
                <a:cs typeface="Calibri"/>
              </a:rPr>
              <a:t>jedné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zájmové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oblasti</a:t>
            </a:r>
          </a:p>
          <a:p>
            <a:r>
              <a:rPr lang="en-US">
                <a:ea typeface="Calibri"/>
                <a:cs typeface="Calibri"/>
              </a:rPr>
              <a:t>                           - 802.11 - WIFI, windows-resources – </a:t>
            </a:r>
            <a:r>
              <a:rPr lang="en-US" err="1">
                <a:ea typeface="Calibri"/>
                <a:cs typeface="Calibri"/>
              </a:rPr>
              <a:t>zdroje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které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lze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spustit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na</a:t>
            </a:r>
            <a:r>
              <a:rPr lang="en-US">
                <a:ea typeface="Calibri"/>
                <a:cs typeface="Calibri"/>
              </a:rPr>
              <a:t> Windows </a:t>
            </a:r>
            <a:r>
              <a:rPr lang="en-US" err="1">
                <a:ea typeface="Calibri"/>
                <a:cs typeface="Calibri"/>
              </a:rPr>
              <a:t>počítačích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0B088-CA1C-4847-95B7-A750D9925695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47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Zero Day Attack - </a:t>
            </a:r>
            <a:r>
              <a:rPr lang="en-US" err="1">
                <a:ea typeface="Calibri"/>
                <a:cs typeface="Calibri"/>
              </a:rPr>
              <a:t>Nález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chyby</a:t>
            </a:r>
            <a:r>
              <a:rPr lang="en-US">
                <a:ea typeface="Calibri"/>
                <a:cs typeface="Calibri"/>
              </a:rPr>
              <a:t> bez </a:t>
            </a:r>
            <a:r>
              <a:rPr lang="en-US" err="1">
                <a:ea typeface="Calibri"/>
                <a:cs typeface="Calibri"/>
              </a:rPr>
              <a:t>dostupné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opravy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0B088-CA1C-4847-95B7-A750D9925695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28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Linux rozlišuje velikost písmen.</a:t>
            </a:r>
          </a:p>
          <a:p>
            <a:r>
              <a:rPr lang="cs-CZ" dirty="0"/>
              <a:t>Windows ne, takže při vytvoření souboru třeba sus.txt &amp; Sus.txt tak se zeptá jestli ho chceš přepsat.</a:t>
            </a: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0B088-CA1C-4847-95B7-A750D9925695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8979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***** OTÁZKY *****</a:t>
            </a:r>
          </a:p>
          <a:p>
            <a:r>
              <a:rPr lang="en-US" dirty="0">
                <a:cs typeface="Calibri"/>
              </a:rPr>
              <a:t>1. </a:t>
            </a:r>
            <a:r>
              <a:rPr lang="en-US" dirty="0" err="1">
                <a:cs typeface="Calibri"/>
              </a:rPr>
              <a:t>Myslíte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si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že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váš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počítač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dobře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zabezpečen</a:t>
            </a:r>
            <a:r>
              <a:rPr lang="en-US" dirty="0">
                <a:cs typeface="Calibri"/>
              </a:rPr>
              <a:t>?</a:t>
            </a:r>
          </a:p>
          <a:p>
            <a:r>
              <a:rPr lang="en-US" dirty="0">
                <a:cs typeface="Calibri"/>
              </a:rPr>
              <a:t>2. </a:t>
            </a:r>
            <a:r>
              <a:rPr lang="en-US" dirty="0" err="1">
                <a:cs typeface="Calibri"/>
              </a:rPr>
              <a:t>Máte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dostatečně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silné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heslo</a:t>
            </a:r>
            <a:r>
              <a:rPr lang="en-US" dirty="0">
                <a:cs typeface="Calibri"/>
              </a:rPr>
              <a:t>?</a:t>
            </a:r>
          </a:p>
          <a:p>
            <a:r>
              <a:rPr lang="en-US" dirty="0">
                <a:cs typeface="Calibri"/>
              </a:rPr>
              <a:t>3. </a:t>
            </a:r>
            <a:r>
              <a:rPr lang="en-US" dirty="0" err="1">
                <a:cs typeface="Calibri"/>
              </a:rPr>
              <a:t>Víte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jakou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máte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verzi</a:t>
            </a:r>
            <a:r>
              <a:rPr lang="en-US" dirty="0">
                <a:cs typeface="Calibri"/>
              </a:rPr>
              <a:t> OS </a:t>
            </a:r>
            <a:r>
              <a:rPr lang="en-US" dirty="0" err="1">
                <a:cs typeface="Calibri"/>
              </a:rPr>
              <a:t>na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telefonu</a:t>
            </a:r>
            <a:r>
              <a:rPr lang="en-US" dirty="0">
                <a:cs typeface="Calibri"/>
              </a:rPr>
              <a:t>? </a:t>
            </a:r>
            <a:r>
              <a:rPr lang="en-US" dirty="0" err="1">
                <a:cs typeface="Calibri"/>
              </a:rPr>
              <a:t>Protože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může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mít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bezpečnostní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chyby</a:t>
            </a:r>
            <a:r>
              <a:rPr lang="en-US" dirty="0">
                <a:cs typeface="Calibri"/>
              </a:rPr>
              <a:t>.</a:t>
            </a:r>
          </a:p>
          <a:p>
            <a:r>
              <a:rPr lang="en-US" dirty="0">
                <a:cs typeface="Calibri"/>
              </a:rPr>
              <a:t>------KONTROLNÍ OTÁZKY-------</a:t>
            </a:r>
          </a:p>
          <a:p>
            <a:r>
              <a:rPr lang="en-US" dirty="0">
                <a:cs typeface="Calibri"/>
              </a:rPr>
              <a:t>1. Co je </a:t>
            </a:r>
            <a:r>
              <a:rPr lang="en-US" dirty="0" err="1">
                <a:cs typeface="Calibri"/>
              </a:rPr>
              <a:t>penetrační</a:t>
            </a:r>
            <a:r>
              <a:rPr lang="en-US" dirty="0">
                <a:cs typeface="Calibri"/>
              </a:rPr>
              <a:t> test?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0B088-CA1C-4847-95B7-A750D9925695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0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5A0762-7847-F6E8-2F02-A559E4BD7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7429235-1FBF-7647-F563-9C670679D5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A840810-77AC-55BF-C2AE-5FEEB716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350264A-3182-E391-EA06-7C006417A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6725374-6CE1-CB87-999F-EACA8C37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2193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DA76A0-8059-89F4-AC9C-F2C83C6FE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B845F7C-D179-3595-260B-3D8E3B303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79841C-DA0E-1AB9-DBD7-7E4B23D18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67EC1F-C79F-B6B2-9680-1E905D23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F65085D-16C0-382B-15FB-BFBD7D9D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31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7D16133-6877-9FA1-13B7-1E70E8CC5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A3377B3-58B9-7AA0-C96E-ED2B05FEF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D2B0A5A-30E0-7F93-C2BB-C40C3942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7BD5D51-E9DF-BAC1-CAAC-F7160FB93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BBA736-8BFA-6AE8-E94E-814992065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4799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94D736-9C54-5301-5BD9-8665FCF58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8B2664-261A-ACE5-A791-E8A8B3D6A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64399C0-572F-7572-0A17-C6703669A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4292096-1B7A-F06A-8200-A831ACCF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62C058C-02EF-F84D-03ED-80E483EFC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5962EE4-D99A-FEFD-3E10-826583848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70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C0809-AED5-0867-A345-CE3C435D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43941D2-EA02-C5A5-580D-14182E848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A38951C-D375-3F50-1C80-0B78759F4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76EC437-BCED-9917-71E8-4F6D19826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A52A5F44-10B9-03CE-7F7E-8C1375033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1DA4E28-5511-8112-5588-EE5AC232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46DB9CB-4453-2EBA-7DB0-8A3E3820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5FF6848-25DE-8AF5-F1EB-BA3F3640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0859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E86AB2-C2F2-75EC-AB76-CF643227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B7E8E9C-7E4E-BD1D-DFDD-78A5308F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1DECFE7-2944-EDE5-D44D-AD02097B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4EBB022-C68D-16B3-B000-BE72DAED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4257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752F54E-A587-09C7-ECBA-3E1CF30D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84C19A6-6CD3-B290-2AB0-5147AE81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F98E86E-D109-2A3B-5C60-39B2E66E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222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54C191-2C36-E38C-CC8C-FE65179B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371ADC-579D-1DB3-155C-6CB0D1BBD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A6B3345-1056-3479-A395-007FAA88B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0C7C2FB-A956-E676-6017-7133A22D9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39D77DF-B6E6-D712-3D97-B43FDFCAA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329900F-7AA4-B17D-F16D-E2EDF3F8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120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DEE4D5-93DB-FFA6-96C0-4BA65BA75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B40A508-0BC0-44C2-9711-71A3F03614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93A8E0D-E7EE-EC2F-B2E7-BB18B2AA10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FD9AA8D-835B-BF59-E364-A948C5D13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02F5FFC-88B7-EF3C-4B11-6D61FBEC1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6061D84-D90D-A24B-5D2E-25A4EAB46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717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A0381C-DDA3-50A7-7CB8-2A58A369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C531926-F330-3871-0342-FFDF40497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3074F5-3B52-112C-B400-E9D77867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3816C61-81EB-02BA-1CE0-B5F043C3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C0ABC6E-C76B-09AA-C609-8C4BC321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230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6DE1074-171E-BB01-1772-8A6370EB6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8213444-AAF2-7F5C-32E2-812C49FA0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A45E1EF-0CAA-454E-DA85-BC653A88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547E639-7187-7A9D-7F1A-9B0AED790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EA8C975-1C79-D2E7-6F0C-A18DB0B5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912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0EA200A2-38DC-722B-4777-D164693C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3500AA8-4C43-A723-3E82-4FCDA98B7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8737C2-24E1-9E14-1560-644D1C5DA5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C43C5-35CA-4B2F-A1D9-05C8595E68C8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995E956-B7DF-A5FF-C457-EC7C0816C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B8AE36-E2AB-F134-22B4-FCEBC989E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7CD56-FC4C-46CC-8E8F-18F4F53A34E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088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i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i.org/" TargetMode="External"/><Relationship Id="rId7" Type="http://schemas.openxmlformats.org/officeDocument/2006/relationships/hyperlink" Target="https://im9.cz/iR/importprodukt-orig/0d3/0d3fefd19fb8508f0aa634bf76db3806--mmf400x400.jpg" TargetMode="External"/><Relationship Id="rId2" Type="http://schemas.openxmlformats.org/officeDocument/2006/relationships/hyperlink" Target="https://www.raspberrypi.com/products/raspberry-pi-4-model-b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leepstatic.com/content/hl-images/2021/06/02/kali-linux-header.jpg" TargetMode="External"/><Relationship Id="rId5" Type="http://schemas.openxmlformats.org/officeDocument/2006/relationships/hyperlink" Target="https://wallpapercave.com/wp/wp2601077.png" TargetMode="External"/><Relationship Id="rId4" Type="http://schemas.openxmlformats.org/officeDocument/2006/relationships/hyperlink" Target="https://wiki.debia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>
            <a:extLst>
              <a:ext uri="{FF2B5EF4-FFF2-40B4-BE49-F238E27FC236}">
                <a16:creationId xmlns:a16="http://schemas.microsoft.com/office/drawing/2014/main" id="{8AA7770E-FFB2-5D74-49C8-ECC183F95A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9676" y="4854375"/>
            <a:ext cx="3056428" cy="14551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cs-CZ">
                <a:solidFill>
                  <a:srgbClr val="FFFFFF"/>
                </a:solidFill>
                <a:ea typeface="+mn-lt"/>
                <a:cs typeface="+mn-lt"/>
              </a:rPr>
              <a:t>Michal Stránský</a:t>
            </a:r>
            <a:endParaRPr lang="cs-CZ">
              <a:solidFill>
                <a:srgbClr val="FFFFFF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cs-CZ">
                <a:solidFill>
                  <a:srgbClr val="FFFFFF"/>
                </a:solidFill>
              </a:rPr>
              <a:t>Štěpán Hemerka</a:t>
            </a:r>
            <a:endParaRPr lang="cs-CZ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cs-CZ">
                <a:solidFill>
                  <a:srgbClr val="FFFFFF"/>
                </a:solidFill>
              </a:rPr>
              <a:t>Matyáš Dolák</a:t>
            </a:r>
            <a:endParaRPr lang="cs-CZ">
              <a:solidFill>
                <a:srgbClr val="FFFFFF"/>
              </a:solidFill>
              <a:ea typeface="Calibri"/>
              <a:cs typeface="Calibri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cs-CZ">
              <a:solidFill>
                <a:srgbClr val="FFFFFF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>
              <a:solidFill>
                <a:srgbClr val="FFFFF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71854C-3665-367D-1844-2C6688BC1A4B}"/>
              </a:ext>
            </a:extLst>
          </p:cNvPr>
          <p:cNvSpPr txBox="1"/>
          <p:nvPr/>
        </p:nvSpPr>
        <p:spPr>
          <a:xfrm>
            <a:off x="148166" y="6371166"/>
            <a:ext cx="35464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DELTA SŠIE 1.B 2022/23 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57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D4862-777D-F1B7-6038-018AD7A5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365125"/>
            <a:ext cx="10261600" cy="1346729"/>
          </a:xfrm>
        </p:spPr>
        <p:txBody>
          <a:bodyPr>
            <a:normAutofit/>
          </a:bodyPr>
          <a:lstStyle/>
          <a:p>
            <a:r>
              <a:rPr lang="en-US" sz="5300" err="1">
                <a:solidFill>
                  <a:schemeClr val="bg1"/>
                </a:solidFill>
                <a:latin typeface="Calibri "/>
                <a:ea typeface="Calibri Light"/>
                <a:cs typeface="Calibri Light"/>
              </a:rPr>
              <a:t>Instalace</a:t>
            </a:r>
            <a:endParaRPr lang="en-US" sz="5300" err="1">
              <a:solidFill>
                <a:schemeClr val="bg1"/>
              </a:solidFill>
              <a:latin typeface="Calibri 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52F3D-74A5-89A2-E440-B1F760045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Zdrojem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instalačního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souboru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je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obvykle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stránka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 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://www.kali.org/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Výběr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a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stažení</a:t>
            </a:r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 souboru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 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odpovídající</a:t>
            </a:r>
            <a:endParaRPr lang="cs-CZ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použitému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HW</a:t>
            </a:r>
          </a:p>
          <a:p>
            <a:pPr lvl="1"/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ARM</a:t>
            </a:r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/x86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lvl="1"/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IMAGES(.iso)</a:t>
            </a:r>
            <a:r>
              <a:rPr lang="cs-CZ" dirty="0">
                <a:solidFill>
                  <a:schemeClr val="bg1"/>
                </a:solidFill>
                <a:ea typeface="Calibri"/>
                <a:cs typeface="Calibri"/>
              </a:rPr>
              <a:t>/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Live Boot</a:t>
            </a:r>
          </a:p>
          <a:p>
            <a:pPr lvl="1"/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VM</a:t>
            </a:r>
          </a:p>
          <a:p>
            <a:pPr lvl="1"/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Docker</a:t>
            </a:r>
          </a:p>
          <a:p>
            <a:pPr lvl="1"/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Lze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použít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instalačního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průvodce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, ale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není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user friendly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jako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např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. Win</a:t>
            </a:r>
          </a:p>
          <a:p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Ale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případně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s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ní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jde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pracovat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 bez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monitoru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4569767-428D-136A-8CFF-E2DA73B3F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733" y="1560929"/>
            <a:ext cx="4246033" cy="3196392"/>
          </a:xfrm>
          <a:prstGeom prst="rect">
            <a:avLst/>
          </a:prstGeom>
        </p:spPr>
      </p:pic>
      <p:pic>
        <p:nvPicPr>
          <p:cNvPr id="6" name="Picture 9" descr="Logo&#10;&#10;Description automatically generated">
            <a:extLst>
              <a:ext uri="{FF2B5EF4-FFF2-40B4-BE49-F238E27FC236}">
                <a16:creationId xmlns:a16="http://schemas.microsoft.com/office/drawing/2014/main" id="{F5C79282-2765-1DC6-4897-590BBFCC0D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96" y="674925"/>
            <a:ext cx="1106312" cy="7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502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31B239-0F91-BD8D-770F-3A46FD8A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65125"/>
            <a:ext cx="10325100" cy="1346729"/>
          </a:xfrm>
        </p:spPr>
        <p:txBody>
          <a:bodyPr>
            <a:normAutofit/>
          </a:bodyPr>
          <a:lstStyle/>
          <a:p>
            <a:r>
              <a:rPr lang="cs-CZ" sz="5400">
                <a:solidFill>
                  <a:schemeClr val="bg1"/>
                </a:solidFill>
                <a:latin typeface="Calibri "/>
                <a:ea typeface="+mj-lt"/>
                <a:cs typeface="+mj-lt"/>
              </a:rPr>
              <a:t>Aktualizace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50726-93E4-5A56-B5A8-84AC8E10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cs-CZ">
              <a:solidFill>
                <a:schemeClr val="bg1"/>
              </a:solidFill>
              <a:ea typeface="Calibri"/>
              <a:cs typeface="Calibri"/>
            </a:endParaRPr>
          </a:p>
          <a:p>
            <a:endParaRPr lang="cs-CZ">
              <a:solidFill>
                <a:schemeClr val="bg1"/>
              </a:solidFill>
              <a:ea typeface="+mn-lt"/>
              <a:cs typeface="+mn-lt"/>
            </a:endParaRPr>
          </a:p>
          <a:p>
            <a:endParaRPr lang="cs-CZ">
              <a:solidFill>
                <a:schemeClr val="bg1"/>
              </a:solidFill>
              <a:ea typeface="+mn-lt"/>
              <a:cs typeface="+mn-lt"/>
            </a:endParaRPr>
          </a:p>
          <a:p>
            <a:endParaRPr lang="cs-CZ">
              <a:solidFill>
                <a:schemeClr val="bg1"/>
              </a:solidFill>
              <a:ea typeface="+mn-lt"/>
              <a:cs typeface="+mn-lt"/>
            </a:endParaRPr>
          </a:p>
          <a:p>
            <a:endParaRPr lang="cs-CZ" b="0" i="0">
              <a:solidFill>
                <a:schemeClr val="bg1"/>
              </a:solidFill>
              <a:effectLst/>
              <a:latin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cs-CZ">
              <a:solidFill>
                <a:schemeClr val="bg1"/>
              </a:solidFill>
              <a:latin typeface="inherit"/>
            </a:endParaRPr>
          </a:p>
          <a:p>
            <a:pPr marL="0" indent="0">
              <a:buNone/>
            </a:pPr>
            <a:endParaRPr lang="cs-CZ">
              <a:solidFill>
                <a:schemeClr val="bg1"/>
              </a:solidFill>
              <a:cs typeface="Calibri" panose="020F0502020204030204"/>
            </a:endParaRPr>
          </a:p>
          <a:p>
            <a:endParaRPr lang="cs-CZ">
              <a:solidFill>
                <a:schemeClr val="bg1"/>
              </a:solidFill>
              <a:cs typeface="Calibri" panose="020F0502020204030204"/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29E6176A-21EB-EA10-2C9D-EF7639756A81}"/>
              </a:ext>
            </a:extLst>
          </p:cNvPr>
          <p:cNvSpPr txBox="1"/>
          <p:nvPr/>
        </p:nvSpPr>
        <p:spPr>
          <a:xfrm>
            <a:off x="842540" y="1656292"/>
            <a:ext cx="9955524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cs-CZ" sz="2800">
                <a:solidFill>
                  <a:schemeClr val="bg1"/>
                </a:solidFill>
                <a:ea typeface="+mn-lt"/>
                <a:cs typeface="+mn-lt"/>
              </a:rPr>
              <a:t>Aktualizace se nespouští ani nepřipomíná automaticky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endParaRPr lang="cs-CZ" sz="28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cs-CZ" sz="2800" u="sng">
                <a:solidFill>
                  <a:schemeClr val="bg1"/>
                </a:solidFill>
                <a:ea typeface="+mn-lt"/>
                <a:cs typeface="+mn-lt"/>
              </a:rPr>
              <a:t>Příkaz - „</a:t>
            </a:r>
            <a:r>
              <a:rPr lang="cs-CZ" sz="2800" u="sng" err="1">
                <a:solidFill>
                  <a:schemeClr val="bg1"/>
                </a:solidFill>
                <a:ea typeface="+mn-lt"/>
                <a:cs typeface="+mn-lt"/>
              </a:rPr>
              <a:t>apt</a:t>
            </a:r>
            <a:r>
              <a:rPr lang="cs-CZ" sz="2800" u="sng">
                <a:solidFill>
                  <a:schemeClr val="bg1"/>
                </a:solidFill>
                <a:ea typeface="+mn-lt"/>
                <a:cs typeface="+mn-lt"/>
              </a:rPr>
              <a:t> upgrade“</a:t>
            </a:r>
            <a:endParaRPr lang="cs-CZ" sz="28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800">
                <a:solidFill>
                  <a:schemeClr val="bg1"/>
                </a:solidFill>
                <a:ea typeface="+mn-lt"/>
                <a:cs typeface="+mn-lt"/>
              </a:rPr>
              <a:t>     - bezpečnostní záplaty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800">
                <a:solidFill>
                  <a:schemeClr val="bg1"/>
                </a:solidFill>
                <a:ea typeface="+mn-lt"/>
                <a:cs typeface="+mn-lt"/>
              </a:rPr>
              <a:t>     - opravy chyb</a:t>
            </a:r>
          </a:p>
          <a:p>
            <a:pPr marL="457200" indent="-457200">
              <a:buFont typeface="Arial,Sans-Serif" panose="020B0604020202020204" pitchFamily="34" charset="0"/>
              <a:buChar char="•"/>
            </a:pPr>
            <a:r>
              <a:rPr lang="cs-CZ" sz="2800" u="sng">
                <a:solidFill>
                  <a:schemeClr val="bg1"/>
                </a:solidFill>
                <a:ea typeface="+mn-lt"/>
                <a:cs typeface="+mn-lt"/>
              </a:rPr>
              <a:t>Příkaz – „</a:t>
            </a:r>
            <a:r>
              <a:rPr lang="cs-CZ" sz="2800" u="sng" err="1">
                <a:solidFill>
                  <a:schemeClr val="bg1"/>
                </a:solidFill>
                <a:ea typeface="+mn-lt"/>
                <a:cs typeface="+mn-lt"/>
              </a:rPr>
              <a:t>apt</a:t>
            </a:r>
            <a:r>
              <a:rPr lang="cs-CZ" sz="2800" u="sng">
                <a:solidFill>
                  <a:schemeClr val="bg1"/>
                </a:solidFill>
                <a:ea typeface="+mn-lt"/>
                <a:cs typeface="+mn-lt"/>
              </a:rPr>
              <a:t>-</a:t>
            </a:r>
            <a:r>
              <a:rPr lang="cs-CZ" sz="2800" u="sng" err="1">
                <a:solidFill>
                  <a:schemeClr val="bg1"/>
                </a:solidFill>
                <a:ea typeface="+mn-lt"/>
                <a:cs typeface="+mn-lt"/>
              </a:rPr>
              <a:t>dist</a:t>
            </a:r>
            <a:r>
              <a:rPr lang="cs-CZ" sz="2800" u="sng">
                <a:solidFill>
                  <a:schemeClr val="bg1"/>
                </a:solidFill>
                <a:ea typeface="+mn-lt"/>
                <a:cs typeface="+mn-lt"/>
              </a:rPr>
              <a:t>-upgrade“</a:t>
            </a:r>
            <a:endParaRPr lang="cs-CZ" sz="280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800">
                <a:solidFill>
                  <a:schemeClr val="bg1"/>
                </a:solidFill>
                <a:ea typeface="+mn-lt"/>
                <a:cs typeface="+mn-lt"/>
              </a:rPr>
              <a:t>     - Nejnovější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sz="2800" b="1" u="sng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D0B8076C-F045-1088-2FB3-109E8B0FC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399" y="484763"/>
            <a:ext cx="824089" cy="1100103"/>
          </a:xfrm>
          <a:prstGeom prst="rect">
            <a:avLst/>
          </a:prstGeom>
        </p:spPr>
      </p:pic>
      <p:pic>
        <p:nvPicPr>
          <p:cNvPr id="8" name="Picture 9" descr="Logo&#10;&#10;Description automatically generated">
            <a:extLst>
              <a:ext uri="{FF2B5EF4-FFF2-40B4-BE49-F238E27FC236}">
                <a16:creationId xmlns:a16="http://schemas.microsoft.com/office/drawing/2014/main" id="{936FC60F-3422-B2C2-6231-3551C85E2B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96" y="674925"/>
            <a:ext cx="1106312" cy="719780"/>
          </a:xfrm>
          <a:prstGeom prst="rect">
            <a:avLst/>
          </a:prstGeom>
        </p:spPr>
      </p:pic>
      <p:pic>
        <p:nvPicPr>
          <p:cNvPr id="10" name="Picture 10" descr="Text&#10;&#10;Description automatically generated">
            <a:extLst>
              <a:ext uri="{FF2B5EF4-FFF2-40B4-BE49-F238E27FC236}">
                <a16:creationId xmlns:a16="http://schemas.microsoft.com/office/drawing/2014/main" id="{57D84B83-BF93-8014-92DA-EC5276029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426" y="2662989"/>
            <a:ext cx="6011779" cy="312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2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270709-8462-0ED4-BE1F-8CA765EE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247"/>
            <a:ext cx="2324878" cy="1325563"/>
          </a:xfrm>
        </p:spPr>
        <p:txBody>
          <a:bodyPr>
            <a:normAutofit/>
          </a:bodyPr>
          <a:lstStyle/>
          <a:p>
            <a:r>
              <a:rPr lang="cs-CZ" sz="5400">
                <a:solidFill>
                  <a:schemeClr val="bg1"/>
                </a:solidFill>
                <a:latin typeface="Calibri "/>
                <a:ea typeface="+mj-lt"/>
                <a:cs typeface="+mj-lt"/>
              </a:rPr>
              <a:t>Drivery</a:t>
            </a:r>
            <a:endParaRPr lang="en-US">
              <a:solidFill>
                <a:schemeClr val="bg1"/>
              </a:solidFill>
              <a:latin typeface="Calibri "/>
              <a:ea typeface="+mj-lt"/>
              <a:cs typeface="+mj-l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BA1D16-5B44-D366-29DB-CE0FEE131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4113" cy="21357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chemeClr val="bg1"/>
                </a:solidFill>
                <a:ea typeface="+mn-lt"/>
                <a:cs typeface="+mn-lt"/>
              </a:rPr>
              <a:t>Základní se nainstalují s OS</a:t>
            </a:r>
          </a:p>
          <a:p>
            <a:r>
              <a:rPr lang="cs-CZ">
                <a:solidFill>
                  <a:schemeClr val="bg1"/>
                </a:solidFill>
                <a:ea typeface="Calibri"/>
                <a:cs typeface="Calibri"/>
              </a:rPr>
              <a:t>Vychází z distribuce DEBIAN, takže může používat balíčky driverů pro něj určené</a:t>
            </a:r>
          </a:p>
          <a:p>
            <a:endParaRPr lang="cs-CZ">
              <a:solidFill>
                <a:schemeClr val="bg1"/>
              </a:solidFill>
              <a:ea typeface="Calibri"/>
              <a:cs typeface="Calibri"/>
            </a:endParaRPr>
          </a:p>
          <a:p>
            <a:endParaRPr lang="cs-CZ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Font typeface="Arial"/>
            </a:pPr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5CB478-796F-9C2F-BF92-A9D60C0AC580}"/>
              </a:ext>
            </a:extLst>
          </p:cNvPr>
          <p:cNvSpPr txBox="1"/>
          <p:nvPr/>
        </p:nvSpPr>
        <p:spPr>
          <a:xfrm>
            <a:off x="6507717" y="451728"/>
            <a:ext cx="38750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400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Bezpečnost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6D7A6-4F46-2B70-AACD-BFC27D6D4EC2}"/>
              </a:ext>
            </a:extLst>
          </p:cNvPr>
          <p:cNvSpPr txBox="1"/>
          <p:nvPr/>
        </p:nvSpPr>
        <p:spPr>
          <a:xfrm>
            <a:off x="6569927" y="1440365"/>
            <a:ext cx="4906536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Neobsahuje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žádné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 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předem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instalované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Antiviry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, VPN</a:t>
            </a: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VPN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si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lze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nainstalovat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příkazem</a:t>
            </a:r>
          </a:p>
          <a:p>
            <a:pPr marL="285750" indent="-28575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apt install </a:t>
            </a:r>
            <a:r>
              <a:rPr lang="en-US" sz="28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název</a:t>
            </a:r>
            <a:r>
              <a:rPr lang="en-U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VPN</a:t>
            </a:r>
          </a:p>
          <a:p>
            <a:pPr marL="285750" indent="-285750">
              <a:buFont typeface="Arial"/>
              <a:buChar char="•"/>
            </a:pP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Jako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 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každý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Linux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obsahuje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</a:t>
            </a: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základní</a:t>
            </a:r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 Firewall</a:t>
            </a:r>
          </a:p>
          <a:p>
            <a:pPr marL="285750" indent="-285750">
              <a:buFont typeface="Arial"/>
              <a:buChar char="•"/>
            </a:pPr>
            <a:endParaRPr lang="en-US" sz="28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Picture 6" descr="Shape, circle&#10;&#10;Description automatically generated">
            <a:extLst>
              <a:ext uri="{FF2B5EF4-FFF2-40B4-BE49-F238E27FC236}">
                <a16:creationId xmlns:a16="http://schemas.microsoft.com/office/drawing/2014/main" id="{A6B1093D-B35F-2371-AFF8-D497BFAD2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918" y="362467"/>
            <a:ext cx="965201" cy="1278844"/>
          </a:xfrm>
          <a:prstGeom prst="rect">
            <a:avLst/>
          </a:prstGeom>
        </p:spPr>
      </p:pic>
      <p:pic>
        <p:nvPicPr>
          <p:cNvPr id="8" name="Picture 9" descr="Logo&#10;&#10;Description automatically generated">
            <a:extLst>
              <a:ext uri="{FF2B5EF4-FFF2-40B4-BE49-F238E27FC236}">
                <a16:creationId xmlns:a16="http://schemas.microsoft.com/office/drawing/2014/main" id="{B0FF0F02-7E87-C8D6-46D2-699C21084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96" y="643175"/>
            <a:ext cx="1106312" cy="719780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E61BA6CB-B8EF-16F9-5D72-D21B31F46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587" y="516175"/>
            <a:ext cx="1106312" cy="7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68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7456B1-F7D1-153A-253B-17343056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302" y="365125"/>
            <a:ext cx="10925204" cy="1356084"/>
          </a:xfrm>
        </p:spPr>
        <p:txBody>
          <a:bodyPr>
            <a:noAutofit/>
          </a:bodyPr>
          <a:lstStyle/>
          <a:p>
            <a:r>
              <a:rPr lang="cs-CZ" sz="5400">
                <a:solidFill>
                  <a:schemeClr val="bg1"/>
                </a:solidFill>
                <a:latin typeface="+mn-lt"/>
              </a:rPr>
              <a:t>Čím je distribuce </a:t>
            </a:r>
            <a:r>
              <a:rPr lang="cs-CZ" sz="5400" err="1">
                <a:solidFill>
                  <a:schemeClr val="bg1"/>
                </a:solidFill>
                <a:latin typeface="+mn-lt"/>
              </a:rPr>
              <a:t>Kali</a:t>
            </a:r>
            <a:r>
              <a:rPr lang="cs-CZ" sz="5400">
                <a:solidFill>
                  <a:schemeClr val="bg1"/>
                </a:solidFill>
                <a:latin typeface="+mn-lt"/>
              </a:rPr>
              <a:t> Linux výjimečná?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7303AE-E76F-F57C-D27B-9732C395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3200">
                <a:solidFill>
                  <a:schemeClr val="bg1"/>
                </a:solidFill>
                <a:ea typeface="Calibri"/>
                <a:cs typeface="Calibri"/>
              </a:rPr>
              <a:t>Programové vybavení</a:t>
            </a:r>
          </a:p>
          <a:p>
            <a:pPr lvl="1"/>
            <a:r>
              <a:rPr lang="cs-CZ" sz="2800">
                <a:solidFill>
                  <a:schemeClr val="bg1"/>
                </a:solidFill>
                <a:ea typeface="Calibri"/>
                <a:cs typeface="Calibri"/>
              </a:rPr>
              <a:t>Obsahuje nástroje zaměřené na zjištění bezpečnostních chyb a nebo nedostatků</a:t>
            </a:r>
          </a:p>
          <a:p>
            <a:pPr lvl="1"/>
            <a:r>
              <a:rPr lang="cs-CZ" sz="2800" err="1">
                <a:solidFill>
                  <a:schemeClr val="bg1"/>
                </a:solidFill>
                <a:ea typeface="Calibri"/>
                <a:cs typeface="Calibri"/>
              </a:rPr>
              <a:t>Kali</a:t>
            </a:r>
            <a:r>
              <a:rPr lang="cs-CZ" sz="2800">
                <a:solidFill>
                  <a:schemeClr val="bg1"/>
                </a:solidFill>
                <a:ea typeface="Calibri"/>
                <a:cs typeface="Calibri"/>
              </a:rPr>
              <a:t> Linux </a:t>
            </a:r>
            <a:r>
              <a:rPr lang="cs-CZ" sz="2800" err="1">
                <a:solidFill>
                  <a:schemeClr val="bg1"/>
                </a:solidFill>
                <a:ea typeface="Calibri"/>
                <a:cs typeface="Calibri"/>
              </a:rPr>
              <a:t>Metapackages</a:t>
            </a:r>
          </a:p>
          <a:p>
            <a:pPr lvl="1"/>
            <a:endParaRPr lang="cs-CZ" sz="28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cs-CZ" sz="3200">
                <a:solidFill>
                  <a:schemeClr val="bg1"/>
                </a:solidFill>
                <a:ea typeface="Calibri"/>
                <a:cs typeface="Calibri"/>
              </a:rPr>
              <a:t>Některé z nástrojů nemají UI neboli uživatelské rozhraní</a:t>
            </a:r>
          </a:p>
          <a:p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5" name="Picture 9" descr="Logo&#10;&#10;Description automatically generated">
            <a:extLst>
              <a:ext uri="{FF2B5EF4-FFF2-40B4-BE49-F238E27FC236}">
                <a16:creationId xmlns:a16="http://schemas.microsoft.com/office/drawing/2014/main" id="{147C9C3C-DB7F-A8AA-2D2F-603199DF8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52" y="643175"/>
            <a:ext cx="1106312" cy="7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643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7456B1-F7D1-153A-253B-17343056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22649" cy="1346439"/>
          </a:xfrm>
        </p:spPr>
        <p:txBody>
          <a:bodyPr>
            <a:noAutofit/>
          </a:bodyPr>
          <a:lstStyle/>
          <a:p>
            <a:r>
              <a:rPr lang="cs-CZ" sz="5400">
                <a:solidFill>
                  <a:schemeClr val="bg1"/>
                </a:solidFill>
                <a:latin typeface="+mn-lt"/>
              </a:rPr>
              <a:t>Jak lze </a:t>
            </a:r>
            <a:r>
              <a:rPr lang="cs-CZ" sz="5400" err="1">
                <a:solidFill>
                  <a:schemeClr val="bg1"/>
                </a:solidFill>
                <a:latin typeface="+mn-lt"/>
              </a:rPr>
              <a:t>Kali</a:t>
            </a:r>
            <a:r>
              <a:rPr lang="cs-CZ" sz="5400">
                <a:solidFill>
                  <a:schemeClr val="bg1"/>
                </a:solidFill>
                <a:latin typeface="+mn-lt"/>
              </a:rPr>
              <a:t> použít (</a:t>
            </a:r>
            <a:r>
              <a:rPr lang="cs-CZ" sz="5400" err="1">
                <a:solidFill>
                  <a:schemeClr val="bg1"/>
                </a:solidFill>
                <a:latin typeface="+mn-lt"/>
              </a:rPr>
              <a:t>White</a:t>
            </a:r>
            <a:r>
              <a:rPr lang="cs-CZ" sz="5400">
                <a:solidFill>
                  <a:schemeClr val="bg1"/>
                </a:solidFill>
                <a:latin typeface="+mn-lt"/>
              </a:rPr>
              <a:t> </a:t>
            </a:r>
            <a:r>
              <a:rPr lang="cs-CZ" sz="5400" err="1">
                <a:solidFill>
                  <a:schemeClr val="bg1"/>
                </a:solidFill>
                <a:latin typeface="+mn-lt"/>
              </a:rPr>
              <a:t>hacking</a:t>
            </a:r>
            <a:r>
              <a:rPr lang="cs-CZ" sz="5400">
                <a:solidFill>
                  <a:schemeClr val="bg1"/>
                </a:solidFill>
                <a:latin typeface="+mn-lt"/>
              </a:rPr>
              <a:t>, </a:t>
            </a:r>
            <a:r>
              <a:rPr lang="cs-CZ" sz="5400" err="1">
                <a:solidFill>
                  <a:schemeClr val="bg1"/>
                </a:solidFill>
                <a:latin typeface="+mn-lt"/>
              </a:rPr>
              <a:t>security</a:t>
            </a:r>
            <a:r>
              <a:rPr lang="cs-CZ" sz="5400">
                <a:solidFill>
                  <a:schemeClr val="bg1"/>
                </a:solidFill>
                <a:latin typeface="+mn-lt"/>
              </a:rPr>
              <a:t> </a:t>
            </a:r>
            <a:r>
              <a:rPr lang="cs-CZ" sz="5400" err="1">
                <a:solidFill>
                  <a:schemeClr val="bg1"/>
                </a:solidFill>
                <a:latin typeface="+mn-lt"/>
              </a:rPr>
              <a:t>hardening</a:t>
            </a:r>
            <a:r>
              <a:rPr lang="cs-CZ" sz="5400">
                <a:solidFill>
                  <a:schemeClr val="bg1"/>
                </a:solidFill>
                <a:latin typeface="+mn-lt"/>
              </a:rPr>
              <a:t> počítačů a sítě)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7303AE-E76F-F57C-D27B-9732C395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3200">
                <a:solidFill>
                  <a:schemeClr val="bg1"/>
                </a:solidFill>
                <a:ea typeface="Calibri"/>
                <a:cs typeface="Calibri"/>
              </a:rPr>
              <a:t>Penetrační testy</a:t>
            </a:r>
          </a:p>
          <a:p>
            <a:pPr lvl="1"/>
            <a:r>
              <a:rPr lang="cs-CZ" sz="2800">
                <a:solidFill>
                  <a:schemeClr val="bg1"/>
                </a:solidFill>
                <a:ea typeface="Calibri"/>
                <a:cs typeface="Calibri"/>
              </a:rPr>
              <a:t>Hledání možných zneužitelných chyb v OS, HW, Firewall, Aplikacích</a:t>
            </a:r>
          </a:p>
          <a:p>
            <a:r>
              <a:rPr lang="cs-CZ" sz="3200">
                <a:solidFill>
                  <a:schemeClr val="bg1"/>
                </a:solidFill>
                <a:ea typeface="Calibri"/>
                <a:cs typeface="Calibri"/>
              </a:rPr>
              <a:t>Hledání slabých míst v zabezpečení</a:t>
            </a:r>
          </a:p>
          <a:p>
            <a:pPr lvl="1"/>
            <a:r>
              <a:rPr lang="cs-CZ" sz="2800">
                <a:solidFill>
                  <a:schemeClr val="bg1"/>
                </a:solidFill>
                <a:ea typeface="Calibri"/>
                <a:cs typeface="Calibri"/>
              </a:rPr>
              <a:t>Výměna slabých hesel či hesel obsažených v </a:t>
            </a:r>
            <a:r>
              <a:rPr lang="cs-CZ" sz="2800" err="1">
                <a:solidFill>
                  <a:schemeClr val="bg1"/>
                </a:solidFill>
                <a:ea typeface="Calibri"/>
                <a:cs typeface="Calibri"/>
              </a:rPr>
              <a:t>leaknutých</a:t>
            </a:r>
            <a:r>
              <a:rPr lang="cs-CZ" sz="2800">
                <a:solidFill>
                  <a:schemeClr val="bg1"/>
                </a:solidFill>
                <a:ea typeface="Calibri"/>
                <a:cs typeface="Calibri"/>
              </a:rPr>
              <a:t> databázích</a:t>
            </a:r>
          </a:p>
        </p:txBody>
      </p:sp>
      <p:pic>
        <p:nvPicPr>
          <p:cNvPr id="5" name="Picture 9" descr="Logo&#10;&#10;Description automatically generated">
            <a:extLst>
              <a:ext uri="{FF2B5EF4-FFF2-40B4-BE49-F238E27FC236}">
                <a16:creationId xmlns:a16="http://schemas.microsoft.com/office/drawing/2014/main" id="{7713A1CF-46E8-EC43-9D5A-0AA390C9A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965" y="324004"/>
            <a:ext cx="1106312" cy="719780"/>
          </a:xfrm>
          <a:prstGeom prst="rect">
            <a:avLst/>
          </a:prstGeom>
        </p:spPr>
      </p:pic>
      <p:pic>
        <p:nvPicPr>
          <p:cNvPr id="9" name="Picture 9" descr="Text&#10;&#10;Description automatically generated">
            <a:extLst>
              <a:ext uri="{FF2B5EF4-FFF2-40B4-BE49-F238E27FC236}">
                <a16:creationId xmlns:a16="http://schemas.microsoft.com/office/drawing/2014/main" id="{CBDDB75C-FC0A-8AD4-55DA-AB0E24700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183" y="3904989"/>
            <a:ext cx="5272154" cy="2957411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FEDAF60B-650E-480C-A5AF-2BAE4FF77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09" y="3906021"/>
            <a:ext cx="5989982" cy="295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84F40B-D536-F070-ABA4-6D8DFFF60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  <a:latin typeface="Calibri "/>
              </a:rPr>
              <a:t>Souborové Systémy Linuxu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6BF8DC-68AD-C3A9-64D7-73835EA77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solidFill>
                  <a:schemeClr val="bg1"/>
                </a:solidFill>
              </a:rPr>
              <a:t>Mezi souborové systémy používané v Linuxu patří ext2, ext3, ext4, dále např. JFS nebo </a:t>
            </a:r>
            <a:r>
              <a:rPr lang="cs-CZ" dirty="0" err="1">
                <a:solidFill>
                  <a:schemeClr val="bg1"/>
                </a:solidFill>
              </a:rPr>
              <a:t>xfs</a:t>
            </a:r>
            <a:r>
              <a:rPr lang="cs-CZ" dirty="0">
                <a:solidFill>
                  <a:schemeClr val="bg1"/>
                </a:solidFill>
              </a:rPr>
              <a:t>. Linux umí pracovat i se souborovými systémy Windows (tj. NTFS a FAT32), obráceně to standardně neplatí.</a:t>
            </a:r>
          </a:p>
        </p:txBody>
      </p:sp>
      <p:pic>
        <p:nvPicPr>
          <p:cNvPr id="4" name="Picture 9" descr="Logo&#10;&#10;Description automatically generated">
            <a:extLst>
              <a:ext uri="{FF2B5EF4-FFF2-40B4-BE49-F238E27FC236}">
                <a16:creationId xmlns:a16="http://schemas.microsoft.com/office/drawing/2014/main" id="{338A72CC-640C-642D-C46E-275502A09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996" y="643175"/>
            <a:ext cx="1106312" cy="71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08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7456B1-F7D1-153A-253B-17343056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532" y="365125"/>
            <a:ext cx="8215126" cy="647198"/>
          </a:xfrm>
        </p:spPr>
        <p:txBody>
          <a:bodyPr>
            <a:noAutofit/>
          </a:bodyPr>
          <a:lstStyle/>
          <a:p>
            <a:r>
              <a:rPr lang="cs-CZ" sz="5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HW </a:t>
            </a:r>
            <a:r>
              <a:rPr lang="cs-CZ" sz="53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Požadavky</a:t>
            </a:r>
            <a:endParaRPr lang="en-US" sz="5300">
              <a:solidFill>
                <a:schemeClr val="bg1"/>
              </a:solidFill>
              <a:latin typeface="Calibri"/>
              <a:ea typeface="Calibri Light"/>
              <a:cs typeface="Calibri Ligh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7303AE-E76F-F57C-D27B-9732C3950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016"/>
            <a:ext cx="10515600" cy="4973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3200" err="1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Kali</a:t>
            </a:r>
            <a:r>
              <a:rPr lang="cs-CZ" sz="3200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 je dostupná pro více HW platforem</a:t>
            </a:r>
          </a:p>
          <a:p>
            <a:pPr lvl="1"/>
            <a:r>
              <a:rPr lang="cs-CZ" sz="2800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ARM</a:t>
            </a:r>
          </a:p>
          <a:p>
            <a:pPr lvl="2"/>
            <a:r>
              <a:rPr lang="cs-CZ" sz="2400" err="1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Chromebook</a:t>
            </a:r>
            <a:endParaRPr lang="cs-CZ" sz="2400">
              <a:solidFill>
                <a:schemeClr val="bg1"/>
              </a:solidFill>
              <a:latin typeface="Calibri "/>
              <a:ea typeface="Calibri"/>
              <a:cs typeface="Calibri"/>
            </a:endParaRPr>
          </a:p>
          <a:p>
            <a:pPr lvl="2"/>
            <a:r>
              <a:rPr lang="cs-CZ" sz="2400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RaspberryPI2/3/4</a:t>
            </a:r>
          </a:p>
          <a:p>
            <a:pPr lvl="3"/>
            <a:r>
              <a:rPr lang="cs-CZ" sz="2400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Min 1GB RAM</a:t>
            </a:r>
            <a:endParaRPr lang="cs-CZ" sz="2400">
              <a:solidFill>
                <a:schemeClr val="bg1"/>
              </a:solidFill>
              <a:latin typeface="Calibri "/>
              <a:ea typeface="+mn-lt"/>
              <a:cs typeface="+mn-lt"/>
            </a:endParaRPr>
          </a:p>
          <a:p>
            <a:pPr lvl="3"/>
            <a:r>
              <a:rPr lang="cs-CZ" sz="2400" err="1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Storage</a:t>
            </a:r>
            <a:r>
              <a:rPr lang="cs-CZ" sz="2400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 USB/SSD min 16GB</a:t>
            </a:r>
            <a:endParaRPr lang="en-US" sz="2400">
              <a:solidFill>
                <a:schemeClr val="bg1"/>
              </a:solidFill>
              <a:latin typeface="Calibri "/>
              <a:ea typeface="+mn-lt"/>
              <a:cs typeface="+mn-lt"/>
            </a:endParaRPr>
          </a:p>
          <a:p>
            <a:pPr lvl="1"/>
            <a:r>
              <a:rPr lang="cs-CZ" sz="2800">
                <a:solidFill>
                  <a:schemeClr val="bg1"/>
                </a:solidFill>
                <a:latin typeface="Calibri "/>
                <a:ea typeface="Calibri"/>
                <a:cs typeface="Calibri"/>
              </a:rPr>
              <a:t>X86/x64</a:t>
            </a:r>
          </a:p>
          <a:p>
            <a:pPr lvl="2"/>
            <a:r>
              <a:rPr lang="cs-CZ" sz="2400">
                <a:solidFill>
                  <a:schemeClr val="bg1"/>
                </a:solidFill>
                <a:latin typeface="Calibri "/>
                <a:ea typeface="+mn-lt"/>
                <a:cs typeface="+mn-lt"/>
              </a:rPr>
              <a:t>Intel </a:t>
            </a:r>
            <a:r>
              <a:rPr lang="cs-CZ" sz="2400" err="1">
                <a:solidFill>
                  <a:schemeClr val="bg1"/>
                </a:solidFill>
                <a:latin typeface="Calibri "/>
                <a:ea typeface="+mn-lt"/>
                <a:cs typeface="+mn-lt"/>
              </a:rPr>
              <a:t>Core</a:t>
            </a:r>
            <a:r>
              <a:rPr lang="cs-CZ" sz="2400">
                <a:solidFill>
                  <a:schemeClr val="bg1"/>
                </a:solidFill>
                <a:latin typeface="Calibri "/>
                <a:ea typeface="+mn-lt"/>
                <a:cs typeface="+mn-lt"/>
              </a:rPr>
              <a:t> i3 či AMD E1 </a:t>
            </a:r>
          </a:p>
          <a:p>
            <a:pPr lvl="2"/>
            <a:r>
              <a:rPr lang="cs-CZ" sz="2400">
                <a:solidFill>
                  <a:schemeClr val="bg1"/>
                </a:solidFill>
                <a:latin typeface="Calibri "/>
                <a:ea typeface="+mn-lt"/>
                <a:cs typeface="+mn-lt"/>
              </a:rPr>
              <a:t>2 GB RAM</a:t>
            </a:r>
            <a:endParaRPr lang="cs-CZ" sz="2400">
              <a:solidFill>
                <a:schemeClr val="bg1"/>
              </a:solidFill>
              <a:latin typeface="Calibri "/>
              <a:ea typeface="Calibri"/>
              <a:cs typeface="Calibri"/>
            </a:endParaRPr>
          </a:p>
          <a:p>
            <a:pPr lvl="2"/>
            <a:r>
              <a:rPr lang="cs-CZ" sz="2400">
                <a:solidFill>
                  <a:schemeClr val="bg1"/>
                </a:solidFill>
                <a:latin typeface="Calibri "/>
                <a:ea typeface="+mn-lt"/>
                <a:cs typeface="+mn-lt"/>
              </a:rPr>
              <a:t>20 GB HDD/SSD</a:t>
            </a:r>
            <a:endParaRPr lang="cs-CZ" sz="2400">
              <a:solidFill>
                <a:schemeClr val="bg1"/>
              </a:solidFill>
              <a:latin typeface="Calibri "/>
              <a:ea typeface="Calibri"/>
              <a:cs typeface="Calibri"/>
            </a:endParaRPr>
          </a:p>
          <a:p>
            <a:pPr lvl="2"/>
            <a:r>
              <a:rPr lang="cs-CZ" sz="2400">
                <a:solidFill>
                  <a:schemeClr val="bg1"/>
                </a:solidFill>
                <a:latin typeface="Calibri "/>
                <a:ea typeface="+mn-lt"/>
                <a:cs typeface="+mn-lt"/>
              </a:rPr>
              <a:t>Při použití některých aplikací se doporučuje více paměti a více místa na HDD</a:t>
            </a:r>
            <a:endParaRPr lang="cs-CZ" sz="2400">
              <a:solidFill>
                <a:schemeClr val="bg1"/>
              </a:solidFill>
              <a:latin typeface="Calibri "/>
              <a:ea typeface="Calibri"/>
              <a:cs typeface="Calibri"/>
            </a:endParaRPr>
          </a:p>
          <a:p>
            <a:pPr lvl="1"/>
            <a:endParaRPr lang="cs-CZ" sz="2800">
              <a:solidFill>
                <a:schemeClr val="bg1"/>
              </a:solidFill>
              <a:latin typeface="Calibri Light"/>
              <a:ea typeface="Calibri"/>
              <a:cs typeface="Calibri"/>
            </a:endParaRPr>
          </a:p>
        </p:txBody>
      </p:sp>
      <p:pic>
        <p:nvPicPr>
          <p:cNvPr id="9" name="Picture 9" descr="Logo&#10;&#10;Description automatically generated">
            <a:extLst>
              <a:ext uri="{FF2B5EF4-FFF2-40B4-BE49-F238E27FC236}">
                <a16:creationId xmlns:a16="http://schemas.microsoft.com/office/drawing/2014/main" id="{D4AE7F5E-D85A-B6FA-F5F2-6B9522A0D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87" y="293925"/>
            <a:ext cx="1106312" cy="719780"/>
          </a:xfrm>
          <a:prstGeom prst="rect">
            <a:avLst/>
          </a:prstGeom>
        </p:spPr>
      </p:pic>
      <p:pic>
        <p:nvPicPr>
          <p:cNvPr id="10" name="Picture 10" descr="A picture containing text&#10;&#10;Description automatically generated">
            <a:extLst>
              <a:ext uri="{FF2B5EF4-FFF2-40B4-BE49-F238E27FC236}">
                <a16:creationId xmlns:a16="http://schemas.microsoft.com/office/drawing/2014/main" id="{9ECB00D8-5CB8-EE09-9C9F-7A7362407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3059" y="427464"/>
            <a:ext cx="2743200" cy="2202718"/>
          </a:xfrm>
          <a:prstGeom prst="rect">
            <a:avLst/>
          </a:prstGeom>
        </p:spPr>
      </p:pic>
      <p:pic>
        <p:nvPicPr>
          <p:cNvPr id="11" name="Picture 11" descr="A picture containing text, electronics, computer, case&#10;&#10;Description automatically generated">
            <a:extLst>
              <a:ext uri="{FF2B5EF4-FFF2-40B4-BE49-F238E27FC236}">
                <a16:creationId xmlns:a16="http://schemas.microsoft.com/office/drawing/2014/main" id="{D2DD8B9A-9196-C8A2-A320-EA1C824B6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2071" y="2703653"/>
            <a:ext cx="2212694" cy="2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7885-07BC-7660-F8B4-420C221AC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035" y="567682"/>
            <a:ext cx="5885726" cy="2589132"/>
          </a:xfrm>
        </p:spPr>
        <p:txBody>
          <a:bodyPr>
            <a:normAutofit/>
          </a:bodyPr>
          <a:lstStyle/>
          <a:p>
            <a:r>
              <a:rPr lang="en-US" sz="96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   OTÁZKY</a:t>
            </a:r>
          </a:p>
        </p:txBody>
      </p:sp>
    </p:spTree>
    <p:extLst>
      <p:ext uri="{BB962C8B-B14F-4D97-AF65-F5344CB8AC3E}">
        <p14:creationId xmlns:p14="http://schemas.microsoft.com/office/powerpoint/2010/main" val="3137858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7456B1-F7D1-153A-253B-173430562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135057"/>
            <a:ext cx="10722649" cy="1346439"/>
          </a:xfrm>
        </p:spPr>
        <p:txBody>
          <a:bodyPr>
            <a:noAutofit/>
          </a:bodyPr>
          <a:lstStyle/>
          <a:p>
            <a:r>
              <a:rPr lang="cs-CZ" sz="5400">
                <a:solidFill>
                  <a:schemeClr val="bg1"/>
                </a:solidFill>
                <a:latin typeface="+mn-lt"/>
              </a:rPr>
              <a:t>Zdroje text a popisu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7303AE-E76F-F57C-D27B-9732C3950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93" y="1481496"/>
            <a:ext cx="1210105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b="0" i="1" err="1">
                <a:solidFill>
                  <a:schemeClr val="bg1"/>
                </a:solidFill>
                <a:effectLst/>
              </a:rPr>
              <a:t>Rasberry</a:t>
            </a:r>
            <a:r>
              <a:rPr lang="cs-CZ" sz="2000" b="0" i="1">
                <a:solidFill>
                  <a:schemeClr val="bg1"/>
                </a:solidFill>
                <a:effectLst/>
              </a:rPr>
              <a:t> </a:t>
            </a:r>
            <a:r>
              <a:rPr lang="cs-CZ" sz="2000" b="0" i="1" err="1">
                <a:solidFill>
                  <a:schemeClr val="bg1"/>
                </a:solidFill>
                <a:effectLst/>
              </a:rPr>
              <a:t>Pi</a:t>
            </a:r>
            <a:r>
              <a:rPr lang="cs-CZ" sz="2000" b="0" i="0">
                <a:solidFill>
                  <a:schemeClr val="bg1"/>
                </a:solidFill>
                <a:effectLst/>
              </a:rPr>
              <a:t> [online]. [cit. 2022-11-20]. Dostupné z: </a:t>
            </a:r>
            <a:r>
              <a:rPr lang="cs-CZ" sz="2000" b="0" i="0">
                <a:solidFill>
                  <a:schemeClr val="bg1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https://www.raspberrypi.com/products/raspberry-pi-4-model-b/</a:t>
            </a:r>
            <a:endParaRPr lang="cs-CZ" sz="2000" b="0" i="0">
              <a:solidFill>
                <a:schemeClr val="bg1"/>
              </a:solidFill>
              <a:effectLst/>
            </a:endParaRPr>
          </a:p>
          <a:p>
            <a:r>
              <a:rPr lang="cs-CZ" sz="2000" b="0" i="0" err="1">
                <a:solidFill>
                  <a:schemeClr val="bg1"/>
                </a:solidFill>
                <a:effectLst/>
              </a:rPr>
              <a:t>Kali</a:t>
            </a:r>
            <a:r>
              <a:rPr lang="cs-CZ" sz="2000" b="0" i="0">
                <a:solidFill>
                  <a:schemeClr val="bg1"/>
                </a:solidFill>
                <a:effectLst/>
              </a:rPr>
              <a:t> Linux [online]. [cit. 2022-11-20]. Dostupné z: </a:t>
            </a:r>
            <a:r>
              <a:rPr lang="cs-CZ" sz="2000" b="0" i="0">
                <a:solidFill>
                  <a:schemeClr val="bg1"/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https://www.kali.org/</a:t>
            </a:r>
            <a:endParaRPr lang="cs-CZ" sz="2000" b="0" i="0">
              <a:solidFill>
                <a:schemeClr val="bg1"/>
              </a:solidFill>
              <a:effectLst/>
            </a:endParaRPr>
          </a:p>
          <a:p>
            <a:r>
              <a:rPr lang="pl-PL" sz="2000" b="0" i="0">
                <a:solidFill>
                  <a:schemeClr val="bg1"/>
                </a:solidFill>
                <a:effectLst/>
              </a:rPr>
              <a:t>Debian Wiki [online]. [cit. 2022-11-20]. Dostupné z: </a:t>
            </a:r>
            <a:r>
              <a:rPr lang="pl-PL" sz="2000" b="0" i="0">
                <a:solidFill>
                  <a:schemeClr val="bg1"/>
                </a:solidFill>
                <a:effectLst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https://wiki.debian.org/</a:t>
            </a:r>
            <a:endParaRPr lang="pl-PL" sz="2000" b="0" i="0">
              <a:solidFill>
                <a:schemeClr val="bg1"/>
              </a:solidFill>
              <a:effectLst/>
            </a:endParaRPr>
          </a:p>
          <a:p>
            <a:r>
              <a:rPr lang="pl-PL" sz="2000" b="0" i="0">
                <a:solidFill>
                  <a:schemeClr val="bg1"/>
                </a:solidFill>
                <a:effectLst/>
              </a:rPr>
              <a:t>Pozadí [online]. In: . [cit. 2022-11-20]. Dostupné z: </a:t>
            </a:r>
            <a:r>
              <a:rPr lang="pl-PL" sz="2000" b="0" i="0">
                <a:solidFill>
                  <a:schemeClr val="bg1"/>
                </a:solidFill>
                <a:effectLst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https://wallpapercave.com/wp/wp2601077.png</a:t>
            </a:r>
            <a:endParaRPr lang="pl-PL" sz="2000" b="0" i="0">
              <a:solidFill>
                <a:schemeClr val="bg1"/>
              </a:solidFill>
              <a:effectLst/>
            </a:endParaRPr>
          </a:p>
          <a:p>
            <a:r>
              <a:rPr lang="pl-PL" sz="2000" b="0" i="0">
                <a:solidFill>
                  <a:schemeClr val="bg1"/>
                </a:solidFill>
                <a:effectLst/>
              </a:rPr>
              <a:t>Pozadí [online]. In: . [cit. 2022-11-20]. Dostupné z: </a:t>
            </a:r>
            <a:r>
              <a:rPr lang="pl-PL" sz="2000" b="0" i="0">
                <a:solidFill>
                  <a:schemeClr val="bg1"/>
                </a:solidFill>
                <a:effectLst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https://www.bleepstatic.com/content/hl-images/2021/06/02/kali-linux-header.jpg</a:t>
            </a:r>
            <a:endParaRPr lang="pl-PL" sz="2000" b="0" i="0">
              <a:solidFill>
                <a:schemeClr val="bg1"/>
              </a:solidFill>
              <a:effectLst/>
            </a:endParaRPr>
          </a:p>
          <a:p>
            <a:r>
              <a:rPr lang="it-IT" sz="2000" b="0" i="0">
                <a:solidFill>
                  <a:schemeClr val="bg1"/>
                </a:solidFill>
                <a:effectLst/>
              </a:rPr>
              <a:t>Obrázek - PC [online]. In: . [cit. 2022-11-20]. Dostupné z: </a:t>
            </a:r>
            <a:r>
              <a:rPr lang="it-IT" sz="2000" b="0" i="0">
                <a:solidFill>
                  <a:schemeClr val="bg1"/>
                </a:solidFill>
                <a:effectLst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https://im9.cz/iR/importprodukt-orig/0d3/0d3fefd19fb8508f0aa634bf76db3806--mmf400x400.jpg</a:t>
            </a:r>
            <a:endParaRPr lang="cs-CZ" sz="2000" b="0" i="0">
              <a:solidFill>
                <a:schemeClr val="bg1"/>
              </a:solidFill>
              <a:effectLst/>
            </a:endParaRPr>
          </a:p>
          <a:p>
            <a:endParaRPr lang="pl-PL" sz="2000" b="0" i="0">
              <a:solidFill>
                <a:schemeClr val="bg1"/>
              </a:solidFill>
              <a:effectLst/>
            </a:endParaRPr>
          </a:p>
          <a:p>
            <a:endParaRPr lang="pl-PL" sz="2000" b="0" i="0">
              <a:solidFill>
                <a:schemeClr val="bg1"/>
              </a:solidFill>
              <a:effectLst/>
            </a:endParaRPr>
          </a:p>
          <a:p>
            <a:endParaRPr lang="cs-CZ" sz="2000" b="0" i="0">
              <a:solidFill>
                <a:schemeClr val="bg1"/>
              </a:solidFill>
              <a:effectLst/>
            </a:endParaRPr>
          </a:p>
          <a:p>
            <a:endParaRPr lang="cs-CZ" sz="2000" b="0" i="0">
              <a:solidFill>
                <a:schemeClr val="bg1"/>
              </a:solidFill>
              <a:effectLst/>
            </a:endParaRPr>
          </a:p>
          <a:p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  <a:p>
            <a:endParaRPr lang="cs-CZ" sz="32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465450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B9824D9504AE49A61F66C1EADB70E1" ma:contentTypeVersion="9" ma:contentTypeDescription="Vytvoří nový dokument" ma:contentTypeScope="" ma:versionID="ef965d59ac2175a78d8062d59de3bd5b">
  <xsd:schema xmlns:xsd="http://www.w3.org/2001/XMLSchema" xmlns:xs="http://www.w3.org/2001/XMLSchema" xmlns:p="http://schemas.microsoft.com/office/2006/metadata/properties" xmlns:ns3="2fdf368a-f443-49d9-8039-a87943f25e5e" xmlns:ns4="5df54dde-d18f-4bad-8f22-5569bd684ca8" targetNamespace="http://schemas.microsoft.com/office/2006/metadata/properties" ma:root="true" ma:fieldsID="93f01f06f77533e228f8520fe901ba1e" ns3:_="" ns4:_="">
    <xsd:import namespace="2fdf368a-f443-49d9-8039-a87943f25e5e"/>
    <xsd:import namespace="5df54dde-d18f-4bad-8f22-5569bd684c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f368a-f443-49d9-8039-a87943f25e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54dde-d18f-4bad-8f22-5569bd684ca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AE5B11-F30E-4E56-A171-239D1603FF9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7C95AA-FFC8-4613-8397-3AACFC3B7043}">
  <ds:schemaRefs>
    <ds:schemaRef ds:uri="2fdf368a-f443-49d9-8039-a87943f25e5e"/>
    <ds:schemaRef ds:uri="5df54dde-d18f-4bad-8f22-5569bd684ca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9758825-206F-4263-9BE9-9EEDE7381474}">
  <ds:schemaRefs>
    <ds:schemaRef ds:uri="2fdf368a-f443-49d9-8039-a87943f25e5e"/>
    <ds:schemaRef ds:uri="5df54dde-d18f-4bad-8f22-5569bd684c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623</Words>
  <Application>Microsoft Office PowerPoint</Application>
  <PresentationFormat>Širokoúhlá obrazovka</PresentationFormat>
  <Paragraphs>99</Paragraphs>
  <Slides>10</Slides>
  <Notes>7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7" baseType="lpstr">
      <vt:lpstr>Arial</vt:lpstr>
      <vt:lpstr>Arial,Sans-Serif</vt:lpstr>
      <vt:lpstr>Calibri</vt:lpstr>
      <vt:lpstr>Calibri </vt:lpstr>
      <vt:lpstr>Calibri Light</vt:lpstr>
      <vt:lpstr>inherit</vt:lpstr>
      <vt:lpstr>Motiv Office</vt:lpstr>
      <vt:lpstr>Prezentace aplikace PowerPoint</vt:lpstr>
      <vt:lpstr>Instalace</vt:lpstr>
      <vt:lpstr>Aktualizace</vt:lpstr>
      <vt:lpstr>Drivery</vt:lpstr>
      <vt:lpstr>Čím je distribuce Kali Linux výjimečná?</vt:lpstr>
      <vt:lpstr>Jak lze Kali použít (White hacking, security hardening počítačů a sítě)</vt:lpstr>
      <vt:lpstr>Souborové Systémy Linuxu</vt:lpstr>
      <vt:lpstr>HW Požadavky</vt:lpstr>
      <vt:lpstr>   OTÁZKY</vt:lpstr>
      <vt:lpstr>Zdroje text a popisu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Štěpán HEMERKA</dc:creator>
  <cp:lastModifiedBy>Michal STRÁNSKÝ</cp:lastModifiedBy>
  <cp:revision>211</cp:revision>
  <dcterms:created xsi:type="dcterms:W3CDTF">2022-11-19T14:32:01Z</dcterms:created>
  <dcterms:modified xsi:type="dcterms:W3CDTF">2022-11-20T22:34:13Z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0x0101001BB9824D9504AE49A61F66C1EADB70E1</vt:lpwstr>
  </property>
</Properties>
</file>