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82" r:id="rId4"/>
    <p:sldId id="283" r:id="rId5"/>
    <p:sldId id="284" r:id="rId6"/>
    <p:sldId id="286" r:id="rId7"/>
    <p:sldId id="285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90" autoAdjust="0"/>
    <p:restoredTop sz="94660"/>
  </p:normalViewPr>
  <p:slideViewPr>
    <p:cSldViewPr snapToGrid="0">
      <p:cViewPr>
        <p:scale>
          <a:sx n="50" d="100"/>
          <a:sy n="50" d="100"/>
        </p:scale>
        <p:origin x="3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19.04.2022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19.04.2022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19.04.2022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19.04.2022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19.04.2022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19.04.2022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19.04.2022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19.04.2022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19.04.2022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19.04.2022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19.04.2022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19.04.2022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skripty</a:t>
            </a:r>
          </a:p>
        </p:txBody>
      </p:sp>
      <p:pic>
        <p:nvPicPr>
          <p:cNvPr id="1030" name="Picture 6" descr="Batch Script from ZERO - Home | Facebook">
            <a:extLst>
              <a:ext uri="{FF2B5EF4-FFF2-40B4-BE49-F238E27FC236}">
                <a16:creationId xmlns:a16="http://schemas.microsoft.com/office/drawing/2014/main" id="{D601B5DD-8CCA-4436-ABCB-F57D46AE9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299" y="1552354"/>
            <a:ext cx="5629402" cy="4881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informace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Textové soubory obsahující příkazy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Postupně jsou spuštěny, jak v rámci souboru jdou za sebou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Příkazy stejné jako pro příkazový řádek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nebo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Začít vždy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off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(přestane vypisovat příkazy)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Přidává se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@echo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off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(@ – aby se příkaz uplatnil i na příkaz samotný)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psát normálně v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Poznámkovém bloku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uložit jako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komentář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Pause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vyžaduje před pokračování stisknutí tlačítka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649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Proměnné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Proměnné lze zadat, tak aby je uživatel vyplnil při volání skriptu (nutno z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%1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%2; %3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Jiná možnost skrz příkazu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b="1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cs-CZ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b="1">
                <a:latin typeface="Times New Roman" panose="02020603050405020304" pitchFamily="18" charset="0"/>
                <a:cs typeface="Times New Roman" panose="02020603050405020304" pitchFamily="18" charset="0"/>
              </a:rPr>
              <a:t>názevproměnné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=hodnota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Zavoláš: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nazevproměnné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  <a:p>
            <a:pPr marL="457200" lvl="1" indent="0">
              <a:buNone/>
            </a:pP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Pokud se přidá argument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/A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proměnná je pak vždy numerická</a:t>
            </a:r>
          </a:p>
        </p:txBody>
      </p:sp>
    </p:spTree>
    <p:extLst>
      <p:ext uri="{BB962C8B-B14F-4D97-AF65-F5344CB8AC3E}">
        <p14:creationId xmlns:p14="http://schemas.microsoft.com/office/powerpoint/2010/main" val="1141915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nazevpole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[index]=hodnota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%a[0]%</a:t>
            </a:r>
          </a:p>
        </p:txBody>
      </p:sp>
    </p:spTree>
    <p:extLst>
      <p:ext uri="{BB962C8B-B14F-4D97-AF65-F5344CB8AC3E}">
        <p14:creationId xmlns:p14="http://schemas.microsoft.com/office/powerpoint/2010/main" val="2722978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Podmínka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%c%==5 co se má stát</a:t>
            </a:r>
          </a:p>
          <a:p>
            <a:pPr marL="0" indent="0">
              <a:buNone/>
            </a:pP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%c%==5 (co se má stát)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 se stane, když podmínka není </a:t>
            </a:r>
            <a:r>
              <a:rPr lang="cs-CZ">
                <a:latin typeface="Times New Roman" panose="02020603050405020304" pitchFamily="18" charset="0"/>
                <a:cs typeface="Times New Roman" panose="02020603050405020304" pitchFamily="18" charset="0"/>
              </a:rPr>
              <a:t>splněna)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495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Operátory</a:t>
            </a:r>
          </a:p>
        </p:txBody>
      </p:sp>
      <p:graphicFrame>
        <p:nvGraphicFramePr>
          <p:cNvPr id="4" name="Tabulka 3">
            <a:extLst>
              <a:ext uri="{FF2B5EF4-FFF2-40B4-BE49-F238E27FC236}">
                <a16:creationId xmlns:a16="http://schemas.microsoft.com/office/drawing/2014/main" id="{AA5CE5C7-E343-4EEC-8FA9-F6134EC55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721689"/>
              </p:ext>
            </p:extLst>
          </p:nvPr>
        </p:nvGraphicFramePr>
        <p:xfrm>
          <a:off x="838200" y="1572305"/>
          <a:ext cx="10820400" cy="4726578"/>
        </p:xfrm>
        <a:graphic>
          <a:graphicData uri="http://schemas.openxmlformats.org/drawingml/2006/table">
            <a:tbl>
              <a:tblPr/>
              <a:tblGrid>
                <a:gridCol w="3917776">
                  <a:extLst>
                    <a:ext uri="{9D8B030D-6E8A-4147-A177-3AD203B41FA5}">
                      <a16:colId xmlns:a16="http://schemas.microsoft.com/office/drawing/2014/main" val="2923046131"/>
                    </a:ext>
                  </a:extLst>
                </a:gridCol>
                <a:gridCol w="3917776">
                  <a:extLst>
                    <a:ext uri="{9D8B030D-6E8A-4147-A177-3AD203B41FA5}">
                      <a16:colId xmlns:a16="http://schemas.microsoft.com/office/drawing/2014/main" val="1555523404"/>
                    </a:ext>
                  </a:extLst>
                </a:gridCol>
                <a:gridCol w="2984848">
                  <a:extLst>
                    <a:ext uri="{9D8B030D-6E8A-4147-A177-3AD203B41FA5}">
                      <a16:colId xmlns:a16="http://schemas.microsoft.com/office/drawing/2014/main" val="4088289000"/>
                    </a:ext>
                  </a:extLst>
                </a:gridCol>
              </a:tblGrid>
              <a:tr h="231834">
                <a:tc>
                  <a:txBody>
                    <a:bodyPr/>
                    <a:lstStyle/>
                    <a:p>
                      <a:pPr algn="ctr" fontAlgn="t"/>
                      <a:r>
                        <a:rPr lang="cs-CZ" sz="1100">
                          <a:effectLst/>
                        </a:rPr>
                        <a:t>Operator</a:t>
                      </a:r>
                    </a:p>
                  </a:txBody>
                  <a:tcPr marL="35667" marR="35667" marT="35667" marB="3566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cs-CZ" sz="1100">
                          <a:effectLst/>
                        </a:rPr>
                        <a:t>Description</a:t>
                      </a:r>
                    </a:p>
                  </a:txBody>
                  <a:tcPr marL="35667" marR="35667" marT="35667" marB="3566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cs-CZ" sz="1100">
                          <a:effectLst/>
                        </a:rPr>
                        <a:t>Example</a:t>
                      </a:r>
                    </a:p>
                  </a:txBody>
                  <a:tcPr marL="35667" marR="35667" marT="35667" marB="3566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525108"/>
                  </a:ext>
                </a:extLst>
              </a:tr>
              <a:tr h="552834"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 dirty="0">
                          <a:effectLst/>
                        </a:rPr>
                        <a:t>EQU</a:t>
                      </a:r>
                    </a:p>
                  </a:txBody>
                  <a:tcPr marL="35667" marR="35667" marT="35667" marB="35667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Tests the equality between two objects</a:t>
                      </a:r>
                    </a:p>
                  </a:txBody>
                  <a:tcPr marL="35667" marR="35667" marT="35667" marB="35667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2 EQU 2 will give true</a:t>
                      </a:r>
                    </a:p>
                  </a:txBody>
                  <a:tcPr marL="35667" marR="35667" marT="35667" marB="35667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0352454"/>
                  </a:ext>
                </a:extLst>
              </a:tr>
              <a:tr h="552834"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>
                          <a:effectLst/>
                        </a:rPr>
                        <a:t>NEQ</a:t>
                      </a:r>
                    </a:p>
                  </a:txBody>
                  <a:tcPr marL="35667" marR="35667" marT="35667" marB="35667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Tests the difference between two objects</a:t>
                      </a:r>
                    </a:p>
                  </a:txBody>
                  <a:tcPr marL="35667" marR="35667" marT="35667" marB="35667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3 NEQ 2 will give true</a:t>
                      </a:r>
                    </a:p>
                  </a:txBody>
                  <a:tcPr marL="35667" marR="35667" marT="35667" marB="35667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4970119"/>
                  </a:ext>
                </a:extLst>
              </a:tr>
              <a:tr h="713334"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 dirty="0">
                          <a:effectLst/>
                        </a:rPr>
                        <a:t>LSS</a:t>
                      </a:r>
                    </a:p>
                  </a:txBody>
                  <a:tcPr marL="35667" marR="35667" marT="35667" marB="35667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Checks to see if the left object is less than the right operand</a:t>
                      </a:r>
                    </a:p>
                  </a:txBody>
                  <a:tcPr marL="35667" marR="35667" marT="35667" marB="35667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2 LSS 3 will give true</a:t>
                      </a:r>
                    </a:p>
                  </a:txBody>
                  <a:tcPr marL="35667" marR="35667" marT="35667" marB="35667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6695520"/>
                  </a:ext>
                </a:extLst>
              </a:tr>
              <a:tr h="713334"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>
                          <a:effectLst/>
                        </a:rPr>
                        <a:t>LEQ</a:t>
                      </a:r>
                    </a:p>
                  </a:txBody>
                  <a:tcPr marL="35667" marR="35667" marT="35667" marB="35667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Checks to see if the left object is less than or equal to the right operand</a:t>
                      </a:r>
                    </a:p>
                  </a:txBody>
                  <a:tcPr marL="35667" marR="35667" marT="35667" marB="35667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2 LEQ 3 will give true</a:t>
                      </a:r>
                    </a:p>
                  </a:txBody>
                  <a:tcPr marL="35667" marR="35667" marT="35667" marB="35667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230329"/>
                  </a:ext>
                </a:extLst>
              </a:tr>
              <a:tr h="713334"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>
                          <a:effectLst/>
                        </a:rPr>
                        <a:t>GTR</a:t>
                      </a:r>
                    </a:p>
                  </a:txBody>
                  <a:tcPr marL="35667" marR="35667" marT="35667" marB="35667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effectLst/>
                        </a:rPr>
                        <a:t>Checks to see if the left object is greater than the right operand</a:t>
                      </a:r>
                    </a:p>
                  </a:txBody>
                  <a:tcPr marL="35667" marR="35667" marT="35667" marB="35667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3 GTR 2 will give true</a:t>
                      </a:r>
                    </a:p>
                  </a:txBody>
                  <a:tcPr marL="35667" marR="35667" marT="35667" marB="35667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3325616"/>
                  </a:ext>
                </a:extLst>
              </a:tr>
              <a:tr h="873834"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>
                          <a:effectLst/>
                        </a:rPr>
                        <a:t>GEQ</a:t>
                      </a:r>
                    </a:p>
                  </a:txBody>
                  <a:tcPr marL="35667" marR="35667" marT="35667" marB="35667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Checks to see if the left object is greater than or equal to the right operand</a:t>
                      </a:r>
                    </a:p>
                  </a:txBody>
                  <a:tcPr marL="35667" marR="35667" marT="35667" marB="35667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effectLst/>
                        </a:rPr>
                        <a:t>3 GEQ 2 will give true</a:t>
                      </a:r>
                    </a:p>
                  </a:txBody>
                  <a:tcPr marL="35667" marR="35667" marT="35667" marB="35667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783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6185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(jdi na)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nazev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Pokud se pak zavolá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nazev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tak se skočí na část, kde je :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nazev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čte se jen skript pod ním.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Jde pomocí něj s podmínkou tvořit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cykly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920036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2480</TotalTime>
  <Words>333</Words>
  <Application>Microsoft Office PowerPoint</Application>
  <PresentationFormat>Širokoúhlá obrazovka</PresentationFormat>
  <Paragraphs>55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Motiv Office</vt:lpstr>
      <vt:lpstr>Batch skripty</vt:lpstr>
      <vt:lpstr>Základní informace</vt:lpstr>
      <vt:lpstr>Proměnné</vt:lpstr>
      <vt:lpstr>Pole</vt:lpstr>
      <vt:lpstr>Podmínka</vt:lpstr>
      <vt:lpstr>Operátory</vt:lpstr>
      <vt:lpstr>Goto (jdi na)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202</cp:revision>
  <dcterms:created xsi:type="dcterms:W3CDTF">2020-09-17T19:44:13Z</dcterms:created>
  <dcterms:modified xsi:type="dcterms:W3CDTF">2022-04-19T08:41:23Z</dcterms:modified>
</cp:coreProperties>
</file>