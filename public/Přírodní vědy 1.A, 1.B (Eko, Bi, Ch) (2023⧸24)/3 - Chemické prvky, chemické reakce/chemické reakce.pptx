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65" r:id="rId21"/>
    <p:sldId id="266" r:id="rId22"/>
    <p:sldId id="284" r:id="rId23"/>
    <p:sldId id="283" r:id="rId24"/>
    <p:sldId id="282" r:id="rId25"/>
    <p:sldId id="267" r:id="rId26"/>
    <p:sldId id="285" r:id="rId27"/>
    <p:sldId id="281" r:id="rId28"/>
    <p:sldId id="280" r:id="rId29"/>
    <p:sldId id="268" r:id="rId30"/>
    <p:sldId id="269" r:id="rId31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A7899-3496-467C-B71C-2EA6E5099D05}" type="datetimeFigureOut">
              <a:rPr lang="cs-CZ" smtClean="0"/>
              <a:t>07.10.2020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02ABF-B407-4F75-8BB9-435DDE754FC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83209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Hydrogenuhličitan vápenatý je jednou z látek způsobujících tvrdost vody. Při převařování vody (třeba v rychlovarné konvici) probíhá výše uvedená reakce a vzniklý uhličitan vápenatý se ukládá na stěnách nádoby jako vodní kámen.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202ABF-B407-4F75-8BB9-435DDE754FC1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3986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Přímá spojnice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Nadpis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25" name="Podnadpis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cs-CZ" smtClean="0"/>
              <a:t>Kliknutím lze upravit styl předlohy.</a:t>
            </a:r>
            <a:endParaRPr kumimoji="0" lang="en-US"/>
          </a:p>
        </p:txBody>
      </p:sp>
      <p:sp>
        <p:nvSpPr>
          <p:cNvPr id="31" name="Zástupný symbol pro datum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18" name="Zástupný symbol pro zápatí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29" name="Zástupný symbol pro číslo snímku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cs-CZ" smtClean="0"/>
              <a:t>Kliknutím lze upravit styl.</a:t>
            </a:r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cs-CZ" smtClean="0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Zástupný symbol pro obrázek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cs-CZ" smtClean="0"/>
              <a:t>Kliknutím na ikonu přidáte obrázek.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cs-CZ" smtClean="0"/>
              <a:t>Kliknutím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Zástupný symbol pro nadpis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cs-CZ" smtClean="0"/>
              <a:t>Kliknutím lze upravit styl.</a:t>
            </a:r>
            <a:endParaRPr kumimoji="0" lang="en-US"/>
          </a:p>
        </p:txBody>
      </p:sp>
      <p:sp>
        <p:nvSpPr>
          <p:cNvPr id="31" name="Zástupný symbol pro text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cs-CZ" smtClean="0"/>
              <a:t>Kliknutím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27" name="Zástupný symbol pro datum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0269D14A-3BA6-4F49-8E0F-4B7E5C4D1421}" type="datetimeFigureOut">
              <a:rPr lang="cs-CZ" smtClean="0"/>
              <a:pPr/>
              <a:t>07.10.2020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16" name="Zástupný symbol pro číslo snímku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4C737279-AB20-4781-AA71-4405599C1A9E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youtube.com/watch?v=jCtiBeBFQD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lBNYgAVjDQU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smtClean="0"/>
              <a:t>CHEMICKÉ REAKCE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Tx/>
              <a:buChar char="-"/>
            </a:pPr>
            <a:r>
              <a:rPr lang="cs-CZ" dirty="0" smtClean="0"/>
              <a:t>definice</a:t>
            </a:r>
          </a:p>
          <a:p>
            <a:pPr marL="457200" indent="-457200">
              <a:buFontTx/>
              <a:buChar char="-"/>
            </a:pPr>
            <a:r>
              <a:rPr lang="cs-CZ" dirty="0"/>
              <a:t>chemické rovnice</a:t>
            </a:r>
          </a:p>
          <a:p>
            <a:pPr marL="457200" indent="-457200">
              <a:buFontTx/>
              <a:buChar char="-"/>
            </a:pPr>
            <a:r>
              <a:rPr lang="cs-CZ" dirty="0" smtClean="0"/>
              <a:t>třídění chemických reakcí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REAKCE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smtClean="0"/>
              <a:t>je děj, při kterém vznikají jiné chemické látky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sz="800" dirty="0" smtClean="0">
                <a:hlinkClick r:id="rId2"/>
              </a:rPr>
              <a:t>pokus</a:t>
            </a:r>
            <a:endParaRPr lang="cs-CZ" sz="800" dirty="0"/>
          </a:p>
        </p:txBody>
      </p:sp>
      <p:pic>
        <p:nvPicPr>
          <p:cNvPr id="4" name="Picture 2" descr="Výsledek obrázku pro CHEMICKÁ REAKC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924944"/>
            <a:ext cx="22860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5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 smtClean="0"/>
              <a:t>je zápisem chemické reakce</a:t>
            </a:r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r>
              <a:rPr lang="cs-CZ" dirty="0" smtClean="0"/>
              <a:t>reaktanty (výchozí chemické látky) </a:t>
            </a:r>
            <a:r>
              <a:rPr lang="cs-CZ" dirty="0" smtClean="0">
                <a:sym typeface="Symbol"/>
              </a:rPr>
              <a:t> produkty </a:t>
            </a:r>
          </a:p>
          <a:p>
            <a:pPr marL="0" indent="0">
              <a:buNone/>
            </a:pPr>
            <a:endParaRPr lang="cs-CZ" dirty="0" smtClean="0">
              <a:sym typeface="Symbol"/>
            </a:endParaRPr>
          </a:p>
          <a:p>
            <a:pPr marL="0" indent="0">
              <a:buNone/>
            </a:pPr>
            <a:r>
              <a:rPr lang="cs-CZ" dirty="0" smtClean="0">
                <a:sym typeface="Symbol"/>
              </a:rPr>
              <a:t>platí </a:t>
            </a:r>
            <a:r>
              <a:rPr lang="cs-CZ" b="1" dirty="0" smtClean="0">
                <a:sym typeface="Symbol"/>
              </a:rPr>
              <a:t>zákon zachování hmotnosti</a:t>
            </a:r>
            <a:r>
              <a:rPr lang="cs-CZ" dirty="0" smtClean="0">
                <a:sym typeface="Symbol"/>
              </a:rPr>
              <a:t>, tj. hmotnost reaktantů se rovná hmotnosti </a:t>
            </a:r>
            <a:br>
              <a:rPr lang="cs-CZ" dirty="0" smtClean="0">
                <a:sym typeface="Symbol"/>
              </a:rPr>
            </a:br>
            <a:r>
              <a:rPr lang="cs-CZ" dirty="0" smtClean="0">
                <a:sym typeface="Symbol"/>
              </a:rPr>
              <a:t>produktů, protože počet atomů </a:t>
            </a:r>
            <a:br>
              <a:rPr lang="cs-CZ" dirty="0" smtClean="0">
                <a:sym typeface="Symbol"/>
              </a:rPr>
            </a:br>
            <a:r>
              <a:rPr lang="cs-CZ" dirty="0" smtClean="0">
                <a:sym typeface="Symbol"/>
              </a:rPr>
              <a:t>se nemění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AutoShape 2" descr="Výsledek obrázku pro chemická rovnic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4448763"/>
            <a:ext cx="2409825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79982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má význam:</a:t>
            </a:r>
          </a:p>
          <a:p>
            <a:pPr marL="0" indent="0">
              <a:buNone/>
            </a:pPr>
            <a:r>
              <a:rPr lang="cs-CZ" dirty="0">
                <a:sym typeface="Symbol"/>
              </a:rPr>
              <a:t>	</a:t>
            </a:r>
            <a:r>
              <a:rPr lang="cs-CZ" dirty="0" smtClean="0">
                <a:sym typeface="Symbol"/>
              </a:rPr>
              <a:t>kvalitativní = udává, které látky </a:t>
            </a:r>
            <a:br>
              <a:rPr lang="cs-CZ" dirty="0" smtClean="0">
                <a:sym typeface="Symbol"/>
              </a:rPr>
            </a:br>
            <a:r>
              <a:rPr lang="cs-CZ" dirty="0" smtClean="0">
                <a:sym typeface="Symbol"/>
              </a:rPr>
              <a:t>		reagují a které vznikají</a:t>
            </a:r>
          </a:p>
          <a:p>
            <a:pPr marL="0" indent="0">
              <a:buNone/>
            </a:pPr>
            <a:r>
              <a:rPr lang="cs-CZ" dirty="0">
                <a:sym typeface="Symbol"/>
              </a:rPr>
              <a:t>	</a:t>
            </a:r>
            <a:r>
              <a:rPr lang="cs-CZ" dirty="0" smtClean="0">
                <a:sym typeface="Symbol"/>
              </a:rPr>
              <a:t>kvantitativní = udává poměr látkových </a:t>
            </a:r>
            <a:br>
              <a:rPr lang="cs-CZ" dirty="0" smtClean="0">
                <a:sym typeface="Symbol"/>
              </a:rPr>
            </a:br>
            <a:r>
              <a:rPr lang="cs-CZ" dirty="0" smtClean="0">
                <a:sym typeface="Symbol"/>
              </a:rPr>
              <a:t>		množství reaktantů a produktů, </a:t>
            </a:r>
            <a:br>
              <a:rPr lang="cs-CZ" dirty="0" smtClean="0">
                <a:sym typeface="Symbol"/>
              </a:rPr>
            </a:br>
            <a:r>
              <a:rPr lang="cs-CZ" dirty="0" smtClean="0">
                <a:sym typeface="Symbol"/>
              </a:rPr>
              <a:t>		vyjadřuje se tzv.	stechiometrickými </a:t>
            </a:r>
            <a:br>
              <a:rPr lang="cs-CZ" dirty="0" smtClean="0">
                <a:sym typeface="Symbol"/>
              </a:rPr>
            </a:br>
            <a:r>
              <a:rPr lang="cs-CZ" dirty="0" smtClean="0">
                <a:sym typeface="Symbol"/>
              </a:rPr>
              <a:t>		koeficienty před vzorci</a:t>
            </a:r>
          </a:p>
          <a:p>
            <a:pPr marL="0" indent="0">
              <a:buNone/>
            </a:pPr>
            <a:r>
              <a:rPr lang="cs-CZ" dirty="0" smtClean="0">
                <a:sym typeface="Symbol"/>
              </a:rPr>
              <a:t>nad šipku lze napsat např. katalyzátor</a:t>
            </a:r>
          </a:p>
          <a:p>
            <a:pPr marL="0" indent="0">
              <a:buNone/>
            </a:pPr>
            <a:endParaRPr lang="cs-CZ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853" y="2276872"/>
            <a:ext cx="1880288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312" y="4725144"/>
            <a:ext cx="2476800" cy="72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785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zapište chemickou rovnicí:</a:t>
            </a:r>
          </a:p>
          <a:p>
            <a:pPr marL="0" indent="0">
              <a:buNone/>
            </a:pPr>
            <a:r>
              <a:rPr lang="cs-CZ" dirty="0" smtClean="0"/>
              <a:t>dvě molekuly vodíku reagují s jednou molekulou kyslíku za vzniku dvou molekul vody</a:t>
            </a:r>
            <a:endParaRPr lang="cs-CZ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3450921"/>
            <a:ext cx="165735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317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zapište chemickou rovnicí:</a:t>
            </a:r>
          </a:p>
          <a:p>
            <a:pPr marL="0" indent="0">
              <a:buNone/>
            </a:pPr>
            <a:r>
              <a:rPr lang="cs-CZ" dirty="0" smtClean="0"/>
              <a:t>dvě molekuly vodíku reagují s jednou molekulou kyslíku za vzniku dvou molekul vody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 smtClean="0"/>
              <a:t>2H</a:t>
            </a:r>
            <a:r>
              <a:rPr lang="cs-CZ" baseline="-25000" dirty="0" smtClean="0"/>
              <a:t>2</a:t>
            </a:r>
            <a:r>
              <a:rPr lang="cs-CZ" dirty="0" smtClean="0"/>
              <a:t> + O</a:t>
            </a:r>
            <a:r>
              <a:rPr lang="cs-CZ" baseline="-25000" dirty="0"/>
              <a:t>2</a:t>
            </a:r>
            <a:r>
              <a:rPr lang="cs-CZ" dirty="0" smtClean="0"/>
              <a:t> </a:t>
            </a:r>
            <a:r>
              <a:rPr lang="cs-CZ" dirty="0" smtClean="0">
                <a:sym typeface="Symbol"/>
              </a:rPr>
              <a:t> 2H</a:t>
            </a:r>
            <a:r>
              <a:rPr lang="cs-CZ" baseline="-25000" dirty="0">
                <a:sym typeface="Symbol"/>
              </a:rPr>
              <a:t>2</a:t>
            </a:r>
            <a:r>
              <a:rPr lang="cs-CZ" dirty="0" smtClean="0">
                <a:sym typeface="Symbol"/>
              </a:rPr>
              <a:t>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29130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zapište chemickou rovnicí:</a:t>
            </a:r>
          </a:p>
          <a:p>
            <a:pPr marL="0" indent="0">
              <a:buNone/>
            </a:pPr>
            <a:r>
              <a:rPr lang="cs-CZ" dirty="0" smtClean="0"/>
              <a:t>dvě molekuly oxidu siřičitého reagují s jednou molekulou kyslíku za vzniku dvou molekul oxidu sírového, katalyzátorem reakce je oxid vanadičný</a:t>
            </a:r>
          </a:p>
        </p:txBody>
      </p:sp>
    </p:spTree>
    <p:extLst>
      <p:ext uri="{BB962C8B-B14F-4D97-AF65-F5344CB8AC3E}">
        <p14:creationId xmlns:p14="http://schemas.microsoft.com/office/powerpoint/2010/main" val="297709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zapište chemickou rovnicí:</a:t>
            </a:r>
          </a:p>
          <a:p>
            <a:pPr marL="0" indent="0">
              <a:buNone/>
            </a:pPr>
            <a:r>
              <a:rPr lang="cs-CZ" dirty="0" smtClean="0"/>
              <a:t>dvě molekuly oxidu siřičitého reagují s jednou molekulou kyslíku za vzniku dvou molekul oxidu sírového, katalyzátorem reakce je oxid vanadičný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221088"/>
            <a:ext cx="2812170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0656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Amoniak </a:t>
            </a:r>
            <a:r>
              <a:rPr lang="cs-CZ" dirty="0" smtClean="0"/>
              <a:t>se </a:t>
            </a:r>
            <a:r>
              <a:rPr lang="cs-CZ" dirty="0"/>
              <a:t>vyrábí slučováním dusíku </a:t>
            </a:r>
            <a:r>
              <a:rPr lang="cs-CZ" dirty="0" smtClean="0"/>
              <a:t>a vodíku. Uveďte výchozí </a:t>
            </a:r>
            <a:r>
              <a:rPr lang="cs-CZ" dirty="0"/>
              <a:t>látky a produkty této reakce</a:t>
            </a:r>
            <a:r>
              <a:rPr lang="cs-CZ" dirty="0" smtClean="0"/>
              <a:t>. Zapište chemickou rovnici.</a:t>
            </a:r>
          </a:p>
          <a:p>
            <a:pPr marL="0" indent="0">
              <a:buNone/>
            </a:pPr>
            <a:r>
              <a:rPr lang="cs-CZ" dirty="0" smtClean="0"/>
              <a:t>N</a:t>
            </a:r>
            <a:r>
              <a:rPr lang="cs-CZ" baseline="-25000" dirty="0" smtClean="0"/>
              <a:t>2 </a:t>
            </a:r>
            <a:r>
              <a:rPr lang="cs-CZ" dirty="0" smtClean="0"/>
              <a:t>+ 3H</a:t>
            </a:r>
            <a:r>
              <a:rPr lang="cs-CZ" baseline="-25000" dirty="0" smtClean="0"/>
              <a:t>2 </a:t>
            </a:r>
            <a:r>
              <a:rPr lang="cs-CZ" dirty="0" smtClean="0"/>
              <a:t>→ 2NH</a:t>
            </a:r>
            <a:r>
              <a:rPr lang="cs-CZ" baseline="-25000" dirty="0" smtClean="0"/>
              <a:t>3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22594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Vodík reaguje s chlorem za vzniku chlorovodíku</a:t>
            </a:r>
            <a:r>
              <a:rPr lang="pl-PL" dirty="0" smtClean="0"/>
              <a:t>.</a:t>
            </a:r>
          </a:p>
          <a:p>
            <a:pPr marL="0" indent="0">
              <a:buNone/>
            </a:pPr>
            <a:r>
              <a:rPr lang="cs-CZ" dirty="0" smtClean="0"/>
              <a:t>H</a:t>
            </a:r>
            <a:r>
              <a:rPr lang="cs-CZ" baseline="-25000" dirty="0" smtClean="0"/>
              <a:t>2 </a:t>
            </a:r>
            <a:r>
              <a:rPr lang="cs-CZ" dirty="0"/>
              <a:t>+ </a:t>
            </a:r>
            <a:r>
              <a:rPr lang="cs-CZ" dirty="0" smtClean="0"/>
              <a:t>Cl</a:t>
            </a:r>
            <a:r>
              <a:rPr lang="cs-CZ" baseline="-25000" dirty="0" smtClean="0"/>
              <a:t>2 </a:t>
            </a:r>
            <a:r>
              <a:rPr lang="cs-CZ" dirty="0"/>
              <a:t>→ </a:t>
            </a:r>
            <a:r>
              <a:rPr lang="cs-CZ" dirty="0" smtClean="0"/>
              <a:t>2HCl</a:t>
            </a:r>
            <a:endParaRPr lang="pl-PL" dirty="0"/>
          </a:p>
          <a:p>
            <a:pPr marL="0" indent="0">
              <a:buNone/>
            </a:pP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69559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67544" y="1556792"/>
            <a:ext cx="7239000" cy="4846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Síra se slučuje s kyslíkem a vzniká oxid siřičitý</a:t>
            </a:r>
            <a:r>
              <a:rPr lang="cs-CZ" dirty="0" smtClean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4017205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Železo reaguje s plynným chlorem za vzniku chloridu železitého</a:t>
            </a:r>
            <a:r>
              <a:rPr lang="cs-CZ" dirty="0" smtClean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325303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Železo se reaguje s kyslíkem za vzniku oxidu železitého</a:t>
            </a:r>
            <a:r>
              <a:rPr lang="cs-CZ" dirty="0" smtClean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1535641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Plynný chlor je přeháněn přes horký hliník, vzniká chlorid hlinitý</a:t>
            </a:r>
            <a:r>
              <a:rPr lang="cs-CZ" dirty="0" smtClean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416091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V</a:t>
            </a:r>
            <a:r>
              <a:rPr lang="cs-CZ" dirty="0" smtClean="0"/>
              <a:t>oda </a:t>
            </a:r>
            <a:r>
              <a:rPr lang="cs-CZ" dirty="0"/>
              <a:t>reaguje s oxidem uhličitým za vzniku kyseliny </a:t>
            </a:r>
            <a:r>
              <a:rPr lang="cs-CZ" dirty="0" smtClean="0"/>
              <a:t>uhličité</a:t>
            </a:r>
            <a:r>
              <a:rPr lang="cs-CZ" dirty="0" smtClean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267099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Amoniak </a:t>
            </a:r>
            <a:r>
              <a:rPr lang="cs-CZ" dirty="0"/>
              <a:t>reaguje s kyselinou chlorovodíkovou za vzniku chloridu </a:t>
            </a:r>
            <a:r>
              <a:rPr lang="cs-CZ" dirty="0" smtClean="0"/>
              <a:t>amonného</a:t>
            </a:r>
            <a:r>
              <a:rPr lang="cs-CZ" dirty="0" smtClean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278032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Zinek </a:t>
            </a:r>
            <a:r>
              <a:rPr lang="cs-CZ" dirty="0"/>
              <a:t>reaguje se sírou za vzniku sulfidu </a:t>
            </a:r>
            <a:r>
              <a:rPr lang="cs-CZ" dirty="0" smtClean="0"/>
              <a:t>zinečnatého</a:t>
            </a:r>
            <a:r>
              <a:rPr lang="cs-CZ" dirty="0" smtClean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328958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H</a:t>
            </a:r>
            <a:r>
              <a:rPr lang="cs-CZ" dirty="0" smtClean="0"/>
              <a:t>ydrogenuhličitan </a:t>
            </a:r>
            <a:r>
              <a:rPr lang="cs-CZ" dirty="0"/>
              <a:t>vápenatý se termicky (teplem) rozkládá na uhličitan vápenatý, oxid uhličitý a </a:t>
            </a:r>
            <a:r>
              <a:rPr lang="cs-CZ" dirty="0" smtClean="0"/>
              <a:t>vodu.</a:t>
            </a:r>
          </a:p>
          <a:p>
            <a:pPr marL="0" indent="0">
              <a:buNone/>
            </a:pPr>
            <a:r>
              <a:rPr lang="cs-CZ" dirty="0" smtClean="0"/>
              <a:t>Ca(HCO</a:t>
            </a:r>
            <a:r>
              <a:rPr lang="cs-CZ" baseline="-25000" dirty="0" smtClean="0"/>
              <a:t>3</a:t>
            </a:r>
            <a:r>
              <a:rPr lang="cs-CZ" dirty="0" smtClean="0"/>
              <a:t>)</a:t>
            </a:r>
            <a:r>
              <a:rPr lang="cs-CZ" baseline="-25000" dirty="0" smtClean="0"/>
              <a:t>2 </a:t>
            </a:r>
            <a:r>
              <a:rPr lang="cs-CZ" dirty="0" smtClean="0"/>
              <a:t>→ CaCO</a:t>
            </a:r>
            <a:r>
              <a:rPr lang="cs-CZ" baseline="-25000" dirty="0" smtClean="0"/>
              <a:t>3 </a:t>
            </a:r>
            <a:r>
              <a:rPr lang="cs-CZ" dirty="0" smtClean="0"/>
              <a:t>+ CO</a:t>
            </a:r>
            <a:r>
              <a:rPr lang="cs-CZ" baseline="-25000" dirty="0" smtClean="0"/>
              <a:t>2</a:t>
            </a:r>
            <a:r>
              <a:rPr lang="cs-CZ" dirty="0" smtClean="0"/>
              <a:t>+H</a:t>
            </a:r>
            <a:r>
              <a:rPr lang="cs-CZ" baseline="-25000" dirty="0" smtClean="0"/>
              <a:t>2</a:t>
            </a:r>
            <a:r>
              <a:rPr lang="cs-CZ" dirty="0" smtClean="0"/>
              <a:t>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776934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Zapište chemickou rovnicí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 smtClean="0"/>
              <a:t>Bromid </a:t>
            </a:r>
            <a:r>
              <a:rPr lang="cs-CZ" dirty="0"/>
              <a:t>draselný reaguje s chlorem za vzniku chloridu draselného a </a:t>
            </a:r>
            <a:r>
              <a:rPr lang="cs-CZ" dirty="0" smtClean="0"/>
              <a:t>bromu.</a:t>
            </a:r>
          </a:p>
          <a:p>
            <a:pPr marL="0" indent="0">
              <a:buNone/>
            </a:pPr>
            <a:r>
              <a:rPr lang="cs-CZ" dirty="0" smtClean="0"/>
              <a:t>2KBr</a:t>
            </a:r>
            <a:r>
              <a:rPr lang="cs-CZ" baseline="-25000" dirty="0" smtClean="0"/>
              <a:t> </a:t>
            </a:r>
            <a:r>
              <a:rPr lang="cs-CZ" dirty="0"/>
              <a:t>+ </a:t>
            </a:r>
            <a:r>
              <a:rPr lang="cs-CZ" dirty="0" smtClean="0"/>
              <a:t>Cl</a:t>
            </a:r>
            <a:r>
              <a:rPr lang="cs-CZ" baseline="-25000" dirty="0" smtClean="0"/>
              <a:t>2 </a:t>
            </a:r>
            <a:r>
              <a:rPr lang="cs-CZ" dirty="0"/>
              <a:t>→ </a:t>
            </a:r>
            <a:r>
              <a:rPr lang="cs-CZ" dirty="0" smtClean="0"/>
              <a:t>2KCl + Br</a:t>
            </a:r>
            <a:r>
              <a:rPr lang="cs-CZ" baseline="-25000" dirty="0" smtClean="0"/>
              <a:t>2</a:t>
            </a:r>
            <a:endParaRPr lang="cs-CZ" baseline="-25000" dirty="0"/>
          </a:p>
        </p:txBody>
      </p:sp>
    </p:spTree>
    <p:extLst>
      <p:ext uri="{BB962C8B-B14F-4D97-AF65-F5344CB8AC3E}">
        <p14:creationId xmlns:p14="http://schemas.microsoft.com/office/powerpoint/2010/main" val="132653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CHEMICKÁ ROVNICE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dirty="0"/>
              <a:t>Ocelový hřebík o známé hmotnosti ve vlhkém vzduchu zrezavěl. </a:t>
            </a:r>
            <a:r>
              <a:rPr lang="cs-CZ" dirty="0" smtClean="0"/>
              <a:t>Žádná rez </a:t>
            </a:r>
            <a:r>
              <a:rPr lang="cs-CZ" dirty="0"/>
              <a:t>však ještě neodpadla. </a:t>
            </a:r>
            <a:r>
              <a:rPr lang="cs-CZ" dirty="0" smtClean="0"/>
              <a:t/>
            </a:r>
            <a:br>
              <a:rPr lang="cs-CZ" dirty="0" smtClean="0"/>
            </a:br>
            <a:r>
              <a:rPr lang="cs-CZ" dirty="0" smtClean="0"/>
              <a:t>Porovnejte </a:t>
            </a:r>
            <a:r>
              <a:rPr lang="cs-CZ" dirty="0"/>
              <a:t>jeho hmotnost před zrezivěním </a:t>
            </a:r>
            <a:r>
              <a:rPr lang="cs-CZ" dirty="0" smtClean="0"/>
              <a:t>a</a:t>
            </a:r>
            <a:br>
              <a:rPr lang="cs-CZ" dirty="0" smtClean="0"/>
            </a:br>
            <a:r>
              <a:rPr lang="cs-CZ" dirty="0" smtClean="0"/>
              <a:t>po zrezivění</a:t>
            </a:r>
            <a:r>
              <a:rPr lang="cs-CZ" dirty="0"/>
              <a:t>.</a:t>
            </a:r>
            <a:endParaRPr lang="cs-CZ" dirty="0" smtClean="0"/>
          </a:p>
        </p:txBody>
      </p:sp>
    </p:spTree>
    <p:extLst>
      <p:ext uri="{BB962C8B-B14F-4D97-AF65-F5344CB8AC3E}">
        <p14:creationId xmlns:p14="http://schemas.microsoft.com/office/powerpoint/2010/main" val="100238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probíhajícího chemického děje</a:t>
            </a:r>
          </a:p>
          <a:p>
            <a:pPr lvl="1"/>
            <a:r>
              <a:rPr lang="cs-CZ" dirty="0"/>
              <a:t>neutralizace </a:t>
            </a:r>
            <a:endParaRPr lang="cs-CZ" dirty="0" smtClean="0"/>
          </a:p>
          <a:p>
            <a:pPr lvl="1"/>
            <a:r>
              <a:rPr lang="cs-CZ" dirty="0" smtClean="0"/>
              <a:t>srážecí reakce</a:t>
            </a:r>
          </a:p>
          <a:p>
            <a:pPr lvl="1"/>
            <a:r>
              <a:rPr lang="cs-CZ" dirty="0" smtClean="0"/>
              <a:t>redoxní reakce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0879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probíhajícího chemického děje</a:t>
            </a:r>
          </a:p>
          <a:p>
            <a:pPr lvl="1"/>
            <a:r>
              <a:rPr lang="cs-CZ" b="1" dirty="0"/>
              <a:t>neutralizace</a:t>
            </a:r>
            <a:r>
              <a:rPr lang="cs-CZ" dirty="0"/>
              <a:t> - je chemická reakce kyseliny </a:t>
            </a:r>
            <a:r>
              <a:rPr lang="cs-CZ" dirty="0" smtClean="0"/>
              <a:t/>
            </a:r>
            <a:br>
              <a:rPr lang="cs-CZ" dirty="0" smtClean="0"/>
            </a:br>
            <a:r>
              <a:rPr lang="cs-CZ" dirty="0" smtClean="0"/>
              <a:t>s </a:t>
            </a:r>
            <a:r>
              <a:rPr lang="cs-CZ" dirty="0"/>
              <a:t>hydroxidem, při které vzniká voda a sůl; podstatou je reakce vodíkových kationtů H</a:t>
            </a:r>
            <a:r>
              <a:rPr lang="cs-CZ" baseline="30000" dirty="0"/>
              <a:t>+</a:t>
            </a:r>
            <a:r>
              <a:rPr lang="cs-CZ" dirty="0"/>
              <a:t> (přesněji </a:t>
            </a:r>
            <a:r>
              <a:rPr lang="cs-CZ" dirty="0" err="1"/>
              <a:t>oxonio­vých</a:t>
            </a:r>
            <a:r>
              <a:rPr lang="cs-CZ" dirty="0"/>
              <a:t> kationtů H</a:t>
            </a:r>
            <a:r>
              <a:rPr lang="cs-CZ" baseline="-25000" dirty="0"/>
              <a:t>3</a:t>
            </a:r>
            <a:r>
              <a:rPr lang="cs-CZ" dirty="0"/>
              <a:t>O</a:t>
            </a:r>
            <a:r>
              <a:rPr lang="cs-CZ" baseline="30000" dirty="0"/>
              <a:t>+</a:t>
            </a:r>
            <a:r>
              <a:rPr lang="cs-CZ" dirty="0"/>
              <a:t> ) a hydroxidových aniontů OH</a:t>
            </a:r>
            <a:r>
              <a:rPr lang="cs-CZ" baseline="30000" dirty="0"/>
              <a:t>− </a:t>
            </a:r>
            <a:r>
              <a:rPr lang="cs-CZ" dirty="0"/>
              <a:t>za vzniku molekul vody, např. </a:t>
            </a:r>
            <a:r>
              <a:rPr lang="cs-CZ" dirty="0" err="1"/>
              <a:t>NaOH</a:t>
            </a:r>
            <a:r>
              <a:rPr lang="cs-CZ" dirty="0"/>
              <a:t> + </a:t>
            </a:r>
            <a:r>
              <a:rPr lang="cs-CZ" dirty="0" err="1"/>
              <a:t>HCl→NaCl</a:t>
            </a:r>
            <a:r>
              <a:rPr lang="cs-CZ" dirty="0"/>
              <a:t> + </a:t>
            </a:r>
            <a:r>
              <a:rPr lang="cs-CZ" dirty="0" smtClean="0"/>
              <a:t>H</a:t>
            </a:r>
            <a:r>
              <a:rPr lang="cs-CZ" baseline="-25000" dirty="0" smtClean="0"/>
              <a:t>2</a:t>
            </a:r>
            <a:r>
              <a:rPr lang="cs-CZ" dirty="0" smtClean="0"/>
              <a:t>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710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probíhajícího chemického děje</a:t>
            </a:r>
          </a:p>
          <a:p>
            <a:pPr lvl="1"/>
            <a:r>
              <a:rPr lang="cs-CZ" b="1" dirty="0" smtClean="0"/>
              <a:t>srážecí </a:t>
            </a:r>
            <a:r>
              <a:rPr lang="cs-CZ" b="1" dirty="0"/>
              <a:t>reakce</a:t>
            </a:r>
            <a:r>
              <a:rPr lang="cs-CZ" dirty="0"/>
              <a:t> - z reaktantů v roztoku vzniká alespoň jeden málo rozpust­ný produkt (sraženina), např. BaCl</a:t>
            </a:r>
            <a:r>
              <a:rPr lang="cs-CZ" baseline="-25000" dirty="0"/>
              <a:t>2</a:t>
            </a:r>
            <a:r>
              <a:rPr lang="cs-CZ" dirty="0"/>
              <a:t> + H</a:t>
            </a:r>
            <a:r>
              <a:rPr lang="cs-CZ" baseline="-25000" dirty="0"/>
              <a:t>2</a:t>
            </a:r>
            <a:r>
              <a:rPr lang="cs-CZ" dirty="0"/>
              <a:t>SO</a:t>
            </a:r>
            <a:r>
              <a:rPr lang="cs-CZ" baseline="-25000" dirty="0"/>
              <a:t>4</a:t>
            </a:r>
            <a:r>
              <a:rPr lang="cs-CZ" dirty="0"/>
              <a:t> —&gt; BaSO</a:t>
            </a:r>
            <a:r>
              <a:rPr lang="cs-CZ" baseline="-25000" dirty="0"/>
              <a:t>4</a:t>
            </a:r>
            <a:r>
              <a:rPr lang="cs-CZ" dirty="0"/>
              <a:t> + </a:t>
            </a:r>
            <a:r>
              <a:rPr lang="cs-CZ" dirty="0" smtClean="0"/>
              <a:t>2HCl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7337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probíhajícího chemického děje</a:t>
            </a:r>
          </a:p>
          <a:p>
            <a:pPr lvl="1"/>
            <a:r>
              <a:rPr lang="cs-CZ" b="1" dirty="0" smtClean="0"/>
              <a:t>redoxní </a:t>
            </a:r>
            <a:r>
              <a:rPr lang="cs-CZ" b="1" dirty="0"/>
              <a:t>reakce</a:t>
            </a:r>
            <a:r>
              <a:rPr lang="cs-CZ" dirty="0"/>
              <a:t> - při přeměně reaktantů v produkty dochází ke změně oxidačního čísla atomů, např. </a:t>
            </a:r>
            <a:r>
              <a:rPr lang="cs-CZ" dirty="0" smtClean="0"/>
              <a:t/>
            </a:r>
            <a:br>
              <a:rPr lang="cs-CZ" dirty="0" smtClean="0"/>
            </a:br>
            <a:r>
              <a:rPr lang="cs-CZ" dirty="0" smtClean="0"/>
              <a:t>Zn</a:t>
            </a:r>
            <a:r>
              <a:rPr lang="cs-CZ" baseline="30000" dirty="0" smtClean="0"/>
              <a:t>0</a:t>
            </a:r>
            <a:r>
              <a:rPr lang="cs-CZ" dirty="0"/>
              <a:t>+ 2H</a:t>
            </a:r>
            <a:r>
              <a:rPr lang="cs-CZ" baseline="30000" dirty="0"/>
              <a:t>I</a:t>
            </a:r>
            <a:r>
              <a:rPr lang="cs-CZ" dirty="0"/>
              <a:t>Cl —&gt; Zn</a:t>
            </a:r>
            <a:r>
              <a:rPr lang="cs-CZ" baseline="30000" dirty="0"/>
              <a:t>II</a:t>
            </a:r>
            <a:r>
              <a:rPr lang="cs-CZ" dirty="0"/>
              <a:t>Cl</a:t>
            </a:r>
            <a:r>
              <a:rPr lang="cs-CZ" baseline="-25000" dirty="0"/>
              <a:t>2</a:t>
            </a:r>
            <a:r>
              <a:rPr lang="cs-CZ" dirty="0"/>
              <a:t> + H</a:t>
            </a:r>
            <a:r>
              <a:rPr lang="cs-CZ" baseline="-25000" dirty="0"/>
              <a:t>2</a:t>
            </a:r>
            <a:r>
              <a:rPr lang="cs-CZ" baseline="30000" dirty="0"/>
              <a:t>0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6755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vnějších změn</a:t>
            </a:r>
          </a:p>
          <a:p>
            <a:pPr lvl="1"/>
            <a:r>
              <a:rPr lang="cs-CZ" dirty="0"/>
              <a:t>slučování </a:t>
            </a:r>
            <a:endParaRPr lang="cs-CZ" dirty="0" smtClean="0"/>
          </a:p>
          <a:p>
            <a:pPr lvl="1"/>
            <a:r>
              <a:rPr lang="cs-CZ" dirty="0" smtClean="0"/>
              <a:t>rozklad</a:t>
            </a:r>
            <a:r>
              <a:rPr lang="cs-CZ" dirty="0"/>
              <a:t> </a:t>
            </a:r>
            <a:endParaRPr lang="cs-CZ" dirty="0" smtClean="0"/>
          </a:p>
          <a:p>
            <a:pPr lvl="1"/>
            <a:r>
              <a:rPr lang="cs-CZ" dirty="0" smtClean="0"/>
              <a:t>záměna</a:t>
            </a:r>
            <a:r>
              <a:rPr lang="cs-CZ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1485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vnějších změn</a:t>
            </a:r>
          </a:p>
          <a:p>
            <a:pPr lvl="1"/>
            <a:r>
              <a:rPr lang="cs-CZ" b="1" dirty="0"/>
              <a:t>slučování</a:t>
            </a:r>
            <a:r>
              <a:rPr lang="cs-CZ" dirty="0"/>
              <a:t> - ze dvou reaktantů vzniká jeden produkt, např. </a:t>
            </a:r>
            <a:r>
              <a:rPr lang="cs-CZ" dirty="0" err="1" smtClean="0"/>
              <a:t>Zn</a:t>
            </a:r>
            <a:r>
              <a:rPr lang="cs-CZ" dirty="0" smtClean="0"/>
              <a:t> + S</a:t>
            </a:r>
            <a:r>
              <a:rPr lang="cs-CZ" dirty="0"/>
              <a:t> —&gt; </a:t>
            </a:r>
            <a:r>
              <a:rPr lang="cs-CZ" dirty="0" err="1" smtClean="0"/>
              <a:t>ZnS</a:t>
            </a:r>
            <a:endParaRPr lang="cs-CZ" dirty="0" smtClean="0"/>
          </a:p>
          <a:p>
            <a:pPr lvl="1"/>
            <a:endParaRPr lang="cs-CZ" dirty="0"/>
          </a:p>
          <a:p>
            <a:pPr lvl="1"/>
            <a:endParaRPr lang="cs-CZ" dirty="0" smtClean="0"/>
          </a:p>
          <a:p>
            <a:pPr lvl="1"/>
            <a:endParaRPr lang="cs-CZ" dirty="0"/>
          </a:p>
          <a:p>
            <a:pPr lvl="1"/>
            <a:r>
              <a:rPr lang="cs-CZ" sz="800" dirty="0" smtClean="0">
                <a:hlinkClick r:id="rId2"/>
              </a:rPr>
              <a:t>pokus</a:t>
            </a:r>
            <a:endParaRPr lang="cs-CZ" sz="800" dirty="0"/>
          </a:p>
        </p:txBody>
      </p:sp>
    </p:spTree>
    <p:extLst>
      <p:ext uri="{BB962C8B-B14F-4D97-AF65-F5344CB8AC3E}">
        <p14:creationId xmlns:p14="http://schemas.microsoft.com/office/powerpoint/2010/main" val="128129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vnějších změn</a:t>
            </a:r>
          </a:p>
          <a:p>
            <a:pPr lvl="1"/>
            <a:r>
              <a:rPr lang="cs-CZ" b="1" dirty="0" smtClean="0"/>
              <a:t>rozklad</a:t>
            </a:r>
            <a:r>
              <a:rPr lang="cs-CZ" dirty="0"/>
              <a:t> - z jednoho reaktantu vznikají dva produkty, např. 2H</a:t>
            </a:r>
            <a:r>
              <a:rPr lang="cs-CZ" baseline="-25000" dirty="0"/>
              <a:t>2</a:t>
            </a:r>
            <a:r>
              <a:rPr lang="cs-CZ" dirty="0"/>
              <a:t>O</a:t>
            </a:r>
            <a:r>
              <a:rPr lang="cs-CZ" baseline="-25000" dirty="0"/>
              <a:t>2</a:t>
            </a:r>
            <a:r>
              <a:rPr lang="cs-CZ" dirty="0"/>
              <a:t> —&gt; 2H</a:t>
            </a:r>
            <a:r>
              <a:rPr lang="cs-CZ" baseline="-25000" dirty="0"/>
              <a:t>2</a:t>
            </a:r>
            <a:r>
              <a:rPr lang="cs-CZ" dirty="0"/>
              <a:t>O + </a:t>
            </a:r>
            <a:r>
              <a:rPr lang="cs-CZ" dirty="0" smtClean="0"/>
              <a:t>O</a:t>
            </a:r>
            <a:r>
              <a:rPr lang="cs-CZ" baseline="-25000" dirty="0" smtClean="0"/>
              <a:t>2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01464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vnějších změn</a:t>
            </a:r>
          </a:p>
          <a:p>
            <a:pPr lvl="1"/>
            <a:r>
              <a:rPr lang="cs-CZ" b="1" dirty="0" smtClean="0"/>
              <a:t>záměna</a:t>
            </a:r>
            <a:r>
              <a:rPr lang="cs-CZ" dirty="0"/>
              <a:t> - mezi dvěma reaktanty dojde k vzájemné záměně atomu či ato­mové skupiny, např. </a:t>
            </a:r>
            <a:r>
              <a:rPr lang="cs-CZ" dirty="0" smtClean="0"/>
              <a:t/>
            </a:r>
            <a:br>
              <a:rPr lang="cs-CZ" dirty="0" smtClean="0"/>
            </a:br>
            <a:r>
              <a:rPr lang="cs-CZ" dirty="0" smtClean="0"/>
              <a:t>AgNO</a:t>
            </a:r>
            <a:r>
              <a:rPr lang="cs-CZ" baseline="-25000" dirty="0" smtClean="0"/>
              <a:t>3</a:t>
            </a:r>
            <a:r>
              <a:rPr lang="cs-CZ" dirty="0"/>
              <a:t> + </a:t>
            </a:r>
            <a:r>
              <a:rPr lang="cs-CZ" dirty="0" err="1"/>
              <a:t>NaCl</a:t>
            </a:r>
            <a:r>
              <a:rPr lang="cs-CZ" dirty="0"/>
              <a:t> —&gt; NaNO</a:t>
            </a:r>
            <a:r>
              <a:rPr lang="cs-CZ" baseline="-25000" dirty="0"/>
              <a:t>3</a:t>
            </a:r>
            <a:r>
              <a:rPr lang="cs-CZ" dirty="0"/>
              <a:t> + </a:t>
            </a:r>
            <a:r>
              <a:rPr lang="cs-CZ" dirty="0" err="1"/>
              <a:t>AgCl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7394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výměny tepla s okolím</a:t>
            </a:r>
          </a:p>
          <a:p>
            <a:pPr lvl="1"/>
            <a:r>
              <a:rPr lang="cs-CZ" b="1" dirty="0"/>
              <a:t>exotermické</a:t>
            </a:r>
            <a:r>
              <a:rPr lang="cs-CZ" dirty="0"/>
              <a:t> reakce (teplo se při nich uvolňuje)</a:t>
            </a:r>
          </a:p>
          <a:p>
            <a:pPr lvl="1"/>
            <a:r>
              <a:rPr lang="cs-CZ" b="1" dirty="0"/>
              <a:t>endotermické</a:t>
            </a:r>
            <a:r>
              <a:rPr lang="cs-CZ" dirty="0"/>
              <a:t> reakce (teplo se spotřebovává)</a:t>
            </a:r>
          </a:p>
        </p:txBody>
      </p:sp>
    </p:spTree>
    <p:extLst>
      <p:ext uri="{BB962C8B-B14F-4D97-AF65-F5344CB8AC3E}">
        <p14:creationId xmlns:p14="http://schemas.microsoft.com/office/powerpoint/2010/main" val="542861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/>
              <a:t>TŘÍDĚNÍ CHEMICKÝCH REAKCÍ</a:t>
            </a:r>
            <a:endParaRPr lang="cs-CZ" b="1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podle použití katalyzátoru</a:t>
            </a:r>
          </a:p>
          <a:p>
            <a:pPr lvl="1"/>
            <a:r>
              <a:rPr lang="cs-CZ" b="1" dirty="0"/>
              <a:t>katalyzované</a:t>
            </a:r>
            <a:endParaRPr lang="cs-CZ" dirty="0"/>
          </a:p>
          <a:p>
            <a:pPr lvl="1"/>
            <a:r>
              <a:rPr lang="cs-CZ" b="1" dirty="0"/>
              <a:t>nekatalyzované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094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ohatý">
  <a:themeElements>
    <a:clrScheme name="Bohat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Bohat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ohat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2532</TotalTime>
  <Words>464</Words>
  <Application>Microsoft Office PowerPoint</Application>
  <PresentationFormat>Předvádění na obrazovce (4:3)</PresentationFormat>
  <Paragraphs>107</Paragraphs>
  <Slides>30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30</vt:i4>
      </vt:variant>
    </vt:vector>
  </HeadingPairs>
  <TitlesOfParts>
    <vt:vector size="31" baseType="lpstr">
      <vt:lpstr>Bohatý</vt:lpstr>
      <vt:lpstr>CHEMICKÉ REAKCE</vt:lpstr>
      <vt:lpstr>CHEMICKÁ REAKCE</vt:lpstr>
      <vt:lpstr>CHEMICKÁ ROVNICE</vt:lpstr>
      <vt:lpstr>CHEMICKÁ ROVNICE</vt:lpstr>
      <vt:lpstr>CHEMICKÁ ROVNICE</vt:lpstr>
      <vt:lpstr>CHEMICKÁ ROVNICE</vt:lpstr>
      <vt:lpstr>CHEMICKÁ ROVNICE</vt:lpstr>
      <vt:lpstr>CHEMICKÁ ROVNICE</vt:lpstr>
      <vt:lpstr>CHEMICKÁ ROVNICE</vt:lpstr>
      <vt:lpstr>Zapište chemickou rovnicí</vt:lpstr>
      <vt:lpstr>Zapište chemickou rovnicí</vt:lpstr>
      <vt:lpstr>Zapište chemickou rovnicí</vt:lpstr>
      <vt:lpstr>Zapište chemickou rovnicí</vt:lpstr>
      <vt:lpstr>Zapište chemickou rovnicí</vt:lpstr>
      <vt:lpstr>Zapište chemickou rovnicí</vt:lpstr>
      <vt:lpstr>Zapište chemickou rovnicí</vt:lpstr>
      <vt:lpstr>Zapište chemickou rovnicí</vt:lpstr>
      <vt:lpstr>Zapište chemickou rovnicí</vt:lpstr>
      <vt:lpstr>Zapište chemickou rovnicí</vt:lpstr>
      <vt:lpstr>CHEMICKÁ ROVNICE</vt:lpstr>
      <vt:lpstr>TŘÍDĚNÍ CHEMICKÝCH REAKCÍ</vt:lpstr>
      <vt:lpstr>TŘÍDĚNÍ CHEMICKÝCH REAKCÍ</vt:lpstr>
      <vt:lpstr>TŘÍDĚNÍ CHEMICKÝCH REAKCÍ</vt:lpstr>
      <vt:lpstr>TŘÍDĚNÍ CHEMICKÝCH REAKCÍ</vt:lpstr>
      <vt:lpstr>TŘÍDĚNÍ CHEMICKÝCH REAKCÍ</vt:lpstr>
      <vt:lpstr>TŘÍDĚNÍ CHEMICKÝCH REAKCÍ</vt:lpstr>
      <vt:lpstr>TŘÍDĚNÍ CHEMICKÝCH REAKCÍ</vt:lpstr>
      <vt:lpstr>TŘÍDĚNÍ CHEMICKÝCH REAKCÍ</vt:lpstr>
      <vt:lpstr>TŘÍDĚNÍ CHEMICKÝCH REAKCÍ</vt:lpstr>
      <vt:lpstr>TŘÍDĚNÍ CHEMICKÝCH REAKCÍ</vt:lpstr>
    </vt:vector>
  </TitlesOfParts>
  <Company>DELTA - SŠIE, s.r.o.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Mgr. Jitka Buhrová</dc:creator>
  <cp:lastModifiedBy>Uživatel systému Windows</cp:lastModifiedBy>
  <cp:revision>25</cp:revision>
  <dcterms:created xsi:type="dcterms:W3CDTF">2015-10-11T15:37:18Z</dcterms:created>
  <dcterms:modified xsi:type="dcterms:W3CDTF">2020-10-07T18:43:10Z</dcterms:modified>
</cp:coreProperties>
</file>