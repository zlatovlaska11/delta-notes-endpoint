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3" r:id="rId4"/>
    <p:sldId id="258" r:id="rId5"/>
    <p:sldId id="265" r:id="rId6"/>
    <p:sldId id="269" r:id="rId7"/>
    <p:sldId id="267" r:id="rId8"/>
    <p:sldId id="259" r:id="rId9"/>
    <p:sldId id="260" r:id="rId10"/>
    <p:sldId id="261" r:id="rId11"/>
    <p:sldId id="268" r:id="rId12"/>
    <p:sldId id="270" r:id="rId13"/>
    <p:sldId id="271" r:id="rId14"/>
    <p:sldId id="272" r:id="rId15"/>
    <p:sldId id="273" r:id="rId16"/>
    <p:sldId id="275" r:id="rId17"/>
    <p:sldId id="276" r:id="rId18"/>
    <p:sldId id="262" r:id="rId19"/>
    <p:sldId id="274" r:id="rId20"/>
  </p:sldIdLst>
  <p:sldSz cx="9144000" cy="6858000" type="screen4x3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Bez stylu, mřížka tabulky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6" d="100"/>
          <a:sy n="76" d="100"/>
        </p:scale>
        <p:origin x="-1176" y="2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cs-CZ" smtClean="0"/>
              <a:t>Klepnutím lze upravit styl předlohy nadpisů.</a:t>
            </a:r>
            <a:endParaRPr lang="cs-CZ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 smtClean="0"/>
              <a:t>Klepnutím lze upravit styl předlohy podnadpisů.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9D14A-3BA6-4F49-8E0F-4B7E5C4D1421}" type="datetimeFigureOut">
              <a:rPr lang="cs-CZ" smtClean="0"/>
              <a:pPr/>
              <a:t>19.10.2015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37279-AB20-4781-AA71-4405599C1A9E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Klepnutím lze upravit styl předlohy nadpisů.</a:t>
            </a:r>
            <a:endParaRPr lang="cs-CZ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 smtClean="0"/>
              <a:t>Klepnutím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9D14A-3BA6-4F49-8E0F-4B7E5C4D1421}" type="datetimeFigureOut">
              <a:rPr lang="cs-CZ" smtClean="0"/>
              <a:pPr/>
              <a:t>19.10.2015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37279-AB20-4781-AA71-4405599C1A9E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cs-CZ" smtClean="0"/>
              <a:t>Klepnutím lze upravit styl předlohy nadpisů.</a:t>
            </a:r>
            <a:endParaRPr lang="cs-CZ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 smtClean="0"/>
              <a:t>Klepnutím lze upravit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9D14A-3BA6-4F49-8E0F-4B7E5C4D1421}" type="datetimeFigureOut">
              <a:rPr lang="cs-CZ" smtClean="0"/>
              <a:pPr/>
              <a:t>19.10.2015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37279-AB20-4781-AA71-4405599C1A9E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Klepnutím lze upravit styl předlohy nadpisů.</a:t>
            </a:r>
            <a:endParaRPr lang="cs-CZ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 smtClean="0"/>
              <a:t>Klepnutím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 smtClean="0"/>
              <a:t>Klepnutím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9D14A-3BA6-4F49-8E0F-4B7E5C4D1421}" type="datetimeFigureOut">
              <a:rPr lang="cs-CZ" smtClean="0"/>
              <a:pPr/>
              <a:t>19.10.2015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37279-AB20-4781-AA71-4405599C1A9E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smtClean="0"/>
              <a:t>Klepnutím lze upravit styl předlohy nadpisů.</a:t>
            </a:r>
            <a:endParaRPr lang="cs-CZ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smtClean="0"/>
              <a:t>Klepnutím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smtClean="0"/>
              <a:t>Klepnutím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smtClean="0"/>
              <a:t>Klepnutím lze upravit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smtClean="0"/>
              <a:t>Klepnutím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9D14A-3BA6-4F49-8E0F-4B7E5C4D1421}" type="datetimeFigureOut">
              <a:rPr lang="cs-CZ" smtClean="0"/>
              <a:pPr/>
              <a:t>19.10.2015</a:t>
            </a:fld>
            <a:endParaRPr lang="cs-CZ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37279-AB20-4781-AA71-4405599C1A9E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Klepnutím lze upravit styl předlohy nadpisů.</a:t>
            </a:r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9D14A-3BA6-4F49-8E0F-4B7E5C4D1421}" type="datetimeFigureOut">
              <a:rPr lang="cs-CZ" smtClean="0"/>
              <a:pPr/>
              <a:t>19.10.2015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37279-AB20-4781-AA71-4405599C1A9E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9D14A-3BA6-4F49-8E0F-4B7E5C4D1421}" type="datetimeFigureOut">
              <a:rPr lang="cs-CZ" smtClean="0"/>
              <a:pPr/>
              <a:t>19.10.2015</a:t>
            </a:fld>
            <a:endParaRPr lang="cs-CZ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37279-AB20-4781-AA71-4405599C1A9E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 smtClean="0"/>
              <a:t>Klepnutím lze upravit styl předlohy nadpisů.</a:t>
            </a:r>
            <a:endParaRPr lang="cs-CZ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 smtClean="0"/>
              <a:t>Klepnutím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 smtClean="0"/>
              <a:t>Klepnutím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9D14A-3BA6-4F49-8E0F-4B7E5C4D1421}" type="datetimeFigureOut">
              <a:rPr lang="cs-CZ" smtClean="0"/>
              <a:pPr/>
              <a:t>19.10.2015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37279-AB20-4781-AA71-4405599C1A9E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 smtClean="0"/>
              <a:t>Klepnutím lze upravit styl předlohy nadpisů.</a:t>
            </a:r>
            <a:endParaRPr lang="cs-CZ"/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 smtClean="0"/>
              <a:t>Klepnutím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9D14A-3BA6-4F49-8E0F-4B7E5C4D1421}" type="datetimeFigureOut">
              <a:rPr lang="cs-CZ" smtClean="0"/>
              <a:pPr/>
              <a:t>19.10.2015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37279-AB20-4781-AA71-4405599C1A9E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Klepnutím lze upravit styl předlohy nadpisů.</a:t>
            </a:r>
            <a:endParaRPr lang="cs-CZ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 smtClean="0"/>
              <a:t>Klepnutím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9D14A-3BA6-4F49-8E0F-4B7E5C4D1421}" type="datetimeFigureOut">
              <a:rPr lang="cs-CZ" smtClean="0"/>
              <a:pPr/>
              <a:t>19.10.2015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37279-AB20-4781-AA71-4405599C1A9E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cs-CZ" smtClean="0"/>
              <a:t>Klepnutím lze upravit styl předlohy nadpisů.</a:t>
            </a:r>
            <a:endParaRPr lang="cs-CZ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cs-CZ" smtClean="0"/>
              <a:t>Klepnutím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9D14A-3BA6-4F49-8E0F-4B7E5C4D1421}" type="datetimeFigureOut">
              <a:rPr lang="cs-CZ" smtClean="0"/>
              <a:pPr/>
              <a:t>19.10.2015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37279-AB20-4781-AA71-4405599C1A9E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 smtClean="0"/>
              <a:t>Klepnutím lze upravit styl předlohy nadpisů.</a:t>
            </a:r>
            <a:endParaRPr lang="cs-CZ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smtClean="0"/>
              <a:t>Klepnutím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69D14A-3BA6-4F49-8E0F-4B7E5C4D1421}" type="datetimeFigureOut">
              <a:rPr lang="cs-CZ" smtClean="0"/>
              <a:pPr/>
              <a:t>19.10.2015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737279-AB20-4781-AA71-4405599C1A9E}" type="slidenum">
              <a:rPr lang="cs-CZ" smtClean="0"/>
              <a:pPr/>
              <a:t>‹#›</a:t>
            </a:fld>
            <a:endParaRPr lang="cs-CZ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Chemie.pdf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://video.idnes.cz/?c=A150916_120409_ekoakcie_fih&amp;idvideo=V150825_194320_kultura_sha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 smtClean="0"/>
              <a:t>CHEMICKÉ PRVKY</a:t>
            </a:r>
            <a:endParaRPr lang="cs-CZ" dirty="0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 dirty="0" smtClean="0"/>
              <a:t>KOVY</a:t>
            </a:r>
            <a:endParaRPr lang="cs-CZ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KOVY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cs-CZ" cap="all" dirty="0" smtClean="0"/>
              <a:t>alkalické kovy</a:t>
            </a:r>
          </a:p>
          <a:p>
            <a:r>
              <a:rPr lang="cs-CZ" cap="all" dirty="0" smtClean="0"/>
              <a:t>železo</a:t>
            </a:r>
          </a:p>
          <a:p>
            <a:r>
              <a:rPr lang="cs-CZ" cap="all" dirty="0" smtClean="0"/>
              <a:t>hliník</a:t>
            </a:r>
          </a:p>
          <a:p>
            <a:r>
              <a:rPr lang="cs-CZ" cap="all" dirty="0" smtClean="0"/>
              <a:t>měď</a:t>
            </a:r>
          </a:p>
          <a:p>
            <a:endParaRPr lang="cs-CZ" dirty="0"/>
          </a:p>
          <a:p>
            <a:r>
              <a:rPr lang="cs-CZ" dirty="0" smtClean="0"/>
              <a:t>kujné</a:t>
            </a:r>
          </a:p>
          <a:p>
            <a:r>
              <a:rPr lang="cs-CZ" dirty="0" smtClean="0"/>
              <a:t>elektricky vodivé</a:t>
            </a:r>
          </a:p>
          <a:p>
            <a:r>
              <a:rPr lang="cs-CZ" dirty="0" smtClean="0"/>
              <a:t>tepelně vodivé</a:t>
            </a:r>
          </a:p>
          <a:p>
            <a:endParaRPr lang="cs-CZ" dirty="0"/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cs-CZ" cap="all" dirty="0" smtClean="0"/>
              <a:t>stříbro</a:t>
            </a:r>
          </a:p>
          <a:p>
            <a:r>
              <a:rPr lang="cs-CZ" cap="all" dirty="0" smtClean="0"/>
              <a:t>zlato</a:t>
            </a:r>
          </a:p>
          <a:p>
            <a:r>
              <a:rPr lang="cs-CZ" cap="all" dirty="0" smtClean="0"/>
              <a:t>titan</a:t>
            </a:r>
          </a:p>
          <a:p>
            <a:r>
              <a:rPr lang="cs-CZ" cap="all" dirty="0" smtClean="0"/>
              <a:t>platina</a:t>
            </a:r>
            <a:endParaRPr lang="cs-CZ" cap="all" dirty="0"/>
          </a:p>
          <a:p>
            <a:endParaRPr lang="cs-CZ" dirty="0" smtClean="0"/>
          </a:p>
          <a:p>
            <a:r>
              <a:rPr lang="cs-CZ" dirty="0" smtClean="0"/>
              <a:t>za běžných podmínek pevné látky</a:t>
            </a:r>
          </a:p>
          <a:p>
            <a:r>
              <a:rPr lang="cs-CZ" dirty="0" smtClean="0"/>
              <a:t>kapalná pouze </a:t>
            </a:r>
            <a:r>
              <a:rPr lang="cs-CZ" dirty="0" err="1" smtClean="0"/>
              <a:t>Hg</a:t>
            </a:r>
            <a:endParaRPr lang="cs-CZ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adpis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ALKALICKÉ KOVY = Li, Na, K</a:t>
            </a:r>
            <a:endParaRPr lang="cs-CZ" dirty="0"/>
          </a:p>
        </p:txBody>
      </p:sp>
      <p:sp>
        <p:nvSpPr>
          <p:cNvPr id="6" name="Zástupný symbol pro obsah 5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144"/>
          </a:xfrm>
        </p:spPr>
        <p:txBody>
          <a:bodyPr>
            <a:normAutofit fontScale="92500" lnSpcReduction="10000"/>
          </a:bodyPr>
          <a:lstStyle/>
          <a:p>
            <a:r>
              <a:rPr lang="cs-CZ" dirty="0" smtClean="0"/>
              <a:t>prvky 1. skupiny PSP, velmi reaktivní</a:t>
            </a:r>
          </a:p>
          <a:p>
            <a:r>
              <a:rPr lang="cs-CZ" dirty="0" smtClean="0"/>
              <a:t>stříbrolesklé pevné látky, malá hustota, malá teplota tání, ze všech kovů nejreaktivnější</a:t>
            </a:r>
          </a:p>
          <a:p>
            <a:r>
              <a:rPr lang="cs-CZ" dirty="0" smtClean="0"/>
              <a:t>v přírodě pouze ve sloučeninách</a:t>
            </a:r>
          </a:p>
          <a:p>
            <a:r>
              <a:rPr lang="cs-CZ" dirty="0" smtClean="0"/>
              <a:t>s vodou prudce reagují za vzniku vodíku a příslušného hydroxidu</a:t>
            </a:r>
            <a:br>
              <a:rPr lang="cs-CZ" dirty="0" smtClean="0"/>
            </a:br>
            <a:r>
              <a:rPr lang="cs-CZ" dirty="0" smtClean="0"/>
              <a:t>2Na + 2H</a:t>
            </a:r>
            <a:r>
              <a:rPr lang="cs-CZ" baseline="-25000" dirty="0" smtClean="0"/>
              <a:t>2</a:t>
            </a:r>
            <a:r>
              <a:rPr lang="cs-CZ" dirty="0" smtClean="0"/>
              <a:t>O </a:t>
            </a:r>
            <a:r>
              <a:rPr lang="cs-CZ" dirty="0" smtClean="0">
                <a:sym typeface="Symbol"/>
              </a:rPr>
              <a:t> 2NaOH + H</a:t>
            </a:r>
            <a:r>
              <a:rPr lang="cs-CZ" baseline="-25000" dirty="0" smtClean="0">
                <a:sym typeface="Symbol"/>
              </a:rPr>
              <a:t>2</a:t>
            </a:r>
            <a:r>
              <a:rPr lang="cs-CZ" dirty="0" smtClean="0"/>
              <a:t> </a:t>
            </a:r>
          </a:p>
          <a:p>
            <a:r>
              <a:rPr lang="cs-CZ" dirty="0" smtClean="0"/>
              <a:t>protože jsou samozápalné, uchovávají se </a:t>
            </a:r>
            <a:br>
              <a:rPr lang="cs-CZ" dirty="0" smtClean="0"/>
            </a:br>
            <a:r>
              <a:rPr lang="cs-CZ" dirty="0" smtClean="0"/>
              <a:t>v laboratořích používaný Na a K  pod petrolejem nebo silikonovým olejem			</a:t>
            </a:r>
            <a:r>
              <a:rPr lang="cs-CZ" dirty="0" smtClean="0">
                <a:hlinkClick r:id="rId2" action="ppaction://hlinkfile"/>
              </a:rPr>
              <a:t>pokus</a:t>
            </a:r>
            <a:endParaRPr lang="cs-CZ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KOVY</a:t>
            </a:r>
            <a:endParaRPr lang="cs-CZ" dirty="0"/>
          </a:p>
        </p:txBody>
      </p:sp>
      <p:pic>
        <p:nvPicPr>
          <p:cNvPr id="522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3037" y="1268760"/>
            <a:ext cx="8970963" cy="1790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22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55576" y="3140968"/>
            <a:ext cx="7488832" cy="35341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adpis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ŽELEZO = </a:t>
            </a:r>
            <a:r>
              <a:rPr lang="cs-CZ" dirty="0" err="1" smtClean="0"/>
              <a:t>Fe</a:t>
            </a:r>
            <a:endParaRPr lang="cs-CZ" dirty="0"/>
          </a:p>
        </p:txBody>
      </p:sp>
      <p:sp>
        <p:nvSpPr>
          <p:cNvPr id="6" name="Zástupný symbol pro obsah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smtClean="0"/>
              <a:t>čisté (meteoritické) je stříbřitě lesklý, poměrně měkký, korozi odolný kov, biogenní prvek</a:t>
            </a:r>
          </a:p>
          <a:p>
            <a:r>
              <a:rPr lang="cs-CZ" dirty="0" smtClean="0"/>
              <a:t>na Zemi v železných rudách, zpracovává se ve vysoké peci pomocí reakce s uhlíkem (koksem), vzniká litina</a:t>
            </a:r>
          </a:p>
          <a:p>
            <a:r>
              <a:rPr lang="cs-CZ" dirty="0" smtClean="0"/>
              <a:t>odstraněním příměsí vzniká ocel</a:t>
            </a:r>
          </a:p>
          <a:p>
            <a:endParaRPr lang="cs-CZ" dirty="0"/>
          </a:p>
        </p:txBody>
      </p:sp>
      <p:sp>
        <p:nvSpPr>
          <p:cNvPr id="1029" name="AutoShape 5" descr="Výsledek obrázku pro sideri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cs-CZ"/>
          </a:p>
        </p:txBody>
      </p:sp>
      <p:sp>
        <p:nvSpPr>
          <p:cNvPr id="1031" name="AutoShape 7" descr="Výsledek obrázku pro sideri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cs-CZ"/>
          </a:p>
        </p:txBody>
      </p:sp>
      <p:graphicFrame>
        <p:nvGraphicFramePr>
          <p:cNvPr id="14" name="Tabulka 13"/>
          <p:cNvGraphicFramePr>
            <a:graphicFrameLocks noGrp="1"/>
          </p:cNvGraphicFramePr>
          <p:nvPr/>
        </p:nvGraphicFramePr>
        <p:xfrm>
          <a:off x="827584" y="4937760"/>
          <a:ext cx="7344000" cy="1920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48000"/>
                <a:gridCol w="2340000"/>
                <a:gridCol w="3456000"/>
              </a:tblGrid>
              <a:tr h="370840">
                <a:tc>
                  <a:txBody>
                    <a:bodyPr/>
                    <a:lstStyle/>
                    <a:p>
                      <a:r>
                        <a:rPr lang="cs-CZ" dirty="0" smtClean="0"/>
                        <a:t>nerez ocel</a:t>
                      </a:r>
                      <a:endParaRPr lang="cs-CZ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s-CZ" dirty="0" err="1" smtClean="0"/>
                        <a:t>Fe</a:t>
                      </a:r>
                      <a:r>
                        <a:rPr lang="cs-CZ" dirty="0" smtClean="0"/>
                        <a:t> (80,6%), C (0,4%), </a:t>
                      </a:r>
                      <a:r>
                        <a:rPr lang="cs-CZ" dirty="0" err="1" smtClean="0"/>
                        <a:t>Cr</a:t>
                      </a:r>
                      <a:r>
                        <a:rPr lang="cs-CZ" dirty="0" smtClean="0"/>
                        <a:t> (17%),</a:t>
                      </a:r>
                      <a:r>
                        <a:rPr lang="cs-CZ" baseline="0" dirty="0" smtClean="0"/>
                        <a:t> </a:t>
                      </a:r>
                      <a:r>
                        <a:rPr lang="cs-CZ" dirty="0" smtClean="0"/>
                        <a:t>Ni (1%)</a:t>
                      </a:r>
                      <a:endParaRPr lang="cs-CZ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s-CZ" dirty="0" smtClean="0"/>
                        <a:t>potravinářská zařízení,</a:t>
                      </a:r>
                      <a:r>
                        <a:rPr lang="cs-CZ" baseline="0" dirty="0" smtClean="0"/>
                        <a:t> </a:t>
                      </a:r>
                      <a:br>
                        <a:rPr lang="cs-CZ" baseline="0" dirty="0" smtClean="0"/>
                      </a:br>
                      <a:r>
                        <a:rPr lang="cs-CZ" baseline="0" dirty="0" smtClean="0"/>
                        <a:t>chirurgi</a:t>
                      </a:r>
                      <a:r>
                        <a:rPr lang="cs-CZ" dirty="0" smtClean="0"/>
                        <a:t>cké  nástroje</a:t>
                      </a:r>
                      <a:endParaRPr lang="cs-CZ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cs-CZ" dirty="0" smtClean="0"/>
                        <a:t>vanadová ocel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s-CZ" dirty="0" err="1" smtClean="0"/>
                        <a:t>Fe</a:t>
                      </a:r>
                      <a:r>
                        <a:rPr lang="cs-CZ" dirty="0" smtClean="0"/>
                        <a:t> (98,9%), C (1%),  </a:t>
                      </a:r>
                      <a:br>
                        <a:rPr lang="cs-CZ" dirty="0" smtClean="0"/>
                      </a:br>
                      <a:r>
                        <a:rPr lang="cs-CZ" dirty="0" smtClean="0"/>
                        <a:t>V (0,1%)</a:t>
                      </a:r>
                      <a:endParaRPr lang="cs-CZ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s-CZ" dirty="0" smtClean="0"/>
                        <a:t>automobilový průmysl</a:t>
                      </a:r>
                      <a:endParaRPr lang="cs-CZ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cs-CZ" dirty="0" smtClean="0"/>
                        <a:t>pružinová ocel</a:t>
                      </a:r>
                      <a:endParaRPr lang="cs-CZ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s-CZ" dirty="0" err="1" smtClean="0"/>
                        <a:t>Fe</a:t>
                      </a:r>
                      <a:r>
                        <a:rPr lang="cs-CZ" dirty="0" smtClean="0"/>
                        <a:t> (98,6%), </a:t>
                      </a:r>
                      <a:r>
                        <a:rPr lang="cs-CZ" dirty="0" err="1" smtClean="0"/>
                        <a:t>Cr</a:t>
                      </a:r>
                      <a:r>
                        <a:rPr lang="cs-CZ" dirty="0" smtClean="0"/>
                        <a:t> (1%), </a:t>
                      </a:r>
                      <a:br>
                        <a:rPr lang="cs-CZ" dirty="0" smtClean="0"/>
                      </a:br>
                      <a:r>
                        <a:rPr lang="cs-CZ" dirty="0" smtClean="0"/>
                        <a:t>C (0,4%), </a:t>
                      </a:r>
                      <a:endParaRPr lang="cs-CZ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s-CZ" dirty="0" smtClean="0"/>
                        <a:t>pružiny,</a:t>
                      </a:r>
                      <a:r>
                        <a:rPr lang="cs-CZ" baseline="0" dirty="0" smtClean="0"/>
                        <a:t> žiletky</a:t>
                      </a:r>
                      <a:endParaRPr lang="cs-CZ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adpis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ŽELEZO = </a:t>
            </a:r>
            <a:r>
              <a:rPr lang="cs-CZ" dirty="0" err="1" smtClean="0"/>
              <a:t>Fe</a:t>
            </a:r>
            <a:endParaRPr lang="cs-CZ" dirty="0"/>
          </a:p>
        </p:txBody>
      </p:sp>
      <p:sp>
        <p:nvSpPr>
          <p:cNvPr id="6" name="Zástupný symbol pro obsah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smtClean="0"/>
              <a:t>hnědel, krevel, siderit, pyrit, magnetit</a:t>
            </a:r>
          </a:p>
          <a:p>
            <a:endParaRPr lang="cs-CZ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3528" y="2204864"/>
            <a:ext cx="1922474" cy="14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19672" y="3717032"/>
            <a:ext cx="1922474" cy="14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9" name="AutoShape 5" descr="Výsledek obrázku pro sideri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cs-CZ"/>
          </a:p>
        </p:txBody>
      </p:sp>
      <p:sp>
        <p:nvSpPr>
          <p:cNvPr id="1031" name="AutoShape 7" descr="Výsledek obrázku pro sideri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cs-CZ"/>
          </a:p>
        </p:txBody>
      </p:sp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203848" y="2060848"/>
            <a:ext cx="1432381" cy="14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427984" y="3717032"/>
            <a:ext cx="1922474" cy="14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4" name="Picture 10"/>
          <p:cNvPicPr>
            <a:picLocks noChangeAspect="1" noChangeArrowheads="1"/>
          </p:cNvPicPr>
          <p:nvPr/>
        </p:nvPicPr>
        <p:blipFill>
          <a:blip r:embed="rId6"/>
          <a:srcRect l="19565" r="11852"/>
          <a:stretch>
            <a:fillRect/>
          </a:stretch>
        </p:blipFill>
        <p:spPr bwMode="auto">
          <a:xfrm>
            <a:off x="6588224" y="2204864"/>
            <a:ext cx="1872208" cy="14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adpis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ŽELEZO = </a:t>
            </a:r>
            <a:r>
              <a:rPr lang="cs-CZ" dirty="0" err="1" smtClean="0"/>
              <a:t>Fe</a:t>
            </a:r>
            <a:endParaRPr lang="cs-CZ" dirty="0"/>
          </a:p>
        </p:txBody>
      </p:sp>
      <p:sp>
        <p:nvSpPr>
          <p:cNvPr id="6" name="Zástupný symbol pro obsah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smtClean="0"/>
              <a:t>koroze – působením povětrnostních živlů</a:t>
            </a:r>
          </a:p>
          <a:p>
            <a:r>
              <a:rPr lang="cs-CZ" dirty="0" smtClean="0">
                <a:hlinkClick r:id="rId2"/>
              </a:rPr>
              <a:t>ochrana</a:t>
            </a:r>
            <a:r>
              <a:rPr lang="cs-CZ" dirty="0" smtClean="0"/>
              <a:t>   </a:t>
            </a:r>
          </a:p>
          <a:p>
            <a:r>
              <a:rPr lang="cs-CZ" dirty="0" smtClean="0"/>
              <a:t>vázán v hemoglobinu</a:t>
            </a:r>
          </a:p>
          <a:p>
            <a:r>
              <a:rPr lang="cs-CZ" dirty="0" smtClean="0"/>
              <a:t>člověkem využíván od starověku</a:t>
            </a:r>
          </a:p>
          <a:p>
            <a:endParaRPr lang="cs-CZ" dirty="0" smtClean="0"/>
          </a:p>
          <a:p>
            <a:endParaRPr lang="cs-CZ" dirty="0" smtClean="0"/>
          </a:p>
          <a:p>
            <a:endParaRPr lang="cs-CZ" dirty="0"/>
          </a:p>
        </p:txBody>
      </p:sp>
      <p:sp>
        <p:nvSpPr>
          <p:cNvPr id="1029" name="AutoShape 5" descr="Výsledek obrázku pro sideri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cs-CZ"/>
          </a:p>
        </p:txBody>
      </p:sp>
      <p:sp>
        <p:nvSpPr>
          <p:cNvPr id="1031" name="AutoShape 7" descr="Výsledek obrázku pro sideri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cs-CZ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KOVY</a:t>
            </a:r>
            <a:endParaRPr lang="cs-CZ" dirty="0"/>
          </a:p>
        </p:txBody>
      </p:sp>
      <p:pic>
        <p:nvPicPr>
          <p:cNvPr id="532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" y="457200"/>
            <a:ext cx="9066213" cy="594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260648"/>
            <a:ext cx="8601075" cy="199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1938" y="347663"/>
            <a:ext cx="8620125" cy="6162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adpis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HLINÍK = </a:t>
            </a:r>
            <a:r>
              <a:rPr lang="cs-CZ" dirty="0" err="1" smtClean="0"/>
              <a:t>Al</a:t>
            </a:r>
            <a:endParaRPr lang="cs-CZ" dirty="0"/>
          </a:p>
        </p:txBody>
      </p:sp>
      <p:sp>
        <p:nvSpPr>
          <p:cNvPr id="6" name="Zástupný symbol pro obsah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smtClean="0"/>
              <a:t>stříbrolesklý kov</a:t>
            </a:r>
          </a:p>
          <a:p>
            <a:r>
              <a:rPr lang="cs-CZ" dirty="0" smtClean="0"/>
              <a:t>alobal, ešusy, CD, DVD, elektrotechnika</a:t>
            </a:r>
          </a:p>
          <a:p>
            <a:r>
              <a:rPr lang="cs-CZ" dirty="0" smtClean="0"/>
              <a:t>na vzduchu stálý</a:t>
            </a:r>
          </a:p>
          <a:p>
            <a:r>
              <a:rPr lang="cs-CZ" dirty="0" smtClean="0"/>
              <a:t>dural = sloučenina s Mg, </a:t>
            </a:r>
            <a:r>
              <a:rPr lang="cs-CZ" dirty="0" err="1" smtClean="0"/>
              <a:t>Mn</a:t>
            </a:r>
            <a:r>
              <a:rPr lang="cs-CZ" dirty="0" smtClean="0"/>
              <a:t>, </a:t>
            </a:r>
            <a:r>
              <a:rPr lang="cs-CZ" dirty="0" err="1" smtClean="0"/>
              <a:t>Cu</a:t>
            </a:r>
            <a:endParaRPr lang="cs-CZ" dirty="0" smtClean="0"/>
          </a:p>
          <a:p>
            <a:endParaRPr lang="cs-CZ" dirty="0" smtClean="0"/>
          </a:p>
          <a:p>
            <a:endParaRPr lang="cs-CZ" dirty="0" smtClean="0"/>
          </a:p>
          <a:p>
            <a:endParaRPr lang="cs-CZ" dirty="0" smtClean="0"/>
          </a:p>
          <a:p>
            <a:endParaRPr lang="cs-CZ" dirty="0"/>
          </a:p>
        </p:txBody>
      </p:sp>
      <p:sp>
        <p:nvSpPr>
          <p:cNvPr id="1029" name="AutoShape 5" descr="Výsledek obrázku pro sideri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cs-CZ"/>
          </a:p>
        </p:txBody>
      </p:sp>
      <p:sp>
        <p:nvSpPr>
          <p:cNvPr id="1031" name="AutoShape 7" descr="Výsledek obrázku pro sideri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cs-CZ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2160" y="4149080"/>
            <a:ext cx="1922474" cy="144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adpis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MĚĎ = </a:t>
            </a:r>
            <a:r>
              <a:rPr lang="cs-CZ" dirty="0" err="1" smtClean="0"/>
              <a:t>Cu</a:t>
            </a:r>
            <a:endParaRPr lang="cs-CZ" dirty="0"/>
          </a:p>
        </p:txBody>
      </p:sp>
      <p:sp>
        <p:nvSpPr>
          <p:cNvPr id="6" name="Zástupný symbol pro obsah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smtClean="0"/>
              <a:t>hnědočervený stálý kov</a:t>
            </a:r>
          </a:p>
          <a:p>
            <a:r>
              <a:rPr lang="cs-CZ" dirty="0" smtClean="0"/>
              <a:t>dobře tepelně i elektricky vodivý</a:t>
            </a:r>
          </a:p>
          <a:p>
            <a:r>
              <a:rPr lang="cs-CZ" dirty="0" smtClean="0"/>
              <a:t>varné nádoby, kotel, střešní krytiny, okapy</a:t>
            </a:r>
          </a:p>
          <a:p>
            <a:r>
              <a:rPr lang="cs-CZ" dirty="0" smtClean="0"/>
              <a:t>na vzduchu se pokrývá zelenou vrstvičkou</a:t>
            </a:r>
          </a:p>
          <a:p>
            <a:r>
              <a:rPr lang="cs-CZ" dirty="0" smtClean="0"/>
              <a:t>součást slitin</a:t>
            </a:r>
          </a:p>
          <a:p>
            <a:endParaRPr lang="cs-CZ" dirty="0" smtClean="0"/>
          </a:p>
          <a:p>
            <a:endParaRPr lang="cs-CZ" dirty="0" smtClean="0"/>
          </a:p>
          <a:p>
            <a:endParaRPr lang="cs-CZ" dirty="0"/>
          </a:p>
        </p:txBody>
      </p:sp>
      <p:sp>
        <p:nvSpPr>
          <p:cNvPr id="1029" name="AutoShape 5" descr="Výsledek obrázku pro sideri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cs-CZ"/>
          </a:p>
        </p:txBody>
      </p:sp>
      <p:sp>
        <p:nvSpPr>
          <p:cNvPr id="1031" name="AutoShape 7" descr="Výsledek obrázku pro sideri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cs-CZ"/>
          </a:p>
        </p:txBody>
      </p:sp>
      <p:graphicFrame>
        <p:nvGraphicFramePr>
          <p:cNvPr id="7" name="Tabulka 6"/>
          <p:cNvGraphicFramePr>
            <a:graphicFrameLocks noGrp="1"/>
          </p:cNvGraphicFramePr>
          <p:nvPr/>
        </p:nvGraphicFramePr>
        <p:xfrm>
          <a:off x="611560" y="4941168"/>
          <a:ext cx="7556000" cy="1752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2000"/>
                <a:gridCol w="2032000"/>
                <a:gridCol w="3492000"/>
              </a:tblGrid>
              <a:tr h="370840">
                <a:tc>
                  <a:txBody>
                    <a:bodyPr/>
                    <a:lstStyle/>
                    <a:p>
                      <a:r>
                        <a:rPr lang="cs-CZ" dirty="0" smtClean="0"/>
                        <a:t>bronz</a:t>
                      </a:r>
                      <a:endParaRPr lang="cs-CZ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s-CZ" dirty="0" err="1" smtClean="0"/>
                        <a:t>Cu</a:t>
                      </a:r>
                      <a:r>
                        <a:rPr lang="cs-CZ" dirty="0" smtClean="0"/>
                        <a:t>, </a:t>
                      </a:r>
                      <a:r>
                        <a:rPr lang="cs-CZ" dirty="0" err="1" smtClean="0"/>
                        <a:t>Sn</a:t>
                      </a:r>
                      <a:endParaRPr lang="cs-CZ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s-CZ" dirty="0" smtClean="0"/>
                        <a:t>zvony, sochy, mince, pamětní desky</a:t>
                      </a:r>
                      <a:endParaRPr lang="cs-CZ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cs-CZ" dirty="0" smtClean="0"/>
                        <a:t>mosaz</a:t>
                      </a:r>
                      <a:endParaRPr lang="cs-CZ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s-CZ" dirty="0" err="1" smtClean="0"/>
                        <a:t>Cu</a:t>
                      </a:r>
                      <a:r>
                        <a:rPr lang="cs-CZ" dirty="0" smtClean="0"/>
                        <a:t>, </a:t>
                      </a:r>
                      <a:r>
                        <a:rPr lang="cs-CZ" dirty="0" err="1" smtClean="0"/>
                        <a:t>Zn</a:t>
                      </a:r>
                      <a:endParaRPr lang="cs-CZ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s-CZ" dirty="0" smtClean="0"/>
                        <a:t>šrouby,</a:t>
                      </a:r>
                      <a:r>
                        <a:rPr lang="cs-CZ" baseline="0" dirty="0" smtClean="0"/>
                        <a:t> hudební nástroje, závaží, klíče, kování, hmoždíře</a:t>
                      </a:r>
                      <a:endParaRPr lang="cs-CZ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cs-CZ" dirty="0" smtClean="0"/>
                        <a:t>alpaka</a:t>
                      </a:r>
                      <a:endParaRPr lang="cs-CZ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s-CZ" dirty="0" smtClean="0"/>
                        <a:t>Ni, </a:t>
                      </a:r>
                      <a:r>
                        <a:rPr lang="cs-CZ" dirty="0" err="1" smtClean="0"/>
                        <a:t>Zn</a:t>
                      </a:r>
                      <a:r>
                        <a:rPr lang="cs-CZ" dirty="0" smtClean="0"/>
                        <a:t>, </a:t>
                      </a:r>
                      <a:r>
                        <a:rPr lang="cs-CZ" dirty="0" err="1" smtClean="0"/>
                        <a:t>Cu</a:t>
                      </a:r>
                      <a:endParaRPr lang="cs-CZ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s-CZ" dirty="0" smtClean="0"/>
                        <a:t>jídelní a ozdobné předměty</a:t>
                      </a:r>
                      <a:endParaRPr lang="cs-CZ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cs-CZ" dirty="0" smtClean="0"/>
                        <a:t>konstantan</a:t>
                      </a:r>
                      <a:endParaRPr lang="cs-CZ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s-CZ" dirty="0" smtClean="0"/>
                        <a:t>Ni,</a:t>
                      </a:r>
                      <a:r>
                        <a:rPr lang="cs-CZ" baseline="0" dirty="0" smtClean="0"/>
                        <a:t> </a:t>
                      </a:r>
                      <a:r>
                        <a:rPr lang="cs-CZ" baseline="0" dirty="0" err="1" smtClean="0"/>
                        <a:t>Mn</a:t>
                      </a:r>
                      <a:r>
                        <a:rPr lang="cs-CZ" baseline="0" dirty="0" smtClean="0"/>
                        <a:t>, </a:t>
                      </a:r>
                      <a:r>
                        <a:rPr lang="cs-CZ" baseline="0" dirty="0" err="1" smtClean="0"/>
                        <a:t>Cu</a:t>
                      </a:r>
                      <a:endParaRPr lang="cs-CZ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s-CZ" dirty="0" smtClean="0"/>
                        <a:t>elektrické</a:t>
                      </a:r>
                      <a:r>
                        <a:rPr lang="cs-CZ" baseline="0" dirty="0" smtClean="0"/>
                        <a:t> odpory</a:t>
                      </a:r>
                      <a:endParaRPr lang="cs-CZ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4208" y="182259"/>
            <a:ext cx="1922474" cy="144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OLOVO = </a:t>
            </a:r>
            <a:r>
              <a:rPr lang="cs-CZ" dirty="0" err="1" smtClean="0"/>
              <a:t>Pb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smtClean="0"/>
              <a:t>měkký modrobílý kov odolný vůči korozi</a:t>
            </a:r>
          </a:p>
          <a:p>
            <a:r>
              <a:rPr lang="cs-CZ" dirty="0" smtClean="0"/>
              <a:t>olovo i jeho sloučeniny jsou toxické</a:t>
            </a:r>
          </a:p>
          <a:p>
            <a:r>
              <a:rPr lang="cs-CZ" dirty="0" smtClean="0"/>
              <a:t>k výrobě kyselinovzdorných nádob</a:t>
            </a:r>
          </a:p>
          <a:p>
            <a:r>
              <a:rPr lang="cs-CZ" dirty="0" smtClean="0"/>
              <a:t>složka slitin (např. pájka = </a:t>
            </a:r>
            <a:r>
              <a:rPr lang="cs-CZ" dirty="0" err="1" smtClean="0"/>
              <a:t>Pb</a:t>
            </a:r>
            <a:r>
              <a:rPr lang="cs-CZ" dirty="0" smtClean="0"/>
              <a:t> + </a:t>
            </a:r>
            <a:r>
              <a:rPr lang="cs-CZ" dirty="0" err="1" smtClean="0"/>
              <a:t>Sn</a:t>
            </a:r>
            <a:r>
              <a:rPr lang="cs-CZ" dirty="0" smtClean="0"/>
              <a:t>)</a:t>
            </a:r>
            <a:endParaRPr lang="cs-CZ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1050" y="4365104"/>
            <a:ext cx="1472432" cy="144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ZLATO = Au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smtClean="0"/>
              <a:t>žlutý, na vzduchu stálý kov, měkký, kujný</a:t>
            </a:r>
          </a:p>
          <a:p>
            <a:r>
              <a:rPr lang="cs-CZ" dirty="0" smtClean="0"/>
              <a:t>obsah zlata v karátech</a:t>
            </a:r>
          </a:p>
          <a:p>
            <a:r>
              <a:rPr lang="cs-CZ" dirty="0" smtClean="0"/>
              <a:t>šperky, zuby, elektrotechnika</a:t>
            </a:r>
          </a:p>
          <a:p>
            <a:r>
              <a:rPr lang="cs-CZ" dirty="0" smtClean="0"/>
              <a:t>získává se rýžováním</a:t>
            </a:r>
          </a:p>
          <a:p>
            <a:r>
              <a:rPr lang="cs-CZ" dirty="0" smtClean="0"/>
              <a:t>dnes vyluhováním drcené rudy v kyanidu draselném </a:t>
            </a:r>
            <a:endParaRPr lang="cs-CZ" dirty="0"/>
          </a:p>
        </p:txBody>
      </p:sp>
      <p:pic>
        <p:nvPicPr>
          <p:cNvPr id="4098" name="Picture 2" descr="https://encrypted-tbn1.gstatic.com/images?q=tbn:ANd9GcQtoNPF_-2CKf7yMXIw4EUy6Ib69OdDYx3wrbqHBEfAlbXJi5YfAbxl-Cl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4208" y="4725144"/>
            <a:ext cx="2136522" cy="14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STŘÍBRO = </a:t>
            </a:r>
            <a:r>
              <a:rPr lang="cs-CZ" dirty="0" err="1" smtClean="0"/>
              <a:t>Ag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smtClean="0"/>
              <a:t>lesklý, bílý, poměrně měkký kov</a:t>
            </a:r>
          </a:p>
          <a:p>
            <a:r>
              <a:rPr lang="cs-CZ" dirty="0" smtClean="0"/>
              <a:t>v mincovnictví, šperkařství, částečně v elektrotechnice</a:t>
            </a:r>
          </a:p>
          <a:p>
            <a:r>
              <a:rPr lang="cs-CZ" dirty="0" smtClean="0"/>
              <a:t>znám již ve starém Egyptě</a:t>
            </a:r>
          </a:p>
          <a:p>
            <a:r>
              <a:rPr lang="cs-CZ" dirty="0" smtClean="0"/>
              <a:t>na vzduchu černá účinkem sulfidu ze vzduchu</a:t>
            </a:r>
            <a:endParaRPr lang="cs-CZ" dirty="0"/>
          </a:p>
        </p:txBody>
      </p:sp>
      <p:sp>
        <p:nvSpPr>
          <p:cNvPr id="4" name="AutoShape 2" descr="Výsledek obrázku pro stříbr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cs-CZ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176" y="4581128"/>
            <a:ext cx="1922474" cy="144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TITAN = Ti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smtClean="0"/>
              <a:t>stálý, poměrně tvrdý kov</a:t>
            </a:r>
          </a:p>
          <a:p>
            <a:r>
              <a:rPr lang="cs-CZ" dirty="0" smtClean="0"/>
              <a:t>golfové hole, obroučky brýlí, rámy kol, šperky</a:t>
            </a:r>
          </a:p>
          <a:p>
            <a:r>
              <a:rPr lang="cs-CZ" dirty="0" smtClean="0"/>
              <a:t>v lékařství jako náhrady kloubů, kostí</a:t>
            </a:r>
          </a:p>
          <a:p>
            <a:endParaRPr lang="cs-CZ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169" y="3933056"/>
            <a:ext cx="1512329" cy="144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PLATINA = </a:t>
            </a:r>
            <a:r>
              <a:rPr lang="cs-CZ" dirty="0" err="1" smtClean="0"/>
              <a:t>Pt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smtClean="0"/>
              <a:t>stříbřitě bílý kov, mimořádně stálý (odolný vůči kyselinám i hydroxidům)</a:t>
            </a:r>
          </a:p>
          <a:p>
            <a:r>
              <a:rPr lang="cs-CZ" dirty="0" smtClean="0"/>
              <a:t>šperkařství, automobilový průmysl</a:t>
            </a:r>
          </a:p>
          <a:p>
            <a:endParaRPr lang="cs-CZ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7794" y="4314825"/>
            <a:ext cx="2098065" cy="144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POLOKOVY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smtClean="0"/>
              <a:t>KŘEMÍK = Si, v přírodě pouze ve sloučeninách, čistý křemík se vyrábí průmyslově, použití </a:t>
            </a:r>
            <a:br>
              <a:rPr lang="cs-CZ" dirty="0" smtClean="0"/>
            </a:br>
            <a:r>
              <a:rPr lang="cs-CZ" dirty="0" smtClean="0"/>
              <a:t>v elektrotechnice</a:t>
            </a:r>
          </a:p>
          <a:p>
            <a:r>
              <a:rPr lang="cs-CZ" dirty="0" smtClean="0"/>
              <a:t>GERMANIUM = </a:t>
            </a:r>
            <a:r>
              <a:rPr lang="cs-CZ" dirty="0" err="1" smtClean="0"/>
              <a:t>Ge</a:t>
            </a:r>
            <a:r>
              <a:rPr lang="cs-CZ" dirty="0" smtClean="0"/>
              <a:t>, v přírodě pouze </a:t>
            </a:r>
            <a:br>
              <a:rPr lang="cs-CZ" dirty="0" smtClean="0"/>
            </a:br>
            <a:r>
              <a:rPr lang="cs-CZ" dirty="0" smtClean="0"/>
              <a:t>ve sloučeninách, v elektrotechnice nahrazován levnějším křemíkem</a:t>
            </a:r>
            <a:endParaRPr lang="cs-CZ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TEST 21. 10.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smtClean="0"/>
              <a:t>chemická vazba, elektronegativita, dělení chemické vazby dle polarity</a:t>
            </a:r>
          </a:p>
          <a:p>
            <a:r>
              <a:rPr lang="cs-CZ" dirty="0" smtClean="0"/>
              <a:t>značky chemických prvků</a:t>
            </a:r>
          </a:p>
          <a:p>
            <a:r>
              <a:rPr lang="cs-CZ" dirty="0" smtClean="0"/>
              <a:t>nekovy – vlastnosti, u každého tři vlastnosti</a:t>
            </a:r>
          </a:p>
          <a:p>
            <a:pPr>
              <a:buNone/>
            </a:pPr>
            <a:endParaRPr lang="cs-CZ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otiv sady Office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873</TotalTime>
  <Words>473</Words>
  <Application>Microsoft Office PowerPoint</Application>
  <PresentationFormat>Předvádění na obrazovce (4:3)</PresentationFormat>
  <Paragraphs>103</Paragraphs>
  <Slides>19</Slides>
  <Notes>0</Notes>
  <HiddenSlides>5</HiddenSlides>
  <MMClips>0</MMClips>
  <ScaleCrop>false</ScaleCrop>
  <HeadingPairs>
    <vt:vector size="4" baseType="variant">
      <vt:variant>
        <vt:lpstr>Motiv</vt:lpstr>
      </vt:variant>
      <vt:variant>
        <vt:i4>1</vt:i4>
      </vt:variant>
      <vt:variant>
        <vt:lpstr>Nadpisy snímků</vt:lpstr>
      </vt:variant>
      <vt:variant>
        <vt:i4>19</vt:i4>
      </vt:variant>
    </vt:vector>
  </HeadingPairs>
  <TitlesOfParts>
    <vt:vector size="20" baseType="lpstr">
      <vt:lpstr>Motiv sady Office</vt:lpstr>
      <vt:lpstr>CHEMICKÉ PRVKY</vt:lpstr>
      <vt:lpstr>KOVY</vt:lpstr>
      <vt:lpstr>ALKALICKÉ KOVY = Li, Na, K</vt:lpstr>
      <vt:lpstr>KOVY</vt:lpstr>
      <vt:lpstr>ŽELEZO = Fe</vt:lpstr>
      <vt:lpstr>ŽELEZO = Fe</vt:lpstr>
      <vt:lpstr>ŽELEZO = Fe</vt:lpstr>
      <vt:lpstr>KOVY</vt:lpstr>
      <vt:lpstr>Prezentace aplikace PowerPoint</vt:lpstr>
      <vt:lpstr>Prezentace aplikace PowerPoint</vt:lpstr>
      <vt:lpstr>HLINÍK = Al</vt:lpstr>
      <vt:lpstr>MĚĎ = Cu</vt:lpstr>
      <vt:lpstr>OLOVO = Pb</vt:lpstr>
      <vt:lpstr>ZLATO = Au</vt:lpstr>
      <vt:lpstr>STŘÍBRO = Ag</vt:lpstr>
      <vt:lpstr>TITAN = Ti</vt:lpstr>
      <vt:lpstr>PLATINA = Pt</vt:lpstr>
      <vt:lpstr>POLOKOVY</vt:lpstr>
      <vt:lpstr>TEST 21. 10.</vt:lpstr>
    </vt:vector>
  </TitlesOfParts>
  <Company>DELTA - SŠIE, s.r.o.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Snímek 1</dc:title>
  <dc:creator>Mgr. Jitka Buhrová</dc:creator>
  <cp:lastModifiedBy>Buhrová Jitka</cp:lastModifiedBy>
  <cp:revision>5</cp:revision>
  <dcterms:created xsi:type="dcterms:W3CDTF">2015-10-11T15:37:18Z</dcterms:created>
  <dcterms:modified xsi:type="dcterms:W3CDTF">2015-10-19T06:51:03Z</dcterms:modified>
</cp:coreProperties>
</file>