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lze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630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3326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24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395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872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493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155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250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191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1492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919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65231-D36B-493D-82EC-4FA14EBA98C3}" type="datetimeFigureOut">
              <a:rPr lang="cs-CZ" smtClean="0"/>
              <a:t>6.1.2016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D4A0F-8F4B-47D5-8EC8-A4EAB22C81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384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DERIVÁTY UHLOVODÍKŮ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683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KARBOXYLOVÉ KYSELINY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vodík nahrazen skupinou –COOH</a:t>
            </a:r>
          </a:p>
          <a:p>
            <a:r>
              <a:rPr lang="cs-CZ" dirty="0" err="1" smtClean="0"/>
              <a:t>kys</a:t>
            </a:r>
            <a:r>
              <a:rPr lang="cs-CZ" dirty="0" smtClean="0"/>
              <a:t>. octová (ethanová) – 8% roztok k dochucování, konzervování</a:t>
            </a:r>
          </a:p>
          <a:p>
            <a:r>
              <a:rPr lang="cs-CZ" dirty="0" err="1" smtClean="0"/>
              <a:t>kys</a:t>
            </a:r>
            <a:r>
              <a:rPr lang="cs-CZ" dirty="0" smtClean="0"/>
              <a:t>. citronová (2-</a:t>
            </a:r>
            <a:r>
              <a:rPr lang="cs-CZ" dirty="0" err="1" smtClean="0"/>
              <a:t>hydroxypropan</a:t>
            </a:r>
            <a:r>
              <a:rPr lang="cs-CZ" dirty="0" smtClean="0"/>
              <a:t>-1,2,3,tri karboxylová kyselina)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9959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kyselina mravenčí (</a:t>
            </a:r>
            <a:r>
              <a:rPr lang="cs-CZ" dirty="0" err="1" smtClean="0"/>
              <a:t>methanová</a:t>
            </a:r>
            <a:r>
              <a:rPr lang="cs-CZ" dirty="0" smtClean="0"/>
              <a:t>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vzorec HCOOH</a:t>
            </a:r>
          </a:p>
          <a:p>
            <a:r>
              <a:rPr lang="cs-CZ" dirty="0" smtClean="0"/>
              <a:t>bezbarvá, leptavá, štiplavě páchnoucí</a:t>
            </a:r>
          </a:p>
          <a:p>
            <a:r>
              <a:rPr lang="cs-CZ" dirty="0" smtClean="0"/>
              <a:t>součástí obranného mechanismu, např. mravenci, včely, kopřivy</a:t>
            </a:r>
          </a:p>
          <a:p>
            <a:r>
              <a:rPr lang="cs-CZ" dirty="0" smtClean="0"/>
              <a:t>konzervační prostředek, zpracování kůží, příprava esterů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5133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kyselina octová (</a:t>
            </a:r>
            <a:r>
              <a:rPr lang="cs-CZ" dirty="0" err="1" smtClean="0"/>
              <a:t>ethanolová</a:t>
            </a:r>
            <a:r>
              <a:rPr lang="cs-CZ" dirty="0" smtClean="0"/>
              <a:t>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vzorec CH</a:t>
            </a:r>
            <a:r>
              <a:rPr lang="cs-CZ" baseline="-25000" dirty="0" smtClean="0"/>
              <a:t>3</a:t>
            </a:r>
            <a:r>
              <a:rPr lang="cs-CZ" dirty="0" smtClean="0"/>
              <a:t>COOH</a:t>
            </a:r>
          </a:p>
          <a:p>
            <a:r>
              <a:rPr lang="cs-CZ" dirty="0" smtClean="0"/>
              <a:t>koncentrovaná (98%) = štiplavě zapáchající kapalina, leptá pokožku</a:t>
            </a:r>
          </a:p>
          <a:p>
            <a:r>
              <a:rPr lang="cs-CZ" dirty="0" smtClean="0"/>
              <a:t>vzniká z </a:t>
            </a:r>
            <a:r>
              <a:rPr lang="cs-CZ" dirty="0" err="1" smtClean="0"/>
              <a:t>ethanolu</a:t>
            </a:r>
            <a:r>
              <a:rPr lang="cs-CZ" dirty="0" smtClean="0"/>
              <a:t> octovým </a:t>
            </a:r>
            <a:r>
              <a:rPr lang="cs-CZ" dirty="0" smtClean="0"/>
              <a:t>kvašením</a:t>
            </a:r>
            <a:endParaRPr lang="cs-CZ" dirty="0" smtClean="0"/>
          </a:p>
          <a:p>
            <a:r>
              <a:rPr lang="cs-CZ" dirty="0" smtClean="0"/>
              <a:t>8% roztok = ocet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5400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>
            <a:normAutofit fontScale="90000"/>
          </a:bodyPr>
          <a:lstStyle/>
          <a:p>
            <a:r>
              <a:rPr lang="cs-CZ" dirty="0" smtClean="0"/>
              <a:t>kyselina citronová (2-hydroxypropan-1,2,3,tri karboxylová kyselina)</a:t>
            </a:r>
            <a:br>
              <a:rPr lang="cs-CZ" dirty="0" smtClean="0"/>
            </a:b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r>
              <a:rPr lang="cs-CZ" dirty="0" smtClean="0"/>
              <a:t>vzorec </a:t>
            </a:r>
          </a:p>
          <a:p>
            <a:endParaRPr lang="cs-CZ" dirty="0"/>
          </a:p>
          <a:p>
            <a:r>
              <a:rPr lang="cs-CZ" dirty="0" smtClean="0"/>
              <a:t>v citronech, v nezralém ovoci</a:t>
            </a:r>
          </a:p>
          <a:p>
            <a:r>
              <a:rPr lang="cs-CZ" dirty="0" smtClean="0"/>
              <a:t>konzervační látka (E330)</a:t>
            </a:r>
            <a:endParaRPr lang="cs-CZ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057399"/>
            <a:ext cx="1584176" cy="1267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42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k</a:t>
            </a:r>
            <a:r>
              <a:rPr lang="cs-CZ" dirty="0" smtClean="0"/>
              <a:t>yselina šťavelová (</a:t>
            </a:r>
            <a:r>
              <a:rPr lang="cs-CZ" dirty="0" err="1" smtClean="0"/>
              <a:t>ethandiová</a:t>
            </a:r>
            <a:r>
              <a:rPr lang="cs-CZ" dirty="0" smtClean="0"/>
              <a:t>)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vzorec HOOC–COOH </a:t>
            </a:r>
            <a:endParaRPr lang="cs-CZ" dirty="0"/>
          </a:p>
          <a:p>
            <a:r>
              <a:rPr lang="cs-CZ" dirty="0" smtClean="0"/>
              <a:t>nejjednodušší dikarboxylová kyselina</a:t>
            </a:r>
          </a:p>
          <a:p>
            <a:r>
              <a:rPr lang="cs-CZ" dirty="0"/>
              <a:t>t</a:t>
            </a:r>
            <a:r>
              <a:rPr lang="cs-CZ" dirty="0" smtClean="0"/>
              <a:t>oxická </a:t>
            </a:r>
            <a:r>
              <a:rPr lang="cs-CZ" dirty="0"/>
              <a:t>krystalická </a:t>
            </a:r>
            <a:r>
              <a:rPr lang="cs-CZ" dirty="0" smtClean="0"/>
              <a:t>látka</a:t>
            </a:r>
          </a:p>
          <a:p>
            <a:r>
              <a:rPr lang="cs-CZ" dirty="0" smtClean="0"/>
              <a:t>v </a:t>
            </a:r>
            <a:r>
              <a:rPr lang="cs-CZ" dirty="0"/>
              <a:t>malém množství v některých rostlinách (šťovík, rebarbora, špenát, </a:t>
            </a:r>
            <a:r>
              <a:rPr lang="cs-CZ" dirty="0" smtClean="0"/>
              <a:t>červená řepa)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7138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k</a:t>
            </a:r>
            <a:r>
              <a:rPr lang="cs-CZ" dirty="0" smtClean="0"/>
              <a:t>yselina benzoová (</a:t>
            </a:r>
            <a:r>
              <a:rPr lang="cs-CZ" dirty="0" err="1" smtClean="0"/>
              <a:t>benzenkarboxylová</a:t>
            </a:r>
            <a:r>
              <a:rPr lang="cs-CZ" dirty="0" smtClean="0"/>
              <a:t>)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vzorec C</a:t>
            </a:r>
            <a:r>
              <a:rPr lang="cs-CZ" baseline="-25000" dirty="0" smtClean="0"/>
              <a:t>6</a:t>
            </a:r>
            <a:r>
              <a:rPr lang="cs-CZ" dirty="0" smtClean="0"/>
              <a:t>H</a:t>
            </a:r>
            <a:r>
              <a:rPr lang="cs-CZ" baseline="-25000" dirty="0" smtClean="0"/>
              <a:t>5</a:t>
            </a:r>
            <a:r>
              <a:rPr lang="cs-CZ" dirty="0" smtClean="0"/>
              <a:t>COOH </a:t>
            </a:r>
          </a:p>
          <a:p>
            <a:r>
              <a:rPr lang="cs-CZ" dirty="0" smtClean="0"/>
              <a:t>nejjednodušší aromatickou kyselinou</a:t>
            </a:r>
          </a:p>
          <a:p>
            <a:r>
              <a:rPr lang="cs-CZ" dirty="0" smtClean="0"/>
              <a:t>bílá </a:t>
            </a:r>
            <a:r>
              <a:rPr lang="cs-CZ" dirty="0"/>
              <a:t>krystalická látka </a:t>
            </a:r>
            <a:endParaRPr lang="cs-CZ" dirty="0" smtClean="0"/>
          </a:p>
          <a:p>
            <a:r>
              <a:rPr lang="cs-CZ" dirty="0" smtClean="0"/>
              <a:t>pod označením E210 </a:t>
            </a:r>
            <a:r>
              <a:rPr lang="cs-CZ" dirty="0"/>
              <a:t>ke konzervaci </a:t>
            </a:r>
            <a:r>
              <a:rPr lang="cs-CZ" dirty="0" smtClean="0"/>
              <a:t>potravin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730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AMINOKYSELINY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vodík nahrazen skupinou -NH</a:t>
            </a:r>
            <a:r>
              <a:rPr lang="cs-CZ" sz="1800" dirty="0" smtClean="0"/>
              <a:t>2</a:t>
            </a:r>
          </a:p>
          <a:p>
            <a:r>
              <a:rPr lang="cs-CZ" dirty="0" smtClean="0"/>
              <a:t>nejjednodušší: glycin- bezbarvá krystalická látka</a:t>
            </a:r>
            <a:endParaRPr lang="cs-CZ" sz="4800" dirty="0" smtClean="0"/>
          </a:p>
          <a:p>
            <a:r>
              <a:rPr lang="cs-CZ" dirty="0" smtClean="0"/>
              <a:t>soli – ochucovadla (</a:t>
            </a:r>
            <a:r>
              <a:rPr lang="cs-CZ" dirty="0" err="1" smtClean="0"/>
              <a:t>glutaman</a:t>
            </a:r>
            <a:r>
              <a:rPr lang="cs-CZ" dirty="0" smtClean="0"/>
              <a:t> sodný)</a:t>
            </a:r>
          </a:p>
          <a:p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182721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SOLI KARBOXYLOVÝCH KYSELIN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3600" dirty="0" smtClean="0"/>
              <a:t>příprava neutralizací kyseliny hydroxidem</a:t>
            </a:r>
          </a:p>
          <a:p>
            <a:r>
              <a:rPr lang="cs-CZ" sz="3600" dirty="0" smtClean="0"/>
              <a:t>př. kyselina octová + hydroxid sodný – </a:t>
            </a:r>
          </a:p>
          <a:p>
            <a:pPr lvl="1"/>
            <a:r>
              <a:rPr lang="cs-CZ" sz="3600" dirty="0" smtClean="0"/>
              <a:t>octan sodný + voda</a:t>
            </a:r>
          </a:p>
          <a:p>
            <a:pPr marL="0" lvl="1" indent="0">
              <a:buFont typeface="Arial" pitchFamily="34" charset="0"/>
              <a:buChar char="•"/>
            </a:pPr>
            <a:r>
              <a:rPr lang="cs-CZ" sz="3600" dirty="0" smtClean="0"/>
              <a:t>  benzoan sodný – </a:t>
            </a:r>
            <a:r>
              <a:rPr lang="cs-CZ" sz="3600" dirty="0" err="1" smtClean="0"/>
              <a:t>konzervant</a:t>
            </a:r>
            <a:r>
              <a:rPr lang="cs-CZ" sz="3600" dirty="0" smtClean="0"/>
              <a:t> (E211)</a:t>
            </a:r>
          </a:p>
          <a:p>
            <a:pPr marL="0" lvl="1" indent="0">
              <a:buFont typeface="Arial" pitchFamily="34" charset="0"/>
              <a:buChar char="•"/>
            </a:pPr>
            <a:r>
              <a:rPr lang="cs-CZ" sz="3600" dirty="0" smtClean="0"/>
              <a:t>  glutaman sodný – ochucovadlo (E621)</a:t>
            </a:r>
          </a:p>
        </p:txBody>
      </p:sp>
    </p:spTree>
    <p:extLst>
      <p:ext uri="{BB962C8B-B14F-4D97-AF65-F5344CB8AC3E}">
        <p14:creationId xmlns:p14="http://schemas.microsoft.com/office/powerpoint/2010/main" val="243346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ESTERY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produkty reakce kyselin a alkoholů</a:t>
            </a:r>
          </a:p>
          <a:p>
            <a:r>
              <a:rPr lang="cs-CZ" dirty="0" smtClean="0"/>
              <a:t>př. kyselina octová + </a:t>
            </a:r>
            <a:r>
              <a:rPr lang="cs-CZ" dirty="0" err="1" smtClean="0"/>
              <a:t>ethanol</a:t>
            </a:r>
            <a:r>
              <a:rPr lang="cs-CZ" dirty="0" smtClean="0"/>
              <a:t> –                       	</a:t>
            </a:r>
            <a:r>
              <a:rPr lang="cs-CZ" dirty="0" err="1" smtClean="0"/>
              <a:t>ethylester</a:t>
            </a:r>
            <a:r>
              <a:rPr lang="cs-CZ" dirty="0" smtClean="0"/>
              <a:t> kyseliny octové + voda</a:t>
            </a:r>
          </a:p>
          <a:p>
            <a:r>
              <a:rPr lang="cs-CZ" dirty="0" err="1" smtClean="0"/>
              <a:t>ethylester</a:t>
            </a:r>
            <a:r>
              <a:rPr lang="cs-CZ" dirty="0" smtClean="0"/>
              <a:t> kyseliny mravenčí – rumová esence</a:t>
            </a:r>
          </a:p>
          <a:p>
            <a:r>
              <a:rPr lang="cs-CZ" dirty="0" smtClean="0"/>
              <a:t>estery vyšších (s delším uhlíkatým řetězcem) karboxylových kyselin jsou tuky a rostlinné oleje</a:t>
            </a:r>
          </a:p>
          <a:p>
            <a:r>
              <a:rPr lang="cs-CZ" dirty="0" smtClean="0"/>
              <a:t>MEŘO – </a:t>
            </a:r>
            <a:r>
              <a:rPr lang="cs-CZ" dirty="0" err="1" smtClean="0"/>
              <a:t>methylester</a:t>
            </a:r>
            <a:r>
              <a:rPr lang="cs-CZ" dirty="0" smtClean="0"/>
              <a:t> z řepkového oleje a </a:t>
            </a:r>
            <a:r>
              <a:rPr lang="cs-CZ" dirty="0" err="1" smtClean="0"/>
              <a:t>methanolu</a:t>
            </a:r>
            <a:r>
              <a:rPr lang="cs-CZ" dirty="0" smtClean="0"/>
              <a:t> – jako bionafta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408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ESTERY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některé </a:t>
            </a:r>
            <a:r>
              <a:rPr lang="cs-CZ" dirty="0"/>
              <a:t>estery jsou základem pro výrobu makromolekulárních sloučenin – </a:t>
            </a:r>
            <a:r>
              <a:rPr lang="cs-CZ" dirty="0" smtClean="0"/>
              <a:t>polyesterů(PES)</a:t>
            </a:r>
          </a:p>
          <a:p>
            <a:r>
              <a:rPr lang="cs-CZ" dirty="0" err="1" smtClean="0"/>
              <a:t>poly</a:t>
            </a:r>
            <a:r>
              <a:rPr lang="cs-CZ" dirty="0" smtClean="0"/>
              <a:t>(</a:t>
            </a:r>
            <a:r>
              <a:rPr lang="cs-CZ" dirty="0" err="1" smtClean="0"/>
              <a:t>ethylentereftalát</a:t>
            </a:r>
            <a:r>
              <a:rPr lang="cs-CZ" dirty="0"/>
              <a:t>) – PET, který se používá pro </a:t>
            </a:r>
            <a:r>
              <a:rPr lang="cs-CZ" dirty="0" smtClean="0"/>
              <a:t>výrobu plastových lahví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3928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dynamit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najděte na internetu informace o dynamitu</a:t>
            </a:r>
          </a:p>
          <a:p>
            <a:r>
              <a:rPr lang="cs-CZ" dirty="0" smtClean="0"/>
              <a:t>napište 5 vět o dynamitu do sešitu </a:t>
            </a:r>
          </a:p>
          <a:p>
            <a:r>
              <a:rPr lang="cs-CZ" dirty="0" smtClean="0"/>
              <a:t>vysvětlete, proč o dynamitu mluvíme </a:t>
            </a:r>
            <a:br>
              <a:rPr lang="cs-CZ" dirty="0" smtClean="0"/>
            </a:br>
            <a:r>
              <a:rPr lang="cs-CZ" dirty="0" smtClean="0"/>
              <a:t>v souvislosti s deriváty uhlovodíků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3624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269</Words>
  <Application>Microsoft Office PowerPoint</Application>
  <PresentationFormat>Předvádění na obrazovce (4:3)</PresentationFormat>
  <Paragraphs>53</Paragraphs>
  <Slides>12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3" baseType="lpstr">
      <vt:lpstr>Motiv systému Office</vt:lpstr>
      <vt:lpstr>DERIVÁTY UHLOVODÍKŮ</vt:lpstr>
      <vt:lpstr>KARBOXYLOVÉ KYSELINY</vt:lpstr>
      <vt:lpstr>kyselina mravenčí (methanová)</vt:lpstr>
      <vt:lpstr>kyselina octová (ethanolová)</vt:lpstr>
      <vt:lpstr>kyselina citronová (2-hydroxypropan-1,2,3,tri karboxylová kyselina) </vt:lpstr>
      <vt:lpstr>kyselina šťavelová (ethandiová)</vt:lpstr>
      <vt:lpstr>kyselina benzoová (benzenkarboxylová) </vt:lpstr>
      <vt:lpstr>AMINOKYSELINY</vt:lpstr>
      <vt:lpstr>SOLI KARBOXYLOVÝCH KYSELIN</vt:lpstr>
      <vt:lpstr>ESTERY</vt:lpstr>
      <vt:lpstr>ESTERY</vt:lpstr>
      <vt:lpstr>dynamit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DERIVÁTY UHLOVODÍKŮ</dc:title>
  <dc:creator>Buhrová Jitka</dc:creator>
  <cp:lastModifiedBy>Buhrová Jitka</cp:lastModifiedBy>
  <cp:revision>5</cp:revision>
  <dcterms:created xsi:type="dcterms:W3CDTF">2016-01-05T13:16:49Z</dcterms:created>
  <dcterms:modified xsi:type="dcterms:W3CDTF">2016-01-06T07:47:05Z</dcterms:modified>
</cp:coreProperties>
</file>