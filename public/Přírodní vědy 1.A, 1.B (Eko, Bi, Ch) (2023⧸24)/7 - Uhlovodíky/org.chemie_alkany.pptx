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77" r:id="rId3"/>
    <p:sldId id="278" r:id="rId4"/>
    <p:sldId id="257" r:id="rId5"/>
    <p:sldId id="287" r:id="rId6"/>
    <p:sldId id="260" r:id="rId7"/>
    <p:sldId id="280" r:id="rId8"/>
    <p:sldId id="286" r:id="rId9"/>
    <p:sldId id="289" r:id="rId10"/>
    <p:sldId id="284" r:id="rId11"/>
    <p:sldId id="279" r:id="rId12"/>
    <p:sldId id="281" r:id="rId13"/>
    <p:sldId id="282" r:id="rId14"/>
    <p:sldId id="283" r:id="rId15"/>
    <p:sldId id="290" r:id="rId16"/>
    <p:sldId id="288" r:id="rId17"/>
  </p:sldIdLst>
  <p:sldSz cx="9144000" cy="6858000" type="screen4x3"/>
  <p:notesSz cx="6669088" cy="9928225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567" autoAdjust="0"/>
  </p:normalViewPr>
  <p:slideViewPr>
    <p:cSldViewPr>
      <p:cViewPr varScale="1">
        <p:scale>
          <a:sx n="64" d="100"/>
          <a:sy n="64" d="100"/>
        </p:scale>
        <p:origin x="-153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77825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1F647E-3F63-44C9-954D-5F78D95797C9}" type="datetimeFigureOut">
              <a:rPr lang="cs-CZ" smtClean="0"/>
              <a:pPr/>
              <a:t>14.12.2015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778250" y="942975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F4924F-8F75-4F98-AEC3-06166C839FFF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635841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A12EB1-3634-4892-8812-1915BC1134CA}" type="datetimeFigureOut">
              <a:rPr lang="cs-CZ" smtClean="0"/>
              <a:pPr/>
              <a:t>14.12.2015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66909" y="4715907"/>
            <a:ext cx="5335270" cy="44677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889938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777607" y="9430091"/>
            <a:ext cx="2889938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844F25-CD12-474A-A29E-E7C47A301B38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11839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 smtClean="0"/>
              <a:t>CH4, C2H6 =</a:t>
            </a:r>
            <a:r>
              <a:rPr lang="cs-CZ" baseline="0" dirty="0" smtClean="0"/>
              <a:t> CH3CH3 = strukturní</a:t>
            </a:r>
          </a:p>
          <a:p>
            <a:r>
              <a:rPr lang="cs-CZ" baseline="0" dirty="0" smtClean="0"/>
              <a:t>C2H4 = CH2=CH2 = strukturní</a:t>
            </a:r>
          </a:p>
          <a:p>
            <a:r>
              <a:rPr lang="cs-CZ" baseline="0" dirty="0" smtClean="0"/>
              <a:t>C2H2 = CH%CH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844F25-CD12-474A-A29E-E7C47A301B38}" type="slidenum">
              <a:rPr lang="cs-CZ" smtClean="0"/>
              <a:pPr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08326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smtClean="0"/>
              <a:t>Klepnutím lze upravit styl předlohy podnadpisů.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24C9-8232-4BE8-9990-F93F908CE6AB}" type="datetimeFigureOut">
              <a:rPr lang="cs-CZ" smtClean="0"/>
              <a:pPr/>
              <a:t>14.12.2015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3192-6070-485B-8F81-44A0F9918512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24C9-8232-4BE8-9990-F93F908CE6AB}" type="datetimeFigureOut">
              <a:rPr lang="cs-CZ" smtClean="0"/>
              <a:pPr/>
              <a:t>14.12.2015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3192-6070-485B-8F81-44A0F9918512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24C9-8232-4BE8-9990-F93F908CE6AB}" type="datetimeFigureOut">
              <a:rPr lang="cs-CZ" smtClean="0"/>
              <a:pPr/>
              <a:t>14.12.2015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3192-6070-485B-8F81-44A0F9918512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24C9-8232-4BE8-9990-F93F908CE6AB}" type="datetimeFigureOut">
              <a:rPr lang="cs-CZ" smtClean="0"/>
              <a:pPr/>
              <a:t>14.12.2015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3192-6070-485B-8F81-44A0F9918512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24C9-8232-4BE8-9990-F93F908CE6AB}" type="datetimeFigureOut">
              <a:rPr lang="cs-CZ" smtClean="0"/>
              <a:pPr/>
              <a:t>14.12.2015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3192-6070-485B-8F81-44A0F9918512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24C9-8232-4BE8-9990-F93F908CE6AB}" type="datetimeFigureOut">
              <a:rPr lang="cs-CZ" smtClean="0"/>
              <a:pPr/>
              <a:t>14.12.2015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3192-6070-485B-8F81-44A0F9918512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24C9-8232-4BE8-9990-F93F908CE6AB}" type="datetimeFigureOut">
              <a:rPr lang="cs-CZ" smtClean="0"/>
              <a:pPr/>
              <a:t>14.12.2015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3192-6070-485B-8F81-44A0F9918512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24C9-8232-4BE8-9990-F93F908CE6AB}" type="datetimeFigureOut">
              <a:rPr lang="cs-CZ" smtClean="0"/>
              <a:pPr/>
              <a:t>14.12.2015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3192-6070-485B-8F81-44A0F9918512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24C9-8232-4BE8-9990-F93F908CE6AB}" type="datetimeFigureOut">
              <a:rPr lang="cs-CZ" smtClean="0"/>
              <a:pPr/>
              <a:t>14.12.2015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3192-6070-485B-8F81-44A0F9918512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24C9-8232-4BE8-9990-F93F908CE6AB}" type="datetimeFigureOut">
              <a:rPr lang="cs-CZ" smtClean="0"/>
              <a:pPr/>
              <a:t>14.12.2015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3192-6070-485B-8F81-44A0F9918512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24C9-8232-4BE8-9990-F93F908CE6AB}" type="datetimeFigureOut">
              <a:rPr lang="cs-CZ" smtClean="0"/>
              <a:pPr/>
              <a:t>14.12.2015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3192-6070-485B-8F81-44A0F9918512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6224C9-8232-4BE8-9990-F93F908CE6AB}" type="datetimeFigureOut">
              <a:rPr lang="cs-CZ" smtClean="0"/>
              <a:pPr/>
              <a:t>14.12.2015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7C3192-6070-485B-8F81-44A0F9918512}" type="slidenum">
              <a:rPr lang="cs-CZ" smtClean="0"/>
              <a:pPr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www.isitech.com/ressourcen/umfragen-archive/verpuffung-methan.html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youtube.com/watch?v=sBsjKAAuTsM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 smtClean="0"/>
              <a:t>ORGANICKÁ CHEMIE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 smtClean="0"/>
              <a:t>zabývá se studiem sloučenin uhlíku</a:t>
            </a:r>
            <a:endParaRPr lang="cs-CZ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Organické látky</a:t>
            </a:r>
            <a:endParaRPr lang="cs-CZ" dirty="0"/>
          </a:p>
        </p:txBody>
      </p:sp>
      <p:sp>
        <p:nvSpPr>
          <p:cNvPr id="5" name="Zástupný symbol pro obsah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cs-CZ" dirty="0"/>
              <a:t>byly v 17. století definované jako chemické látky vznikající činností rostlin a živočichů</a:t>
            </a:r>
            <a:r>
              <a:rPr lang="cs-CZ" dirty="0" smtClean="0"/>
              <a:t>.</a:t>
            </a:r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r>
              <a:rPr lang="cs-CZ" dirty="0"/>
              <a:t>Dnes: Organické látky tvoří základní složky těl rostlin a živočichů. Vznikají při látkových přeměnách v organismu. Patří k nim však i sloučeniny, které se v přírodě nevyskytují a byly připraveny člověkem uměle (např. plasty, některé léky, barviva).</a:t>
            </a:r>
          </a:p>
        </p:txBody>
      </p:sp>
    </p:spTree>
    <p:extLst>
      <p:ext uri="{BB962C8B-B14F-4D97-AF65-F5344CB8AC3E}">
        <p14:creationId xmlns:p14="http://schemas.microsoft.com/office/powerpoint/2010/main" val="30411851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obsah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Ve všech organických sloučeninách se vyskytuje uhlík. </a:t>
            </a:r>
            <a:r>
              <a:rPr lang="cs-CZ" dirty="0" smtClean="0"/>
              <a:t/>
            </a:r>
            <a:br>
              <a:rPr lang="cs-CZ" dirty="0" smtClean="0"/>
            </a:br>
            <a:endParaRPr lang="cs-CZ" dirty="0" smtClean="0"/>
          </a:p>
          <a:p>
            <a:pPr marL="0" indent="0">
              <a:buNone/>
            </a:pPr>
            <a:r>
              <a:rPr lang="cs-CZ" b="1" dirty="0" smtClean="0"/>
              <a:t>Organická </a:t>
            </a:r>
            <a:r>
              <a:rPr lang="cs-CZ" b="1" dirty="0"/>
              <a:t>chemie</a:t>
            </a:r>
            <a:r>
              <a:rPr lang="cs-CZ" dirty="0"/>
              <a:t> je chemie sloučenin uhlíku </a:t>
            </a:r>
            <a:r>
              <a:rPr lang="cs-CZ" dirty="0" smtClean="0"/>
              <a:t/>
            </a:r>
            <a:br>
              <a:rPr lang="cs-CZ" dirty="0" smtClean="0"/>
            </a:br>
            <a:r>
              <a:rPr lang="cs-CZ" dirty="0" smtClean="0"/>
              <a:t>s </a:t>
            </a:r>
            <a:r>
              <a:rPr lang="cs-CZ" dirty="0"/>
              <a:t>dalšími prvky (např. H, O, N, S, P).</a:t>
            </a:r>
          </a:p>
        </p:txBody>
      </p:sp>
    </p:spTree>
    <p:extLst>
      <p:ext uri="{BB962C8B-B14F-4D97-AF65-F5344CB8AC3E}">
        <p14:creationId xmlns:p14="http://schemas.microsoft.com/office/powerpoint/2010/main" val="29316301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cs-CZ" dirty="0"/>
              <a:t>Rozdělení</a:t>
            </a:r>
            <a:r>
              <a:rPr lang="cs-CZ" dirty="0" smtClean="0"/>
              <a:t>:</a:t>
            </a:r>
          </a:p>
          <a:p>
            <a:pPr>
              <a:buNone/>
            </a:pPr>
            <a:r>
              <a:rPr lang="cs-CZ" dirty="0"/>
              <a:t>	</a:t>
            </a:r>
            <a:r>
              <a:rPr lang="cs-CZ" dirty="0" smtClean="0"/>
              <a:t>		- uhlovodíky </a:t>
            </a:r>
          </a:p>
          <a:p>
            <a:pPr>
              <a:buNone/>
            </a:pPr>
            <a:r>
              <a:rPr lang="cs-CZ" dirty="0"/>
              <a:t>	</a:t>
            </a:r>
            <a:r>
              <a:rPr lang="cs-CZ" dirty="0" smtClean="0"/>
              <a:t>			(obsahují jen uhlík a vodík</a:t>
            </a:r>
            <a:r>
              <a:rPr lang="cs-CZ" dirty="0"/>
              <a:t>)</a:t>
            </a:r>
          </a:p>
          <a:p>
            <a:pPr>
              <a:buNone/>
            </a:pPr>
            <a:r>
              <a:rPr lang="cs-CZ" dirty="0" smtClean="0"/>
              <a:t>			- deriváty uhlovodíků 						(obsahují	ještě	další	prvek)</a:t>
            </a:r>
            <a:endParaRPr lang="cs-CZ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 smtClean="0"/>
              <a:t>Z uvedených směsí vyberte ty, které obsahují organické sloučeniny:</a:t>
            </a:r>
          </a:p>
          <a:p>
            <a:pPr lvl="1"/>
            <a:r>
              <a:rPr lang="cs-CZ" dirty="0" smtClean="0"/>
              <a:t>benzín</a:t>
            </a:r>
          </a:p>
          <a:p>
            <a:pPr lvl="1"/>
            <a:r>
              <a:rPr lang="cs-CZ" dirty="0" smtClean="0"/>
              <a:t>vápenná malta</a:t>
            </a:r>
          </a:p>
          <a:p>
            <a:pPr lvl="1"/>
            <a:r>
              <a:rPr lang="cs-CZ" dirty="0" smtClean="0"/>
              <a:t>beton</a:t>
            </a:r>
          </a:p>
          <a:p>
            <a:pPr lvl="1"/>
            <a:r>
              <a:rPr lang="cs-CZ" dirty="0" smtClean="0"/>
              <a:t>motorová nafta</a:t>
            </a:r>
          </a:p>
          <a:p>
            <a:pPr lvl="1"/>
            <a:r>
              <a:rPr lang="cs-CZ" dirty="0" smtClean="0"/>
              <a:t>superfosfát</a:t>
            </a:r>
          </a:p>
          <a:p>
            <a:pPr lvl="1"/>
            <a:r>
              <a:rPr lang="cs-CZ" dirty="0" smtClean="0"/>
              <a:t>petrolej</a:t>
            </a:r>
          </a:p>
          <a:p>
            <a:pPr lvl="1"/>
            <a:r>
              <a:rPr lang="cs-CZ" dirty="0" smtClean="0"/>
              <a:t>kaolín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3660074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UHLOVODÍKY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39552" y="1600200"/>
            <a:ext cx="8424936" cy="4525963"/>
          </a:xfrm>
        </p:spPr>
        <p:txBody>
          <a:bodyPr/>
          <a:lstStyle/>
          <a:p>
            <a:r>
              <a:rPr lang="cs-CZ" dirty="0" smtClean="0"/>
              <a:t>ve všech organických sloučeninách je uhlík </a:t>
            </a:r>
          </a:p>
          <a:p>
            <a:pPr marL="0" indent="0">
              <a:buNone/>
            </a:pPr>
            <a:r>
              <a:rPr lang="cs-CZ" dirty="0" smtClean="0"/>
              <a:t>			čtyřvazný</a:t>
            </a:r>
          </a:p>
          <a:p>
            <a:r>
              <a:rPr lang="cs-CZ" b="1" dirty="0" err="1" smtClean="0"/>
              <a:t>alkany</a:t>
            </a:r>
            <a:r>
              <a:rPr lang="cs-CZ" dirty="0" smtClean="0"/>
              <a:t> – pouze jednoduché vazby, CH</a:t>
            </a:r>
            <a:r>
              <a:rPr lang="cs-CZ" sz="1800" dirty="0" smtClean="0"/>
              <a:t>4</a:t>
            </a:r>
            <a:r>
              <a:rPr lang="cs-CZ" sz="2000" dirty="0" smtClean="0"/>
              <a:t>, </a:t>
            </a:r>
            <a:r>
              <a:rPr lang="cs-CZ" dirty="0" smtClean="0"/>
              <a:t>C</a:t>
            </a:r>
            <a:r>
              <a:rPr lang="cs-CZ" sz="1800" dirty="0" smtClean="0"/>
              <a:t>2</a:t>
            </a:r>
            <a:r>
              <a:rPr lang="cs-CZ" dirty="0" smtClean="0"/>
              <a:t>H</a:t>
            </a:r>
            <a:r>
              <a:rPr lang="cs-CZ" sz="1800" dirty="0" smtClean="0"/>
              <a:t>6</a:t>
            </a:r>
          </a:p>
          <a:p>
            <a:r>
              <a:rPr lang="cs-CZ" b="1" dirty="0" smtClean="0"/>
              <a:t>alkeny</a:t>
            </a:r>
            <a:r>
              <a:rPr lang="cs-CZ" dirty="0" smtClean="0"/>
              <a:t> – dvojná vazba mezi atomy uhlíku, C</a:t>
            </a:r>
            <a:r>
              <a:rPr lang="cs-CZ" sz="1800" dirty="0" smtClean="0"/>
              <a:t>2</a:t>
            </a:r>
            <a:r>
              <a:rPr lang="cs-CZ" dirty="0" smtClean="0"/>
              <a:t>H</a:t>
            </a:r>
            <a:r>
              <a:rPr lang="cs-CZ" sz="1800" dirty="0" smtClean="0"/>
              <a:t>4</a:t>
            </a:r>
            <a:endParaRPr lang="cs-CZ" sz="4800" dirty="0" smtClean="0"/>
          </a:p>
          <a:p>
            <a:r>
              <a:rPr lang="cs-CZ" b="1" dirty="0" err="1" smtClean="0"/>
              <a:t>alkyny</a:t>
            </a:r>
            <a:r>
              <a:rPr lang="cs-CZ" dirty="0" smtClean="0"/>
              <a:t> – trojná vazba mezi atomy uhlíku, C</a:t>
            </a:r>
            <a:r>
              <a:rPr lang="cs-CZ" sz="1800" dirty="0" smtClean="0"/>
              <a:t>2</a:t>
            </a:r>
            <a:r>
              <a:rPr lang="cs-CZ" dirty="0" smtClean="0"/>
              <a:t>H</a:t>
            </a:r>
            <a:r>
              <a:rPr lang="cs-CZ" sz="1800" dirty="0" smtClean="0"/>
              <a:t>2</a:t>
            </a:r>
          </a:p>
          <a:p>
            <a:r>
              <a:rPr lang="cs-CZ" b="1" dirty="0" err="1" smtClean="0"/>
              <a:t>areny</a:t>
            </a:r>
            <a:r>
              <a:rPr lang="cs-CZ" dirty="0" smtClean="0"/>
              <a:t> – atomy uhlíku uspořádány </a:t>
            </a:r>
            <a:br>
              <a:rPr lang="cs-CZ" dirty="0" smtClean="0"/>
            </a:br>
            <a:r>
              <a:rPr lang="cs-CZ" dirty="0" smtClean="0"/>
              <a:t>		do šestiúhelníku, C</a:t>
            </a:r>
            <a:r>
              <a:rPr lang="cs-CZ" sz="1800" dirty="0" smtClean="0"/>
              <a:t>6</a:t>
            </a:r>
            <a:r>
              <a:rPr lang="cs-CZ" dirty="0" smtClean="0"/>
              <a:t>H</a:t>
            </a:r>
            <a:r>
              <a:rPr lang="cs-CZ" sz="1800" dirty="0" smtClean="0"/>
              <a:t>6</a:t>
            </a:r>
            <a:endParaRPr lang="cs-CZ" sz="4800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Vzorce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souhrnný – molekulový</a:t>
            </a:r>
          </a:p>
          <a:p>
            <a:r>
              <a:rPr lang="cs-CZ" dirty="0" smtClean="0"/>
              <a:t>strukturní</a:t>
            </a:r>
          </a:p>
          <a:p>
            <a:r>
              <a:rPr lang="cs-CZ" dirty="0" smtClean="0"/>
              <a:t>racionální</a:t>
            </a:r>
          </a:p>
          <a:p>
            <a:r>
              <a:rPr lang="cs-CZ" dirty="0" smtClean="0"/>
              <a:t>modely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8093469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PROPAN</a:t>
            </a:r>
            <a:endParaRPr lang="cs-CZ" dirty="0"/>
          </a:p>
        </p:txBody>
      </p:sp>
      <p:sp>
        <p:nvSpPr>
          <p:cNvPr id="5" name="Zástupný symbol pro obsah 4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1396752"/>
          </a:xfrm>
        </p:spPr>
        <p:txBody>
          <a:bodyPr/>
          <a:lstStyle/>
          <a:p>
            <a:r>
              <a:rPr lang="cs-CZ" dirty="0" smtClean="0"/>
              <a:t>souhrnný</a:t>
            </a:r>
          </a:p>
          <a:p>
            <a:pPr marL="0" indent="0">
              <a:buNone/>
            </a:pPr>
            <a:r>
              <a:rPr lang="cs-CZ" dirty="0"/>
              <a:t>	</a:t>
            </a:r>
            <a:r>
              <a:rPr lang="cs-CZ" dirty="0" smtClean="0"/>
              <a:t>C</a:t>
            </a:r>
            <a:r>
              <a:rPr lang="cs-CZ" baseline="-25000" dirty="0" smtClean="0"/>
              <a:t>3</a:t>
            </a:r>
            <a:r>
              <a:rPr lang="cs-CZ" dirty="0" smtClean="0"/>
              <a:t>H</a:t>
            </a:r>
            <a:r>
              <a:rPr lang="cs-CZ" baseline="-25000" dirty="0" smtClean="0"/>
              <a:t>8</a:t>
            </a:r>
            <a:endParaRPr lang="cs-CZ" baseline="-25000" dirty="0"/>
          </a:p>
        </p:txBody>
      </p:sp>
      <p:sp>
        <p:nvSpPr>
          <p:cNvPr id="6" name="Zástupný symbol pro obsah 5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1684784"/>
          </a:xfrm>
        </p:spPr>
        <p:txBody>
          <a:bodyPr/>
          <a:lstStyle/>
          <a:p>
            <a:r>
              <a:rPr lang="cs-CZ" dirty="0" smtClean="0"/>
              <a:t>racionální</a:t>
            </a:r>
          </a:p>
        </p:txBody>
      </p:sp>
      <p:sp>
        <p:nvSpPr>
          <p:cNvPr id="7" name="Zástupný symbol pro obsah 4"/>
          <p:cNvSpPr txBox="1">
            <a:spLocks/>
          </p:cNvSpPr>
          <p:nvPr/>
        </p:nvSpPr>
        <p:spPr>
          <a:xfrm>
            <a:off x="577963" y="3180752"/>
            <a:ext cx="4038600" cy="1396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dirty="0" smtClean="0"/>
              <a:t>strukturní</a:t>
            </a:r>
          </a:p>
          <a:p>
            <a:pPr marL="0" indent="0">
              <a:buFont typeface="Arial" pitchFamily="34" charset="0"/>
              <a:buNone/>
            </a:pPr>
            <a:r>
              <a:rPr lang="cs-CZ" dirty="0" smtClean="0"/>
              <a:t>	CH</a:t>
            </a:r>
            <a:r>
              <a:rPr lang="cs-CZ" baseline="-25000" dirty="0" smtClean="0"/>
              <a:t>3</a:t>
            </a:r>
            <a:r>
              <a:rPr lang="cs-CZ" dirty="0" smtClean="0"/>
              <a:t>CH</a:t>
            </a:r>
            <a:r>
              <a:rPr lang="cs-CZ" baseline="-25000" dirty="0" smtClean="0"/>
              <a:t>2</a:t>
            </a:r>
            <a:r>
              <a:rPr lang="cs-CZ" dirty="0" smtClean="0"/>
              <a:t>CH</a:t>
            </a:r>
            <a:r>
              <a:rPr lang="cs-CZ" baseline="-25000" dirty="0" smtClean="0"/>
              <a:t>3</a:t>
            </a:r>
            <a:endParaRPr lang="cs-CZ" baseline="-25000" dirty="0"/>
          </a:p>
        </p:txBody>
      </p:sp>
      <p:sp>
        <p:nvSpPr>
          <p:cNvPr id="8" name="Zástupný symbol pro obsah 4"/>
          <p:cNvSpPr txBox="1">
            <a:spLocks/>
          </p:cNvSpPr>
          <p:nvPr/>
        </p:nvSpPr>
        <p:spPr>
          <a:xfrm>
            <a:off x="4636611" y="3356992"/>
            <a:ext cx="4038600" cy="1396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dirty="0" smtClean="0"/>
              <a:t>model</a:t>
            </a:r>
          </a:p>
          <a:p>
            <a:pPr marL="0" indent="0">
              <a:buFont typeface="Arial" pitchFamily="34" charset="0"/>
              <a:buNone/>
            </a:pPr>
            <a:r>
              <a:rPr lang="cs-CZ" dirty="0" smtClean="0"/>
              <a:t>	</a:t>
            </a:r>
            <a:endParaRPr lang="cs-CZ" baseline="-25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2191477"/>
            <a:ext cx="1514286" cy="9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4038600"/>
            <a:ext cx="1350000" cy="10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741175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BUTAN</a:t>
            </a:r>
            <a:endParaRPr lang="cs-CZ" dirty="0"/>
          </a:p>
        </p:txBody>
      </p:sp>
      <p:sp>
        <p:nvSpPr>
          <p:cNvPr id="5" name="Zástupný symbol pro obsah 4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1396752"/>
          </a:xfrm>
        </p:spPr>
        <p:txBody>
          <a:bodyPr/>
          <a:lstStyle/>
          <a:p>
            <a:r>
              <a:rPr lang="cs-CZ" dirty="0" smtClean="0"/>
              <a:t>souhrnný</a:t>
            </a:r>
          </a:p>
          <a:p>
            <a:pPr marL="0" indent="0">
              <a:buNone/>
            </a:pPr>
            <a:r>
              <a:rPr lang="cs-CZ" dirty="0"/>
              <a:t>	</a:t>
            </a:r>
            <a:r>
              <a:rPr lang="cs-CZ" dirty="0" smtClean="0"/>
              <a:t>C</a:t>
            </a:r>
            <a:r>
              <a:rPr lang="cs-CZ" baseline="-25000" dirty="0" smtClean="0"/>
              <a:t>4</a:t>
            </a:r>
            <a:r>
              <a:rPr lang="cs-CZ" dirty="0" smtClean="0"/>
              <a:t>H</a:t>
            </a:r>
            <a:r>
              <a:rPr lang="cs-CZ" baseline="-25000" dirty="0" smtClean="0"/>
              <a:t>10</a:t>
            </a:r>
            <a:endParaRPr lang="cs-CZ" baseline="-25000" dirty="0"/>
          </a:p>
        </p:txBody>
      </p:sp>
      <p:sp>
        <p:nvSpPr>
          <p:cNvPr id="6" name="Zástupný symbol pro obsah 5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1684784"/>
          </a:xfrm>
        </p:spPr>
        <p:txBody>
          <a:bodyPr/>
          <a:lstStyle/>
          <a:p>
            <a:r>
              <a:rPr lang="cs-CZ" dirty="0" smtClean="0"/>
              <a:t>racionální</a:t>
            </a:r>
          </a:p>
        </p:txBody>
      </p:sp>
      <p:sp>
        <p:nvSpPr>
          <p:cNvPr id="7" name="Zástupný symbol pro obsah 4"/>
          <p:cNvSpPr txBox="1">
            <a:spLocks/>
          </p:cNvSpPr>
          <p:nvPr/>
        </p:nvSpPr>
        <p:spPr>
          <a:xfrm>
            <a:off x="577963" y="3180752"/>
            <a:ext cx="4038600" cy="1396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dirty="0" smtClean="0"/>
              <a:t>strukturní</a:t>
            </a:r>
          </a:p>
          <a:p>
            <a:pPr marL="0" indent="0">
              <a:buNone/>
            </a:pPr>
            <a:r>
              <a:rPr lang="cs-CZ" dirty="0" smtClean="0"/>
              <a:t>	CH</a:t>
            </a:r>
            <a:r>
              <a:rPr lang="cs-CZ" baseline="-25000" dirty="0" smtClean="0"/>
              <a:t>3</a:t>
            </a:r>
            <a:r>
              <a:rPr lang="cs-CZ" dirty="0" smtClean="0"/>
              <a:t>CH</a:t>
            </a:r>
            <a:r>
              <a:rPr lang="cs-CZ" baseline="-25000" dirty="0" smtClean="0"/>
              <a:t>2</a:t>
            </a:r>
            <a:r>
              <a:rPr lang="cs-CZ" dirty="0"/>
              <a:t>CH</a:t>
            </a:r>
            <a:r>
              <a:rPr lang="cs-CZ" baseline="-25000" dirty="0"/>
              <a:t>2</a:t>
            </a:r>
            <a:r>
              <a:rPr lang="cs-CZ" dirty="0" smtClean="0"/>
              <a:t>CH</a:t>
            </a:r>
            <a:r>
              <a:rPr lang="cs-CZ" baseline="-25000" dirty="0" smtClean="0"/>
              <a:t>3</a:t>
            </a:r>
            <a:endParaRPr lang="cs-CZ" baseline="-25000" dirty="0"/>
          </a:p>
        </p:txBody>
      </p:sp>
      <p:sp>
        <p:nvSpPr>
          <p:cNvPr id="8" name="Zástupný symbol pro obsah 4"/>
          <p:cNvSpPr txBox="1">
            <a:spLocks/>
          </p:cNvSpPr>
          <p:nvPr/>
        </p:nvSpPr>
        <p:spPr>
          <a:xfrm>
            <a:off x="4636611" y="3356992"/>
            <a:ext cx="4038600" cy="1396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dirty="0" smtClean="0"/>
              <a:t>model</a:t>
            </a:r>
          </a:p>
          <a:p>
            <a:pPr marL="0" indent="0">
              <a:buFont typeface="Arial" pitchFamily="34" charset="0"/>
              <a:buNone/>
            </a:pPr>
            <a:r>
              <a:rPr lang="cs-CZ" dirty="0" smtClean="0"/>
              <a:t>	</a:t>
            </a:r>
            <a:endParaRPr lang="cs-CZ" baseline="-25000" dirty="0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8977" y="2276872"/>
            <a:ext cx="1228725" cy="60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4055368"/>
            <a:ext cx="1362075" cy="71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43591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ALKANY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mezi atomy uhlíku pouze jednoduchá vazba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0719060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 smtClean="0"/>
              <a:t>methan</a:t>
            </a:r>
            <a:r>
              <a:rPr lang="cs-CZ" dirty="0" smtClean="0"/>
              <a:t> CH</a:t>
            </a:r>
            <a:r>
              <a:rPr lang="cs-CZ" baseline="-25000" dirty="0" smtClean="0"/>
              <a:t>4</a:t>
            </a:r>
            <a:endParaRPr lang="cs-CZ" baseline="-25000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bezbarvá </a:t>
            </a:r>
            <a:r>
              <a:rPr lang="cs-CZ" dirty="0" smtClean="0"/>
              <a:t>plynná </a:t>
            </a:r>
            <a:r>
              <a:rPr lang="cs-CZ" dirty="0"/>
              <a:t>látka</a:t>
            </a:r>
          </a:p>
          <a:p>
            <a:r>
              <a:rPr lang="cs-CZ" dirty="0"/>
              <a:t>hlavní složka zemního plynu</a:t>
            </a:r>
          </a:p>
          <a:p>
            <a:r>
              <a:rPr lang="cs-CZ" dirty="0"/>
              <a:t>se vzduchem tvoří výbušnou </a:t>
            </a:r>
            <a:r>
              <a:rPr lang="cs-CZ" dirty="0">
                <a:hlinkClick r:id="rId2"/>
              </a:rPr>
              <a:t>směs</a:t>
            </a:r>
            <a:endParaRPr lang="cs-CZ" dirty="0"/>
          </a:p>
          <a:p>
            <a:r>
              <a:rPr lang="cs-CZ" dirty="0"/>
              <a:t>použití:</a:t>
            </a:r>
          </a:p>
          <a:p>
            <a:pPr lvl="1"/>
            <a:r>
              <a:rPr lang="cs-CZ" dirty="0"/>
              <a:t>topení</a:t>
            </a:r>
          </a:p>
          <a:p>
            <a:pPr lvl="1"/>
            <a:r>
              <a:rPr lang="cs-CZ" dirty="0"/>
              <a:t>výroba acetylenu, vodíku, sazí</a:t>
            </a:r>
          </a:p>
          <a:p>
            <a:pPr lvl="1"/>
            <a:r>
              <a:rPr lang="cs-CZ" dirty="0"/>
              <a:t>palivo do spalovacích motorů: CNG - stlačený zemní plyn nebo LNG - zkapalněný zemní plyn</a:t>
            </a:r>
          </a:p>
          <a:p>
            <a:endParaRPr lang="cs-CZ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3816" y="332656"/>
            <a:ext cx="1075200" cy="10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266378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 smtClean="0"/>
              <a:t>ethan</a:t>
            </a:r>
            <a:r>
              <a:rPr lang="cs-CZ" dirty="0" smtClean="0"/>
              <a:t> C</a:t>
            </a:r>
            <a:r>
              <a:rPr lang="cs-CZ" baseline="-25000" dirty="0" smtClean="0"/>
              <a:t>2</a:t>
            </a:r>
            <a:r>
              <a:rPr lang="cs-CZ" dirty="0" smtClean="0"/>
              <a:t>H</a:t>
            </a:r>
            <a:r>
              <a:rPr lang="cs-CZ" baseline="-25000" dirty="0" smtClean="0"/>
              <a:t>6</a:t>
            </a:r>
            <a:endParaRPr lang="cs-CZ" baseline="-25000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cs-CZ" dirty="0"/>
              <a:t>racionální vzorec CH</a:t>
            </a:r>
            <a:r>
              <a:rPr lang="cs-CZ" baseline="-25000" dirty="0"/>
              <a:t>3</a:t>
            </a:r>
            <a:r>
              <a:rPr lang="cs-CZ" dirty="0"/>
              <a:t>CH</a:t>
            </a:r>
            <a:r>
              <a:rPr lang="cs-CZ" baseline="-25000" dirty="0"/>
              <a:t>3</a:t>
            </a:r>
            <a:endParaRPr lang="cs-CZ" dirty="0"/>
          </a:p>
          <a:p>
            <a:r>
              <a:rPr lang="cs-CZ" dirty="0"/>
              <a:t>bezbarvý hořlavý plyn</a:t>
            </a:r>
          </a:p>
          <a:p>
            <a:r>
              <a:rPr lang="cs-CZ" dirty="0"/>
              <a:t>se vzduchem tvoří výbušnou směs</a:t>
            </a:r>
          </a:p>
          <a:p>
            <a:r>
              <a:rPr lang="cs-CZ" dirty="0"/>
              <a:t>použití:</a:t>
            </a:r>
          </a:p>
          <a:p>
            <a:pPr lvl="1"/>
            <a:r>
              <a:rPr lang="cs-CZ" dirty="0"/>
              <a:t>výroba etylenu, vinylchloridu, plastů, kyseliny octové</a:t>
            </a:r>
          </a:p>
          <a:p>
            <a:pPr lvl="1"/>
            <a:r>
              <a:rPr lang="cs-CZ" dirty="0"/>
              <a:t>chladírenské médium</a:t>
            </a:r>
          </a:p>
          <a:p>
            <a:pPr lvl="1"/>
            <a:r>
              <a:rPr lang="cs-CZ" dirty="0" smtClean="0"/>
              <a:t>kapalný </a:t>
            </a:r>
            <a:r>
              <a:rPr lang="cs-CZ" dirty="0"/>
              <a:t>v lékařství, mikrobiologii ke zmrazování vzorků (prudké ochlazení zabrání krystalizaci vody a tím poškození vzorků)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390600"/>
            <a:ext cx="1506316" cy="10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076650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 smtClean="0"/>
              <a:t>propan C</a:t>
            </a:r>
            <a:r>
              <a:rPr lang="cs-CZ" baseline="-25000" dirty="0" smtClean="0"/>
              <a:t>3</a:t>
            </a:r>
            <a:r>
              <a:rPr lang="cs-CZ" dirty="0" smtClean="0"/>
              <a:t>H</a:t>
            </a:r>
            <a:r>
              <a:rPr lang="cs-CZ" baseline="-25000" dirty="0" smtClean="0"/>
              <a:t>8 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racionální vzorec CH</a:t>
            </a:r>
            <a:r>
              <a:rPr lang="cs-CZ" baseline="-25000" dirty="0"/>
              <a:t>3</a:t>
            </a:r>
            <a:r>
              <a:rPr lang="cs-CZ" dirty="0"/>
              <a:t>CH</a:t>
            </a:r>
            <a:r>
              <a:rPr lang="cs-CZ" baseline="-25000" dirty="0"/>
              <a:t>2</a:t>
            </a:r>
            <a:r>
              <a:rPr lang="cs-CZ" dirty="0"/>
              <a:t>CH</a:t>
            </a:r>
            <a:r>
              <a:rPr lang="cs-CZ" baseline="-25000" dirty="0"/>
              <a:t>3</a:t>
            </a:r>
            <a:endParaRPr lang="cs-CZ" dirty="0"/>
          </a:p>
          <a:p>
            <a:r>
              <a:rPr lang="cs-CZ" dirty="0"/>
              <a:t>bezbarvý hořlavý plyn</a:t>
            </a:r>
          </a:p>
          <a:p>
            <a:r>
              <a:rPr lang="cs-CZ" dirty="0"/>
              <a:t>se vzduchem tvoří výbušnou směs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272" y="404664"/>
            <a:ext cx="15240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199723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 smtClean="0"/>
              <a:t>butan C</a:t>
            </a:r>
            <a:r>
              <a:rPr lang="cs-CZ" baseline="-25000" dirty="0" smtClean="0"/>
              <a:t>4</a:t>
            </a:r>
            <a:r>
              <a:rPr lang="cs-CZ" dirty="0" smtClean="0"/>
              <a:t>H</a:t>
            </a:r>
            <a:r>
              <a:rPr lang="cs-CZ" baseline="-25000" dirty="0" smtClean="0"/>
              <a:t>10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racionální vzorec CH</a:t>
            </a:r>
            <a:r>
              <a:rPr lang="cs-CZ" baseline="-25000" dirty="0"/>
              <a:t>3</a:t>
            </a:r>
            <a:r>
              <a:rPr lang="cs-CZ" dirty="0"/>
              <a:t>CH</a:t>
            </a:r>
            <a:r>
              <a:rPr lang="cs-CZ" baseline="-25000" dirty="0"/>
              <a:t>2</a:t>
            </a:r>
            <a:r>
              <a:rPr lang="cs-CZ" dirty="0"/>
              <a:t>CH</a:t>
            </a:r>
            <a:r>
              <a:rPr lang="cs-CZ" baseline="-25000" dirty="0"/>
              <a:t>2</a:t>
            </a:r>
            <a:r>
              <a:rPr lang="cs-CZ" dirty="0"/>
              <a:t>CH</a:t>
            </a:r>
            <a:r>
              <a:rPr lang="cs-CZ" baseline="-25000" dirty="0"/>
              <a:t>3 </a:t>
            </a:r>
            <a:endParaRPr lang="cs-CZ" baseline="-25000" dirty="0" smtClean="0"/>
          </a:p>
          <a:p>
            <a:r>
              <a:rPr lang="cs-CZ" dirty="0" smtClean="0"/>
              <a:t>bezbarvý </a:t>
            </a:r>
            <a:r>
              <a:rPr lang="cs-CZ" dirty="0"/>
              <a:t>hořlavý plyn</a:t>
            </a:r>
          </a:p>
          <a:p>
            <a:r>
              <a:rPr lang="cs-CZ" dirty="0"/>
              <a:t>se vzduchem tvoří výbušnou </a:t>
            </a:r>
            <a:r>
              <a:rPr lang="cs-CZ" dirty="0" smtClean="0"/>
              <a:t>směs</a:t>
            </a:r>
          </a:p>
          <a:p>
            <a:r>
              <a:rPr lang="cs-CZ" dirty="0"/>
              <a:t>použití</a:t>
            </a:r>
            <a:r>
              <a:rPr lang="cs-CZ" dirty="0" smtClean="0"/>
              <a:t>: ve </a:t>
            </a:r>
            <a:r>
              <a:rPr lang="cs-CZ" dirty="0"/>
              <a:t>směsi s </a:t>
            </a:r>
            <a:r>
              <a:rPr lang="cs-CZ" dirty="0" smtClean="0"/>
              <a:t>propanem </a:t>
            </a:r>
            <a:r>
              <a:rPr lang="cs-CZ" dirty="0"/>
              <a:t>jako palivo </a:t>
            </a:r>
            <a:r>
              <a:rPr lang="cs-CZ" dirty="0" smtClean="0"/>
              <a:t/>
            </a:r>
            <a:br>
              <a:rPr lang="cs-CZ" dirty="0" smtClean="0"/>
            </a:br>
            <a:r>
              <a:rPr lang="cs-CZ" dirty="0" smtClean="0"/>
              <a:t>pro </a:t>
            </a:r>
            <a:r>
              <a:rPr lang="cs-CZ" dirty="0"/>
              <a:t>sporáky, automobily (LPG</a:t>
            </a:r>
            <a:r>
              <a:rPr lang="cs-CZ" dirty="0" smtClean="0"/>
              <a:t>)</a:t>
            </a:r>
          </a:p>
          <a:p>
            <a:r>
              <a:rPr lang="cs-CZ" dirty="0" smtClean="0">
                <a:hlinkClick r:id="rId2"/>
              </a:rPr>
              <a:t>pokus</a:t>
            </a:r>
            <a:endParaRPr lang="cs-CZ" dirty="0"/>
          </a:p>
          <a:p>
            <a:endParaRPr lang="cs-CZ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4221088"/>
            <a:ext cx="2390775" cy="1914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3381" y="404664"/>
            <a:ext cx="1996364" cy="10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83638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19238"/>
            <a:ext cx="9000000" cy="29199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551211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Zapište chemickými vzorci látky, které jsou obsaženy v zemním plynu:</a:t>
            </a:r>
          </a:p>
          <a:p>
            <a:pPr lvl="1"/>
            <a:r>
              <a:rPr lang="cs-CZ" dirty="0" err="1" smtClean="0"/>
              <a:t>methan</a:t>
            </a:r>
            <a:endParaRPr lang="cs-CZ" dirty="0" smtClean="0"/>
          </a:p>
          <a:p>
            <a:pPr lvl="1"/>
            <a:r>
              <a:rPr lang="cs-CZ" dirty="0" err="1" smtClean="0"/>
              <a:t>ethan</a:t>
            </a:r>
            <a:endParaRPr lang="cs-CZ" dirty="0" smtClean="0"/>
          </a:p>
          <a:p>
            <a:pPr lvl="1"/>
            <a:r>
              <a:rPr lang="cs-CZ" dirty="0" smtClean="0"/>
              <a:t>propan</a:t>
            </a:r>
          </a:p>
          <a:p>
            <a:pPr lvl="1"/>
            <a:r>
              <a:rPr lang="cs-CZ" dirty="0" smtClean="0"/>
              <a:t>butan</a:t>
            </a:r>
          </a:p>
          <a:p>
            <a:pPr lvl="1"/>
            <a:r>
              <a:rPr lang="cs-CZ" dirty="0" smtClean="0"/>
              <a:t>dusík</a:t>
            </a:r>
          </a:p>
          <a:p>
            <a:pPr lvl="1"/>
            <a:r>
              <a:rPr lang="cs-CZ" smtClean="0"/>
              <a:t>oxid uhličitý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214907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915</TotalTime>
  <Words>284</Words>
  <Application>Microsoft Office PowerPoint</Application>
  <PresentationFormat>Předvádění na obrazovce (4:3)</PresentationFormat>
  <Paragraphs>87</Paragraphs>
  <Slides>16</Slides>
  <Notes>1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16</vt:i4>
      </vt:variant>
    </vt:vector>
  </HeadingPairs>
  <TitlesOfParts>
    <vt:vector size="17" baseType="lpstr">
      <vt:lpstr>Motiv sady Office</vt:lpstr>
      <vt:lpstr>ORGANICKÁ CHEMIE</vt:lpstr>
      <vt:lpstr>Organické látky</vt:lpstr>
      <vt:lpstr>Prezentace aplikace PowerPoint</vt:lpstr>
      <vt:lpstr>Prezentace aplikace PowerPoint</vt:lpstr>
      <vt:lpstr>Prezentace aplikace PowerPoint</vt:lpstr>
      <vt:lpstr>UHLOVODÍKY</vt:lpstr>
      <vt:lpstr>Vzorce</vt:lpstr>
      <vt:lpstr>PROPAN</vt:lpstr>
      <vt:lpstr>BUTAN</vt:lpstr>
      <vt:lpstr>ALKANY</vt:lpstr>
      <vt:lpstr>methan CH4</vt:lpstr>
      <vt:lpstr>ethan C2H6</vt:lpstr>
      <vt:lpstr>propan C3H8 </vt:lpstr>
      <vt:lpstr>butan C4H10</vt:lpstr>
      <vt:lpstr>Prezentace aplikace PowerPoint</vt:lpstr>
      <vt:lpstr>Prezentace aplikace PowerPoint</vt:lpstr>
    </vt:vector>
  </TitlesOfParts>
  <Company>DELTA - SŠIE, s.r.o.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ORGANICKÁ CHEMIE</dc:title>
  <dc:creator>buhrji</dc:creator>
  <cp:lastModifiedBy>Buhrová Jitka</cp:lastModifiedBy>
  <cp:revision>56</cp:revision>
  <dcterms:created xsi:type="dcterms:W3CDTF">2010-11-24T08:30:58Z</dcterms:created>
  <dcterms:modified xsi:type="dcterms:W3CDTF">2015-12-14T08:08:34Z</dcterms:modified>
</cp:coreProperties>
</file>