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</p:sldIdLst>
  <p:sldSz cx="9144000" cy="6858000" type="screen4x3"/>
  <p:notesSz cx="6669088" cy="9928225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567" autoAdjust="0"/>
  </p:normalViewPr>
  <p:slideViewPr>
    <p:cSldViewPr>
      <p:cViewPr>
        <p:scale>
          <a:sx n="66" d="100"/>
          <a:sy n="66" d="100"/>
        </p:scale>
        <p:origin x="-147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F647E-3F63-44C9-954D-5F78D95797C9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4924F-8F75-4F98-AEC3-06166C839FFF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35841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12EB1-3634-4892-8812-1915BC1134CA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66909" y="4715907"/>
            <a:ext cx="533527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44F25-CD12-474A-A29E-E7C47A301B3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1839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pokus: CaC2</a:t>
            </a:r>
            <a:r>
              <a:rPr lang="cs-CZ" baseline="0" dirty="0" smtClean="0"/>
              <a:t> + H2O = CH</a:t>
            </a:r>
            <a:r>
              <a:rPr lang="cs-CZ" baseline="0" dirty="0" smtClean="0">
                <a:sym typeface="Symbol"/>
              </a:rPr>
              <a:t></a:t>
            </a:r>
            <a:r>
              <a:rPr lang="cs-CZ" baseline="0" dirty="0" smtClean="0"/>
              <a:t>CH +Ca(OH)2</a:t>
            </a:r>
          </a:p>
          <a:p>
            <a:r>
              <a:rPr lang="cs-CZ" baseline="0" dirty="0" smtClean="0"/>
              <a:t>CH</a:t>
            </a:r>
            <a:r>
              <a:rPr lang="cs-CZ" baseline="0" dirty="0" smtClean="0">
                <a:sym typeface="Symbol"/>
              </a:rPr>
              <a:t>CH + O2 = C + CO2 + H2O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44F25-CD12-474A-A29E-E7C47A301B38}" type="slidenum">
              <a:rPr lang="cs-CZ" smtClean="0"/>
              <a:pPr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9707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Klepnutím lze upravit styl předlohy podnadpisů.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iencezoom.cz/apps/zf_08/?target=organic&amp;pokus=pokus_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youtube.com/watch?v=Zp_yqr6DdX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ORGANICKÁ CHEMIE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ALKYNY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obsahují trojnou vazbu mezi atomy uhlíku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5887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acethylen</a:t>
            </a:r>
            <a:r>
              <a:rPr lang="cs-CZ" dirty="0" smtClean="0"/>
              <a:t> (</a:t>
            </a:r>
            <a:r>
              <a:rPr lang="cs-CZ" dirty="0" err="1" smtClean="0"/>
              <a:t>ethyn</a:t>
            </a:r>
            <a:r>
              <a:rPr lang="cs-CZ" dirty="0" smtClean="0"/>
              <a:t>) C</a:t>
            </a:r>
            <a:r>
              <a:rPr lang="cs-CZ" baseline="-25000" dirty="0" smtClean="0"/>
              <a:t>2</a:t>
            </a:r>
            <a:r>
              <a:rPr lang="cs-CZ" dirty="0" smtClean="0"/>
              <a:t>H</a:t>
            </a:r>
            <a:r>
              <a:rPr lang="cs-CZ" baseline="-25000" dirty="0" smtClean="0"/>
              <a:t>2</a:t>
            </a:r>
            <a:r>
              <a:rPr lang="cs-CZ" dirty="0" smtClean="0"/>
              <a:t>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strukturní vzorec</a:t>
            </a:r>
          </a:p>
          <a:p>
            <a:r>
              <a:rPr lang="cs-CZ" dirty="0" smtClean="0"/>
              <a:t> plynná bezbarvá lehce zápalná látka</a:t>
            </a:r>
          </a:p>
          <a:p>
            <a:r>
              <a:rPr lang="cs-CZ" dirty="0" smtClean="0"/>
              <a:t>se vzduchem tvoří výbušnou směs</a:t>
            </a:r>
          </a:p>
          <a:p>
            <a:r>
              <a:rPr lang="cs-CZ" dirty="0" smtClean="0"/>
              <a:t>surovina pro výrobu kyseliny octové, PVC</a:t>
            </a:r>
          </a:p>
          <a:p>
            <a:r>
              <a:rPr lang="cs-CZ" dirty="0" smtClean="0"/>
              <a:t>ke sváření a řezání kovů (</a:t>
            </a:r>
            <a:r>
              <a:rPr lang="cs-CZ" dirty="0" err="1" smtClean="0"/>
              <a:t>kyslíkoacetylenový</a:t>
            </a:r>
            <a:r>
              <a:rPr lang="cs-CZ" dirty="0" smtClean="0"/>
              <a:t> plamen)</a:t>
            </a:r>
          </a:p>
          <a:p>
            <a:r>
              <a:rPr lang="cs-CZ" dirty="0" smtClean="0">
                <a:hlinkClick r:id="rId3"/>
              </a:rPr>
              <a:t>pokus</a:t>
            </a:r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772816"/>
            <a:ext cx="1671923" cy="3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020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ARENY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obsahují tzv. benzenové jádro</a:t>
            </a:r>
            <a:endParaRPr lang="cs-CZ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494078"/>
            <a:ext cx="4114286" cy="9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758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benzen C</a:t>
            </a:r>
            <a:r>
              <a:rPr lang="cs-CZ" baseline="-25000" dirty="0" smtClean="0"/>
              <a:t>6</a:t>
            </a:r>
            <a:r>
              <a:rPr lang="cs-CZ" dirty="0" smtClean="0"/>
              <a:t>H</a:t>
            </a:r>
            <a:r>
              <a:rPr lang="cs-CZ" baseline="-25000" dirty="0" smtClean="0"/>
              <a:t>6</a:t>
            </a:r>
            <a:endParaRPr lang="cs-CZ" baseline="-250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strukturní vzorec</a:t>
            </a:r>
          </a:p>
          <a:p>
            <a:endParaRPr lang="cs-CZ" dirty="0"/>
          </a:p>
          <a:p>
            <a:r>
              <a:rPr lang="cs-CZ" dirty="0" smtClean="0"/>
              <a:t>zjednodušený</a:t>
            </a:r>
          </a:p>
          <a:p>
            <a:endParaRPr lang="cs-CZ" dirty="0"/>
          </a:p>
          <a:p>
            <a:r>
              <a:rPr lang="cs-CZ" dirty="0" smtClean="0"/>
              <a:t>bezbarvá vysoce hořlavá toxická kapalná látka</a:t>
            </a:r>
          </a:p>
          <a:p>
            <a:r>
              <a:rPr lang="cs-CZ" dirty="0" smtClean="0"/>
              <a:t>k výrobě léčiv, plastů, výbušnin; rozpouštědlo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000" y="1587446"/>
            <a:ext cx="1192500" cy="12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790" y="2828924"/>
            <a:ext cx="2320000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818" y="5058000"/>
            <a:ext cx="915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623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naftalen C</a:t>
            </a:r>
            <a:r>
              <a:rPr lang="cs-CZ" baseline="-25000" dirty="0" smtClean="0"/>
              <a:t>10</a:t>
            </a:r>
            <a:r>
              <a:rPr lang="cs-CZ" dirty="0" smtClean="0"/>
              <a:t>H</a:t>
            </a:r>
            <a:r>
              <a:rPr lang="cs-CZ" baseline="-25000" dirty="0" smtClean="0"/>
              <a:t>8</a:t>
            </a:r>
            <a:endParaRPr lang="cs-CZ" baseline="-250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smtClean="0"/>
              <a:t>strukturní vzorec</a:t>
            </a:r>
          </a:p>
          <a:p>
            <a:endParaRPr lang="cs-CZ" dirty="0"/>
          </a:p>
          <a:p>
            <a:r>
              <a:rPr lang="cs-CZ" dirty="0" smtClean="0"/>
              <a:t>zjednodušený</a:t>
            </a:r>
          </a:p>
          <a:p>
            <a:endParaRPr lang="cs-CZ" dirty="0"/>
          </a:p>
          <a:p>
            <a:r>
              <a:rPr lang="cs-CZ" dirty="0" smtClean="0"/>
              <a:t>krystalická zapáchající látka</a:t>
            </a:r>
          </a:p>
          <a:p>
            <a:r>
              <a:rPr lang="cs-CZ" dirty="0" smtClean="0"/>
              <a:t>ve vodě nerozpustná</a:t>
            </a:r>
          </a:p>
          <a:p>
            <a:r>
              <a:rPr lang="cs-CZ" dirty="0" smtClean="0"/>
              <a:t>k výrobě barviv</a:t>
            </a:r>
          </a:p>
          <a:p>
            <a:r>
              <a:rPr lang="cs-CZ" dirty="0" smtClean="0">
                <a:hlinkClick r:id="rId2"/>
              </a:rPr>
              <a:t>pokus</a:t>
            </a:r>
            <a:endParaRPr lang="cs-CZ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213328"/>
            <a:ext cx="224790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870" y="3048000"/>
            <a:ext cx="152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 descr="Výsledek obrázku pro naftale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332656"/>
            <a:ext cx="1524000" cy="98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99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toluen C</a:t>
            </a:r>
            <a:r>
              <a:rPr lang="cs-CZ" baseline="-25000" dirty="0" smtClean="0"/>
              <a:t>7</a:t>
            </a:r>
            <a:r>
              <a:rPr lang="cs-CZ" dirty="0" smtClean="0"/>
              <a:t>H</a:t>
            </a:r>
            <a:r>
              <a:rPr lang="cs-CZ" baseline="-25000" dirty="0" smtClean="0"/>
              <a:t>9</a:t>
            </a:r>
            <a:endParaRPr lang="cs-CZ" baseline="-250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strukturní vzorec</a:t>
            </a:r>
          </a:p>
          <a:p>
            <a:endParaRPr lang="cs-CZ" dirty="0"/>
          </a:p>
          <a:p>
            <a:r>
              <a:rPr lang="cs-CZ" dirty="0" smtClean="0"/>
              <a:t>zjednodušený</a:t>
            </a:r>
          </a:p>
          <a:p>
            <a:endParaRPr lang="cs-CZ" dirty="0"/>
          </a:p>
          <a:p>
            <a:r>
              <a:rPr lang="cs-CZ" dirty="0" smtClean="0"/>
              <a:t>hořlavá zapáchající kapalina</a:t>
            </a:r>
          </a:p>
          <a:p>
            <a:r>
              <a:rPr lang="cs-CZ" dirty="0" smtClean="0"/>
              <a:t>páry toxické, karcinogenní</a:t>
            </a:r>
          </a:p>
          <a:p>
            <a:r>
              <a:rPr lang="cs-CZ" dirty="0" smtClean="0"/>
              <a:t>rozpouštědlo, výroba TNT, sladidla sacharin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069" y="2340862"/>
            <a:ext cx="690411" cy="12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170862"/>
            <a:ext cx="1857014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9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styren C</a:t>
            </a:r>
            <a:r>
              <a:rPr lang="cs-CZ" baseline="-25000" dirty="0" smtClean="0"/>
              <a:t>8</a:t>
            </a:r>
            <a:r>
              <a:rPr lang="cs-CZ" dirty="0" smtClean="0"/>
              <a:t>H</a:t>
            </a:r>
            <a:r>
              <a:rPr lang="cs-CZ" baseline="-25000" dirty="0" smtClean="0"/>
              <a:t>8</a:t>
            </a:r>
            <a:endParaRPr lang="cs-CZ" baseline="-250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vzorec</a:t>
            </a:r>
          </a:p>
          <a:p>
            <a:endParaRPr lang="cs-CZ" dirty="0"/>
          </a:p>
          <a:p>
            <a:pPr marL="0" indent="0">
              <a:buNone/>
            </a:pPr>
            <a:endParaRPr lang="cs-CZ" dirty="0" smtClean="0"/>
          </a:p>
          <a:p>
            <a:pPr marL="0" indent="0">
              <a:buNone/>
            </a:pPr>
            <a:endParaRPr lang="cs-CZ" dirty="0"/>
          </a:p>
          <a:p>
            <a:r>
              <a:rPr lang="cs-CZ" dirty="0" smtClean="0"/>
              <a:t>bezbarvá kapalina</a:t>
            </a:r>
          </a:p>
          <a:p>
            <a:r>
              <a:rPr lang="cs-CZ" dirty="0" smtClean="0"/>
              <a:t>výroba polystyrenu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412776"/>
            <a:ext cx="18764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293096"/>
            <a:ext cx="4577483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74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134</Words>
  <Application>Microsoft Office PowerPoint</Application>
  <PresentationFormat>Předvádění na obrazovce (4:3)</PresentationFormat>
  <Paragraphs>47</Paragraphs>
  <Slides>8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9" baseType="lpstr">
      <vt:lpstr>Motiv sady Office</vt:lpstr>
      <vt:lpstr>ORGANICKÁ CHEMIE</vt:lpstr>
      <vt:lpstr>ALKYNY</vt:lpstr>
      <vt:lpstr>acethylen (ethyn) C2H2 </vt:lpstr>
      <vt:lpstr>ARENY</vt:lpstr>
      <vt:lpstr>benzen C6H6</vt:lpstr>
      <vt:lpstr>naftalen C10H8</vt:lpstr>
      <vt:lpstr>toluen C7H9</vt:lpstr>
      <vt:lpstr>styren C8H8</vt:lpstr>
    </vt:vector>
  </TitlesOfParts>
  <Company>DELTA - SŠIE, s.r.o.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ORGANICKÁ CHEMIE</dc:title>
  <dc:creator>buhrji</dc:creator>
  <cp:lastModifiedBy>Buhrová Jitka</cp:lastModifiedBy>
  <cp:revision>55</cp:revision>
  <dcterms:created xsi:type="dcterms:W3CDTF">2010-11-24T08:30:58Z</dcterms:created>
  <dcterms:modified xsi:type="dcterms:W3CDTF">2015-12-14T08:11:04Z</dcterms:modified>
</cp:coreProperties>
</file>