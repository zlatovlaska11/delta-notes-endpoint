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3" r:id="rId3"/>
    <p:sldId id="332" r:id="rId4"/>
    <p:sldId id="314" r:id="rId5"/>
    <p:sldId id="315" r:id="rId6"/>
    <p:sldId id="318" r:id="rId7"/>
    <p:sldId id="333" r:id="rId8"/>
    <p:sldId id="334" r:id="rId9"/>
    <p:sldId id="335" r:id="rId10"/>
    <p:sldId id="266" r:id="rId11"/>
    <p:sldId id="267" r:id="rId12"/>
    <p:sldId id="268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336" r:id="rId21"/>
    <p:sldId id="280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13"/>
            <p14:sldId id="332"/>
            <p14:sldId id="314"/>
            <p14:sldId id="315"/>
            <p14:sldId id="318"/>
            <p14:sldId id="333"/>
            <p14:sldId id="334"/>
            <p14:sldId id="335"/>
            <p14:sldId id="266"/>
            <p14:sldId id="267"/>
            <p14:sldId id="268"/>
            <p14:sldId id="273"/>
            <p14:sldId id="274"/>
            <p14:sldId id="275"/>
            <p14:sldId id="276"/>
            <p14:sldId id="277"/>
            <p14:sldId id="278"/>
            <p14:sldId id="279"/>
            <p14:sldId id="336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(esenciální základy)</a:t>
            </a:r>
          </a:p>
        </p:txBody>
      </p:sp>
      <p:pic>
        <p:nvPicPr>
          <p:cNvPr id="3" name="Picture 4" descr="Hypertext Markup Language – Wikipedie">
            <a:extLst>
              <a:ext uri="{FF2B5EF4-FFF2-40B4-BE49-F238E27FC236}">
                <a16:creationId xmlns:a16="http://schemas.microsoft.com/office/drawing/2014/main" id="{60ACDF19-10DA-4BEB-BB24-2BB0F8C48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282" y="1814811"/>
            <a:ext cx="4657436" cy="465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7986CB18-3410-4F10-A88B-A8ED864C55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„HyperText Markup Language“</a:t>
            </a:r>
            <a:b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(Hypertextový značkovací jazyk)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Textový soubor, který obsahuje značky ve formě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„tagů“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(elementů)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uložený s příponou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.html 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(starší .htm)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Mateřský jazyk prohlížečů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Přístupný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Např. tabulky užíváme jen k zobrazení skutečně tabulkových dat, např. finančních výnosů, nebo vysvědčení, ne pro formátování dokumentu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Grafické prvky jako obrázky by měly mít alternativní textovou informaci pro neobrazovková zařízení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Sémantický 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tj. popisuje strukturu textu, význam jednotlivých částí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html nepatří formátovací instrukce typu „vysázej tučně“, „obarvi červeně“, „zarovnej na střed“</a:t>
            </a:r>
          </a:p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72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Třídění elementů (tagů)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342900" lvl="0" indent="-342900" defTabSz="457200">
              <a:lnSpc>
                <a:spcPct val="100000"/>
              </a:lnSpc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Párové</a:t>
            </a: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„Obalují“ další html</a:t>
            </a: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Mají začátek a konec: 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dirty="0">
                <a:solidFill>
                  <a:srgbClr val="0000FF"/>
                </a:solidFill>
                <a:latin typeface="Consolas" panose="020B0609020204030204" pitchFamily="49" charset="0"/>
              </a:rPr>
              <a:t>tag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&gt;html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html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html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html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cs-CZ" altLang="cs-CZ" sz="2000" dirty="0">
                <a:solidFill>
                  <a:srgbClr val="0000FF"/>
                </a:solidFill>
                <a:latin typeface="Consolas" panose="020B0609020204030204" pitchFamily="49" charset="0"/>
              </a:rPr>
              <a:t>/tag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cs-CZ" sz="2000" dirty="0">
              <a:solidFill>
                <a:prstClr val="black">
                  <a:lumMod val="75000"/>
                  <a:lumOff val="25000"/>
                </a:prstClr>
              </a:solidFill>
              <a:latin typeface="Consolas" panose="020B0609020204030204" pitchFamily="49" charset="0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Např. zvýrazněný text (</a:t>
            </a:r>
            <a:r>
              <a:rPr lang="cs-CZ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emphasized</a:t>
            </a: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) 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em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marL="457200" lvl="1" indent="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None/>
            </a:pPr>
            <a:r>
              <a:rPr lang="cs-CZ" altLang="cs-CZ" sz="20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Tento text bude &lt;</a:t>
            </a:r>
            <a:r>
              <a:rPr lang="cs-CZ" altLang="cs-CZ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em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&gt;zvýrazněn&lt;/</a:t>
            </a:r>
            <a:r>
              <a:rPr lang="cs-CZ" altLang="cs-CZ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em</a:t>
            </a:r>
            <a:r>
              <a:rPr lang="cs-CZ" altLang="cs-CZ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endParaRPr lang="cs-CZ" altLang="cs-CZ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nebo odstavec (</a:t>
            </a:r>
            <a:r>
              <a:rPr lang="cs-CZ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paragraph</a:t>
            </a: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) 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dirty="0">
                <a:solidFill>
                  <a:srgbClr val="0000FF"/>
                </a:solidFill>
                <a:latin typeface="Consolas" panose="020B0609020204030204" pitchFamily="49" charset="0"/>
              </a:rPr>
              <a:t>p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cs-CZ" sz="2000" dirty="0">
              <a:solidFill>
                <a:prstClr val="black">
                  <a:lumMod val="75000"/>
                  <a:lumOff val="25000"/>
                </a:prstClr>
              </a:solidFill>
              <a:latin typeface="Consolas" panose="020B0609020204030204" pitchFamily="49" charset="0"/>
            </a:endParaRPr>
          </a:p>
          <a:p>
            <a:pPr marL="457200" lvl="1" indent="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None/>
            </a:pPr>
            <a:r>
              <a:rPr lang="cs-CZ" altLang="cs-CZ" sz="20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dirty="0">
                <a:solidFill>
                  <a:srgbClr val="0000FF"/>
                </a:solidFill>
                <a:latin typeface="Consolas" panose="020B0609020204030204" pitchFamily="49" charset="0"/>
              </a:rPr>
              <a:t>p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&gt;Zde je můj odstavec textu i s kouskem, který bude &lt;</a:t>
            </a:r>
            <a:r>
              <a:rPr lang="cs-CZ" altLang="cs-CZ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em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&gt;zvýrazněn&lt;/</a:t>
            </a:r>
            <a:r>
              <a:rPr lang="cs-CZ" altLang="cs-CZ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em</a:t>
            </a:r>
            <a:r>
              <a:rPr lang="cs-CZ" altLang="cs-CZ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900" dirty="0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sz="2000" dirty="0">
                <a:solidFill>
                  <a:srgbClr val="0000FF"/>
                </a:solidFill>
                <a:latin typeface="Consolas" panose="020B0609020204030204" pitchFamily="49" charset="0"/>
              </a:rPr>
              <a:t>p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cs-CZ" sz="2000" dirty="0">
              <a:solidFill>
                <a:prstClr val="black">
                  <a:lumMod val="75000"/>
                  <a:lumOff val="25000"/>
                </a:prstClr>
              </a:solidFill>
              <a:latin typeface="Consolas" panose="020B0609020204030204" pitchFamily="49" charset="0"/>
            </a:endParaRPr>
          </a:p>
          <a:p>
            <a:pPr marL="342900" lvl="0" indent="-342900" defTabSz="457200">
              <a:lnSpc>
                <a:spcPct val="100000"/>
              </a:lnSpc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Nepárové</a:t>
            </a: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Jsou „na konci“ větví stromu, žádné html neobsahují</a:t>
            </a: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Lze je nepovinně uzavírat /</a:t>
            </a: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Např. zalomení řádky 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dirty="0">
                <a:solidFill>
                  <a:srgbClr val="0000FF"/>
                </a:solidFill>
                <a:latin typeface="Consolas" panose="020B0609020204030204" pitchFamily="49" charset="0"/>
              </a:rPr>
              <a:t>br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 nebo &lt;</a:t>
            </a:r>
            <a:r>
              <a:rPr lang="cs-CZ" altLang="cs-CZ" sz="2000" dirty="0">
                <a:solidFill>
                  <a:srgbClr val="0000FF"/>
                </a:solidFill>
                <a:latin typeface="Consolas" panose="020B0609020204030204" pitchFamily="49" charset="0"/>
              </a:rPr>
              <a:t>br /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13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>
                <a:latin typeface="Times New Roman" panose="02020603050405020304" pitchFamily="18" charset="0"/>
                <a:cs typeface="Times New Roman" panose="02020603050405020304" pitchFamily="18" charset="0"/>
              </a:rPr>
              <a:t>Struktura HTML elementu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4AFD20D-4086-45CF-8E17-8107488F3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1881920"/>
            <a:ext cx="898207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6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HTML elementy</a:t>
            </a:r>
          </a:p>
        </p:txBody>
      </p:sp>
      <p:graphicFrame>
        <p:nvGraphicFramePr>
          <p:cNvPr id="3" name="Tabulka 2">
            <a:extLst>
              <a:ext uri="{FF2B5EF4-FFF2-40B4-BE49-F238E27FC236}">
                <a16:creationId xmlns:a16="http://schemas.microsoft.com/office/drawing/2014/main" id="{F4001428-3C79-4FB7-946F-5D7709F3F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148434"/>
              </p:ext>
            </p:extLst>
          </p:nvPr>
        </p:nvGraphicFramePr>
        <p:xfrm>
          <a:off x="2603241" y="1825165"/>
          <a:ext cx="6730709" cy="4351338"/>
        </p:xfrm>
        <a:graphic>
          <a:graphicData uri="http://schemas.openxmlformats.org/drawingml/2006/table">
            <a:tbl>
              <a:tblPr/>
              <a:tblGrid>
                <a:gridCol w="2687216">
                  <a:extLst>
                    <a:ext uri="{9D8B030D-6E8A-4147-A177-3AD203B41FA5}">
                      <a16:colId xmlns:a16="http://schemas.microsoft.com/office/drawing/2014/main" val="830204126"/>
                    </a:ext>
                  </a:extLst>
                </a:gridCol>
                <a:gridCol w="4043493">
                  <a:extLst>
                    <a:ext uri="{9D8B030D-6E8A-4147-A177-3AD203B41FA5}">
                      <a16:colId xmlns:a16="http://schemas.microsoft.com/office/drawing/2014/main" val="53052477"/>
                    </a:ext>
                  </a:extLst>
                </a:gridCol>
              </a:tblGrid>
              <a:tr h="4351338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&lt;h1&gt;&lt;/h1&gt;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&lt;h2&gt;&lt;/h2&gt;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&lt;p&gt;&lt;/p&gt;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&lt;ul&gt;&lt;/ul&gt;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&lt;ol&gt;&lt;/ol&gt;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&lt;li&gt;&lt;/li&gt;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&lt;a href="..."&gt;&lt;/a&gt;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&lt;img src="..." 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&lt;div&gt;&lt;/div&gt;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&lt;span&gt;&lt;/span&gt;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&lt;hr&gt;</a:t>
                      </a:r>
                      <a:endParaRPr lang="pt-BR" sz="17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09" marR="73009" marT="73009" marB="73009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nadpis úrovně 1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nadpis úrovně 2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odstavec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nečíslovaný seznam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číslovaný seznam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jedna položka seznamu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odkaz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obrázek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blokový neutrální element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řádkový neutrální element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300" b="0" i="0" u="none" strike="noStrike" dirty="0">
                          <a:solidFill>
                            <a:srgbClr val="19191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horizontální čára</a:t>
                      </a:r>
                      <a:endParaRPr lang="cs-CZ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09" marR="73009" marT="73009" marB="73009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06945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A877A43-7C92-4F2B-A5B2-468B1126C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524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46777" cy="1325563"/>
          </a:xfrm>
        </p:spPr>
        <p:txBody>
          <a:bodyPr>
            <a:normAutofit fontScale="90000"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Struktura webové stránky HTML 5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00447D9-C455-462E-A745-77D4832294A9}"/>
              </a:ext>
            </a:extLst>
          </p:cNvPr>
          <p:cNvSpPr txBox="1"/>
          <p:nvPr/>
        </p:nvSpPr>
        <p:spPr>
          <a:xfrm>
            <a:off x="838199" y="1690687"/>
            <a:ext cx="10846776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1600" b="0" i="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1600" b="0" i="0" u="none" strike="noStrike" dirty="0" err="1">
                <a:solidFill>
                  <a:srgbClr val="9999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doctype</a:t>
            </a:r>
            <a:r>
              <a:rPr lang="cs-CZ" sz="1600" b="0" i="0" u="none" strike="noStrike" dirty="0">
                <a:solidFill>
                  <a:srgbClr val="9999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určuje typ HTML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1600" b="0" i="0" u="none" strike="noStrike" dirty="0">
                <a:solidFill>
                  <a:srgbClr val="3876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16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cs-CZ" sz="1600" b="0" i="0" u="none" strike="noStrike" dirty="0">
                <a:solidFill>
                  <a:srgbClr val="FF99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cs-CZ" sz="1600" b="0" i="0" u="none" strike="noStrike" dirty="0" err="1">
                <a:solidFill>
                  <a:srgbClr val="FF99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cs-CZ" sz="1600" b="0" i="0" u="none" strike="noStrike" dirty="0">
                <a:solidFill>
                  <a:srgbClr val="FF99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rtl="0">
              <a:spcBef>
                <a:spcPts val="600"/>
              </a:spcBef>
              <a:spcAft>
                <a:spcPts val="0"/>
              </a:spcAft>
            </a:pPr>
            <a:r>
              <a:rPr lang="cs-CZ" sz="1600" b="0" i="0" u="none" strike="noStrike" dirty="0">
                <a:solidFill>
                  <a:srgbClr val="9999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hlavička stránky – obsahuje informace o dokumentu, jeho znakové sadě...</a:t>
            </a:r>
            <a:br>
              <a:rPr lang="cs-CZ" sz="1600" b="0" i="0" u="none" strike="noStrike" dirty="0">
                <a:solidFill>
                  <a:srgbClr val="9999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&lt;meta </a:t>
            </a:r>
            <a:r>
              <a:rPr lang="cs-CZ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charset</a:t>
            </a:r>
            <a:r>
              <a:rPr lang="cs-CZ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="utf-8"&gt;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16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&lt;</a:t>
            </a:r>
            <a:r>
              <a:rPr lang="cs-CZ" sz="1600" b="0" i="0" u="none" strike="noStrike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cs-CZ" sz="16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&gt;Titulek stránky&lt;/</a:t>
            </a:r>
            <a:r>
              <a:rPr lang="cs-CZ" sz="1600" b="0" i="0" u="none" strike="noStrike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cs-CZ" sz="16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cs-CZ" sz="1600" b="0" i="0" u="none" strike="noStrike" dirty="0">
                <a:solidFill>
                  <a:srgbClr val="9999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zobrazuje se v záložce/okně prohlížeče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16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cs-CZ" sz="1600" b="0" i="0" u="none" strike="noStrike" dirty="0">
                <a:solidFill>
                  <a:srgbClr val="FF99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cs-CZ" sz="1600" b="0" i="0" u="none" strike="noStrike" dirty="0" err="1">
                <a:solidFill>
                  <a:srgbClr val="FF99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cs-CZ" sz="1600" b="0" i="0" u="none" strike="noStrike" dirty="0">
                <a:solidFill>
                  <a:srgbClr val="FF99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br>
              <a:rPr lang="cs-CZ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sz="16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r>
              <a:rPr lang="cs-CZ" sz="1600" b="0" i="0" u="none" strike="noStrike" dirty="0">
                <a:solidFill>
                  <a:srgbClr val="CC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&lt;body&gt;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16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cs-CZ" sz="1600" b="0" i="0" u="none" strike="noStrike" dirty="0">
                <a:solidFill>
                  <a:srgbClr val="9999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tělo dokumentu je obsah stránky, tedy to co se zobrazí návštěvníkovi  </a:t>
            </a:r>
            <a:br>
              <a:rPr lang="cs-CZ" sz="1600" b="0" i="0" u="none" strike="noStrike" dirty="0">
                <a:solidFill>
                  <a:srgbClr val="9999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sz="1600" b="0" i="0" u="none" strike="noStrike" dirty="0">
                <a:solidFill>
                  <a:srgbClr val="9999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stránky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16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cs-CZ" sz="1600" b="0" i="0" u="none" strike="noStrike" dirty="0">
                <a:solidFill>
                  <a:srgbClr val="CC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1600" b="0" i="0" u="none" strike="noStrike" dirty="0">
                <a:solidFill>
                  <a:srgbClr val="3876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  <a:endParaRPr lang="cs-CZ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/>
          </a:p>
          <a:p>
            <a:r>
              <a:rPr lang="cs-CZ" dirty="0"/>
              <a:t>Ve </a:t>
            </a:r>
            <a:r>
              <a:rPr lang="cs-CZ" dirty="0" err="1"/>
              <a:t>Visual</a:t>
            </a:r>
            <a:r>
              <a:rPr lang="cs-CZ" dirty="0"/>
              <a:t> studio </a:t>
            </a:r>
            <a:r>
              <a:rPr lang="cs-CZ" dirty="0" err="1"/>
              <a:t>code</a:t>
            </a:r>
            <a:r>
              <a:rPr lang="cs-CZ" dirty="0"/>
              <a:t> stačí vepsat </a:t>
            </a:r>
            <a:r>
              <a:rPr lang="cs-CZ" b="1" dirty="0"/>
              <a:t>„html:5“ </a:t>
            </a:r>
            <a:r>
              <a:rPr lang="cs-CZ" dirty="0"/>
              <a:t>a nabídka nám nabídne základní šablonu stránky.</a:t>
            </a: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47840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html soubor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342900" lvl="0" indent="-342900" defTabSz="457200">
              <a:lnSpc>
                <a:spcPct val="100000"/>
              </a:lnSpc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Základní html soubor</a:t>
            </a:r>
            <a:endParaRPr lang="en-US" sz="18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cs-CZ" altLang="cs-CZ" sz="1800" dirty="0">
              <a:solidFill>
                <a:srgbClr val="000000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cs-CZ" altLang="cs-CZ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&lt;!DOCTYPE html&gt;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cs-CZ" altLang="cs-CZ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&lt;html&gt;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cs-CZ" altLang="cs-CZ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&lt;/html&gt;</a:t>
            </a:r>
            <a:r>
              <a:rPr lang="cs-CZ" altLang="cs-CZ" sz="9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endParaRPr lang="cs-CZ" altLang="cs-CZ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342900" lvl="0" indent="-342900" defTabSz="457200">
              <a:lnSpc>
                <a:spcPct val="100000"/>
              </a:lnSpc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18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Doctype</a:t>
            </a:r>
            <a:r>
              <a:rPr lang="cs-CZ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 není tag jako takový, ale měl by být na začátku každé stránky, říká prohlížeči, jakou verzi HTML používáme (zde HTML 5) </a:t>
            </a:r>
            <a:r>
              <a:rPr lang="cs-CZ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  <a:sym typeface="Wingdings" panose="05000000000000000000" pitchFamily="2" charset="2"/>
              </a:rPr>
              <a:t> jednoduše říká o jaký typ dokumentu se jedná v tomto případě dokument </a:t>
            </a:r>
            <a:r>
              <a:rPr lang="cs-CZ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  <a:sym typeface="Wingdings" panose="05000000000000000000" pitchFamily="2" charset="2"/>
              </a:rPr>
              <a:t>html</a:t>
            </a:r>
            <a:endParaRPr lang="en-US" sz="18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/>
            </a:endParaRPr>
          </a:p>
          <a:p>
            <a:pPr marL="342900" lvl="0" indent="-342900" defTabSz="457200">
              <a:lnSpc>
                <a:spcPct val="100000"/>
              </a:lnSpc>
              <a:buClr>
                <a:srgbClr val="4A66AC"/>
              </a:buClr>
              <a:buSzPct val="80000"/>
              <a:buFont typeface="Wingdings 3" charset="2"/>
              <a:buChar char=""/>
            </a:pPr>
            <a:endParaRPr lang="en-US" sz="18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/>
            </a:endParaRPr>
          </a:p>
          <a:p>
            <a:pPr marL="342900" lvl="0" indent="-342900" defTabSz="457200">
              <a:lnSpc>
                <a:spcPct val="100000"/>
              </a:lnSpc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Tag </a:t>
            </a:r>
            <a:r>
              <a:rPr lang="en-US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html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 </a:t>
            </a:r>
            <a:r>
              <a:rPr lang="cs-CZ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je vždy prvním, kořenovým tagem stránky, obaluje vše ostatní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.</a:t>
            </a:r>
            <a:endParaRPr lang="cs-CZ" sz="18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4431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– hlavička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lvl="0" indent="0" defTabSz="457200">
              <a:lnSpc>
                <a:spcPct val="100000"/>
              </a:lnSpc>
              <a:buClr>
                <a:srgbClr val="4A66AC"/>
              </a:buClr>
              <a:buSzPct val="80000"/>
              <a:buNone/>
            </a:pP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&lt;!DOCTYPE html&gt;</a:t>
            </a:r>
            <a:b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&lt;html&gt;</a:t>
            </a:r>
            <a:b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	&lt;</a:t>
            </a:r>
            <a:r>
              <a:rPr lang="cs-CZ" altLang="cs-CZ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head</a:t>
            </a: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&lt;meta </a:t>
            </a:r>
            <a:r>
              <a:rPr lang="cs-CZ" altLang="cs-CZ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charset</a:t>
            </a: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="utf-8"&gt;</a:t>
            </a:r>
            <a:b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&gt;Sem patří název stránky&lt;/</a:t>
            </a:r>
            <a:r>
              <a:rPr lang="cs-CZ" altLang="cs-CZ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	&lt;/</a:t>
            </a:r>
            <a:r>
              <a:rPr lang="cs-CZ" altLang="cs-CZ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head</a:t>
            </a: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&lt;/html&gt;</a:t>
            </a:r>
            <a:r>
              <a:rPr lang="cs-CZ" altLang="cs-CZ" sz="105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endParaRPr lang="cs-CZ" altLang="cs-CZ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342900" lvl="0" indent="-342900" defTabSz="457200">
              <a:lnSpc>
                <a:spcPct val="100000"/>
              </a:lnSpc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Hlavička obsahuje metadata</a:t>
            </a: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V jaké znakové sadě píšeme</a:t>
            </a: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4A66AC"/>
              </a:buClr>
              <a:buSzPct val="80000"/>
              <a:buFont typeface="Wingdings 3" charset="2"/>
              <a:buChar char=""/>
            </a:pPr>
            <a:r>
              <a:rPr lang="cs-CZ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Jak se dokument nazývá</a:t>
            </a:r>
          </a:p>
        </p:txBody>
      </p:sp>
    </p:spTree>
    <p:extLst>
      <p:ext uri="{BB962C8B-B14F-4D97-AF65-F5344CB8AC3E}">
        <p14:creationId xmlns:p14="http://schemas.microsoft.com/office/powerpoint/2010/main" val="61941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– tělo stránky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lvl="0" indent="0" defTabSz="457200">
              <a:lnSpc>
                <a:spcPct val="100000"/>
              </a:lnSpc>
              <a:buClr>
                <a:srgbClr val="4A66AC"/>
              </a:buClr>
              <a:buSzPct val="80000"/>
              <a:buNone/>
            </a:pP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&lt;!DOCTYPE html&gt;</a:t>
            </a:r>
            <a:b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&lt;html&gt;</a:t>
            </a:r>
            <a:b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	&lt;</a:t>
            </a:r>
            <a:r>
              <a:rPr lang="cs-CZ" altLang="cs-CZ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head</a:t>
            </a: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		&lt;meta </a:t>
            </a:r>
            <a:r>
              <a:rPr lang="cs-CZ" altLang="cs-CZ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charset</a:t>
            </a: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="utf-8"&gt;</a:t>
            </a:r>
            <a:b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		&lt;</a:t>
            </a:r>
            <a:r>
              <a:rPr lang="cs-CZ" altLang="cs-CZ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&gt;Sem patří název stránky&lt;/</a:t>
            </a:r>
            <a:r>
              <a:rPr lang="cs-CZ" altLang="cs-CZ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title</a:t>
            </a: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	&lt;/</a:t>
            </a:r>
            <a:r>
              <a:rPr lang="cs-CZ" altLang="cs-CZ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head</a:t>
            </a: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&lt;body&gt;</a:t>
            </a:r>
            <a:b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		Vlastní tělo stránky – obsah, který se bude zobrazovat</a:t>
            </a:r>
            <a:b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	&lt;/body&gt;</a:t>
            </a:r>
            <a:b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&lt;/html&gt;</a:t>
            </a:r>
          </a:p>
          <a:p>
            <a:pPr marL="0" lvl="0" indent="0" defTabSz="457200">
              <a:lnSpc>
                <a:spcPct val="100000"/>
              </a:lnSpc>
              <a:buClr>
                <a:srgbClr val="4A66AC"/>
              </a:buClr>
              <a:buSzPct val="80000"/>
              <a:buNone/>
            </a:pPr>
            <a:endParaRPr lang="cs-CZ" altLang="cs-CZ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defTabSz="457200">
              <a:lnSpc>
                <a:spcPct val="100000"/>
              </a:lnSpc>
              <a:buClr>
                <a:srgbClr val="4A66AC"/>
              </a:buClr>
              <a:buSzPct val="80000"/>
              <a:buNone/>
            </a:pPr>
            <a:r>
              <a:rPr lang="cs-CZ" altLang="cs-CZ" sz="2400" dirty="0">
                <a:solidFill>
                  <a:srgbClr val="000000"/>
                </a:solidFill>
                <a:latin typeface="Trebuchet MS" panose="020B0603020202020204"/>
              </a:rPr>
              <a:t>Pozn.: Všimněte si odražení – naznačuje hloubku vnoření do nadřazených tagů</a:t>
            </a:r>
            <a:r>
              <a:rPr lang="cs-CZ" alt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cs-CZ" altLang="cs-CZ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85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Nadpisy (</a:t>
            </a:r>
            <a:r>
              <a:rPr lang="cs-CZ" dirty="0" err="1"/>
              <a:t>head</a:t>
            </a:r>
            <a:r>
              <a:rPr lang="en-US" dirty="0" err="1"/>
              <a:t>ing</a:t>
            </a:r>
            <a:r>
              <a:rPr lang="cs-CZ" dirty="0"/>
              <a:t>)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>
          <a:xfrm>
            <a:off x="677333" y="1629996"/>
            <a:ext cx="6255094" cy="30068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altLang="cs-CZ" sz="2800" dirty="0">
                <a:solidFill>
                  <a:srgbClr val="C61800"/>
                </a:solidFill>
                <a:latin typeface="Consolas" panose="020B0609020204030204" pitchFamily="49" charset="0"/>
              </a:rPr>
              <a:t>&lt;h1&gt;</a:t>
            </a:r>
            <a:r>
              <a:rPr lang="cs-CZ" altLang="cs-CZ" sz="2800" dirty="0">
                <a:solidFill>
                  <a:srgbClr val="000000"/>
                </a:solidFill>
                <a:latin typeface="Consolas" panose="020B0609020204030204" pitchFamily="49" charset="0"/>
              </a:rPr>
              <a:t>Nadpis 1. úrovně</a:t>
            </a:r>
            <a:r>
              <a:rPr lang="cs-CZ" altLang="cs-CZ" sz="2800" dirty="0">
                <a:solidFill>
                  <a:srgbClr val="C61800"/>
                </a:solidFill>
                <a:latin typeface="Consolas" panose="020B0609020204030204" pitchFamily="49" charset="0"/>
              </a:rPr>
              <a:t>&lt;/h1&gt;</a:t>
            </a:r>
            <a:br>
              <a:rPr lang="cs-CZ" altLang="cs-CZ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800" dirty="0">
                <a:solidFill>
                  <a:srgbClr val="C61800"/>
                </a:solidFill>
                <a:latin typeface="Consolas" panose="020B0609020204030204" pitchFamily="49" charset="0"/>
              </a:rPr>
              <a:t>&lt;h2&gt;</a:t>
            </a:r>
            <a:r>
              <a:rPr lang="cs-CZ" altLang="cs-CZ" sz="2800" dirty="0">
                <a:solidFill>
                  <a:srgbClr val="000000"/>
                </a:solidFill>
                <a:latin typeface="Consolas" panose="020B0609020204030204" pitchFamily="49" charset="0"/>
              </a:rPr>
              <a:t>Nadpis 2. úrovně</a:t>
            </a:r>
            <a:r>
              <a:rPr lang="cs-CZ" altLang="cs-CZ" sz="2800" dirty="0">
                <a:solidFill>
                  <a:srgbClr val="C61800"/>
                </a:solidFill>
                <a:latin typeface="Consolas" panose="020B0609020204030204" pitchFamily="49" charset="0"/>
              </a:rPr>
              <a:t>&lt;/h2&gt;</a:t>
            </a:r>
            <a:br>
              <a:rPr lang="cs-CZ" altLang="cs-CZ" sz="2800" dirty="0">
                <a:solidFill>
                  <a:srgbClr val="C61800"/>
                </a:solidFill>
                <a:latin typeface="Consolas" panose="020B0609020204030204" pitchFamily="49" charset="0"/>
              </a:rPr>
            </a:br>
            <a:r>
              <a:rPr lang="cs-CZ" altLang="cs-CZ" sz="28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br>
              <a:rPr lang="cs-CZ" altLang="cs-CZ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800" dirty="0">
                <a:solidFill>
                  <a:srgbClr val="C61800"/>
                </a:solidFill>
                <a:latin typeface="Consolas" panose="020B0609020204030204" pitchFamily="49" charset="0"/>
              </a:rPr>
              <a:t>&lt;h6&gt;</a:t>
            </a:r>
            <a:r>
              <a:rPr lang="cs-CZ" altLang="cs-CZ" sz="2800" dirty="0">
                <a:solidFill>
                  <a:srgbClr val="000000"/>
                </a:solidFill>
                <a:latin typeface="Consolas" panose="020B0609020204030204" pitchFamily="49" charset="0"/>
              </a:rPr>
              <a:t>Nadpis 6. úrovně</a:t>
            </a:r>
            <a:r>
              <a:rPr lang="cs-CZ" altLang="cs-CZ" sz="2800" dirty="0">
                <a:solidFill>
                  <a:srgbClr val="C61800"/>
                </a:solidFill>
                <a:latin typeface="Consolas" panose="020B0609020204030204" pitchFamily="49" charset="0"/>
              </a:rPr>
              <a:t>&lt;/h6&gt;</a:t>
            </a:r>
            <a:r>
              <a:rPr lang="cs-CZ" altLang="cs-CZ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cs-CZ" altLang="cs-CZ" sz="3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sz="2800" dirty="0"/>
          </a:p>
          <a:p>
            <a:pPr marL="0" indent="0">
              <a:buNone/>
            </a:pPr>
            <a:endParaRPr lang="cs-CZ" sz="2800" dirty="0"/>
          </a:p>
        </p:txBody>
      </p:sp>
      <p:sp>
        <p:nvSpPr>
          <p:cNvPr id="7" name="Obdélník 6"/>
          <p:cNvSpPr/>
          <p:nvPr/>
        </p:nvSpPr>
        <p:spPr>
          <a:xfrm>
            <a:off x="5831959" y="3805832"/>
            <a:ext cx="4752753" cy="16619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cs-CZ" altLang="cs-CZ" sz="3600" b="1" dirty="0">
                <a:solidFill>
                  <a:srgbClr val="000000"/>
                </a:solidFill>
              </a:rPr>
              <a:t>Nadpis 1. úrovně</a:t>
            </a:r>
            <a:br>
              <a:rPr lang="cs-CZ" altLang="cs-CZ" sz="2800" b="1" dirty="0">
                <a:solidFill>
                  <a:srgbClr val="000000"/>
                </a:solidFill>
              </a:rPr>
            </a:br>
            <a:r>
              <a:rPr lang="cs-CZ" altLang="cs-CZ" sz="2800" b="1" dirty="0">
                <a:solidFill>
                  <a:srgbClr val="000000"/>
                </a:solidFill>
              </a:rPr>
              <a:t>Nadpis 2. úrovně</a:t>
            </a:r>
            <a:br>
              <a:rPr lang="cs-CZ" altLang="cs-CZ" sz="2800" b="1" dirty="0">
                <a:solidFill>
                  <a:srgbClr val="C61800"/>
                </a:solidFill>
              </a:rPr>
            </a:br>
            <a:r>
              <a:rPr lang="cs-CZ" altLang="cs-CZ" sz="2000" b="1" dirty="0">
                <a:solidFill>
                  <a:srgbClr val="000000"/>
                </a:solidFill>
              </a:rPr>
              <a:t>...</a:t>
            </a:r>
            <a:br>
              <a:rPr lang="cs-CZ" altLang="cs-CZ" sz="2800" b="1" dirty="0">
                <a:solidFill>
                  <a:srgbClr val="000000"/>
                </a:solidFill>
              </a:rPr>
            </a:br>
            <a:r>
              <a:rPr lang="cs-CZ" altLang="cs-CZ" b="1" dirty="0">
                <a:solidFill>
                  <a:srgbClr val="000000"/>
                </a:solidFill>
              </a:rPr>
              <a:t>Nadpis 6. úrovně</a:t>
            </a:r>
            <a:endParaRPr lang="cs-CZ" altLang="cs-CZ" sz="2000" b="1" dirty="0"/>
          </a:p>
        </p:txBody>
      </p:sp>
      <p:sp>
        <p:nvSpPr>
          <p:cNvPr id="8" name="Oblouk 7"/>
          <p:cNvSpPr/>
          <p:nvPr/>
        </p:nvSpPr>
        <p:spPr>
          <a:xfrm>
            <a:off x="4556052" y="2243470"/>
            <a:ext cx="3652284" cy="2923951"/>
          </a:xfrm>
          <a:prstGeom prst="arc">
            <a:avLst/>
          </a:prstGeom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4842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Odstavce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76455"/>
            <a:ext cx="462831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3200" b="0" i="0" u="none" strike="noStrike" cap="none" normalizeH="0" baseline="0" dirty="0">
                <a:ln>
                  <a:noFill/>
                </a:ln>
                <a:solidFill>
                  <a:srgbClr val="C618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kumimoji="0" lang="cs-CZ" altLang="cs-C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Odstavec</a:t>
            </a:r>
            <a:r>
              <a:rPr kumimoji="0" lang="cs-CZ" altLang="cs-CZ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kumimoji="0" lang="cs-CZ" altLang="cs-CZ" sz="3200" b="0" i="0" u="none" strike="noStrike" cap="none" normalizeH="0" baseline="0" dirty="0">
                <a:ln>
                  <a:noFill/>
                </a:ln>
                <a:solidFill>
                  <a:srgbClr val="C61800"/>
                </a:solidFill>
                <a:effectLst/>
                <a:latin typeface="Consolas" panose="020B0609020204030204" pitchFamily="49" charset="0"/>
              </a:rPr>
              <a:t>&lt;/p&gt;</a:t>
            </a:r>
            <a:br>
              <a:rPr lang="cs-CZ" altLang="cs-CZ" sz="3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kumimoji="0" lang="cs-CZ" altLang="cs-CZ" sz="3200" b="0" i="0" u="none" strike="noStrike" cap="none" normalizeH="0" baseline="0" dirty="0">
                <a:ln>
                  <a:noFill/>
                </a:ln>
                <a:solidFill>
                  <a:srgbClr val="C618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kumimoji="0" lang="cs-CZ" altLang="cs-C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Odstavec 2</a:t>
            </a:r>
            <a:r>
              <a:rPr kumimoji="0" lang="cs-CZ" altLang="cs-CZ" sz="3200" b="0" i="0" u="none" strike="noStrike" cap="none" normalizeH="0" baseline="0" dirty="0">
                <a:ln>
                  <a:noFill/>
                </a:ln>
                <a:solidFill>
                  <a:srgbClr val="C61800"/>
                </a:solidFill>
                <a:effectLst/>
                <a:latin typeface="Consolas" panose="020B0609020204030204" pitchFamily="49" charset="0"/>
              </a:rPr>
              <a:t>&lt;/p&gt;</a:t>
            </a:r>
            <a:br>
              <a:rPr lang="cs-CZ" altLang="cs-CZ" sz="3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kumimoji="0" lang="cs-CZ" altLang="cs-CZ" sz="3200" b="0" i="0" u="none" strike="noStrike" cap="none" normalizeH="0" baseline="0" dirty="0">
                <a:ln>
                  <a:noFill/>
                </a:ln>
                <a:solidFill>
                  <a:srgbClr val="C618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kumimoji="0" lang="cs-CZ" altLang="cs-C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Odstavec 3</a:t>
            </a:r>
            <a:r>
              <a:rPr kumimoji="0" lang="cs-CZ" altLang="cs-CZ" sz="3200" b="0" i="0" u="none" strike="noStrike" cap="none" normalizeH="0" baseline="0" dirty="0">
                <a:ln>
                  <a:noFill/>
                </a:ln>
                <a:solidFill>
                  <a:srgbClr val="C618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kumimoji="0" lang="cs-CZ" altLang="cs-C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cs-CZ" altLang="cs-CZ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5305647" y="3537210"/>
            <a:ext cx="3867112" cy="224676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altLang="cs-CZ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Odstavec 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altLang="cs-CZ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altLang="cs-CZ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Odstavec 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altLang="cs-CZ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altLang="cs-CZ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Odstavec 3</a:t>
            </a:r>
          </a:p>
        </p:txBody>
      </p:sp>
      <p:sp>
        <p:nvSpPr>
          <p:cNvPr id="6" name="Oblouk 5"/>
          <p:cNvSpPr/>
          <p:nvPr/>
        </p:nvSpPr>
        <p:spPr>
          <a:xfrm>
            <a:off x="3322675" y="2075235"/>
            <a:ext cx="3652284" cy="2923951"/>
          </a:xfrm>
          <a:prstGeom prst="arc">
            <a:avLst/>
          </a:prstGeom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577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Zalomení řádky (</a:t>
            </a:r>
            <a:r>
              <a:rPr lang="cs-CZ" dirty="0" err="1"/>
              <a:t>break</a:t>
            </a:r>
            <a:r>
              <a:rPr lang="cs-CZ" dirty="0"/>
              <a:t> line)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1531089"/>
            <a:ext cx="6095606" cy="4510274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&lt;p&gt;</a:t>
            </a:r>
            <a:b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Vyletěla holubička ze stáje,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&lt;br /&gt;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ze stáje,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&lt;br /&gt;</a:t>
            </a:r>
            <a:endParaRPr lang="cs-CZ" altLang="cs-CZ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narazila hlavou do zdi,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&lt;br /&gt;</a:t>
            </a:r>
            <a:endParaRPr lang="cs-CZ" altLang="cs-CZ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mrtvá je.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&lt;br /&gt;</a:t>
            </a:r>
            <a:b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</a:b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&lt;/p&gt;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cs-CZ" altLang="cs-CZ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cs-CZ" altLang="cs-CZ" sz="2000" dirty="0">
              <a:solidFill>
                <a:srgbClr val="000000"/>
              </a:solidFill>
              <a:latin typeface="Droid San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cs-CZ" altLang="cs-CZ" sz="2000" i="1" dirty="0">
                <a:solidFill>
                  <a:srgbClr val="000000"/>
                </a:solidFill>
                <a:latin typeface="Droid Sans"/>
              </a:rPr>
              <a:t>Jde o opravdové zalomení řádky, má jiný sémantický význam, než „nový odstavec“.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cs-CZ" altLang="cs-CZ" sz="2000" i="1" dirty="0">
              <a:solidFill>
                <a:srgbClr val="000000"/>
              </a:solidFill>
              <a:latin typeface="Droid San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cs-CZ" altLang="cs-CZ" sz="2000" i="1" dirty="0">
                <a:solidFill>
                  <a:srgbClr val="000000"/>
                </a:solidFill>
                <a:latin typeface="Droid Sans"/>
              </a:rPr>
              <a:t>Pozn.: </a:t>
            </a:r>
            <a:r>
              <a:rPr lang="cs-CZ" altLang="cs-CZ" sz="2000" i="1" dirty="0" err="1">
                <a:solidFill>
                  <a:srgbClr val="000000"/>
                </a:solidFill>
                <a:latin typeface="Droid Sans"/>
              </a:rPr>
              <a:t>tag</a:t>
            </a:r>
            <a:r>
              <a:rPr lang="cs-CZ" altLang="cs-CZ" sz="2000" i="1" dirty="0">
                <a:solidFill>
                  <a:srgbClr val="000000"/>
                </a:solidFill>
                <a:latin typeface="Droid Sans"/>
              </a:rPr>
              <a:t> br je nepárový, neexistuje žádné uzavírací &lt;/br&gt;. Lze ale použít i bez uzavíracího lomítka jen jako &lt;br /&gt;.</a:t>
            </a:r>
            <a:endParaRPr lang="cs-CZ" altLang="cs-CZ" sz="16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cs-CZ" sz="1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6842938" y="3379694"/>
            <a:ext cx="4440864" cy="156966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altLang="cs-CZ" sz="2400" dirty="0">
                <a:solidFill>
                  <a:srgbClr val="000000"/>
                </a:solidFill>
                <a:latin typeface="Arial Unicode MS"/>
              </a:rPr>
              <a:t>Vyletěla holubička ze stáje,</a:t>
            </a:r>
            <a:endParaRPr lang="cs-CZ" altLang="cs-CZ" sz="2400" dirty="0">
              <a:solidFill>
                <a:srgbClr val="C61800"/>
              </a:solidFill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altLang="cs-CZ" sz="2400" dirty="0">
                <a:solidFill>
                  <a:srgbClr val="000000"/>
                </a:solidFill>
                <a:latin typeface="Arial Unicode MS"/>
              </a:rPr>
              <a:t>ze stáje,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altLang="cs-CZ" sz="2400" dirty="0">
                <a:solidFill>
                  <a:srgbClr val="000000"/>
                </a:solidFill>
                <a:latin typeface="Arial Unicode MS"/>
              </a:rPr>
              <a:t>narazila hlavou do zdi,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altLang="cs-CZ" sz="2400" dirty="0">
                <a:solidFill>
                  <a:srgbClr val="000000"/>
                </a:solidFill>
                <a:latin typeface="Arial Unicode MS"/>
              </a:rPr>
              <a:t>mrtvá je.</a:t>
            </a:r>
            <a:endParaRPr lang="cs-CZ" altLang="cs-CZ" sz="1050" dirty="0"/>
          </a:p>
        </p:txBody>
      </p:sp>
      <p:sp>
        <p:nvSpPr>
          <p:cNvPr id="6" name="Oblouk 5"/>
          <p:cNvSpPr/>
          <p:nvPr/>
        </p:nvSpPr>
        <p:spPr>
          <a:xfrm>
            <a:off x="2690037" y="2160587"/>
            <a:ext cx="6401688" cy="2275072"/>
          </a:xfrm>
          <a:prstGeom prst="arc">
            <a:avLst>
              <a:gd name="adj1" fmla="val 16435700"/>
              <a:gd name="adj2" fmla="val 0"/>
            </a:avLst>
          </a:prstGeom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5709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Nečíslovaný seznam  -„odrážky“ (</a:t>
            </a:r>
            <a:r>
              <a:rPr lang="cs-CZ" dirty="0" err="1"/>
              <a:t>unordered</a:t>
            </a:r>
            <a:r>
              <a:rPr lang="cs-CZ" dirty="0"/>
              <a:t> list)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2160589"/>
            <a:ext cx="6776089" cy="26772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ul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li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Položka 1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li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li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Položka 2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li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b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ul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cs-CZ" altLang="cs-CZ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cs-CZ" dirty="0" err="1"/>
              <a:t>ul</a:t>
            </a:r>
            <a:r>
              <a:rPr lang="cs-CZ" dirty="0"/>
              <a:t> – </a:t>
            </a:r>
            <a:r>
              <a:rPr lang="cs-CZ" dirty="0" err="1"/>
              <a:t>unordered</a:t>
            </a:r>
            <a:r>
              <a:rPr lang="cs-CZ" dirty="0"/>
              <a:t> list: Obalový prvek položek seznamu</a:t>
            </a:r>
          </a:p>
          <a:p>
            <a:r>
              <a:rPr lang="cs-CZ" dirty="0" err="1"/>
              <a:t>li</a:t>
            </a:r>
            <a:r>
              <a:rPr lang="cs-CZ" dirty="0"/>
              <a:t> – list </a:t>
            </a:r>
            <a:r>
              <a:rPr lang="cs-CZ" dirty="0" err="1"/>
              <a:t>item</a:t>
            </a:r>
            <a:r>
              <a:rPr lang="cs-CZ" dirty="0"/>
              <a:t>: Jedna položka seznamu</a:t>
            </a:r>
          </a:p>
          <a:p>
            <a:pPr lvl="1"/>
            <a:r>
              <a:rPr lang="cs-CZ" dirty="0"/>
              <a:t>Může obsahovat klidně nadpis a několik odstavců i další seznam</a:t>
            </a:r>
          </a:p>
        </p:txBody>
      </p:sp>
      <p:sp>
        <p:nvSpPr>
          <p:cNvPr id="6" name="Obdélník 5"/>
          <p:cNvSpPr/>
          <p:nvPr/>
        </p:nvSpPr>
        <p:spPr>
          <a:xfrm>
            <a:off x="6751235" y="2457545"/>
            <a:ext cx="2640419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000000"/>
                </a:solidFill>
              </a:rPr>
              <a:t>Položka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000000"/>
                </a:solidFill>
              </a:rPr>
              <a:t>Položka 2</a:t>
            </a:r>
            <a:endParaRPr lang="cs-CZ" sz="2400" b="0" i="0" dirty="0">
              <a:solidFill>
                <a:srgbClr val="000000"/>
              </a:solidFill>
              <a:effectLst/>
            </a:endParaRPr>
          </a:p>
        </p:txBody>
      </p:sp>
      <p:cxnSp>
        <p:nvCxnSpPr>
          <p:cNvPr id="9" name="Přímá spojnice se šipkou 8"/>
          <p:cNvCxnSpPr>
            <a:cxnSpLocks/>
          </p:cNvCxnSpPr>
          <p:nvPr/>
        </p:nvCxnSpPr>
        <p:spPr>
          <a:xfrm>
            <a:off x="4975412" y="2689412"/>
            <a:ext cx="1595509" cy="18363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500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Číslovaný seznam (</a:t>
            </a:r>
            <a:r>
              <a:rPr lang="cs-CZ" dirty="0" err="1"/>
              <a:t>ordered</a:t>
            </a:r>
            <a:r>
              <a:rPr lang="cs-CZ" dirty="0"/>
              <a:t> list)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5" y="2160589"/>
            <a:ext cx="5765996" cy="26772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ol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li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Položka 1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li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li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Položka 2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li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b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ol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cs-CZ" altLang="cs-CZ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cs-CZ" dirty="0" err="1"/>
              <a:t>ol</a:t>
            </a:r>
            <a:r>
              <a:rPr lang="cs-CZ" dirty="0"/>
              <a:t> – </a:t>
            </a:r>
            <a:r>
              <a:rPr lang="cs-CZ" dirty="0" err="1"/>
              <a:t>ordered</a:t>
            </a:r>
            <a:r>
              <a:rPr lang="cs-CZ" dirty="0"/>
              <a:t> list: Obalový prvek položek seznamu</a:t>
            </a:r>
          </a:p>
          <a:p>
            <a:r>
              <a:rPr lang="cs-CZ" dirty="0" err="1"/>
              <a:t>li</a:t>
            </a:r>
            <a:r>
              <a:rPr lang="cs-CZ" dirty="0"/>
              <a:t> – list </a:t>
            </a:r>
            <a:r>
              <a:rPr lang="cs-CZ" dirty="0" err="1"/>
              <a:t>item</a:t>
            </a:r>
            <a:r>
              <a:rPr lang="cs-CZ" dirty="0"/>
              <a:t>: Jedna položka seznamu</a:t>
            </a:r>
          </a:p>
          <a:p>
            <a:pPr lvl="1"/>
            <a:r>
              <a:rPr lang="cs-CZ" dirty="0"/>
              <a:t>Opět může obsahovat klidně nadpis a několik odstavců i další seznam</a:t>
            </a:r>
          </a:p>
        </p:txBody>
      </p:sp>
      <p:sp>
        <p:nvSpPr>
          <p:cNvPr id="6" name="Obdélník 5"/>
          <p:cNvSpPr/>
          <p:nvPr/>
        </p:nvSpPr>
        <p:spPr>
          <a:xfrm>
            <a:off x="7091476" y="2775098"/>
            <a:ext cx="2640419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rgbClr val="000000"/>
                </a:solidFill>
              </a:rPr>
              <a:t>Položka 1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400" dirty="0">
                <a:solidFill>
                  <a:srgbClr val="000000"/>
                </a:solidFill>
              </a:rPr>
              <a:t>Položka 2</a:t>
            </a:r>
            <a:endParaRPr lang="cs-CZ" sz="2400" b="0" i="0" dirty="0">
              <a:solidFill>
                <a:srgbClr val="000000"/>
              </a:solidFill>
              <a:effectLst/>
            </a:endParaRPr>
          </a:p>
        </p:txBody>
      </p:sp>
      <p:cxnSp>
        <p:nvCxnSpPr>
          <p:cNvPr id="9" name="Přímá spojnice se šipkou 8"/>
          <p:cNvCxnSpPr>
            <a:cxnSpLocks/>
          </p:cNvCxnSpPr>
          <p:nvPr/>
        </p:nvCxnSpPr>
        <p:spPr>
          <a:xfrm>
            <a:off x="5100525" y="2707341"/>
            <a:ext cx="1810638" cy="483255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402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Formátování textu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355661" y="895315"/>
            <a:ext cx="6382685" cy="3880773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dirty="0" err="1">
                <a:solidFill>
                  <a:srgbClr val="C61800"/>
                </a:solidFill>
                <a:latin typeface="Consolas" panose="020B0609020204030204" pitchFamily="49" charset="0"/>
              </a:rPr>
              <a:t>em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Zdůrazněná (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emphasized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) informace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sz="2000" dirty="0" err="1">
                <a:solidFill>
                  <a:srgbClr val="C61800"/>
                </a:solidFill>
                <a:latin typeface="Consolas" panose="020B0609020204030204" pitchFamily="49" charset="0"/>
              </a:rPr>
              <a:t>em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cs-CZ" altLang="cs-CZ" sz="2000" dirty="0">
              <a:solidFill>
                <a:srgbClr val="C618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dirty="0" err="1">
                <a:solidFill>
                  <a:srgbClr val="C61800"/>
                </a:solidFill>
                <a:latin typeface="Consolas" panose="020B0609020204030204" pitchFamily="49" charset="0"/>
              </a:rPr>
              <a:t>strong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Důležitá informace!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sz="2000" dirty="0" err="1">
                <a:solidFill>
                  <a:srgbClr val="C61800"/>
                </a:solidFill>
                <a:latin typeface="Consolas" panose="020B0609020204030204" pitchFamily="49" charset="0"/>
              </a:rPr>
              <a:t>strong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cs-CZ" altLang="cs-CZ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&lt;p&gt;V jednom odstavci můžeme mít 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dirty="0" err="1">
                <a:solidFill>
                  <a:srgbClr val="C61800"/>
                </a:solidFill>
                <a:latin typeface="Consolas" panose="020B0609020204030204" pitchFamily="49" charset="0"/>
              </a:rPr>
              <a:t>em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jak zdůrazněné informace,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sz="2000" dirty="0" err="1">
                <a:solidFill>
                  <a:srgbClr val="C61800"/>
                </a:solidFill>
                <a:latin typeface="Consolas" panose="020B0609020204030204" pitchFamily="49" charset="0"/>
              </a:rPr>
              <a:t>em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tak 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dirty="0" err="1">
                <a:solidFill>
                  <a:srgbClr val="C61800"/>
                </a:solidFill>
                <a:latin typeface="Consolas" panose="020B0609020204030204" pitchFamily="49" charset="0"/>
              </a:rPr>
              <a:t>strong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tak důležité informace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sz="2000" dirty="0" err="1">
                <a:solidFill>
                  <a:srgbClr val="C61800"/>
                </a:solidFill>
                <a:latin typeface="Consolas" panose="020B0609020204030204" pitchFamily="49" charset="0"/>
              </a:rPr>
              <a:t>strong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&gt;.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&lt;/p&gt; </a:t>
            </a:r>
            <a:endParaRPr lang="cs-CZ" altLang="cs-CZ" sz="1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cs-CZ" sz="2000" dirty="0"/>
          </a:p>
        </p:txBody>
      </p:sp>
      <p:sp>
        <p:nvSpPr>
          <p:cNvPr id="5" name="Obdélník 4"/>
          <p:cNvSpPr/>
          <p:nvPr/>
        </p:nvSpPr>
        <p:spPr>
          <a:xfrm>
            <a:off x="369495" y="3375344"/>
            <a:ext cx="5454872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altLang="cs-CZ" sz="2400" i="1" dirty="0">
                <a:solidFill>
                  <a:srgbClr val="000000"/>
                </a:solidFill>
                <a:latin typeface="Arial Unicode MS"/>
              </a:rPr>
              <a:t>Zdůrazněná (</a:t>
            </a:r>
            <a:r>
              <a:rPr lang="cs-CZ" altLang="cs-CZ" sz="2400" i="1" dirty="0" err="1">
                <a:solidFill>
                  <a:srgbClr val="000000"/>
                </a:solidFill>
                <a:latin typeface="Arial Unicode MS"/>
              </a:rPr>
              <a:t>emphasized</a:t>
            </a:r>
            <a:r>
              <a:rPr lang="cs-CZ" altLang="cs-CZ" sz="2400" i="1" dirty="0">
                <a:solidFill>
                  <a:srgbClr val="000000"/>
                </a:solidFill>
                <a:latin typeface="Arial Unicode MS"/>
              </a:rPr>
              <a:t>) informace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altLang="cs-CZ" sz="2400" i="1" dirty="0">
              <a:solidFill>
                <a:srgbClr val="000000"/>
              </a:solidFill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altLang="cs-CZ" sz="2400" b="1" dirty="0">
                <a:solidFill>
                  <a:srgbClr val="000000"/>
                </a:solidFill>
                <a:latin typeface="Arial Unicode MS"/>
              </a:rPr>
              <a:t>Důležitá informace!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altLang="cs-CZ" sz="2400" i="1" dirty="0">
              <a:solidFill>
                <a:srgbClr val="000000"/>
              </a:solidFill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altLang="cs-CZ" sz="2400" dirty="0">
                <a:solidFill>
                  <a:srgbClr val="000000"/>
                </a:solidFill>
                <a:latin typeface="Arial Unicode MS"/>
              </a:rPr>
              <a:t>V jednom odstavci můžeme mít </a:t>
            </a:r>
            <a:r>
              <a:rPr lang="cs-CZ" altLang="cs-CZ" sz="2400" i="1" dirty="0">
                <a:solidFill>
                  <a:srgbClr val="000000"/>
                </a:solidFill>
                <a:latin typeface="Arial Unicode MS"/>
              </a:rPr>
              <a:t>jak zdůrazněné informace</a:t>
            </a:r>
            <a:r>
              <a:rPr lang="cs-CZ" altLang="cs-CZ" sz="2400" dirty="0">
                <a:solidFill>
                  <a:srgbClr val="000000"/>
                </a:solidFill>
                <a:latin typeface="Arial Unicode MS"/>
              </a:rPr>
              <a:t>, tak </a:t>
            </a:r>
            <a:r>
              <a:rPr lang="cs-CZ" altLang="cs-CZ" sz="2400" b="1" dirty="0">
                <a:solidFill>
                  <a:srgbClr val="000000"/>
                </a:solidFill>
                <a:latin typeface="Arial Unicode MS"/>
              </a:rPr>
              <a:t>tak důležité informace</a:t>
            </a:r>
            <a:r>
              <a:rPr lang="cs-CZ" altLang="cs-CZ" sz="2400" dirty="0">
                <a:solidFill>
                  <a:srgbClr val="000000"/>
                </a:solidFill>
                <a:latin typeface="Arial Unicode MS"/>
              </a:rPr>
              <a:t>.</a:t>
            </a:r>
            <a:endParaRPr lang="cs-CZ" altLang="cs-CZ" sz="2400" i="1" dirty="0">
              <a:solidFill>
                <a:srgbClr val="000000"/>
              </a:solidFill>
              <a:latin typeface="Droid Sans"/>
            </a:endParaRPr>
          </a:p>
        </p:txBody>
      </p:sp>
      <p:sp>
        <p:nvSpPr>
          <p:cNvPr id="6" name="Oblouk 5"/>
          <p:cNvSpPr/>
          <p:nvPr/>
        </p:nvSpPr>
        <p:spPr>
          <a:xfrm flipH="1">
            <a:off x="2349795" y="2064894"/>
            <a:ext cx="6401688" cy="2275072"/>
          </a:xfrm>
          <a:prstGeom prst="arc">
            <a:avLst>
              <a:gd name="adj1" fmla="val 16435700"/>
              <a:gd name="adj2" fmla="val 0"/>
            </a:avLst>
          </a:prstGeom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2734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Pozor na křížení </a:t>
            </a:r>
            <a:r>
              <a:rPr lang="cs-CZ" dirty="0" err="1"/>
              <a:t>tagů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OK:</a:t>
            </a:r>
          </a:p>
          <a:p>
            <a:pPr lvl="1"/>
            <a:r>
              <a:rPr lang="cs-CZ" dirty="0">
                <a:latin typeface="Consolas" panose="020B0609020204030204" pitchFamily="49" charset="0"/>
              </a:rPr>
              <a:t>Text &lt;</a:t>
            </a:r>
            <a:r>
              <a:rPr lang="cs-CZ" dirty="0" err="1">
                <a:latin typeface="Consolas" panose="020B0609020204030204" pitchFamily="49" charset="0"/>
              </a:rPr>
              <a:t>em</a:t>
            </a:r>
            <a:r>
              <a:rPr lang="cs-CZ" dirty="0">
                <a:latin typeface="Consolas" panose="020B0609020204030204" pitchFamily="49" charset="0"/>
              </a:rPr>
              <a:t>&gt;zdůrazněný&lt;/</a:t>
            </a:r>
            <a:r>
              <a:rPr lang="cs-CZ" dirty="0" err="1">
                <a:latin typeface="Consolas" panose="020B0609020204030204" pitchFamily="49" charset="0"/>
              </a:rPr>
              <a:t>em</a:t>
            </a:r>
            <a:r>
              <a:rPr lang="cs-CZ" dirty="0">
                <a:latin typeface="Consolas" panose="020B0609020204030204" pitchFamily="49" charset="0"/>
              </a:rPr>
              <a:t>&gt; a pak &lt;</a:t>
            </a:r>
            <a:r>
              <a:rPr lang="cs-CZ" dirty="0" err="1">
                <a:latin typeface="Consolas" panose="020B0609020204030204" pitchFamily="49" charset="0"/>
              </a:rPr>
              <a:t>strong</a:t>
            </a:r>
            <a:r>
              <a:rPr lang="cs-CZ" dirty="0">
                <a:latin typeface="Consolas" panose="020B0609020204030204" pitchFamily="49" charset="0"/>
              </a:rPr>
              <a:t>&gt;tučný &lt;/</a:t>
            </a:r>
            <a:r>
              <a:rPr lang="cs-CZ" dirty="0" err="1">
                <a:latin typeface="Consolas" panose="020B0609020204030204" pitchFamily="49" charset="0"/>
              </a:rPr>
              <a:t>strong</a:t>
            </a:r>
            <a:r>
              <a:rPr lang="cs-CZ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cs-CZ" dirty="0">
                <a:latin typeface="Consolas" panose="020B0609020204030204" pitchFamily="49" charset="0"/>
              </a:rPr>
              <a:t>Text &lt;</a:t>
            </a:r>
            <a:r>
              <a:rPr lang="cs-CZ" dirty="0" err="1">
                <a:latin typeface="Consolas" panose="020B0609020204030204" pitchFamily="49" charset="0"/>
              </a:rPr>
              <a:t>em</a:t>
            </a:r>
            <a:r>
              <a:rPr lang="cs-CZ" dirty="0">
                <a:latin typeface="Consolas" panose="020B0609020204030204" pitchFamily="49" charset="0"/>
              </a:rPr>
              <a:t>&gt;zdůrazněný &lt;</a:t>
            </a:r>
            <a:r>
              <a:rPr lang="cs-CZ" dirty="0" err="1">
                <a:latin typeface="Consolas" panose="020B0609020204030204" pitchFamily="49" charset="0"/>
              </a:rPr>
              <a:t>strong</a:t>
            </a:r>
            <a:r>
              <a:rPr lang="cs-CZ" dirty="0">
                <a:latin typeface="Consolas" panose="020B0609020204030204" pitchFamily="49" charset="0"/>
              </a:rPr>
              <a:t>&gt; a tučný zároveň&lt;/</a:t>
            </a:r>
            <a:r>
              <a:rPr lang="cs-CZ" dirty="0" err="1">
                <a:latin typeface="Consolas" panose="020B0609020204030204" pitchFamily="49" charset="0"/>
              </a:rPr>
              <a:t>strong</a:t>
            </a:r>
            <a:r>
              <a:rPr lang="cs-CZ" dirty="0">
                <a:latin typeface="Consolas" panose="020B0609020204030204" pitchFamily="49" charset="0"/>
              </a:rPr>
              <a:t>&gt;&lt;/</a:t>
            </a:r>
            <a:r>
              <a:rPr lang="cs-CZ" dirty="0" err="1">
                <a:latin typeface="Consolas" panose="020B0609020204030204" pitchFamily="49" charset="0"/>
              </a:rPr>
              <a:t>em</a:t>
            </a:r>
            <a:r>
              <a:rPr lang="cs-CZ" dirty="0">
                <a:latin typeface="Consolas" panose="020B0609020204030204" pitchFamily="49" charset="0"/>
              </a:rPr>
              <a:t>&gt;</a:t>
            </a:r>
          </a:p>
          <a:p>
            <a:r>
              <a:rPr lang="cs-CZ" dirty="0"/>
              <a:t>Špatně</a:t>
            </a:r>
          </a:p>
          <a:p>
            <a:pPr lvl="1"/>
            <a:r>
              <a:rPr lang="cs-CZ" dirty="0">
                <a:latin typeface="Consolas" panose="020B0609020204030204" pitchFamily="49" charset="0"/>
              </a:rPr>
              <a:t>Text &lt;</a:t>
            </a:r>
            <a:r>
              <a:rPr lang="cs-CZ" dirty="0" err="1">
                <a:latin typeface="Consolas" panose="020B0609020204030204" pitchFamily="49" charset="0"/>
              </a:rPr>
              <a:t>em</a:t>
            </a:r>
            <a:r>
              <a:rPr lang="cs-CZ" dirty="0">
                <a:latin typeface="Consolas" panose="020B0609020204030204" pitchFamily="49" charset="0"/>
              </a:rPr>
              <a:t>&gt;zdůrazněný &lt;</a:t>
            </a:r>
            <a:r>
              <a:rPr lang="cs-CZ" dirty="0" err="1">
                <a:latin typeface="Consolas" panose="020B0609020204030204" pitchFamily="49" charset="0"/>
              </a:rPr>
              <a:t>strong</a:t>
            </a:r>
            <a:r>
              <a:rPr lang="cs-CZ" dirty="0">
                <a:latin typeface="Consolas" panose="020B0609020204030204" pitchFamily="49" charset="0"/>
              </a:rPr>
              <a:t>&gt; a tučný &lt;/</a:t>
            </a:r>
            <a:r>
              <a:rPr lang="cs-CZ" dirty="0" err="1">
                <a:latin typeface="Consolas" panose="020B0609020204030204" pitchFamily="49" charset="0"/>
              </a:rPr>
              <a:t>em</a:t>
            </a:r>
            <a:r>
              <a:rPr lang="cs-CZ" dirty="0">
                <a:latin typeface="Consolas" panose="020B0609020204030204" pitchFamily="49" charset="0"/>
              </a:rPr>
              <a:t>&gt; a co teď?&lt;/</a:t>
            </a:r>
            <a:r>
              <a:rPr lang="cs-CZ" dirty="0" err="1">
                <a:latin typeface="Consolas" panose="020B0609020204030204" pitchFamily="49" charset="0"/>
              </a:rPr>
              <a:t>strong</a:t>
            </a:r>
            <a:r>
              <a:rPr lang="cs-CZ" dirty="0">
                <a:latin typeface="Consolas" panose="020B0609020204030204" pitchFamily="49" charset="0"/>
              </a:rPr>
              <a:t>&gt;</a:t>
            </a:r>
          </a:p>
          <a:p>
            <a:pPr lvl="1"/>
            <a:endParaRPr lang="cs-CZ" dirty="0">
              <a:latin typeface="Consolas" panose="020B0609020204030204" pitchFamily="49" charset="0"/>
            </a:endParaRPr>
          </a:p>
          <a:p>
            <a:r>
              <a:rPr lang="cs-CZ" dirty="0" err="1"/>
              <a:t>Tagy</a:t>
            </a:r>
            <a:r>
              <a:rPr lang="cs-CZ" dirty="0"/>
              <a:t> musí být vždy zanořené – pokud končí nadřazený, musí nejprve skončit všechny podřazené</a:t>
            </a:r>
          </a:p>
        </p:txBody>
      </p:sp>
    </p:spTree>
    <p:extLst>
      <p:ext uri="{BB962C8B-B14F-4D97-AF65-F5344CB8AC3E}">
        <p14:creationId xmlns:p14="http://schemas.microsoft.com/office/powerpoint/2010/main" val="3827258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Obrázky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1456661"/>
            <a:ext cx="10327364" cy="4584702"/>
          </a:xfrm>
        </p:spPr>
        <p:txBody>
          <a:bodyPr>
            <a:normAutofit fontScale="92500" lnSpcReduction="20000"/>
          </a:bodyPr>
          <a:lstStyle/>
          <a:p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img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src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="http://www.google.com/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images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srpr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/logo1w.png" alt="Google"&gt;</a:t>
            </a:r>
            <a:r>
              <a:rPr lang="cs-CZ" altLang="cs-CZ" sz="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endParaRPr lang="cs-CZ" altLang="cs-CZ" sz="9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cs-CZ" altLang="cs-CZ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cs-CZ" altLang="cs-CZ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img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src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="http://www.google.com/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images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srpr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/logo1w.png" alt="Google" 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height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="50"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endParaRPr lang="cs-CZ" altLang="cs-CZ" sz="9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cs-CZ" altLang="cs-CZ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img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src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="https://upload.wikimedia.org/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wikipedia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commons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thumb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/9/95/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Aldus_leaf.svg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/120px-Aldus_leaf.svg.png" 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alt=""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cs-CZ" altLang="cs-CZ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cs-CZ" dirty="0">
              <a:latin typeface="Consolas" panose="020B0609020204030204" pitchFamily="49" charset="0"/>
            </a:endParaRPr>
          </a:p>
        </p:txBody>
      </p:sp>
      <p:pic>
        <p:nvPicPr>
          <p:cNvPr id="14341" name="Picture 5" descr="Goog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631" y="2441389"/>
            <a:ext cx="2619375" cy="90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3" name="Picture 7" descr="Goog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892" y="4417673"/>
            <a:ext cx="1354248" cy="46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5" name="Picture 9" descr="https://upload.wikimedia.org/wikipedia/commons/thumb/9/95/Aldus_leaf.svg/120px-Aldus_leaf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516" y="5704500"/>
            <a:ext cx="1143000" cy="5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/>
          <p:cNvSpPr txBox="1"/>
          <p:nvPr/>
        </p:nvSpPr>
        <p:spPr>
          <a:xfrm>
            <a:off x="5796414" y="6112115"/>
            <a:ext cx="6177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i="1" dirty="0"/>
              <a:t>Pozor na používání – ne nadužívání – parametru alt: alternativní text pro neobrazovková zařízení</a:t>
            </a:r>
          </a:p>
        </p:txBody>
      </p:sp>
    </p:spTree>
    <p:extLst>
      <p:ext uri="{BB962C8B-B14F-4D97-AF65-F5344CB8AC3E}">
        <p14:creationId xmlns:p14="http://schemas.microsoft.com/office/powerpoint/2010/main" val="1236473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(Hyper)linky - </a:t>
            </a:r>
            <a:r>
              <a:rPr lang="cs-CZ" dirty="0" err="1"/>
              <a:t>anchor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  <a:latin typeface="+mj-lt"/>
              </a:rPr>
              <a:t>Textový </a:t>
            </a:r>
          </a:p>
          <a:p>
            <a:pPr marL="0" indent="0">
              <a:buNone/>
            </a:pP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&lt;a 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href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="http://www.google.com"&gt;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Google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&lt;/a&gt;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br>
              <a:rPr lang="cs-CZ" altLang="cs-CZ" sz="2800" dirty="0">
                <a:solidFill>
                  <a:schemeClr val="tx1"/>
                </a:solidFill>
                <a:latin typeface="Droid Sans"/>
                <a:hlinkClick r:id="rId2"/>
              </a:rPr>
            </a:br>
            <a:endParaRPr lang="cs-CZ" altLang="cs-CZ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cs-CZ" altLang="cs-CZ" dirty="0">
                <a:solidFill>
                  <a:schemeClr val="tx1"/>
                </a:solidFill>
                <a:latin typeface="+mj-lt"/>
              </a:rPr>
              <a:t>Obrázkový – uvnitř je </a:t>
            </a:r>
            <a:r>
              <a:rPr lang="cs-CZ" altLang="cs-CZ" dirty="0" err="1">
                <a:solidFill>
                  <a:schemeClr val="tx1"/>
                </a:solidFill>
                <a:latin typeface="+mj-lt"/>
              </a:rPr>
              <a:t>tag</a:t>
            </a:r>
            <a:r>
              <a:rPr lang="cs-CZ" altLang="cs-CZ" dirty="0">
                <a:solidFill>
                  <a:schemeClr val="tx1"/>
                </a:solidFill>
                <a:latin typeface="+mj-lt"/>
              </a:rPr>
              <a:t> </a:t>
            </a:r>
            <a:r>
              <a:rPr lang="cs-CZ" altLang="cs-CZ" dirty="0" err="1">
                <a:solidFill>
                  <a:schemeClr val="tx1"/>
                </a:solidFill>
                <a:latin typeface="+mj-lt"/>
              </a:rPr>
              <a:t>img</a:t>
            </a:r>
            <a:endParaRPr lang="cs-CZ" altLang="cs-CZ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&lt;a 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href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="http://www.google.com"&gt;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img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src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="http://www.google.com/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images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cs-CZ" alt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srpr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/logo1w.png" alt="Google"&gt; 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&lt;/a&gt;</a:t>
            </a:r>
            <a:r>
              <a:rPr lang="cs-CZ" altLang="cs-CZ" sz="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cs-CZ" altLang="cs-CZ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cs-CZ" dirty="0"/>
          </a:p>
        </p:txBody>
      </p:sp>
      <p:sp>
        <p:nvSpPr>
          <p:cNvPr id="7" name="TextovéPole 6"/>
          <p:cNvSpPr txBox="1"/>
          <p:nvPr/>
        </p:nvSpPr>
        <p:spPr>
          <a:xfrm>
            <a:off x="6988217" y="3140078"/>
            <a:ext cx="303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latin typeface="Droid Sans"/>
                <a:hlinkClick r:id="rId2"/>
              </a:rPr>
              <a:t>Google</a:t>
            </a:r>
            <a:endParaRPr lang="cs-CZ" dirty="0"/>
          </a:p>
        </p:txBody>
      </p:sp>
      <p:pic>
        <p:nvPicPr>
          <p:cNvPr id="15364" name="Picture 4" descr="Googl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462" y="5136486"/>
            <a:ext cx="2619375" cy="90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Přímá spojnice se šipkou 10"/>
          <p:cNvCxnSpPr>
            <a:cxnSpLocks/>
          </p:cNvCxnSpPr>
          <p:nvPr/>
        </p:nvCxnSpPr>
        <p:spPr>
          <a:xfrm>
            <a:off x="5136776" y="4589929"/>
            <a:ext cx="1678694" cy="407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římá spojnice se šipkou 15"/>
          <p:cNvCxnSpPr>
            <a:cxnSpLocks/>
          </p:cNvCxnSpPr>
          <p:nvPr/>
        </p:nvCxnSpPr>
        <p:spPr>
          <a:xfrm>
            <a:off x="5203784" y="2850776"/>
            <a:ext cx="1784433" cy="376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bdélník 16"/>
          <p:cNvSpPr/>
          <p:nvPr/>
        </p:nvSpPr>
        <p:spPr>
          <a:xfrm>
            <a:off x="1382468" y="6086885"/>
            <a:ext cx="3132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cs-CZ" i="1" dirty="0"/>
              <a:t>(</a:t>
            </a:r>
            <a:r>
              <a:rPr lang="cs-CZ" altLang="cs-CZ" i="1" dirty="0" err="1"/>
              <a:t>href</a:t>
            </a:r>
            <a:r>
              <a:rPr lang="cs-CZ" altLang="cs-CZ" i="1" dirty="0"/>
              <a:t> = hypertext reference)</a:t>
            </a:r>
          </a:p>
        </p:txBody>
      </p:sp>
    </p:spTree>
    <p:extLst>
      <p:ext uri="{BB962C8B-B14F-4D97-AF65-F5344CB8AC3E}">
        <p14:creationId xmlns:p14="http://schemas.microsoft.com/office/powerpoint/2010/main" val="322913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Vnitřní </a:t>
            </a:r>
            <a:r>
              <a:rPr lang="cs-CZ" dirty="0" err="1"/>
              <a:t>hyperlinky</a:t>
            </a:r>
            <a:r>
              <a:rPr lang="cs-CZ" dirty="0"/>
              <a:t> v dokumentu,</a:t>
            </a:r>
            <a:br>
              <a:rPr lang="cs-CZ" dirty="0"/>
            </a:br>
            <a:r>
              <a:rPr lang="cs-CZ" dirty="0"/>
              <a:t>odkaz na místo v jiném </a:t>
            </a:r>
            <a:r>
              <a:rPr lang="cs-CZ" dirty="0" err="1"/>
              <a:t>dokumenu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2160589"/>
            <a:ext cx="10252936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&lt;p&gt;Zpět na 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&lt;a 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href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="#kap1"&gt;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První kapitolu!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&lt;/a&gt; 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&lt;/p&gt;</a:t>
            </a:r>
          </a:p>
          <a:p>
            <a:endParaRPr lang="cs-CZ" altLang="cs-CZ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&lt;h1 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id="kap1"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&gt;Kapitola 1&lt;/h1&gt; </a:t>
            </a:r>
          </a:p>
          <a:p>
            <a:pPr marL="0" indent="0">
              <a:buNone/>
            </a:pP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&lt;p&gt;Nejúžasnější příběh na celé Zeměploše. Pokračování příště...&lt;/p&gt; </a:t>
            </a:r>
          </a:p>
          <a:p>
            <a:pPr marL="0" indent="0">
              <a:buNone/>
            </a:pP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&lt;p&gt;Pro další informace přejděte </a:t>
            </a:r>
            <a:b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na 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&lt;a </a:t>
            </a:r>
            <a:r>
              <a:rPr lang="cs-CZ" altLang="cs-CZ" dirty="0" err="1">
                <a:solidFill>
                  <a:srgbClr val="C61800"/>
                </a:solidFill>
                <a:latin typeface="Consolas" panose="020B0609020204030204" pitchFamily="49" charset="0"/>
              </a:rPr>
              <a:t>href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="://cs.wikipedia.org/wiki/Zem%C4%9Bplocha#Mapy"&gt;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Wikipedii</a:t>
            </a:r>
            <a:r>
              <a:rPr lang="cs-CZ" altLang="cs-CZ" dirty="0">
                <a:solidFill>
                  <a:srgbClr val="C61800"/>
                </a:solidFill>
                <a:latin typeface="Consolas" panose="020B0609020204030204" pitchFamily="49" charset="0"/>
              </a:rPr>
              <a:t>&lt;/a&gt;</a:t>
            </a:r>
            <a:r>
              <a:rPr lang="cs-CZ" altLang="cs-CZ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cs-CZ" alt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&lt;/p&gt;</a:t>
            </a:r>
            <a:r>
              <a:rPr lang="cs-CZ" altLang="cs-CZ" sz="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cs-CZ" altLang="cs-CZ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48699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77334" y="228925"/>
            <a:ext cx="10515600" cy="1325563"/>
          </a:xfrm>
        </p:spPr>
        <p:txBody>
          <a:bodyPr/>
          <a:lstStyle/>
          <a:p>
            <a:r>
              <a:rPr lang="cs-CZ" dirty="0"/>
              <a:t>Odkaz v rámci adresáře webu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1605517"/>
            <a:ext cx="9646880" cy="4965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dirty="0"/>
              <a:t>Používá se </a:t>
            </a:r>
            <a:r>
              <a:rPr lang="cs-CZ" sz="2000" b="1" dirty="0"/>
              <a:t>relativní cesta </a:t>
            </a:r>
            <a:r>
              <a:rPr lang="cs-CZ" sz="2000" dirty="0"/>
              <a:t>k dané stránce, dokumentu, obrázku,…</a:t>
            </a:r>
          </a:p>
          <a:p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absolutní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cizí stránky pomocí celé URL (včetně https://)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soubor na stejném webu pomocí /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označuje kořenovou složku a také je oddělovač složek v cestě k souboru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např.: /slozka/podslozka/obrazek.jpg</a:t>
            </a:r>
          </a:p>
          <a:p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relativní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pravidlo potápěče :)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/nazev_adresare pro zanoření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../ pro vynoření ze složky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např.: ../../slozka/soubor.html</a:t>
            </a:r>
          </a:p>
          <a:p>
            <a:pPr marL="0" indent="0">
              <a:buNone/>
            </a:pP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4237703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Komentáře: &lt;!-- </a:t>
            </a:r>
            <a:r>
              <a:rPr lang="cs-CZ" dirty="0" err="1"/>
              <a:t>bla</a:t>
            </a:r>
            <a:r>
              <a:rPr lang="cs-CZ" dirty="0"/>
              <a:t> </a:t>
            </a:r>
            <a:r>
              <a:rPr lang="cs-CZ" dirty="0" err="1"/>
              <a:t>bla</a:t>
            </a:r>
            <a:r>
              <a:rPr lang="cs-CZ" dirty="0"/>
              <a:t> </a:t>
            </a:r>
            <a:r>
              <a:rPr lang="cs-CZ" dirty="0" err="1"/>
              <a:t>bla</a:t>
            </a:r>
            <a:r>
              <a:rPr lang="cs-CZ" dirty="0"/>
              <a:t> --&gt;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1605517"/>
            <a:ext cx="9646880" cy="4965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&lt;!--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Zde je komentář pro lidské oči 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--&gt;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&lt;!--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Komentář </a:t>
            </a:r>
            <a:b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může přesahovat </a:t>
            </a:r>
            <a:b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i několik řádků. 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--&gt;</a:t>
            </a:r>
            <a:r>
              <a:rPr lang="cs-CZ" altLang="cs-CZ" sz="1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cs-CZ" altLang="cs-CZ" sz="2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cs-CZ" sz="2000" dirty="0"/>
              <a:t>Typické použití je kousek kódu převzatý odjinud, poskytnutý někým jiným</a:t>
            </a:r>
          </a:p>
          <a:p>
            <a:pPr marL="0" indent="0">
              <a:buNone/>
            </a:pP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&lt;!--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AddThis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BEGIN 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--&gt;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b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&lt;div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class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="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addthis_toolbox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addthis_default_style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"&gt; </a:t>
            </a:r>
            <a:b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&lt;a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class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="addthis_button_preferred_1"&gt;&lt;/a&gt; </a:t>
            </a:r>
            <a:b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&lt;/div&gt; </a:t>
            </a:r>
            <a:b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script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src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="http://s7.addthis.com/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js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/250/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addthis_widget.js#pubid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=xa-4f921b5f4f8898ae"&gt; &lt;/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script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&lt;!--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AddThis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alt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</a:t>
            </a:r>
            <a:r>
              <a:rPr lang="cs-CZ" alt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 </a:t>
            </a:r>
            <a:r>
              <a:rPr lang="cs-CZ" altLang="cs-CZ" sz="2000" dirty="0">
                <a:solidFill>
                  <a:srgbClr val="C61800"/>
                </a:solidFill>
                <a:latin typeface="Consolas" panose="020B0609020204030204" pitchFamily="49" charset="0"/>
              </a:rPr>
              <a:t>--&gt;</a:t>
            </a:r>
            <a:r>
              <a:rPr lang="cs-CZ" altLang="cs-CZ" sz="1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cs-CZ" altLang="cs-CZ" sz="2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103215204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2249</TotalTime>
  <Words>1545</Words>
  <Application>Microsoft Office PowerPoint</Application>
  <PresentationFormat>Širokoúhlá obrazovka</PresentationFormat>
  <Paragraphs>175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9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31" baseType="lpstr">
      <vt:lpstr>Arial</vt:lpstr>
      <vt:lpstr>Arial Unicode MS</vt:lpstr>
      <vt:lpstr>Calibri</vt:lpstr>
      <vt:lpstr>Calibri Light</vt:lpstr>
      <vt:lpstr>Consolas</vt:lpstr>
      <vt:lpstr>Droid Sans</vt:lpstr>
      <vt:lpstr>Times New Roman</vt:lpstr>
      <vt:lpstr>Trebuchet MS</vt:lpstr>
      <vt:lpstr>Wingdings 3</vt:lpstr>
      <vt:lpstr>Motiv Office</vt:lpstr>
      <vt:lpstr>HTML (esenciální základy)</vt:lpstr>
      <vt:lpstr>„HyperText Markup Language“ (Hypertextový značkovací jazyk)</vt:lpstr>
      <vt:lpstr>Třídění elementů (tagů)</vt:lpstr>
      <vt:lpstr>Struktura HTML elementu</vt:lpstr>
      <vt:lpstr>Základní HTML elementy</vt:lpstr>
      <vt:lpstr>Struktura webové stránky HTML 5</vt:lpstr>
      <vt:lpstr>Základní html soubor</vt:lpstr>
      <vt:lpstr>Head – hlavička</vt:lpstr>
      <vt:lpstr>Body – tělo stránky</vt:lpstr>
      <vt:lpstr>Nadpisy (heading)</vt:lpstr>
      <vt:lpstr>Odstavce</vt:lpstr>
      <vt:lpstr>Zalomení řádky (break line)</vt:lpstr>
      <vt:lpstr>Nečíslovaný seznam  -„odrážky“ (unordered list)</vt:lpstr>
      <vt:lpstr>Číslovaný seznam (ordered list)</vt:lpstr>
      <vt:lpstr>Formátování textu</vt:lpstr>
      <vt:lpstr>Pozor na křížení tagů</vt:lpstr>
      <vt:lpstr>Obrázky</vt:lpstr>
      <vt:lpstr>(Hyper)linky - anchor</vt:lpstr>
      <vt:lpstr>Vnitřní hyperlinky v dokumentu, odkaz na místo v jiném dokumenu</vt:lpstr>
      <vt:lpstr>Odkaz v rámci adresáře webu</vt:lpstr>
      <vt:lpstr>Komentáře: &lt;!-- bla bla bla --&gt;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176</cp:revision>
  <dcterms:created xsi:type="dcterms:W3CDTF">2020-09-17T19:44:13Z</dcterms:created>
  <dcterms:modified xsi:type="dcterms:W3CDTF">2023-09-04T10:48:18Z</dcterms:modified>
</cp:coreProperties>
</file>