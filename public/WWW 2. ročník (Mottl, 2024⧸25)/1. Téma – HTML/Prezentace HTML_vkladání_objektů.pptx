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3" r:id="rId3"/>
    <p:sldId id="334" r:id="rId4"/>
    <p:sldId id="335" r:id="rId5"/>
    <p:sldId id="336" r:id="rId6"/>
    <p:sldId id="337" r:id="rId7"/>
    <p:sldId id="338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333"/>
            <p14:sldId id="334"/>
            <p14:sldId id="335"/>
            <p14:sldId id="336"/>
            <p14:sldId id="337"/>
            <p14:sldId id="3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7" d="100"/>
          <a:sy n="87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republic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f/fd/Ghostscript_Tiger.svg" TargetMode="External"/><Relationship Id="rId2" Type="http://schemas.openxmlformats.org/officeDocument/2006/relationships/hyperlink" Target="https://www.w3schools.com/html/html5_svg.as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aftymind.com/factory/html5video/CanvasVideo.html" TargetMode="External"/><Relationship Id="rId2" Type="http://schemas.openxmlformats.org/officeDocument/2006/relationships/hyperlink" Target="http://upload.wikimedia.org/wikipedia/commons/f/fd/Ghostscript_Tiger.sv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tags/att_audio_controls.asp" TargetMode="External"/><Relationship Id="rId2" Type="http://schemas.openxmlformats.org/officeDocument/2006/relationships/hyperlink" Target="http://www.w3schools.com/tags/att_audio_autoplay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schools.com/tags/att_audio_src.asp" TargetMode="External"/><Relationship Id="rId5" Type="http://schemas.openxmlformats.org/officeDocument/2006/relationships/hyperlink" Target="http://www.w3schools.com/tags/att_audio_muted.asp" TargetMode="External"/><Relationship Id="rId4" Type="http://schemas.openxmlformats.org/officeDocument/2006/relationships/hyperlink" Target="http://www.w3schools.com/tags/att_audio_loop.asp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Vkládání objektů</a:t>
            </a:r>
          </a:p>
        </p:txBody>
      </p:sp>
      <p:pic>
        <p:nvPicPr>
          <p:cNvPr id="3" name="Picture 4" descr="Hypertext Markup Language – Wikipedie">
            <a:extLst>
              <a:ext uri="{FF2B5EF4-FFF2-40B4-BE49-F238E27FC236}">
                <a16:creationId xmlns:a16="http://schemas.microsoft.com/office/drawing/2014/main" id="{60ACDF19-10DA-4BEB-BB24-2BB0F8C48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282" y="1814811"/>
            <a:ext cx="4657436" cy="465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CSS - Wikipedia">
            <a:extLst>
              <a:ext uri="{FF2B5EF4-FFF2-40B4-BE49-F238E27FC236}">
                <a16:creationId xmlns:a16="http://schemas.microsoft.com/office/drawing/2014/main" id="{41106516-B4A3-47B7-953D-BEDDF32499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8" descr="CSS - Wikipedia">
            <a:extLst>
              <a:ext uri="{FF2B5EF4-FFF2-40B4-BE49-F238E27FC236}">
                <a16:creationId xmlns:a16="http://schemas.microsoft.com/office/drawing/2014/main" id="{48F688FE-E1F6-4080-AB97-72C1649D7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7986CB18-3410-4F10-A88B-A8ED864C55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Iframe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lvl="0" indent="0" fontAlgn="base">
              <a:spcAft>
                <a:spcPct val="0"/>
              </a:spcAft>
              <a:buNone/>
            </a:pPr>
            <a:r>
              <a:rPr lang="cs-CZ" alt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Pomocí tagu </a:t>
            </a:r>
            <a:r>
              <a:rPr lang="cs-CZ" alt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iframe</a:t>
            </a:r>
            <a:r>
              <a:rPr lang="cs-CZ" alt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možné vložit do jedné stránky jinou stránku.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cs-CZ" altLang="cs-CZ" sz="32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&lt;</a:t>
            </a:r>
            <a:r>
              <a:rPr lang="en-US" dirty="0" err="1"/>
              <a:t>iframe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</a:t>
            </a:r>
            <a:r>
              <a:rPr lang="en-US" i="1" dirty="0" err="1"/>
              <a:t>url</a:t>
            </a:r>
            <a:r>
              <a:rPr lang="en-US" dirty="0"/>
              <a:t>" title="</a:t>
            </a:r>
            <a:r>
              <a:rPr lang="en-US" i="1" dirty="0"/>
              <a:t>description</a:t>
            </a:r>
            <a:r>
              <a:rPr lang="en-US" dirty="0"/>
              <a:t>"&gt;&lt;/</a:t>
            </a:r>
            <a:r>
              <a:rPr lang="en-US" dirty="0" err="1"/>
              <a:t>iframe</a:t>
            </a:r>
            <a:r>
              <a:rPr lang="en-US" dirty="0"/>
              <a:t>&gt;</a:t>
            </a:r>
            <a:r>
              <a:rPr lang="en-US" sz="3200" dirty="0"/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cs-CZ" altLang="cs-CZ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cs-CZ" altLang="cs-CZ" sz="1800" dirty="0">
              <a:latin typeface="Arial Unicode MS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cs-CZ" altLang="cs-CZ" sz="1400" dirty="0">
              <a:latin typeface="Arial Unicode MS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latin typeface="Consolas" panose="020B0609020204030204" pitchFamily="49" charset="0"/>
              </a:rPr>
              <a:t>iframe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latin typeface="Consolas" panose="020B0609020204030204" pitchFamily="49" charset="0"/>
              </a:rPr>
              <a:t>"</a:t>
            </a:r>
            <a:r>
              <a:rPr lang="cs-CZ" sz="2400" dirty="0">
                <a:solidFill>
                  <a:srgbClr val="0000FF"/>
                </a:solidFill>
                <a:latin typeface="Consolas" panose="020B0609020204030204" pitchFamily="49" charset="0"/>
                <a:hlinkClick r:id="rId2"/>
              </a:rPr>
              <a:t>https://www.tutorialrepublic.com</a:t>
            </a:r>
            <a:r>
              <a:rPr lang="en-US" sz="2400" dirty="0">
                <a:latin typeface="Consolas" panose="020B0609020204030204" pitchFamily="49" charset="0"/>
              </a:rPr>
              <a:t>" </a:t>
            </a:r>
            <a:br>
              <a:rPr lang="cs-CZ" sz="2400" dirty="0"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width=</a:t>
            </a:r>
            <a:r>
              <a:rPr lang="en-US" sz="2400" dirty="0">
                <a:latin typeface="Consolas" panose="020B0609020204030204" pitchFamily="49" charset="0"/>
              </a:rPr>
              <a:t>"</a:t>
            </a:r>
            <a:r>
              <a:rPr lang="cs-CZ" sz="2400" dirty="0">
                <a:latin typeface="Consolas" panose="020B0609020204030204" pitchFamily="49" charset="0"/>
              </a:rPr>
              <a:t>1024</a:t>
            </a:r>
            <a:r>
              <a:rPr lang="en-US" sz="2400" dirty="0">
                <a:latin typeface="Consolas" panose="020B0609020204030204" pitchFamily="49" charset="0"/>
              </a:rPr>
              <a:t>"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height=</a:t>
            </a:r>
            <a:r>
              <a:rPr lang="en-US" sz="2400" dirty="0">
                <a:latin typeface="Consolas" panose="020B0609020204030204" pitchFamily="49" charset="0"/>
              </a:rPr>
              <a:t>"</a:t>
            </a:r>
            <a:r>
              <a:rPr lang="cs-CZ" sz="2400" dirty="0">
                <a:latin typeface="Consolas" panose="020B0609020204030204" pitchFamily="49" charset="0"/>
              </a:rPr>
              <a:t>768</a:t>
            </a:r>
            <a:r>
              <a:rPr lang="en-US" sz="2400" dirty="0">
                <a:latin typeface="Consolas" panose="020B0609020204030204" pitchFamily="49" charset="0"/>
              </a:rPr>
              <a:t>"&gt;&lt;/</a:t>
            </a:r>
            <a:r>
              <a:rPr lang="en-US" sz="2400" dirty="0" err="1">
                <a:latin typeface="Consolas" panose="020B0609020204030204" pitchFamily="49" charset="0"/>
              </a:rPr>
              <a:t>iframe</a:t>
            </a:r>
            <a:r>
              <a:rPr lang="en-US" sz="2400" dirty="0">
                <a:latin typeface="Consolas" panose="020B0609020204030204" pitchFamily="49" charset="0"/>
              </a:rPr>
              <a:t>&gt;</a:t>
            </a:r>
            <a:endParaRPr lang="cs-CZ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Určování velikosti okna pomocí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vložit i iframe jiné stránky daného webu</a:t>
            </a:r>
          </a:p>
        </p:txBody>
      </p:sp>
    </p:spTree>
    <p:extLst>
      <p:ext uri="{BB962C8B-B14F-4D97-AF65-F5344CB8AC3E}">
        <p14:creationId xmlns:p14="http://schemas.microsoft.com/office/powerpoint/2010/main" val="226085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Iframe – příklady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iframe</a:t>
            </a:r>
            <a:r>
              <a:rPr lang="cs-CZ" dirty="0"/>
              <a:t> </a:t>
            </a:r>
            <a:r>
              <a:rPr lang="en-US" dirty="0" err="1"/>
              <a:t>src</a:t>
            </a:r>
            <a:r>
              <a:rPr lang="en-US" dirty="0"/>
              <a:t>="https://calendar.google.com/calendar/</a:t>
            </a:r>
            <a:r>
              <a:rPr lang="en-US" dirty="0" err="1"/>
              <a:t>embed?src</a:t>
            </a:r>
            <a:r>
              <a:rPr lang="en-US" dirty="0"/>
              <a:t>=czech__cs@holiday.calendar.google.com"</a:t>
            </a:r>
            <a:r>
              <a:rPr lang="cs-CZ" dirty="0"/>
              <a:t> </a:t>
            </a:r>
            <a:r>
              <a:rPr lang="en-US" dirty="0"/>
              <a:t>width="600" height="400"&gt;&lt;/</a:t>
            </a:r>
            <a:r>
              <a:rPr lang="en-US" dirty="0" err="1"/>
              <a:t>iframe</a:t>
            </a:r>
            <a:r>
              <a:rPr lang="en-US" dirty="0"/>
              <a:t>&gt;</a:t>
            </a:r>
            <a:endParaRPr lang="cs-CZ" dirty="0"/>
          </a:p>
          <a:p>
            <a:pPr marL="0" indent="0">
              <a:buNone/>
            </a:pP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BD2D6F3-2CBC-AFC2-7EE4-18CFC6357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857" y="3214098"/>
            <a:ext cx="4092285" cy="364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8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SVG </a:t>
            </a:r>
            <a:r>
              <a:rPr lang="pl-PL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(Scalable Vector Graphics)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lvl="0" indent="0" fontAlgn="base">
              <a:spcAft>
                <a:spcPct val="0"/>
              </a:spcAft>
              <a:buNone/>
            </a:pP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pomocí svg „malovat” na webové stránce.</a:t>
            </a:r>
          </a:p>
          <a:p>
            <a:pPr marL="0" lvl="0" indent="0" fontAlgn="base">
              <a:spcAft>
                <a:spcPct val="0"/>
              </a:spcAft>
              <a:buNone/>
            </a:pP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fontAlgn="base">
              <a:spcAft>
                <a:spcPct val="0"/>
              </a:spcAft>
              <a:buNone/>
            </a:pPr>
            <a:r>
              <a:rPr lang="en-US" dirty="0"/>
              <a:t>&lt;</a:t>
            </a:r>
            <a:r>
              <a:rPr lang="en-US" dirty="0" err="1"/>
              <a:t>svg</a:t>
            </a:r>
            <a:r>
              <a:rPr lang="en-US" dirty="0"/>
              <a:t> width="100" height="100"&gt;</a:t>
            </a:r>
            <a:br>
              <a:rPr lang="en-US" dirty="0"/>
            </a:br>
            <a:r>
              <a:rPr lang="en-US" dirty="0"/>
              <a:t>  &lt;circle cx="50" cy="50" r="40" stroke="green" stroke-width="4" fill="yellow" /&gt;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svg</a:t>
            </a:r>
            <a:r>
              <a:rPr lang="en-US" dirty="0"/>
              <a:t>&gt;</a:t>
            </a:r>
            <a:endParaRPr lang="cs-CZ" dirty="0"/>
          </a:p>
          <a:p>
            <a:pPr marL="0" lvl="0" indent="0" fontAlgn="base">
              <a:spcAft>
                <a:spcPct val="0"/>
              </a:spcAft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fontAlgn="base">
              <a:spcAft>
                <a:spcPct val="0"/>
              </a:spcAft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Více o základech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zde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fontAlgn="base">
              <a:spcAft>
                <a:spcPct val="0"/>
              </a:spcAft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Příklad využití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zde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70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lvl="0" indent="0" fontAlgn="base">
              <a:spcAft>
                <a:spcPct val="0"/>
              </a:spcAft>
              <a:buNone/>
            </a:pP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Contenair pro zobrazení grafického prvku. Jeho naplnění je primárně věcí JS (JavaScriptu).</a:t>
            </a:r>
          </a:p>
          <a:p>
            <a:pPr marL="0" lvl="0" indent="0" fontAlgn="base">
              <a:spcAft>
                <a:spcPct val="0"/>
              </a:spcAft>
              <a:buNone/>
            </a:pP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spcAft>
                <a:spcPct val="0"/>
              </a:spcAft>
              <a:buNone/>
            </a:pPr>
            <a:r>
              <a:rPr lang="cs-CZ" dirty="0"/>
              <a:t>&lt;</a:t>
            </a:r>
            <a:r>
              <a:rPr lang="cs-CZ" dirty="0" err="1"/>
              <a:t>canvas</a:t>
            </a:r>
            <a:r>
              <a:rPr lang="cs-CZ" dirty="0"/>
              <a:t> id="</a:t>
            </a:r>
            <a:r>
              <a:rPr lang="cs-CZ" dirty="0" err="1"/>
              <a:t>myCanvas</a:t>
            </a:r>
            <a:r>
              <a:rPr lang="cs-CZ" dirty="0"/>
              <a:t>" </a:t>
            </a:r>
            <a:r>
              <a:rPr lang="cs-CZ" dirty="0" err="1"/>
              <a:t>width</a:t>
            </a:r>
            <a:r>
              <a:rPr lang="cs-CZ" dirty="0"/>
              <a:t>="200" </a:t>
            </a:r>
            <a:r>
              <a:rPr lang="cs-CZ" dirty="0" err="1"/>
              <a:t>height</a:t>
            </a:r>
            <a:r>
              <a:rPr lang="cs-CZ" dirty="0"/>
              <a:t>="100" style="border:1px solid #000000;"&gt;</a:t>
            </a:r>
            <a:br>
              <a:rPr lang="cs-CZ" dirty="0"/>
            </a:br>
            <a:r>
              <a:rPr lang="cs-CZ" dirty="0"/>
              <a:t>&lt;/</a:t>
            </a:r>
            <a:r>
              <a:rPr lang="cs-CZ" dirty="0" err="1"/>
              <a:t>canvas</a:t>
            </a:r>
            <a:r>
              <a:rPr lang="cs-CZ" dirty="0"/>
              <a:t>&gt; </a:t>
            </a:r>
          </a:p>
          <a:p>
            <a:pPr marL="0" indent="0" fontAlgn="base">
              <a:spcAft>
                <a:spcPct val="0"/>
              </a:spcAft>
              <a:buNone/>
            </a:pPr>
            <a:endParaRPr lang="cs-CZ" dirty="0"/>
          </a:p>
          <a:p>
            <a:pPr marL="0" indent="0" fontAlgn="base">
              <a:spcAft>
                <a:spcPct val="0"/>
              </a:spcAft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Příklad využití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canvasu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zde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zde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spcAft>
                <a:spcPct val="0"/>
              </a:spcAft>
              <a:buNone/>
            </a:pPr>
            <a:endParaRPr lang="cs-CZ" dirty="0"/>
          </a:p>
          <a:p>
            <a:pPr marL="0" lvl="0" indent="0" fontAlgn="base">
              <a:spcAft>
                <a:spcPct val="0"/>
              </a:spcAft>
              <a:buNone/>
            </a:pP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4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 fontAlgn="base">
              <a:spcAft>
                <a:spcPct val="0"/>
              </a:spcAft>
              <a:buNone/>
            </a:pPr>
            <a:endParaRPr lang="cs-CZ" dirty="0"/>
          </a:p>
          <a:p>
            <a:pPr marL="0" lvl="0" indent="0" fontAlgn="base">
              <a:spcAft>
                <a:spcPct val="0"/>
              </a:spcAft>
              <a:buNone/>
            </a:pP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71B3510-AED4-FF2E-658F-84A95E0BCEA3}"/>
              </a:ext>
            </a:extLst>
          </p:cNvPr>
          <p:cNvSpPr txBox="1"/>
          <p:nvPr/>
        </p:nvSpPr>
        <p:spPr>
          <a:xfrm>
            <a:off x="838198" y="1690688"/>
            <a:ext cx="84904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latin typeface="Consolas" panose="020B0609020204030204" pitchFamily="49" charset="0"/>
              </a:rPr>
              <a:t>&lt;</a:t>
            </a:r>
            <a:r>
              <a:rPr lang="cs-CZ" b="1" dirty="0">
                <a:solidFill>
                  <a:srgbClr val="7030A0"/>
                </a:solidFill>
                <a:latin typeface="Consolas" panose="020B0609020204030204" pitchFamily="49" charset="0"/>
              </a:rPr>
              <a:t>audio</a:t>
            </a:r>
            <a:r>
              <a:rPr lang="cs-CZ" b="1" dirty="0">
                <a:latin typeface="Consolas" panose="020B0609020204030204" pitchFamily="49" charset="0"/>
              </a:rPr>
              <a:t> </a:t>
            </a:r>
            <a:r>
              <a:rPr lang="cs-CZ" b="1" dirty="0" err="1">
                <a:latin typeface="Consolas" panose="020B0609020204030204" pitchFamily="49" charset="0"/>
              </a:rPr>
              <a:t>controls</a:t>
            </a:r>
            <a:r>
              <a:rPr lang="cs-CZ" dirty="0">
                <a:latin typeface="Consolas" panose="020B0609020204030204" pitchFamily="49" charset="0"/>
              </a:rPr>
              <a:t>&gt;</a:t>
            </a:r>
          </a:p>
          <a:p>
            <a:r>
              <a:rPr lang="cs-CZ" dirty="0">
                <a:latin typeface="Consolas" panose="020B0609020204030204" pitchFamily="49" charset="0"/>
              </a:rPr>
              <a:t>  &lt;</a:t>
            </a:r>
            <a:r>
              <a:rPr lang="cs-CZ" b="1" dirty="0">
                <a:latin typeface="Consolas" panose="020B0609020204030204" pitchFamily="49" charset="0"/>
              </a:rPr>
              <a:t>source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b="1" dirty="0" err="1">
                <a:latin typeface="Consolas" panose="020B0609020204030204" pitchFamily="49" charset="0"/>
              </a:rPr>
              <a:t>src</a:t>
            </a:r>
            <a:r>
              <a:rPr lang="cs-CZ" dirty="0">
                <a:latin typeface="Consolas" panose="020B0609020204030204" pitchFamily="49" charset="0"/>
              </a:rPr>
              <a:t>="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alenka_v_risi_divu.mp3</a:t>
            </a:r>
            <a:r>
              <a:rPr lang="cs-CZ" dirty="0">
                <a:latin typeface="Consolas" panose="020B0609020204030204" pitchFamily="49" charset="0"/>
              </a:rPr>
              <a:t>" </a:t>
            </a:r>
            <a:r>
              <a:rPr lang="cs-CZ" b="1" dirty="0">
                <a:latin typeface="Consolas" panose="020B0609020204030204" pitchFamily="49" charset="0"/>
              </a:rPr>
              <a:t>type</a:t>
            </a:r>
            <a:r>
              <a:rPr lang="cs-CZ" dirty="0">
                <a:latin typeface="Consolas" panose="020B0609020204030204" pitchFamily="49" charset="0"/>
              </a:rPr>
              <a:t>="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audio/</a:t>
            </a:r>
            <a:r>
              <a:rPr lang="cs-CZ" dirty="0" err="1">
                <a:solidFill>
                  <a:srgbClr val="00B050"/>
                </a:solidFill>
                <a:latin typeface="Consolas" panose="020B0609020204030204" pitchFamily="49" charset="0"/>
              </a:rPr>
              <a:t>mpeg</a:t>
            </a:r>
            <a:r>
              <a:rPr lang="cs-CZ" dirty="0">
                <a:latin typeface="Consolas" panose="020B0609020204030204" pitchFamily="49" charset="0"/>
              </a:rPr>
              <a:t>"&gt;</a:t>
            </a:r>
          </a:p>
          <a:p>
            <a:r>
              <a:rPr lang="cs-CZ" dirty="0">
                <a:latin typeface="Consolas" panose="020B0609020204030204" pitchFamily="49" charset="0"/>
              </a:rPr>
              <a:t>  &lt;!-- zde můžou být další zdroje - pro jiné formáty --&gt;</a:t>
            </a:r>
          </a:p>
          <a:p>
            <a:r>
              <a:rPr lang="cs-CZ" dirty="0">
                <a:latin typeface="Consolas" panose="020B0609020204030204" pitchFamily="49" charset="0"/>
              </a:rPr>
              <a:t>  Váš prohlížeč nepodporuje element audio</a:t>
            </a:r>
          </a:p>
          <a:p>
            <a:r>
              <a:rPr lang="cs-CZ" dirty="0">
                <a:latin typeface="Consolas" panose="020B0609020204030204" pitchFamily="49" charset="0"/>
              </a:rPr>
              <a:t>&lt;</a:t>
            </a:r>
            <a:r>
              <a:rPr lang="cs-CZ" b="1" dirty="0">
                <a:latin typeface="Consolas" panose="020B0609020204030204" pitchFamily="49" charset="0"/>
              </a:rPr>
              <a:t>/</a:t>
            </a:r>
            <a:r>
              <a:rPr lang="cs-CZ" b="1" dirty="0">
                <a:solidFill>
                  <a:srgbClr val="7030A0"/>
                </a:solidFill>
                <a:latin typeface="Consolas" panose="020B0609020204030204" pitchFamily="49" charset="0"/>
              </a:rPr>
              <a:t>audio</a:t>
            </a:r>
            <a:r>
              <a:rPr lang="cs-CZ" dirty="0">
                <a:latin typeface="Consolas" panose="020B0609020204030204" pitchFamily="49" charset="0"/>
              </a:rPr>
              <a:t>&gt;</a:t>
            </a:r>
          </a:p>
        </p:txBody>
      </p:sp>
      <p:graphicFrame>
        <p:nvGraphicFramePr>
          <p:cNvPr id="6" name="Zástupný symbol pro obsah 3">
            <a:extLst>
              <a:ext uri="{FF2B5EF4-FFF2-40B4-BE49-F238E27FC236}">
                <a16:creationId xmlns:a16="http://schemas.microsoft.com/office/drawing/2014/main" id="{DA79A809-9A5B-4963-A6D6-5896B7DE5C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9558944"/>
              </p:ext>
            </p:extLst>
          </p:nvPr>
        </p:nvGraphicFramePr>
        <p:xfrm>
          <a:off x="958361" y="3173854"/>
          <a:ext cx="6027365" cy="3442174"/>
        </p:xfrm>
        <a:graphic>
          <a:graphicData uri="http://schemas.openxmlformats.org/drawingml/2006/table">
            <a:tbl>
              <a:tblPr/>
              <a:tblGrid>
                <a:gridCol w="1334302">
                  <a:extLst>
                    <a:ext uri="{9D8B030D-6E8A-4147-A177-3AD203B41FA5}">
                      <a16:colId xmlns:a16="http://schemas.microsoft.com/office/drawing/2014/main" val="2463738477"/>
                    </a:ext>
                  </a:extLst>
                </a:gridCol>
                <a:gridCol w="1002008">
                  <a:extLst>
                    <a:ext uri="{9D8B030D-6E8A-4147-A177-3AD203B41FA5}">
                      <a16:colId xmlns:a16="http://schemas.microsoft.com/office/drawing/2014/main" val="765202297"/>
                    </a:ext>
                  </a:extLst>
                </a:gridCol>
                <a:gridCol w="3691055">
                  <a:extLst>
                    <a:ext uri="{9D8B030D-6E8A-4147-A177-3AD203B41FA5}">
                      <a16:colId xmlns:a16="http://schemas.microsoft.com/office/drawing/2014/main" val="3972392974"/>
                    </a:ext>
                  </a:extLst>
                </a:gridCol>
              </a:tblGrid>
              <a:tr h="329670"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 b="1" dirty="0">
                          <a:effectLst/>
                        </a:rPr>
                        <a:t>atribut</a:t>
                      </a:r>
                    </a:p>
                  </a:txBody>
                  <a:tcPr marL="90266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 b="1" dirty="0">
                          <a:effectLst/>
                        </a:rPr>
                        <a:t>hodnota</a:t>
                      </a: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 b="1" dirty="0">
                          <a:effectLst/>
                        </a:rPr>
                        <a:t>popis</a:t>
                      </a: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265661"/>
                  </a:ext>
                </a:extLst>
              </a:tr>
              <a:tr h="577719"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 dirty="0" err="1">
                          <a:effectLst/>
                          <a:hlinkClick r:id="rId2"/>
                        </a:rPr>
                        <a:t>autoplay</a:t>
                      </a:r>
                      <a:endParaRPr lang="cs-CZ" sz="1800" dirty="0">
                        <a:effectLst/>
                      </a:endParaRPr>
                    </a:p>
                  </a:txBody>
                  <a:tcPr marL="90266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>
                          <a:effectLst/>
                        </a:rPr>
                        <a:t>autoplay</a:t>
                      </a: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 dirty="0">
                          <a:effectLst/>
                        </a:rPr>
                        <a:t>Říká, zda má začít zvuk</a:t>
                      </a:r>
                      <a:r>
                        <a:rPr lang="cs-CZ" sz="1800" baseline="0" dirty="0">
                          <a:effectLst/>
                        </a:rPr>
                        <a:t> hrát okamžitě po načtení</a:t>
                      </a:r>
                      <a:endParaRPr lang="en-US" sz="1800" dirty="0">
                        <a:effectLst/>
                      </a:endParaRP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8685"/>
                  </a:ext>
                </a:extLst>
              </a:tr>
              <a:tr h="765440"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>
                          <a:effectLst/>
                          <a:hlinkClick r:id="rId3"/>
                        </a:rPr>
                        <a:t>controls</a:t>
                      </a:r>
                      <a:endParaRPr lang="cs-CZ" sz="1800">
                        <a:effectLst/>
                      </a:endParaRPr>
                    </a:p>
                  </a:txBody>
                  <a:tcPr marL="90266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>
                          <a:effectLst/>
                        </a:rPr>
                        <a:t>controls</a:t>
                      </a: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 dirty="0">
                          <a:effectLst/>
                        </a:rPr>
                        <a:t>Udává, zda mají</a:t>
                      </a:r>
                      <a:r>
                        <a:rPr lang="cs-CZ" sz="1800" baseline="0" dirty="0">
                          <a:effectLst/>
                        </a:rPr>
                        <a:t> být vidět ovládací prvky přehrávače</a:t>
                      </a:r>
                      <a:endParaRPr lang="en-US" sz="1800" dirty="0">
                        <a:effectLst/>
                      </a:endParaRP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358745"/>
                  </a:ext>
                </a:extLst>
              </a:tr>
              <a:tr h="765440"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>
                          <a:effectLst/>
                          <a:hlinkClick r:id="rId4"/>
                        </a:rPr>
                        <a:t>loop</a:t>
                      </a:r>
                      <a:endParaRPr lang="cs-CZ" sz="1800">
                        <a:effectLst/>
                      </a:endParaRPr>
                    </a:p>
                  </a:txBody>
                  <a:tcPr marL="90266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>
                          <a:effectLst/>
                        </a:rPr>
                        <a:t>loop</a:t>
                      </a: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 dirty="0">
                          <a:effectLst/>
                        </a:rPr>
                        <a:t>Rozhoduje, zda se má zvuk</a:t>
                      </a:r>
                      <a:r>
                        <a:rPr lang="cs-CZ" sz="1800" baseline="0" dirty="0">
                          <a:effectLst/>
                        </a:rPr>
                        <a:t> přehrávat kolem dokola</a:t>
                      </a:r>
                      <a:endParaRPr lang="en-US" sz="1800" dirty="0">
                        <a:effectLst/>
                      </a:endParaRP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17652"/>
                  </a:ext>
                </a:extLst>
              </a:tr>
              <a:tr h="543216"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>
                          <a:effectLst/>
                          <a:hlinkClick r:id="rId5"/>
                        </a:rPr>
                        <a:t>muted</a:t>
                      </a:r>
                      <a:endParaRPr lang="cs-CZ" sz="1800">
                        <a:effectLst/>
                      </a:endParaRPr>
                    </a:p>
                  </a:txBody>
                  <a:tcPr marL="90266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>
                          <a:effectLst/>
                        </a:rPr>
                        <a:t>muted</a:t>
                      </a: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 dirty="0">
                          <a:effectLst/>
                        </a:rPr>
                        <a:t>Zvuk má být při načtení ztlumený</a:t>
                      </a:r>
                      <a:endParaRPr lang="en-US" sz="1800" dirty="0">
                        <a:effectLst/>
                      </a:endParaRP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47330"/>
                  </a:ext>
                </a:extLst>
              </a:tr>
              <a:tr h="329670"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 dirty="0" err="1">
                          <a:effectLst/>
                          <a:hlinkClick r:id="rId6"/>
                        </a:rPr>
                        <a:t>src</a:t>
                      </a:r>
                      <a:endParaRPr lang="cs-CZ" sz="1800" dirty="0">
                        <a:effectLst/>
                      </a:endParaRPr>
                    </a:p>
                  </a:txBody>
                  <a:tcPr marL="90266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 i="1">
                          <a:effectLst/>
                        </a:rPr>
                        <a:t>URL</a:t>
                      </a:r>
                      <a:endParaRPr lang="cs-CZ" sz="1800">
                        <a:effectLst/>
                      </a:endParaRP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sz="1800" dirty="0">
                          <a:effectLst/>
                        </a:rPr>
                        <a:t>URL </a:t>
                      </a:r>
                      <a:r>
                        <a:rPr lang="cs-CZ" sz="1800" dirty="0" err="1">
                          <a:effectLst/>
                        </a:rPr>
                        <a:t>audiosouboru</a:t>
                      </a:r>
                      <a:endParaRPr lang="en-US" sz="1800" dirty="0">
                        <a:effectLst/>
                      </a:endParaRPr>
                    </a:p>
                  </a:txBody>
                  <a:tcPr marL="45133" marR="45133" marT="45133" marB="45133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951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279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19D148B6-A725-40F8-46AE-C18575BC6ADB}"/>
              </a:ext>
            </a:extLst>
          </p:cNvPr>
          <p:cNvSpPr txBox="1"/>
          <p:nvPr/>
        </p:nvSpPr>
        <p:spPr>
          <a:xfrm>
            <a:off x="838200" y="1614610"/>
            <a:ext cx="78009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&lt;</a:t>
            </a:r>
            <a:r>
              <a:rPr lang="cs-CZ" b="1" dirty="0">
                <a:solidFill>
                  <a:srgbClr val="7030A0"/>
                </a:solidFill>
                <a:latin typeface="Consolas" panose="020B0609020204030204" pitchFamily="49" charset="0"/>
              </a:rPr>
              <a:t>video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b="1" dirty="0" err="1">
                <a:latin typeface="Consolas" panose="020B0609020204030204" pitchFamily="49" charset="0"/>
              </a:rPr>
              <a:t>width</a:t>
            </a:r>
            <a:r>
              <a:rPr lang="cs-CZ" dirty="0">
                <a:latin typeface="Consolas" panose="020B0609020204030204" pitchFamily="49" charset="0"/>
              </a:rPr>
              <a:t>="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648</a:t>
            </a:r>
            <a:r>
              <a:rPr lang="cs-CZ" dirty="0">
                <a:latin typeface="Consolas" panose="020B0609020204030204" pitchFamily="49" charset="0"/>
              </a:rPr>
              <a:t>" </a:t>
            </a:r>
            <a:r>
              <a:rPr lang="cs-CZ" b="1" dirty="0" err="1">
                <a:latin typeface="Consolas" panose="020B0609020204030204" pitchFamily="49" charset="0"/>
              </a:rPr>
              <a:t>height</a:t>
            </a:r>
            <a:r>
              <a:rPr lang="cs-CZ" dirty="0">
                <a:latin typeface="Consolas" panose="020B0609020204030204" pitchFamily="49" charset="0"/>
              </a:rPr>
              <a:t>="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480</a:t>
            </a:r>
            <a:r>
              <a:rPr lang="cs-CZ" dirty="0">
                <a:latin typeface="Consolas" panose="020B0609020204030204" pitchFamily="49" charset="0"/>
              </a:rPr>
              <a:t>" </a:t>
            </a:r>
            <a:r>
              <a:rPr lang="cs-CZ" b="1" dirty="0" err="1">
                <a:latin typeface="Consolas" panose="020B0609020204030204" pitchFamily="49" charset="0"/>
              </a:rPr>
              <a:t>controls</a:t>
            </a:r>
            <a:r>
              <a:rPr lang="cs-CZ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  &lt;</a:t>
            </a:r>
            <a:r>
              <a:rPr lang="cs-CZ" b="1" dirty="0">
                <a:solidFill>
                  <a:srgbClr val="7030A0"/>
                </a:solidFill>
                <a:latin typeface="Consolas" panose="020B0609020204030204" pitchFamily="49" charset="0"/>
              </a:rPr>
              <a:t>source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b="1" dirty="0" err="1">
                <a:latin typeface="Consolas" panose="020B0609020204030204" pitchFamily="49" charset="0"/>
              </a:rPr>
              <a:t>src</a:t>
            </a:r>
            <a:r>
              <a:rPr lang="cs-CZ" dirty="0">
                <a:latin typeface="Consolas" panose="020B0609020204030204" pitchFamily="49" charset="0"/>
              </a:rPr>
              <a:t>="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alenka_v_risi_divu.mp4</a:t>
            </a:r>
            <a:r>
              <a:rPr lang="cs-CZ" dirty="0">
                <a:latin typeface="Consolas" panose="020B0609020204030204" pitchFamily="49" charset="0"/>
              </a:rPr>
              <a:t>" </a:t>
            </a:r>
            <a:r>
              <a:rPr lang="cs-CZ" b="1" dirty="0">
                <a:latin typeface="Consolas" panose="020B0609020204030204" pitchFamily="49" charset="0"/>
              </a:rPr>
              <a:t>type</a:t>
            </a:r>
            <a:r>
              <a:rPr lang="cs-CZ" dirty="0">
                <a:latin typeface="Consolas" panose="020B0609020204030204" pitchFamily="49" charset="0"/>
              </a:rPr>
              <a:t>="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video/mp4</a:t>
            </a:r>
            <a:r>
              <a:rPr lang="cs-CZ" dirty="0">
                <a:latin typeface="Consolas" panose="020B0609020204030204" pitchFamily="49" charset="0"/>
              </a:rPr>
              <a:t>"&gt;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  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</a:rPr>
              <a:t>&lt;!-- zde můžou být další zdroje - pro jiné formáty --&gt;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  Váš prohlížeč nepodporuje element video</a:t>
            </a:r>
          </a:p>
          <a:p>
            <a:pPr marL="0" indent="0">
              <a:buNone/>
            </a:pPr>
            <a:r>
              <a:rPr lang="cs-CZ" dirty="0">
                <a:latin typeface="Consolas" panose="020B0609020204030204" pitchFamily="49" charset="0"/>
              </a:rPr>
              <a:t>&lt;/</a:t>
            </a:r>
            <a:r>
              <a:rPr lang="cs-CZ" b="1" dirty="0">
                <a:solidFill>
                  <a:srgbClr val="7030A0"/>
                </a:solidFill>
                <a:latin typeface="Consolas" panose="020B0609020204030204" pitchFamily="49" charset="0"/>
              </a:rPr>
              <a:t>video</a:t>
            </a:r>
            <a:r>
              <a:rPr lang="cs-CZ" dirty="0"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01229221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2266</TotalTime>
  <Words>380</Words>
  <Application>Microsoft Office PowerPoint</Application>
  <PresentationFormat>Širokoúhlá obrazovka</PresentationFormat>
  <Paragraphs>57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Consolas</vt:lpstr>
      <vt:lpstr>Times New Roman</vt:lpstr>
      <vt:lpstr>Motiv Office</vt:lpstr>
      <vt:lpstr>Vkládání objektů</vt:lpstr>
      <vt:lpstr>Iframe</vt:lpstr>
      <vt:lpstr>Iframe – příklady</vt:lpstr>
      <vt:lpstr>SVG (Scalable Vector Graphics)</vt:lpstr>
      <vt:lpstr>Canvas</vt:lpstr>
      <vt:lpstr>Audio</vt:lpstr>
      <vt:lpstr>Video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178</cp:revision>
  <dcterms:created xsi:type="dcterms:W3CDTF">2020-09-17T19:44:13Z</dcterms:created>
  <dcterms:modified xsi:type="dcterms:W3CDTF">2023-09-18T09:28:41Z</dcterms:modified>
</cp:coreProperties>
</file>