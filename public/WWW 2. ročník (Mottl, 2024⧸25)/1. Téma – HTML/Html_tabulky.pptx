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řední styl 2 – zvýraznění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7" y="11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4EA071-4238-4B66-A98D-261649AA5140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F4E4C-77D6-4A31-ADE7-1131768132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35786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4143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999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99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180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812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487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07187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669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710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4083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1725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0629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0560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269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7579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0385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E290B-2998-4E0F-A0AB-BB9A0BCDD482}" type="datetimeFigureOut">
              <a:rPr lang="cs-CZ" smtClean="0"/>
              <a:t>25.09.2023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1818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242392" y="2404534"/>
            <a:ext cx="8478078" cy="1646302"/>
          </a:xfrm>
        </p:spPr>
        <p:txBody>
          <a:bodyPr/>
          <a:lstStyle/>
          <a:p>
            <a:r>
              <a:rPr lang="en-US" dirty="0" err="1"/>
              <a:t>Tabulky</a:t>
            </a:r>
            <a:r>
              <a:rPr lang="en-US" dirty="0"/>
              <a:t> v HTML</a:t>
            </a:r>
            <a:endParaRPr lang="cs-CZ" dirty="0"/>
          </a:p>
        </p:txBody>
      </p:sp>
      <p:sp>
        <p:nvSpPr>
          <p:cNvPr id="4" name="Podnadpis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Úvod do jazyka HTML</a:t>
            </a:r>
          </a:p>
        </p:txBody>
      </p:sp>
    </p:spTree>
    <p:extLst>
      <p:ext uri="{BB962C8B-B14F-4D97-AF65-F5344CB8AC3E}">
        <p14:creationId xmlns:p14="http://schemas.microsoft.com/office/powerpoint/2010/main" val="82796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</a:t>
            </a:r>
            <a:r>
              <a:rPr lang="cs-CZ" dirty="0"/>
              <a:t>čemu tabulka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7334" y="1532709"/>
            <a:ext cx="8596668" cy="450865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sz="2800" i="1" dirty="0"/>
              <a:t>K zobrazení dat tabulkového typu</a:t>
            </a:r>
          </a:p>
          <a:p>
            <a:pPr marL="0" indent="0">
              <a:buNone/>
            </a:pPr>
            <a:endParaRPr lang="cs-CZ" sz="2800" dirty="0"/>
          </a:p>
          <a:p>
            <a:r>
              <a:rPr lang="cs-CZ" sz="2800" dirty="0"/>
              <a:t>Čísla</a:t>
            </a:r>
          </a:p>
          <a:p>
            <a:r>
              <a:rPr lang="cs-CZ" sz="2800" dirty="0"/>
              <a:t>Hospodaření</a:t>
            </a:r>
          </a:p>
          <a:p>
            <a:r>
              <a:rPr lang="cs-CZ" sz="2800" dirty="0"/>
              <a:t>apod.</a:t>
            </a:r>
          </a:p>
          <a:p>
            <a:endParaRPr lang="cs-CZ" sz="2800" dirty="0"/>
          </a:p>
          <a:p>
            <a:pPr marL="0" indent="0">
              <a:buNone/>
            </a:pPr>
            <a:r>
              <a:rPr lang="cs-CZ" sz="2800" b="1" i="1" dirty="0"/>
              <a:t>Ale ne k</a:t>
            </a:r>
          </a:p>
          <a:p>
            <a:pPr marL="0" indent="0">
              <a:buNone/>
            </a:pPr>
            <a:endParaRPr lang="cs-CZ" sz="2800" dirty="0"/>
          </a:p>
          <a:p>
            <a:r>
              <a:rPr lang="cs-CZ" sz="2800" dirty="0"/>
              <a:t>Formátování stránky</a:t>
            </a:r>
          </a:p>
          <a:p>
            <a:r>
              <a:rPr lang="cs-CZ" sz="2800" dirty="0"/>
              <a:t>Rozložení obsahu atd.</a:t>
            </a:r>
          </a:p>
          <a:p>
            <a:r>
              <a:rPr lang="cs-CZ" sz="2800" dirty="0"/>
              <a:t>Vypisování prostých seznamů (máme </a:t>
            </a:r>
            <a:r>
              <a:rPr lang="cs-CZ" sz="2800" dirty="0" err="1"/>
              <a:t>ul</a:t>
            </a:r>
            <a:r>
              <a:rPr lang="cs-CZ" sz="2800" dirty="0"/>
              <a:t>, </a:t>
            </a:r>
            <a:r>
              <a:rPr lang="cs-CZ" sz="2800" dirty="0" err="1"/>
              <a:t>ol</a:t>
            </a:r>
            <a:r>
              <a:rPr lang="cs-CZ" sz="2800" dirty="0"/>
              <a:t> atd.)</a:t>
            </a:r>
          </a:p>
        </p:txBody>
      </p:sp>
    </p:spTree>
    <p:extLst>
      <p:ext uri="{BB962C8B-B14F-4D97-AF65-F5344CB8AC3E}">
        <p14:creationId xmlns:p14="http://schemas.microsoft.com/office/powerpoint/2010/main" val="3627411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prvky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7334" y="1930401"/>
            <a:ext cx="10270066" cy="4699000"/>
          </a:xfrm>
        </p:spPr>
        <p:txBody>
          <a:bodyPr>
            <a:noAutofit/>
          </a:bodyPr>
          <a:lstStyle/>
          <a:p>
            <a:r>
              <a:rPr lang="cs-CZ" sz="1600" dirty="0"/>
              <a:t>Tabulka &lt;table&gt;</a:t>
            </a:r>
          </a:p>
          <a:p>
            <a:r>
              <a:rPr lang="cs-CZ" sz="1600" dirty="0"/>
              <a:t>V ní jeden nebo více řádků &lt;</a:t>
            </a:r>
            <a:r>
              <a:rPr lang="cs-CZ" sz="1600" dirty="0" err="1"/>
              <a:t>tr</a:t>
            </a:r>
            <a:r>
              <a:rPr lang="cs-CZ" sz="1600" dirty="0"/>
              <a:t>&gt;</a:t>
            </a:r>
          </a:p>
          <a:p>
            <a:r>
              <a:rPr lang="cs-CZ" sz="1600" dirty="0"/>
              <a:t>V každém jedna nebo více buněk &lt;</a:t>
            </a:r>
            <a:r>
              <a:rPr lang="cs-CZ" sz="1600" dirty="0" err="1"/>
              <a:t>td</a:t>
            </a:r>
            <a:r>
              <a:rPr lang="cs-CZ" sz="1600" dirty="0"/>
              <a:t>&gt;</a:t>
            </a:r>
          </a:p>
          <a:p>
            <a:pPr marL="0" indent="0">
              <a:buNone/>
            </a:pPr>
            <a:endParaRPr lang="cs-CZ" sz="1600" dirty="0"/>
          </a:p>
          <a:p>
            <a:pPr marL="0" indent="0">
              <a:buNone/>
            </a:pPr>
            <a:endParaRPr lang="cs-CZ" sz="1600" dirty="0"/>
          </a:p>
        </p:txBody>
      </p:sp>
      <p:sp>
        <p:nvSpPr>
          <p:cNvPr id="4" name="Obdélník 3"/>
          <p:cNvSpPr/>
          <p:nvPr/>
        </p:nvSpPr>
        <p:spPr>
          <a:xfrm>
            <a:off x="5812367" y="1828087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table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 err="1">
                <a:solidFill>
                  <a:srgbClr val="A52A2A"/>
                </a:solidFill>
              </a:rPr>
              <a:t>tr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</a:t>
            </a:r>
            <a:r>
              <a:rPr lang="cs-CZ" dirty="0">
                <a:solidFill>
                  <a:srgbClr val="A52A2A"/>
                </a:solidFill>
              </a:rPr>
              <a:t>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cs-CZ" dirty="0"/>
              <a:t>Jméno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</a:t>
            </a:r>
            <a:r>
              <a:rPr lang="cs-CZ" dirty="0">
                <a:solidFill>
                  <a:srgbClr val="A52A2A"/>
                </a:solidFill>
              </a:rPr>
              <a:t>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</a:t>
            </a:r>
            <a:r>
              <a:rPr lang="cs-CZ" dirty="0">
                <a:solidFill>
                  <a:srgbClr val="A52A2A"/>
                </a:solidFill>
              </a:rPr>
              <a:t>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cs-CZ" dirty="0"/>
              <a:t>Příjmení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</a:t>
            </a:r>
            <a:r>
              <a:rPr lang="cs-CZ" dirty="0">
                <a:solidFill>
                  <a:srgbClr val="A52A2A"/>
                </a:solidFill>
              </a:rPr>
              <a:t>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</a:t>
            </a:r>
            <a:r>
              <a:rPr lang="cs-CZ" dirty="0">
                <a:solidFill>
                  <a:srgbClr val="A52A2A"/>
                </a:solidFill>
              </a:rPr>
              <a:t>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cs-CZ" dirty="0"/>
              <a:t>Věk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</a:t>
            </a:r>
            <a:r>
              <a:rPr lang="cs-CZ" dirty="0">
                <a:solidFill>
                  <a:srgbClr val="A52A2A"/>
                </a:solidFill>
              </a:rPr>
              <a:t>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</a:t>
            </a:r>
            <a:r>
              <a:rPr lang="en-US" dirty="0" err="1">
                <a:solidFill>
                  <a:srgbClr val="A52A2A"/>
                </a:solidFill>
              </a:rPr>
              <a:t>tr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 err="1">
                <a:solidFill>
                  <a:srgbClr val="A52A2A"/>
                </a:solidFill>
              </a:rPr>
              <a:t>tr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 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>J</a:t>
            </a:r>
            <a:r>
              <a:rPr lang="cs-CZ" dirty="0" err="1"/>
              <a:t>an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cs-CZ" dirty="0"/>
              <a:t>Černý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cs-CZ" dirty="0"/>
              <a:t>33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</a:t>
            </a:r>
            <a:r>
              <a:rPr lang="en-US" dirty="0" err="1">
                <a:solidFill>
                  <a:srgbClr val="A52A2A"/>
                </a:solidFill>
              </a:rPr>
              <a:t>tr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 err="1">
                <a:solidFill>
                  <a:srgbClr val="A52A2A"/>
                </a:solidFill>
              </a:rPr>
              <a:t>tr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 err="1"/>
              <a:t>Ev</a:t>
            </a:r>
            <a:r>
              <a:rPr lang="cs-CZ" dirty="0"/>
              <a:t>a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cs-CZ" dirty="0"/>
              <a:t>Kalendová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cs-CZ" dirty="0"/>
              <a:t>17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</a:t>
            </a:r>
            <a:r>
              <a:rPr lang="en-US" dirty="0" err="1">
                <a:solidFill>
                  <a:srgbClr val="A52A2A"/>
                </a:solidFill>
              </a:rPr>
              <a:t>tr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/table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7908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Sémantika – nadpis není text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7334" y="2160589"/>
            <a:ext cx="4678437" cy="3880773"/>
          </a:xfrm>
        </p:spPr>
        <p:txBody>
          <a:bodyPr/>
          <a:lstStyle/>
          <a:p>
            <a:r>
              <a:rPr lang="cs-CZ" dirty="0"/>
              <a:t>Některá políčka tabulky jsou nadpisy – je vhodné takové buňky označit </a:t>
            </a:r>
          </a:p>
          <a:p>
            <a:r>
              <a:rPr lang="cs-CZ" dirty="0"/>
              <a:t>Místo &lt;</a:t>
            </a:r>
            <a:r>
              <a:rPr lang="cs-CZ" dirty="0" err="1"/>
              <a:t>td</a:t>
            </a:r>
            <a:r>
              <a:rPr lang="cs-CZ" dirty="0"/>
              <a:t>&gt; použijeme &lt;</a:t>
            </a:r>
            <a:r>
              <a:rPr lang="cs-CZ" dirty="0" err="1"/>
              <a:t>th</a:t>
            </a:r>
            <a:r>
              <a:rPr lang="cs-CZ" dirty="0"/>
              <a:t>&gt;</a:t>
            </a:r>
          </a:p>
        </p:txBody>
      </p:sp>
      <p:sp>
        <p:nvSpPr>
          <p:cNvPr id="4" name="Obdélník 3"/>
          <p:cNvSpPr/>
          <p:nvPr/>
        </p:nvSpPr>
        <p:spPr>
          <a:xfrm>
            <a:off x="5699156" y="1700318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table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 err="1">
                <a:solidFill>
                  <a:srgbClr val="A52A2A"/>
                </a:solidFill>
              </a:rPr>
              <a:t>tr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</a:t>
            </a:r>
            <a:r>
              <a:rPr lang="cs-CZ" dirty="0">
                <a:solidFill>
                  <a:srgbClr val="A52A2A"/>
                </a:solidFill>
              </a:rPr>
              <a:t>h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cs-CZ" dirty="0"/>
              <a:t>Jméno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</a:t>
            </a:r>
            <a:r>
              <a:rPr lang="cs-CZ" dirty="0">
                <a:solidFill>
                  <a:srgbClr val="A52A2A"/>
                </a:solidFill>
              </a:rPr>
              <a:t>h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</a:t>
            </a:r>
            <a:r>
              <a:rPr lang="cs-CZ" dirty="0">
                <a:solidFill>
                  <a:srgbClr val="A52A2A"/>
                </a:solidFill>
              </a:rPr>
              <a:t>h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cs-CZ" dirty="0"/>
              <a:t>Příjmení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</a:t>
            </a:r>
            <a:r>
              <a:rPr lang="cs-CZ" dirty="0">
                <a:solidFill>
                  <a:srgbClr val="A52A2A"/>
                </a:solidFill>
              </a:rPr>
              <a:t>h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</a:t>
            </a:r>
            <a:r>
              <a:rPr lang="cs-CZ" dirty="0">
                <a:solidFill>
                  <a:srgbClr val="A52A2A"/>
                </a:solidFill>
              </a:rPr>
              <a:t>h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cs-CZ" dirty="0"/>
              <a:t>Věk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</a:t>
            </a:r>
            <a:r>
              <a:rPr lang="cs-CZ" dirty="0">
                <a:solidFill>
                  <a:srgbClr val="A52A2A"/>
                </a:solidFill>
              </a:rPr>
              <a:t>h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</a:t>
            </a:r>
            <a:r>
              <a:rPr lang="en-US" dirty="0" err="1">
                <a:solidFill>
                  <a:srgbClr val="A52A2A"/>
                </a:solidFill>
              </a:rPr>
              <a:t>tr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 err="1">
                <a:solidFill>
                  <a:srgbClr val="A52A2A"/>
                </a:solidFill>
              </a:rPr>
              <a:t>tr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 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>J</a:t>
            </a:r>
            <a:r>
              <a:rPr lang="cs-CZ" dirty="0" err="1"/>
              <a:t>an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cs-CZ" dirty="0"/>
              <a:t>Černý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cs-CZ" dirty="0"/>
              <a:t>33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</a:t>
            </a:r>
            <a:r>
              <a:rPr lang="en-US" dirty="0" err="1">
                <a:solidFill>
                  <a:srgbClr val="A52A2A"/>
                </a:solidFill>
              </a:rPr>
              <a:t>tr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 err="1">
                <a:solidFill>
                  <a:srgbClr val="A52A2A"/>
                </a:solidFill>
              </a:rPr>
              <a:t>tr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 err="1"/>
              <a:t>Ev</a:t>
            </a:r>
            <a:r>
              <a:rPr lang="cs-CZ" dirty="0"/>
              <a:t>a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cs-CZ" dirty="0"/>
              <a:t>Kalendová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cs-CZ" dirty="0"/>
              <a:t>17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/td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</a:t>
            </a:r>
            <a:r>
              <a:rPr lang="en-US" dirty="0" err="1">
                <a:solidFill>
                  <a:srgbClr val="A52A2A"/>
                </a:solidFill>
              </a:rPr>
              <a:t>tr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/table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4478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Slučování buněk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cs-CZ" dirty="0"/>
              <a:t>Parametr </a:t>
            </a:r>
            <a:r>
              <a:rPr lang="cs-CZ" dirty="0" err="1"/>
              <a:t>colspan</a:t>
            </a:r>
            <a:r>
              <a:rPr lang="cs-CZ" dirty="0"/>
              <a:t> říká „přes kolik sloupců se buňka spojí“</a:t>
            </a:r>
          </a:p>
          <a:p>
            <a:r>
              <a:rPr lang="cs-CZ" dirty="0"/>
              <a:t>&lt;</a:t>
            </a:r>
            <a:r>
              <a:rPr lang="cs-CZ" dirty="0" err="1"/>
              <a:t>td</a:t>
            </a:r>
            <a:r>
              <a:rPr lang="cs-CZ" dirty="0"/>
              <a:t> </a:t>
            </a:r>
            <a:r>
              <a:rPr lang="cs-CZ" dirty="0" err="1"/>
              <a:t>colspan</a:t>
            </a:r>
            <a:r>
              <a:rPr lang="cs-CZ" dirty="0"/>
              <a:t>='5'&gt;</a:t>
            </a:r>
          </a:p>
        </p:txBody>
      </p:sp>
      <p:graphicFrame>
        <p:nvGraphicFramePr>
          <p:cNvPr id="7" name="Zástupný symbol pro obsah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74086749"/>
              </p:ext>
            </p:extLst>
          </p:nvPr>
        </p:nvGraphicFramePr>
        <p:xfrm>
          <a:off x="5063399" y="1533567"/>
          <a:ext cx="5979066" cy="4135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2522">
                  <a:extLst>
                    <a:ext uri="{9D8B030D-6E8A-4147-A177-3AD203B41FA5}">
                      <a16:colId xmlns:a16="http://schemas.microsoft.com/office/drawing/2014/main" val="4092179218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1997611186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551947619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4148115905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4037374578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2211316125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3110653784"/>
                    </a:ext>
                  </a:extLst>
                </a:gridCol>
              </a:tblGrid>
              <a:tr h="348650">
                <a:tc>
                  <a:txBody>
                    <a:bodyPr/>
                    <a:lstStyle/>
                    <a:p>
                      <a:pPr algn="ctr" fontAlgn="b"/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</a:rPr>
                        <a:t>Obrat v mil.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518471"/>
                  </a:ext>
                </a:extLst>
              </a:tr>
              <a:tr h="348650">
                <a:tc>
                  <a:txBody>
                    <a:bodyPr/>
                    <a:lstStyle/>
                    <a:p>
                      <a:pPr algn="ctr" fontAlgn="b"/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</a:rPr>
                        <a:t>Rok 2013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</a:rPr>
                        <a:t>Rok 2014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</a:rPr>
                        <a:t>Rok 2015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113115"/>
                  </a:ext>
                </a:extLst>
              </a:tr>
              <a:tr h="348650">
                <a:tc>
                  <a:txBody>
                    <a:bodyPr/>
                    <a:lstStyle/>
                    <a:p>
                      <a:pPr algn="ctr" fontAlgn="b"/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</a:rPr>
                        <a:t>1. </a:t>
                      </a:r>
                      <a:r>
                        <a:rPr lang="cs-CZ" sz="1800" b="1" u="none" strike="noStrike" dirty="0" err="1">
                          <a:effectLst/>
                        </a:rPr>
                        <a:t>pol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</a:rPr>
                        <a:t>2. </a:t>
                      </a:r>
                      <a:r>
                        <a:rPr lang="cs-CZ" sz="1800" b="1" u="none" strike="noStrike" dirty="0" err="1">
                          <a:effectLst/>
                        </a:rPr>
                        <a:t>pol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>
                          <a:effectLst/>
                        </a:rPr>
                        <a:t>1. pol</a:t>
                      </a:r>
                      <a:endParaRPr lang="cs-CZ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>
                          <a:effectLst/>
                        </a:rPr>
                        <a:t>2. pol</a:t>
                      </a:r>
                      <a:endParaRPr lang="cs-CZ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>
                          <a:effectLst/>
                        </a:rPr>
                        <a:t>1. pol</a:t>
                      </a:r>
                      <a:endParaRPr lang="cs-CZ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</a:rPr>
                        <a:t>2. </a:t>
                      </a:r>
                      <a:r>
                        <a:rPr lang="cs-CZ" sz="1800" b="1" u="none" strike="noStrike" dirty="0" err="1">
                          <a:effectLst/>
                        </a:rPr>
                        <a:t>pol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407982"/>
                  </a:ext>
                </a:extLst>
              </a:tr>
              <a:tr h="685278"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</a:rPr>
                        <a:t>Divize sušenek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13,2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15,6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15,8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14,9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15,6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15,9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950459"/>
                  </a:ext>
                </a:extLst>
              </a:tr>
              <a:tr h="685278"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</a:rPr>
                        <a:t>Divize lízátek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2,4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</a:rPr>
                        <a:t>2,5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3,1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3,0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3,4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</a:rPr>
                        <a:t>3,9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560815"/>
                  </a:ext>
                </a:extLst>
              </a:tr>
              <a:tr h="685278"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</a:rPr>
                        <a:t>Divize čokolád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</a:rPr>
                        <a:t>22,7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</a:rPr>
                        <a:t>24,8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25,1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</a:rPr>
                        <a:t>23,1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24,9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</a:rPr>
                        <a:t>25,7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3617987"/>
                  </a:ext>
                </a:extLst>
              </a:tr>
              <a:tr h="348650"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</a:rPr>
                        <a:t>Celkem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</a:rPr>
                        <a:t>38,3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</a:rPr>
                        <a:t>42,9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</a:rPr>
                        <a:t>44,0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41,0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43,9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</a:rPr>
                        <a:t>45,5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580620"/>
                  </a:ext>
                </a:extLst>
              </a:tr>
              <a:tr h="685278"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</a:rPr>
                        <a:t>Celkem za rok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81,2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85,0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89,4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196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726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Slučování buněk přes řádky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cs-CZ" dirty="0"/>
              <a:t>Parametr </a:t>
            </a:r>
            <a:r>
              <a:rPr lang="cs-CZ" dirty="0" err="1"/>
              <a:t>rowspan</a:t>
            </a:r>
            <a:r>
              <a:rPr lang="cs-CZ" dirty="0"/>
              <a:t> říká „přes kolik řádků se buňka spojí“</a:t>
            </a:r>
          </a:p>
          <a:p>
            <a:r>
              <a:rPr lang="cs-CZ" dirty="0"/>
              <a:t>&lt;</a:t>
            </a:r>
            <a:r>
              <a:rPr lang="cs-CZ" dirty="0" err="1"/>
              <a:t>td</a:t>
            </a:r>
            <a:r>
              <a:rPr lang="cs-CZ" dirty="0"/>
              <a:t> </a:t>
            </a:r>
            <a:r>
              <a:rPr lang="cs-CZ" dirty="0" err="1"/>
              <a:t>rowspan</a:t>
            </a:r>
            <a:r>
              <a:rPr lang="cs-CZ" dirty="0"/>
              <a:t>='2'&gt;</a:t>
            </a:r>
          </a:p>
        </p:txBody>
      </p:sp>
      <p:graphicFrame>
        <p:nvGraphicFramePr>
          <p:cNvPr id="8" name="Zástupný symbol pro obsah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19515301"/>
              </p:ext>
            </p:extLst>
          </p:nvPr>
        </p:nvGraphicFramePr>
        <p:xfrm>
          <a:off x="5089525" y="2160588"/>
          <a:ext cx="5979066" cy="4135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2522">
                  <a:extLst>
                    <a:ext uri="{9D8B030D-6E8A-4147-A177-3AD203B41FA5}">
                      <a16:colId xmlns:a16="http://schemas.microsoft.com/office/drawing/2014/main" val="4092179218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1997611186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551947619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4148115905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4037374578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2211316125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3110653784"/>
                    </a:ext>
                  </a:extLst>
                </a:gridCol>
              </a:tblGrid>
              <a:tr h="348650">
                <a:tc>
                  <a:txBody>
                    <a:bodyPr/>
                    <a:lstStyle/>
                    <a:p>
                      <a:pPr algn="ctr" fontAlgn="b"/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Obrat v mil.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518471"/>
                  </a:ext>
                </a:extLst>
              </a:tr>
              <a:tr h="34865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cs-CZ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Divize</a:t>
                      </a: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Rok 2013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Rok 2014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Rok 2015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113115"/>
                  </a:ext>
                </a:extLst>
              </a:tr>
              <a:tr h="348650">
                <a:tc vMerge="1">
                  <a:txBody>
                    <a:bodyPr/>
                    <a:lstStyle/>
                    <a:p>
                      <a:pPr algn="ctr" fontAlgn="b"/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1. </a:t>
                      </a:r>
                      <a:r>
                        <a:rPr lang="cs-CZ" sz="1800" b="1" u="none" strike="noStrike" dirty="0" err="1">
                          <a:effectLst/>
                          <a:latin typeface="+mn-lt"/>
                        </a:rPr>
                        <a:t>pol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>
                          <a:effectLst/>
                          <a:latin typeface="+mn-lt"/>
                        </a:rPr>
                        <a:t>2. pol</a:t>
                      </a:r>
                      <a:endParaRPr lang="cs-CZ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>
                          <a:effectLst/>
                          <a:latin typeface="+mn-lt"/>
                        </a:rPr>
                        <a:t>1. pol</a:t>
                      </a:r>
                      <a:endParaRPr lang="cs-CZ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>
                          <a:effectLst/>
                          <a:latin typeface="+mn-lt"/>
                        </a:rPr>
                        <a:t>2. pol</a:t>
                      </a:r>
                      <a:endParaRPr lang="cs-CZ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>
                          <a:effectLst/>
                          <a:latin typeface="+mn-lt"/>
                        </a:rPr>
                        <a:t>1. pol</a:t>
                      </a:r>
                      <a:endParaRPr lang="cs-CZ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2. </a:t>
                      </a:r>
                      <a:r>
                        <a:rPr lang="cs-CZ" sz="1800" b="1" u="none" strike="noStrike" dirty="0" err="1">
                          <a:effectLst/>
                          <a:latin typeface="+mn-lt"/>
                        </a:rPr>
                        <a:t>pol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407982"/>
                  </a:ext>
                </a:extLst>
              </a:tr>
              <a:tr h="685278"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Sušenky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13,2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15,6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15,8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14,9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15,6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15,9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950459"/>
                  </a:ext>
                </a:extLst>
              </a:tr>
              <a:tr h="685278"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Lízátka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25,1</a:t>
                      </a: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2,5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3,1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3,0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3,4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3,9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560815"/>
                  </a:ext>
                </a:extLst>
              </a:tr>
              <a:tr h="685278"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Čokolády</a:t>
                      </a: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24,8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25,1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23,1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24,9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25,7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3617987"/>
                  </a:ext>
                </a:extLst>
              </a:tr>
              <a:tr h="348650"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Celkem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38,3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42,9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44,0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41,0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43,9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45,5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580620"/>
                  </a:ext>
                </a:extLst>
              </a:tr>
              <a:tr h="685278"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Celkem za rok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81,2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85,0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89,4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196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73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Složitější tabulka – záhlaví, tělo, zápatí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&lt;table&gt;</a:t>
            </a:r>
          </a:p>
          <a:p>
            <a:pPr marL="0" indent="0">
              <a:buNone/>
            </a:pPr>
            <a:r>
              <a:rPr lang="cs-CZ" dirty="0">
                <a:solidFill>
                  <a:srgbClr val="FF0000"/>
                </a:solidFill>
              </a:rPr>
              <a:t>	&lt;</a:t>
            </a:r>
            <a:r>
              <a:rPr lang="cs-CZ" dirty="0" err="1">
                <a:solidFill>
                  <a:srgbClr val="FF0000"/>
                </a:solidFill>
              </a:rPr>
              <a:t>thead</a:t>
            </a:r>
            <a:r>
              <a:rPr lang="cs-CZ" dirty="0">
                <a:solidFill>
                  <a:srgbClr val="FF0000"/>
                </a:solidFill>
              </a:rPr>
              <a:t>&gt;</a:t>
            </a:r>
            <a:br>
              <a:rPr lang="cs-CZ" dirty="0">
                <a:solidFill>
                  <a:srgbClr val="FF0000"/>
                </a:solidFill>
              </a:rPr>
            </a:br>
            <a:r>
              <a:rPr lang="cs-CZ" dirty="0">
                <a:solidFill>
                  <a:srgbClr val="FF0000"/>
                </a:solidFill>
              </a:rPr>
              <a:t>		&lt;</a:t>
            </a:r>
            <a:r>
              <a:rPr lang="cs-CZ" dirty="0" err="1">
                <a:solidFill>
                  <a:srgbClr val="FF0000"/>
                </a:solidFill>
              </a:rPr>
              <a:t>tr</a:t>
            </a:r>
            <a:r>
              <a:rPr lang="cs-CZ" dirty="0">
                <a:solidFill>
                  <a:srgbClr val="FF0000"/>
                </a:solidFill>
              </a:rPr>
              <a:t>&gt;…&lt;/</a:t>
            </a:r>
            <a:r>
              <a:rPr lang="cs-CZ" dirty="0" err="1">
                <a:solidFill>
                  <a:srgbClr val="FF0000"/>
                </a:solidFill>
              </a:rPr>
              <a:t>tr</a:t>
            </a:r>
            <a:r>
              <a:rPr lang="cs-CZ" dirty="0">
                <a:solidFill>
                  <a:srgbClr val="FF0000"/>
                </a:solidFill>
              </a:rPr>
              <a:t>&gt;&lt;</a:t>
            </a:r>
            <a:r>
              <a:rPr lang="cs-CZ" dirty="0" err="1">
                <a:solidFill>
                  <a:srgbClr val="FF0000"/>
                </a:solidFill>
              </a:rPr>
              <a:t>tr</a:t>
            </a:r>
            <a:r>
              <a:rPr lang="cs-CZ" dirty="0">
                <a:solidFill>
                  <a:srgbClr val="FF0000"/>
                </a:solidFill>
              </a:rPr>
              <a:t>&gt;…&lt;/</a:t>
            </a:r>
            <a:r>
              <a:rPr lang="cs-CZ" dirty="0" err="1">
                <a:solidFill>
                  <a:srgbClr val="FF0000"/>
                </a:solidFill>
              </a:rPr>
              <a:t>tr</a:t>
            </a:r>
            <a:r>
              <a:rPr lang="cs-CZ" dirty="0">
                <a:solidFill>
                  <a:srgbClr val="FF0000"/>
                </a:solidFill>
              </a:rPr>
              <a:t>&gt;</a:t>
            </a:r>
            <a:br>
              <a:rPr lang="cs-CZ" dirty="0">
                <a:solidFill>
                  <a:srgbClr val="FF0000"/>
                </a:solidFill>
              </a:rPr>
            </a:br>
            <a:r>
              <a:rPr lang="cs-CZ" dirty="0">
                <a:solidFill>
                  <a:srgbClr val="FF0000"/>
                </a:solidFill>
              </a:rPr>
              <a:t>	&lt;/</a:t>
            </a:r>
            <a:r>
              <a:rPr lang="cs-CZ" dirty="0" err="1">
                <a:solidFill>
                  <a:srgbClr val="FF0000"/>
                </a:solidFill>
              </a:rPr>
              <a:t>thead</a:t>
            </a:r>
            <a:r>
              <a:rPr lang="cs-CZ" dirty="0">
                <a:solidFill>
                  <a:srgbClr val="FF0000"/>
                </a:solidFill>
              </a:rPr>
              <a:t>&gt;</a:t>
            </a:r>
          </a:p>
          <a:p>
            <a:pPr marL="0" indent="0">
              <a:buNone/>
            </a:pPr>
            <a:r>
              <a:rPr lang="cs-CZ" dirty="0">
                <a:solidFill>
                  <a:srgbClr val="FFC000"/>
                </a:solidFill>
              </a:rPr>
              <a:t>	&lt;</a:t>
            </a:r>
            <a:r>
              <a:rPr lang="cs-CZ" dirty="0" err="1">
                <a:solidFill>
                  <a:srgbClr val="FFC000"/>
                </a:solidFill>
              </a:rPr>
              <a:t>tbody</a:t>
            </a:r>
            <a:r>
              <a:rPr lang="cs-CZ" dirty="0">
                <a:solidFill>
                  <a:srgbClr val="FFC000"/>
                </a:solidFill>
              </a:rPr>
              <a:t>&gt;</a:t>
            </a:r>
            <a:br>
              <a:rPr lang="cs-CZ" dirty="0">
                <a:solidFill>
                  <a:srgbClr val="FFC000"/>
                </a:solidFill>
              </a:rPr>
            </a:br>
            <a:r>
              <a:rPr lang="cs-CZ" dirty="0">
                <a:solidFill>
                  <a:srgbClr val="FFC000"/>
                </a:solidFill>
              </a:rPr>
              <a:t>		&lt;</a:t>
            </a:r>
            <a:r>
              <a:rPr lang="cs-CZ" dirty="0" err="1">
                <a:solidFill>
                  <a:srgbClr val="FFC000"/>
                </a:solidFill>
              </a:rPr>
              <a:t>tr</a:t>
            </a:r>
            <a:r>
              <a:rPr lang="cs-CZ" dirty="0">
                <a:solidFill>
                  <a:srgbClr val="FFC000"/>
                </a:solidFill>
              </a:rPr>
              <a:t>&gt;…&lt;/</a:t>
            </a:r>
            <a:r>
              <a:rPr lang="cs-CZ" dirty="0" err="1">
                <a:solidFill>
                  <a:srgbClr val="FFC000"/>
                </a:solidFill>
              </a:rPr>
              <a:t>tr</a:t>
            </a:r>
            <a:r>
              <a:rPr lang="cs-CZ" dirty="0">
                <a:solidFill>
                  <a:srgbClr val="FFC000"/>
                </a:solidFill>
              </a:rPr>
              <a:t>&gt;&lt;</a:t>
            </a:r>
            <a:r>
              <a:rPr lang="cs-CZ" dirty="0" err="1">
                <a:solidFill>
                  <a:srgbClr val="FFC000"/>
                </a:solidFill>
              </a:rPr>
              <a:t>tr</a:t>
            </a:r>
            <a:r>
              <a:rPr lang="cs-CZ" dirty="0">
                <a:solidFill>
                  <a:srgbClr val="FFC000"/>
                </a:solidFill>
              </a:rPr>
              <a:t>&gt;…&lt;/</a:t>
            </a:r>
            <a:r>
              <a:rPr lang="cs-CZ" dirty="0" err="1">
                <a:solidFill>
                  <a:srgbClr val="FFC000"/>
                </a:solidFill>
              </a:rPr>
              <a:t>tr</a:t>
            </a:r>
            <a:r>
              <a:rPr lang="cs-CZ" dirty="0">
                <a:solidFill>
                  <a:srgbClr val="FFC000"/>
                </a:solidFill>
              </a:rPr>
              <a:t>&gt;</a:t>
            </a:r>
            <a:br>
              <a:rPr lang="cs-CZ" dirty="0">
                <a:solidFill>
                  <a:srgbClr val="FFC000"/>
                </a:solidFill>
              </a:rPr>
            </a:br>
            <a:r>
              <a:rPr lang="cs-CZ" dirty="0">
                <a:solidFill>
                  <a:srgbClr val="FFC000"/>
                </a:solidFill>
              </a:rPr>
              <a:t>	&lt;/</a:t>
            </a:r>
            <a:r>
              <a:rPr lang="cs-CZ" dirty="0" err="1">
                <a:solidFill>
                  <a:srgbClr val="FFC000"/>
                </a:solidFill>
              </a:rPr>
              <a:t>tbody</a:t>
            </a:r>
            <a:r>
              <a:rPr lang="cs-CZ" dirty="0">
                <a:solidFill>
                  <a:srgbClr val="FFC000"/>
                </a:solidFill>
              </a:rPr>
              <a:t>&gt;</a:t>
            </a:r>
          </a:p>
          <a:p>
            <a:pPr marL="0" indent="0">
              <a:buNone/>
            </a:pPr>
            <a:r>
              <a:rPr lang="cs-CZ" dirty="0">
                <a:solidFill>
                  <a:srgbClr val="00B050"/>
                </a:solidFill>
              </a:rPr>
              <a:t>	&lt;</a:t>
            </a:r>
            <a:r>
              <a:rPr lang="cs-CZ" dirty="0" err="1">
                <a:solidFill>
                  <a:srgbClr val="00B050"/>
                </a:solidFill>
              </a:rPr>
              <a:t>tfoot</a:t>
            </a:r>
            <a:r>
              <a:rPr lang="cs-CZ" dirty="0">
                <a:solidFill>
                  <a:srgbClr val="00B050"/>
                </a:solidFill>
              </a:rPr>
              <a:t>&gt;</a:t>
            </a:r>
            <a:br>
              <a:rPr lang="cs-CZ" dirty="0">
                <a:solidFill>
                  <a:srgbClr val="00B050"/>
                </a:solidFill>
              </a:rPr>
            </a:br>
            <a:r>
              <a:rPr lang="cs-CZ" dirty="0">
                <a:solidFill>
                  <a:srgbClr val="00B050"/>
                </a:solidFill>
              </a:rPr>
              <a:t>		&lt;</a:t>
            </a:r>
            <a:r>
              <a:rPr lang="cs-CZ" dirty="0" err="1">
                <a:solidFill>
                  <a:srgbClr val="00B050"/>
                </a:solidFill>
              </a:rPr>
              <a:t>tr</a:t>
            </a:r>
            <a:r>
              <a:rPr lang="cs-CZ" dirty="0">
                <a:solidFill>
                  <a:srgbClr val="00B050"/>
                </a:solidFill>
              </a:rPr>
              <a:t>&gt;…&lt;/</a:t>
            </a:r>
            <a:r>
              <a:rPr lang="cs-CZ" dirty="0" err="1">
                <a:solidFill>
                  <a:srgbClr val="00B050"/>
                </a:solidFill>
              </a:rPr>
              <a:t>tr</a:t>
            </a:r>
            <a:r>
              <a:rPr lang="cs-CZ" dirty="0">
                <a:solidFill>
                  <a:srgbClr val="00B050"/>
                </a:solidFill>
              </a:rPr>
              <a:t>&gt;&lt;</a:t>
            </a:r>
            <a:r>
              <a:rPr lang="cs-CZ" dirty="0" err="1">
                <a:solidFill>
                  <a:srgbClr val="00B050"/>
                </a:solidFill>
              </a:rPr>
              <a:t>tr</a:t>
            </a:r>
            <a:r>
              <a:rPr lang="cs-CZ" dirty="0">
                <a:solidFill>
                  <a:srgbClr val="00B050"/>
                </a:solidFill>
              </a:rPr>
              <a:t>&gt;…&lt;/</a:t>
            </a:r>
            <a:r>
              <a:rPr lang="cs-CZ" dirty="0" err="1">
                <a:solidFill>
                  <a:srgbClr val="00B050"/>
                </a:solidFill>
              </a:rPr>
              <a:t>tr</a:t>
            </a:r>
            <a:r>
              <a:rPr lang="cs-CZ" dirty="0">
                <a:solidFill>
                  <a:srgbClr val="00B050"/>
                </a:solidFill>
              </a:rPr>
              <a:t>&gt;</a:t>
            </a:r>
            <a:br>
              <a:rPr lang="cs-CZ" dirty="0">
                <a:solidFill>
                  <a:srgbClr val="00B050"/>
                </a:solidFill>
              </a:rPr>
            </a:br>
            <a:r>
              <a:rPr lang="cs-CZ" dirty="0">
                <a:solidFill>
                  <a:srgbClr val="00B050"/>
                </a:solidFill>
              </a:rPr>
              <a:t>	&lt;/</a:t>
            </a:r>
            <a:r>
              <a:rPr lang="cs-CZ" dirty="0" err="1">
                <a:solidFill>
                  <a:srgbClr val="00B050"/>
                </a:solidFill>
              </a:rPr>
              <a:t>tfoot</a:t>
            </a:r>
            <a:r>
              <a:rPr lang="cs-CZ" dirty="0">
                <a:solidFill>
                  <a:srgbClr val="00B050"/>
                </a:solidFill>
              </a:rPr>
              <a:t>&gt;</a:t>
            </a:r>
          </a:p>
          <a:p>
            <a:pPr marL="0" indent="0">
              <a:buNone/>
            </a:pPr>
            <a:r>
              <a:rPr lang="cs-CZ" dirty="0"/>
              <a:t>&lt;/table&gt;</a:t>
            </a:r>
          </a:p>
          <a:p>
            <a:endParaRPr lang="cs-CZ" dirty="0"/>
          </a:p>
        </p:txBody>
      </p:sp>
      <p:graphicFrame>
        <p:nvGraphicFramePr>
          <p:cNvPr id="7" name="Zástupný symbol pro obsah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15533836"/>
              </p:ext>
            </p:extLst>
          </p:nvPr>
        </p:nvGraphicFramePr>
        <p:xfrm>
          <a:off x="5089525" y="2160588"/>
          <a:ext cx="6218202" cy="4135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1658">
                  <a:extLst>
                    <a:ext uri="{9D8B030D-6E8A-4147-A177-3AD203B41FA5}">
                      <a16:colId xmlns:a16="http://schemas.microsoft.com/office/drawing/2014/main" val="4092179218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1997611186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551947619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4148115905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4037374578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2211316125"/>
                    </a:ext>
                  </a:extLst>
                </a:gridCol>
                <a:gridCol w="769424">
                  <a:extLst>
                    <a:ext uri="{9D8B030D-6E8A-4147-A177-3AD203B41FA5}">
                      <a16:colId xmlns:a16="http://schemas.microsoft.com/office/drawing/2014/main" val="3110653784"/>
                    </a:ext>
                  </a:extLst>
                </a:gridCol>
              </a:tblGrid>
              <a:tr h="348650">
                <a:tc>
                  <a:txBody>
                    <a:bodyPr/>
                    <a:lstStyle/>
                    <a:p>
                      <a:pPr algn="ctr" fontAlgn="b"/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Obrat v mil.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518471"/>
                  </a:ext>
                </a:extLst>
              </a:tr>
              <a:tr h="34865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cs-CZ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Divize</a:t>
                      </a: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Rok 2013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Rok 2014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Rok 2015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113115"/>
                  </a:ext>
                </a:extLst>
              </a:tr>
              <a:tr h="348650">
                <a:tc vMerge="1">
                  <a:txBody>
                    <a:bodyPr/>
                    <a:lstStyle/>
                    <a:p>
                      <a:pPr algn="ctr" fontAlgn="b"/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98" marR="4698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1. </a:t>
                      </a:r>
                      <a:r>
                        <a:rPr lang="cs-CZ" sz="1800" b="1" u="none" strike="noStrike" dirty="0" err="1">
                          <a:effectLst/>
                          <a:latin typeface="+mn-lt"/>
                        </a:rPr>
                        <a:t>pol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>
                          <a:effectLst/>
                          <a:latin typeface="+mn-lt"/>
                        </a:rPr>
                        <a:t>2. pol</a:t>
                      </a:r>
                      <a:endParaRPr lang="cs-CZ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>
                          <a:effectLst/>
                          <a:latin typeface="+mn-lt"/>
                        </a:rPr>
                        <a:t>1. pol</a:t>
                      </a:r>
                      <a:endParaRPr lang="cs-CZ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2. </a:t>
                      </a:r>
                      <a:r>
                        <a:rPr lang="cs-CZ" sz="1800" b="1" u="none" strike="noStrike" dirty="0" err="1">
                          <a:effectLst/>
                          <a:latin typeface="+mn-lt"/>
                        </a:rPr>
                        <a:t>pol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1. </a:t>
                      </a:r>
                      <a:r>
                        <a:rPr lang="cs-CZ" sz="1800" b="1" u="none" strike="noStrike" dirty="0" err="1">
                          <a:effectLst/>
                          <a:latin typeface="+mn-lt"/>
                        </a:rPr>
                        <a:t>pol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2. </a:t>
                      </a:r>
                      <a:r>
                        <a:rPr lang="cs-CZ" sz="1800" b="1" u="none" strike="noStrike" dirty="0" err="1">
                          <a:effectLst/>
                          <a:latin typeface="+mn-lt"/>
                        </a:rPr>
                        <a:t>pol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407982"/>
                  </a:ext>
                </a:extLst>
              </a:tr>
              <a:tr h="685278"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Sušenky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13,2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15,6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15,8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14,9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15,6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15,9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950459"/>
                  </a:ext>
                </a:extLst>
              </a:tr>
              <a:tr h="685278"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Lízátka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25,1</a:t>
                      </a: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2,5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3,1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3,0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3,4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3,9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560815"/>
                  </a:ext>
                </a:extLst>
              </a:tr>
              <a:tr h="685278"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Čokolády</a:t>
                      </a: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24,8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25,1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23,1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24,9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25,7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17987"/>
                  </a:ext>
                </a:extLst>
              </a:tr>
              <a:tr h="348650"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Celkem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38,3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42,9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44,0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41,0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>
                          <a:effectLst/>
                          <a:latin typeface="+mn-lt"/>
                        </a:rPr>
                        <a:t>43,9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45,5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580620"/>
                  </a:ext>
                </a:extLst>
              </a:tr>
              <a:tr h="685278"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b="1" u="none" strike="noStrike" dirty="0">
                          <a:effectLst/>
                          <a:latin typeface="+mn-lt"/>
                        </a:rPr>
                        <a:t>Celkem za rok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81,2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85,0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  <a:latin typeface="+mn-lt"/>
                        </a:rPr>
                        <a:t>89,4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698" marR="4698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196308"/>
                  </a:ext>
                </a:extLst>
              </a:tr>
            </a:tbl>
          </a:graphicData>
        </a:graphic>
      </p:graphicFrame>
      <p:sp>
        <p:nvSpPr>
          <p:cNvPr id="8" name="TextovéPole 7"/>
          <p:cNvSpPr txBox="1"/>
          <p:nvPr/>
        </p:nvSpPr>
        <p:spPr>
          <a:xfrm>
            <a:off x="496388" y="6488668"/>
            <a:ext cx="8586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i="1" dirty="0" err="1"/>
              <a:t>thead</a:t>
            </a:r>
            <a:r>
              <a:rPr lang="cs-CZ" i="1" dirty="0"/>
              <a:t> nebo </a:t>
            </a:r>
            <a:r>
              <a:rPr lang="cs-CZ" i="1" dirty="0" err="1"/>
              <a:t>tfoot</a:t>
            </a:r>
            <a:r>
              <a:rPr lang="cs-CZ" i="1" dirty="0"/>
              <a:t> mohou chybět, pokud chybí oba, nemá </a:t>
            </a:r>
            <a:r>
              <a:rPr lang="cs-CZ" i="1" dirty="0" err="1"/>
              <a:t>tbody</a:t>
            </a:r>
            <a:r>
              <a:rPr lang="cs-CZ" i="1" dirty="0"/>
              <a:t> příliš smysl</a:t>
            </a:r>
          </a:p>
        </p:txBody>
      </p:sp>
    </p:spTree>
    <p:extLst>
      <p:ext uri="{BB962C8B-B14F-4D97-AF65-F5344CB8AC3E}">
        <p14:creationId xmlns:p14="http://schemas.microsoft.com/office/powerpoint/2010/main" val="197307060"/>
      </p:ext>
    </p:extLst>
  </p:cSld>
  <p:clrMapOvr>
    <a:masterClrMapping/>
  </p:clrMapOvr>
</p:sld>
</file>

<file path=ppt/theme/theme1.xml><?xml version="1.0" encoding="utf-8"?>
<a:theme xmlns:a="http://schemas.openxmlformats.org/drawingml/2006/main" name="Faseta">
  <a:themeElements>
    <a:clrScheme name="Modrá, teplá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s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s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7623</TotalTime>
  <Words>658</Words>
  <Application>Microsoft Office PowerPoint</Application>
  <PresentationFormat>Širokoúhlá obrazovka</PresentationFormat>
  <Paragraphs>162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2" baseType="lpstr">
      <vt:lpstr>Arial</vt:lpstr>
      <vt:lpstr>Calibri</vt:lpstr>
      <vt:lpstr>Trebuchet MS</vt:lpstr>
      <vt:lpstr>Wingdings 3</vt:lpstr>
      <vt:lpstr>Faseta</vt:lpstr>
      <vt:lpstr>Tabulky v HTML</vt:lpstr>
      <vt:lpstr>K čemu tabulka</vt:lpstr>
      <vt:lpstr>Základní prvky</vt:lpstr>
      <vt:lpstr>Sémantika – nadpis není text</vt:lpstr>
      <vt:lpstr>Slučování buněk</vt:lpstr>
      <vt:lpstr>Slučování buněk přes řádky</vt:lpstr>
      <vt:lpstr>Složitější tabulka – záhlaví, tělo, zápatí</vt:lpstr>
    </vt:vector>
  </TitlesOfParts>
  <Company>ÚTEF ČVUT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Základy elektrotechniky 2</dc:title>
  <dc:creator>Jan Koupil</dc:creator>
  <cp:lastModifiedBy>Mottl Jan</cp:lastModifiedBy>
  <cp:revision>62</cp:revision>
  <dcterms:created xsi:type="dcterms:W3CDTF">2015-09-02T07:07:00Z</dcterms:created>
  <dcterms:modified xsi:type="dcterms:W3CDTF">2023-09-25T10:58:38Z</dcterms:modified>
</cp:coreProperties>
</file>