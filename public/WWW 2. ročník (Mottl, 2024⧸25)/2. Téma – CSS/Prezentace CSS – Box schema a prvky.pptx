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3" r:id="rId5"/>
    <p:sldId id="264" r:id="rId6"/>
    <p:sldId id="262" r:id="rId7"/>
    <p:sldId id="265" r:id="rId8"/>
    <p:sldId id="266" r:id="rId9"/>
    <p:sldId id="260" r:id="rId10"/>
    <p:sldId id="270" r:id="rId11"/>
    <p:sldId id="273" r:id="rId12"/>
    <p:sldId id="272" r:id="rId13"/>
    <p:sldId id="274" r:id="rId14"/>
    <p:sldId id="267" r:id="rId15"/>
    <p:sldId id="275" r:id="rId16"/>
    <p:sldId id="268" r:id="rId17"/>
    <p:sldId id="276" r:id="rId18"/>
    <p:sldId id="277" r:id="rId19"/>
    <p:sldId id="271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4AEA209-C073-45F3-BD96-6C1F3A63D139}">
          <p14:sldIdLst>
            <p14:sldId id="256"/>
            <p14:sldId id="258"/>
            <p14:sldId id="261"/>
            <p14:sldId id="263"/>
            <p14:sldId id="264"/>
            <p14:sldId id="262"/>
            <p14:sldId id="265"/>
            <p14:sldId id="266"/>
            <p14:sldId id="260"/>
            <p14:sldId id="270"/>
            <p14:sldId id="273"/>
            <p14:sldId id="272"/>
            <p14:sldId id="274"/>
            <p14:sldId id="267"/>
            <p14:sldId id="275"/>
            <p14:sldId id="268"/>
            <p14:sldId id="276"/>
            <p14:sldId id="277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Světlý sty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97" autoAdjust="0"/>
    <p:restoredTop sz="94660"/>
  </p:normalViewPr>
  <p:slideViewPr>
    <p:cSldViewPr snapToGrid="0">
      <p:cViewPr varScale="1">
        <p:scale>
          <a:sx n="82" d="100"/>
          <a:sy n="82" d="100"/>
        </p:scale>
        <p:origin x="93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08.10.2024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08.10.2024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08.10.2024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08.10.2024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08.10.2024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08.10.2024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08.10.2024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08.10.2024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08.10.2024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08.10.2024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08.10.2024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08.10.2024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css/css_border.as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ref/pr_class_display.asp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Microforma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css/css_overflow.as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css/css_positioning.as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css/css_display_visibility.as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712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Řádkové a blokové prvky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schéma</a:t>
            </a:r>
          </a:p>
        </p:txBody>
      </p:sp>
      <p:sp>
        <p:nvSpPr>
          <p:cNvPr id="4" name="AutoShape 6" descr="CSS - Wikipedia">
            <a:extLst>
              <a:ext uri="{FF2B5EF4-FFF2-40B4-BE49-F238E27FC236}">
                <a16:creationId xmlns:a16="http://schemas.microsoft.com/office/drawing/2014/main" id="{41106516-B4A3-47B7-953D-BEDDF32499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5" name="AutoShape 8" descr="CSS - Wikipedia">
            <a:extLst>
              <a:ext uri="{FF2B5EF4-FFF2-40B4-BE49-F238E27FC236}">
                <a16:creationId xmlns:a16="http://schemas.microsoft.com/office/drawing/2014/main" id="{48F688FE-E1F6-4080-AB97-72C1649D7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7986CB18-3410-4F10-A88B-A8ED864C55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1026" name="Picture 2" descr="CSS - Wikipedia">
            <a:extLst>
              <a:ext uri="{FF2B5EF4-FFF2-40B4-BE49-F238E27FC236}">
                <a16:creationId xmlns:a16="http://schemas.microsoft.com/office/drawing/2014/main" id="{1CDC4DDB-4E9C-D0B1-82C5-930541649E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41"/>
          <a:stretch/>
        </p:blipFill>
        <p:spPr bwMode="auto">
          <a:xfrm>
            <a:off x="4534678" y="2067407"/>
            <a:ext cx="3625248" cy="4223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Řádkové a blokové prvky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641" y="1565165"/>
            <a:ext cx="5152293" cy="4598115"/>
          </a:xfrm>
        </p:spPr>
        <p:txBody>
          <a:bodyPr>
            <a:normAutofit fontScale="92500" lnSpcReduction="20000"/>
          </a:bodyPr>
          <a:lstStyle/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Blokové prvky (</a:t>
            </a:r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</a:t>
            </a:r>
            <a:r>
              <a:rPr lang="cs-CZ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cs-CZ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Odstavce</a:t>
            </a:r>
          </a:p>
          <a:p>
            <a:pPr lvl="1"/>
            <a:r>
              <a:rPr lang="cs-CZ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Tabulky</a:t>
            </a:r>
          </a:p>
          <a:p>
            <a:pPr lvl="1"/>
            <a:r>
              <a:rPr lang="cs-CZ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Formuláře</a:t>
            </a:r>
          </a:p>
          <a:p>
            <a:pPr lvl="1"/>
            <a:r>
              <a:rPr lang="cs-CZ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lvl="1"/>
            <a:endParaRPr lang="cs-CZ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Řádkové prvky (</a:t>
            </a:r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</a:t>
            </a:r>
            <a:r>
              <a:rPr lang="cs-CZ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inline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cs-CZ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lvl="1"/>
            <a:r>
              <a:rPr lang="cs-CZ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endParaRPr lang="cs-CZ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endParaRPr lang="cs-CZ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sup, sub (indexy)</a:t>
            </a:r>
          </a:p>
          <a:p>
            <a:pPr lvl="1"/>
            <a:r>
              <a:rPr lang="cs-CZ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cs-CZ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(možná překvapivě)</a:t>
            </a:r>
          </a:p>
          <a:p>
            <a:pPr lvl="1"/>
            <a:r>
              <a:rPr lang="cs-CZ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lvl="1"/>
            <a:endParaRPr lang="cs-CZ" sz="2600" dirty="0"/>
          </a:p>
          <a:p>
            <a:endParaRPr lang="cs-CZ" sz="2800" dirty="0"/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2"/>
          </p:nvPr>
        </p:nvSpPr>
        <p:spPr>
          <a:xfrm>
            <a:off x="6664568" y="1565166"/>
            <a:ext cx="5152293" cy="3880773"/>
          </a:xfrm>
        </p:spPr>
        <p:txBody>
          <a:bodyPr>
            <a:no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Klasická sazba</a:t>
            </a:r>
          </a:p>
          <a:p>
            <a:pPr lvl="1"/>
            <a:r>
              <a:rPr lang="cs-C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Mezi blokovými prvky vertikální mezery tak, aby dobře vyplnily stránku, ale byly od sebe oddělené, občas uvnitř bloku zlom stránky (na jejím konci)</a:t>
            </a:r>
          </a:p>
          <a:p>
            <a:pPr lvl="1"/>
            <a:r>
              <a:rPr lang="cs-C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Uvnitř blokových prvků jsou řádkové, mezery mezi slovy tak, aby dobře vyplnila řádek, ale byla od sebe oddělená, občas zlom řádky (na jejím konci)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Webová sazba</a:t>
            </a:r>
          </a:p>
          <a:p>
            <a:pPr lvl="1"/>
            <a:r>
              <a:rPr lang="cs-C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Víceméně totéž, ale nemáme (obvykle) stránky</a:t>
            </a:r>
          </a:p>
          <a:p>
            <a:pPr lvl="1"/>
            <a:r>
              <a:rPr lang="cs-C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Blokové prvky se řadí pod sebe</a:t>
            </a:r>
          </a:p>
          <a:p>
            <a:pPr lvl="1"/>
            <a:r>
              <a:rPr lang="cs-C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Řádkové prvky jsou obsaženy blokovými, řadí se za sebe, uvnitř se lámou řádky</a:t>
            </a:r>
          </a:p>
        </p:txBody>
      </p:sp>
      <p:sp>
        <p:nvSpPr>
          <p:cNvPr id="6" name="TextovéPole 5"/>
          <p:cNvSpPr txBox="1"/>
          <p:nvPr/>
        </p:nvSpPr>
        <p:spPr>
          <a:xfrm>
            <a:off x="1210491" y="6163281"/>
            <a:ext cx="7994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b="1" dirty="0"/>
              <a:t>Pozor: řádkový prvek nesmí být nadřazený blokovému!</a:t>
            </a:r>
          </a:p>
        </p:txBody>
      </p:sp>
    </p:spTree>
    <p:extLst>
      <p:ext uri="{BB962C8B-B14F-4D97-AF65-F5344CB8AC3E}">
        <p14:creationId xmlns:p14="http://schemas.microsoft.com/office/powerpoint/2010/main" val="1936925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>
          <a:xfrm>
            <a:off x="265814" y="256921"/>
            <a:ext cx="11348824" cy="1320800"/>
          </a:xfrm>
        </p:spPr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Ohraničení a odsazení (blokových) prvků</a:t>
            </a:r>
          </a:p>
        </p:txBody>
      </p:sp>
      <p:pic>
        <p:nvPicPr>
          <p:cNvPr id="7" name="Zástupný symbol pro obsah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7511" y="1639268"/>
            <a:ext cx="7176977" cy="532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2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rám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1648047"/>
            <a:ext cx="9680004" cy="439331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border-width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šířka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-style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border-color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turquoise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barva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border-radius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poloměr kulatých rohů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shorthand border: </a:t>
            </a:r>
            <a:r>
              <a:rPr lang="en-US" dirty="0" err="1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šířka</a:t>
            </a:r>
            <a:r>
              <a:rPr lang="en-US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</a:t>
            </a:r>
            <a:r>
              <a:rPr lang="en-US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barva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/*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jednotlivé úseky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border-bottom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shorthand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-top-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pink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jednotlivé vlastnosti úseků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0736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-style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Viz ukázky na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http://www.w3schools.com/css/css_border.asp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Fuguje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stejný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shorthand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 1 / 2 / 3 / 4 čísla jako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/>
          </a:p>
          <a:p>
            <a:pPr marL="0" indent="0">
              <a:buNone/>
            </a:pPr>
            <a:r>
              <a:rPr lang="cs-CZ" sz="3100" dirty="0" err="1">
                <a:solidFill>
                  <a:srgbClr val="0000CD"/>
                </a:solidFill>
                <a:effectLst/>
              </a:rPr>
              <a:t>dotted</a:t>
            </a:r>
            <a:br>
              <a:rPr lang="cs-CZ" sz="3100" dirty="0">
                <a:solidFill>
                  <a:srgbClr val="A52A2A"/>
                </a:solidFill>
                <a:effectLst/>
              </a:rPr>
            </a:br>
            <a:r>
              <a:rPr lang="cs-CZ" sz="3100" dirty="0" err="1">
                <a:solidFill>
                  <a:srgbClr val="0000CD"/>
                </a:solidFill>
                <a:effectLst/>
              </a:rPr>
              <a:t>dashed</a:t>
            </a:r>
            <a:br>
              <a:rPr lang="cs-CZ" sz="3100" dirty="0">
                <a:solidFill>
                  <a:srgbClr val="A52A2A"/>
                </a:solidFill>
                <a:effectLst/>
              </a:rPr>
            </a:br>
            <a:r>
              <a:rPr lang="cs-CZ" sz="3100" dirty="0">
                <a:solidFill>
                  <a:srgbClr val="0000CD"/>
                </a:solidFill>
                <a:effectLst/>
              </a:rPr>
              <a:t>solid</a:t>
            </a:r>
            <a:br>
              <a:rPr lang="cs-CZ" sz="3100" dirty="0">
                <a:solidFill>
                  <a:srgbClr val="A52A2A"/>
                </a:solidFill>
                <a:effectLst/>
              </a:rPr>
            </a:br>
            <a:r>
              <a:rPr lang="cs-CZ" sz="3100" dirty="0">
                <a:solidFill>
                  <a:srgbClr val="0000CD"/>
                </a:solidFill>
                <a:effectLst/>
              </a:rPr>
              <a:t>double</a:t>
            </a:r>
            <a:br>
              <a:rPr lang="cs-CZ" sz="3100" dirty="0">
                <a:solidFill>
                  <a:srgbClr val="A52A2A"/>
                </a:solidFill>
                <a:effectLst/>
              </a:rPr>
            </a:br>
            <a:r>
              <a:rPr lang="cs-CZ" sz="3100" dirty="0" err="1">
                <a:solidFill>
                  <a:srgbClr val="0000CD"/>
                </a:solidFill>
                <a:effectLst/>
              </a:rPr>
              <a:t>groove</a:t>
            </a:r>
            <a:br>
              <a:rPr lang="cs-CZ" sz="3100" dirty="0">
                <a:solidFill>
                  <a:srgbClr val="A52A2A"/>
                </a:solidFill>
                <a:effectLst/>
              </a:rPr>
            </a:br>
            <a:r>
              <a:rPr lang="cs-CZ" sz="3100" dirty="0" err="1">
                <a:solidFill>
                  <a:srgbClr val="0000CD"/>
                </a:solidFill>
                <a:effectLst/>
              </a:rPr>
              <a:t>ridge</a:t>
            </a:r>
            <a:br>
              <a:rPr lang="cs-CZ" sz="3100" dirty="0">
                <a:solidFill>
                  <a:srgbClr val="A52A2A"/>
                </a:solidFill>
                <a:effectLst/>
              </a:rPr>
            </a:br>
            <a:r>
              <a:rPr lang="cs-CZ" sz="3100" dirty="0" err="1">
                <a:solidFill>
                  <a:srgbClr val="0000CD"/>
                </a:solidFill>
                <a:effectLst/>
              </a:rPr>
              <a:t>inset</a:t>
            </a:r>
            <a:br>
              <a:rPr lang="cs-CZ" sz="3100" dirty="0">
                <a:solidFill>
                  <a:srgbClr val="A52A2A"/>
                </a:solidFill>
                <a:effectLst/>
              </a:rPr>
            </a:br>
            <a:r>
              <a:rPr lang="cs-CZ" sz="3100" dirty="0" err="1">
                <a:solidFill>
                  <a:srgbClr val="0000CD"/>
                </a:solidFill>
                <a:effectLst/>
              </a:rPr>
              <a:t>outset</a:t>
            </a:r>
            <a:br>
              <a:rPr lang="cs-CZ" sz="3100" dirty="0">
                <a:solidFill>
                  <a:srgbClr val="A52A2A"/>
                </a:solidFill>
                <a:effectLst/>
              </a:rPr>
            </a:br>
            <a:r>
              <a:rPr lang="cs-CZ" sz="3100" dirty="0" err="1">
                <a:solidFill>
                  <a:srgbClr val="0000CD"/>
                </a:solidFill>
                <a:effectLst/>
              </a:rPr>
              <a:t>none</a:t>
            </a:r>
            <a:br>
              <a:rPr lang="cs-CZ" sz="3100" dirty="0">
                <a:solidFill>
                  <a:srgbClr val="A52A2A"/>
                </a:solidFill>
                <a:effectLst/>
              </a:rPr>
            </a:br>
            <a:r>
              <a:rPr lang="cs-CZ" sz="3100" dirty="0" err="1">
                <a:solidFill>
                  <a:srgbClr val="0000CD"/>
                </a:solidFill>
                <a:effectLst/>
              </a:rPr>
              <a:t>hidden</a:t>
            </a:r>
            <a:br>
              <a:rPr lang="cs-CZ" sz="3100" dirty="0">
                <a:solidFill>
                  <a:srgbClr val="A52A2A"/>
                </a:solidFill>
                <a:effectLst/>
              </a:rPr>
            </a:br>
            <a:r>
              <a:rPr lang="cs-CZ" sz="3100" dirty="0" err="1">
                <a:solidFill>
                  <a:srgbClr val="0000CD"/>
                </a:solidFill>
                <a:effectLst/>
              </a:rPr>
              <a:t>dotted</a:t>
            </a:r>
            <a:r>
              <a:rPr lang="cs-CZ" sz="3100" dirty="0">
                <a:solidFill>
                  <a:srgbClr val="0000CD"/>
                </a:solidFill>
                <a:effectLst/>
              </a:rPr>
              <a:t> </a:t>
            </a:r>
            <a:r>
              <a:rPr lang="cs-CZ" sz="3100" dirty="0" err="1">
                <a:solidFill>
                  <a:srgbClr val="0000CD"/>
                </a:solidFill>
                <a:effectLst/>
              </a:rPr>
              <a:t>dashed</a:t>
            </a:r>
            <a:r>
              <a:rPr lang="cs-CZ" sz="3100" dirty="0">
                <a:solidFill>
                  <a:srgbClr val="0000CD"/>
                </a:solidFill>
                <a:effectLst/>
              </a:rPr>
              <a:t> solid double</a:t>
            </a:r>
            <a:endParaRPr lang="cs-CZ" sz="3100" dirty="0"/>
          </a:p>
        </p:txBody>
      </p:sp>
    </p:spTree>
    <p:extLst>
      <p:ext uri="{BB962C8B-B14F-4D97-AF65-F5344CB8AC3E}">
        <p14:creationId xmlns:p14="http://schemas.microsoft.com/office/powerpoint/2010/main" val="3926828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cs-CZ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odsazení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4978" y="2160589"/>
            <a:ext cx="11764108" cy="3880773"/>
          </a:xfrm>
        </p:spPr>
        <p:txBody>
          <a:bodyPr>
            <a:normAutofit fontScale="77500" lnSpcReduction="20000"/>
          </a:bodyPr>
          <a:lstStyle/>
          <a:p>
            <a:r>
              <a:rPr lang="cs-CZ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stranách kolem vlastního obsahu</a:t>
            </a:r>
          </a:p>
          <a:p>
            <a:r>
              <a:rPr lang="cs-CZ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 barvu pozadí stejnou jako prvek (pokud je nastaveno)</a:t>
            </a:r>
          </a:p>
          <a:p>
            <a:r>
              <a:rPr lang="cs-CZ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nastavit několika způsoby:</a:t>
            </a:r>
          </a:p>
          <a:p>
            <a:pPr marL="0" indent="0">
              <a:buNone/>
            </a:pPr>
            <a:r>
              <a:rPr lang="cs-CZ" sz="29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stejný na všech stranách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10pt nahoře a dole, 5pt vlevo a vpravo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7pt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10pt nahoře, 5pt vlevo a vpravo, 7pt dole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7pt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10pt nahoře, dále po hodinách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padding-left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1em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nastaví jen 1em vlevo</a:t>
            </a:r>
          </a:p>
          <a:p>
            <a:pPr marL="0" indent="0">
              <a:buNone/>
            </a:pPr>
            <a:r>
              <a:rPr lang="en-US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existuje</a:t>
            </a:r>
            <a:r>
              <a:rPr lang="en-US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padding-top, </a:t>
            </a:r>
            <a:r>
              <a:rPr lang="cs-CZ" dirty="0" err="1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right, </a:t>
            </a:r>
            <a:r>
              <a:rPr lang="cs-CZ" dirty="0" err="1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bottom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52161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cs-CZ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okraj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Délkové jednotky – rozměr průhledného okraje kolem rámečku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Průhledný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vnější straně rámu (pokud je nějaký rám nastaven)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Může být spojen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collapse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 předchozím / následujícím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dvou sourozenců se spojují (výsledkem je volné místo o velikosti většího z obou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marginů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rodiče a prvního potomka se spojují (pokud není v cestě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prázdných prvků se nezobrazují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Nastavení hodnoty </a:t>
            </a:r>
            <a:r>
              <a:rPr lang="cs-CZ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zarovná prvek na střed uvnitř nadřazeného prvku</a:t>
            </a:r>
          </a:p>
        </p:txBody>
      </p:sp>
    </p:spTree>
    <p:extLst>
      <p:ext uri="{BB962C8B-B14F-4D97-AF65-F5344CB8AC3E}">
        <p14:creationId xmlns:p14="http://schemas.microsoft.com/office/powerpoint/2010/main" val="2741472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Přepnutí display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9306638" cy="3880772"/>
          </a:xfrm>
        </p:spPr>
        <p:txBody>
          <a:bodyPr>
            <a:normAutofit fontScale="92500" lnSpcReduction="1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Vlastnost display přepíná chování zobrazení prvku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inline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řádkový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blokový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blok chovající se jako slovo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prvek seznamu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run-in – podle kontextu blok nebo řádkový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table-… - dle dokumentace všechny části tabulky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cs-CZ" dirty="0">
              <a:latin typeface="Consolas" panose="020B0609020204030204" pitchFamily="49" charset="0"/>
            </a:endParaRPr>
          </a:p>
          <a:p>
            <a:pPr lvl="1"/>
            <a:r>
              <a:rPr lang="cs-CZ" dirty="0">
                <a:solidFill>
                  <a:schemeClr val="bg1">
                    <a:lumMod val="75000"/>
                  </a:schemeClr>
                </a:solidFill>
              </a:rPr>
              <a:t>…a další, o kterých si budeme vyprávět jindy (</a:t>
            </a:r>
            <a:r>
              <a:rPr lang="cs-CZ" dirty="0">
                <a:solidFill>
                  <a:schemeClr val="bg1">
                    <a:lumMod val="75000"/>
                  </a:schemeClr>
                </a:solidFill>
                <a:hlinkClick r:id="rId2"/>
              </a:rPr>
              <a:t>https://www.w3schools.com/</a:t>
            </a:r>
            <a:r>
              <a:rPr lang="cs-CZ" dirty="0" err="1">
                <a:solidFill>
                  <a:schemeClr val="bg1">
                    <a:lumMod val="75000"/>
                  </a:schemeClr>
                </a:solidFill>
                <a:hlinkClick r:id="rId2"/>
              </a:rPr>
              <a:t>cssref</a:t>
            </a:r>
            <a:r>
              <a:rPr lang="cs-CZ" dirty="0">
                <a:solidFill>
                  <a:schemeClr val="bg1">
                    <a:lumMod val="75000"/>
                  </a:schemeClr>
                </a:solidFill>
                <a:hlinkClick r:id="rId2"/>
              </a:rPr>
              <a:t>/pr_class_display.asp</a:t>
            </a:r>
            <a:r>
              <a:rPr lang="cs-CZ" dirty="0">
                <a:solidFill>
                  <a:schemeClr val="bg1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08221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Bezvýznamové prvky (obálky)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677334" y="1435395"/>
            <a:ext cx="11070934" cy="4605967"/>
          </a:xfrm>
        </p:spPr>
        <p:txBody>
          <a:bodyPr>
            <a:normAutofit fontScale="62500" lnSpcReduction="20000"/>
          </a:bodyPr>
          <a:lstStyle/>
          <a:p>
            <a:r>
              <a:rPr lang="cs-CZ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 a </a:t>
            </a:r>
            <a:r>
              <a:rPr lang="cs-CZ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  <a:r>
              <a:rPr lang="cs-CZ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nám umožňují definovat různé části stránky / článku / textu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="citace"&gt;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…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…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Jak píše už Komenský v ve své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="kniha"&gt;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Velké didaktice,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postupovat máme …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 už na svém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cervene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prvním vystoupení v Dallasu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byl ohlas takový, že …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b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//s</a:t>
            </a:r>
            <a:r>
              <a:rPr lang="cs-CZ" dirty="0" err="1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émantická</a:t>
            </a: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chyba – název třídy je popis zobrazení</a:t>
            </a:r>
            <a:endParaRPr lang="cs-CZ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r>
              <a:rPr lang="cs-CZ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Můžeme každou oblast stylovat zvlášť (kontextové selektory)</a:t>
            </a:r>
          </a:p>
          <a:p>
            <a:r>
              <a:rPr lang="cs-CZ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Můžeme pomocí div/</a:t>
            </a:r>
            <a:r>
              <a:rPr lang="cs-CZ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  <a:r>
              <a:rPr lang="cs-CZ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určit význam oblastí (+ tzv. </a:t>
            </a:r>
            <a:r>
              <a:rPr lang="cs-CZ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mikroformáty</a:t>
            </a:r>
            <a:r>
              <a:rPr lang="cs-CZ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29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https://en.wikipedia.org/wiki/</a:t>
            </a:r>
            <a:r>
              <a:rPr lang="cs-CZ" sz="29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Microformat</a:t>
            </a:r>
            <a:r>
              <a:rPr lang="cs-CZ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Zástupný symbol pro obsah 2"/>
          <p:cNvSpPr txBox="1">
            <a:spLocks/>
          </p:cNvSpPr>
          <p:nvPr/>
        </p:nvSpPr>
        <p:spPr>
          <a:xfrm>
            <a:off x="10176817" y="365125"/>
            <a:ext cx="2015183" cy="186491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div</a:t>
            </a:r>
          </a:p>
          <a:p>
            <a:pPr lvl="1"/>
            <a:r>
              <a:rPr lang="cs-CZ" sz="1400" dirty="0"/>
              <a:t>Bloková "obálka"</a:t>
            </a:r>
          </a:p>
          <a:p>
            <a:pPr lvl="1"/>
            <a:r>
              <a:rPr lang="cs-CZ" sz="1400" dirty="0"/>
              <a:t>(</a:t>
            </a:r>
            <a:r>
              <a:rPr lang="cs-CZ" sz="1400" dirty="0" err="1"/>
              <a:t>division</a:t>
            </a:r>
            <a:r>
              <a:rPr lang="cs-CZ" sz="1400" dirty="0"/>
              <a:t> = oddíl)</a:t>
            </a:r>
          </a:p>
          <a:p>
            <a:pPr lvl="1"/>
            <a:endParaRPr lang="cs-CZ" sz="900" dirty="0"/>
          </a:p>
          <a:p>
            <a:r>
              <a:rPr lang="cs-CZ" dirty="0" err="1"/>
              <a:t>span</a:t>
            </a:r>
            <a:endParaRPr lang="cs-CZ" sz="1100" dirty="0"/>
          </a:p>
          <a:p>
            <a:pPr lvl="1"/>
            <a:r>
              <a:rPr lang="cs-CZ" sz="1400" dirty="0"/>
              <a:t>Řádková "obálka"</a:t>
            </a:r>
          </a:p>
          <a:p>
            <a:pPr lvl="1"/>
            <a:r>
              <a:rPr lang="cs-CZ" sz="1400" dirty="0"/>
              <a:t>(</a:t>
            </a:r>
            <a:r>
              <a:rPr lang="cs-CZ" sz="1400" dirty="0" err="1"/>
              <a:t>span</a:t>
            </a:r>
            <a:r>
              <a:rPr lang="cs-CZ" sz="1400" dirty="0"/>
              <a:t> = rozpětí)</a:t>
            </a:r>
          </a:p>
          <a:p>
            <a:pPr lvl="1"/>
            <a:endParaRPr lang="cs-CZ" sz="900" dirty="0"/>
          </a:p>
        </p:txBody>
      </p:sp>
    </p:spTree>
    <p:extLst>
      <p:ext uri="{BB962C8B-B14F-4D97-AF65-F5344CB8AC3E}">
        <p14:creationId xmlns:p14="http://schemas.microsoft.com/office/powerpoint/2010/main" val="2548146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Rozměry prvků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šířka</a:t>
            </a:r>
          </a:p>
          <a:p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výška</a:t>
            </a:r>
          </a:p>
          <a:p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Povolené hodnoty: délkové jednotky.</a:t>
            </a:r>
          </a:p>
          <a:p>
            <a:pPr lvl="1"/>
            <a:r>
              <a:rPr lang="cs-CZ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případě % a dalších relativních jednotek se tyto berou proti nadřazenému prvku</a:t>
            </a:r>
          </a:p>
          <a:p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Pokud nejsou nastaveny, zabírají blokové prvky celou dostupnou šířku (tj. šířku nadřazeného objektu, resp. Celé stránky)</a:t>
            </a:r>
          </a:p>
        </p:txBody>
      </p:sp>
    </p:spTree>
    <p:extLst>
      <p:ext uri="{BB962C8B-B14F-4D97-AF65-F5344CB8AC3E}">
        <p14:creationId xmlns:p14="http://schemas.microsoft.com/office/powerpoint/2010/main" val="3439951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>
          <a:xfrm>
            <a:off x="265814" y="256921"/>
            <a:ext cx="8596668" cy="1320800"/>
          </a:xfrm>
        </p:spPr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Připomenutí: box-model</a:t>
            </a:r>
          </a:p>
        </p:txBody>
      </p:sp>
      <p:pic>
        <p:nvPicPr>
          <p:cNvPr id="7" name="Zástupný symbol pro obsah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7511" y="1529371"/>
            <a:ext cx="7176977" cy="532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51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Rozměry prvků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Místo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můžeme nastavit min-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max-width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umožnit tak stránce na jiných (typicky menších) obrazovkách větší variability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Totéž platí pro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(min-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max-height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Vyzkoušejte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lorem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ipsum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dvěma bloky – jeden s pevnou, druhý s min /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šířkou </a:t>
            </a:r>
          </a:p>
        </p:txBody>
      </p:sp>
    </p:spTree>
    <p:extLst>
      <p:ext uri="{BB962C8B-B14F-4D97-AF65-F5344CB8AC3E}">
        <p14:creationId xmlns:p14="http://schemas.microsoft.com/office/powerpoint/2010/main" val="1318338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Overflow – </a:t>
            </a:r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s textem při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cs-CZ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řetečení</a:t>
            </a:r>
            <a:endParaRPr lang="cs-CZ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Povolené hodnoty: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visible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výchozí, obsah je zobrazen mimo box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obsah je oříznut boxem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scroll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na bocích se zobrazí posuvníky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- na bocích se zobrazí posuvníky v případě potřeby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kromě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existuje i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 a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-y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Ukázka: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http://www.w3schools.com/css/css_overflow.asp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3590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cs-CZ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ozicování</a:t>
            </a:r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prvků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>
          <a:xfrm>
            <a:off x="677334" y="1580321"/>
            <a:ext cx="10676466" cy="4999383"/>
          </a:xfrm>
        </p:spPr>
        <p:txBody>
          <a:bodyPr>
            <a:normAutofit fontScale="92500" lnSpcReduction="2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Vlastnost </a:t>
            </a:r>
            <a:r>
              <a:rPr lang="cs-CZ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endParaRPr lang="cs-CZ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Povolené hodnoty </a:t>
            </a:r>
          </a:p>
          <a:p>
            <a:pPr lvl="1"/>
            <a:r>
              <a:rPr lang="cs-CZ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výchozí, prvek je v toku dokumentu. Říkáme, že prvek není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pozicován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Pozicované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prvky:</a:t>
            </a:r>
          </a:p>
          <a:p>
            <a:pPr lvl="2"/>
            <a:r>
              <a:rPr lang="cs-CZ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prvek je posunut vůči své vypočtené pozici o top /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cs-CZ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prvek zůstává na obrazovce na svém místě určeném top /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cs-CZ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prvek zůstává na stránce na pozici určené top /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vlastnosti top /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(vždy max. dvě nekolizní) ovládají umístění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pozicovaných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prvků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hodnoty top /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určují pro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pozici vůči nejbližšímu nadřazenému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pozicovanému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prvku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Ukázky: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http://www.w3schools.com/css/css_positioning.asp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32532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Překrytí prvků při </a:t>
            </a:r>
            <a:r>
              <a:rPr lang="cs-CZ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pozicování</a:t>
            </a:r>
            <a:endParaRPr lang="cs-CZ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řeší vlastnost z-index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povolené hodnoty: auto, číslo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značí souřadnici z prvku – prvky s vyšším z-indexem překrývají ty s nižším</a:t>
            </a:r>
          </a:p>
          <a:p>
            <a:pPr marL="0" indent="0">
              <a:buNone/>
            </a:pPr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A52A2A"/>
                </a:solidFill>
                <a:effectLst/>
              </a:rPr>
              <a:t>img</a:t>
            </a:r>
            <a:r>
              <a:rPr lang="en-US" sz="2000" dirty="0">
                <a:solidFill>
                  <a:srgbClr val="A52A2A"/>
                </a:solidFill>
                <a:effectLst/>
              </a:rPr>
              <a:t> </a:t>
            </a:r>
            <a:r>
              <a:rPr lang="en-US" sz="2000" dirty="0">
                <a:solidFill>
                  <a:srgbClr val="000000"/>
                </a:solidFill>
                <a:effectLst/>
              </a:rPr>
              <a:t>{</a:t>
            </a:r>
            <a:br>
              <a:rPr lang="en-US" sz="2000" dirty="0">
                <a:solidFill>
                  <a:srgbClr val="FF0000"/>
                </a:solidFill>
                <a:effectLst/>
              </a:rPr>
            </a:br>
            <a:r>
              <a:rPr lang="en-US" sz="2000" dirty="0">
                <a:solidFill>
                  <a:srgbClr val="FF0000"/>
                </a:solidFill>
                <a:effectLst/>
              </a:rPr>
              <a:t>  position</a:t>
            </a:r>
            <a:r>
              <a:rPr lang="en-US" sz="2000" dirty="0">
                <a:solidFill>
                  <a:srgbClr val="000000"/>
                </a:solidFill>
                <a:effectLst/>
              </a:rPr>
              <a:t>:</a:t>
            </a:r>
            <a:r>
              <a:rPr lang="en-US" sz="2000" dirty="0">
                <a:solidFill>
                  <a:srgbClr val="0000CD"/>
                </a:solidFill>
                <a:effectLst/>
              </a:rPr>
              <a:t> absolute</a:t>
            </a:r>
            <a:r>
              <a:rPr lang="en-US" sz="2000" dirty="0">
                <a:solidFill>
                  <a:srgbClr val="000000"/>
                </a:solidFill>
                <a:effectLst/>
              </a:rPr>
              <a:t>;</a:t>
            </a:r>
            <a:br>
              <a:rPr lang="en-US" sz="2000" dirty="0">
                <a:solidFill>
                  <a:srgbClr val="FF0000"/>
                </a:solidFill>
                <a:effectLst/>
              </a:rPr>
            </a:br>
            <a:r>
              <a:rPr lang="en-US" sz="2000" dirty="0">
                <a:solidFill>
                  <a:srgbClr val="FF0000"/>
                </a:solidFill>
                <a:effectLst/>
              </a:rPr>
              <a:t>  left</a:t>
            </a:r>
            <a:r>
              <a:rPr lang="en-US" sz="2000" dirty="0">
                <a:solidFill>
                  <a:srgbClr val="000000"/>
                </a:solidFill>
                <a:effectLst/>
              </a:rPr>
              <a:t>:</a:t>
            </a:r>
            <a:r>
              <a:rPr lang="en-US" sz="2000" dirty="0">
                <a:solidFill>
                  <a:srgbClr val="0000CD"/>
                </a:solidFill>
                <a:effectLst/>
              </a:rPr>
              <a:t> 0px</a:t>
            </a:r>
            <a:r>
              <a:rPr lang="en-US" sz="2000" dirty="0">
                <a:solidFill>
                  <a:srgbClr val="000000"/>
                </a:solidFill>
                <a:effectLst/>
              </a:rPr>
              <a:t>;</a:t>
            </a:r>
            <a:br>
              <a:rPr lang="en-US" sz="2000" dirty="0">
                <a:solidFill>
                  <a:srgbClr val="FF0000"/>
                </a:solidFill>
                <a:effectLst/>
              </a:rPr>
            </a:br>
            <a:r>
              <a:rPr lang="en-US" sz="2000" dirty="0">
                <a:solidFill>
                  <a:srgbClr val="FF0000"/>
                </a:solidFill>
                <a:effectLst/>
              </a:rPr>
              <a:t>  top</a:t>
            </a:r>
            <a:r>
              <a:rPr lang="en-US" sz="2000" dirty="0">
                <a:solidFill>
                  <a:srgbClr val="000000"/>
                </a:solidFill>
                <a:effectLst/>
              </a:rPr>
              <a:t>:</a:t>
            </a:r>
            <a:r>
              <a:rPr lang="en-US" sz="2000" dirty="0">
                <a:solidFill>
                  <a:srgbClr val="0000CD"/>
                </a:solidFill>
                <a:effectLst/>
              </a:rPr>
              <a:t> 0px</a:t>
            </a:r>
            <a:r>
              <a:rPr lang="en-US" sz="2000" dirty="0">
                <a:solidFill>
                  <a:srgbClr val="000000"/>
                </a:solidFill>
                <a:effectLst/>
              </a:rPr>
              <a:t>;</a:t>
            </a:r>
            <a:br>
              <a:rPr lang="en-US" sz="2000" dirty="0">
                <a:solidFill>
                  <a:srgbClr val="FF0000"/>
                </a:solidFill>
                <a:effectLst/>
              </a:rPr>
            </a:br>
            <a:r>
              <a:rPr lang="en-US" sz="2000" dirty="0">
                <a:solidFill>
                  <a:srgbClr val="FF0000"/>
                </a:solidFill>
                <a:effectLst/>
              </a:rPr>
              <a:t>  z-index</a:t>
            </a:r>
            <a:r>
              <a:rPr lang="en-US" sz="2000" dirty="0">
                <a:solidFill>
                  <a:srgbClr val="000000"/>
                </a:solidFill>
                <a:effectLst/>
              </a:rPr>
              <a:t>:</a:t>
            </a:r>
            <a:r>
              <a:rPr lang="en-US" sz="2000" dirty="0">
                <a:solidFill>
                  <a:srgbClr val="0000CD"/>
                </a:solidFill>
                <a:effectLst/>
              </a:rPr>
              <a:t> -1</a:t>
            </a:r>
            <a:r>
              <a:rPr lang="en-US" sz="2000" dirty="0">
                <a:solidFill>
                  <a:srgbClr val="000000"/>
                </a:solidFill>
                <a:effectLst/>
              </a:rPr>
              <a:t>;</a:t>
            </a:r>
            <a:br>
              <a:rPr lang="en-US" sz="2000" dirty="0">
                <a:solidFill>
                  <a:srgbClr val="FF0000"/>
                </a:solidFill>
                <a:effectLst/>
              </a:rPr>
            </a:br>
            <a:r>
              <a:rPr lang="en-US" sz="2000" dirty="0">
                <a:solidFill>
                  <a:srgbClr val="000000"/>
                </a:solidFill>
                <a:effectLst/>
              </a:rPr>
              <a:t>}</a:t>
            </a:r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B6C60F5-3F61-5055-8D1E-BC7055F56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048" y="4151684"/>
            <a:ext cx="5753903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99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Obtékání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ékání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vlastnost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povolené hodnoty:</a:t>
            </a:r>
          </a:p>
          <a:p>
            <a:pPr lvl="1"/>
            <a:r>
              <a:rPr lang="cs-CZ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endParaRPr lang="cs-CZ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endParaRPr lang="cs-CZ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endParaRPr lang="cs-CZ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089969" y="2160589"/>
            <a:ext cx="4507111" cy="3880773"/>
          </a:xfrm>
        </p:spPr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Ukončení obtékání: vlastnost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povolené hodnoty:</a:t>
            </a:r>
          </a:p>
          <a:p>
            <a:pPr lvl="1"/>
            <a:r>
              <a:rPr lang="cs-CZ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endParaRPr lang="cs-CZ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endParaRPr lang="cs-CZ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endParaRPr lang="cs-CZ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cs-CZ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výchozí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16393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endParaRPr lang="cs-CZ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Pozicování v rámci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containeru</a:t>
            </a:r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cs-CZ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cs-CZ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cs-CZ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inherit</a:t>
            </a:r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sz="3200" dirty="0" err="1">
                <a:solidFill>
                  <a:srgbClr val="A52A2A"/>
                </a:solidFill>
                <a:effectLst/>
              </a:rPr>
              <a:t>img</a:t>
            </a:r>
            <a:r>
              <a:rPr lang="cs-CZ" sz="3200" dirty="0">
                <a:solidFill>
                  <a:srgbClr val="A52A2A"/>
                </a:solidFill>
                <a:effectLst/>
              </a:rPr>
              <a:t> </a:t>
            </a:r>
            <a:r>
              <a:rPr lang="cs-CZ" sz="3200" dirty="0">
                <a:solidFill>
                  <a:srgbClr val="000000"/>
                </a:solidFill>
                <a:effectLst/>
              </a:rPr>
              <a:t>{</a:t>
            </a:r>
            <a:br>
              <a:rPr lang="cs-CZ" sz="3200" dirty="0">
                <a:solidFill>
                  <a:srgbClr val="FF0000"/>
                </a:solidFill>
                <a:effectLst/>
              </a:rPr>
            </a:br>
            <a:r>
              <a:rPr lang="cs-CZ" sz="3200" dirty="0">
                <a:solidFill>
                  <a:srgbClr val="FF0000"/>
                </a:solidFill>
                <a:effectLst/>
              </a:rPr>
              <a:t>  </a:t>
            </a:r>
            <a:r>
              <a:rPr lang="cs-CZ" sz="3200" dirty="0" err="1">
                <a:solidFill>
                  <a:srgbClr val="FF0000"/>
                </a:solidFill>
                <a:effectLst/>
              </a:rPr>
              <a:t>float</a:t>
            </a:r>
            <a:r>
              <a:rPr lang="cs-CZ" sz="3200" dirty="0">
                <a:solidFill>
                  <a:srgbClr val="000000"/>
                </a:solidFill>
                <a:effectLst/>
              </a:rPr>
              <a:t>:</a:t>
            </a:r>
            <a:r>
              <a:rPr lang="cs-CZ" sz="3200" dirty="0">
                <a:solidFill>
                  <a:srgbClr val="0000CD"/>
                </a:solidFill>
                <a:effectLst/>
              </a:rPr>
              <a:t> </a:t>
            </a:r>
            <a:r>
              <a:rPr lang="cs-CZ" sz="3200" dirty="0" err="1">
                <a:solidFill>
                  <a:srgbClr val="0000CD"/>
                </a:solidFill>
                <a:effectLst/>
              </a:rPr>
              <a:t>right</a:t>
            </a:r>
            <a:r>
              <a:rPr lang="cs-CZ" sz="3200" dirty="0">
                <a:solidFill>
                  <a:srgbClr val="000000"/>
                </a:solidFill>
                <a:effectLst/>
              </a:rPr>
              <a:t>;</a:t>
            </a:r>
            <a:br>
              <a:rPr lang="cs-CZ" sz="3200" dirty="0">
                <a:solidFill>
                  <a:srgbClr val="FF0000"/>
                </a:solidFill>
                <a:effectLst/>
              </a:rPr>
            </a:br>
            <a:r>
              <a:rPr lang="cs-CZ" sz="3200" dirty="0">
                <a:solidFill>
                  <a:srgbClr val="000000"/>
                </a:solidFill>
                <a:effectLst/>
              </a:rPr>
              <a:t>}</a:t>
            </a:r>
            <a:endParaRPr lang="cs-CZ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17AC24D-E2AB-7059-BC03-DA563B3F5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738"/>
            <a:ext cx="12192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76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endParaRPr lang="cs-CZ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Říká, jak se mají chovat elementy následující.</a:t>
            </a:r>
          </a:p>
          <a:p>
            <a:r>
              <a:rPr lang="cs-CZ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Neboli, aby nedošlo ke kolizi s </a:t>
            </a:r>
            <a:r>
              <a:rPr lang="cs-CZ" sz="4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floating</a:t>
            </a:r>
            <a:r>
              <a:rPr lang="cs-CZ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prvkem.</a:t>
            </a:r>
          </a:p>
          <a:p>
            <a:pPr marL="0" indent="0"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element is not pushed below left or right floated elements. This is default</a:t>
            </a:r>
          </a:p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</a:t>
            </a:r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element is pushed below left floated elements</a:t>
            </a:r>
          </a:p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element is pushed below right floated elements</a:t>
            </a:r>
          </a:p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element is pushed below both left and right floated elements</a:t>
            </a:r>
          </a:p>
          <a:p>
            <a:pPr marL="0" indent="0">
              <a:buNone/>
            </a:pPr>
            <a:r>
              <a:rPr lang="cs-C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nherit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element inherits the clear value from its parent</a:t>
            </a:r>
          </a:p>
          <a:p>
            <a:pPr marL="0" indent="0">
              <a:buNone/>
            </a:pPr>
            <a:endParaRPr lang="cs-CZ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414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</a:t>
            </a:r>
            <a:r>
              <a:rPr lang="cs-CZ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</a:t>
            </a:r>
            <a:r>
              <a:rPr lang="cs-CZ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visibility</a:t>
            </a:r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cs-CZ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endParaRPr lang="cs-CZ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prvek zcela vyjme z toku stránky</a:t>
            </a:r>
          </a:p>
          <a:p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visibility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prvek zneviditelní, jeho místo zůstává obsazeno "prázdnem"</a:t>
            </a:r>
          </a:p>
          <a:p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Ukázka: 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http://www.w3schools.com/css/css_display_visibility.asp</a:t>
            </a:r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27927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2378</TotalTime>
  <Words>1234</Words>
  <Application>Microsoft Office PowerPoint</Application>
  <PresentationFormat>Širokoúhlá obrazovka</PresentationFormat>
  <Paragraphs>165</Paragraphs>
  <Slides>19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Times New Roman</vt:lpstr>
      <vt:lpstr>Motiv Office</vt:lpstr>
      <vt:lpstr>Řádkové a blokové prvky Box schéma</vt:lpstr>
      <vt:lpstr>Řádkové a blokové prvky</vt:lpstr>
      <vt:lpstr>Ohraničení a odsazení (blokových) prvků</vt:lpstr>
      <vt:lpstr>Border – rám</vt:lpstr>
      <vt:lpstr>Border-style</vt:lpstr>
      <vt:lpstr>Padding – odsazení</vt:lpstr>
      <vt:lpstr>Margin – okraj</vt:lpstr>
      <vt:lpstr>Přepnutí display</vt:lpstr>
      <vt:lpstr>Bezvýznamové prvky (obálky)</vt:lpstr>
      <vt:lpstr>Rozměry prvků</vt:lpstr>
      <vt:lpstr>Připomenutí: box-model</vt:lpstr>
      <vt:lpstr>Rozměry prvků</vt:lpstr>
      <vt:lpstr>Overflow – co s textem při přetečení</vt:lpstr>
      <vt:lpstr>Pozicování prvků</vt:lpstr>
      <vt:lpstr>Překrytí prvků při pozicování</vt:lpstr>
      <vt:lpstr>Obtékání</vt:lpstr>
      <vt:lpstr>float</vt:lpstr>
      <vt:lpstr>clear</vt:lpstr>
      <vt:lpstr>display: none vs. visibility: hidden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192</cp:revision>
  <dcterms:created xsi:type="dcterms:W3CDTF">2020-09-17T19:44:13Z</dcterms:created>
  <dcterms:modified xsi:type="dcterms:W3CDTF">2024-10-08T06:40:45Z</dcterms:modified>
</cp:coreProperties>
</file>