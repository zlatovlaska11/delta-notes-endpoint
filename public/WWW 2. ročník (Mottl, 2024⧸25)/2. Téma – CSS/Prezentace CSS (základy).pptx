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266" r:id="rId10"/>
    <p:sldId id="320" r:id="rId11"/>
    <p:sldId id="321" r:id="rId12"/>
    <p:sldId id="270" r:id="rId13"/>
    <p:sldId id="323" r:id="rId14"/>
    <p:sldId id="324" r:id="rId15"/>
    <p:sldId id="271" r:id="rId16"/>
    <p:sldId id="272" r:id="rId17"/>
    <p:sldId id="27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4" r:id="rId26"/>
    <p:sldId id="285" r:id="rId27"/>
    <p:sldId id="286" r:id="rId28"/>
    <p:sldId id="325" r:id="rId29"/>
    <p:sldId id="326" r:id="rId30"/>
    <p:sldId id="327" r:id="rId3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3"/>
            <p14:sldId id="314"/>
            <p14:sldId id="315"/>
            <p14:sldId id="316"/>
            <p14:sldId id="317"/>
            <p14:sldId id="318"/>
            <p14:sldId id="319"/>
            <p14:sldId id="266"/>
            <p14:sldId id="320"/>
            <p14:sldId id="321"/>
            <p14:sldId id="270"/>
            <p14:sldId id="323"/>
            <p14:sldId id="324"/>
            <p14:sldId id="271"/>
            <p14:sldId id="272"/>
            <p14:sldId id="273"/>
            <p14:sldId id="276"/>
            <p14:sldId id="277"/>
            <p14:sldId id="278"/>
            <p14:sldId id="279"/>
            <p14:sldId id="280"/>
            <p14:sldId id="281"/>
            <p14:sldId id="282"/>
            <p14:sldId id="284"/>
            <p14:sldId id="285"/>
            <p14:sldId id="286"/>
            <p14:sldId id="325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větlý sty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16.10.2023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lourlovers.com/" TargetMode="External"/><Relationship Id="rId2" Type="http://schemas.openxmlformats.org/officeDocument/2006/relationships/hyperlink" Target="https://en.wikipedia.org/wiki/X11_color_nam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aletton.com/#uid=1000u0kllllaFw0g0qFqFg0w0a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rafts.csswg.org/css-fonts-3/#serif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(Kaskádové styly)</a:t>
            </a: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7986CB18-3410-4F10-A88B-A8ED864C5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26" name="Picture 2" descr="CSS - Wikipedia">
            <a:extLst>
              <a:ext uri="{FF2B5EF4-FFF2-40B4-BE49-F238E27FC236}">
                <a16:creationId xmlns:a16="http://schemas.microsoft.com/office/drawing/2014/main" id="{1CDC4DDB-4E9C-D0B1-82C5-930541649E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41"/>
          <a:stretch/>
        </p:blipFill>
        <p:spPr bwMode="auto">
          <a:xfrm>
            <a:off x="4032074" y="1481921"/>
            <a:ext cx="4127852" cy="480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Style Sheets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Style Sheets = Kaskádové styly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Řeší grafický design webu. 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základu: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textu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textu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Barva </a:t>
            </a:r>
          </a:p>
        </p:txBody>
      </p:sp>
      <p:pic>
        <p:nvPicPr>
          <p:cNvPr id="3" name="Picture 2" descr="Screenshot of CSS">
            <a:extLst>
              <a:ext uri="{FF2B5EF4-FFF2-40B4-BE49-F238E27FC236}">
                <a16:creationId xmlns:a16="http://schemas.microsoft.com/office/drawing/2014/main" id="{6526F399-2285-0B3C-CA5B-96F5A3887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079" y="1690688"/>
            <a:ext cx="3699719" cy="482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72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 to psát?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lze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přiřadit k HTML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dokumentu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odkazem na externí soubor typu .css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příklad přiřazení stylu v externím CSS souboru:</a:t>
            </a:r>
          </a:p>
          <a:p>
            <a:pPr lvl="2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&lt;link rel="stylesheet" type="text/css" href="styl.css"&gt;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lze také vložit:</a:t>
            </a:r>
          </a:p>
          <a:p>
            <a:pPr lvl="1"/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přímo do hlavičky HTML dokumentu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2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 type="text/css"&gt; ... &lt;/style&gt;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nebo k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elementu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&lt;p style=" ... "&gt;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64285673-6CC5-4419-4599-BFC3EFD3B3CA}"/>
              </a:ext>
            </a:extLst>
          </p:cNvPr>
          <p:cNvSpPr/>
          <p:nvPr/>
        </p:nvSpPr>
        <p:spPr>
          <a:xfrm>
            <a:off x="7284720" y="3562568"/>
            <a:ext cx="4754880" cy="31700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cs-CZ" altLang="cs-CZ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html</a:t>
            </a:r>
            <a:r>
              <a:rPr lang="cs-CZ" altLang="cs-CZ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cs-CZ" altLang="cs-CZ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altLang="cs-CZ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cs-CZ" altLang="cs-CZ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</a:p>
          <a:p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&lt;style&gt; </a:t>
            </a:r>
          </a:p>
          <a:p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	body { </a:t>
            </a:r>
          </a:p>
          <a:p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		</a:t>
            </a:r>
            <a:r>
              <a:rPr lang="cs-CZ" altLang="cs-CZ" sz="2000" b="1" dirty="0" err="1">
                <a:solidFill>
                  <a:srgbClr val="18A600"/>
                </a:solidFill>
                <a:latin typeface="Consolas" panose="020B0609020204030204" pitchFamily="49" charset="0"/>
              </a:rPr>
              <a:t>color</a:t>
            </a:r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: </a:t>
            </a:r>
            <a:r>
              <a:rPr lang="cs-CZ" altLang="cs-CZ" sz="2000" b="1" dirty="0" err="1">
                <a:solidFill>
                  <a:srgbClr val="18A600"/>
                </a:solidFill>
                <a:latin typeface="Consolas" panose="020B0609020204030204" pitchFamily="49" charset="0"/>
              </a:rPr>
              <a:t>yellow</a:t>
            </a:r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		background-</a:t>
            </a:r>
            <a:r>
              <a:rPr lang="cs-CZ" altLang="cs-CZ" sz="2000" b="1" dirty="0" err="1">
                <a:solidFill>
                  <a:srgbClr val="18A600"/>
                </a:solidFill>
                <a:latin typeface="Consolas" panose="020B0609020204030204" pitchFamily="49" charset="0"/>
              </a:rPr>
              <a:t>color</a:t>
            </a:r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: </a:t>
            </a:r>
            <a:r>
              <a:rPr lang="cs-CZ" altLang="cs-CZ" sz="2000" b="1" dirty="0" err="1">
                <a:solidFill>
                  <a:srgbClr val="18A600"/>
                </a:solidFill>
                <a:latin typeface="Consolas" panose="020B0609020204030204" pitchFamily="49" charset="0"/>
              </a:rPr>
              <a:t>black</a:t>
            </a:r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cs-CZ" altLang="cs-CZ" sz="2000" b="1" dirty="0">
                <a:solidFill>
                  <a:srgbClr val="18A600"/>
                </a:solidFill>
                <a:latin typeface="Consolas" panose="020B0609020204030204" pitchFamily="49" charset="0"/>
              </a:rPr>
              <a:t>&lt;/style&gt;</a:t>
            </a:r>
            <a:r>
              <a:rPr lang="cs-CZ" altLang="cs-CZ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cs-CZ" altLang="cs-CZ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&lt;/</a:t>
            </a:r>
            <a:r>
              <a:rPr lang="cs-CZ" altLang="cs-CZ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head</a:t>
            </a:r>
            <a:r>
              <a:rPr lang="cs-CZ" altLang="cs-CZ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cs-CZ" altLang="cs-CZ" sz="1000" b="1" dirty="0">
                <a:latin typeface="Consolas" panose="020B0609020204030204" pitchFamily="49" charset="0"/>
              </a:rPr>
              <a:t> </a:t>
            </a:r>
            <a:endParaRPr lang="cs-CZ" altLang="cs-CZ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29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 CSS elementů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624E367D-95E9-3392-E617-4C409B262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73380"/>
            <a:ext cx="12114551" cy="288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2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 CSS elementů</a:t>
            </a:r>
          </a:p>
        </p:txBody>
      </p:sp>
      <p:pic>
        <p:nvPicPr>
          <p:cNvPr id="4" name="Zástupný symbol pro obsah 5">
            <a:extLst>
              <a:ext uri="{FF2B5EF4-FFF2-40B4-BE49-F238E27FC236}">
                <a16:creationId xmlns:a16="http://schemas.microsoft.com/office/drawing/2014/main" id="{DF9E6675-E66C-4AF6-3D6B-EA9A86886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8177" y="1690688"/>
            <a:ext cx="9455646" cy="499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7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Vyzkoušejme to!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F8CEB2E1-57C0-AAFF-D34E-3EAEB07ECDD7}"/>
              </a:ext>
            </a:extLst>
          </p:cNvPr>
          <p:cNvSpPr/>
          <p:nvPr/>
        </p:nvSpPr>
        <p:spPr>
          <a:xfrm>
            <a:off x="549247" y="1690688"/>
            <a:ext cx="73419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&lt;</a:t>
            </a:r>
            <a:r>
              <a:rPr lang="en-US" sz="3200" dirty="0">
                <a:solidFill>
                  <a:srgbClr val="C82829"/>
                </a:solidFill>
                <a:latin typeface="inherit"/>
              </a:rPr>
              <a:t>head</a:t>
            </a:r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&gt;</a:t>
            </a:r>
            <a:r>
              <a:rPr lang="en-US" sz="3200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endParaRPr lang="cs-CZ" sz="3200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r>
              <a:rPr lang="cs-CZ" sz="3200" dirty="0">
                <a:solidFill>
                  <a:srgbClr val="4D4D4C"/>
                </a:solidFill>
                <a:latin typeface="Courier New" panose="02070309020205020404" pitchFamily="49" charset="0"/>
              </a:rPr>
              <a:t>  </a:t>
            </a:r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&lt;</a:t>
            </a:r>
            <a:r>
              <a:rPr lang="en-US" sz="3200" dirty="0">
                <a:solidFill>
                  <a:srgbClr val="C82829"/>
                </a:solidFill>
                <a:latin typeface="inherit"/>
              </a:rPr>
              <a:t>style</a:t>
            </a:r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&gt;</a:t>
            </a:r>
            <a:r>
              <a:rPr lang="en-US" sz="3200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endParaRPr lang="cs-CZ" sz="3200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r>
              <a:rPr lang="cs-CZ" sz="3200" dirty="0">
                <a:solidFill>
                  <a:srgbClr val="4D4D4C"/>
                </a:solidFill>
                <a:latin typeface="Courier New" panose="02070309020205020404" pitchFamily="49" charset="0"/>
              </a:rPr>
              <a:t>    </a:t>
            </a:r>
            <a:r>
              <a:rPr lang="en-US" sz="3200" dirty="0">
                <a:solidFill>
                  <a:srgbClr val="C82829"/>
                </a:solidFill>
                <a:latin typeface="inherit"/>
              </a:rPr>
              <a:t>p</a:t>
            </a:r>
            <a:r>
              <a:rPr lang="en-US" sz="3200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{ </a:t>
            </a:r>
            <a:endParaRPr lang="cs-CZ" sz="3200" dirty="0">
              <a:solidFill>
                <a:srgbClr val="4D4D4C"/>
              </a:solidFill>
              <a:latin typeface="inherit"/>
            </a:endParaRPr>
          </a:p>
          <a:p>
            <a:r>
              <a:rPr lang="cs-CZ" sz="3200" dirty="0">
                <a:solidFill>
                  <a:srgbClr val="4D4D4C"/>
                </a:solidFill>
                <a:latin typeface="inherit"/>
              </a:rPr>
              <a:t>	</a:t>
            </a:r>
            <a:r>
              <a:rPr lang="en-US" sz="3200" dirty="0">
                <a:solidFill>
                  <a:srgbClr val="EAB700"/>
                </a:solidFill>
                <a:latin typeface="inherit"/>
              </a:rPr>
              <a:t>color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:</a:t>
            </a:r>
            <a:r>
              <a:rPr lang="en-US" sz="3200" dirty="0">
                <a:solidFill>
                  <a:srgbClr val="718C00"/>
                </a:solidFill>
                <a:latin typeface="inherit"/>
              </a:rPr>
              <a:t> blue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; </a:t>
            </a:r>
          </a:p>
          <a:p>
            <a:r>
              <a:rPr lang="cs-CZ" sz="3200" dirty="0">
                <a:solidFill>
                  <a:srgbClr val="4D4D4C"/>
                </a:solidFill>
                <a:latin typeface="inherit"/>
              </a:rPr>
              <a:t>	</a:t>
            </a:r>
            <a:r>
              <a:rPr lang="en-US" sz="3200" dirty="0">
                <a:solidFill>
                  <a:srgbClr val="EAB700"/>
                </a:solidFill>
                <a:latin typeface="inherit"/>
              </a:rPr>
              <a:t>background-color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:</a:t>
            </a:r>
            <a:r>
              <a:rPr lang="en-US" sz="3200" dirty="0">
                <a:solidFill>
                  <a:srgbClr val="718C00"/>
                </a:solidFill>
                <a:latin typeface="inherit"/>
              </a:rPr>
              <a:t> yellow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; </a:t>
            </a:r>
          </a:p>
          <a:p>
            <a:r>
              <a:rPr lang="cs-CZ" sz="3200" dirty="0">
                <a:solidFill>
                  <a:srgbClr val="EAB700"/>
                </a:solidFill>
                <a:latin typeface="inherit"/>
              </a:rPr>
              <a:t>	</a:t>
            </a:r>
            <a:r>
              <a:rPr lang="en-US" sz="3200" dirty="0">
                <a:solidFill>
                  <a:srgbClr val="EAB700"/>
                </a:solidFill>
                <a:latin typeface="inherit"/>
              </a:rPr>
              <a:t>font-size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:</a:t>
            </a:r>
            <a:r>
              <a:rPr lang="en-US" sz="3200" dirty="0">
                <a:solidFill>
                  <a:srgbClr val="718C00"/>
                </a:solidFill>
                <a:latin typeface="inherit"/>
              </a:rPr>
              <a:t> </a:t>
            </a:r>
            <a:r>
              <a:rPr lang="en-US" sz="3200" dirty="0">
                <a:solidFill>
                  <a:srgbClr val="F5871F"/>
                </a:solidFill>
                <a:latin typeface="inherit"/>
              </a:rPr>
              <a:t>12</a:t>
            </a:r>
            <a:r>
              <a:rPr lang="en-US" sz="3200" dirty="0">
                <a:solidFill>
                  <a:srgbClr val="718C00"/>
                </a:solidFill>
                <a:latin typeface="inherit"/>
              </a:rPr>
              <a:t>px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; </a:t>
            </a:r>
            <a:endParaRPr lang="cs-CZ" sz="3200" dirty="0">
              <a:solidFill>
                <a:srgbClr val="4D4D4C"/>
              </a:solidFill>
              <a:latin typeface="inherit"/>
            </a:endParaRPr>
          </a:p>
          <a:p>
            <a:r>
              <a:rPr lang="cs-CZ" sz="3200" dirty="0">
                <a:solidFill>
                  <a:srgbClr val="4D4D4C"/>
                </a:solidFill>
                <a:latin typeface="inherit"/>
              </a:rPr>
              <a:t>        </a:t>
            </a:r>
            <a:r>
              <a:rPr lang="en-US" sz="3200" dirty="0">
                <a:solidFill>
                  <a:srgbClr val="4D4D4C"/>
                </a:solidFill>
                <a:latin typeface="inherit"/>
              </a:rPr>
              <a:t>}</a:t>
            </a:r>
            <a:r>
              <a:rPr lang="en-US" sz="3200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endParaRPr lang="cs-CZ" sz="3200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r>
              <a:rPr lang="cs-CZ" sz="3200" dirty="0">
                <a:solidFill>
                  <a:srgbClr val="4D4D4C"/>
                </a:solidFill>
                <a:latin typeface="Courier New" panose="02070309020205020404" pitchFamily="49" charset="0"/>
              </a:rPr>
              <a:t>  </a:t>
            </a:r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&lt;/</a:t>
            </a:r>
            <a:r>
              <a:rPr lang="en-US" sz="3200" dirty="0">
                <a:solidFill>
                  <a:srgbClr val="C82829"/>
                </a:solidFill>
                <a:latin typeface="inherit"/>
              </a:rPr>
              <a:t>style</a:t>
            </a:r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&gt;</a:t>
            </a:r>
            <a:endParaRPr lang="cs-CZ" sz="3200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&lt;/</a:t>
            </a:r>
            <a:r>
              <a:rPr lang="en-US" sz="3200" dirty="0">
                <a:solidFill>
                  <a:srgbClr val="C82829"/>
                </a:solidFill>
                <a:latin typeface="inherit"/>
              </a:rPr>
              <a:t>head</a:t>
            </a:r>
            <a:r>
              <a:rPr lang="en-US" sz="3200" dirty="0">
                <a:solidFill>
                  <a:srgbClr val="C82829"/>
                </a:solidFill>
                <a:latin typeface="Courier New" panose="02070309020205020404" pitchFamily="49" charset="0"/>
              </a:rPr>
              <a:t>&gt;</a:t>
            </a:r>
            <a:endParaRPr lang="cs-CZ" sz="3200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B92E30A4-72B6-C988-7920-A665C120E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4160" y="1841818"/>
            <a:ext cx="5257800" cy="3880773"/>
          </a:xfrm>
        </p:spPr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Vybere všechny odstavce (p)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Nastaví jejich písmo na modrou (blue)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Nastav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barvu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pozad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 na žlutou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Nastaví velikost písma na 12 pixelů</a:t>
            </a:r>
          </a:p>
        </p:txBody>
      </p:sp>
    </p:spTree>
    <p:extLst>
      <p:ext uri="{BB962C8B-B14F-4D97-AF65-F5344CB8AC3E}">
        <p14:creationId xmlns:p14="http://schemas.microsoft.com/office/powerpoint/2010/main" val="189623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Barvy</a:t>
            </a:r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03E9E8E2-6EC1-9D74-B8D0-3574ABDF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789"/>
            <a:ext cx="9149955" cy="3838277"/>
          </a:xfrm>
        </p:spPr>
        <p:txBody>
          <a:bodyPr>
            <a:no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Barvu můžeme deklarovat jako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Pojmenovanou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barvu – např. "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seznam zde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hodnota, 3x mezi 0 a 255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(255, 0, 0)"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hodnota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"#ff0000"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další možnosti (HLS apod.)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 CSS verze 3 také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 {background-color: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(255, 0, 0, 0.3);}  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cs-CZ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červená s 30% sytostí resp. 70% průhledností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endParaRPr lang="cs-C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Podobně i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HLSa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Palety barev –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zde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zde</a:t>
            </a:r>
            <a:br>
              <a:rPr lang="en-US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1934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Písmo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3F904E77-663D-43E0-CF25-8F52647BB0E4}"/>
              </a:ext>
            </a:extLst>
          </p:cNvPr>
          <p:cNvSpPr txBox="1">
            <a:spLocks/>
          </p:cNvSpPr>
          <p:nvPr/>
        </p:nvSpPr>
        <p:spPr>
          <a:xfrm>
            <a:off x="838200" y="1750696"/>
            <a:ext cx="10515600" cy="38807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82829"/>
                </a:solidFill>
                <a:latin typeface="Courier New" panose="02070309020205020404" pitchFamily="49" charset="0"/>
              </a:rPr>
              <a:t>p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 { </a:t>
            </a:r>
            <a:br>
              <a:rPr lang="cs-CZ" dirty="0">
                <a:solidFill>
                  <a:srgbClr val="4D4D4C"/>
                </a:solidFill>
                <a:latin typeface="Courier New" panose="02070309020205020404" pitchFamily="49" charset="0"/>
              </a:rPr>
            </a:br>
            <a:r>
              <a:rPr lang="cs-CZ" dirty="0">
                <a:solidFill>
                  <a:srgbClr val="4D4D4C"/>
                </a:solidFill>
                <a:latin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EAB700"/>
                </a:solidFill>
                <a:latin typeface="inherit"/>
              </a:rPr>
              <a:t>font-family</a:t>
            </a:r>
            <a:r>
              <a:rPr lang="en-US" dirty="0">
                <a:solidFill>
                  <a:srgbClr val="4D4D4C"/>
                </a:solidFill>
                <a:latin typeface="inherit"/>
              </a:rPr>
              <a:t>:</a:t>
            </a:r>
            <a:r>
              <a:rPr lang="en-US" dirty="0">
                <a:solidFill>
                  <a:srgbClr val="718C00"/>
                </a:solidFill>
                <a:latin typeface="inherit"/>
              </a:rPr>
              <a:t> "Times New Roman"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; 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/* </a:t>
            </a:r>
            <a:r>
              <a:rPr lang="cs-CZ" dirty="0">
                <a:solidFill>
                  <a:srgbClr val="8E908C"/>
                </a:solidFill>
                <a:latin typeface="inherit"/>
              </a:rPr>
              <a:t>konkrétní font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 */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/* </a:t>
            </a:r>
            <a:r>
              <a:rPr lang="cs-CZ" dirty="0">
                <a:solidFill>
                  <a:srgbClr val="8E908C"/>
                </a:solidFill>
                <a:latin typeface="inherit"/>
              </a:rPr>
              <a:t>nebo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 */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endParaRPr lang="cs-CZ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>
                <a:solidFill>
                  <a:srgbClr val="EAB700"/>
                </a:solidFill>
                <a:latin typeface="inherit"/>
              </a:rPr>
              <a:t>	</a:t>
            </a:r>
            <a:r>
              <a:rPr lang="en-US" dirty="0">
                <a:solidFill>
                  <a:srgbClr val="EAB700"/>
                </a:solidFill>
                <a:latin typeface="inherit"/>
              </a:rPr>
              <a:t>font-family</a:t>
            </a:r>
            <a:r>
              <a:rPr lang="en-US" dirty="0">
                <a:solidFill>
                  <a:srgbClr val="4D4D4C"/>
                </a:solidFill>
                <a:latin typeface="inherit"/>
              </a:rPr>
              <a:t>:</a:t>
            </a:r>
            <a:r>
              <a:rPr lang="en-US" dirty="0">
                <a:solidFill>
                  <a:srgbClr val="718C00"/>
                </a:solidFill>
                <a:latin typeface="inherit"/>
              </a:rPr>
              <a:t> serif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; 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/* </a:t>
            </a:r>
            <a:r>
              <a:rPr lang="cs-CZ" dirty="0">
                <a:solidFill>
                  <a:srgbClr val="8E908C"/>
                </a:solidFill>
                <a:latin typeface="inherit"/>
              </a:rPr>
              <a:t>Obecná rodina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 */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/* </a:t>
            </a:r>
            <a:r>
              <a:rPr lang="cs-CZ" dirty="0">
                <a:solidFill>
                  <a:srgbClr val="8E908C"/>
                </a:solidFill>
                <a:latin typeface="inherit"/>
              </a:rPr>
              <a:t>nebo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 */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endParaRPr lang="cs-CZ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>
                <a:solidFill>
                  <a:srgbClr val="EAB700"/>
                </a:solidFill>
                <a:latin typeface="inherit"/>
              </a:rPr>
              <a:t>	</a:t>
            </a:r>
            <a:r>
              <a:rPr lang="en-US" dirty="0">
                <a:solidFill>
                  <a:srgbClr val="EAB700"/>
                </a:solidFill>
                <a:latin typeface="inherit"/>
              </a:rPr>
              <a:t>font-family</a:t>
            </a:r>
            <a:r>
              <a:rPr lang="en-US" dirty="0">
                <a:solidFill>
                  <a:srgbClr val="4D4D4C"/>
                </a:solidFill>
                <a:latin typeface="inherit"/>
              </a:rPr>
              <a:t>:</a:t>
            </a:r>
            <a:r>
              <a:rPr lang="en-US" dirty="0">
                <a:solidFill>
                  <a:srgbClr val="718C00"/>
                </a:solidFill>
                <a:latin typeface="inherit"/>
              </a:rPr>
              <a:t> "Arial", sans-serif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; 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/* </a:t>
            </a:r>
            <a:r>
              <a:rPr lang="cs-CZ" dirty="0">
                <a:solidFill>
                  <a:srgbClr val="8E908C"/>
                </a:solidFill>
                <a:latin typeface="inherit"/>
              </a:rPr>
              <a:t>Seznam oddělený čárkami</a:t>
            </a:r>
            <a:r>
              <a:rPr lang="en-US" dirty="0">
                <a:solidFill>
                  <a:srgbClr val="8E908C"/>
                </a:solidFill>
                <a:latin typeface="inherit"/>
              </a:rPr>
              <a:t> */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</a:rPr>
              <a:t> </a:t>
            </a:r>
            <a:endParaRPr lang="cs-CZ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4D4D4C"/>
                </a:solidFill>
                <a:latin typeface="inherit"/>
              </a:rPr>
              <a:t>}</a:t>
            </a:r>
            <a:endParaRPr lang="cs-CZ" dirty="0"/>
          </a:p>
          <a:p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Obecné jméno rodiny vždy až na konec</a:t>
            </a:r>
          </a:p>
          <a:p>
            <a:pPr lvl="1"/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serif, sans-serif, </a:t>
            </a:r>
            <a:r>
              <a:rPr lang="cs-CZ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cursive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fantasy, </a:t>
            </a:r>
            <a:r>
              <a:rPr lang="cs-CZ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monospace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</a:t>
            </a:r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https://drafts.csswg.org/css-fonts-3/#serif0</a:t>
            </a:r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cs-CZ" dirty="0"/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2B3A0700-21B5-C275-3C9A-234130511A61}"/>
              </a:ext>
            </a:extLst>
          </p:cNvPr>
          <p:cNvGrpSpPr/>
          <p:nvPr/>
        </p:nvGrpSpPr>
        <p:grpSpPr>
          <a:xfrm>
            <a:off x="6588465" y="136993"/>
            <a:ext cx="5326412" cy="1781826"/>
            <a:chOff x="4084319" y="5040559"/>
            <a:chExt cx="5326412" cy="1781826"/>
          </a:xfrm>
        </p:grpSpPr>
        <p:pic>
          <p:nvPicPr>
            <p:cNvPr id="8" name="Picture 2" descr="http://drmarkwomack.com/images/serif-vs-sans-serif.png">
              <a:extLst>
                <a:ext uri="{FF2B5EF4-FFF2-40B4-BE49-F238E27FC236}">
                  <a16:creationId xmlns:a16="http://schemas.microsoft.com/office/drawing/2014/main" id="{5F4D4CB5-A111-CB9F-A9AE-31DCC820F3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492"/>
            <a:stretch/>
          </p:blipFill>
          <p:spPr bwMode="auto">
            <a:xfrm>
              <a:off x="4084319" y="5040559"/>
              <a:ext cx="4870177" cy="1412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A99E1D20-4F16-DDEF-4959-E813A29DCE08}"/>
                </a:ext>
              </a:extLst>
            </p:cNvPr>
            <p:cNvSpPr txBox="1"/>
            <p:nvPr/>
          </p:nvSpPr>
          <p:spPr>
            <a:xfrm>
              <a:off x="4540554" y="6453053"/>
              <a:ext cx="1703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dirty="0"/>
                <a:t>Patkové (serif)</a:t>
              </a:r>
            </a:p>
          </p:txBody>
        </p:sp>
        <p:sp>
          <p:nvSpPr>
            <p:cNvPr id="10" name="TextovéPole 9">
              <a:extLst>
                <a:ext uri="{FF2B5EF4-FFF2-40B4-BE49-F238E27FC236}">
                  <a16:creationId xmlns:a16="http://schemas.microsoft.com/office/drawing/2014/main" id="{C403C47C-706D-AEE7-271F-81F9178B41C9}"/>
                </a:ext>
              </a:extLst>
            </p:cNvPr>
            <p:cNvSpPr txBox="1"/>
            <p:nvPr/>
          </p:nvSpPr>
          <p:spPr>
            <a:xfrm>
              <a:off x="6602217" y="6453053"/>
              <a:ext cx="2808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dirty="0"/>
                <a:t>Bezpatkové (</a:t>
              </a:r>
              <a:r>
                <a:rPr lang="cs-CZ" dirty="0" err="1"/>
                <a:t>sans</a:t>
              </a:r>
              <a:r>
                <a:rPr lang="cs-CZ" dirty="0"/>
                <a:t>-serif)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16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písma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C82829"/>
                </a:solidFill>
                <a:latin typeface="Courier New" panose="02070309020205020404" pitchFamily="49" charset="0"/>
              </a:rPr>
              <a:t>p</a:t>
            </a:r>
            <a:r>
              <a:rPr lang="fr-FR" dirty="0">
                <a:solidFill>
                  <a:srgbClr val="4D4D4C"/>
                </a:solidFill>
                <a:latin typeface="Courier New" panose="02070309020205020404" pitchFamily="49" charset="0"/>
              </a:rPr>
              <a:t> { </a:t>
            </a:r>
            <a:endParaRPr lang="cs-CZ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4D4D4C"/>
                </a:solidFill>
                <a:latin typeface="Courier New" panose="02070309020205020404" pitchFamily="49" charset="0"/>
              </a:rPr>
              <a:t>	</a:t>
            </a:r>
            <a:r>
              <a:rPr lang="fr-FR" dirty="0">
                <a:solidFill>
                  <a:srgbClr val="EAB700"/>
                </a:solidFill>
                <a:latin typeface="inherit"/>
              </a:rPr>
              <a:t>font-size</a:t>
            </a:r>
            <a:r>
              <a:rPr lang="fr-FR" dirty="0">
                <a:solidFill>
                  <a:srgbClr val="4D4D4C"/>
                </a:solidFill>
                <a:latin typeface="inherit"/>
              </a:rPr>
              <a:t>:</a:t>
            </a:r>
            <a:r>
              <a:rPr lang="fr-FR" dirty="0">
                <a:solidFill>
                  <a:srgbClr val="718C00"/>
                </a:solidFill>
                <a:latin typeface="inherit"/>
              </a:rPr>
              <a:t> </a:t>
            </a:r>
            <a:r>
              <a:rPr lang="fr-FR" dirty="0">
                <a:solidFill>
                  <a:srgbClr val="F5871F"/>
                </a:solidFill>
                <a:latin typeface="inherit"/>
              </a:rPr>
              <a:t>12</a:t>
            </a:r>
            <a:r>
              <a:rPr lang="fr-FR" dirty="0">
                <a:solidFill>
                  <a:srgbClr val="718C00"/>
                </a:solidFill>
                <a:latin typeface="inherit"/>
              </a:rPr>
              <a:t>px</a:t>
            </a:r>
            <a:r>
              <a:rPr lang="fr-FR" dirty="0">
                <a:solidFill>
                  <a:srgbClr val="4D4D4C"/>
                </a:solidFill>
                <a:latin typeface="Courier New" panose="02070309020205020404" pitchFamily="49" charset="0"/>
              </a:rPr>
              <a:t>; </a:t>
            </a:r>
            <a:endParaRPr lang="cs-CZ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4D4D4C"/>
                </a:solidFill>
                <a:latin typeface="Courier New" panose="02070309020205020404" pitchFamily="49" charset="0"/>
              </a:rPr>
              <a:t>	</a:t>
            </a:r>
            <a:r>
              <a:rPr lang="fr-FR" dirty="0">
                <a:solidFill>
                  <a:srgbClr val="EAB700"/>
                </a:solidFill>
                <a:latin typeface="inherit"/>
              </a:rPr>
              <a:t>font-size</a:t>
            </a:r>
            <a:r>
              <a:rPr lang="fr-FR" dirty="0">
                <a:solidFill>
                  <a:srgbClr val="4D4D4C"/>
                </a:solidFill>
                <a:latin typeface="inherit"/>
              </a:rPr>
              <a:t>:</a:t>
            </a:r>
            <a:r>
              <a:rPr lang="fr-FR" dirty="0">
                <a:solidFill>
                  <a:srgbClr val="718C00"/>
                </a:solidFill>
                <a:latin typeface="inherit"/>
              </a:rPr>
              <a:t> </a:t>
            </a:r>
            <a:r>
              <a:rPr lang="fr-FR" dirty="0">
                <a:solidFill>
                  <a:srgbClr val="F5871F"/>
                </a:solidFill>
                <a:latin typeface="inherit"/>
              </a:rPr>
              <a:t>1.5</a:t>
            </a:r>
            <a:r>
              <a:rPr lang="fr-FR" dirty="0">
                <a:solidFill>
                  <a:srgbClr val="718C00"/>
                </a:solidFill>
                <a:latin typeface="inherit"/>
              </a:rPr>
              <a:t>em</a:t>
            </a:r>
            <a:r>
              <a:rPr lang="fr-FR" dirty="0">
                <a:solidFill>
                  <a:srgbClr val="4D4D4C"/>
                </a:solidFill>
                <a:latin typeface="Courier New" panose="02070309020205020404" pitchFamily="49" charset="0"/>
              </a:rPr>
              <a:t>; </a:t>
            </a:r>
            <a:endParaRPr lang="cs-CZ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4D4D4C"/>
                </a:solidFill>
                <a:latin typeface="Courier New" panose="02070309020205020404" pitchFamily="49" charset="0"/>
              </a:rPr>
              <a:t>	</a:t>
            </a:r>
            <a:r>
              <a:rPr lang="fr-FR" dirty="0">
                <a:solidFill>
                  <a:srgbClr val="EAB700"/>
                </a:solidFill>
                <a:latin typeface="inherit"/>
              </a:rPr>
              <a:t>font-size</a:t>
            </a:r>
            <a:r>
              <a:rPr lang="fr-FR" dirty="0">
                <a:solidFill>
                  <a:srgbClr val="4D4D4C"/>
                </a:solidFill>
                <a:latin typeface="inherit"/>
              </a:rPr>
              <a:t>:</a:t>
            </a:r>
            <a:r>
              <a:rPr lang="fr-FR" dirty="0">
                <a:solidFill>
                  <a:srgbClr val="718C00"/>
                </a:solidFill>
                <a:latin typeface="inherit"/>
              </a:rPr>
              <a:t> </a:t>
            </a:r>
            <a:r>
              <a:rPr lang="fr-FR" dirty="0">
                <a:solidFill>
                  <a:srgbClr val="F5871F"/>
                </a:solidFill>
                <a:latin typeface="inherit"/>
              </a:rPr>
              <a:t>100</a:t>
            </a:r>
            <a:r>
              <a:rPr lang="fr-FR" dirty="0">
                <a:solidFill>
                  <a:srgbClr val="718C00"/>
                </a:solidFill>
                <a:latin typeface="inherit"/>
              </a:rPr>
              <a:t>%</a:t>
            </a:r>
            <a:r>
              <a:rPr lang="fr-FR" dirty="0">
                <a:solidFill>
                  <a:srgbClr val="4D4D4C"/>
                </a:solidFill>
                <a:latin typeface="Courier New" panose="02070309020205020404" pitchFamily="49" charset="0"/>
              </a:rPr>
              <a:t>; </a:t>
            </a:r>
            <a:endParaRPr lang="cs-CZ" dirty="0">
              <a:solidFill>
                <a:srgbClr val="4D4D4C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>
                <a:solidFill>
                  <a:srgbClr val="4D4D4C"/>
                </a:solidFill>
                <a:latin typeface="inherit"/>
              </a:rPr>
              <a:t>}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graphicFrame>
        <p:nvGraphicFramePr>
          <p:cNvPr id="6" name="Tabul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615418"/>
              </p:ext>
            </p:extLst>
          </p:nvPr>
        </p:nvGraphicFramePr>
        <p:xfrm>
          <a:off x="6329850" y="365125"/>
          <a:ext cx="5664030" cy="6018475"/>
        </p:xfrm>
        <a:graphic>
          <a:graphicData uri="http://schemas.openxmlformats.org/drawingml/2006/table">
            <a:tbl>
              <a:tblPr/>
              <a:tblGrid>
                <a:gridCol w="2832015">
                  <a:extLst>
                    <a:ext uri="{9D8B030D-6E8A-4147-A177-3AD203B41FA5}">
                      <a16:colId xmlns:a16="http://schemas.microsoft.com/office/drawing/2014/main" val="3190327525"/>
                    </a:ext>
                  </a:extLst>
                </a:gridCol>
                <a:gridCol w="2832015">
                  <a:extLst>
                    <a:ext uri="{9D8B030D-6E8A-4147-A177-3AD203B41FA5}">
                      <a16:colId xmlns:a16="http://schemas.microsoft.com/office/drawing/2014/main" val="2291239137"/>
                    </a:ext>
                  </a:extLst>
                </a:gridCol>
              </a:tblGrid>
              <a:tr h="355472"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000" dirty="0" err="1">
                          <a:effectLst/>
                        </a:rPr>
                        <a:t>xx-small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61732"/>
                  </a:ext>
                </a:extLst>
              </a:tr>
              <a:tr h="372368"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000" dirty="0">
                          <a:effectLst/>
                        </a:rPr>
                        <a:t>x-</a:t>
                      </a:r>
                      <a:r>
                        <a:rPr lang="cs-CZ" sz="2000" dirty="0" err="1">
                          <a:effectLst/>
                        </a:rPr>
                        <a:t>small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12225"/>
                  </a:ext>
                </a:extLst>
              </a:tr>
              <a:tr h="372368"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000" dirty="0" err="1">
                          <a:effectLst/>
                        </a:rPr>
                        <a:t>small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790113"/>
                  </a:ext>
                </a:extLst>
              </a:tr>
              <a:tr h="372368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medium</a:t>
                      </a: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556201"/>
                  </a:ext>
                </a:extLst>
              </a:tr>
              <a:tr h="372368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 err="1">
                          <a:effectLst/>
                        </a:rPr>
                        <a:t>large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822298"/>
                  </a:ext>
                </a:extLst>
              </a:tr>
              <a:tr h="372368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x-</a:t>
                      </a:r>
                      <a:r>
                        <a:rPr lang="cs-CZ" sz="2000" dirty="0" err="1">
                          <a:effectLst/>
                        </a:rPr>
                        <a:t>large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07226"/>
                  </a:ext>
                </a:extLst>
              </a:tr>
              <a:tr h="372368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 err="1">
                          <a:effectLst/>
                        </a:rPr>
                        <a:t>xx-large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529470"/>
                  </a:ext>
                </a:extLst>
              </a:tr>
              <a:tr h="524699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 err="1">
                          <a:effectLst/>
                        </a:rPr>
                        <a:t>smaller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Menší, než rodič</a:t>
                      </a:r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6731"/>
                  </a:ext>
                </a:extLst>
              </a:tr>
              <a:tr h="524699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 err="1">
                          <a:effectLst/>
                        </a:rPr>
                        <a:t>larger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Větší než rodič</a:t>
                      </a:r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503862"/>
                  </a:ext>
                </a:extLst>
              </a:tr>
              <a:tr h="624449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i="1" dirty="0">
                          <a:effectLst/>
                        </a:rPr>
                        <a:t>velikost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Pevná velikost v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px</a:t>
                      </a:r>
                      <a:r>
                        <a:rPr lang="en-US" sz="2000" dirty="0">
                          <a:effectLst/>
                        </a:rPr>
                        <a:t>, cm,</a:t>
                      </a:r>
                      <a:r>
                        <a:rPr lang="cs-CZ" sz="2000" dirty="0">
                          <a:effectLst/>
                        </a:rPr>
                        <a:t> mm, </a:t>
                      </a:r>
                      <a:r>
                        <a:rPr lang="cs-CZ" sz="2000" dirty="0" err="1">
                          <a:effectLst/>
                        </a:rPr>
                        <a:t>pt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cs-CZ" sz="2000" dirty="0" err="1">
                          <a:effectLst/>
                        </a:rPr>
                        <a:t>atd</a:t>
                      </a:r>
                      <a:r>
                        <a:rPr lang="en-US" sz="2000" dirty="0">
                          <a:effectLst/>
                        </a:rPr>
                        <a:t>.</a:t>
                      </a: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338677"/>
                  </a:ext>
                </a:extLst>
              </a:tr>
              <a:tr h="524699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i="1" dirty="0">
                          <a:effectLst/>
                        </a:rPr>
                        <a:t>%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Poměr</a:t>
                      </a:r>
                      <a:r>
                        <a:rPr lang="cs-CZ" sz="2000" baseline="0" dirty="0">
                          <a:effectLst/>
                        </a:rPr>
                        <a:t> vůči velikosti rodiče</a:t>
                      </a:r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285306"/>
                  </a:ext>
                </a:extLst>
              </a:tr>
              <a:tr h="524699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 err="1">
                          <a:effectLst/>
                        </a:rPr>
                        <a:t>initial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Výchozí hodnota browseru</a:t>
                      </a:r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57101"/>
                  </a:ext>
                </a:extLst>
              </a:tr>
              <a:tr h="677031"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 err="1">
                          <a:effectLst/>
                        </a:rPr>
                        <a:t>inherit</a:t>
                      </a:r>
                      <a:endParaRPr lang="cs-CZ" sz="2000" dirty="0">
                        <a:effectLst/>
                      </a:endParaRPr>
                    </a:p>
                  </a:txBody>
                  <a:tcPr marL="43368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cs-CZ" sz="2000" dirty="0">
                          <a:effectLst/>
                        </a:rPr>
                        <a:t>Podědit po rodiči</a:t>
                      </a:r>
                      <a:endParaRPr lang="en-US" sz="2000" dirty="0">
                        <a:effectLst/>
                      </a:endParaRPr>
                    </a:p>
                  </a:txBody>
                  <a:tcPr marL="21684" marR="21684" marT="21684" marB="2168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91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99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písma –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absolt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jednotky</a:t>
            </a:r>
          </a:p>
        </p:txBody>
      </p:sp>
      <p:graphicFrame>
        <p:nvGraphicFramePr>
          <p:cNvPr id="7" name="Tabulka 6">
            <a:extLst>
              <a:ext uri="{FF2B5EF4-FFF2-40B4-BE49-F238E27FC236}">
                <a16:creationId xmlns:a16="http://schemas.microsoft.com/office/drawing/2014/main" id="{B0E749F8-0F53-7083-33BD-892FA9B60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32394"/>
              </p:ext>
            </p:extLst>
          </p:nvPr>
        </p:nvGraphicFramePr>
        <p:xfrm>
          <a:off x="1009405" y="1707515"/>
          <a:ext cx="10173190" cy="478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086595">
                  <a:extLst>
                    <a:ext uri="{9D8B030D-6E8A-4147-A177-3AD203B41FA5}">
                      <a16:colId xmlns:a16="http://schemas.microsoft.com/office/drawing/2014/main" val="2782469999"/>
                    </a:ext>
                  </a:extLst>
                </a:gridCol>
                <a:gridCol w="5086595">
                  <a:extLst>
                    <a:ext uri="{9D8B030D-6E8A-4147-A177-3AD203B41FA5}">
                      <a16:colId xmlns:a16="http://schemas.microsoft.com/office/drawing/2014/main" val="2989478764"/>
                    </a:ext>
                  </a:extLst>
                </a:gridCol>
              </a:tblGrid>
              <a:tr h="510251"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3200" b="1" dirty="0"/>
                        <a:t>Absolutní</a:t>
                      </a:r>
                      <a:r>
                        <a:rPr lang="cs-CZ" sz="3200" b="1" baseline="0" dirty="0"/>
                        <a:t> jednotky</a:t>
                      </a:r>
                      <a:endParaRPr lang="cs-CZ" sz="3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cs-CZ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936684"/>
                  </a:ext>
                </a:extLst>
              </a:tr>
              <a:tr h="510251">
                <a:tc>
                  <a:txBody>
                    <a:bodyPr/>
                    <a:lstStyle/>
                    <a:p>
                      <a:r>
                        <a:rPr lang="cs-CZ" sz="3200" dirty="0"/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3200" dirty="0"/>
                        <a:t>milimetr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241800"/>
                  </a:ext>
                </a:extLst>
              </a:tr>
              <a:tr h="510251">
                <a:tc>
                  <a:txBody>
                    <a:bodyPr/>
                    <a:lstStyle/>
                    <a:p>
                      <a:r>
                        <a:rPr lang="cs-CZ" sz="3200" dirty="0"/>
                        <a:t>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3200" dirty="0"/>
                        <a:t>centimetr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221114"/>
                  </a:ext>
                </a:extLst>
              </a:tr>
              <a:tr h="510251">
                <a:tc>
                  <a:txBody>
                    <a:bodyPr/>
                    <a:lstStyle/>
                    <a:p>
                      <a:r>
                        <a:rPr lang="cs-CZ" sz="32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3200" dirty="0"/>
                        <a:t>palec (1in = 96px = 2.54cm)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405296"/>
                  </a:ext>
                </a:extLst>
              </a:tr>
              <a:tr h="1105544">
                <a:tc>
                  <a:txBody>
                    <a:bodyPr/>
                    <a:lstStyle/>
                    <a:p>
                      <a:r>
                        <a:rPr lang="cs-CZ" sz="3200" dirty="0" err="1"/>
                        <a:t>px</a:t>
                      </a:r>
                      <a:endParaRPr lang="cs-CZ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pixel (1px = 1/96 </a:t>
                      </a:r>
                      <a:r>
                        <a:rPr lang="cs-CZ" sz="3200" dirty="0"/>
                        <a:t>palce</a:t>
                      </a:r>
                      <a:r>
                        <a:rPr lang="en-US" sz="3200" dirty="0"/>
                        <a:t>) </a:t>
                      </a:r>
                      <a:br>
                        <a:rPr lang="cs-CZ" sz="3200" dirty="0"/>
                      </a:br>
                      <a:r>
                        <a:rPr lang="cs-CZ" sz="2400" dirty="0"/>
                        <a:t>(na </a:t>
                      </a:r>
                      <a:r>
                        <a:rPr lang="cs-CZ" sz="2400" dirty="0" err="1"/>
                        <a:t>dipleji</a:t>
                      </a:r>
                      <a:r>
                        <a:rPr lang="cs-CZ" sz="2400" dirty="0"/>
                        <a:t> 1 obrazový</a:t>
                      </a:r>
                      <a:r>
                        <a:rPr lang="cs-CZ" sz="2400" baseline="0" dirty="0"/>
                        <a:t> </a:t>
                      </a:r>
                      <a:r>
                        <a:rPr lang="cs-CZ" sz="2400" dirty="0"/>
                        <a:t>bod, na tiskárně i více, záleží na pozorovací vzdálenosti)</a:t>
                      </a:r>
                      <a:endParaRPr lang="en-US" sz="24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43821"/>
                  </a:ext>
                </a:extLst>
              </a:tr>
              <a:tr h="510251">
                <a:tc>
                  <a:txBody>
                    <a:bodyPr/>
                    <a:lstStyle/>
                    <a:p>
                      <a:r>
                        <a:rPr lang="cs-CZ" sz="3200"/>
                        <a:t>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3200" dirty="0"/>
                        <a:t>bod</a:t>
                      </a:r>
                      <a:r>
                        <a:rPr lang="en-US" sz="3200" dirty="0"/>
                        <a:t> (1pt = 1/72 </a:t>
                      </a:r>
                      <a:r>
                        <a:rPr lang="cs-CZ" sz="3200" dirty="0"/>
                        <a:t>palce</a:t>
                      </a:r>
                      <a:r>
                        <a:rPr lang="en-US" sz="3200" dirty="0"/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685593"/>
                  </a:ext>
                </a:extLst>
              </a:tr>
              <a:tr h="510251">
                <a:tc>
                  <a:txBody>
                    <a:bodyPr/>
                    <a:lstStyle/>
                    <a:p>
                      <a:r>
                        <a:rPr lang="cs-CZ" sz="3200"/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3200" dirty="0" err="1"/>
                        <a:t>pica</a:t>
                      </a:r>
                      <a:r>
                        <a:rPr lang="cs-CZ" sz="3200" dirty="0"/>
                        <a:t> (1pc = 12 </a:t>
                      </a:r>
                      <a:r>
                        <a:rPr lang="cs-CZ" sz="3200" dirty="0" err="1"/>
                        <a:t>pt</a:t>
                      </a:r>
                      <a:r>
                        <a:rPr lang="cs-CZ" sz="3200" dirty="0"/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34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180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písma –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jednotky</a:t>
            </a:r>
          </a:p>
        </p:txBody>
      </p:sp>
      <p:graphicFrame>
        <p:nvGraphicFramePr>
          <p:cNvPr id="3" name="Zástupný symbol pro obsah 3">
            <a:extLst>
              <a:ext uri="{FF2B5EF4-FFF2-40B4-BE49-F238E27FC236}">
                <a16:creationId xmlns:a16="http://schemas.microsoft.com/office/drawing/2014/main" id="{1181599F-CD5F-E703-10B3-2C573AA42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629323"/>
              </p:ext>
            </p:extLst>
          </p:nvPr>
        </p:nvGraphicFramePr>
        <p:xfrm>
          <a:off x="1375165" y="1596765"/>
          <a:ext cx="9441670" cy="526123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720835">
                  <a:extLst>
                    <a:ext uri="{9D8B030D-6E8A-4147-A177-3AD203B41FA5}">
                      <a16:colId xmlns:a16="http://schemas.microsoft.com/office/drawing/2014/main" val="154585435"/>
                    </a:ext>
                  </a:extLst>
                </a:gridCol>
                <a:gridCol w="4720835">
                  <a:extLst>
                    <a:ext uri="{9D8B030D-6E8A-4147-A177-3AD203B41FA5}">
                      <a16:colId xmlns:a16="http://schemas.microsoft.com/office/drawing/2014/main" val="455758637"/>
                    </a:ext>
                  </a:extLst>
                </a:gridCol>
              </a:tblGrid>
              <a:tr h="315643">
                <a:tc>
                  <a:txBody>
                    <a:bodyPr/>
                    <a:lstStyle/>
                    <a:p>
                      <a:r>
                        <a:rPr lang="cs-CZ" sz="2000" b="1" dirty="0">
                          <a:effectLst/>
                        </a:rPr>
                        <a:t>Jednotka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2000" b="1" dirty="0"/>
                        <a:t>Popis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50531"/>
                  </a:ext>
                </a:extLst>
              </a:tr>
              <a:tr h="789108">
                <a:tc>
                  <a:txBody>
                    <a:bodyPr/>
                    <a:lstStyle/>
                    <a:p>
                      <a:r>
                        <a:rPr lang="cs-CZ" sz="2000" dirty="0" err="1"/>
                        <a:t>em</a:t>
                      </a:r>
                      <a:endParaRPr lang="cs-CZ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2000" dirty="0" err="1"/>
                        <a:t>Čtverčík</a:t>
                      </a:r>
                      <a:r>
                        <a:rPr lang="cs-CZ" sz="2000" dirty="0"/>
                        <a:t>, přímá </a:t>
                      </a:r>
                      <a:r>
                        <a:rPr lang="cs-CZ" sz="2000" baseline="0" dirty="0"/>
                        <a:t>velikost fontu, 2em znamená dvojnásobek velikosti použitého fontu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180256"/>
                  </a:ext>
                </a:extLst>
              </a:tr>
              <a:tr h="552375">
                <a:tc>
                  <a:txBody>
                    <a:bodyPr/>
                    <a:lstStyle/>
                    <a:p>
                      <a:r>
                        <a:rPr lang="cs-CZ" sz="2000" dirty="0" err="1"/>
                        <a:t>vh</a:t>
                      </a:r>
                      <a:endParaRPr lang="cs-CZ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1% </a:t>
                      </a:r>
                      <a:r>
                        <a:rPr lang="cs-CZ" sz="2000" dirty="0"/>
                        <a:t>výšky viditelné plochy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59019"/>
                  </a:ext>
                </a:extLst>
              </a:tr>
              <a:tr h="552375">
                <a:tc>
                  <a:txBody>
                    <a:bodyPr/>
                    <a:lstStyle/>
                    <a:p>
                      <a:r>
                        <a:rPr lang="cs-CZ" sz="2000" dirty="0" err="1"/>
                        <a:t>vw</a:t>
                      </a:r>
                      <a:endParaRPr lang="cs-CZ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1% </a:t>
                      </a:r>
                      <a:r>
                        <a:rPr lang="cs-CZ" sz="2000" dirty="0"/>
                        <a:t>šířky viditelné plochy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445111"/>
                  </a:ext>
                </a:extLst>
              </a:tr>
              <a:tr h="552375">
                <a:tc>
                  <a:txBody>
                    <a:bodyPr/>
                    <a:lstStyle/>
                    <a:p>
                      <a:r>
                        <a:rPr lang="cs-CZ" sz="2000" dirty="0" err="1"/>
                        <a:t>vmin</a:t>
                      </a:r>
                      <a:endParaRPr lang="cs-CZ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1% </a:t>
                      </a:r>
                      <a:r>
                        <a:rPr lang="cs-CZ" sz="2000" dirty="0"/>
                        <a:t>menšího rozměru viditelné plochy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160733"/>
                  </a:ext>
                </a:extLst>
              </a:tr>
              <a:tr h="552375">
                <a:tc>
                  <a:txBody>
                    <a:bodyPr/>
                    <a:lstStyle/>
                    <a:p>
                      <a:r>
                        <a:rPr lang="cs-CZ" sz="2000" dirty="0" err="1"/>
                        <a:t>vmax</a:t>
                      </a:r>
                      <a:endParaRPr lang="cs-CZ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1% </a:t>
                      </a:r>
                      <a:r>
                        <a:rPr lang="cs-CZ" sz="2000" dirty="0"/>
                        <a:t>většího rozměru viditelné plochy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498400"/>
                  </a:ext>
                </a:extLst>
              </a:tr>
              <a:tr h="552375">
                <a:tc>
                  <a:txBody>
                    <a:bodyPr/>
                    <a:lstStyle/>
                    <a:p>
                      <a:r>
                        <a:rPr lang="cs-CZ" sz="2000" dirty="0"/>
                        <a:t>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2000" dirty="0"/>
                        <a:t>zhruba velikost šířky písmene x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941777"/>
                  </a:ext>
                </a:extLst>
              </a:tr>
              <a:tr h="315643">
                <a:tc>
                  <a:txBody>
                    <a:bodyPr/>
                    <a:lstStyle/>
                    <a:p>
                      <a:r>
                        <a:rPr lang="cs-CZ" sz="2000" dirty="0"/>
                        <a:t>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2000" dirty="0"/>
                        <a:t>Šířka znaku 0 (nula)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639942"/>
                  </a:ext>
                </a:extLst>
              </a:tr>
              <a:tr h="552375">
                <a:tc>
                  <a:txBody>
                    <a:bodyPr/>
                    <a:lstStyle/>
                    <a:p>
                      <a:r>
                        <a:rPr lang="cs-CZ" sz="2000" dirty="0" err="1"/>
                        <a:t>rem</a:t>
                      </a:r>
                      <a:endParaRPr lang="cs-CZ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sz="2000" dirty="0"/>
                        <a:t>Relativní vůči velikosti</a:t>
                      </a:r>
                      <a:r>
                        <a:rPr lang="cs-CZ" sz="2000" baseline="0" dirty="0"/>
                        <a:t> fontu rodičovského prvku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564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37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Selektory – ty nejjednodušší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niverzální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selektor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týká se úplně všeho, co se zobrazuje, zapisuje se symbolem hvězdičky,</a:t>
            </a:r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načkový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selektor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týká se jen určitého HTML prvku (např.: odstavce, nadpisu či obrázku),</a:t>
            </a:r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h2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16pt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family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Tahoma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sans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-serif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1858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Selektory: Class a ID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 nemusíme přiřazovat všem elementů daného typu, ale jen vybraným pomocí atributů class a id</a:t>
            </a:r>
          </a:p>
          <a:p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všechny elementy dané třídy budou takto vypadat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CSS se uvozuje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tečkou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.jmeno {…}</a:t>
            </a:r>
          </a:p>
          <a:p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smí se v html dokumentu vyskytnout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pouze jednou 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taková třída pro jednoho studenta :)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CSS se uvozuje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hashem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jmeno {…}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18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>
            <a:extLst>
              <a:ext uri="{FF2B5EF4-FFF2-40B4-BE49-F238E27FC236}">
                <a16:creationId xmlns:a16="http://schemas.microsoft.com/office/drawing/2014/main" id="{61BEF165-E979-4F13-ABC0-80682CAB6747}"/>
              </a:ext>
            </a:extLst>
          </p:cNvPr>
          <p:cNvSpPr txBox="1"/>
          <p:nvPr/>
        </p:nvSpPr>
        <p:spPr>
          <a:xfrm>
            <a:off x="287948" y="1385634"/>
            <a:ext cx="6097464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CSS:</a:t>
            </a: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#mojeID {</a:t>
            </a:r>
            <a:r>
              <a:rPr lang="cs-CZ" sz="4000" b="0" i="0" u="none" strike="noStrike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green}</a:t>
            </a: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endParaRPr lang="cs-CZ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4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HTML:</a:t>
            </a:r>
            <a:br>
              <a:rPr lang="cs-CZ" sz="4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 id="</a:t>
            </a:r>
            <a:r>
              <a:rPr lang="cs-CZ" sz="4000" b="0" i="0" u="none" strike="noStrike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mojeID</a:t>
            </a: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"&gt; ... &lt;/p&gt;</a:t>
            </a:r>
            <a:endParaRPr lang="cs-CZ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55C7B83-60C5-4DE1-9A45-60A7E97EC914}"/>
              </a:ext>
            </a:extLst>
          </p:cNvPr>
          <p:cNvSpPr txBox="1"/>
          <p:nvPr/>
        </p:nvSpPr>
        <p:spPr>
          <a:xfrm>
            <a:off x="5901835" y="535712"/>
            <a:ext cx="609746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CSS:</a:t>
            </a: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sz="4000" b="0" i="0" u="none" strike="noStrike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mojetrida</a:t>
            </a: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cs-CZ" sz="4000" b="0" i="0" u="none" strike="noStrike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cs-CZ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green}  			  </a:t>
            </a:r>
            <a:endParaRPr lang="cs-CZ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cs-CZ" sz="4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HTML:</a:t>
            </a:r>
            <a:br>
              <a:rPr lang="cs-CZ" sz="4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 class="mojetrida"&gt; ... &lt;/p&gt;</a:t>
            </a:r>
          </a:p>
          <a:p>
            <a:pPr rtl="0">
              <a:spcBef>
                <a:spcPts val="600"/>
              </a:spcBef>
              <a:spcAft>
                <a:spcPts val="0"/>
              </a:spcAft>
            </a:pPr>
            <a:r>
              <a:rPr lang="pt-BR" sz="4000" b="0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&lt;h1 class="mojetrida"&gt; ... &lt;/h1&gt;</a:t>
            </a:r>
          </a:p>
          <a:p>
            <a:pPr rtl="0">
              <a:spcBef>
                <a:spcPts val="600"/>
              </a:spcBef>
              <a:spcAft>
                <a:spcPts val="0"/>
              </a:spcAft>
            </a:pPr>
            <a:endParaRPr lang="cs-CZ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E10889F8-FB0F-4969-9FB4-D576534AD6A3}"/>
              </a:ext>
            </a:extLst>
          </p:cNvPr>
          <p:cNvCxnSpPr>
            <a:cxnSpLocks/>
          </p:cNvCxnSpPr>
          <p:nvPr/>
        </p:nvCxnSpPr>
        <p:spPr>
          <a:xfrm>
            <a:off x="5732585" y="-35169"/>
            <a:ext cx="0" cy="6928338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66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 třídy</a:t>
            </a:r>
          </a:p>
          <a:p>
            <a:r>
              <a:rPr lang="cs-CZ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Slouží  pro definici vlastních stylů</a:t>
            </a:r>
          </a:p>
          <a:p>
            <a:r>
              <a:rPr lang="cs-CZ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Začíná tečkou </a:t>
            </a:r>
          </a:p>
          <a:p>
            <a:pPr marL="0" indent="0">
              <a:buNone/>
            </a:pP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dulezite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font-weight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bold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 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poznamka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x-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small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  <a:p>
            <a:r>
              <a:rPr lang="cs-C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cs-CZ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cs-C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kódu pak budou prvky označeny třídou takto </a:t>
            </a:r>
          </a:p>
          <a:p>
            <a:pPr marL="0" indent="0">
              <a:buNone/>
            </a:pP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pl-PL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="dulezite"&gt;</a:t>
            </a: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Kdo to ukradne, tomu upadne!</a:t>
            </a: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pl-PL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Karel jel na vodu, ale vrátil se už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dulezite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za dva dny!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pl-PL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l-PL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="poznamka"&gt;</a:t>
            </a:r>
            <a:r>
              <a:rPr lang="pl-P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Předchozí text byl převzat z původní německé verze</a:t>
            </a: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pl-PL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pl-P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pl-P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777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 unikátního identifikátoru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Slouží pro definici vlastních stylů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Začíná # (nebo volitelně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nazevTagu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hlavni_nadpis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violet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kódu pak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prvk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nastav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(unikátní) ID takto</a:t>
            </a:r>
          </a:p>
          <a:p>
            <a:pPr marL="0" indent="0">
              <a:buNone/>
            </a:pP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h1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="hlavni_nadpis"&gt;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Naše firma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h1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6625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690688"/>
            <a:ext cx="10676466" cy="47635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Vnořený s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</a:t>
            </a:r>
            <a:endParaRPr lang="cs-CZ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týká se vnořeného HTML prvku do jiného HTML prvku (např.: tabulky nebo oddílu), zapisuje v pořadí nadřízený - podřízený HTML prvek</a:t>
            </a:r>
          </a:p>
          <a:p>
            <a:pPr marL="0" indent="0">
              <a:buNone/>
            </a:pP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font-style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italic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 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změní odkazy, které jsou uvnitř číslovaného seznamu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Selektor přímého potomka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Týká se přímo vnořeného HTML prvku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font-weight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bold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</a:t>
            </a:r>
            <a:r>
              <a:rPr lang="cs-CZ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žený</a:t>
            </a:r>
            <a:r>
              <a:rPr lang="cs-CZ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cs-CZ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</a:t>
            </a:r>
            <a:endParaRPr lang="cs-CZ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Týká se více HTML prvků, u kterých se používá stejná vlastnost se stejnou hodnotou. HTML prvky se oddělují čárkou</a:t>
            </a:r>
          </a:p>
          <a:p>
            <a:pPr marL="0" indent="0">
              <a:buNone/>
            </a:pP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h1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h2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p.položka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#navigace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pt-BR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font-family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Arial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sans-serif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45462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textu: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</a:t>
            </a:r>
            <a:r>
              <a:rPr lang="cs-CZ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nastaví vodorovné zarovnání všech blokových prvků</a:t>
            </a:r>
          </a:p>
          <a:p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hodnoty:</a:t>
            </a:r>
          </a:p>
          <a:p>
            <a:pPr lvl="1"/>
            <a:r>
              <a:rPr lang="cs-CZ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(zarovnání k levému okraji)</a:t>
            </a:r>
          </a:p>
          <a:p>
            <a:pPr lvl="1"/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 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(zarovnání na střed)</a:t>
            </a:r>
          </a:p>
          <a:p>
            <a:pPr lvl="1"/>
            <a:r>
              <a:rPr lang="cs-CZ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(zarovnání k pravému okraji)</a:t>
            </a:r>
          </a:p>
          <a:p>
            <a:pPr lvl="1"/>
            <a:r>
              <a:rPr lang="cs-CZ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justify</a:t>
            </a:r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(zarovnání do bloku)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align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63470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textu: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</a:t>
            </a:r>
            <a:r>
              <a:rPr lang="cs-CZ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výšk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řádk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řádkování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cs-CZ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(typicky, platné jsou všechny </a:t>
            </a:r>
            <a:r>
              <a:rPr lang="cs-CZ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cs-CZ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délky):</a:t>
            </a:r>
          </a:p>
          <a:p>
            <a:pPr lvl="1"/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desetinné číslo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(s desetinnou tečkou),</a:t>
            </a:r>
          </a:p>
          <a:p>
            <a:pPr lvl="1"/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procento 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(150% odpovídá 1,5 řádkování),</a:t>
            </a:r>
          </a:p>
          <a:p>
            <a:pPr lvl="1"/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délka 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cs-CZ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1.5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150%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nav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16px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2681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textu: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</a:t>
            </a:r>
            <a:r>
              <a:rPr lang="cs-CZ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decoration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nastaví různé efekty pro písmo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hodnotou může být:</a:t>
            </a:r>
          </a:p>
          <a:p>
            <a:pPr lvl="1"/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(podtržení)</a:t>
            </a:r>
          </a:p>
          <a:p>
            <a:pPr lvl="1"/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overline</a:t>
            </a: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(pruh nad)</a:t>
            </a:r>
          </a:p>
          <a:p>
            <a:pPr lvl="1"/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line-</a:t>
            </a:r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(přeškrtnutí)</a:t>
            </a:r>
          </a:p>
          <a:p>
            <a:pPr lvl="1"/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(žádné)</a:t>
            </a:r>
          </a:p>
          <a:p>
            <a:r>
              <a:rPr lang="cs-CZ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Pozor – podtržený znamená na webu </a:t>
            </a:r>
            <a:r>
              <a:rPr lang="cs-CZ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hyperlink</a:t>
            </a:r>
            <a:endParaRPr lang="cs-CZ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i="1" dirty="0"/>
          </a:p>
          <a:p>
            <a:pPr marL="0" indent="0">
              <a:buNone/>
            </a:pP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decoration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underline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i="1" dirty="0"/>
          </a:p>
        </p:txBody>
      </p:sp>
    </p:spTree>
    <p:extLst>
      <p:ext uri="{BB962C8B-B14F-4D97-AF65-F5344CB8AC3E}">
        <p14:creationId xmlns:p14="http://schemas.microsoft.com/office/powerpoint/2010/main" val="4001920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textu: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text-indent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Nastaví odražení prvního řádku v odstavci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 (typicky, platné jsou všechny </a:t>
            </a:r>
            <a:r>
              <a:rPr lang="cs-C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délky):</a:t>
            </a:r>
          </a:p>
          <a:p>
            <a:pPr lvl="1"/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délka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procento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(podle nadřazeného prvku)</a:t>
            </a:r>
          </a:p>
          <a:p>
            <a:pPr lvl="1"/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text-indent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5em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5232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textu: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</a:t>
            </a:r>
            <a:r>
              <a:rPr lang="cs-CZ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Mění zobrazenou velikost textu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Hodnoty:</a:t>
            </a:r>
          </a:p>
          <a:p>
            <a:pPr lvl="1"/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capitalize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(první písmena slov budou velká)</a:t>
            </a:r>
          </a:p>
          <a:p>
            <a:pPr lvl="1"/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uppercase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(všechna písmena se zobrazí jako velká)</a:t>
            </a:r>
          </a:p>
          <a:p>
            <a:pPr lvl="1"/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lowercase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(všechna písmena se zobrazí jako malá)</a:t>
            </a:r>
          </a:p>
          <a:p>
            <a:pPr lvl="1"/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(nemění velikost)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h1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uppercase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59552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textu: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</a:t>
            </a:r>
            <a:r>
              <a:rPr lang="cs-CZ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shadow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nastaví stín textu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 se zapisují v přesném pořadí: </a:t>
            </a:r>
            <a:r>
              <a:rPr lang="cs-CZ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posunX</a:t>
            </a:r>
            <a:r>
              <a:rPr lang="cs-CZ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posun Y </a:t>
            </a:r>
            <a:r>
              <a:rPr lang="cs-CZ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rozmázání</a:t>
            </a:r>
            <a:r>
              <a:rPr lang="cs-CZ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barva</a:t>
            </a:r>
            <a:endParaRPr lang="cs-C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vynechat hodnotu rozmazání (stejné jako hodnota 0px)</a:t>
            </a:r>
          </a:p>
          <a:p>
            <a:pPr lvl="1"/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Hodnoty: 3x délka, 1x barva</a:t>
            </a:r>
          </a:p>
          <a:p>
            <a:pPr lvl="1"/>
            <a:endParaRPr lang="cs-CZ" b="1" dirty="0"/>
          </a:p>
          <a:p>
            <a:pPr lvl="1"/>
            <a:endParaRPr lang="cs-CZ" b="1" dirty="0"/>
          </a:p>
          <a:p>
            <a:pPr marL="0" indent="0">
              <a:buNone/>
            </a:pP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p.citat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shadow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3px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#00FF00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text-shadow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838661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 textu: </a:t>
            </a:r>
            <a:r>
              <a:rPr lang="cs-CZ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letter-spacing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řídí mezeru mezi písmeny (tzv. rozpal)</a:t>
            </a:r>
          </a:p>
          <a:p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hodnotou je </a:t>
            </a:r>
            <a:r>
              <a:rPr lang="cs-CZ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délka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vykrik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letter-spacing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2808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Seznamy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specifick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vlastnosti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list-style-type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2124891"/>
            <a:ext cx="8596668" cy="4197532"/>
          </a:xfrm>
        </p:spPr>
        <p:txBody>
          <a:bodyPr>
            <a:normAutofit fontScale="25000" lnSpcReduction="20000"/>
          </a:bodyPr>
          <a:lstStyle/>
          <a:p>
            <a:r>
              <a:rPr lang="cs-CZ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 odrážky nebo číslování</a:t>
            </a:r>
          </a:p>
          <a:p>
            <a:r>
              <a:rPr lang="cs-CZ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 pro netříděné seznamy </a:t>
            </a:r>
            <a:r>
              <a:rPr lang="cs-CZ" sz="1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cs-CZ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(plný kruh)</a:t>
            </a: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(kružnice)</a:t>
            </a:r>
          </a:p>
          <a:p>
            <a:pPr lvl="1"/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(čtverec)</a:t>
            </a:r>
          </a:p>
          <a:p>
            <a:r>
              <a:rPr lang="cs-CZ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 pro tříděné seznamy </a:t>
            </a:r>
            <a:r>
              <a:rPr lang="cs-CZ" sz="1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endParaRPr lang="cs-CZ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(desítkové číslování)</a:t>
            </a: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upper-alpha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(velká písmena)</a:t>
            </a: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lower-alpha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(malá písmena)</a:t>
            </a: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upper-roman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(velké římské číslice)</a:t>
            </a: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lower-roman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(malé římské číslice)</a:t>
            </a:r>
          </a:p>
          <a:p>
            <a:r>
              <a:rPr lang="cs-CZ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oba dva typy seznamů</a:t>
            </a:r>
          </a:p>
          <a:p>
            <a:pPr lvl="1"/>
            <a:r>
              <a:rPr lang="cs-CZ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(vypne)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mnoho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dal</a:t>
            </a:r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ších…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6732750" y="433501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ul.nakupniSezna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 li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list-style-type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square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pozvani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list-style-type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lower-roman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74859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Seznamy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list-style-</a:t>
            </a:r>
            <a:r>
              <a:rPr lang="cs-CZ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ovl</a:t>
            </a:r>
            <a:r>
              <a:rPr lang="cs-CZ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ádá</a:t>
            </a:r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zda se má odrážka zobrazit mimo úroveň textu nebo v úrovni textu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hodnotou může být:</a:t>
            </a:r>
          </a:p>
          <a:p>
            <a:pPr lvl="1"/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outside</a:t>
            </a: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(mimo úroveň textu – výchozí hodnota)</a:t>
            </a:r>
          </a:p>
          <a:p>
            <a:pPr lvl="1"/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 úrovni textu)</a:t>
            </a:r>
          </a:p>
          <a:p>
            <a:pPr lvl="1"/>
            <a:endParaRPr lang="cs-CZ" dirty="0"/>
          </a:p>
          <a:p>
            <a:pPr marL="0" indent="0">
              <a:buNone/>
            </a:pP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list-style-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inside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07668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Seznamy: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list-style-image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Umístí obrázek místo odrážky 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Obrázek potřebuje vhodné rozměry (malé obrázky)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Hodnotou je URL (cesta) obrázku,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závorce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ohraničena uvozovkami</a:t>
            </a:r>
          </a:p>
          <a:p>
            <a:endParaRPr lang="en-US" dirty="0"/>
          </a:p>
          <a:p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list-style-image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url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('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/odrazka.gif')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63920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Tabulky: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Borders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Určuje ohraničení tabulky</a:t>
            </a:r>
          </a:p>
          <a:p>
            <a:r>
              <a:rPr lang="cs-CZ" dirty="0"/>
              <a:t>Lze zapsat šířka ohraničení</a:t>
            </a:r>
          </a:p>
          <a:p>
            <a:r>
              <a:rPr lang="cs-CZ" dirty="0"/>
              <a:t>Hranice jde také určovat pro jednotlivé strany buňky</a:t>
            </a:r>
          </a:p>
          <a:p>
            <a:pPr lvl="1"/>
            <a:r>
              <a:rPr lang="cs-CZ" dirty="0" err="1">
                <a:solidFill>
                  <a:srgbClr val="FF0000"/>
                </a:solidFill>
                <a:effectLst/>
              </a:rPr>
              <a:t>border-bottom</a:t>
            </a:r>
            <a:endParaRPr lang="cs-CZ" dirty="0">
              <a:solidFill>
                <a:srgbClr val="FF0000"/>
              </a:solidFill>
              <a:effectLst/>
            </a:endParaRPr>
          </a:p>
          <a:p>
            <a:pPr lvl="1"/>
            <a:r>
              <a:rPr lang="cs-CZ" dirty="0" err="1">
                <a:solidFill>
                  <a:srgbClr val="FF0000"/>
                </a:solidFill>
                <a:effectLst/>
              </a:rPr>
              <a:t>border</a:t>
            </a:r>
            <a:r>
              <a:rPr lang="cs-CZ" dirty="0">
                <a:solidFill>
                  <a:srgbClr val="FF0000"/>
                </a:solidFill>
                <a:effectLst/>
              </a:rPr>
              <a:t>-top</a:t>
            </a:r>
          </a:p>
          <a:p>
            <a:pPr lvl="1"/>
            <a:r>
              <a:rPr lang="cs-CZ" dirty="0" err="1">
                <a:solidFill>
                  <a:srgbClr val="FF0000"/>
                </a:solidFill>
                <a:effectLst/>
              </a:rPr>
              <a:t>border-right</a:t>
            </a:r>
            <a:endParaRPr lang="cs-CZ" dirty="0">
              <a:solidFill>
                <a:srgbClr val="FF0000"/>
              </a:solidFill>
              <a:effectLst/>
            </a:endParaRPr>
          </a:p>
          <a:p>
            <a:pPr lvl="1"/>
            <a:r>
              <a:rPr lang="cs-CZ" dirty="0" err="1">
                <a:solidFill>
                  <a:srgbClr val="FF0000"/>
                </a:solidFill>
                <a:effectLst/>
              </a:rPr>
              <a:t>border-left</a:t>
            </a:r>
            <a:endParaRPr lang="cs-CZ" dirty="0"/>
          </a:p>
          <a:p>
            <a:endParaRPr lang="cs-CZ" dirty="0"/>
          </a:p>
          <a:p>
            <a:r>
              <a:rPr lang="cs-CZ" dirty="0" err="1"/>
              <a:t>Border-collapse</a:t>
            </a:r>
            <a:r>
              <a:rPr lang="cs-CZ" dirty="0"/>
              <a:t> určuje jestli mají být hranice dvojité, či ne</a:t>
            </a:r>
          </a:p>
          <a:p>
            <a:pPr marL="0" indent="0">
              <a:buNone/>
            </a:pPr>
            <a:r>
              <a:rPr lang="cs-CZ" dirty="0">
                <a:solidFill>
                  <a:srgbClr val="A52A2A"/>
                </a:solidFill>
                <a:effectLst/>
              </a:rPr>
              <a:t>table </a:t>
            </a:r>
            <a:r>
              <a:rPr lang="cs-CZ" dirty="0">
                <a:solidFill>
                  <a:srgbClr val="000000"/>
                </a:solidFill>
                <a:effectLst/>
              </a:rPr>
              <a:t>{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FF0000"/>
                </a:solidFill>
                <a:effectLst/>
              </a:rPr>
              <a:t>  </a:t>
            </a:r>
            <a:r>
              <a:rPr lang="cs-CZ" dirty="0" err="1">
                <a:solidFill>
                  <a:srgbClr val="FF0000"/>
                </a:solidFill>
                <a:effectLst/>
              </a:rPr>
              <a:t>border-collapse</a:t>
            </a:r>
            <a:r>
              <a:rPr lang="cs-CZ" dirty="0">
                <a:solidFill>
                  <a:srgbClr val="000000"/>
                </a:solidFill>
                <a:effectLst/>
              </a:rPr>
              <a:t>:</a:t>
            </a:r>
            <a:r>
              <a:rPr lang="cs-CZ" dirty="0">
                <a:solidFill>
                  <a:srgbClr val="0000CD"/>
                </a:solidFill>
                <a:effectLst/>
              </a:rPr>
              <a:t> </a:t>
            </a:r>
            <a:r>
              <a:rPr lang="cs-CZ" dirty="0" err="1">
                <a:solidFill>
                  <a:srgbClr val="0000CD"/>
                </a:solidFill>
                <a:effectLst/>
              </a:rPr>
              <a:t>collapse</a:t>
            </a:r>
            <a:r>
              <a:rPr lang="cs-CZ" dirty="0">
                <a:solidFill>
                  <a:srgbClr val="000000"/>
                </a:solidFill>
                <a:effectLst/>
              </a:rPr>
              <a:t>;</a:t>
            </a:r>
            <a:br>
              <a:rPr lang="cs-CZ" dirty="0">
                <a:solidFill>
                  <a:srgbClr val="FF0000"/>
                </a:solidFill>
                <a:effectLst/>
              </a:rPr>
            </a:br>
            <a:r>
              <a:rPr lang="cs-CZ" dirty="0">
                <a:solidFill>
                  <a:srgbClr val="000000"/>
                </a:solidFill>
                <a:effectLst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833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Tabulky: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Výška a </a:t>
            </a:r>
            <a:r>
              <a:rPr lang="cs-CZ" dirty="0" err="1"/>
              <a:t>šírka</a:t>
            </a:r>
            <a:r>
              <a:rPr lang="cs-CZ" dirty="0"/>
              <a:t> tabulky</a:t>
            </a:r>
          </a:p>
          <a:p>
            <a:r>
              <a:rPr lang="cs-CZ" dirty="0"/>
              <a:t>Ideálně psát v procentech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en-US" dirty="0">
                <a:solidFill>
                  <a:srgbClr val="A52A2A"/>
                </a:solidFill>
                <a:effectLst/>
              </a:rPr>
              <a:t>table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 width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100%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A52A2A"/>
                </a:solidFill>
                <a:effectLst/>
              </a:rPr>
            </a:br>
            <a:br>
              <a:rPr lang="en-US" dirty="0">
                <a:solidFill>
                  <a:srgbClr val="A52A2A"/>
                </a:solidFill>
                <a:effectLst/>
              </a:rPr>
            </a:br>
            <a:r>
              <a:rPr lang="en-US" dirty="0" err="1">
                <a:solidFill>
                  <a:srgbClr val="A52A2A"/>
                </a:solidFill>
                <a:effectLst/>
              </a:rPr>
              <a:t>th</a:t>
            </a:r>
            <a:r>
              <a:rPr lang="en-US" dirty="0">
                <a:solidFill>
                  <a:srgbClr val="A52A2A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 height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70px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726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Tabulky: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U tabulky se kromě zarovnání textu na </a:t>
            </a:r>
            <a:r>
              <a:rPr lang="cs-CZ" dirty="0" err="1"/>
              <a:t>pravo</a:t>
            </a:r>
            <a:r>
              <a:rPr lang="cs-CZ" dirty="0"/>
              <a:t>/střed/vlevo řeší jeho zarovnání ve výšce buňky.</a:t>
            </a:r>
          </a:p>
          <a:p>
            <a:r>
              <a:rPr lang="cs-CZ" dirty="0"/>
              <a:t>A to jestli bude</a:t>
            </a:r>
          </a:p>
          <a:p>
            <a:pPr lvl="1"/>
            <a:r>
              <a:rPr lang="cs-CZ" b="1" dirty="0" err="1"/>
              <a:t>Baseline</a:t>
            </a:r>
            <a:endParaRPr lang="cs-CZ" b="1" dirty="0"/>
          </a:p>
          <a:p>
            <a:pPr lvl="1"/>
            <a:r>
              <a:rPr lang="cs-CZ" b="1" dirty="0"/>
              <a:t>Top</a:t>
            </a:r>
          </a:p>
          <a:p>
            <a:pPr lvl="1"/>
            <a:r>
              <a:rPr lang="cs-CZ" b="1" dirty="0" err="1"/>
              <a:t>Middle</a:t>
            </a:r>
            <a:endParaRPr lang="cs-CZ" b="1" dirty="0"/>
          </a:p>
          <a:p>
            <a:pPr lvl="1"/>
            <a:r>
              <a:rPr lang="cs-CZ" b="1" dirty="0" err="1"/>
              <a:t>Bottom</a:t>
            </a:r>
            <a:endParaRPr lang="cs-CZ" b="1" dirty="0"/>
          </a:p>
          <a:p>
            <a:pPr marL="0" indent="0">
              <a:buNone/>
            </a:pPr>
            <a:r>
              <a:rPr lang="en-US" dirty="0">
                <a:solidFill>
                  <a:srgbClr val="A52A2A"/>
                </a:solidFill>
                <a:effectLst/>
              </a:rPr>
              <a:t>td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 vertical-align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bottom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9430257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2339</TotalTime>
  <Words>1645</Words>
  <Application>Microsoft Office PowerPoint</Application>
  <PresentationFormat>Širokoúhlá obrazovka</PresentationFormat>
  <Paragraphs>299</Paragraphs>
  <Slides>30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Courier New</vt:lpstr>
      <vt:lpstr>inherit</vt:lpstr>
      <vt:lpstr>Times New Roman</vt:lpstr>
      <vt:lpstr>Motiv Office</vt:lpstr>
      <vt:lpstr>CSS (Kaskádové styly)</vt:lpstr>
      <vt:lpstr>Cascading Style Sheets</vt:lpstr>
      <vt:lpstr>Kam to psát?</vt:lpstr>
      <vt:lpstr>Struktura CSS elementů</vt:lpstr>
      <vt:lpstr>Struktura CSS elementů</vt:lpstr>
      <vt:lpstr>Vyzkoušejme to!</vt:lpstr>
      <vt:lpstr>Barvy</vt:lpstr>
      <vt:lpstr>Písmo</vt:lpstr>
      <vt:lpstr>Velikost písma</vt:lpstr>
      <vt:lpstr>Velikost písma – absolt. jednotky</vt:lpstr>
      <vt:lpstr>Velikost písma – rel. jednotky</vt:lpstr>
      <vt:lpstr>Selektory – ty nejjednodušší</vt:lpstr>
      <vt:lpstr>Selektory: Class a ID</vt:lpstr>
      <vt:lpstr>Prezentace aplikace PowerPoint</vt:lpstr>
      <vt:lpstr>Selektory</vt:lpstr>
      <vt:lpstr>Selektory</vt:lpstr>
      <vt:lpstr>Selektory</vt:lpstr>
      <vt:lpstr>Vlastnosti textu: text-align</vt:lpstr>
      <vt:lpstr>Vlastnosti textu: line-height</vt:lpstr>
      <vt:lpstr>Vlastnosti textu: text-decoration</vt:lpstr>
      <vt:lpstr>Vlastnosti textu: text-indent</vt:lpstr>
      <vt:lpstr>Vlastnosti textu: text-transform</vt:lpstr>
      <vt:lpstr>Vlastnosti textu: text-shadow</vt:lpstr>
      <vt:lpstr>Vlastnosti textu: letter-spacing</vt:lpstr>
      <vt:lpstr>Seznamy – specifické vlastnosti: list-style-type</vt:lpstr>
      <vt:lpstr>Seznamy: list-style-position</vt:lpstr>
      <vt:lpstr>Seznamy: list-style-image </vt:lpstr>
      <vt:lpstr>Tabulky: Borders</vt:lpstr>
      <vt:lpstr>Tabulky: Width and Height</vt:lpstr>
      <vt:lpstr>Tabulky: Vertical Alignment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186</cp:revision>
  <dcterms:created xsi:type="dcterms:W3CDTF">2020-09-17T19:44:13Z</dcterms:created>
  <dcterms:modified xsi:type="dcterms:W3CDTF">2023-10-16T09:43:45Z</dcterms:modified>
</cp:coreProperties>
</file>