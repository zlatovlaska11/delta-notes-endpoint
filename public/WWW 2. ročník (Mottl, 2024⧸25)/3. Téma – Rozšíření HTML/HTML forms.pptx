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11" r:id="rId3"/>
    <p:sldId id="312" r:id="rId4"/>
    <p:sldId id="313" r:id="rId5"/>
    <p:sldId id="316" r:id="rId6"/>
    <p:sldId id="272" r:id="rId7"/>
    <p:sldId id="317" r:id="rId8"/>
    <p:sldId id="318" r:id="rId9"/>
    <p:sldId id="262" r:id="rId10"/>
    <p:sldId id="275" r:id="rId11"/>
    <p:sldId id="319" r:id="rId12"/>
    <p:sldId id="320" r:id="rId13"/>
    <p:sldId id="314" r:id="rId14"/>
    <p:sldId id="315" r:id="rId15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Výchozí oddíl" id="{24AEA209-C073-45F3-BD96-6C1F3A63D139}">
          <p14:sldIdLst>
            <p14:sldId id="256"/>
            <p14:sldId id="311"/>
            <p14:sldId id="312"/>
            <p14:sldId id="313"/>
            <p14:sldId id="316"/>
            <p14:sldId id="272"/>
            <p14:sldId id="317"/>
            <p14:sldId id="318"/>
            <p14:sldId id="262"/>
            <p14:sldId id="275"/>
            <p14:sldId id="319"/>
            <p14:sldId id="320"/>
            <p14:sldId id="314"/>
            <p14:sldId id="31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51" autoAdjust="0"/>
    <p:restoredTop sz="94660"/>
  </p:normalViewPr>
  <p:slideViewPr>
    <p:cSldViewPr snapToGrid="0">
      <p:cViewPr varScale="1">
        <p:scale>
          <a:sx n="87" d="100"/>
          <a:sy n="87" d="100"/>
        </p:scale>
        <p:origin x="68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5927F7F-90EA-4722-A3F9-CD65861BA2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75EE4224-AD42-4754-A050-6D27D77176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AAADAA84-EDF8-4E6B-AA8C-642890570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07.11.2023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DB74B3E4-85D0-4A34-85CB-31DF6D9CC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57AC71F-7FD3-4736-9C8A-5FE5F0435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72056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7581153-7983-4459-81AB-747EA3A9E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92F58CF-4412-4CD4-BF23-526FC8ED97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50AAC38-9DC2-45B6-821F-5C453E2F6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07.11.2023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377EFF5-BBBA-4FB8-93A9-9F9FEE44F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FFC63BF7-3E4E-4BED-A706-208C1AFFC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90440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97FB8AC-47A2-4757-B97F-9999F230C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03CFD394-D2D6-4832-BF76-D19CA159D8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567A780-BF45-4476-A340-5A4FB2280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07.11.2023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AFB3ABE8-E7CF-44A4-A960-D4FF386F1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6AEFD807-F5EF-4FEF-A830-38004DDDF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46175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7CDCDD7-8D81-4B08-AAC4-972DF073A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2E33701-1B4D-4FFC-BC2B-419F789CCC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343DE34A-9AA5-4D2A-9FD8-2CAE0CFEF3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4EDE0502-A607-490B-BEEE-EF0321352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07.11.2023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C3229F4C-B3D7-4554-BB8A-2B853FD96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A4A00E21-C728-4D9A-9815-000B5D2BE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90709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7135C69-DEA3-49FB-90AC-B7A4E94FD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F40C7855-1267-4631-9CEB-19D6D15430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212AC6C2-A1D0-40C6-823C-78E60E3529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DCB692AC-435E-4457-BD90-7BA4354281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015999A6-4DB6-43E4-869B-F7187AA77B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A3527ECD-4E4C-430C-A225-24539E09C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07.11.2023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BE3CC256-0346-43DA-9573-264F212EC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5BA96289-783C-40CA-AC25-BBB5708B8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94507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BB11EE5-EC95-4771-AA64-4B20082BC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930DAD8B-7A95-4DEB-BFD9-EEB1972A4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07.11.2023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BFF0FE4C-BC54-41A8-8D73-1930B0197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B48F1477-1AAA-4E4D-B565-A2F7ACADD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02168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5AD27760-ED20-4A5A-8C43-98EACEEDB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07.11.2023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CFA47AA8-0435-4376-B2B7-40CECC89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5288966E-94CC-45C3-A3AB-1DC4EE0AC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32214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9FB3938-AA77-4F7E-A443-8564004A7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F85C744-E5A4-4384-8E88-911F51370D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62528255-6CF3-4882-B7A5-6167B43855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3694E554-3734-45C1-95EC-B8AD4B913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07.11.2023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45CB268B-E9BD-4E82-B788-6D6E88352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BA5A2B3C-D23F-47C0-BD37-2FF73F9B6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75900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DC5CA5D-2F63-4257-92FB-705680BBD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F8ED1FEB-D0D5-4F42-8BE5-4739079457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B98A32D5-E1B9-4423-A5F9-841E2FE6CE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5823CCBE-D365-450F-A238-8B824DDF4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07.11.2023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23D34DC9-81AD-4224-ADD7-D018FC8CA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CDE4C6E5-AF6D-4BAF-AFC0-D026F5407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01237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6B867FA-095B-4F79-B6B1-81CB1DA09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E71A9CA7-427D-4A5F-B8F0-10CF8B099B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7D34EFE-2368-46C9-9A7F-F10D14FD6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07.11.2023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26627018-9AB1-4C28-8375-914BBB688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19812887-3582-4858-8923-2154B8D57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750950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6A938D2F-19A3-4A6D-AF5C-E4A3D3F540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0DDCBFCE-7AFF-48B6-A55B-973D5619B3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0FB45A6A-2E0B-4591-916B-6E01BE07B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07.11.2023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EB26A863-B07F-4A43-A3C0-26BB30142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B43C1835-C15D-4821-A456-7A38B1585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53371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EB180023-B606-4C55-9E6D-507B89E0C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44EF6264-772B-477D-A40E-80D181FA76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EBF65A9A-56ED-4774-BCD0-D931FC4FE7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239F47-9FA3-40F2-9287-DDA8E5FC85B0}" type="datetimeFigureOut">
              <a:rPr lang="cs-CZ" smtClean="0"/>
              <a:t>07.11.2023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9D11B6B-4EC9-46CB-9F45-66FAC88D54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C2D1CF89-E863-491F-B505-D6D33D962E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5185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BDAE4B5-A32A-4A49-9C87-275C22AB7A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00711"/>
            <a:ext cx="9144000" cy="868362"/>
          </a:xfrm>
        </p:spPr>
        <p:txBody>
          <a:bodyPr>
            <a:normAutofit fontScale="90000"/>
          </a:bodyPr>
          <a:lstStyle/>
          <a:p>
            <a:r>
              <a:rPr lang="cs-CZ"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  <a:b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(formulář)</a:t>
            </a:r>
          </a:p>
        </p:txBody>
      </p:sp>
      <p:sp>
        <p:nvSpPr>
          <p:cNvPr id="4" name="AutoShape 6" descr="CSS - Wikipedia">
            <a:extLst>
              <a:ext uri="{FF2B5EF4-FFF2-40B4-BE49-F238E27FC236}">
                <a16:creationId xmlns:a16="http://schemas.microsoft.com/office/drawing/2014/main" id="{41106516-B4A3-47B7-953D-BEDDF324995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cs-CZ"/>
          </a:p>
        </p:txBody>
      </p:sp>
      <p:sp>
        <p:nvSpPr>
          <p:cNvPr id="5" name="AutoShape 8" descr="CSS - Wikipedia">
            <a:extLst>
              <a:ext uri="{FF2B5EF4-FFF2-40B4-BE49-F238E27FC236}">
                <a16:creationId xmlns:a16="http://schemas.microsoft.com/office/drawing/2014/main" id="{48F688FE-E1F6-4080-AB97-72C1649D7BB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cs-CZ"/>
          </a:p>
        </p:txBody>
      </p:sp>
      <p:pic>
        <p:nvPicPr>
          <p:cNvPr id="1028" name="Picture 4" descr="Treehouse - HTML Forms - student reviews | CourseTalk">
            <a:extLst>
              <a:ext uri="{FF2B5EF4-FFF2-40B4-BE49-F238E27FC236}">
                <a16:creationId xmlns:a16="http://schemas.microsoft.com/office/drawing/2014/main" id="{B0BB5C1D-050D-4646-B5AB-3BECAFD534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256" y="2076682"/>
            <a:ext cx="4093441" cy="4461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6" descr="HTML - Wikipedia">
            <a:extLst>
              <a:ext uri="{FF2B5EF4-FFF2-40B4-BE49-F238E27FC236}">
                <a16:creationId xmlns:a16="http://schemas.microsoft.com/office/drawing/2014/main" id="{18F12070-F8C1-4B22-BE32-C4E6E89028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4703" y="2077080"/>
            <a:ext cx="4461453" cy="4461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34972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 form?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5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Primárním účelem formuláře je získat informace od uživatele.</a:t>
            </a:r>
          </a:p>
          <a:p>
            <a:pPr marL="0" indent="0">
              <a:buNone/>
            </a:pP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Využít lze více způsoby, nejen jako formulář pro ukládání dat v databázi, ale například jako prvek nějaké dynamické části webu (ovládání galerie, hry, atd.)</a:t>
            </a:r>
          </a:p>
          <a:p>
            <a:pPr marL="0" indent="0">
              <a:buNone/>
            </a:pP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 používá element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cs-CZ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 veškerý kontent formuláře</a:t>
            </a:r>
          </a:p>
          <a:p>
            <a:pPr marL="0" indent="0">
              <a:buNone/>
            </a:pP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Následně lze nastavovat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atributy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či vkládat různé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elementy 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formuláře.</a:t>
            </a:r>
          </a:p>
        </p:txBody>
      </p:sp>
    </p:spTree>
    <p:extLst>
      <p:ext uri="{BB962C8B-B14F-4D97-AF65-F5344CB8AC3E}">
        <p14:creationId xmlns:p14="http://schemas.microsoft.com/office/powerpoint/2010/main" val="2844798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598269" cy="1325563"/>
          </a:xfrm>
        </p:spPr>
        <p:txBody>
          <a:bodyPr>
            <a:normAutofit/>
          </a:bodyPr>
          <a:lstStyle/>
          <a:p>
            <a:r>
              <a:rPr lang="pl-PL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Základní &lt;input&gt; elementy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5"/>
            <a:ext cx="959826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Základní prvky formuláře vhodné pro získávání informací od uživatele.</a:t>
            </a:r>
          </a:p>
        </p:txBody>
      </p:sp>
      <p:graphicFrame>
        <p:nvGraphicFramePr>
          <p:cNvPr id="3" name="Tabulka 2">
            <a:extLst>
              <a:ext uri="{FF2B5EF4-FFF2-40B4-BE49-F238E27FC236}">
                <a16:creationId xmlns:a16="http://schemas.microsoft.com/office/drawing/2014/main" id="{55E83C72-7B98-466A-B474-9A575847A2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4620359"/>
              </p:ext>
            </p:extLst>
          </p:nvPr>
        </p:nvGraphicFramePr>
        <p:xfrm>
          <a:off x="1062708" y="2778369"/>
          <a:ext cx="9224292" cy="3752097"/>
        </p:xfrm>
        <a:graphic>
          <a:graphicData uri="http://schemas.openxmlformats.org/drawingml/2006/table">
            <a:tbl>
              <a:tblPr/>
              <a:tblGrid>
                <a:gridCol w="4612146">
                  <a:extLst>
                    <a:ext uri="{9D8B030D-6E8A-4147-A177-3AD203B41FA5}">
                      <a16:colId xmlns:a16="http://schemas.microsoft.com/office/drawing/2014/main" val="3612434051"/>
                    </a:ext>
                  </a:extLst>
                </a:gridCol>
                <a:gridCol w="4612146">
                  <a:extLst>
                    <a:ext uri="{9D8B030D-6E8A-4147-A177-3AD203B41FA5}">
                      <a16:colId xmlns:a16="http://schemas.microsoft.com/office/drawing/2014/main" val="89618788"/>
                    </a:ext>
                  </a:extLst>
                </a:gridCol>
              </a:tblGrid>
              <a:tr h="618214">
                <a:tc>
                  <a:txBody>
                    <a:bodyPr/>
                    <a:lstStyle/>
                    <a:p>
                      <a:pPr algn="l" fontAlgn="t"/>
                      <a:r>
                        <a:rPr lang="cs-CZ">
                          <a:effectLst/>
                        </a:rPr>
                        <a:t>&lt;input type="text"&gt;</a:t>
                      </a:r>
                    </a:p>
                  </a:txBody>
                  <a:tcPr marL="12192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Displays a single-line text input field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960794"/>
                  </a:ext>
                </a:extLst>
              </a:tr>
              <a:tr h="872727">
                <a:tc>
                  <a:txBody>
                    <a:bodyPr/>
                    <a:lstStyle/>
                    <a:p>
                      <a:pPr algn="l" fontAlgn="t"/>
                      <a:r>
                        <a:rPr lang="cs-CZ">
                          <a:effectLst/>
                        </a:rPr>
                        <a:t>&lt;input type="radio"&gt;</a:t>
                      </a:r>
                    </a:p>
                  </a:txBody>
                  <a:tcPr marL="12192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Displays a radio button (for selecting one of many choices)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0267754"/>
                  </a:ext>
                </a:extLst>
              </a:tr>
              <a:tr h="872727">
                <a:tc>
                  <a:txBody>
                    <a:bodyPr/>
                    <a:lstStyle/>
                    <a:p>
                      <a:pPr algn="l" fontAlgn="t"/>
                      <a:r>
                        <a:rPr lang="cs-CZ">
                          <a:effectLst/>
                        </a:rPr>
                        <a:t>&lt;input type="checkbox"&gt;</a:t>
                      </a:r>
                    </a:p>
                  </a:txBody>
                  <a:tcPr marL="12192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Displays a checkbox (for selecting zero or more of many choices)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5261195"/>
                  </a:ext>
                </a:extLst>
              </a:tr>
              <a:tr h="872727">
                <a:tc>
                  <a:txBody>
                    <a:bodyPr/>
                    <a:lstStyle/>
                    <a:p>
                      <a:pPr algn="l" fontAlgn="t"/>
                      <a:r>
                        <a:rPr lang="cs-CZ">
                          <a:effectLst/>
                        </a:rPr>
                        <a:t>&lt;input type="submit"&gt;</a:t>
                      </a:r>
                    </a:p>
                  </a:txBody>
                  <a:tcPr marL="12192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Displays a submit button (for submitting the form)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829162"/>
                  </a:ext>
                </a:extLst>
              </a:tr>
              <a:tr h="515702">
                <a:tc>
                  <a:txBody>
                    <a:bodyPr/>
                    <a:lstStyle/>
                    <a:p>
                      <a:pPr algn="l" fontAlgn="t"/>
                      <a:r>
                        <a:rPr lang="cs-CZ">
                          <a:effectLst/>
                        </a:rPr>
                        <a:t>&lt;input type="button"&gt;</a:t>
                      </a:r>
                    </a:p>
                  </a:txBody>
                  <a:tcPr marL="12192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cs-CZ" dirty="0" err="1">
                          <a:effectLst/>
                        </a:rPr>
                        <a:t>Displays</a:t>
                      </a:r>
                      <a:r>
                        <a:rPr lang="cs-CZ" dirty="0">
                          <a:effectLst/>
                        </a:rPr>
                        <a:t> a </a:t>
                      </a:r>
                      <a:r>
                        <a:rPr lang="cs-CZ" dirty="0" err="1">
                          <a:effectLst/>
                        </a:rPr>
                        <a:t>clickable</a:t>
                      </a:r>
                      <a:r>
                        <a:rPr lang="cs-CZ" dirty="0">
                          <a:effectLst/>
                        </a:rPr>
                        <a:t> </a:t>
                      </a:r>
                      <a:r>
                        <a:rPr lang="cs-CZ" dirty="0" err="1">
                          <a:effectLst/>
                        </a:rPr>
                        <a:t>button</a:t>
                      </a:r>
                      <a:endParaRPr lang="cs-CZ" dirty="0">
                        <a:effectLst/>
                      </a:endParaRP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7978514"/>
                  </a:ext>
                </a:extLst>
              </a:tr>
            </a:tbl>
          </a:graphicData>
        </a:graphic>
      </p:graphicFrame>
      <p:sp>
        <p:nvSpPr>
          <p:cNvPr id="4" name="Obdélník 3">
            <a:extLst>
              <a:ext uri="{FF2B5EF4-FFF2-40B4-BE49-F238E27FC236}">
                <a16:creationId xmlns:a16="http://schemas.microsoft.com/office/drawing/2014/main" id="{BBE56E0C-CFDF-21D9-C0FC-ACAA1351C89F}"/>
              </a:ext>
            </a:extLst>
          </p:cNvPr>
          <p:cNvSpPr/>
          <p:nvPr/>
        </p:nvSpPr>
        <p:spPr>
          <a:xfrm>
            <a:off x="10436469" y="1098549"/>
            <a:ext cx="2504302" cy="594008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cs-CZ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Všechny:</a:t>
            </a:r>
          </a:p>
          <a:p>
            <a:endParaRPr lang="cs-CZ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button</a:t>
            </a:r>
            <a:endParaRPr lang="cs-CZ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checkbox</a:t>
            </a:r>
            <a:endParaRPr lang="cs-CZ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endParaRPr lang="cs-CZ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 </a:t>
            </a:r>
            <a:endParaRPr lang="cs-CZ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 </a:t>
            </a:r>
            <a:endParaRPr lang="cs-CZ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</a:t>
            </a:r>
            <a:endParaRPr lang="cs-CZ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hidden</a:t>
            </a:r>
            <a:endParaRPr lang="cs-CZ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</a:t>
            </a:r>
            <a:endParaRPr lang="cs-CZ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 </a:t>
            </a:r>
            <a:endParaRPr lang="cs-CZ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</a:t>
            </a:r>
            <a:endParaRPr lang="cs-CZ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password</a:t>
            </a:r>
            <a:endParaRPr lang="cs-CZ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radio</a:t>
            </a:r>
            <a:endParaRPr lang="cs-CZ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range </a:t>
            </a:r>
            <a:endParaRPr lang="cs-CZ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reset</a:t>
            </a:r>
            <a:endParaRPr lang="cs-CZ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</a:t>
            </a:r>
            <a:endParaRPr lang="cs-CZ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</a:t>
            </a:r>
            <a:endParaRPr lang="cs-CZ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tel</a:t>
            </a:r>
            <a:endParaRPr lang="cs-CZ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</a:t>
            </a:r>
            <a:endParaRPr lang="cs-CZ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</a:t>
            </a:r>
            <a:endParaRPr lang="cs-CZ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url</a:t>
            </a:r>
            <a:endParaRPr lang="cs-CZ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</a:t>
            </a:r>
            <a:endParaRPr lang="cs-CZ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87743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Využití elementů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5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Textové pole </a:t>
            </a:r>
            <a:r>
              <a:rPr lang="cs-CZ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&lt;input type="text"&gt;</a:t>
            </a:r>
          </a:p>
          <a:p>
            <a:pPr lvl="1"/>
            <a:r>
              <a:rPr lang="cs-CZ" sz="2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Pokud chceme prvky z pole někdy použít můžeme si je označit atributem </a:t>
            </a:r>
            <a:r>
              <a:rPr lang="cs-CZ" sz="2600" b="1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endParaRPr lang="cs-CZ" sz="2600" b="1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cs-CZ" sz="2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Lze zadat hodnota </a:t>
            </a:r>
            <a:r>
              <a:rPr lang="cs-CZ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endParaRPr lang="cs-CZ" sz="26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cs-CZ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Nálepka/Nadpis </a:t>
            </a:r>
            <a:r>
              <a:rPr lang="cs-CZ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&lt;label&gt;&lt;/label&gt;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Nadpis pro nějaký prvek vstupu od uživatele</a:t>
            </a:r>
          </a:p>
          <a:p>
            <a:pPr lvl="1"/>
            <a:r>
              <a:rPr lang="cs-CZ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Přidává se atribut </a:t>
            </a:r>
            <a:r>
              <a:rPr lang="cs-CZ" b="1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cs-CZ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který musí být stejný jako atribut </a:t>
            </a:r>
            <a:r>
              <a:rPr lang="cs-CZ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</a:t>
            </a:r>
            <a:r>
              <a:rPr lang="cs-CZ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prvku elementu</a:t>
            </a:r>
          </a:p>
          <a:p>
            <a:pPr marL="0" indent="0">
              <a:buNone/>
            </a:pPr>
            <a:r>
              <a:rPr lang="cs-CZ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Výběr z možností (jedna možnost) </a:t>
            </a:r>
            <a:r>
              <a:rPr lang="cs-CZ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&lt;input type="</a:t>
            </a:r>
            <a:r>
              <a:rPr lang="cs-CZ" b="0" i="0" dirty="0" err="1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radio</a:t>
            </a:r>
            <a:r>
              <a:rPr lang="cs-CZ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"&gt;</a:t>
            </a:r>
            <a:endParaRPr lang="cs-CZ" b="0" dirty="0">
              <a:solidFill>
                <a:srgbClr val="DC143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 záznam hodnoty daného tlačítka je třeba přidat atribut </a:t>
            </a:r>
            <a:r>
              <a:rPr lang="cs-CZ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endParaRPr lang="cs-CZ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 sjednocení je třeba přidávat atribut </a:t>
            </a:r>
            <a:r>
              <a:rPr lang="cs-CZ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který musí u všech tlačítek pro jednu otázku stejný</a:t>
            </a:r>
            <a:endParaRPr lang="cs-CZ" dirty="0">
              <a:latin typeface="Consolas" panose="020B0609020204030204" pitchFamily="49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cs-CZ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Zaškrtávací pole </a:t>
            </a:r>
            <a:r>
              <a:rPr lang="cs-CZ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&lt;input type="checkbox"&gt;</a:t>
            </a:r>
            <a:endParaRPr lang="cs-CZ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Stejné podmínky jako u předchozího prvku</a:t>
            </a:r>
          </a:p>
        </p:txBody>
      </p:sp>
    </p:spTree>
    <p:extLst>
      <p:ext uri="{BB962C8B-B14F-4D97-AF65-F5344CB8AC3E}">
        <p14:creationId xmlns:p14="http://schemas.microsoft.com/office/powerpoint/2010/main" val="1167149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Výběr ze seznamu možností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Seznam ze kterého uživatel vybírá </a:t>
            </a:r>
            <a:r>
              <a:rPr lang="cs-CZ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cs-CZ" b="0" i="0" dirty="0" err="1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cs-CZ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&gt;</a:t>
            </a:r>
            <a:endParaRPr lang="cs-CZ" b="0" i="0" dirty="0">
              <a:solidFill>
                <a:srgbClr val="DC143C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Celý seznam může mít atributy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cs-CZ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Jednotlivé položky jsou oddělené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cs-CZ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option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lvl="2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tomu se přidává atribut </a:t>
            </a:r>
            <a:r>
              <a:rPr lang="cs-CZ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endParaRPr lang="cs-CZ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Lze přidat atribut </a:t>
            </a:r>
            <a:r>
              <a:rPr lang="cs-CZ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selected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který vybere jednu možnost dopředu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Velikost okna výběru lze měnit pomocí atributu </a:t>
            </a:r>
            <a:r>
              <a:rPr lang="cs-CZ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size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Přidáním atributu </a:t>
            </a:r>
            <a:r>
              <a:rPr lang="cs-CZ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multiple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je možnost nechat uživatele vybrat více možností</a:t>
            </a:r>
          </a:p>
          <a:p>
            <a:pPr marL="0" indent="0">
              <a:buNone/>
            </a:pPr>
            <a:endParaRPr lang="cs-CZ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47384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Optgroup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Strukturované menu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cs-CZ" dirty="0" err="1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form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cs-CZ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cs-CZ" dirty="0" err="1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select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name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="auta"&gt;</a:t>
            </a:r>
            <a:endParaRPr lang="cs-CZ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cs-CZ" dirty="0" err="1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optgroup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label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="Švédská"&gt;</a:t>
            </a:r>
            <a:endParaRPr lang="cs-CZ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option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value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</a:t>
            </a:r>
            <a:r>
              <a:rPr lang="en-US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volvo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"&gt;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Volvo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en-US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option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option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value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</a:t>
            </a:r>
            <a:r>
              <a:rPr lang="en-US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saab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"&gt;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Saab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en-US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option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cs-CZ" dirty="0" err="1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optgroup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cs-CZ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cs-CZ" dirty="0" err="1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optgroup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label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="Německá"&gt;</a:t>
            </a:r>
            <a:endParaRPr lang="cs-CZ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cs-CZ" dirty="0" err="1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option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value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="mercedes"&gt;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Mercedes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cs-CZ" dirty="0" err="1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option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cs-CZ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fr-F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fr-FR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fr-FR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option</a:t>
            </a:r>
            <a:r>
              <a:rPr lang="fr-F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fr-FR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value</a:t>
            </a:r>
            <a:r>
              <a:rPr lang="fr-FR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="audi"&gt;</a:t>
            </a:r>
            <a:r>
              <a:rPr lang="fr-F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Audi</a:t>
            </a:r>
            <a:r>
              <a:rPr lang="fr-FR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fr-FR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option</a:t>
            </a:r>
            <a:r>
              <a:rPr lang="fr-FR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fr-FR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cs-CZ" dirty="0" err="1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option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value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vw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"&gt;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Volkswagen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cs-CZ" dirty="0" err="1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option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cs-CZ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cs-CZ" dirty="0" err="1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optgroup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cs-CZ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cs-CZ" dirty="0" err="1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select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cs-CZ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br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/&gt;</a:t>
            </a:r>
            <a:endParaRPr lang="cs-CZ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input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type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="submit"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value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</a:t>
            </a:r>
            <a:r>
              <a:rPr lang="en-US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Odeslat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/&gt;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cs-CZ" dirty="0" err="1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form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7635934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Další elementy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5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Textové okno </a:t>
            </a:r>
            <a:r>
              <a:rPr lang="cs-CZ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cs-CZ" b="0" i="0" dirty="0" err="1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textarea</a:t>
            </a:r>
            <a:r>
              <a:rPr lang="cs-CZ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Přidává se klasické atribut </a:t>
            </a:r>
            <a:r>
              <a:rPr lang="cs-CZ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Následně pro velikost atributy </a:t>
            </a:r>
            <a:r>
              <a:rPr lang="cs-CZ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rows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cs-CZ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cols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(lze definovat pomocí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css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Tlačítko </a:t>
            </a:r>
            <a:r>
              <a:rPr lang="cs-CZ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cs-CZ" b="0" i="0" dirty="0" err="1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cs-CZ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Atribut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určuje typ tlačítka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Lze udělat jednoduché responzivita skrz atribut </a:t>
            </a:r>
            <a:r>
              <a:rPr lang="cs-CZ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onclick</a:t>
            </a:r>
            <a:endParaRPr lang="cs-CZ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Ohraničení sekce dotazníku </a:t>
            </a:r>
            <a:r>
              <a:rPr lang="cs-CZ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cs-CZ" b="0" i="0" dirty="0" err="1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fieldset</a:t>
            </a:r>
            <a:r>
              <a:rPr lang="cs-CZ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Přidává se element &lt;legend&gt; pro nadpis dané sekce</a:t>
            </a:r>
          </a:p>
          <a:p>
            <a:pPr marL="0" indent="0">
              <a:buNone/>
            </a:pP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Lze dohledat další (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datalist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output, atd.)</a:t>
            </a:r>
          </a:p>
        </p:txBody>
      </p:sp>
    </p:spTree>
    <p:extLst>
      <p:ext uri="{BB962C8B-B14F-4D97-AF65-F5344CB8AC3E}">
        <p14:creationId xmlns:p14="http://schemas.microsoft.com/office/powerpoint/2010/main" val="8673555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Specifické typy inputu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Pole pro heslo </a:t>
            </a:r>
            <a:r>
              <a:rPr lang="cs-CZ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&lt;input type="</a:t>
            </a:r>
            <a:r>
              <a:rPr lang="cs-CZ" b="0" i="0" dirty="0" err="1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password</a:t>
            </a:r>
            <a:r>
              <a:rPr lang="cs-CZ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"&gt;</a:t>
            </a:r>
          </a:p>
          <a:p>
            <a:pPr marL="0" indent="0">
              <a:buNone/>
            </a:pP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Tlačítko na reset formuláře do základní podoby </a:t>
            </a:r>
          </a:p>
          <a:p>
            <a:pPr marL="457200" lvl="1" indent="0">
              <a:buNone/>
            </a:pPr>
            <a:r>
              <a:rPr lang="cs-CZ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&lt;input type="reset"&gt;</a:t>
            </a:r>
            <a:endParaRPr lang="cs-CZ" b="0" i="0" dirty="0"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Pole pro datum </a:t>
            </a:r>
            <a:r>
              <a:rPr lang="cs-CZ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&lt;input type="</a:t>
            </a:r>
            <a:r>
              <a:rPr lang="cs-CZ" b="0" i="0" dirty="0" err="1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date</a:t>
            </a:r>
            <a:r>
              <a:rPr lang="cs-CZ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"&gt;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Atribut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lze nastavit minimum a maximum daného data</a:t>
            </a:r>
          </a:p>
          <a:p>
            <a:pPr marL="0" indent="0">
              <a:buNone/>
            </a:pP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Pole pro email </a:t>
            </a:r>
            <a:r>
              <a:rPr lang="cs-CZ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&lt;input type="email"&gt;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56772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 + 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cs-CZ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atalist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cs-CZ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cs-CZ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šeptávač</a:t>
            </a:r>
            <a:endParaRPr lang="cs-CZ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cs-CZ" dirty="0" err="1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form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cs-CZ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cs-CZ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label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cs-CZ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Váš prohlížeč: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input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type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="text"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list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</a:t>
            </a:r>
            <a:r>
              <a:rPr lang="en-US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browsery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name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</a:t>
            </a:r>
            <a:r>
              <a:rPr lang="en-US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prohlizec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"&gt;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cs-CZ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label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cs-CZ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cs-CZ" dirty="0" err="1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datalist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id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="browsery"&gt;</a:t>
            </a:r>
            <a:endParaRPr lang="cs-CZ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cs-CZ" dirty="0" err="1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option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value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="Internet Explorer"&gt;</a:t>
            </a:r>
            <a:endParaRPr lang="cs-CZ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cs-CZ" dirty="0" err="1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option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value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="Firefox"&gt;</a:t>
            </a:r>
            <a:endParaRPr lang="cs-CZ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cs-CZ" dirty="0" err="1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option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value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="Chrome"&gt;</a:t>
            </a:r>
            <a:endParaRPr lang="cs-CZ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cs-CZ" dirty="0" err="1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option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value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="Opera"&gt;</a:t>
            </a:r>
            <a:endParaRPr lang="cs-CZ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cs-CZ" dirty="0" err="1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option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value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="Safari"&gt;</a:t>
            </a:r>
            <a:endParaRPr lang="cs-CZ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cs-CZ" dirty="0" err="1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datalist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cs-CZ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input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type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="submit"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value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</a:t>
            </a:r>
            <a:r>
              <a:rPr lang="en-US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odeslat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"&gt;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cs-CZ" dirty="0" err="1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form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5768144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Fieldset</a:t>
            </a:r>
            <a:r>
              <a:rPr lang="cs-CZ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Legend = sekce formuláře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cs-CZ" dirty="0" err="1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form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cs-CZ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cs-CZ" dirty="0" err="1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fieldset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cs-CZ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cs-CZ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legend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Osobní údaje: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cs-CZ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legend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cs-CZ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Jméno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input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type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="text"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name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</a:t>
            </a:r>
            <a:r>
              <a:rPr lang="en-US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jmeno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"&gt;&lt;</a:t>
            </a:r>
            <a:r>
              <a:rPr lang="en-US" dirty="0" err="1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br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/&gt;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Email: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input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type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="email"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name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="email"&gt;&lt;</a:t>
            </a:r>
            <a:r>
              <a:rPr lang="en-US" dirty="0" err="1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br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/&gt;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Datum narození: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cs-CZ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input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type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date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name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="narozen"&gt;&lt;</a:t>
            </a:r>
            <a:r>
              <a:rPr lang="cs-CZ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br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/&gt;</a:t>
            </a:r>
            <a:endParaRPr lang="cs-CZ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input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type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="submit"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value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</a:t>
            </a:r>
            <a:r>
              <a:rPr lang="en-US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Odeslat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/&gt;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cs-CZ" dirty="0" err="1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fieldset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cs-CZ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cs-CZ" dirty="0" err="1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form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2635108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Specifické atributy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Pouze pro čtení </a:t>
            </a:r>
            <a:r>
              <a:rPr lang="cs-CZ" b="0" i="0" dirty="0" err="1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readonly</a:t>
            </a:r>
            <a:endParaRPr lang="cs-CZ" b="0" i="0" dirty="0">
              <a:solidFill>
                <a:srgbClr val="DC143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Vypnuté pole/tlačítko </a:t>
            </a:r>
            <a:r>
              <a:rPr lang="cs-CZ" b="0" i="0" dirty="0" err="1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disabled</a:t>
            </a:r>
            <a:endParaRPr lang="cs-CZ" b="0" i="0" dirty="0">
              <a:solidFill>
                <a:srgbClr val="DC143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Nastavení velikosti </a:t>
            </a:r>
            <a:r>
              <a:rPr lang="cs-CZ" b="0" i="0" dirty="0" err="1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size</a:t>
            </a:r>
            <a:endParaRPr lang="cs-CZ" b="0" i="0" dirty="0">
              <a:solidFill>
                <a:srgbClr val="DC143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Maximální velikost inputu </a:t>
            </a:r>
            <a:r>
              <a:rPr lang="cs-CZ" b="0" i="0" dirty="0" err="1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maxlength</a:t>
            </a:r>
            <a:endParaRPr lang="cs-CZ" b="0" i="0" dirty="0">
              <a:solidFill>
                <a:srgbClr val="DC143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Naznačení vyplnění </a:t>
            </a:r>
            <a:r>
              <a:rPr lang="cs-CZ" b="0" i="0" dirty="0" err="1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placeholder</a:t>
            </a:r>
            <a:endParaRPr lang="cs-CZ" b="0" i="0" dirty="0">
              <a:solidFill>
                <a:srgbClr val="DC143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Nutné vyplnit </a:t>
            </a:r>
            <a:r>
              <a:rPr lang="cs-CZ" b="0" i="0" dirty="0" err="1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required</a:t>
            </a:r>
            <a:endParaRPr lang="cs-CZ" b="0" i="0" dirty="0">
              <a:solidFill>
                <a:srgbClr val="DC143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Nasměrování kurzoru </a:t>
            </a:r>
            <a:r>
              <a:rPr lang="cs-CZ" b="0" i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autofocus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07984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table">
            <a:extLst>
              <a:ext uri="{FF2B5EF4-FFF2-40B4-BE49-F238E27FC236}">
                <a16:creationId xmlns:a16="http://schemas.microsoft.com/office/drawing/2014/main" id="{7BE1FA91-4A00-6ED1-74BD-E8F866768C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710" y="139636"/>
            <a:ext cx="10736580" cy="5987600"/>
          </a:xfrm>
          <a:prstGeom prst="rect">
            <a:avLst/>
          </a:prstGeom>
        </p:spPr>
      </p:pic>
      <p:sp>
        <p:nvSpPr>
          <p:cNvPr id="9" name="TextovéPole 4">
            <a:extLst>
              <a:ext uri="{FF2B5EF4-FFF2-40B4-BE49-F238E27FC236}">
                <a16:creationId xmlns:a16="http://schemas.microsoft.com/office/drawing/2014/main" id="{CAD5A4D2-3C0C-0A8F-49EB-1D10CE189F98}"/>
              </a:ext>
            </a:extLst>
          </p:cNvPr>
          <p:cNvSpPr txBox="1"/>
          <p:nvPr/>
        </p:nvSpPr>
        <p:spPr>
          <a:xfrm>
            <a:off x="590711" y="6195571"/>
            <a:ext cx="110105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cs-CZ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Pouze hlavní atributy. U podbarvených není v HTML5 povinné uvádět hodnotu atributu</a:t>
            </a:r>
          </a:p>
        </p:txBody>
      </p:sp>
    </p:spTree>
    <p:extLst>
      <p:ext uri="{BB962C8B-B14F-4D97-AF65-F5344CB8AC3E}">
        <p14:creationId xmlns:p14="http://schemas.microsoft.com/office/powerpoint/2010/main" val="39310614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 button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5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Potvrzovací tlačítko </a:t>
            </a:r>
            <a:r>
              <a:rPr lang="cs-CZ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&lt;input type="</a:t>
            </a:r>
            <a:r>
              <a:rPr lang="cs-CZ" b="0" i="0" dirty="0" err="1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submit</a:t>
            </a:r>
            <a:r>
              <a:rPr lang="cs-CZ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"&gt;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Je potřeba mít navázaný formulář na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php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skript. Nejsnadnější je dát do hlavičky &lt;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atribut </a:t>
            </a:r>
            <a:r>
              <a:rPr lang="cs-CZ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action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odkazující na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php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skript.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Lze přidat hodnota, kterou po stisknutí odešle </a:t>
            </a:r>
            <a:r>
              <a:rPr lang="cs-CZ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Příklad:</a:t>
            </a:r>
          </a:p>
          <a:p>
            <a:pPr marL="0" indent="0">
              <a:buNone/>
            </a:pPr>
            <a:r>
              <a:rPr lang="cs-CZ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cs-CZ" sz="2400" b="0" i="0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form</a:t>
            </a:r>
            <a:r>
              <a:rPr lang="cs-CZ" sz="24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sz="2400" b="0" i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action</a:t>
            </a:r>
            <a:r>
              <a:rPr lang="cs-CZ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="/</a:t>
            </a:r>
            <a:r>
              <a:rPr lang="cs-CZ" sz="2400" b="0" i="0" dirty="0" err="1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action_page.php</a:t>
            </a:r>
            <a:r>
              <a:rPr lang="cs-CZ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"&gt;</a:t>
            </a:r>
            <a:br>
              <a:rPr lang="cs-CZ" sz="2400" dirty="0"/>
            </a:br>
            <a:r>
              <a:rPr lang="cs-CZ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cs-CZ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cs-CZ" sz="24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label</a:t>
            </a:r>
            <a:r>
              <a:rPr lang="cs-CZ" sz="24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sz="2400" b="0" i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cs-CZ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cs-CZ" sz="2400" b="0" i="0" dirty="0" err="1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fname</a:t>
            </a:r>
            <a:r>
              <a:rPr lang="cs-CZ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"&gt;</a:t>
            </a:r>
            <a:r>
              <a:rPr lang="cs-CZ" sz="2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First</a:t>
            </a:r>
            <a:r>
              <a:rPr lang="cs-CZ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cs-CZ" sz="2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cs-CZ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cs-CZ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cs-CZ" sz="24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/label</a:t>
            </a:r>
            <a:r>
              <a:rPr lang="cs-CZ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&gt;&lt;</a:t>
            </a:r>
            <a:r>
              <a:rPr lang="cs-CZ" sz="24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cs-CZ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cs-CZ" sz="2400" dirty="0"/>
            </a:br>
            <a:r>
              <a:rPr lang="cs-CZ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cs-CZ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cs-CZ" sz="24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cs-CZ" sz="24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type</a:t>
            </a:r>
            <a:r>
              <a:rPr lang="cs-CZ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="text"</a:t>
            </a:r>
            <a:r>
              <a:rPr lang="cs-CZ" sz="24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id</a:t>
            </a:r>
            <a:r>
              <a:rPr lang="cs-CZ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cs-CZ" sz="2400" b="0" i="0" dirty="0" err="1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fname</a:t>
            </a:r>
            <a:r>
              <a:rPr lang="cs-CZ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cs-CZ" sz="24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sz="2400" b="0" i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cs-CZ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cs-CZ" sz="2400" b="0" i="0" dirty="0" err="1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fname</a:t>
            </a:r>
            <a:r>
              <a:rPr lang="cs-CZ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cs-CZ" sz="24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sz="2400" b="0" i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cs-CZ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="John"&gt;&lt;</a:t>
            </a:r>
            <a:r>
              <a:rPr lang="cs-CZ" sz="24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cs-CZ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cs-CZ" sz="2400" dirty="0"/>
            </a:br>
            <a:r>
              <a:rPr lang="cs-CZ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cs-CZ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cs-CZ" sz="24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label</a:t>
            </a:r>
            <a:r>
              <a:rPr lang="cs-CZ" sz="24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sz="2400" b="0" i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cs-CZ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cs-CZ" sz="2400" b="0" i="0" dirty="0" err="1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lname</a:t>
            </a:r>
            <a:r>
              <a:rPr lang="cs-CZ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"&gt;</a:t>
            </a:r>
            <a:r>
              <a:rPr lang="cs-CZ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Last </a:t>
            </a:r>
            <a:r>
              <a:rPr lang="cs-CZ" sz="2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cs-CZ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cs-CZ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cs-CZ" sz="24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/label</a:t>
            </a:r>
            <a:r>
              <a:rPr lang="cs-CZ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&gt;&lt;</a:t>
            </a:r>
            <a:r>
              <a:rPr lang="cs-CZ" sz="24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cs-CZ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cs-CZ" sz="2400" dirty="0"/>
            </a:br>
            <a:r>
              <a:rPr lang="cs-CZ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cs-CZ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cs-CZ" sz="24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cs-CZ" sz="24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type</a:t>
            </a:r>
            <a:r>
              <a:rPr lang="cs-CZ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="text"</a:t>
            </a:r>
            <a:r>
              <a:rPr lang="cs-CZ" sz="24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id</a:t>
            </a:r>
            <a:r>
              <a:rPr lang="cs-CZ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cs-CZ" sz="2400" b="0" i="0" dirty="0" err="1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lname</a:t>
            </a:r>
            <a:r>
              <a:rPr lang="cs-CZ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cs-CZ" sz="24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sz="2400" b="0" i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cs-CZ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cs-CZ" sz="2400" b="0" i="0" dirty="0" err="1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lname</a:t>
            </a:r>
            <a:r>
              <a:rPr lang="cs-CZ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cs-CZ" sz="24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sz="2400" b="0" i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cs-CZ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cs-CZ" sz="2400" b="0" i="0" dirty="0" err="1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Doe</a:t>
            </a:r>
            <a:r>
              <a:rPr lang="cs-CZ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"&gt;&lt;</a:t>
            </a:r>
            <a:r>
              <a:rPr lang="cs-CZ" sz="24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cs-CZ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&gt;&lt;</a:t>
            </a:r>
            <a:r>
              <a:rPr lang="cs-CZ" sz="24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cs-CZ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cs-CZ" sz="2400" dirty="0"/>
            </a:br>
            <a:r>
              <a:rPr lang="cs-CZ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cs-CZ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cs-CZ" sz="24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cs-CZ" sz="24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type</a:t>
            </a:r>
            <a:r>
              <a:rPr lang="cs-CZ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cs-CZ" sz="2400" b="0" i="0" dirty="0" err="1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submit</a:t>
            </a:r>
            <a:r>
              <a:rPr lang="cs-CZ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cs-CZ" sz="24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cs-CZ" sz="2400" b="0" i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cs-CZ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cs-CZ" sz="2400" b="0" i="0" dirty="0" err="1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Submit</a:t>
            </a:r>
            <a:r>
              <a:rPr lang="cs-CZ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"&gt;</a:t>
            </a:r>
            <a:br>
              <a:rPr lang="cs-CZ" sz="2400" dirty="0"/>
            </a:br>
            <a:r>
              <a:rPr lang="cs-CZ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cs-CZ" sz="24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cs-CZ" sz="2400" b="0" i="0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form</a:t>
            </a:r>
            <a:r>
              <a:rPr lang="cs-CZ" sz="2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endParaRPr lang="cs-CZ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38147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 button – target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Lze do hlavičky formuláře (&lt;</a:t>
            </a:r>
            <a:r>
              <a:rPr lang="cs-CZ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</a:t>
            </a:r>
            <a:r>
              <a:rPr lang="cs-CZ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&gt;) přidat atribut </a:t>
            </a:r>
            <a:r>
              <a:rPr lang="cs-CZ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target</a:t>
            </a:r>
            <a:endParaRPr lang="cs-CZ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cs-CZ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 může mít následující hodnoty:</a:t>
            </a:r>
          </a:p>
          <a:p>
            <a:pPr marL="0" indent="0">
              <a:buNone/>
            </a:pPr>
            <a:endParaRPr lang="cs-CZ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cs-CZ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ulka 2">
            <a:extLst>
              <a:ext uri="{FF2B5EF4-FFF2-40B4-BE49-F238E27FC236}">
                <a16:creationId xmlns:a16="http://schemas.microsoft.com/office/drawing/2014/main" id="{74758BE6-D7D2-4FAC-87FF-F791AFFCAC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7893447"/>
              </p:ext>
            </p:extLst>
          </p:nvPr>
        </p:nvGraphicFramePr>
        <p:xfrm>
          <a:off x="1686159" y="3155857"/>
          <a:ext cx="8819677" cy="2255520"/>
        </p:xfrm>
        <a:graphic>
          <a:graphicData uri="http://schemas.openxmlformats.org/drawingml/2006/table">
            <a:tbl>
              <a:tblPr/>
              <a:tblGrid>
                <a:gridCol w="3887457">
                  <a:extLst>
                    <a:ext uri="{9D8B030D-6E8A-4147-A177-3AD203B41FA5}">
                      <a16:colId xmlns:a16="http://schemas.microsoft.com/office/drawing/2014/main" val="3484518627"/>
                    </a:ext>
                  </a:extLst>
                </a:gridCol>
                <a:gridCol w="4932220">
                  <a:extLst>
                    <a:ext uri="{9D8B030D-6E8A-4147-A177-3AD203B41FA5}">
                      <a16:colId xmlns:a16="http://schemas.microsoft.com/office/drawing/2014/main" val="33726691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cs-CZ" dirty="0">
                          <a:effectLst/>
                        </a:rPr>
                        <a:t>_</a:t>
                      </a:r>
                      <a:r>
                        <a:rPr lang="cs-CZ" dirty="0" err="1">
                          <a:effectLst/>
                        </a:rPr>
                        <a:t>blank</a:t>
                      </a:r>
                      <a:endParaRPr lang="cs-CZ" dirty="0">
                        <a:effectLst/>
                      </a:endParaRPr>
                    </a:p>
                  </a:txBody>
                  <a:tcPr marL="12192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The response is displayed in a new window or tab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04563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cs-CZ">
                          <a:effectLst/>
                        </a:rPr>
                        <a:t>_self</a:t>
                      </a:r>
                    </a:p>
                  </a:txBody>
                  <a:tcPr marL="12192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The response is displayed in the current window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96639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cs-CZ">
                          <a:effectLst/>
                        </a:rPr>
                        <a:t>_parent</a:t>
                      </a:r>
                    </a:p>
                  </a:txBody>
                  <a:tcPr marL="12192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The response is displayed in the parent frame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10785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cs-CZ">
                          <a:effectLst/>
                        </a:rPr>
                        <a:t>_top</a:t>
                      </a:r>
                    </a:p>
                  </a:txBody>
                  <a:tcPr marL="12192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The response is displayed in the full body of the window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63130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cs-CZ" i="1">
                          <a:effectLst/>
                        </a:rPr>
                        <a:t>framename</a:t>
                      </a:r>
                      <a:endParaRPr lang="cs-CZ">
                        <a:effectLst/>
                      </a:endParaRPr>
                    </a:p>
                  </a:txBody>
                  <a:tcPr marL="12192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The response is displayed in a named iframe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58617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4126876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3131</TotalTime>
  <Words>1039</Words>
  <Application>Microsoft Office PowerPoint</Application>
  <PresentationFormat>Širokoúhlá obrazovka</PresentationFormat>
  <Paragraphs>151</Paragraphs>
  <Slides>14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5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Consolas</vt:lpstr>
      <vt:lpstr>Times New Roman</vt:lpstr>
      <vt:lpstr>Motiv Office</vt:lpstr>
      <vt:lpstr>HTML Form (formulář)</vt:lpstr>
      <vt:lpstr>HTML form?</vt:lpstr>
      <vt:lpstr>Základní &lt;input&gt; elementy</vt:lpstr>
      <vt:lpstr>Využití elementů</vt:lpstr>
      <vt:lpstr>Výběr ze seznamu možností</vt:lpstr>
      <vt:lpstr>Select + Optgroup: Strukturované menu</vt:lpstr>
      <vt:lpstr>Další elementy</vt:lpstr>
      <vt:lpstr>Specifické typy inputu</vt:lpstr>
      <vt:lpstr>List + Datalist = Našeptávač</vt:lpstr>
      <vt:lpstr>Fieldset + Legend = sekce formuláře</vt:lpstr>
      <vt:lpstr>Specifické atributy</vt:lpstr>
      <vt:lpstr>Prezentace aplikace PowerPoint</vt:lpstr>
      <vt:lpstr>Submit button</vt:lpstr>
      <vt:lpstr>Submit button – target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Operační systémy</dc:title>
  <dc:creator>Mottl Jan</dc:creator>
  <cp:lastModifiedBy>Mottl Jan</cp:lastModifiedBy>
  <cp:revision>208</cp:revision>
  <dcterms:created xsi:type="dcterms:W3CDTF">2020-09-17T19:44:13Z</dcterms:created>
  <dcterms:modified xsi:type="dcterms:W3CDTF">2023-11-07T11:38:12Z</dcterms:modified>
</cp:coreProperties>
</file>