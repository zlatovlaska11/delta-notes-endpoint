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13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4"/>
            <p14:sldId id="313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větlý sty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11.12.2023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veloper.mozilla.org/en-US/docs/Web/CSS/transfor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angle" TargetMode="External"/><Relationship Id="rId2" Type="http://schemas.openxmlformats.org/officeDocument/2006/relationships/hyperlink" Target="https://developer.mozilla.org/en-US/docs/Web/CSS/transform-function/rotat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tryit.asp?filename=trycss3_transition_spee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FabioG/full/QjLreK/" TargetMode="External"/><Relationship Id="rId2" Type="http://schemas.openxmlformats.org/officeDocument/2006/relationships/hyperlink" Target="https://codepen.io/dodozhang21/full/ApeaL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coolcssanimation.com/#css-animation-showcase" TargetMode="External"/><Relationship Id="rId4" Type="http://schemas.openxmlformats.org/officeDocument/2006/relationships/hyperlink" Target="https://codepen.io/iliadraznin/full/AjWWQ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tryit.asp?filename=trycss3_animation_speed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Transformace a Animace</a:t>
            </a: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7986CB18-3410-4F10-A88B-A8ED864C5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1" name="Obrázek 10" descr="Obsah obrázku snímek obrazovky, text, kruh, diagram&#10;&#10;Popis byl vytvořen automaticky">
            <a:extLst>
              <a:ext uri="{FF2B5EF4-FFF2-40B4-BE49-F238E27FC236}">
                <a16:creationId xmlns:a16="http://schemas.microsoft.com/office/drawing/2014/main" id="{FCAE49E6-4355-298A-F123-86129E157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576" y="1598392"/>
            <a:ext cx="8236447" cy="514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translate()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rotate()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scale()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skew()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matrix()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Ukázky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rázek 7" descr="Obsah obrázku text, snímek obrazovky, žlutá, Nalepovací papírek&#10;&#10;Popis byl vytvořen automaticky">
            <a:extLst>
              <a:ext uri="{FF2B5EF4-FFF2-40B4-BE49-F238E27FC236}">
                <a16:creationId xmlns:a16="http://schemas.microsoft.com/office/drawing/2014/main" id="{6FE08259-A35A-DF0D-16C3-74695002B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40" y="473075"/>
            <a:ext cx="6042660" cy="604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Translate()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transform: translate(50px, 100px);</a:t>
            </a:r>
            <a:br>
              <a:rPr lang="nb-NO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rázek 9" descr="Obsah obrázku diagram, text, řada/pruh, design&#10;&#10;Popis byl vytvořen automaticky">
            <a:extLst>
              <a:ext uri="{FF2B5EF4-FFF2-40B4-BE49-F238E27FC236}">
                <a16:creationId xmlns:a16="http://schemas.microsoft.com/office/drawing/2014/main" id="{8C98120D-23B7-E430-E1A8-AA3515EAB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544" y="2342864"/>
            <a:ext cx="8026908" cy="4515136"/>
          </a:xfrm>
          <a:prstGeom prst="rect">
            <a:avLst/>
          </a:prstGeom>
        </p:spPr>
      </p:pic>
      <p:pic>
        <p:nvPicPr>
          <p:cNvPr id="12" name="Obrázek 11" descr="Obsah obrázku text, Písmo, Obdélník, Grafika&#10;&#10;Popis byl vytvořen automaticky">
            <a:extLst>
              <a:ext uri="{FF2B5EF4-FFF2-40B4-BE49-F238E27FC236}">
                <a16:creationId xmlns:a16="http://schemas.microsoft.com/office/drawing/2014/main" id="{26354C73-0CCC-C449-BF5D-2FDE153FA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349" y="26987"/>
            <a:ext cx="1892651" cy="166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2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Rotate()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transform: rotate(20deg);</a:t>
            </a:r>
            <a:endParaRPr lang="cs-CZ" dirty="0"/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Rotace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Angle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rázek 8" descr="Obsah obrázku text, Písmo, logo, Papírový výrobek&#10;&#10;Popis byl vytvořen automaticky">
            <a:extLst>
              <a:ext uri="{FF2B5EF4-FFF2-40B4-BE49-F238E27FC236}">
                <a16:creationId xmlns:a16="http://schemas.microsoft.com/office/drawing/2014/main" id="{E754248F-2771-E8EF-0DCD-B64FB78B2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640" y="0"/>
            <a:ext cx="2041360" cy="1869948"/>
          </a:xfrm>
          <a:prstGeom prst="rect">
            <a:avLst/>
          </a:prstGeom>
        </p:spPr>
      </p:pic>
      <p:pic>
        <p:nvPicPr>
          <p:cNvPr id="12" name="Obrázek 11" descr="Obsah obrázku text, diagram, kruh, snímek obrazovky&#10;&#10;Popis byl vytvořen automaticky">
            <a:extLst>
              <a:ext uri="{FF2B5EF4-FFF2-40B4-BE49-F238E27FC236}">
                <a16:creationId xmlns:a16="http://schemas.microsoft.com/office/drawing/2014/main" id="{085B49AB-B763-6F6E-35BD-AFF7822B1A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932" y="2646576"/>
            <a:ext cx="6782388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3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Scale()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 transform: scale(2, 3);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 </a:t>
            </a:r>
            <a:r>
              <a:rPr lang="cs-CZ" dirty="0" err="1"/>
              <a:t>transform</a:t>
            </a:r>
            <a:r>
              <a:rPr lang="cs-CZ" dirty="0"/>
              <a:t>: </a:t>
            </a:r>
            <a:r>
              <a:rPr lang="cs-CZ" dirty="0" err="1"/>
              <a:t>scaleX</a:t>
            </a:r>
            <a:r>
              <a:rPr lang="cs-CZ" dirty="0"/>
              <a:t>(2);</a:t>
            </a:r>
          </a:p>
          <a:p>
            <a:pPr marL="0" indent="0">
              <a:buNone/>
            </a:pPr>
            <a:r>
              <a:rPr lang="cs-CZ" dirty="0"/>
              <a:t> </a:t>
            </a:r>
            <a:r>
              <a:rPr lang="cs-CZ" dirty="0" err="1"/>
              <a:t>transform</a:t>
            </a:r>
            <a:r>
              <a:rPr lang="cs-CZ" dirty="0"/>
              <a:t>: </a:t>
            </a:r>
            <a:r>
              <a:rPr lang="cs-CZ" dirty="0" err="1"/>
              <a:t>scaleY</a:t>
            </a:r>
            <a:r>
              <a:rPr lang="cs-CZ" dirty="0"/>
              <a:t>(3);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Obrázek 3" descr="Obsah obrázku text, Písmo, Obdélník, snímek obrazovky&#10;&#10;Popis byl vytvořen automaticky">
            <a:extLst>
              <a:ext uri="{FF2B5EF4-FFF2-40B4-BE49-F238E27FC236}">
                <a16:creationId xmlns:a16="http://schemas.microsoft.com/office/drawing/2014/main" id="{A8391590-1863-A028-8F15-F52928603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417" y="365125"/>
            <a:ext cx="1862381" cy="1862381"/>
          </a:xfrm>
          <a:prstGeom prst="rect">
            <a:avLst/>
          </a:prstGeom>
        </p:spPr>
      </p:pic>
      <p:pic>
        <p:nvPicPr>
          <p:cNvPr id="7" name="Obrázek 6" descr="Obsah obrázku text, Materiální vlastnost, Písmo, Obdélník&#10;&#10;Popis byl vytvořen automaticky">
            <a:extLst>
              <a:ext uri="{FF2B5EF4-FFF2-40B4-BE49-F238E27FC236}">
                <a16:creationId xmlns:a16="http://schemas.microsoft.com/office/drawing/2014/main" id="{A8C25780-A1C8-63B0-E8DF-7198CB212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503" y="3975100"/>
            <a:ext cx="893699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4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Matrix()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err="1"/>
              <a:t>transform</a:t>
            </a:r>
            <a:r>
              <a:rPr lang="cs-CZ" dirty="0"/>
              <a:t>: matrix(1, -0.3, 0, 1, 0, 0);</a:t>
            </a:r>
          </a:p>
          <a:p>
            <a:pPr marL="0" indent="0">
              <a:buNone/>
            </a:pPr>
            <a:r>
              <a:rPr lang="en-US" dirty="0"/>
              <a:t>matrix(</a:t>
            </a:r>
            <a:r>
              <a:rPr lang="en-US" dirty="0" err="1"/>
              <a:t>scaleX</a:t>
            </a:r>
            <a:r>
              <a:rPr lang="en-US" dirty="0"/>
              <a:t>(), </a:t>
            </a:r>
            <a:r>
              <a:rPr lang="en-US" dirty="0" err="1"/>
              <a:t>skewY</a:t>
            </a:r>
            <a:r>
              <a:rPr lang="en-US" dirty="0"/>
              <a:t>(), </a:t>
            </a:r>
            <a:r>
              <a:rPr lang="en-US" dirty="0" err="1"/>
              <a:t>skewX</a:t>
            </a:r>
            <a:r>
              <a:rPr lang="en-US" dirty="0"/>
              <a:t>(), </a:t>
            </a:r>
            <a:r>
              <a:rPr lang="en-US" dirty="0" err="1"/>
              <a:t>scaleY</a:t>
            </a:r>
            <a:r>
              <a:rPr lang="en-US" dirty="0"/>
              <a:t>(), </a:t>
            </a:r>
            <a:r>
              <a:rPr lang="en-US" dirty="0" err="1"/>
              <a:t>translateX</a:t>
            </a:r>
            <a:r>
              <a:rPr lang="en-US" dirty="0"/>
              <a:t>(), </a:t>
            </a:r>
            <a:r>
              <a:rPr lang="en-US" dirty="0" err="1"/>
              <a:t>translateY</a:t>
            </a:r>
            <a:r>
              <a:rPr lang="en-US" dirty="0"/>
              <a:t>())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6795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Transforms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    </a:t>
            </a:r>
            <a:r>
              <a:rPr lang="cs-CZ" dirty="0" err="1"/>
              <a:t>rotateX</a:t>
            </a:r>
            <a:r>
              <a:rPr lang="cs-CZ" dirty="0"/>
              <a:t>()</a:t>
            </a:r>
          </a:p>
          <a:p>
            <a:pPr marL="0" indent="0">
              <a:buNone/>
            </a:pPr>
            <a:r>
              <a:rPr lang="cs-CZ" dirty="0"/>
              <a:t>    </a:t>
            </a:r>
            <a:r>
              <a:rPr lang="cs-CZ" dirty="0" err="1"/>
              <a:t>rotateY</a:t>
            </a:r>
            <a:r>
              <a:rPr lang="cs-CZ" dirty="0"/>
              <a:t>()</a:t>
            </a:r>
          </a:p>
          <a:p>
            <a:pPr marL="0" indent="0">
              <a:buNone/>
            </a:pPr>
            <a:r>
              <a:rPr lang="cs-CZ" dirty="0"/>
              <a:t>    </a:t>
            </a:r>
            <a:r>
              <a:rPr lang="cs-CZ" dirty="0" err="1"/>
              <a:t>rotateZ</a:t>
            </a:r>
            <a:r>
              <a:rPr lang="cs-CZ" dirty="0"/>
              <a:t>()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Obrázek 3" descr="Obsah obrázku řada/pruh, snímek obrazovky, diagram, design&#10;&#10;Popis byl vytvořen automaticky">
            <a:extLst>
              <a:ext uri="{FF2B5EF4-FFF2-40B4-BE49-F238E27FC236}">
                <a16:creationId xmlns:a16="http://schemas.microsoft.com/office/drawing/2014/main" id="{6DA314AC-1228-36B8-5DB3-83C1F95C6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983" y="3429000"/>
            <a:ext cx="3679815" cy="32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Přechod mezi stavy (přesunem, otočením, změnou velikost)</a:t>
            </a:r>
          </a:p>
          <a:p>
            <a:pPr marL="0" indent="0">
              <a:buNone/>
            </a:pPr>
            <a:r>
              <a:rPr lang="en-US" dirty="0">
                <a:solidFill>
                  <a:srgbClr val="A52A2A"/>
                </a:solidFill>
                <a:effectLst/>
              </a:rPr>
              <a:t>div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width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100px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height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100px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background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red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transition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width 2s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cs-CZ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A52A2A"/>
                </a:solidFill>
                <a:effectLst/>
              </a:rPr>
              <a:t>div:hover</a:t>
            </a:r>
            <a:r>
              <a:rPr lang="cs-CZ" dirty="0">
                <a:solidFill>
                  <a:srgbClr val="A52A2A"/>
                </a:solidFill>
                <a:effectLst/>
              </a:rPr>
              <a:t>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 </a:t>
            </a:r>
            <a:r>
              <a:rPr lang="cs-CZ" dirty="0" err="1">
                <a:solidFill>
                  <a:srgbClr val="FF0000"/>
                </a:solidFill>
                <a:effectLst/>
              </a:rPr>
              <a:t>width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300px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000000"/>
                </a:solidFill>
                <a:effectLst/>
              </a:rPr>
              <a:t>}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8376053-0603-6F46-466D-434E5E4FD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22042"/>
            <a:ext cx="5775958" cy="274753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DA4213C5-03E1-F0FF-6BF7-EA19030BF7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35" b="15888"/>
          <a:stretch/>
        </p:blipFill>
        <p:spPr>
          <a:xfrm>
            <a:off x="5577840" y="5169572"/>
            <a:ext cx="5267325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4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Lze i nastavit pro více vlastností.</a:t>
            </a:r>
          </a:p>
          <a:p>
            <a:pPr marL="0" indent="0">
              <a:buNone/>
            </a:pPr>
            <a:r>
              <a:rPr lang="en-US" dirty="0">
                <a:solidFill>
                  <a:srgbClr val="A52A2A"/>
                </a:solidFill>
                <a:effectLst/>
              </a:rPr>
              <a:t>div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transition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width 2s, height 4s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75263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Curve of the Transition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A52A2A"/>
                </a:solidFill>
                <a:effectLst/>
              </a:rPr>
              <a:t>#div1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r>
              <a:rPr lang="cs-CZ" dirty="0" err="1">
                <a:solidFill>
                  <a:srgbClr val="FF0000"/>
                </a:solidFill>
                <a:effectLst/>
              </a:rPr>
              <a:t>transition-timing-function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linear</a:t>
            </a:r>
            <a:r>
              <a:rPr lang="cs-CZ" dirty="0">
                <a:solidFill>
                  <a:srgbClr val="000000"/>
                </a:solidFill>
                <a:effectLst/>
              </a:rPr>
              <a:t>;}</a:t>
            </a:r>
            <a:endParaRPr lang="cs-C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ease - specifies a transition effect with a slow start, then fast, then end slowly (this is default)</a:t>
            </a:r>
          </a:p>
          <a:p>
            <a:pPr marL="0" indent="0">
              <a:buNone/>
            </a:pPr>
            <a:r>
              <a:rPr lang="en-US" dirty="0"/>
              <a:t>linear - specifies a transition effect with the same speed from start to end</a:t>
            </a:r>
          </a:p>
          <a:p>
            <a:pPr marL="0" indent="0">
              <a:buNone/>
            </a:pPr>
            <a:r>
              <a:rPr lang="en-US" dirty="0"/>
              <a:t>ease-in - specifies a transition effect with a slow start</a:t>
            </a:r>
          </a:p>
          <a:p>
            <a:pPr marL="0" indent="0">
              <a:buNone/>
            </a:pPr>
            <a:r>
              <a:rPr lang="en-US" dirty="0"/>
              <a:t>ease-out - specifies a transition effect with a slow end</a:t>
            </a:r>
          </a:p>
          <a:p>
            <a:pPr marL="0" indent="0">
              <a:buNone/>
            </a:pPr>
            <a:r>
              <a:rPr lang="en-US" dirty="0"/>
              <a:t>ease-in-out - specifies a transition effect with a slow start and end</a:t>
            </a:r>
          </a:p>
          <a:p>
            <a:pPr marL="0" indent="0">
              <a:buNone/>
            </a:pPr>
            <a:r>
              <a:rPr lang="en-US" dirty="0"/>
              <a:t>cubic-</a:t>
            </a:r>
            <a:r>
              <a:rPr lang="en-US" dirty="0" err="1"/>
              <a:t>bezier</a:t>
            </a:r>
            <a:r>
              <a:rPr lang="en-US" dirty="0"/>
              <a:t>(</a:t>
            </a:r>
            <a:r>
              <a:rPr lang="en-US" dirty="0" err="1"/>
              <a:t>n,n,n,n</a:t>
            </a:r>
            <a:r>
              <a:rPr lang="en-US" dirty="0"/>
              <a:t>) - lets you define your own values in a cubic-</a:t>
            </a:r>
            <a:r>
              <a:rPr lang="en-US" dirty="0" err="1"/>
              <a:t>bezier</a:t>
            </a:r>
            <a:r>
              <a:rPr lang="en-US" dirty="0"/>
              <a:t> function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2"/>
              </a:rPr>
              <a:t>Ukázka</a:t>
            </a:r>
            <a:endParaRPr lang="en-US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1794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Další specifika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effectLst/>
              </a:rPr>
              <a:t>Prodlení: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FF0000"/>
                </a:solidFill>
                <a:effectLst/>
              </a:rPr>
              <a:t>transition-delay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1s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</a:rPr>
              <a:t>Celková specifikace:</a:t>
            </a:r>
          </a:p>
          <a:p>
            <a:pPr marL="0" indent="0">
              <a:buNone/>
            </a:pPr>
            <a:r>
              <a:rPr lang="en-US" dirty="0">
                <a:solidFill>
                  <a:srgbClr val="A52A2A"/>
                </a:solidFill>
                <a:effectLst/>
              </a:rPr>
              <a:t>div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transition-property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width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transition-duration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2s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transition-timing-function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linear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transition-delay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1s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6372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Animace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Animovat ze stavu A do stavu B</a:t>
            </a:r>
          </a:p>
          <a:p>
            <a:pPr marL="0" indent="0">
              <a:buNone/>
            </a:pPr>
            <a:r>
              <a:rPr lang="cs-CZ" dirty="0"/>
              <a:t>Možnost přechodu mezi více stavy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Příklady:</a:t>
            </a:r>
          </a:p>
          <a:p>
            <a:r>
              <a:rPr lang="cs-CZ" dirty="0">
                <a:hlinkClick r:id="rId2"/>
              </a:rPr>
              <a:t>Stromek</a:t>
            </a:r>
            <a:endParaRPr lang="cs-CZ" dirty="0"/>
          </a:p>
          <a:p>
            <a:r>
              <a:rPr lang="cs-CZ" dirty="0">
                <a:hlinkClick r:id="rId3"/>
              </a:rPr>
              <a:t>Medúza</a:t>
            </a:r>
            <a:endParaRPr lang="cs-CZ" dirty="0"/>
          </a:p>
          <a:p>
            <a:r>
              <a:rPr lang="cs-CZ" dirty="0">
                <a:hlinkClick r:id="rId4"/>
              </a:rPr>
              <a:t>Hodiny</a:t>
            </a:r>
            <a:endParaRPr lang="cs-CZ" dirty="0"/>
          </a:p>
          <a:p>
            <a:r>
              <a:rPr lang="cs-CZ" dirty="0">
                <a:hlinkClick r:id="rId5"/>
              </a:rPr>
              <a:t>Další…</a:t>
            </a:r>
            <a:endParaRPr lang="cs-CZ" dirty="0"/>
          </a:p>
        </p:txBody>
      </p:sp>
      <p:pic>
        <p:nvPicPr>
          <p:cNvPr id="9" name="Obrázek 8" descr="Obsah obrázku snímek obrazovky, Grafika, grafický design, Písmo&#10;&#10;Popis byl vytvořen automaticky">
            <a:extLst>
              <a:ext uri="{FF2B5EF4-FFF2-40B4-BE49-F238E27FC236}">
                <a16:creationId xmlns:a16="http://schemas.microsoft.com/office/drawing/2014/main" id="{DECB9849-C2EE-971F-F75F-660B872BAF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793" y="0"/>
            <a:ext cx="4712207" cy="265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Animace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/* The animation code */</a:t>
            </a:r>
          </a:p>
          <a:p>
            <a:pPr marL="0" indent="0">
              <a:buNone/>
            </a:pPr>
            <a:r>
              <a:rPr lang="en-US" dirty="0"/>
              <a:t>@keyframes example {</a:t>
            </a:r>
          </a:p>
          <a:p>
            <a:pPr marL="0" indent="0">
              <a:buNone/>
            </a:pPr>
            <a:r>
              <a:rPr lang="en-US" dirty="0"/>
              <a:t>  from {background-color: red;}</a:t>
            </a:r>
          </a:p>
          <a:p>
            <a:pPr marL="0" indent="0">
              <a:buNone/>
            </a:pPr>
            <a:r>
              <a:rPr lang="en-US" dirty="0"/>
              <a:t>  to {background-color: yellow;}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/* The element to apply the animation to */</a:t>
            </a:r>
          </a:p>
          <a:p>
            <a:pPr marL="0" indent="0">
              <a:buNone/>
            </a:pPr>
            <a:r>
              <a:rPr lang="en-US" dirty="0"/>
              <a:t>div {</a:t>
            </a:r>
          </a:p>
          <a:p>
            <a:pPr marL="0" indent="0">
              <a:buNone/>
            </a:pPr>
            <a:r>
              <a:rPr lang="en-US" dirty="0"/>
              <a:t>  width: 100px;</a:t>
            </a:r>
          </a:p>
          <a:p>
            <a:pPr marL="0" indent="0">
              <a:buNone/>
            </a:pPr>
            <a:r>
              <a:rPr lang="en-US" dirty="0"/>
              <a:t>  height: 100px;</a:t>
            </a:r>
          </a:p>
          <a:p>
            <a:pPr marL="0" indent="0">
              <a:buNone/>
            </a:pPr>
            <a:r>
              <a:rPr lang="en-US" dirty="0"/>
              <a:t>  background-color: red;</a:t>
            </a:r>
          </a:p>
          <a:p>
            <a:pPr marL="0" indent="0">
              <a:buNone/>
            </a:pPr>
            <a:r>
              <a:rPr lang="en-US" dirty="0"/>
              <a:t>  animation-name: example;</a:t>
            </a:r>
          </a:p>
          <a:p>
            <a:pPr marL="0" indent="0">
              <a:buNone/>
            </a:pPr>
            <a:r>
              <a:rPr lang="en-US" dirty="0"/>
              <a:t>  animation-duration: 4s;</a:t>
            </a:r>
          </a:p>
          <a:p>
            <a:pPr marL="0" indent="0">
              <a:buNone/>
            </a:pPr>
            <a:r>
              <a:rPr lang="en-US" dirty="0"/>
              <a:t>} </a:t>
            </a:r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AF74110-A261-72F3-32F3-8B0BC7F2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762" y="1542787"/>
            <a:ext cx="2876951" cy="1886213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047BCD9A-7238-FD27-9D91-FE4FA183B7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9"/>
          <a:stretch/>
        </p:blipFill>
        <p:spPr>
          <a:xfrm>
            <a:off x="6213762" y="3774138"/>
            <a:ext cx="339295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7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Animace – Více přechodů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div {</a:t>
            </a:r>
          </a:p>
          <a:p>
            <a:pPr marL="0" indent="0">
              <a:buNone/>
            </a:pPr>
            <a:r>
              <a:rPr lang="en-US" dirty="0"/>
              <a:t>  width: 100px;</a:t>
            </a:r>
          </a:p>
          <a:p>
            <a:pPr marL="0" indent="0">
              <a:buNone/>
            </a:pPr>
            <a:r>
              <a:rPr lang="en-US" dirty="0"/>
              <a:t>  height: 100px;</a:t>
            </a:r>
          </a:p>
          <a:p>
            <a:pPr marL="0" indent="0">
              <a:buNone/>
            </a:pPr>
            <a:r>
              <a:rPr lang="en-US" dirty="0"/>
              <a:t>  background-color: red;</a:t>
            </a:r>
          </a:p>
          <a:p>
            <a:pPr marL="0" indent="0">
              <a:buNone/>
            </a:pPr>
            <a:r>
              <a:rPr lang="en-US" dirty="0"/>
              <a:t>  animation-name: example;</a:t>
            </a:r>
          </a:p>
          <a:p>
            <a:pPr marL="0" indent="0">
              <a:buNone/>
            </a:pPr>
            <a:r>
              <a:rPr lang="en-US" dirty="0"/>
              <a:t>  animation-duration: 4s;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@keyframes example {</a:t>
            </a:r>
          </a:p>
          <a:p>
            <a:pPr marL="0" indent="0">
              <a:buNone/>
            </a:pPr>
            <a:r>
              <a:rPr lang="en-US" dirty="0"/>
              <a:t>  0%   {background-color: red;}</a:t>
            </a:r>
          </a:p>
          <a:p>
            <a:pPr marL="0" indent="0">
              <a:buNone/>
            </a:pPr>
            <a:r>
              <a:rPr lang="en-US" dirty="0"/>
              <a:t>  25%  {background-color: yellow;}</a:t>
            </a:r>
          </a:p>
          <a:p>
            <a:pPr marL="0" indent="0">
              <a:buNone/>
            </a:pPr>
            <a:r>
              <a:rPr lang="en-US" dirty="0"/>
              <a:t>  50%  {background-color: blue;}</a:t>
            </a:r>
          </a:p>
          <a:p>
            <a:pPr marL="0" indent="0">
              <a:buNone/>
            </a:pPr>
            <a:r>
              <a:rPr lang="en-US" dirty="0"/>
              <a:t>  100% {background-color: green;}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958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Animace – Více vlastností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8000"/>
                </a:solidFill>
                <a:effectLst/>
              </a:rPr>
              <a:t>/* </a:t>
            </a:r>
            <a:r>
              <a:rPr lang="cs-CZ" dirty="0" err="1">
                <a:solidFill>
                  <a:srgbClr val="008000"/>
                </a:solidFill>
                <a:effectLst/>
              </a:rPr>
              <a:t>The</a:t>
            </a:r>
            <a:r>
              <a:rPr lang="cs-CZ" dirty="0">
                <a:solidFill>
                  <a:srgbClr val="008000"/>
                </a:solidFill>
                <a:effectLst/>
              </a:rPr>
              <a:t> </a:t>
            </a:r>
            <a:r>
              <a:rPr lang="cs-CZ" dirty="0" err="1">
                <a:solidFill>
                  <a:srgbClr val="008000"/>
                </a:solidFill>
                <a:effectLst/>
              </a:rPr>
              <a:t>animation</a:t>
            </a:r>
            <a:r>
              <a:rPr lang="cs-CZ" dirty="0">
                <a:solidFill>
                  <a:srgbClr val="008000"/>
                </a:solidFill>
                <a:effectLst/>
              </a:rPr>
              <a:t> </a:t>
            </a:r>
            <a:r>
              <a:rPr lang="cs-CZ" dirty="0" err="1">
                <a:solidFill>
                  <a:srgbClr val="008000"/>
                </a:solidFill>
                <a:effectLst/>
              </a:rPr>
              <a:t>code</a:t>
            </a:r>
            <a:r>
              <a:rPr lang="cs-CZ" dirty="0">
                <a:solidFill>
                  <a:srgbClr val="008000"/>
                </a:solidFill>
                <a:effectLst/>
              </a:rPr>
              <a:t> */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@keyframes </a:t>
            </a:r>
            <a:r>
              <a:rPr lang="cs-CZ" dirty="0" err="1">
                <a:solidFill>
                  <a:srgbClr val="A52A2A"/>
                </a:solidFill>
                <a:effectLst/>
              </a:rPr>
              <a:t>example</a:t>
            </a:r>
            <a:r>
              <a:rPr lang="cs-CZ" dirty="0">
                <a:solidFill>
                  <a:srgbClr val="A52A2A"/>
                </a:solidFill>
                <a:effectLst/>
              </a:rPr>
              <a:t>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  0%  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r>
              <a:rPr lang="cs-CZ" dirty="0" err="1">
                <a:solidFill>
                  <a:srgbClr val="FF0000"/>
                </a:solidFill>
                <a:effectLst/>
              </a:rPr>
              <a:t>background-color</a:t>
            </a:r>
            <a:r>
              <a:rPr lang="cs-CZ" dirty="0" err="1">
                <a:solidFill>
                  <a:srgbClr val="000000"/>
                </a:solidFill>
                <a:effectLst/>
              </a:rPr>
              <a:t>:</a:t>
            </a:r>
            <a:r>
              <a:rPr lang="cs-CZ" dirty="0" err="1">
                <a:solidFill>
                  <a:srgbClr val="0000CD"/>
                </a:solidFill>
                <a:effectLst/>
              </a:rPr>
              <a:t>red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left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top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0px</a:t>
            </a:r>
            <a:r>
              <a:rPr lang="cs-CZ" dirty="0">
                <a:solidFill>
                  <a:srgbClr val="000000"/>
                </a:solidFill>
                <a:effectLst/>
              </a:rPr>
              <a:t>;}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  25% 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r>
              <a:rPr lang="cs-CZ" dirty="0" err="1">
                <a:solidFill>
                  <a:srgbClr val="FF0000"/>
                </a:solidFill>
                <a:effectLst/>
              </a:rPr>
              <a:t>background-color</a:t>
            </a:r>
            <a:r>
              <a:rPr lang="cs-CZ" dirty="0" err="1">
                <a:solidFill>
                  <a:srgbClr val="000000"/>
                </a:solidFill>
                <a:effectLst/>
              </a:rPr>
              <a:t>:</a:t>
            </a:r>
            <a:r>
              <a:rPr lang="cs-CZ" dirty="0" err="1">
                <a:solidFill>
                  <a:srgbClr val="0000CD"/>
                </a:solidFill>
                <a:effectLst/>
              </a:rPr>
              <a:t>yellow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left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200px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top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0px</a:t>
            </a:r>
            <a:r>
              <a:rPr lang="cs-CZ" dirty="0">
                <a:solidFill>
                  <a:srgbClr val="000000"/>
                </a:solidFill>
                <a:effectLst/>
              </a:rPr>
              <a:t>;}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  50% 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r>
              <a:rPr lang="cs-CZ" dirty="0" err="1">
                <a:solidFill>
                  <a:srgbClr val="FF0000"/>
                </a:solidFill>
                <a:effectLst/>
              </a:rPr>
              <a:t>background-color</a:t>
            </a:r>
            <a:r>
              <a:rPr lang="cs-CZ" dirty="0" err="1">
                <a:solidFill>
                  <a:srgbClr val="000000"/>
                </a:solidFill>
                <a:effectLst/>
              </a:rPr>
              <a:t>:</a:t>
            </a:r>
            <a:r>
              <a:rPr lang="cs-CZ" dirty="0" err="1">
                <a:solidFill>
                  <a:srgbClr val="0000CD"/>
                </a:solidFill>
                <a:effectLst/>
              </a:rPr>
              <a:t>blue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left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200px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top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200px</a:t>
            </a:r>
            <a:r>
              <a:rPr lang="cs-CZ" dirty="0">
                <a:solidFill>
                  <a:srgbClr val="000000"/>
                </a:solidFill>
                <a:effectLst/>
              </a:rPr>
              <a:t>;}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  75% 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r>
              <a:rPr lang="cs-CZ" dirty="0" err="1">
                <a:solidFill>
                  <a:srgbClr val="FF0000"/>
                </a:solidFill>
                <a:effectLst/>
              </a:rPr>
              <a:t>background-color</a:t>
            </a:r>
            <a:r>
              <a:rPr lang="cs-CZ" dirty="0" err="1">
                <a:solidFill>
                  <a:srgbClr val="000000"/>
                </a:solidFill>
                <a:effectLst/>
              </a:rPr>
              <a:t>:</a:t>
            </a:r>
            <a:r>
              <a:rPr lang="cs-CZ" dirty="0" err="1">
                <a:solidFill>
                  <a:srgbClr val="0000CD"/>
                </a:solidFill>
                <a:effectLst/>
              </a:rPr>
              <a:t>green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left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top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200px</a:t>
            </a:r>
            <a:r>
              <a:rPr lang="cs-CZ" dirty="0">
                <a:solidFill>
                  <a:srgbClr val="000000"/>
                </a:solidFill>
                <a:effectLst/>
              </a:rPr>
              <a:t>;}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  100%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r>
              <a:rPr lang="cs-CZ" dirty="0" err="1">
                <a:solidFill>
                  <a:srgbClr val="FF0000"/>
                </a:solidFill>
                <a:effectLst/>
              </a:rPr>
              <a:t>background-color</a:t>
            </a:r>
            <a:r>
              <a:rPr lang="cs-CZ" dirty="0" err="1">
                <a:solidFill>
                  <a:srgbClr val="000000"/>
                </a:solidFill>
                <a:effectLst/>
              </a:rPr>
              <a:t>:</a:t>
            </a:r>
            <a:r>
              <a:rPr lang="cs-CZ" dirty="0" err="1">
                <a:solidFill>
                  <a:srgbClr val="0000CD"/>
                </a:solidFill>
                <a:effectLst/>
              </a:rPr>
              <a:t>red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left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r>
              <a:rPr lang="cs-CZ" dirty="0">
                <a:solidFill>
                  <a:srgbClr val="FF0000"/>
                </a:solidFill>
                <a:effectLst/>
              </a:rPr>
              <a:t> top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0px</a:t>
            </a:r>
            <a:r>
              <a:rPr lang="cs-CZ" dirty="0">
                <a:solidFill>
                  <a:srgbClr val="000000"/>
                </a:solidFill>
                <a:effectLst/>
              </a:rPr>
              <a:t>;}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000000"/>
                </a:solidFill>
                <a:effectLst/>
              </a:rPr>
              <a:t>}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008000"/>
                </a:solidFill>
                <a:effectLst/>
              </a:rPr>
              <a:t>/* </a:t>
            </a:r>
            <a:r>
              <a:rPr lang="cs-CZ" dirty="0" err="1">
                <a:solidFill>
                  <a:srgbClr val="008000"/>
                </a:solidFill>
                <a:effectLst/>
              </a:rPr>
              <a:t>The</a:t>
            </a:r>
            <a:r>
              <a:rPr lang="cs-CZ" dirty="0">
                <a:solidFill>
                  <a:srgbClr val="008000"/>
                </a:solidFill>
                <a:effectLst/>
              </a:rPr>
              <a:t> element to </a:t>
            </a:r>
            <a:r>
              <a:rPr lang="cs-CZ" dirty="0" err="1">
                <a:solidFill>
                  <a:srgbClr val="008000"/>
                </a:solidFill>
                <a:effectLst/>
              </a:rPr>
              <a:t>apply</a:t>
            </a:r>
            <a:r>
              <a:rPr lang="cs-CZ" dirty="0">
                <a:solidFill>
                  <a:srgbClr val="008000"/>
                </a:solidFill>
                <a:effectLst/>
              </a:rPr>
              <a:t> </a:t>
            </a:r>
            <a:r>
              <a:rPr lang="cs-CZ" dirty="0" err="1">
                <a:solidFill>
                  <a:srgbClr val="008000"/>
                </a:solidFill>
                <a:effectLst/>
              </a:rPr>
              <a:t>the</a:t>
            </a:r>
            <a:r>
              <a:rPr lang="cs-CZ" dirty="0">
                <a:solidFill>
                  <a:srgbClr val="008000"/>
                </a:solidFill>
                <a:effectLst/>
              </a:rPr>
              <a:t> </a:t>
            </a:r>
            <a:r>
              <a:rPr lang="cs-CZ" dirty="0" err="1">
                <a:solidFill>
                  <a:srgbClr val="008000"/>
                </a:solidFill>
                <a:effectLst/>
              </a:rPr>
              <a:t>animation</a:t>
            </a:r>
            <a:r>
              <a:rPr lang="cs-CZ" dirty="0">
                <a:solidFill>
                  <a:srgbClr val="008000"/>
                </a:solidFill>
                <a:effectLst/>
              </a:rPr>
              <a:t> to */</a:t>
            </a:r>
            <a:br>
              <a:rPr lang="cs-CZ" dirty="0">
                <a:solidFill>
                  <a:srgbClr val="A52A2A"/>
                </a:solidFill>
                <a:effectLst/>
              </a:rPr>
            </a:br>
            <a:r>
              <a:rPr lang="cs-CZ" dirty="0">
                <a:solidFill>
                  <a:srgbClr val="A52A2A"/>
                </a:solidFill>
                <a:effectLst/>
              </a:rPr>
              <a:t>div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width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100px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height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100px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position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relative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 background-</a:t>
            </a:r>
            <a:r>
              <a:rPr lang="cs-CZ" dirty="0" err="1">
                <a:solidFill>
                  <a:srgbClr val="FF0000"/>
                </a:solidFill>
                <a:effectLst/>
              </a:rPr>
              <a:t>color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red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 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animation-name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example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 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animation-duration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4s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000000"/>
                </a:solidFill>
                <a:effectLst/>
              </a:rPr>
              <a:t>}</a:t>
            </a:r>
            <a:r>
              <a:rPr lang="cs-CZ" dirty="0">
                <a:solidFill>
                  <a:srgbClr val="A52A2A"/>
                </a:solidFill>
                <a:effectLst/>
              </a:rPr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08173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animací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Zpoždění</a:t>
            </a: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animation-delay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2s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endParaRPr lang="cs-CZ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</a:rPr>
              <a:t>Opakování</a:t>
            </a: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effectLst/>
              </a:rPr>
              <a:t>  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animation-iteration-count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3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animation-iteration-count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infinite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</a:rPr>
              <a:t>Alternace (</a:t>
            </a:r>
            <a:r>
              <a:rPr lang="cs-CZ" dirty="0" err="1">
                <a:solidFill>
                  <a:srgbClr val="000000"/>
                </a:solidFill>
              </a:rPr>
              <a:t>animation-direction</a:t>
            </a:r>
            <a:r>
              <a:rPr lang="cs-CZ" dirty="0">
                <a:solidFill>
                  <a:srgbClr val="000000"/>
                </a:solidFill>
              </a:rPr>
              <a:t>)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b="1" dirty="0">
                <a:solidFill>
                  <a:srgbClr val="000000"/>
                </a:solidFill>
              </a:rPr>
              <a:t>normal</a:t>
            </a:r>
            <a:r>
              <a:rPr lang="en-US" dirty="0">
                <a:solidFill>
                  <a:srgbClr val="000000"/>
                </a:solidFill>
              </a:rPr>
              <a:t> - The animation is played as normal (forwards). This is default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b="1" dirty="0">
                <a:solidFill>
                  <a:srgbClr val="000000"/>
                </a:solidFill>
              </a:rPr>
              <a:t>reverse</a:t>
            </a:r>
            <a:r>
              <a:rPr lang="en-US" dirty="0">
                <a:solidFill>
                  <a:srgbClr val="000000"/>
                </a:solidFill>
              </a:rPr>
              <a:t> - The animation is played in reverse direction (backwards)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b="1" dirty="0">
                <a:solidFill>
                  <a:srgbClr val="000000"/>
                </a:solidFill>
              </a:rPr>
              <a:t>alternate</a:t>
            </a:r>
            <a:r>
              <a:rPr lang="en-US" dirty="0">
                <a:solidFill>
                  <a:srgbClr val="000000"/>
                </a:solidFill>
              </a:rPr>
              <a:t> - The animation is played forwards first, then backwards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b="1" dirty="0">
                <a:solidFill>
                  <a:srgbClr val="000000"/>
                </a:solidFill>
              </a:rPr>
              <a:t>alternate-reverse</a:t>
            </a:r>
            <a:r>
              <a:rPr lang="en-US" dirty="0">
                <a:solidFill>
                  <a:srgbClr val="000000"/>
                </a:solidFill>
              </a:rPr>
              <a:t> - The animation is played backwards first, then forwards</a:t>
            </a:r>
          </a:p>
        </p:txBody>
      </p:sp>
    </p:spTree>
    <p:extLst>
      <p:ext uri="{BB962C8B-B14F-4D97-AF65-F5344CB8AC3E}">
        <p14:creationId xmlns:p14="http://schemas.microsoft.com/office/powerpoint/2010/main" val="3555939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Rychlost animace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ease - Specifies an animation with a slow start, then fast, then end slowly (this is default)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linear - Specifies an animation with the same speed from start to end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ease-in - Specifies an animation with a slow start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ease-out - Specifies an animation with a slow end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ease-in-out - Specifies an animation with a slow start and end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cubic-</a:t>
            </a:r>
            <a:r>
              <a:rPr lang="en-US" dirty="0" err="1">
                <a:solidFill>
                  <a:srgbClr val="000000"/>
                </a:solidFill>
              </a:rPr>
              <a:t>bezier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n,n,n,n</a:t>
            </a:r>
            <a:r>
              <a:rPr lang="en-US" dirty="0">
                <a:solidFill>
                  <a:srgbClr val="000000"/>
                </a:solidFill>
              </a:rPr>
              <a:t>) - Lets you define your own values in a cubic-</a:t>
            </a:r>
            <a:r>
              <a:rPr lang="en-US" dirty="0" err="1">
                <a:solidFill>
                  <a:srgbClr val="000000"/>
                </a:solidFill>
              </a:rPr>
              <a:t>bezier</a:t>
            </a:r>
            <a:r>
              <a:rPr lang="en-US" dirty="0">
                <a:solidFill>
                  <a:srgbClr val="000000"/>
                </a:solidFill>
              </a:rPr>
              <a:t> function</a:t>
            </a:r>
            <a:endParaRPr lang="cs-CZ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linkClick r:id="rId2"/>
              </a:rPr>
              <a:t>Ukázka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591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-mode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none - Default value. Animation will not apply any styles to the element before or after it is executing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forwards - The element will retain the style values that is set by the last keyframe (depends on animation-direction and animation-iteration-count)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backwards - The element will get the style values that is set by the first keyframe (depends on animation-direction), and retain this during the animation-delay period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both - The animation will follow the rules for both forwards and backwards, extending the animation properties in both directions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57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Shorthand Property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rgbClr val="A52A2A"/>
                </a:solidFill>
                <a:effectLst/>
              </a:rPr>
              <a:t>div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animation-name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example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animation-duration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5s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animation-timing-function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linear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animation-delay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2s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animation-iteration-count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infinite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 </a:t>
            </a:r>
            <a:r>
              <a:rPr lang="cs-CZ" dirty="0" err="1">
                <a:solidFill>
                  <a:srgbClr val="FF0000"/>
                </a:solidFill>
                <a:effectLst/>
              </a:rPr>
              <a:t>animation-direction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alternate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000000"/>
                </a:solidFill>
                <a:effectLst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</a:rPr>
              <a:t>Zkráceně: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  <a:effectLst/>
              </a:rPr>
              <a:t>  animation</a:t>
            </a:r>
            <a:r>
              <a:rPr lang="en-US">
                <a:solidFill>
                  <a:srgbClr val="000000"/>
                </a:solidFill>
                <a:effectLst/>
              </a:rPr>
              <a:t>:</a:t>
            </a:r>
            <a:r>
              <a:rPr lang="en-US">
                <a:solidFill>
                  <a:srgbClr val="0000CD"/>
                </a:solidFill>
                <a:effectLst/>
              </a:rPr>
              <a:t> example 5s linear 2s infinite alternate</a:t>
            </a:r>
            <a:r>
              <a:rPr lang="en-US">
                <a:solidFill>
                  <a:srgbClr val="000000"/>
                </a:solidFill>
                <a:effectLst/>
              </a:rPr>
              <a:t>;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44020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</TotalTime>
  <Words>952</Words>
  <Application>Microsoft Office PowerPoint</Application>
  <PresentationFormat>Širokoúhlá obrazovka</PresentationFormat>
  <Paragraphs>124</Paragraphs>
  <Slides>19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Motiv Office</vt:lpstr>
      <vt:lpstr>Transformace a Animace</vt:lpstr>
      <vt:lpstr>Transformace</vt:lpstr>
      <vt:lpstr>Translate()</vt:lpstr>
      <vt:lpstr>Rotate()</vt:lpstr>
      <vt:lpstr>Scale()</vt:lpstr>
      <vt:lpstr>Matrix()</vt:lpstr>
      <vt:lpstr>3D Transforms</vt:lpstr>
      <vt:lpstr>Transitions</vt:lpstr>
      <vt:lpstr>Transitions</vt:lpstr>
      <vt:lpstr>Speed Curve of the Transition</vt:lpstr>
      <vt:lpstr>Další specifika</vt:lpstr>
      <vt:lpstr>Animace</vt:lpstr>
      <vt:lpstr>Animace</vt:lpstr>
      <vt:lpstr>Animace – Více přechodů</vt:lpstr>
      <vt:lpstr>Animace – Více vlastností</vt:lpstr>
      <vt:lpstr>Vlastnosti animací</vt:lpstr>
      <vt:lpstr>Rychlost animace</vt:lpstr>
      <vt:lpstr>animation-fill-mode</vt:lpstr>
      <vt:lpstr>Shorthand Property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199</cp:revision>
  <dcterms:created xsi:type="dcterms:W3CDTF">2020-09-17T19:44:13Z</dcterms:created>
  <dcterms:modified xsi:type="dcterms:W3CDTF">2023-12-11T10:14:28Z</dcterms:modified>
</cp:coreProperties>
</file>