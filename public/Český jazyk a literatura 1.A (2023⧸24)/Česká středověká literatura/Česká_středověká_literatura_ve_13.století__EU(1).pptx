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256" r:id="rId2"/>
    <p:sldId id="327" r:id="rId3"/>
    <p:sldId id="328" r:id="rId4"/>
    <p:sldId id="259" r:id="rId5"/>
    <p:sldId id="260" r:id="rId6"/>
    <p:sldId id="264" r:id="rId7"/>
    <p:sldId id="261" r:id="rId8"/>
    <p:sldId id="263" r:id="rId9"/>
    <p:sldId id="324" r:id="rId10"/>
    <p:sldId id="267" r:id="rId11"/>
    <p:sldId id="270" r:id="rId12"/>
    <p:sldId id="320" r:id="rId13"/>
    <p:sldId id="286" r:id="rId14"/>
    <p:sldId id="325" r:id="rId15"/>
    <p:sldId id="278" r:id="rId16"/>
    <p:sldId id="282" r:id="rId17"/>
    <p:sldId id="326" r:id="rId18"/>
    <p:sldId id="285" r:id="rId19"/>
    <p:sldId id="310" r:id="rId20"/>
    <p:sldId id="287" r:id="rId21"/>
    <p:sldId id="312" r:id="rId22"/>
    <p:sldId id="313" r:id="rId23"/>
    <p:sldId id="315" r:id="rId24"/>
    <p:sldId id="321" r:id="rId25"/>
    <p:sldId id="323" r:id="rId26"/>
    <p:sldId id="322" r:id="rId27"/>
    <p:sldId id="319" r:id="rId28"/>
    <p:sldId id="268" r:id="rId29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B55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14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A0F6A-5E68-49B2-9729-CF3F51A3C7CC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F0E6-4F38-44DC-8325-92C4EDBFA42B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mtClean="0"/>
              <a:t>Zápis.</a:t>
            </a: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C9F0E6-4F38-44DC-8325-92C4EDBFA42B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mtClean="0"/>
              <a:t>Zápis.</a:t>
            </a: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C9F0E6-4F38-44DC-8325-92C4EDBFA42B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mtClean="0"/>
              <a:t>Zápis učiva.</a:t>
            </a: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C9F0E6-4F38-44DC-8325-92C4EDBFA42B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mtClean="0"/>
              <a:t>snieti sě = oženiti se, přieti = přáti</a:t>
            </a: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C9F0E6-4F38-44DC-8325-92C4EDBFA42B}" type="slidenum">
              <a:rPr lang="cs-CZ" smtClean="0"/>
              <a:pPr/>
              <a:t>25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Klepnutím na ikonu přidáte obrázek.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66490-28E6-4DD2-9AFA-9CA1155A55E9}" type="datetimeFigureOut">
              <a:rPr lang="cs-CZ" smtClean="0"/>
              <a:pPr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256C5-9262-49A7-8AED-CF255BCABE07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r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//upload.wikimedia.org/wikipedia/commons/2/22/Pasional_abaty%C5%A1e_Kunhuty.jp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//upload.wikimedia.org/wikipedia/commons/c/c6/Pasion%C3%A1lKunhuty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//upload.wikimedia.org/wikipedia/commons/c/c9/Adam_a_Eva_v_r%C3%A1ji.jpg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upload.wikimedia.org/wikipedia/commons/2/21/PasionalKunhuty.jpg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//upload.wikimedia.org/wikipedia/commons/d/d2/Pasional.jp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hyperlink" Target="//upload.wikimedia.org/wikipedia/commons/7/7c/Vyhnani_z_raje.jp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//upload.wikimedia.org/wikipedia/commons/4/42/Kladen%C3%AD_Krista_do_hrobu.jp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hyperlink" Target="//upload.wikimedia.org/wikipedia/commons/c/c7/Sn%C3%ADm%C3%A1n%C3%AD_z_k%C5%99%C3%AD%C5%BEe.jp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//upload.wikimedia.org/wikipedia/commons/6/68/Josef_Dobrovsky_Vilimek.jpg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užka dolů 6"/>
          <p:cNvSpPr/>
          <p:nvPr/>
        </p:nvSpPr>
        <p:spPr>
          <a:xfrm>
            <a:off x="214282" y="2857496"/>
            <a:ext cx="8929718" cy="3000396"/>
          </a:xfrm>
          <a:prstGeom prst="ribbon">
            <a:avLst/>
          </a:prstGeom>
          <a:solidFill>
            <a:srgbClr val="857B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643174" y="3673487"/>
            <a:ext cx="3786214" cy="1470025"/>
          </a:xfrm>
        </p:spPr>
        <p:txBody>
          <a:bodyPr>
            <a:noAutofit/>
          </a:bodyPr>
          <a:lstStyle/>
          <a:p>
            <a:r>
              <a:rPr lang="cs-CZ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Franklin Gothic Demi Cond" pitchFamily="34" charset="0"/>
              </a:rPr>
              <a:t>13.století</a:t>
            </a:r>
            <a:br>
              <a:rPr lang="cs-CZ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Franklin Gothic Demi Cond" pitchFamily="34" charset="0"/>
              </a:rPr>
            </a:br>
            <a:r>
              <a:rPr lang="cs-CZ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Franklin Gothic Demi Cond" pitchFamily="34" charset="0"/>
              </a:rPr>
              <a:t>České země</a:t>
            </a:r>
            <a:endParaRPr lang="cs-CZ" sz="54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FFFF00"/>
              </a:solidFill>
              <a:effectLst>
                <a:outerShdw blurRad="50800" algn="tl" rotWithShape="0">
                  <a:srgbClr val="000000"/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6" name="TextovéPole 5"/>
          <p:cNvSpPr txBox="1"/>
          <p:nvPr/>
        </p:nvSpPr>
        <p:spPr>
          <a:xfrm>
            <a:off x="332447" y="6356647"/>
            <a:ext cx="877605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900" b="1" dirty="0" smtClean="0"/>
              <a:t>Mgr. Kateřina </a:t>
            </a:r>
            <a:r>
              <a:rPr lang="cs-CZ" sz="1900" b="1" dirty="0" err="1" smtClean="0"/>
              <a:t>Karbulová</a:t>
            </a:r>
            <a:r>
              <a:rPr lang="cs-CZ" sz="1900" b="1" dirty="0" smtClean="0"/>
              <a:t>, Sportovní gymnázium Dany a Emila </a:t>
            </a:r>
            <a:r>
              <a:rPr lang="cs-CZ" sz="1900" b="1" dirty="0" err="1" smtClean="0"/>
              <a:t>Zátopkových</a:t>
            </a:r>
            <a:r>
              <a:rPr lang="cs-CZ" sz="1900" b="1" dirty="0" smtClean="0"/>
              <a:t>, Ostrava</a:t>
            </a:r>
            <a:endParaRPr lang="cs-CZ" sz="1900" b="1" dirty="0"/>
          </a:p>
        </p:txBody>
      </p:sp>
      <p:sp>
        <p:nvSpPr>
          <p:cNvPr id="9" name="TextovéPole 8"/>
          <p:cNvSpPr txBox="1"/>
          <p:nvPr/>
        </p:nvSpPr>
        <p:spPr>
          <a:xfrm>
            <a:off x="1043608" y="836712"/>
            <a:ext cx="7006983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6600" b="1" dirty="0" smtClean="0">
                <a:ln/>
                <a:solidFill>
                  <a:schemeClr val="accent3">
                    <a:lumMod val="50000"/>
                  </a:schemeClr>
                </a:solidFill>
                <a:latin typeface="Franklin Gothic Demi Cond" pitchFamily="34" charset="0"/>
              </a:rPr>
              <a:t>Středověká literatura</a:t>
            </a:r>
            <a:endParaRPr lang="cs-CZ" sz="6600" b="1" dirty="0">
              <a:ln/>
              <a:solidFill>
                <a:schemeClr val="accent3">
                  <a:lumMod val="50000"/>
                </a:schemeClr>
              </a:solidFill>
              <a:latin typeface="Franklin Gothic Demi Cond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528" y="629816"/>
            <a:ext cx="8229600" cy="1143000"/>
          </a:xfrm>
        </p:spPr>
        <p:txBody>
          <a:bodyPr>
            <a:normAutofit fontScale="90000"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Hospodářské  a společenské podmínky literárního rozvoje:</a:t>
            </a:r>
            <a:br>
              <a:rPr lang="cs-CZ" b="1" dirty="0" smtClean="0">
                <a:ln/>
                <a:solidFill>
                  <a:schemeClr val="accent3">
                    <a:lumMod val="50000"/>
                  </a:schemeClr>
                </a:solidFill>
              </a:rPr>
            </a:br>
            <a:endParaRPr lang="cs-CZ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855365"/>
            <a:ext cx="8229600" cy="4525963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1. hospodářský vzestup </a:t>
            </a:r>
            <a:r>
              <a:rPr lang="cs-CZ" sz="2400" b="1" dirty="0" smtClean="0"/>
              <a:t>-  rozvoj měst, těžba stříbra, kolonizace</a:t>
            </a: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2. období vlády posledních Přemyslovců, </a:t>
            </a:r>
            <a:r>
              <a:rPr lang="cs-CZ" sz="2400" b="1" dirty="0" err="1" smtClean="0">
                <a:solidFill>
                  <a:srgbClr val="002060"/>
                </a:solidFill>
              </a:rPr>
              <a:t>Lucemburkové</a:t>
            </a:r>
            <a:endParaRPr lang="cs-CZ" sz="24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3. počátky zesvětštění ( laicizace) literatury </a:t>
            </a:r>
            <a:r>
              <a:rPr lang="cs-CZ" sz="2400" b="1" dirty="0" smtClean="0"/>
              <a:t>( píší nejen kněží, ale i knížata)</a:t>
            </a:r>
            <a:r>
              <a:rPr lang="cs-CZ" sz="2400" b="1" dirty="0" smtClean="0">
                <a:solidFill>
                  <a:srgbClr val="002060"/>
                </a:solidFill>
              </a:rPr>
              <a:t> a demokratizace</a:t>
            </a: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4. národnostní ráz </a:t>
            </a:r>
            <a:r>
              <a:rPr lang="cs-CZ" sz="2400" b="1" dirty="0" smtClean="0"/>
              <a:t>(pronikání německé a francouzské literatury)</a:t>
            </a: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5. vznik česky psané literatury</a:t>
            </a: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6. silné postavení duchovenstva </a:t>
            </a:r>
            <a:r>
              <a:rPr lang="cs-CZ" sz="2400" b="1" dirty="0" smtClean="0"/>
              <a:t>= latinská tvorba, kláštery</a:t>
            </a:r>
          </a:p>
          <a:p>
            <a:pPr>
              <a:buNone/>
            </a:pPr>
            <a:r>
              <a:rPr lang="cs-CZ" sz="2400" b="1" dirty="0" smtClean="0"/>
              <a:t>    ( </a:t>
            </a:r>
            <a:r>
              <a:rPr lang="cs-CZ" sz="2400" b="1" dirty="0" err="1" smtClean="0"/>
              <a:t>sv.Jiří</a:t>
            </a:r>
            <a:r>
              <a:rPr lang="cs-CZ" sz="2400" b="1" dirty="0" smtClean="0"/>
              <a:t> na Hradčanech, Zbraslavský klášter u Prahy)</a:t>
            </a: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7. rozvíjející se školství</a:t>
            </a:r>
          </a:p>
          <a:p>
            <a:pPr>
              <a:buAutoNum type="arabicPeriod"/>
            </a:pPr>
            <a:endParaRPr lang="cs-CZ" sz="24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cs-CZ" sz="2400" dirty="0"/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528" y="701824"/>
            <a:ext cx="8229600" cy="1143000"/>
          </a:xfrm>
        </p:spPr>
        <p:txBody>
          <a:bodyPr>
            <a:normAutofit fontScale="90000"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Zvláštnosti nejstaršího písemnictví     v českém jazyce :</a:t>
            </a:r>
            <a:br>
              <a:rPr lang="cs-CZ" b="1" dirty="0" smtClean="0">
                <a:ln/>
                <a:solidFill>
                  <a:schemeClr val="accent3">
                    <a:lumMod val="50000"/>
                  </a:schemeClr>
                </a:solidFill>
              </a:rPr>
            </a:br>
            <a:endParaRPr lang="cs-CZ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783357"/>
            <a:ext cx="864096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1. výlučné postavení </a:t>
            </a:r>
            <a:r>
              <a:rPr lang="cs-CZ" sz="2400" b="1" i="1" dirty="0" smtClean="0">
                <a:solidFill>
                  <a:srgbClr val="002060"/>
                </a:solidFill>
              </a:rPr>
              <a:t>verše </a:t>
            </a:r>
            <a:r>
              <a:rPr lang="cs-CZ" sz="2400" b="1" dirty="0" smtClean="0"/>
              <a:t>= souviselo s tradicí ústní slovesnosti</a:t>
            </a:r>
          </a:p>
          <a:p>
            <a:pPr>
              <a:buNone/>
            </a:pPr>
            <a:r>
              <a:rPr lang="cs-CZ" sz="2400" b="1" dirty="0" smtClean="0"/>
              <a:t>    ( neznalost písma, text vnímán poslechem, verš oporou pro paměť)</a:t>
            </a:r>
          </a:p>
          <a:p>
            <a:pPr marL="457200" indent="-457200"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2. prózou  = biblické texty, právnické formule, odborné texty</a:t>
            </a:r>
          </a:p>
          <a:p>
            <a:pPr marL="457200" indent="-457200"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3. nedostatek zájmu o námětovou původnost </a:t>
            </a:r>
            <a:r>
              <a:rPr lang="cs-CZ" sz="2400" b="1" dirty="0" smtClean="0"/>
              <a:t>=  většina</a:t>
            </a:r>
          </a:p>
          <a:p>
            <a:pPr marL="457200" indent="-457200">
              <a:buNone/>
            </a:pPr>
            <a:r>
              <a:rPr lang="cs-CZ" sz="2400" b="1" dirty="0" smtClean="0"/>
              <a:t>    památek z této doby se zakládá na cizích pramenech  </a:t>
            </a:r>
          </a:p>
          <a:p>
            <a:pPr marL="457200" indent="-457200">
              <a:buNone/>
            </a:pPr>
            <a:r>
              <a:rPr lang="cs-CZ" sz="2400" b="1" dirty="0" smtClean="0"/>
              <a:t>    ( hlavně latinských)</a:t>
            </a: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4.</a:t>
            </a:r>
            <a:r>
              <a:rPr lang="cs-CZ" sz="2400" b="1" dirty="0" smtClean="0"/>
              <a:t> </a:t>
            </a:r>
            <a:r>
              <a:rPr lang="cs-CZ" sz="2400" b="1" dirty="0" smtClean="0">
                <a:solidFill>
                  <a:srgbClr val="002060"/>
                </a:solidFill>
              </a:rPr>
              <a:t>jazyk – staročeština, odlišná slovní zásoba, některé  hlásky</a:t>
            </a:r>
          </a:p>
          <a:p>
            <a:pPr>
              <a:buNone/>
            </a:pPr>
            <a:r>
              <a:rPr lang="cs-CZ" sz="2400" b="1" dirty="0" smtClean="0">
                <a:solidFill>
                  <a:srgbClr val="002060"/>
                </a:solidFill>
              </a:rPr>
              <a:t>    a tvary </a:t>
            </a:r>
            <a:r>
              <a:rPr lang="cs-CZ" sz="2400" b="1" dirty="0" smtClean="0"/>
              <a:t>( bych = byl jsem, </a:t>
            </a:r>
            <a:r>
              <a:rPr lang="cs-CZ" sz="2400" b="1" dirty="0" err="1" smtClean="0"/>
              <a:t>bieše</a:t>
            </a:r>
            <a:r>
              <a:rPr lang="cs-CZ" sz="2400" b="1" dirty="0" smtClean="0"/>
              <a:t> = býval jsi, dvojné tvary aj.)</a:t>
            </a:r>
          </a:p>
          <a:p>
            <a:endParaRPr lang="cs-CZ" sz="2400" dirty="0"/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928662" y="357166"/>
            <a:ext cx="7441268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Nejstarší česká dochovaná tvorba:</a:t>
            </a:r>
            <a:endParaRPr lang="cs-CZ" sz="40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TextovéPole 2"/>
          <p:cNvSpPr txBox="1"/>
          <p:nvPr/>
        </p:nvSpPr>
        <p:spPr>
          <a:xfrm>
            <a:off x="71406" y="1142984"/>
            <a:ext cx="81439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cs-CZ" sz="2400" b="1" dirty="0" smtClean="0">
                <a:solidFill>
                  <a:schemeClr val="accent3">
                    <a:lumMod val="50000"/>
                  </a:schemeClr>
                </a:solidFill>
              </a:rPr>
              <a:t> 1. duchovní lyrika</a:t>
            </a:r>
            <a:r>
              <a:rPr lang="cs-CZ" sz="2400" b="1" dirty="0" smtClean="0">
                <a:solidFill>
                  <a:srgbClr val="002060"/>
                </a:solidFill>
              </a:rPr>
              <a:t>:  </a:t>
            </a:r>
            <a:r>
              <a:rPr lang="cs-CZ" sz="2400" b="1" dirty="0" smtClean="0">
                <a:solidFill>
                  <a:srgbClr val="FF0000"/>
                </a:solidFill>
              </a:rPr>
              <a:t>Pasionál abatyše Kunhuty</a:t>
            </a:r>
          </a:p>
          <a:p>
            <a:pPr marL="457200" indent="-457200"/>
            <a:r>
              <a:rPr lang="cs-CZ" sz="2400" b="1" dirty="0" smtClean="0">
                <a:solidFill>
                  <a:srgbClr val="FF0000"/>
                </a:solidFill>
              </a:rPr>
              <a:t>                                      </a:t>
            </a:r>
            <a:r>
              <a:rPr lang="cs-CZ" sz="2400" b="1" dirty="0" smtClean="0">
                <a:solidFill>
                  <a:srgbClr val="002060"/>
                </a:solidFill>
              </a:rPr>
              <a:t>- </a:t>
            </a:r>
            <a:r>
              <a:rPr lang="cs-CZ" sz="2400" b="1" dirty="0" smtClean="0">
                <a:solidFill>
                  <a:srgbClr val="FF0000"/>
                </a:solidFill>
              </a:rPr>
              <a:t>Kunhutina modlitba</a:t>
            </a:r>
            <a:r>
              <a:rPr lang="cs-CZ" sz="2400" b="1" dirty="0" smtClean="0">
                <a:solidFill>
                  <a:srgbClr val="002060"/>
                </a:solidFill>
              </a:rPr>
              <a:t> (1300)</a:t>
            </a:r>
          </a:p>
          <a:p>
            <a:pPr marL="457200" indent="-457200"/>
            <a:r>
              <a:rPr lang="cs-CZ" sz="2400" b="1" dirty="0" smtClean="0">
                <a:solidFill>
                  <a:srgbClr val="002060"/>
                </a:solidFill>
              </a:rPr>
              <a:t>                                     </a:t>
            </a:r>
            <a:r>
              <a:rPr lang="cs-CZ" sz="2400" b="1" dirty="0" smtClean="0">
                <a:solidFill>
                  <a:srgbClr val="FF0000"/>
                </a:solidFill>
              </a:rPr>
              <a:t>Ostrovská píseň </a:t>
            </a:r>
            <a:r>
              <a:rPr lang="cs-CZ" sz="2400" b="1" dirty="0" smtClean="0">
                <a:solidFill>
                  <a:srgbClr val="002060"/>
                </a:solidFill>
              </a:rPr>
              <a:t>– Kristus vykoupí lidstvo</a:t>
            </a:r>
          </a:p>
          <a:p>
            <a:pPr marL="457200" indent="-457200"/>
            <a:endParaRPr lang="cs-CZ" sz="2400" b="1" dirty="0" smtClean="0">
              <a:solidFill>
                <a:srgbClr val="002060"/>
              </a:solidFill>
            </a:endParaRPr>
          </a:p>
          <a:p>
            <a:pPr marL="457200" indent="-457200"/>
            <a:r>
              <a:rPr lang="cs-CZ" sz="2400" b="1" dirty="0" smtClean="0">
                <a:solidFill>
                  <a:srgbClr val="002060"/>
                </a:solidFill>
              </a:rPr>
              <a:t>     </a:t>
            </a:r>
            <a:r>
              <a:rPr lang="cs-CZ" sz="2400" b="1" dirty="0" smtClean="0">
                <a:solidFill>
                  <a:schemeClr val="accent3">
                    <a:lumMod val="50000"/>
                  </a:schemeClr>
                </a:solidFill>
              </a:rPr>
              <a:t>duchovní epika</a:t>
            </a:r>
            <a:r>
              <a:rPr lang="cs-CZ" sz="2400" b="1" dirty="0" smtClean="0">
                <a:solidFill>
                  <a:srgbClr val="002060"/>
                </a:solidFill>
              </a:rPr>
              <a:t>: </a:t>
            </a:r>
            <a:r>
              <a:rPr lang="cs-CZ" sz="2400" b="1" dirty="0" smtClean="0">
                <a:solidFill>
                  <a:srgbClr val="FF0000"/>
                </a:solidFill>
              </a:rPr>
              <a:t>Legenda o Jidášovi</a:t>
            </a:r>
          </a:p>
          <a:p>
            <a:pPr marL="457200" indent="-457200"/>
            <a:r>
              <a:rPr lang="cs-CZ" sz="2400" b="1" dirty="0" smtClean="0">
                <a:solidFill>
                  <a:srgbClr val="FF0000"/>
                </a:solidFill>
              </a:rPr>
              <a:t>                                   Ďáblova bible </a:t>
            </a:r>
            <a:r>
              <a:rPr lang="cs-CZ" sz="2400" b="1" dirty="0" smtClean="0">
                <a:solidFill>
                  <a:srgbClr val="002060"/>
                </a:solidFill>
              </a:rPr>
              <a:t>( 12./13.stol.)</a:t>
            </a:r>
          </a:p>
          <a:p>
            <a:pPr marL="457200" indent="-457200"/>
            <a:r>
              <a:rPr lang="cs-CZ" sz="2400" b="1" dirty="0" smtClean="0">
                <a:solidFill>
                  <a:srgbClr val="002060"/>
                </a:solidFill>
              </a:rPr>
              <a:t>                                   legendy ( verš, próza)</a:t>
            </a:r>
          </a:p>
          <a:p>
            <a:pPr marL="457200" indent="-457200"/>
            <a:endParaRPr lang="cs-CZ" sz="2400" b="1" dirty="0" smtClean="0">
              <a:solidFill>
                <a:srgbClr val="FF0000"/>
              </a:solidFill>
            </a:endParaRPr>
          </a:p>
          <a:p>
            <a:pPr marL="457200" indent="-457200"/>
            <a:r>
              <a:rPr lang="cs-CZ" sz="2400" b="1" dirty="0" smtClean="0">
                <a:solidFill>
                  <a:schemeClr val="accent3">
                    <a:lumMod val="50000"/>
                  </a:schemeClr>
                </a:solidFill>
              </a:rPr>
              <a:t>2. světská epika </a:t>
            </a:r>
            <a:r>
              <a:rPr lang="cs-CZ" sz="2400" b="1" dirty="0" smtClean="0">
                <a:solidFill>
                  <a:schemeClr val="accent3">
                    <a:lumMod val="50000"/>
                  </a:schemeClr>
                </a:solidFill>
              </a:rPr>
              <a:t>:  </a:t>
            </a:r>
            <a:r>
              <a:rPr lang="cs-CZ" sz="2400" b="1" dirty="0" smtClean="0">
                <a:solidFill>
                  <a:srgbClr val="FF0000"/>
                </a:solidFill>
              </a:rPr>
              <a:t>Alexandreida</a:t>
            </a:r>
            <a:endParaRPr lang="cs-CZ" sz="2400" b="1" dirty="0" smtClean="0">
              <a:solidFill>
                <a:srgbClr val="FF0000"/>
              </a:solidFill>
            </a:endParaRPr>
          </a:p>
          <a:p>
            <a:pPr marL="457200" indent="-457200"/>
            <a:r>
              <a:rPr lang="cs-CZ" sz="2400" b="1" dirty="0" smtClean="0">
                <a:solidFill>
                  <a:srgbClr val="FF0000"/>
                </a:solidFill>
              </a:rPr>
              <a:t>                                 Dalimilova kronika</a:t>
            </a:r>
          </a:p>
          <a:p>
            <a:pPr marL="457200" indent="-457200"/>
            <a:endParaRPr lang="cs-CZ" sz="2400" b="1" dirty="0" smtClean="0">
              <a:solidFill>
                <a:srgbClr val="FF0000"/>
              </a:solidFill>
            </a:endParaRPr>
          </a:p>
          <a:p>
            <a:pPr marL="457200" indent="-457200"/>
            <a:r>
              <a:rPr lang="cs-CZ" sz="2400" b="1" dirty="0" smtClean="0">
                <a:solidFill>
                  <a:srgbClr val="FF0000"/>
                </a:solidFill>
              </a:rPr>
              <a:t>     </a:t>
            </a:r>
            <a:r>
              <a:rPr lang="cs-CZ" sz="2400" b="1" dirty="0" smtClean="0">
                <a:solidFill>
                  <a:schemeClr val="accent3">
                    <a:lumMod val="50000"/>
                  </a:schemeClr>
                </a:solidFill>
              </a:rPr>
              <a:t>světská lyrika:  </a:t>
            </a:r>
            <a:r>
              <a:rPr lang="cs-CZ" sz="2400" b="1" dirty="0" smtClean="0">
                <a:solidFill>
                  <a:srgbClr val="002060"/>
                </a:solidFill>
              </a:rPr>
              <a:t>milostné písně</a:t>
            </a:r>
          </a:p>
          <a:p>
            <a:pPr marL="457200" indent="-457200"/>
            <a:r>
              <a:rPr lang="cs-CZ" sz="2400" b="1" dirty="0" smtClean="0">
                <a:solidFill>
                  <a:schemeClr val="accent3">
                    <a:lumMod val="50000"/>
                  </a:schemeClr>
                </a:solidFill>
              </a:rPr>
              <a:t>                                 </a:t>
            </a:r>
            <a:r>
              <a:rPr lang="cs-CZ" sz="2400" b="1" dirty="0" smtClean="0">
                <a:solidFill>
                  <a:srgbClr val="FF0000"/>
                </a:solidFill>
              </a:rPr>
              <a:t>Kudy sem já chodila</a:t>
            </a:r>
            <a:endParaRPr lang="cs-CZ" sz="2400" b="1" dirty="0">
              <a:solidFill>
                <a:srgbClr val="FF0000"/>
              </a:solidFill>
            </a:endParaRPr>
          </a:p>
        </p:txBody>
      </p:sp>
      <p:pic>
        <p:nvPicPr>
          <p:cNvPr id="41986" name="Picture 2" descr="File:Pasional abatyše Kunhuty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8144" y="3429000"/>
            <a:ext cx="2830608" cy="3168352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bdélník 5"/>
          <p:cNvSpPr/>
          <p:nvPr/>
        </p:nvSpPr>
        <p:spPr>
          <a:xfrm>
            <a:off x="2627784" y="6237312"/>
            <a:ext cx="2924327" cy="4001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cs-CZ" sz="2000" b="1" i="1" dirty="0" smtClean="0"/>
              <a:t>Pasionál abatyše Kunhuty</a:t>
            </a:r>
            <a:endParaRPr lang="cs-CZ" sz="2000" i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142844" y="4357694"/>
            <a:ext cx="2714644" cy="2369880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b="1" i="1" smtClean="0">
                <a:solidFill>
                  <a:schemeClr val="accent3">
                    <a:lumMod val="50000"/>
                  </a:schemeClr>
                </a:solidFill>
              </a:rPr>
              <a:t>Kunhuta Přemyslovna (1265–1321)</a:t>
            </a:r>
          </a:p>
          <a:p>
            <a:r>
              <a:rPr lang="cs-CZ" b="1" i="1" smtClean="0"/>
              <a:t>prvorozená dcera českého krále Přemysla Otakara II. </a:t>
            </a:r>
          </a:p>
          <a:p>
            <a:r>
              <a:rPr lang="cs-CZ" b="1" i="1" smtClean="0"/>
              <a:t>a Kunhuty Uherské byla mazovskou kněžnou. Po rozvodu  abatyší kláštera sv. Jiří na Pražském hradě.</a:t>
            </a:r>
            <a:endParaRPr lang="cs-CZ" b="1" i="1"/>
          </a:p>
        </p:txBody>
      </p:sp>
      <p:sp>
        <p:nvSpPr>
          <p:cNvPr id="6" name="Obdélník 5"/>
          <p:cNvSpPr/>
          <p:nvPr/>
        </p:nvSpPr>
        <p:spPr>
          <a:xfrm>
            <a:off x="1714480" y="-24"/>
            <a:ext cx="5653022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Pasionál abatyše Kunhuty</a:t>
            </a:r>
            <a:endParaRPr lang="cs-CZ" sz="4000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Obdélník 6"/>
          <p:cNvSpPr/>
          <p:nvPr/>
        </p:nvSpPr>
        <p:spPr>
          <a:xfrm>
            <a:off x="2843808" y="749931"/>
            <a:ext cx="5429256" cy="5632311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sz="2400" b="1" i="1" dirty="0" smtClean="0"/>
              <a:t> soubor duchovních textů 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dirty="0" smtClean="0"/>
              <a:t> metafora utrpení církve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dirty="0" smtClean="0"/>
              <a:t> zhotoven na zakázku Kunhuty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dirty="0" smtClean="0"/>
              <a:t> první text je z roku 1312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dirty="0" smtClean="0"/>
              <a:t> dílo dokončeno okolo roku 1321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dirty="0" smtClean="0"/>
              <a:t> hlavním autorem asi kanovník Beneš</a:t>
            </a:r>
          </a:p>
          <a:p>
            <a:r>
              <a:rPr lang="cs-CZ" sz="2400" b="1" i="1" dirty="0" smtClean="0"/>
              <a:t>  - rukopis mistrně iluminoval </a:t>
            </a:r>
          </a:p>
          <a:p>
            <a:r>
              <a:rPr lang="cs-CZ" sz="2400" b="1" i="1" dirty="0" smtClean="0"/>
              <a:t>  (vymaloval) 26 ilustracemi </a:t>
            </a:r>
          </a:p>
          <a:p>
            <a:pPr>
              <a:buFontTx/>
              <a:buChar char="-"/>
            </a:pPr>
            <a:r>
              <a:rPr lang="cs-CZ" sz="2400" b="1" i="1" dirty="0" smtClean="0"/>
              <a:t>zobrazil na nich divadelní scény, </a:t>
            </a:r>
          </a:p>
          <a:p>
            <a:r>
              <a:rPr lang="cs-CZ" sz="2400" b="1" i="1" dirty="0" smtClean="0"/>
              <a:t>  které se hrály v klášteře sv. Jiří</a:t>
            </a:r>
          </a:p>
          <a:p>
            <a:r>
              <a:rPr lang="cs-CZ" sz="2400" b="1" i="1" dirty="0" smtClean="0"/>
              <a:t>  na Velikonoce</a:t>
            </a:r>
          </a:p>
          <a:p>
            <a:r>
              <a:rPr lang="cs-CZ" sz="2400" b="1" i="1" dirty="0" smtClean="0"/>
              <a:t>- dílo doplnil vlastními  verši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dirty="0" smtClean="0"/>
              <a:t> na díle se podílel i významný  </a:t>
            </a:r>
          </a:p>
          <a:p>
            <a:r>
              <a:rPr lang="cs-CZ" sz="2400" b="1" i="1" dirty="0" smtClean="0"/>
              <a:t>  dominikán - později inkvizitor</a:t>
            </a:r>
          </a:p>
          <a:p>
            <a:r>
              <a:rPr lang="cs-CZ" sz="2400" b="1" i="1" dirty="0" smtClean="0"/>
              <a:t>  </a:t>
            </a:r>
            <a:r>
              <a:rPr lang="cs-CZ" sz="2400" b="1" i="1" dirty="0" err="1" smtClean="0"/>
              <a:t>Kolda</a:t>
            </a:r>
            <a:r>
              <a:rPr lang="cs-CZ" sz="2400" b="1" i="1" dirty="0" smtClean="0"/>
              <a:t> z </a:t>
            </a:r>
            <a:r>
              <a:rPr lang="cs-CZ" sz="2400" b="1" i="1" dirty="0" err="1" smtClean="0"/>
              <a:t>Koldic</a:t>
            </a:r>
            <a:r>
              <a:rPr lang="cs-CZ" sz="2400" b="1" i="1" dirty="0" smtClean="0"/>
              <a:t> </a:t>
            </a:r>
          </a:p>
        </p:txBody>
      </p:sp>
      <p:pic>
        <p:nvPicPr>
          <p:cNvPr id="39940" name="Picture 4" descr="File:PasionálKunhuty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2280" y="2996952"/>
            <a:ext cx="1728192" cy="3685717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722" name="Picture 2" descr="http://upload.wikimedia.org/wikipedia/commons/3/3c/Kunhuta_zbras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692696"/>
            <a:ext cx="1384852" cy="3565525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3286116" y="857232"/>
            <a:ext cx="5715040" cy="1938992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Podobenství o nepřemoženém rytíři</a:t>
            </a:r>
            <a:r>
              <a:rPr lang="cs-CZ" sz="2400" b="1" smtClean="0">
                <a:solidFill>
                  <a:srgbClr val="002060"/>
                </a:solidFill>
              </a:rPr>
              <a:t> - </a:t>
            </a:r>
            <a:r>
              <a:rPr lang="cs-CZ" sz="2400" b="1" smtClean="0"/>
              <a:t>rytířem je zde Ježíš Kristus a Panna či nevěsta Kristova symbolizuje lidskou duši. Nevěsta a Kristus splynou v jedno, což Beneš ztvárnil splynutím jejich svatozáří.</a:t>
            </a:r>
          </a:p>
        </p:txBody>
      </p:sp>
      <p:sp>
        <p:nvSpPr>
          <p:cNvPr id="4" name="Obdélník 3"/>
          <p:cNvSpPr/>
          <p:nvPr/>
        </p:nvSpPr>
        <p:spPr>
          <a:xfrm>
            <a:off x="3286116" y="3382408"/>
            <a:ext cx="5500726" cy="3046988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sz="2400" b="1" smtClean="0">
                <a:solidFill>
                  <a:srgbClr val="002060"/>
                </a:solidFill>
              </a:rPr>
              <a:t> </a:t>
            </a:r>
            <a:r>
              <a:rPr lang="cs-CZ" sz="2400" b="1" smtClean="0">
                <a:solidFill>
                  <a:schemeClr val="accent3">
                    <a:lumMod val="50000"/>
                  </a:schemeClr>
                </a:solidFill>
              </a:rPr>
              <a:t>dvě středověké velikonoční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básně </a:t>
            </a:r>
          </a:p>
          <a:p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  o Panně Marii </a:t>
            </a:r>
            <a:endParaRPr lang="cs-CZ" sz="2400" b="1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cs-CZ" sz="2400" b="1" i="1" smtClean="0">
                <a:solidFill>
                  <a:srgbClr val="002060"/>
                </a:solidFill>
              </a:rPr>
              <a:t> </a:t>
            </a:r>
            <a:r>
              <a:rPr lang="cs-CZ" sz="2400" b="1" smtClean="0">
                <a:solidFill>
                  <a:schemeClr val="accent3">
                    <a:lumMod val="50000"/>
                  </a:schemeClr>
                </a:solidFill>
              </a:rPr>
              <a:t>skladba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O nebeských příbytcích</a:t>
            </a:r>
            <a:r>
              <a:rPr lang="cs-CZ" sz="2400" b="1" smtClean="0">
                <a:solidFill>
                  <a:schemeClr val="accent3">
                    <a:lumMod val="50000"/>
                  </a:schemeClr>
                </a:solidFill>
              </a:rPr>
              <a:t>  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smtClean="0">
                <a:solidFill>
                  <a:srgbClr val="002060"/>
                </a:solidFill>
              </a:rPr>
              <a:t>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Pašijové kázání papeže Lva</a:t>
            </a:r>
          </a:p>
          <a:p>
            <a:pPr>
              <a:buFont typeface="Arial" pitchFamily="34" charset="0"/>
              <a:buChar char="•"/>
            </a:pPr>
            <a:r>
              <a:rPr lang="cs-CZ" sz="2400" b="1" i="1" smtClean="0">
                <a:solidFill>
                  <a:srgbClr val="002060"/>
                </a:solidFill>
              </a:rPr>
              <a:t>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Pláč Máří Magdaleny</a:t>
            </a:r>
            <a:r>
              <a:rPr lang="cs-CZ" sz="2400" b="1" smtClean="0">
                <a:solidFill>
                  <a:schemeClr val="accent3">
                    <a:lumMod val="50000"/>
                  </a:schemeClr>
                </a:solidFill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cs-CZ" sz="2400" b="1" smtClean="0">
                <a:solidFill>
                  <a:srgbClr val="002060"/>
                </a:solidFill>
              </a:rPr>
              <a:t>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Kunhutina modlitba </a:t>
            </a:r>
            <a:r>
              <a:rPr lang="cs-CZ" sz="2400" b="1" i="1" smtClean="0">
                <a:solidFill>
                  <a:srgbClr val="002060"/>
                </a:solidFill>
              </a:rPr>
              <a:t>- </a:t>
            </a:r>
            <a:r>
              <a:rPr lang="cs-CZ" sz="2400" b="1" smtClean="0"/>
              <a:t>duchovní lyrika ,</a:t>
            </a:r>
          </a:p>
          <a:p>
            <a:r>
              <a:rPr lang="cs-CZ" sz="2400" b="1" smtClean="0"/>
              <a:t>  poprvé zpracováno náboženské téma </a:t>
            </a:r>
          </a:p>
          <a:p>
            <a:r>
              <a:rPr lang="cs-CZ" sz="2400" b="1" smtClean="0"/>
              <a:t>  v češtině, která zápasila s němčinou. </a:t>
            </a:r>
          </a:p>
        </p:txBody>
      </p:sp>
      <p:sp>
        <p:nvSpPr>
          <p:cNvPr id="5" name="Obdélník 4"/>
          <p:cNvSpPr/>
          <p:nvPr/>
        </p:nvSpPr>
        <p:spPr>
          <a:xfrm>
            <a:off x="928662" y="0"/>
            <a:ext cx="7397794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Obsah Pasionálu abatyše Kunhuty</a:t>
            </a:r>
            <a:endParaRPr lang="cs-CZ" sz="40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6" name="Picture 2" descr="File:Adam a Eva v ráji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836712"/>
            <a:ext cx="2381250" cy="5695950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oubor:PasionalKunhuty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285728"/>
            <a:ext cx="4914934" cy="61436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928662" y="5500702"/>
            <a:ext cx="3714776" cy="707886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b="1" i="1" smtClean="0"/>
              <a:t>Dedikační listina z Pasionálu</a:t>
            </a:r>
          </a:p>
          <a:p>
            <a:r>
              <a:rPr lang="cs-CZ" sz="2000" b="1" i="1" smtClean="0"/>
              <a:t>s vyobrazením abatyše Kunhuty</a:t>
            </a:r>
            <a:endParaRPr lang="cs-CZ" sz="2000" b="1" i="1"/>
          </a:p>
        </p:txBody>
      </p:sp>
      <p:sp>
        <p:nvSpPr>
          <p:cNvPr id="4" name="Obdélník 3"/>
          <p:cNvSpPr/>
          <p:nvPr/>
        </p:nvSpPr>
        <p:spPr>
          <a:xfrm>
            <a:off x="5500694" y="527851"/>
            <a:ext cx="3214710" cy="5401479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300" b="1" i="1" smtClean="0"/>
              <a:t>V knize je vložen dvoulist, kde je abatyše Kunhuta zobrazena jako princezna (korunována dvěma anděly) a jako nevěsta Kristova. Podobizna je  rozmazaná, asi byla slíbána coby vzácná relikvie.</a:t>
            </a:r>
          </a:p>
          <a:p>
            <a:pPr algn="ctr"/>
            <a:r>
              <a:rPr lang="cs-CZ" sz="2300" b="1" i="1" smtClean="0"/>
              <a:t>Roku 2005 byl Pasionál prohlášen za národní kulturní památku, je uložen v Národní knihovně ČR.</a:t>
            </a:r>
            <a:r>
              <a:rPr lang="cs-CZ" sz="2300" i="1" smtClean="0"/>
              <a:t> </a:t>
            </a:r>
            <a:endParaRPr lang="cs-CZ" sz="2300" i="1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4214810" y="142852"/>
            <a:ext cx="4714908" cy="2677656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b="1" i="1" smtClean="0"/>
              <a:t> Kristus je pojat jako Slunce a jeho nevěsta jako Venuše. Andělé jsou hvězdy, ďábel - had je démon tmy</a:t>
            </a:r>
          </a:p>
          <a:p>
            <a:pPr algn="ctr"/>
            <a:r>
              <a:rPr lang="cs-CZ" sz="2400" b="1" i="1" smtClean="0"/>
              <a:t> a zimy nebo souhvězdí podzimního hada a Kristův kříž je pojat jako křížení nebeského rovníku </a:t>
            </a:r>
          </a:p>
          <a:p>
            <a:pPr algn="ctr"/>
            <a:r>
              <a:rPr lang="cs-CZ" sz="2400" b="1" i="1" smtClean="0"/>
              <a:t>a ekliptiky.</a:t>
            </a:r>
          </a:p>
        </p:txBody>
      </p:sp>
      <p:pic>
        <p:nvPicPr>
          <p:cNvPr id="36868" name="Picture 4" descr="File:Pasional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88640"/>
            <a:ext cx="3777510" cy="4536504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6870" name="Picture 6" descr="File:Vyhnani z raje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2996952"/>
            <a:ext cx="3394402" cy="3528392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ovéPole 7"/>
          <p:cNvSpPr txBox="1"/>
          <p:nvPr/>
        </p:nvSpPr>
        <p:spPr>
          <a:xfrm>
            <a:off x="3131840" y="6165304"/>
            <a:ext cx="1689950" cy="4001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i="1" dirty="0" smtClean="0"/>
              <a:t>Vyhnání z ráje</a:t>
            </a:r>
            <a:endParaRPr lang="cs-CZ" sz="2000" b="1" i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File:Kladení Krista do hrobu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2996952"/>
            <a:ext cx="4743450" cy="3457576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 descr="File:Snímání z kříže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332656"/>
            <a:ext cx="3798050" cy="3456384"/>
          </a:xfrm>
          <a:prstGeom prst="rect">
            <a:avLst/>
          </a:prstGeom>
          <a:ln w="38100" cap="sq">
            <a:solidFill>
              <a:srgbClr val="92D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ovéPole 3"/>
          <p:cNvSpPr txBox="1"/>
          <p:nvPr/>
        </p:nvSpPr>
        <p:spPr>
          <a:xfrm>
            <a:off x="4572000" y="332656"/>
            <a:ext cx="2426818" cy="4001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i="1" dirty="0" smtClean="0"/>
              <a:t>Sundání Krista z kříže</a:t>
            </a:r>
            <a:endParaRPr lang="cs-CZ" sz="2000" b="1" i="1" dirty="0"/>
          </a:p>
        </p:txBody>
      </p:sp>
      <p:sp>
        <p:nvSpPr>
          <p:cNvPr id="5" name="TextovéPole 4"/>
          <p:cNvSpPr txBox="1"/>
          <p:nvPr/>
        </p:nvSpPr>
        <p:spPr>
          <a:xfrm>
            <a:off x="1115616" y="6093296"/>
            <a:ext cx="2919197" cy="4001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sz="2000" b="1" i="1" dirty="0" smtClean="0"/>
              <a:t>Pokládání Krista do hrobu</a:t>
            </a:r>
            <a:endParaRPr lang="cs-CZ" sz="2000" b="1" i="1" dirty="0"/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4572000" y="1196752"/>
            <a:ext cx="40005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2400" b="1" i="1" dirty="0" smtClean="0"/>
              <a:t>Obsahuje  </a:t>
            </a:r>
            <a:r>
              <a:rPr lang="cs-CZ" sz="2400" b="1" i="1" dirty="0" smtClean="0">
                <a:solidFill>
                  <a:srgbClr val="002060"/>
                </a:solidFill>
              </a:rPr>
              <a:t>Starý a Nový zákon</a:t>
            </a:r>
            <a:r>
              <a:rPr lang="cs-CZ" sz="2400" b="1" i="1" dirty="0" smtClean="0"/>
              <a:t>, zpovědní zrcadlo, přepis </a:t>
            </a:r>
            <a:r>
              <a:rPr lang="cs-CZ" sz="2400" b="1" i="1" dirty="0" smtClean="0">
                <a:solidFill>
                  <a:srgbClr val="002060"/>
                </a:solidFill>
              </a:rPr>
              <a:t>Kosmovy kroniky</a:t>
            </a:r>
            <a:r>
              <a:rPr lang="cs-CZ" sz="2400" b="1" i="1" dirty="0" smtClean="0"/>
              <a:t>, různé zaklínací  formule</a:t>
            </a:r>
          </a:p>
          <a:p>
            <a:pPr algn="ctr"/>
            <a:r>
              <a:rPr lang="cs-CZ" sz="2400" b="1" i="1" dirty="0" smtClean="0"/>
              <a:t>proti nemocem, zlodějům aj. Je zde i seznam členů </a:t>
            </a:r>
            <a:r>
              <a:rPr lang="cs-CZ" sz="2400" b="1" i="1" dirty="0" err="1" smtClean="0"/>
              <a:t>podlažického</a:t>
            </a:r>
            <a:r>
              <a:rPr lang="cs-CZ" sz="2400" b="1" i="1" dirty="0" smtClean="0"/>
              <a:t> bratrstva z let 1227 až 1229 včetně benediktinského kalendáře.</a:t>
            </a:r>
            <a:r>
              <a:rPr lang="cs-CZ" sz="2400" i="1" dirty="0" smtClean="0"/>
              <a:t> </a:t>
            </a:r>
          </a:p>
          <a:p>
            <a:pPr algn="ctr"/>
            <a:r>
              <a:rPr lang="cs-CZ" sz="2400" b="1" i="1" dirty="0" smtClean="0">
                <a:solidFill>
                  <a:schemeClr val="accent3">
                    <a:lumMod val="50000"/>
                  </a:schemeClr>
                </a:solidFill>
              </a:rPr>
              <a:t>Patří k nejcennějším památkám souvisejícím s českými dějinami.</a:t>
            </a:r>
            <a:endParaRPr lang="cs-CZ" sz="24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5143504" y="214290"/>
            <a:ext cx="2870529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Codex Gigas </a:t>
            </a:r>
            <a:endParaRPr lang="cs-CZ" sz="40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30722" name="Picture 2" descr="http://upload.wikimedia.org/wikipedia/commons/2/22/Sapient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4664"/>
            <a:ext cx="3791645" cy="5472608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Obdélník 6"/>
          <p:cNvSpPr/>
          <p:nvPr/>
        </p:nvSpPr>
        <p:spPr>
          <a:xfrm>
            <a:off x="395536" y="6165304"/>
            <a:ext cx="5121146" cy="40011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cs-CZ" sz="2000" b="1" i="1" dirty="0" err="1" smtClean="0"/>
              <a:t>Codex</a:t>
            </a:r>
            <a:r>
              <a:rPr lang="cs-CZ" sz="2000" b="1" i="1" dirty="0" smtClean="0"/>
              <a:t> </a:t>
            </a:r>
            <a:r>
              <a:rPr lang="cs-CZ" sz="2000" b="1" i="1" dirty="0" err="1" smtClean="0"/>
              <a:t>gigas</a:t>
            </a:r>
            <a:r>
              <a:rPr lang="cs-CZ" sz="2000" b="1" i="1" dirty="0" smtClean="0"/>
              <a:t> - začátek biblické Knihy Moudrosti</a:t>
            </a:r>
            <a:endParaRPr lang="cs-CZ" sz="2000" b="1" i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285720" y="4143380"/>
            <a:ext cx="8501122" cy="2308324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b="1" i="1" dirty="0" smtClean="0"/>
              <a:t>Pekelné označení získal rukopis díky vyobrazení ďábla Ke knize se  váže pověst o mnichovi, který byl za hříchy odsouzen na smrt zazděním zaživa. Bratrům slíbil, že během jediné noci napíše největší knihu na světě  se všemi tehdejšími vědomostmi. Když ale</a:t>
            </a:r>
          </a:p>
          <a:p>
            <a:pPr algn="ctr"/>
            <a:r>
              <a:rPr lang="cs-CZ" sz="2400" b="1" i="1" dirty="0" smtClean="0"/>
              <a:t>o půlnoci viděl, že sám své dílo sepsat nestačí, „ přivolal prý ďábla, s jehož pomocí práci dokončil.“ </a:t>
            </a:r>
          </a:p>
        </p:txBody>
      </p:sp>
      <p:pic>
        <p:nvPicPr>
          <p:cNvPr id="6" name="Picture 2" descr="http://kultura.ihned.cz/attachment.php/13627000/lubR1UzFAxadDnj9N75hfm03TQHsSrJK/dablova_bible_open_01_il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60648"/>
            <a:ext cx="5357850" cy="36886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142844" y="714356"/>
            <a:ext cx="89297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2400" b="1" dirty="0" smtClean="0"/>
              <a:t>Z kláštera se dochoval jen  - </a:t>
            </a:r>
            <a:r>
              <a:rPr lang="cs-CZ" sz="2400" b="1" i="1" dirty="0" err="1" smtClean="0"/>
              <a:t>Codex</a:t>
            </a:r>
            <a:r>
              <a:rPr lang="cs-CZ" sz="2400" b="1" i="1" dirty="0" smtClean="0"/>
              <a:t> </a:t>
            </a:r>
            <a:r>
              <a:rPr lang="cs-CZ" sz="2400" b="1" i="1" dirty="0" err="1" smtClean="0"/>
              <a:t>Gigas</a:t>
            </a:r>
            <a:r>
              <a:rPr lang="cs-CZ" sz="2400" b="1" dirty="0" smtClean="0"/>
              <a:t>, křtitelnice a bronzový křížek ze 14.století. Kámen z kláštera je jedním ze základních </a:t>
            </a:r>
            <a:r>
              <a:rPr lang="cs-CZ" sz="2400" b="1" dirty="0" err="1" smtClean="0"/>
              <a:t>kámenů</a:t>
            </a:r>
            <a:r>
              <a:rPr lang="cs-CZ" sz="2400" b="1" dirty="0" smtClean="0"/>
              <a:t> v Národním divadle v Praze. Klášter benediktinů se poprvé připomíná v roce 1159, zakladatelem  šlechtic </a:t>
            </a:r>
            <a:r>
              <a:rPr lang="cs-CZ" sz="2400" b="1" dirty="0" err="1" smtClean="0"/>
              <a:t>Vrbata</a:t>
            </a:r>
            <a:r>
              <a:rPr lang="cs-CZ" sz="2400" b="1" dirty="0" smtClean="0"/>
              <a:t>. Klášter byl zničen  1421 při husitských válkách. Obnoven nebyl, v 17.století zde byl postaven barokní kostel sv. Markéty. Od roku 1834 nálezy archeologických předmětů, výzkum v roce 2003. Z kláštera zbyla část zdiva.</a:t>
            </a:r>
          </a:p>
          <a:p>
            <a:pPr algn="ctr"/>
            <a:r>
              <a:rPr lang="cs-CZ" sz="2400" b="1" dirty="0" smtClean="0"/>
              <a:t/>
            </a:r>
            <a:br>
              <a:rPr lang="cs-CZ" sz="2400" b="1" dirty="0" smtClean="0"/>
            </a:br>
            <a:endParaRPr lang="cs-CZ" sz="2400" b="1" dirty="0"/>
          </a:p>
        </p:txBody>
      </p:sp>
      <p:sp>
        <p:nvSpPr>
          <p:cNvPr id="5" name="Obdélník 4"/>
          <p:cNvSpPr/>
          <p:nvPr/>
        </p:nvSpPr>
        <p:spPr>
          <a:xfrm>
            <a:off x="2071670" y="-24"/>
            <a:ext cx="4469622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400" b="1" smtClean="0">
                <a:ln/>
                <a:solidFill>
                  <a:schemeClr val="accent3">
                    <a:lumMod val="50000"/>
                  </a:schemeClr>
                </a:solidFill>
              </a:rPr>
              <a:t>Podlažický klášter </a:t>
            </a:r>
            <a:endParaRPr lang="cs-CZ" sz="44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Vodorovný svitek 7"/>
          <p:cNvSpPr/>
          <p:nvPr/>
        </p:nvSpPr>
        <p:spPr>
          <a:xfrm>
            <a:off x="928662" y="3357562"/>
            <a:ext cx="6929486" cy="3143272"/>
          </a:xfrm>
          <a:prstGeom prst="horizontalScroll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1357290" y="3929066"/>
            <a:ext cx="62865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2400" b="1" smtClean="0">
                <a:solidFill>
                  <a:srgbClr val="FFC000"/>
                </a:solidFill>
              </a:rPr>
              <a:t>Husitská kronika Vavřince z Březové:</a:t>
            </a:r>
          </a:p>
          <a:p>
            <a:pPr algn="ctr"/>
            <a:endParaRPr lang="cs-CZ" sz="2400" b="1" smtClean="0">
              <a:solidFill>
                <a:srgbClr val="FFC000"/>
              </a:solidFill>
            </a:endParaRPr>
          </a:p>
          <a:p>
            <a:pPr algn="ctr"/>
            <a:r>
              <a:rPr lang="cs-CZ" sz="2400" b="1" smtClean="0">
                <a:solidFill>
                  <a:schemeClr val="bg1"/>
                </a:solidFill>
              </a:rPr>
              <a:t> „</a:t>
            </a:r>
            <a:r>
              <a:rPr lang="cs-CZ" sz="2400" b="1" i="1" smtClean="0">
                <a:solidFill>
                  <a:schemeClr val="bg1"/>
                </a:solidFill>
              </a:rPr>
              <a:t>A táborský lid v tom kraji vypálil nebo částečně zničil kláštery Pardub, Podlažice a Sezemice a četné jiné kostely</a:t>
            </a:r>
            <a:r>
              <a:rPr lang="cs-CZ" sz="2400" b="1" smtClean="0">
                <a:solidFill>
                  <a:schemeClr val="bg1"/>
                </a:solidFill>
              </a:rPr>
              <a:t>“. </a:t>
            </a:r>
            <a:endParaRPr lang="cs-CZ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491824" y="764704"/>
            <a:ext cx="4400656" cy="2308324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Barokní kostel sv. Markéty </a:t>
            </a:r>
            <a:r>
              <a:rPr lang="cs-CZ" sz="2400" b="1" i="1" smtClean="0"/>
              <a:t>postavený v l. 1696-1721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na místě zaniklého benediktinského kláštera</a:t>
            </a:r>
            <a:r>
              <a:rPr lang="cs-CZ" sz="2400" b="1" i="1" smtClean="0"/>
              <a:t>, v jehož zdech byla tato největší rukopisná kniha světa sepsána. </a:t>
            </a:r>
            <a:endParaRPr lang="cs-CZ" sz="2400" b="1" i="1"/>
          </a:p>
        </p:txBody>
      </p:sp>
      <p:pic>
        <p:nvPicPr>
          <p:cNvPr id="26626" name="Picture 2" descr="http://upload.wikimedia.org/wikipedia/commons/e/e7/Kostel_Svat%C3%A9_Mark%C3%A9ty_v_Podla%C5%BEic%C3%ADch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76672"/>
            <a:ext cx="3837052" cy="5760640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bdélník 5"/>
          <p:cNvSpPr/>
          <p:nvPr/>
        </p:nvSpPr>
        <p:spPr>
          <a:xfrm>
            <a:off x="4427984" y="3429000"/>
            <a:ext cx="4572000" cy="1569660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ctr"/>
            <a:r>
              <a:rPr lang="cs-CZ" sz="2400" b="1" i="1" dirty="0" smtClean="0"/>
              <a:t>Zchudlý řád benediktinů musel vzácnou knihu zastavit do kláštera premonstrátů do Sedlce, </a:t>
            </a:r>
            <a:r>
              <a:rPr lang="cs-CZ" sz="2400" b="1" i="1" dirty="0" smtClean="0">
                <a:solidFill>
                  <a:schemeClr val="accent3">
                    <a:lumMod val="50000"/>
                  </a:schemeClr>
                </a:solidFill>
              </a:rPr>
              <a:t>vykoupil ji </a:t>
            </a:r>
            <a:r>
              <a:rPr lang="cs-CZ" sz="2400" b="1" i="1" dirty="0" smtClean="0"/>
              <a:t>pak </a:t>
            </a:r>
            <a:r>
              <a:rPr lang="cs-CZ" sz="2400" b="1" i="1" dirty="0" err="1" smtClean="0">
                <a:solidFill>
                  <a:schemeClr val="accent3">
                    <a:lumMod val="50000"/>
                  </a:schemeClr>
                </a:solidFill>
              </a:rPr>
              <a:t>břevnovský</a:t>
            </a:r>
            <a:r>
              <a:rPr lang="cs-CZ" sz="2400" b="1" i="1" dirty="0" smtClean="0">
                <a:solidFill>
                  <a:schemeClr val="accent3">
                    <a:lumMod val="50000"/>
                  </a:schemeClr>
                </a:solidFill>
              </a:rPr>
              <a:t> klášter.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683568" y="404664"/>
            <a:ext cx="3384376" cy="600164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b="1" i="1" dirty="0" smtClean="0"/>
              <a:t>Čert sedí na bobku se vztyčenýma  rukama.</a:t>
            </a:r>
          </a:p>
          <a:p>
            <a:pPr algn="ctr"/>
            <a:r>
              <a:rPr lang="cs-CZ" sz="2400" b="1" i="1" dirty="0" smtClean="0"/>
              <a:t>Na  končetinách má jen čtyři prsty. Obličej je zelený s dvěma jazyky, což poukazuje na dvojsmyslnost jeho řečí.Hlavu mu zdobí dva rohy. Na druhé straně je obraz velkého města </a:t>
            </a:r>
          </a:p>
          <a:p>
            <a:pPr algn="ctr"/>
            <a:r>
              <a:rPr lang="cs-CZ" sz="2400" b="1" i="1" dirty="0" smtClean="0"/>
              <a:t>s věžemi, kostely a chrámy. Pravděpodobně se jedná o nebeský Jeruzalém, město Boží </a:t>
            </a:r>
          </a:p>
          <a:p>
            <a:pPr algn="ctr"/>
            <a:r>
              <a:rPr lang="cs-CZ" sz="2400" b="1" i="1" dirty="0" smtClean="0"/>
              <a:t>( možná protiváha             k ďáblovi ).</a:t>
            </a:r>
            <a:endParaRPr lang="cs-CZ" sz="2400" b="1" i="1" dirty="0"/>
          </a:p>
        </p:txBody>
      </p:sp>
      <p:pic>
        <p:nvPicPr>
          <p:cNvPr id="3" name="Picture 2" descr="http://upload.wikimedia.org/wikipedia/commons/e/e5/Devil_mediu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404664"/>
            <a:ext cx="3600400" cy="6000666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247912" y="1124744"/>
            <a:ext cx="8572560" cy="5632311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i="1" dirty="0" smtClean="0"/>
              <a:t>Komunita Benediktinů z Břevnova se během husitských bouří uchýlila do svého opevněného kláštera </a:t>
            </a:r>
            <a:r>
              <a:rPr lang="cs-CZ" sz="2400" i="1" dirty="0" smtClean="0">
                <a:solidFill>
                  <a:schemeClr val="accent3">
                    <a:lumMod val="50000"/>
                  </a:schemeClr>
                </a:solidFill>
              </a:rPr>
              <a:t>v Broumově</a:t>
            </a:r>
            <a:r>
              <a:rPr lang="cs-CZ" sz="2400" i="1" dirty="0" smtClean="0"/>
              <a:t>, kam přivezli řadu cenných předmětů i Ďáblovu bibli, ke které měl přístup omezený počet lidí. Císař Ferdinand I. o knize vyprávěl svému vnukovi </a:t>
            </a:r>
            <a:r>
              <a:rPr lang="cs-CZ" sz="2400" i="1" dirty="0" smtClean="0">
                <a:solidFill>
                  <a:srgbClr val="002060"/>
                </a:solidFill>
              </a:rPr>
              <a:t>Rudolfovi II., který ji v roce 1594 ji nechal převézt na Pražský hrad, kde zůstala do léta roku 1648</a:t>
            </a:r>
            <a:r>
              <a:rPr lang="cs-CZ" sz="2400" i="1" dirty="0" smtClean="0"/>
              <a:t>, kdy Švédové vydrancovali Rudolfovu sbírku i slavnou rožmberskou knihovnu, jejíž  knihy jsou </a:t>
            </a:r>
            <a:r>
              <a:rPr lang="cs-CZ" sz="2400" i="1" dirty="0" err="1" smtClean="0"/>
              <a:t>uloženyv</a:t>
            </a:r>
            <a:r>
              <a:rPr lang="cs-CZ" sz="2400" i="1" dirty="0" smtClean="0"/>
              <a:t> Královské knihovně ve Stockholmu. Několik svazků z této knihovny se ocitlo i v proslulé Vatikánské knihovně, když je do Říma přivezla s sebou vzdělaná švédská královna Kristýna (1655), jejíž učitelem byl i Jan Ámos Komenský. Roku</a:t>
            </a:r>
            <a:r>
              <a:rPr lang="cs-CZ" sz="2400" b="1" i="1" dirty="0" smtClean="0"/>
              <a:t> </a:t>
            </a:r>
            <a:r>
              <a:rPr lang="cs-CZ" sz="2400" i="1" dirty="0" smtClean="0"/>
              <a:t>1697 vypukl v královském paláci ve Stockholmu </a:t>
            </a:r>
            <a:r>
              <a:rPr lang="cs-CZ" sz="2400" i="1" dirty="0" err="1" smtClean="0"/>
              <a:t>Tre</a:t>
            </a:r>
            <a:r>
              <a:rPr lang="cs-CZ" sz="2400" i="1" dirty="0" smtClean="0"/>
              <a:t> </a:t>
            </a:r>
            <a:r>
              <a:rPr lang="cs-CZ" sz="2400" i="1" dirty="0" err="1" smtClean="0"/>
              <a:t>Kronor</a:t>
            </a:r>
            <a:r>
              <a:rPr lang="cs-CZ" sz="2400" i="1" dirty="0" smtClean="0"/>
              <a:t> požár, </a:t>
            </a:r>
            <a:r>
              <a:rPr lang="cs-CZ" sz="2400" i="1" dirty="0" err="1" smtClean="0"/>
              <a:t>zhořelo</a:t>
            </a:r>
            <a:r>
              <a:rPr lang="cs-CZ" sz="2400" i="1" dirty="0" smtClean="0"/>
              <a:t> 17000 tištěných knih. </a:t>
            </a:r>
            <a:r>
              <a:rPr lang="cs-CZ" sz="2400" i="1" dirty="0" err="1" smtClean="0"/>
              <a:t>Codex</a:t>
            </a:r>
            <a:r>
              <a:rPr lang="cs-CZ" sz="2400" i="1" dirty="0" smtClean="0"/>
              <a:t> </a:t>
            </a:r>
            <a:r>
              <a:rPr lang="cs-CZ" sz="2400" i="1" dirty="0" err="1" smtClean="0"/>
              <a:t>gigas</a:t>
            </a:r>
            <a:r>
              <a:rPr lang="cs-CZ" sz="2400" i="1" dirty="0" smtClean="0"/>
              <a:t> byl na poslední chvíli vyhozen z okna, ale švédský král Karel XI. Při požáru zahynul.</a:t>
            </a:r>
          </a:p>
          <a:p>
            <a:pPr algn="ctr"/>
            <a:endParaRPr lang="cs-CZ" sz="2400" i="1" dirty="0"/>
          </a:p>
        </p:txBody>
      </p:sp>
      <p:sp>
        <p:nvSpPr>
          <p:cNvPr id="4" name="TextovéPole 3"/>
          <p:cNvSpPr txBox="1"/>
          <p:nvPr/>
        </p:nvSpPr>
        <p:spPr>
          <a:xfrm>
            <a:off x="2000232" y="214290"/>
            <a:ext cx="4439742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Osud Ďáblovy bible </a:t>
            </a:r>
            <a:endParaRPr lang="cs-CZ" sz="40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539552" y="476672"/>
            <a:ext cx="8208912" cy="1938992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b="1" i="1" dirty="0" smtClean="0">
                <a:solidFill>
                  <a:srgbClr val="002060"/>
                </a:solidFill>
              </a:rPr>
              <a:t>Od 17. století kniha opustila Švédsko jen třikrát:</a:t>
            </a:r>
          </a:p>
          <a:p>
            <a:pPr marL="457200" indent="-457200"/>
            <a:r>
              <a:rPr lang="cs-CZ" sz="2400" b="1" i="1" dirty="0" smtClean="0"/>
              <a:t>1. 1970 zapůjčena do Metropolitního muzea v New Yorku</a:t>
            </a:r>
          </a:p>
          <a:p>
            <a:pPr marL="457200" indent="-457200"/>
            <a:r>
              <a:rPr lang="cs-CZ" sz="2400" b="1" i="1" dirty="0" smtClean="0"/>
              <a:t>2. v polovině 90. let 19.stol. krátce vystavena v Berlíně</a:t>
            </a:r>
          </a:p>
          <a:p>
            <a:pPr marL="457200" indent="-457200"/>
            <a:r>
              <a:rPr lang="cs-CZ" sz="2400" b="1" i="1" dirty="0" smtClean="0">
                <a:solidFill>
                  <a:srgbClr val="002060"/>
                </a:solidFill>
              </a:rPr>
              <a:t>3. 2002 vystavena v Praze</a:t>
            </a:r>
          </a:p>
          <a:p>
            <a:pPr marL="457200" indent="-457200"/>
            <a:endParaRPr lang="cs-CZ" sz="2400" b="1" i="1" dirty="0" smtClean="0"/>
          </a:p>
        </p:txBody>
      </p:sp>
      <p:sp>
        <p:nvSpPr>
          <p:cNvPr id="4" name="Obdélník 3"/>
          <p:cNvSpPr/>
          <p:nvPr/>
        </p:nvSpPr>
        <p:spPr>
          <a:xfrm>
            <a:off x="467544" y="2852936"/>
            <a:ext cx="4824536" cy="1938992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000" b="1" i="1" dirty="0" smtClean="0"/>
              <a:t>Do roku 1796 bibli žádný Čech nespatřil. Zřejmě se s ní seznámil Josef Dobrovský    při návštěvě Švédska, na jeho popud se teprve knihou začali švédští historikové zabývat důkladněji  ( pak např. objev 1.pergamenové fólie).</a:t>
            </a:r>
            <a:endParaRPr lang="cs-CZ" sz="2000" b="1" i="1" dirty="0"/>
          </a:p>
        </p:txBody>
      </p:sp>
      <p:pic>
        <p:nvPicPr>
          <p:cNvPr id="18434" name="Picture 2" descr="Soubor:Josef Dobrovsky Vilimek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0112" y="2564904"/>
            <a:ext cx="3246370" cy="3960440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Obdélník 6"/>
          <p:cNvSpPr/>
          <p:nvPr/>
        </p:nvSpPr>
        <p:spPr>
          <a:xfrm>
            <a:off x="323528" y="5509681"/>
            <a:ext cx="5040560" cy="101566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000" b="1" i="1" dirty="0" smtClean="0"/>
              <a:t>Josef Dobrovský</a:t>
            </a:r>
            <a:r>
              <a:rPr lang="cs-CZ" sz="2000" i="1" dirty="0" smtClean="0"/>
              <a:t> (1753 - 1829) - kněz,český filolog, historik, zakladatel slavistiky v českých zemích. ( viz.literatura národního obrození)</a:t>
            </a:r>
            <a:endParaRPr lang="cs-CZ" sz="2000" i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http://upload.wikimedia.org/wikipedia/commons/6/68/LIBRI-08_276_-_%C4%8E%C3%A1blova_bib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980539"/>
            <a:ext cx="4824536" cy="3616813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Maketa Ďáblovy bible</a:t>
            </a:r>
            <a:endParaRPr lang="cs-CZ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194421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cs-CZ" sz="2400" i="1" dirty="0" smtClean="0"/>
              <a:t>     U nás byla podle zapůjčené knihy vyrobena se souhlasem Švédů maketa, která je o 3 kg těžší,</a:t>
            </a:r>
            <a:r>
              <a:rPr lang="cs-CZ" sz="2400" b="1" i="1" dirty="0" smtClean="0"/>
              <a:t> </a:t>
            </a:r>
            <a:r>
              <a:rPr lang="cs-CZ" sz="2400" i="1" dirty="0" smtClean="0"/>
              <a:t>výroba makety trvala přes měsíc,         </a:t>
            </a:r>
            <a:r>
              <a:rPr lang="cs-CZ" sz="2400" b="1" i="1" dirty="0" smtClean="0"/>
              <a:t> </a:t>
            </a:r>
            <a:r>
              <a:rPr lang="cs-CZ" sz="2400" i="1" dirty="0" smtClean="0"/>
              <a:t>na papír bylo přeneseno přes dvě stě digitálních </a:t>
            </a:r>
            <a:r>
              <a:rPr lang="cs-CZ" sz="2400" i="1" dirty="0" err="1" smtClean="0"/>
              <a:t>skenů</a:t>
            </a:r>
            <a:r>
              <a:rPr lang="cs-CZ" sz="2400" i="1" dirty="0" smtClean="0"/>
              <a:t> z originálu bible, náklady kolem půl miliónu korun, výstavní premiéru měla        na veletrhu </a:t>
            </a:r>
            <a:r>
              <a:rPr lang="cs-CZ" sz="2400" i="1" dirty="0" err="1" smtClean="0"/>
              <a:t>Libri</a:t>
            </a:r>
            <a:r>
              <a:rPr lang="cs-CZ" sz="2400" i="1" dirty="0" smtClean="0"/>
              <a:t> 2007 v Olomouci.</a:t>
            </a:r>
            <a:endParaRPr lang="cs-CZ" sz="2400" i="1" dirty="0"/>
          </a:p>
        </p:txBody>
      </p:sp>
      <p:sp>
        <p:nvSpPr>
          <p:cNvPr id="5" name="TextovéPole 4"/>
          <p:cNvSpPr txBox="1"/>
          <p:nvPr/>
        </p:nvSpPr>
        <p:spPr>
          <a:xfrm>
            <a:off x="5436096" y="5201905"/>
            <a:ext cx="3456384" cy="1323439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2000" b="1" i="1" dirty="0" smtClean="0"/>
              <a:t>Pokud se chcete dozvědět               o Ďáblově bibli více, přečtěte     si knihu Arnošta Vašíčka Tajemství Ďáblovy bible.</a:t>
            </a:r>
            <a:endParaRPr lang="cs-CZ" sz="2000" b="1" i="1" dirty="0"/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2643174" y="128826"/>
            <a:ext cx="2995372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Alexandreida</a:t>
            </a:r>
            <a:endParaRPr lang="cs-CZ" sz="4000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179512" y="908720"/>
            <a:ext cx="5184576" cy="4524315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sz="2400" dirty="0" smtClean="0"/>
              <a:t>  světská epika</a:t>
            </a:r>
          </a:p>
          <a:p>
            <a:pPr>
              <a:buFont typeface="Arial" pitchFamily="34" charset="0"/>
              <a:buChar char="•"/>
            </a:pPr>
            <a:r>
              <a:rPr lang="cs-CZ" sz="2400" dirty="0" smtClean="0"/>
              <a:t>  napsána česky</a:t>
            </a:r>
          </a:p>
          <a:p>
            <a:pPr>
              <a:buFont typeface="Arial" pitchFamily="34" charset="0"/>
              <a:buChar char="•"/>
            </a:pPr>
            <a:r>
              <a:rPr lang="cs-CZ" sz="2400" dirty="0" smtClean="0"/>
              <a:t>  přelom 13. a 14. století</a:t>
            </a:r>
          </a:p>
          <a:p>
            <a:pPr>
              <a:buFont typeface="Arial" pitchFamily="34" charset="0"/>
              <a:buChar char="•"/>
            </a:pPr>
            <a:r>
              <a:rPr lang="cs-CZ" sz="2400" dirty="0" smtClean="0"/>
              <a:t>  veršovaný rytířský epos</a:t>
            </a:r>
          </a:p>
          <a:p>
            <a:pPr>
              <a:buFont typeface="Arial" pitchFamily="34" charset="0"/>
              <a:buChar char="•"/>
            </a:pPr>
            <a:r>
              <a:rPr lang="cs-CZ" sz="2400" dirty="0" smtClean="0"/>
              <a:t>  autorem je neznámý šlechtic</a:t>
            </a:r>
          </a:p>
          <a:p>
            <a:pPr>
              <a:buFont typeface="Arial" pitchFamily="34" charset="0"/>
              <a:buChar char="•"/>
            </a:pPr>
            <a:r>
              <a:rPr lang="cs-CZ" sz="2400" dirty="0" smtClean="0"/>
              <a:t>  na postavě Alexandra Velikého je</a:t>
            </a:r>
          </a:p>
          <a:p>
            <a:r>
              <a:rPr lang="cs-CZ" sz="2400" dirty="0" smtClean="0"/>
              <a:t>   zobrazen ideál panovníka </a:t>
            </a:r>
          </a:p>
          <a:p>
            <a:pPr>
              <a:buFont typeface="Arial" pitchFamily="34" charset="0"/>
              <a:buChar char="•"/>
            </a:pPr>
            <a:r>
              <a:rPr lang="cs-CZ" sz="2400" dirty="0" smtClean="0"/>
              <a:t>  autor se opírá o latinskou verzi, </a:t>
            </a:r>
          </a:p>
          <a:p>
            <a:r>
              <a:rPr lang="cs-CZ" sz="2400" dirty="0" smtClean="0"/>
              <a:t>   francouzskou </a:t>
            </a:r>
            <a:r>
              <a:rPr lang="cs-CZ" sz="2400" dirty="0" err="1" smtClean="0"/>
              <a:t>Qualtera</a:t>
            </a:r>
            <a:r>
              <a:rPr lang="cs-CZ" sz="2400" dirty="0" smtClean="0"/>
              <a:t> </a:t>
            </a:r>
          </a:p>
          <a:p>
            <a:r>
              <a:rPr lang="cs-CZ" sz="2400" dirty="0" smtClean="0"/>
              <a:t>   </a:t>
            </a:r>
            <a:r>
              <a:rPr lang="cs-CZ" sz="2400" dirty="0" err="1" smtClean="0"/>
              <a:t>Castellionského</a:t>
            </a:r>
            <a:r>
              <a:rPr lang="cs-CZ" sz="2400" dirty="0" smtClean="0"/>
              <a:t> a německou verzi</a:t>
            </a:r>
          </a:p>
          <a:p>
            <a:r>
              <a:rPr lang="cs-CZ" sz="2400" dirty="0" smtClean="0"/>
              <a:t>   Ulricha </a:t>
            </a:r>
            <a:r>
              <a:rPr lang="cs-CZ" sz="2400" dirty="0" err="1" smtClean="0"/>
              <a:t>von</a:t>
            </a:r>
            <a:r>
              <a:rPr lang="cs-CZ" sz="2400" dirty="0" smtClean="0"/>
              <a:t> </a:t>
            </a:r>
            <a:r>
              <a:rPr lang="cs-CZ" sz="2400" dirty="0" err="1" smtClean="0"/>
              <a:t>Etzenbacha</a:t>
            </a:r>
            <a:r>
              <a:rPr lang="cs-CZ" sz="2400" dirty="0" smtClean="0"/>
              <a:t>,</a:t>
            </a:r>
          </a:p>
          <a:p>
            <a:r>
              <a:rPr lang="cs-CZ" sz="2400" dirty="0" smtClean="0"/>
              <a:t>   kterou napsal pro Přemysla Otakara II.</a:t>
            </a:r>
          </a:p>
        </p:txBody>
      </p:sp>
      <p:pic>
        <p:nvPicPr>
          <p:cNvPr id="17410" name="Picture 2" descr="http://upload.wikimedia.org/wikipedia/commons/3/3d/Codex_Manesse_Ulrich_von_Liechtenstei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62976" y="908720"/>
            <a:ext cx="3429504" cy="5203701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Obdélník 4"/>
          <p:cNvSpPr/>
          <p:nvPr/>
        </p:nvSpPr>
        <p:spPr>
          <a:xfrm>
            <a:off x="5508104" y="6237312"/>
            <a:ext cx="3456384" cy="400110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i="1" dirty="0" smtClean="0"/>
              <a:t>Vyobrazení středověkého rytíře</a:t>
            </a:r>
            <a:endParaRPr lang="cs-CZ" sz="2000" i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2673270" y="928670"/>
            <a:ext cx="6396816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vyprávění začíná autorovou předmluvou k dílu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následuje výklad o Alexandrově původu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líčí jeho hrdinské činy až po jeho náhlou smrt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marná cesta za světovládou = připomíná osudy</a:t>
            </a:r>
          </a:p>
          <a:p>
            <a:r>
              <a:rPr lang="cs-CZ" sz="2400" b="1" dirty="0" smtClean="0"/>
              <a:t>   českého krále Přemysla Otakara II.</a:t>
            </a:r>
          </a:p>
          <a:p>
            <a:r>
              <a:rPr lang="cs-CZ" sz="2400" b="1" dirty="0" smtClean="0"/>
              <a:t>   ( oba za výboje zaplatili smrtí)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</a:t>
            </a:r>
            <a:r>
              <a:rPr lang="cs-CZ" sz="2400" b="1" dirty="0" smtClean="0">
                <a:solidFill>
                  <a:srgbClr val="002060"/>
                </a:solidFill>
              </a:rPr>
              <a:t>9 000 veršů, dochovalo se 3449 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</a:t>
            </a:r>
            <a:r>
              <a:rPr lang="cs-CZ" sz="2400" b="1" dirty="0" smtClean="0">
                <a:solidFill>
                  <a:srgbClr val="002060"/>
                </a:solidFill>
              </a:rPr>
              <a:t>osmislabičný verš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autorem asi šlechtic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z díla je cítit povýšený postoj k měšťanům,</a:t>
            </a:r>
          </a:p>
          <a:p>
            <a:r>
              <a:rPr lang="cs-CZ" sz="2400" b="1" dirty="0" smtClean="0"/>
              <a:t>   autor ovládá rytířské a válečné termíny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 autor zvolil i zvláštní formu průpovědi</a:t>
            </a:r>
          </a:p>
          <a:p>
            <a:r>
              <a:rPr lang="cs-CZ" sz="2400" b="1" dirty="0" smtClean="0"/>
              <a:t>    tzv. </a:t>
            </a:r>
            <a:r>
              <a:rPr lang="cs-CZ" sz="2400" b="1" dirty="0" smtClean="0">
                <a:solidFill>
                  <a:srgbClr val="002060"/>
                </a:solidFill>
              </a:rPr>
              <a:t>gnómy</a:t>
            </a:r>
            <a:r>
              <a:rPr lang="cs-CZ" sz="2400" b="1" dirty="0" smtClean="0"/>
              <a:t>, které obsahují mravní ponaučení.</a:t>
            </a:r>
          </a:p>
          <a:p>
            <a:endParaRPr lang="cs-CZ" sz="2400" b="1" dirty="0" smtClean="0"/>
          </a:p>
          <a:p>
            <a:endParaRPr lang="cs-CZ" sz="2400" b="1" dirty="0" smtClean="0"/>
          </a:p>
          <a:p>
            <a:endParaRPr lang="cs-CZ" sz="2400" b="1" dirty="0"/>
          </a:p>
        </p:txBody>
      </p:sp>
      <p:sp>
        <p:nvSpPr>
          <p:cNvPr id="3" name="TextovéPole 2"/>
          <p:cNvSpPr txBox="1"/>
          <p:nvPr/>
        </p:nvSpPr>
        <p:spPr>
          <a:xfrm>
            <a:off x="3143240" y="214290"/>
            <a:ext cx="445480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Obsah Alexandreidy</a:t>
            </a:r>
            <a:endParaRPr lang="cs-CZ" sz="40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70658" name="Picture 2" descr="http://www.toulkyevropou.cz/w_images/osobnosti/makedonie/Aleksand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142984"/>
            <a:ext cx="2406219" cy="32147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Obdélník 5"/>
          <p:cNvSpPr/>
          <p:nvPr/>
        </p:nvSpPr>
        <p:spPr>
          <a:xfrm>
            <a:off x="214282" y="4714884"/>
            <a:ext cx="2428892" cy="1200329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b="1" smtClean="0"/>
              <a:t>Alexandr Veliký </a:t>
            </a:r>
          </a:p>
          <a:p>
            <a:pPr algn="ctr">
              <a:buFontTx/>
              <a:buChar char="-"/>
            </a:pPr>
            <a:r>
              <a:rPr lang="cs-CZ" b="1" smtClean="0"/>
              <a:t>Makedonský</a:t>
            </a:r>
          </a:p>
          <a:p>
            <a:pPr algn="ctr"/>
            <a:r>
              <a:rPr lang="cs-CZ" b="1" smtClean="0"/>
              <a:t>*356 př. n. l. v Pelle </a:t>
            </a:r>
          </a:p>
          <a:p>
            <a:pPr algn="ctr"/>
            <a:r>
              <a:rPr lang="cs-CZ" b="1" smtClean="0"/>
              <a:t>323 př. n. l. v Babylóně</a:t>
            </a:r>
            <a:endParaRPr lang="cs-CZ" b="1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/>
          <p:cNvSpPr txBox="1"/>
          <p:nvPr/>
        </p:nvSpPr>
        <p:spPr>
          <a:xfrm>
            <a:off x="285720" y="214290"/>
            <a:ext cx="4157805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Dalimilova kronika</a:t>
            </a:r>
            <a:endParaRPr lang="cs-CZ" sz="4000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4355976" y="821025"/>
            <a:ext cx="48577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počátek 14.století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česky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</a:t>
            </a:r>
            <a:r>
              <a:rPr lang="cs-CZ" sz="2400" b="1" dirty="0" smtClean="0">
                <a:solidFill>
                  <a:srgbClr val="002060"/>
                </a:solidFill>
              </a:rPr>
              <a:t>první veršovaná kronika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autorem je neznámý šlechtic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možná Dalimil Meziříčský</a:t>
            </a:r>
          </a:p>
          <a:p>
            <a:r>
              <a:rPr lang="cs-CZ" sz="2400" b="1" dirty="0" smtClean="0"/>
              <a:t>   ( kanovník boleslavského kostela)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zachycuje </a:t>
            </a:r>
            <a:r>
              <a:rPr lang="cs-CZ" sz="2400" b="1" dirty="0" smtClean="0">
                <a:solidFill>
                  <a:srgbClr val="002060"/>
                </a:solidFill>
              </a:rPr>
              <a:t>dějiny od nejstarších </a:t>
            </a:r>
          </a:p>
          <a:p>
            <a:r>
              <a:rPr lang="cs-CZ" sz="2400" b="1" dirty="0" smtClean="0">
                <a:solidFill>
                  <a:srgbClr val="002060"/>
                </a:solidFill>
              </a:rPr>
              <a:t>  dob až do 1314 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čerpal z Kosmovy kroniky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vlastenectví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106 kapitol – zde zdraví českého</a:t>
            </a:r>
          </a:p>
          <a:p>
            <a:r>
              <a:rPr lang="cs-CZ" sz="2400" b="1" dirty="0" smtClean="0"/>
              <a:t>  krále (</a:t>
            </a:r>
            <a:r>
              <a:rPr lang="cs-CZ" sz="2400" b="1" dirty="0" err="1" smtClean="0"/>
              <a:t>Lucemburkové</a:t>
            </a:r>
            <a:r>
              <a:rPr lang="cs-CZ" sz="2400" b="1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spojenectví proti přívalu němectví </a:t>
            </a:r>
          </a:p>
          <a:p>
            <a:r>
              <a:rPr lang="cs-CZ" sz="2400" b="1" dirty="0" smtClean="0"/>
              <a:t>  hledá v českém sedlákovi = pověst</a:t>
            </a:r>
          </a:p>
          <a:p>
            <a:r>
              <a:rPr lang="cs-CZ" sz="2400" b="1" dirty="0" smtClean="0"/>
              <a:t>  o Oldřichovi a Boženě</a:t>
            </a:r>
          </a:p>
        </p:txBody>
      </p:sp>
      <p:pic>
        <p:nvPicPr>
          <p:cNvPr id="13314" name="Picture 2" descr="http://upload.wikimedia.org/wikipedia/commons/7/7a/Dalimilova_kronik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980728"/>
            <a:ext cx="4011495" cy="3960440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Obdélník 4"/>
          <p:cNvSpPr/>
          <p:nvPr/>
        </p:nvSpPr>
        <p:spPr>
          <a:xfrm>
            <a:off x="251520" y="5157192"/>
            <a:ext cx="3888432" cy="707886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000" i="1" dirty="0" smtClean="0"/>
              <a:t>Římský král Jindřich I. na sněmu očekává příchod krále Václava .</a:t>
            </a:r>
            <a:endParaRPr lang="cs-CZ" sz="2000" i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/>
          <p:cNvSpPr txBox="1"/>
          <p:nvPr/>
        </p:nvSpPr>
        <p:spPr>
          <a:xfrm>
            <a:off x="2000232" y="0"/>
            <a:ext cx="5385064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Jazyk Dalimilovy kroniky</a:t>
            </a:r>
            <a:endParaRPr lang="cs-CZ" sz="40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357190" y="5049766"/>
            <a:ext cx="8858280" cy="1569660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b="1" i="1" smtClean="0"/>
              <a:t>Myslí na obyčejného čtenáře, </a:t>
            </a:r>
            <a:r>
              <a:rPr lang="cs-CZ" sz="2400" b="1" i="1" smtClean="0">
                <a:solidFill>
                  <a:srgbClr val="002060"/>
                </a:solidFill>
              </a:rPr>
              <a:t>promlouvá prostě</a:t>
            </a:r>
            <a:r>
              <a:rPr lang="cs-CZ" sz="2400" b="1" i="1" smtClean="0"/>
              <a:t>, </a:t>
            </a:r>
            <a:r>
              <a:rPr lang="cs-CZ" sz="2400" b="1" i="1" smtClean="0">
                <a:solidFill>
                  <a:srgbClr val="002060"/>
                </a:solidFill>
              </a:rPr>
              <a:t>používá přirovnání,</a:t>
            </a:r>
          </a:p>
          <a:p>
            <a:pPr algn="ctr"/>
            <a:r>
              <a:rPr lang="cs-CZ" sz="2400" b="1" i="1" smtClean="0"/>
              <a:t> </a:t>
            </a:r>
            <a:r>
              <a:rPr lang="cs-CZ" sz="2400" b="1" i="1" smtClean="0">
                <a:solidFill>
                  <a:srgbClr val="002060"/>
                </a:solidFill>
              </a:rPr>
              <a:t>lidové výrazy a rčení</a:t>
            </a:r>
            <a:r>
              <a:rPr lang="cs-CZ" sz="2400" b="1" i="1" smtClean="0"/>
              <a:t>. Používá bezrozměrového verše o proměnlivém počtu slabik a blíží se tak </a:t>
            </a:r>
            <a:r>
              <a:rPr lang="cs-CZ" sz="2400" b="1" i="1" smtClean="0">
                <a:solidFill>
                  <a:srgbClr val="002060"/>
                </a:solidFill>
              </a:rPr>
              <a:t>hovorové řeči</a:t>
            </a:r>
            <a:r>
              <a:rPr lang="cs-CZ" sz="2400" b="1" i="1" smtClean="0"/>
              <a:t>. Proto byla kronika mezi</a:t>
            </a:r>
          </a:p>
          <a:p>
            <a:pPr algn="ctr"/>
            <a:r>
              <a:rPr lang="cs-CZ" sz="2400" b="1" i="1" smtClean="0"/>
              <a:t>lidmi velmi populární.</a:t>
            </a:r>
          </a:p>
        </p:txBody>
      </p:sp>
      <p:pic>
        <p:nvPicPr>
          <p:cNvPr id="11266" name="Picture 2" descr="http://upload.wikimedia.org/wikipedia/commons/c/c4/Dalimilova_kronika_parizsky_frag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92696"/>
            <a:ext cx="7675623" cy="4248472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4283968" y="1052736"/>
            <a:ext cx="446449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</a:t>
            </a:r>
            <a:r>
              <a:rPr lang="cs-CZ" sz="2400" b="1" dirty="0" smtClean="0">
                <a:solidFill>
                  <a:srgbClr val="002060"/>
                </a:solidFill>
              </a:rPr>
              <a:t>cílem je zpracovat domácí </a:t>
            </a:r>
          </a:p>
          <a:p>
            <a:r>
              <a:rPr lang="cs-CZ" sz="2400" b="1" dirty="0" smtClean="0">
                <a:solidFill>
                  <a:srgbClr val="002060"/>
                </a:solidFill>
              </a:rPr>
              <a:t>  tématiku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vybízí k odporu k cizím </a:t>
            </a:r>
          </a:p>
          <a:p>
            <a:r>
              <a:rPr lang="cs-CZ" sz="2400" b="1" dirty="0" smtClean="0"/>
              <a:t>  škodlivým vlivům a módě 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</a:t>
            </a:r>
            <a:r>
              <a:rPr lang="cs-CZ" sz="2400" b="1" dirty="0" smtClean="0">
                <a:solidFill>
                  <a:srgbClr val="002060"/>
                </a:solidFill>
              </a:rPr>
              <a:t>zamítá sňatky českých</a:t>
            </a:r>
          </a:p>
          <a:p>
            <a:r>
              <a:rPr lang="cs-CZ" sz="2400" b="1" dirty="0" smtClean="0">
                <a:solidFill>
                  <a:srgbClr val="002060"/>
                </a:solidFill>
              </a:rPr>
              <a:t>  feudálů s cizinkami </a:t>
            </a:r>
          </a:p>
          <a:p>
            <a:r>
              <a:rPr lang="cs-CZ" sz="2400" b="1" dirty="0" smtClean="0"/>
              <a:t>  (jmenovitě Němkami) </a:t>
            </a:r>
          </a:p>
          <a:p>
            <a:r>
              <a:rPr lang="cs-CZ" sz="2400" b="1" dirty="0" smtClean="0"/>
              <a:t>  a výchovu jejich dětí podle </a:t>
            </a:r>
          </a:p>
          <a:p>
            <a:r>
              <a:rPr lang="cs-CZ" sz="2400" b="1" dirty="0" smtClean="0"/>
              <a:t>  cizích vzorů nebo v cizině</a:t>
            </a:r>
          </a:p>
          <a:p>
            <a:pPr>
              <a:buFont typeface="Arial" pitchFamily="34" charset="0"/>
              <a:buChar char="•"/>
            </a:pPr>
            <a:r>
              <a:rPr lang="cs-CZ" sz="2400" b="1" dirty="0" smtClean="0"/>
              <a:t> chronologicky řazené příběhy</a:t>
            </a:r>
          </a:p>
          <a:p>
            <a:r>
              <a:rPr lang="cs-CZ" sz="2400" b="1" dirty="0" smtClean="0"/>
              <a:t>   z historie Čech -  osídlení </a:t>
            </a:r>
          </a:p>
          <a:p>
            <a:r>
              <a:rPr lang="cs-CZ" sz="2400" b="1" dirty="0" smtClean="0"/>
              <a:t>   našeho území praotcem </a:t>
            </a:r>
          </a:p>
          <a:p>
            <a:r>
              <a:rPr lang="cs-CZ" sz="2400" b="1" dirty="0" smtClean="0"/>
              <a:t>   Čechem, pověstmi o Libušině</a:t>
            </a:r>
          </a:p>
          <a:p>
            <a:r>
              <a:rPr lang="cs-CZ" sz="2400" b="1" dirty="0" smtClean="0"/>
              <a:t>   proroctví, o Přemyslu </a:t>
            </a:r>
          </a:p>
          <a:p>
            <a:r>
              <a:rPr lang="cs-CZ" sz="2400" b="1" dirty="0" smtClean="0"/>
              <a:t>   Oráčovi a o Dívčí válce aj.</a:t>
            </a:r>
          </a:p>
          <a:p>
            <a:endParaRPr lang="cs-CZ" sz="2400" b="1" dirty="0"/>
          </a:p>
        </p:txBody>
      </p:sp>
      <p:sp>
        <p:nvSpPr>
          <p:cNvPr id="4" name="TextovéPole 3"/>
          <p:cNvSpPr txBox="1"/>
          <p:nvPr/>
        </p:nvSpPr>
        <p:spPr>
          <a:xfrm>
            <a:off x="2267744" y="260648"/>
            <a:ext cx="4157805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Dalimilova kronika</a:t>
            </a:r>
            <a:endParaRPr lang="cs-CZ" sz="4000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9218" name="Picture 2" descr="http://upload.wikimedia.org/wikipedia/commons/8/81/Dalimilova_kronika_Bretislav_unasi_Jitk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24744"/>
            <a:ext cx="3730495" cy="3672408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ovéPole 5"/>
          <p:cNvSpPr txBox="1"/>
          <p:nvPr/>
        </p:nvSpPr>
        <p:spPr>
          <a:xfrm>
            <a:off x="565188" y="5013176"/>
            <a:ext cx="3358740" cy="40011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000" b="1" i="1" dirty="0" smtClean="0"/>
              <a:t>Břetislav unáší Jitku z kláštera</a:t>
            </a:r>
            <a:endParaRPr lang="cs-CZ" sz="2000" b="1" i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214282" y="5607152"/>
            <a:ext cx="8786842" cy="1107996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200" b="1" i="1" dirty="0" smtClean="0">
                <a:cs typeface="Arial" pitchFamily="34" charset="0"/>
              </a:rPr>
              <a:t>Najatí vrazi –</a:t>
            </a:r>
            <a:r>
              <a:rPr lang="cs-CZ" sz="2200" b="1" i="1" dirty="0" err="1" smtClean="0">
                <a:cs typeface="Arial" pitchFamily="34" charset="0"/>
              </a:rPr>
              <a:t>vikingové</a:t>
            </a:r>
            <a:r>
              <a:rPr lang="cs-CZ" sz="2200" b="1" i="1" dirty="0" smtClean="0">
                <a:cs typeface="Arial" pitchFamily="34" charset="0"/>
              </a:rPr>
              <a:t> </a:t>
            </a:r>
            <a:r>
              <a:rPr lang="cs-CZ" sz="2200" b="1" i="1" dirty="0" err="1" smtClean="0">
                <a:cs typeface="Arial" pitchFamily="34" charset="0"/>
              </a:rPr>
              <a:t>Tunna</a:t>
            </a:r>
            <a:r>
              <a:rPr lang="cs-CZ" sz="2200" b="1" i="1" dirty="0" smtClean="0">
                <a:cs typeface="Arial" pitchFamily="34" charset="0"/>
              </a:rPr>
              <a:t>  a </a:t>
            </a:r>
            <a:r>
              <a:rPr lang="cs-CZ" sz="2200" b="1" i="1" dirty="0" err="1" smtClean="0">
                <a:cs typeface="Arial" pitchFamily="34" charset="0"/>
              </a:rPr>
              <a:t>Gomon</a:t>
            </a:r>
            <a:r>
              <a:rPr lang="cs-CZ" sz="2200" b="1" i="1" dirty="0" smtClean="0">
                <a:cs typeface="Arial" pitchFamily="34" charset="0"/>
              </a:rPr>
              <a:t> uškrtili  15.9.921Ludmilu bílou šálou, po smrti prohlášena svatou.  Zavražděna na hradě Tetín na příkaz své snachy Drahomíry.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579571" y="-24"/>
            <a:ext cx="7992957" cy="132343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Smrt svaté Ludmily – babičky knížete</a:t>
            </a:r>
          </a:p>
          <a:p>
            <a:r>
              <a:rPr lang="cs-CZ" sz="4000" b="1" smtClean="0">
                <a:ln/>
                <a:solidFill>
                  <a:schemeClr val="accent3">
                    <a:lumMod val="50000"/>
                  </a:schemeClr>
                </a:solidFill>
              </a:rPr>
              <a:t>Václava v Dalimilově kronice.</a:t>
            </a:r>
            <a:endParaRPr lang="cs-CZ" sz="40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6146" name="Picture 2" descr="http://upload.wikimedia.org/wikipedia/commons/9/92/Dalimilova_kronika_vrazda_Ludmil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8164081" cy="4680520"/>
          </a:xfrm>
          <a:prstGeom prst="rect">
            <a:avLst/>
          </a:prstGeom>
          <a:ln w="38100" cap="sq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vislý svitek 7"/>
          <p:cNvSpPr/>
          <p:nvPr/>
        </p:nvSpPr>
        <p:spPr>
          <a:xfrm>
            <a:off x="0" y="1428736"/>
            <a:ext cx="5572132" cy="4286280"/>
          </a:xfrm>
          <a:prstGeom prst="verticalScroll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extovéPole 1"/>
          <p:cNvSpPr txBox="1"/>
          <p:nvPr/>
        </p:nvSpPr>
        <p:spPr>
          <a:xfrm>
            <a:off x="1000100" y="-24"/>
            <a:ext cx="7286676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400" b="1" smtClean="0">
                <a:ln/>
                <a:solidFill>
                  <a:schemeClr val="accent3">
                    <a:lumMod val="50000"/>
                  </a:schemeClr>
                </a:solidFill>
              </a:rPr>
              <a:t>Ukázka z Dalimilovy kroniky:</a:t>
            </a:r>
          </a:p>
          <a:p>
            <a:r>
              <a:rPr lang="cs-CZ" sz="4400" b="1" smtClean="0">
                <a:ln/>
                <a:solidFill>
                  <a:schemeClr val="accent3">
                    <a:lumMod val="50000"/>
                  </a:schemeClr>
                </a:solidFill>
              </a:rPr>
              <a:t>    O sedlské knieni Boženě</a:t>
            </a:r>
            <a:endParaRPr lang="cs-CZ" sz="4400" b="1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285720" y="6072206"/>
            <a:ext cx="8757462" cy="43088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200" b="1" smtClean="0"/>
              <a:t>Pověst o tom, jak si přemyslovký kníže Oldřich vzal za ženu prostou dívku.</a:t>
            </a:r>
            <a:endParaRPr lang="cs-CZ" sz="2200" b="1"/>
          </a:p>
        </p:txBody>
      </p:sp>
      <p:sp>
        <p:nvSpPr>
          <p:cNvPr id="6" name="Zástupný symbol pro obsah 4"/>
          <p:cNvSpPr txBox="1">
            <a:spLocks/>
          </p:cNvSpPr>
          <p:nvPr/>
        </p:nvSpPr>
        <p:spPr>
          <a:xfrm>
            <a:off x="714348" y="1928802"/>
            <a:ext cx="435771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Kněz Oldřich o Polostoprtech lovieše.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 sě, že když skrze jednu ves jědieše,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>
                <a:solidFill>
                  <a:schemeClr val="bg1"/>
                </a:solidFill>
              </a:rPr>
              <a:t>u</a:t>
            </a: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zřě, že sedlská dievka na potoce stáše,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>
                <a:solidFill>
                  <a:schemeClr val="bg1"/>
                </a:solidFill>
              </a:rPr>
              <a:t>b</a:t>
            </a: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osa i bez rukávkóv rúcho práše.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Sedlka velmi krásna bieše,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 tomu ovšem stydlivé nravy mějieše.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Pocě sě jejie krásě diviti stojě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>
                <a:solidFill>
                  <a:schemeClr val="bg1"/>
                </a:solidFill>
              </a:rPr>
              <a:t>a</a:t>
            </a: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ihned ji k sobě za ženu pojě.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 knieni šlechet na bieše,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>
                <a:solidFill>
                  <a:schemeClr val="bg1"/>
                </a:solidFill>
              </a:rPr>
              <a:t>s</a:t>
            </a: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obě jmě Božena mějieše.</a:t>
            </a:r>
            <a:endParaRPr kumimoji="0" lang="cs-CZ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Zástupný symbol pro obsah 4"/>
          <p:cNvSpPr txBox="1">
            <a:spLocks/>
          </p:cNvSpPr>
          <p:nvPr/>
        </p:nvSpPr>
        <p:spPr>
          <a:xfrm>
            <a:off x="5606548" y="1428736"/>
            <a:ext cx="3180294" cy="44627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Když v postoloprtské stráni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l</a:t>
            </a: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ovil</a:t>
            </a:r>
            <a:r>
              <a:rPr kumimoji="0" lang="cs-CZ" sz="2000" b="1" i="0" u="none" strike="noStrike" kern="120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Oldřich, znenadání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z</a:t>
            </a:r>
            <a:r>
              <a:rPr lang="cs-CZ" sz="2000" b="1" baseline="0" smtClean="0"/>
              <a:t>a vsí nad říčkou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s</a:t>
            </a:r>
            <a:r>
              <a:rPr kumimoji="0" lang="cs-CZ" sz="2000" b="1" i="0" u="none" strike="noStrike" kern="120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patřil selku mladičkou,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j</a:t>
            </a:r>
            <a:r>
              <a:rPr lang="cs-CZ" sz="2000" b="1" baseline="0" smtClean="0"/>
              <a:t>ak v košili</a:t>
            </a:r>
            <a:r>
              <a:rPr lang="cs-CZ" sz="2000" b="1" smtClean="0"/>
              <a:t> bez oplecka,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b</a:t>
            </a: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osa, umáčena všecka,pere.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Byla krásná,milá,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Oldřichu se zalíbila,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že tvář měla čistou, něžnou.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tak učinil ji kněžnou.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cs-CZ" sz="2000" b="1" smtClean="0"/>
              <a:t>Ona kněžna dokonalá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Božena se jmenovala.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  <p:bldP spid="4" grpId="0" animBg="1"/>
      <p:bldP spid="6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vislý svitek 15"/>
          <p:cNvSpPr/>
          <p:nvPr/>
        </p:nvSpPr>
        <p:spPr>
          <a:xfrm>
            <a:off x="0" y="1071546"/>
            <a:ext cx="6000760" cy="5357850"/>
          </a:xfrm>
          <a:prstGeom prst="verticalScroll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/>
          <p:cNvSpPr txBox="1"/>
          <p:nvPr/>
        </p:nvSpPr>
        <p:spPr>
          <a:xfrm>
            <a:off x="5298139" y="2143116"/>
            <a:ext cx="3845861" cy="44012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000" b="1" smtClean="0"/>
              <a:t>„</a:t>
            </a:r>
            <a:r>
              <a:rPr lang="cs-CZ" sz="2000" b="1" smtClean="0">
                <a:solidFill>
                  <a:srgbClr val="002060"/>
                </a:solidFill>
              </a:rPr>
              <a:t>Chci  žít s českou selkou skrovnou</a:t>
            </a:r>
          </a:p>
          <a:p>
            <a:r>
              <a:rPr lang="cs-CZ" sz="2000" b="1" smtClean="0">
                <a:solidFill>
                  <a:srgbClr val="002060"/>
                </a:solidFill>
              </a:rPr>
              <a:t>spíš než s Němkou, s císařovnou.</a:t>
            </a:r>
          </a:p>
          <a:p>
            <a:r>
              <a:rPr lang="cs-CZ" sz="2000" b="1" smtClean="0"/>
              <a:t>Pouto krve vždy je silné,</a:t>
            </a:r>
          </a:p>
          <a:p>
            <a:r>
              <a:rPr lang="cs-CZ" sz="2000" b="1" smtClean="0"/>
              <a:t>Němka k Čechům sotva přilne.</a:t>
            </a:r>
          </a:p>
          <a:p>
            <a:r>
              <a:rPr lang="cs-CZ" sz="2000" b="1" smtClean="0"/>
              <a:t>Vaše utrhačné řeči</a:t>
            </a:r>
          </a:p>
          <a:p>
            <a:r>
              <a:rPr lang="cs-CZ" sz="2000" b="1" smtClean="0"/>
              <a:t>o hlouposti jenom svědčí.</a:t>
            </a:r>
          </a:p>
          <a:p>
            <a:r>
              <a:rPr lang="cs-CZ" sz="2000" b="1" smtClean="0"/>
              <a:t>Jak u Němky byste, páni,</a:t>
            </a:r>
          </a:p>
          <a:p>
            <a:r>
              <a:rPr lang="cs-CZ" sz="2000" b="1" smtClean="0"/>
              <a:t>chtěli prosit o zastání?</a:t>
            </a:r>
          </a:p>
          <a:p>
            <a:r>
              <a:rPr lang="cs-CZ" sz="2000" b="1" smtClean="0"/>
              <a:t>Čeleď z Němec, z Němec mistři,</a:t>
            </a:r>
          </a:p>
          <a:p>
            <a:r>
              <a:rPr lang="cs-CZ" sz="2000" b="1" smtClean="0"/>
              <a:t>Němkyně je na koni,</a:t>
            </a:r>
          </a:p>
          <a:p>
            <a:r>
              <a:rPr lang="cs-CZ" sz="2000" b="1" smtClean="0"/>
              <a:t>a mé děti, synci bystří,</a:t>
            </a:r>
          </a:p>
          <a:p>
            <a:r>
              <a:rPr lang="cs-CZ" sz="2000" b="1" smtClean="0"/>
              <a:t>německy jen švadroní.</a:t>
            </a:r>
          </a:p>
          <a:p>
            <a:r>
              <a:rPr lang="cs-CZ" sz="2000" b="1" smtClean="0">
                <a:solidFill>
                  <a:srgbClr val="002060"/>
                </a:solidFill>
              </a:rPr>
              <a:t>Vidím, jak zem vadne, chřadne,</a:t>
            </a:r>
          </a:p>
          <a:p>
            <a:r>
              <a:rPr lang="cs-CZ" sz="2000" b="1" smtClean="0">
                <a:solidFill>
                  <a:srgbClr val="002060"/>
                </a:solidFill>
              </a:rPr>
              <a:t>jak Čech právo nemá žádné“.</a:t>
            </a:r>
            <a:endParaRPr lang="cs-CZ" sz="2000" b="1">
              <a:solidFill>
                <a:srgbClr val="002060"/>
              </a:solidFill>
            </a:endParaRPr>
          </a:p>
        </p:txBody>
      </p:sp>
      <p:sp>
        <p:nvSpPr>
          <p:cNvPr id="9" name="TextovéPole 8"/>
          <p:cNvSpPr txBox="1"/>
          <p:nvPr/>
        </p:nvSpPr>
        <p:spPr>
          <a:xfrm>
            <a:off x="422068" y="71414"/>
            <a:ext cx="8507650" cy="83099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400" b="1" smtClean="0"/>
              <a:t>Páni Oldřichovi haní jeho volbu vzít si obyčejnou ženu z lidu,</a:t>
            </a:r>
          </a:p>
          <a:p>
            <a:r>
              <a:rPr lang="cs-CZ" sz="2400" b="1" smtClean="0"/>
              <a:t>on odkazuje na selský původ zakladatele dynastie Přemysla oráče.</a:t>
            </a:r>
            <a:endParaRPr lang="cs-CZ" sz="2400" b="1"/>
          </a:p>
        </p:txBody>
      </p:sp>
      <p:sp>
        <p:nvSpPr>
          <p:cNvPr id="11" name="TextovéPole 10"/>
          <p:cNvSpPr txBox="1"/>
          <p:nvPr/>
        </p:nvSpPr>
        <p:spPr>
          <a:xfrm>
            <a:off x="714348" y="1785926"/>
            <a:ext cx="4929222" cy="5072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smtClean="0">
                <a:solidFill>
                  <a:schemeClr val="bg1"/>
                </a:solidFill>
              </a:rPr>
              <a:t>Raději sě chcu s českú sedlkú snieti,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než královnu Němkyňu za ženu mieti.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Vřeť každému srdce po jazyku svému,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proto Němkyně bude přětiti jazyku mému.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Němkyně bude němečskú čeleď mieti,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němečsky bude učiti mé děti,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proto bude jazyka rozdělenie.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 a ihned země jisté zkaženie.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Páni, něviete dobra svého,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lajíce mi s manželstva mého.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Kde byšte řečníky brali,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když by přěd knězem stáli?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Když s Boženú syna měl,</a:t>
            </a:r>
          </a:p>
          <a:p>
            <a:r>
              <a:rPr lang="cs-CZ" sz="2000" b="1" smtClean="0">
                <a:solidFill>
                  <a:schemeClr val="bg1"/>
                </a:solidFill>
              </a:rPr>
              <a:t>k tomu byl Břěcislav vzděl.</a:t>
            </a:r>
          </a:p>
          <a:p>
            <a:endParaRPr lang="cs-CZ" sz="2000" b="1" smtClean="0">
              <a:solidFill>
                <a:schemeClr val="bg1"/>
              </a:solidFill>
            </a:endParaRPr>
          </a:p>
          <a:p>
            <a:endParaRPr lang="cs-CZ" sz="2000" b="1">
              <a:solidFill>
                <a:schemeClr val="bg1"/>
              </a:solidFill>
            </a:endParaRPr>
          </a:p>
        </p:txBody>
      </p:sp>
      <p:sp>
        <p:nvSpPr>
          <p:cNvPr id="13" name="TextovéPole 12"/>
          <p:cNvSpPr txBox="1"/>
          <p:nvPr/>
        </p:nvSpPr>
        <p:spPr>
          <a:xfrm>
            <a:off x="5929322" y="1571612"/>
            <a:ext cx="2831929" cy="40011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000" b="1" i="1" smtClean="0"/>
              <a:t>Volný překlad do češtiny.</a:t>
            </a:r>
            <a:endParaRPr lang="cs-CZ" sz="2000" b="1" i="1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islý svitek 3"/>
          <p:cNvSpPr/>
          <p:nvPr/>
        </p:nvSpPr>
        <p:spPr>
          <a:xfrm>
            <a:off x="158234" y="381106"/>
            <a:ext cx="6357982" cy="6072230"/>
          </a:xfrm>
          <a:prstGeom prst="verticalScroll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/>
          <p:cNvSpPr txBox="1"/>
          <p:nvPr/>
        </p:nvSpPr>
        <p:spPr>
          <a:xfrm flipH="1">
            <a:off x="1331640" y="1263526"/>
            <a:ext cx="414340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600" b="1" dirty="0" smtClean="0">
                <a:solidFill>
                  <a:schemeClr val="bg1"/>
                </a:solidFill>
              </a:rPr>
              <a:t>Každý v cizině si stýská,</a:t>
            </a:r>
          </a:p>
          <a:p>
            <a:r>
              <a:rPr lang="cs-CZ" sz="2600" b="1" dirty="0" smtClean="0">
                <a:solidFill>
                  <a:schemeClr val="bg1"/>
                </a:solidFill>
              </a:rPr>
              <a:t>a tak hledá srdce blízká.</a:t>
            </a:r>
          </a:p>
          <a:p>
            <a:r>
              <a:rPr lang="cs-CZ" sz="2600" b="1" dirty="0" smtClean="0">
                <a:solidFill>
                  <a:schemeClr val="bg1"/>
                </a:solidFill>
              </a:rPr>
              <a:t>„ Každý k vládě zve si rádce,</a:t>
            </a:r>
          </a:p>
          <a:p>
            <a:r>
              <a:rPr lang="cs-CZ" sz="2600" b="1" dirty="0" smtClean="0">
                <a:solidFill>
                  <a:schemeClr val="bg1"/>
                </a:solidFill>
              </a:rPr>
              <a:t>cizince je hňup a zrádce.</a:t>
            </a:r>
          </a:p>
          <a:p>
            <a:r>
              <a:rPr lang="cs-CZ" sz="2600" b="1" dirty="0" err="1" smtClean="0">
                <a:solidFill>
                  <a:schemeClr val="bg1"/>
                </a:solidFill>
              </a:rPr>
              <a:t>Cizák</a:t>
            </a:r>
            <a:r>
              <a:rPr lang="cs-CZ" sz="2600" b="1" dirty="0" smtClean="0">
                <a:solidFill>
                  <a:schemeClr val="bg1"/>
                </a:solidFill>
              </a:rPr>
              <a:t> s </a:t>
            </a:r>
            <a:r>
              <a:rPr lang="cs-CZ" sz="2600" b="1" dirty="0" err="1" smtClean="0">
                <a:solidFill>
                  <a:schemeClr val="bg1"/>
                </a:solidFill>
              </a:rPr>
              <a:t>cizáky</a:t>
            </a:r>
            <a:r>
              <a:rPr lang="cs-CZ" sz="2600" b="1" dirty="0" smtClean="0">
                <a:solidFill>
                  <a:schemeClr val="bg1"/>
                </a:solidFill>
              </a:rPr>
              <a:t> se spojí,</a:t>
            </a:r>
          </a:p>
          <a:p>
            <a:r>
              <a:rPr lang="cs-CZ" sz="2600" b="1" dirty="0" smtClean="0">
                <a:solidFill>
                  <a:schemeClr val="bg1"/>
                </a:solidFill>
              </a:rPr>
              <a:t>váš hlas před ním neobstojí,</a:t>
            </a:r>
          </a:p>
          <a:p>
            <a:r>
              <a:rPr lang="cs-CZ" sz="2600" b="1" dirty="0" smtClean="0">
                <a:solidFill>
                  <a:schemeClr val="bg1"/>
                </a:solidFill>
              </a:rPr>
              <a:t>najde na vás na sta hříchů,</a:t>
            </a:r>
          </a:p>
          <a:p>
            <a:r>
              <a:rPr lang="cs-CZ" sz="2600" b="1" dirty="0" smtClean="0">
                <a:solidFill>
                  <a:schemeClr val="bg1"/>
                </a:solidFill>
              </a:rPr>
              <a:t>Dům vám vezme, skot i líchu.</a:t>
            </a:r>
          </a:p>
          <a:p>
            <a:r>
              <a:rPr lang="cs-CZ" sz="2600" b="1" dirty="0" smtClean="0">
                <a:solidFill>
                  <a:srgbClr val="FFC000"/>
                </a:solidFill>
              </a:rPr>
              <a:t>Neměj své za cizí právo,</a:t>
            </a:r>
          </a:p>
          <a:p>
            <a:r>
              <a:rPr lang="cs-CZ" sz="2600" b="1" dirty="0" smtClean="0">
                <a:solidFill>
                  <a:srgbClr val="FFC000"/>
                </a:solidFill>
              </a:rPr>
              <a:t>neskláněj se, česká hlavo,</a:t>
            </a:r>
          </a:p>
          <a:p>
            <a:r>
              <a:rPr lang="cs-CZ" sz="2600" b="1" dirty="0" smtClean="0">
                <a:solidFill>
                  <a:srgbClr val="FFC000"/>
                </a:solidFill>
              </a:rPr>
              <a:t>o to prosím naléhavě.“</a:t>
            </a:r>
          </a:p>
          <a:p>
            <a:endParaRPr lang="cs-CZ" sz="2600" b="1" dirty="0" smtClean="0">
              <a:solidFill>
                <a:schemeClr val="bg1"/>
              </a:solidFill>
            </a:endParaRPr>
          </a:p>
          <a:p>
            <a:endParaRPr lang="cs-CZ" sz="26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http://upload.wikimedia.org/wikipedia/commons/c/c1/Od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1196752"/>
            <a:ext cx="2304256" cy="5124984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1928794" y="485776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b="1" smtClean="0"/>
              <a:t> </a:t>
            </a:r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389648" y="2060848"/>
            <a:ext cx="8286808" cy="1938992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b="1" i="1" smtClean="0">
                <a:solidFill>
                  <a:srgbClr val="002060"/>
                </a:solidFill>
              </a:rPr>
              <a:t>Dne 17. 3.2005 na aukci v Paříži získala česká Národní knihovna cenný fragment latinského překladu Dalimilovy kroniky </a:t>
            </a:r>
          </a:p>
          <a:p>
            <a:pPr algn="ctr"/>
            <a:r>
              <a:rPr lang="cs-CZ" sz="2400" b="1" i="1" smtClean="0">
                <a:solidFill>
                  <a:srgbClr val="002060"/>
                </a:solidFill>
              </a:rPr>
              <a:t>za 339 000 eur. Obsahuje 24 bohatě ilustrovaných stránek </a:t>
            </a:r>
          </a:p>
          <a:p>
            <a:pPr algn="ctr"/>
            <a:r>
              <a:rPr lang="cs-CZ" sz="2400" b="1" i="1" smtClean="0">
                <a:solidFill>
                  <a:srgbClr val="002060"/>
                </a:solidFill>
              </a:rPr>
              <a:t>o formátu přibližně A5.</a:t>
            </a:r>
          </a:p>
          <a:p>
            <a:pPr algn="ctr"/>
            <a:r>
              <a:rPr lang="cs-CZ" sz="2400" b="1" i="1" smtClean="0">
                <a:solidFill>
                  <a:srgbClr val="002060"/>
                </a:solidFill>
              </a:rPr>
              <a:t>Pochází zřejmě ze třicátých nebo čtyřicátých let 14. století.</a:t>
            </a:r>
            <a:endParaRPr lang="cs-CZ" sz="2400" b="1" i="1">
              <a:solidFill>
                <a:srgbClr val="002060"/>
              </a:solidFill>
            </a:endParaRPr>
          </a:p>
        </p:txBody>
      </p:sp>
      <p:sp>
        <p:nvSpPr>
          <p:cNvPr id="7" name="TextovéPole 6"/>
          <p:cNvSpPr txBox="1"/>
          <p:nvPr/>
        </p:nvSpPr>
        <p:spPr>
          <a:xfrm>
            <a:off x="2051720" y="692696"/>
            <a:ext cx="427322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sz="4000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 Dalimilova kronika</a:t>
            </a:r>
            <a:endParaRPr lang="cs-CZ" sz="4000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cs-CZ" b="1" dirty="0" smtClean="0">
                <a:ln/>
                <a:solidFill>
                  <a:schemeClr val="accent3">
                    <a:lumMod val="50000"/>
                  </a:schemeClr>
                </a:solidFill>
              </a:rPr>
              <a:t>Použité zdroje:</a:t>
            </a:r>
            <a:endParaRPr lang="cs-CZ" b="1" dirty="0">
              <a:ln/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>
          <a:xfrm>
            <a:off x="323528" y="1052736"/>
            <a:ext cx="8496944" cy="5184576"/>
          </a:xfrm>
        </p:spPr>
        <p:txBody>
          <a:bodyPr>
            <a:noAutofit/>
          </a:bodyPr>
          <a:lstStyle/>
          <a:p>
            <a:r>
              <a:rPr lang="cs-CZ" sz="1100" b="1" dirty="0" smtClean="0"/>
              <a:t>http://cs.wikipedia.org/wiki/Soubor:PasionalKunhuty.jpg</a:t>
            </a:r>
          </a:p>
          <a:p>
            <a:r>
              <a:rPr lang="cs-CZ" sz="1100" b="1" dirty="0" smtClean="0"/>
              <a:t>http://commons.wikimedia.org/wiki/File:Pasional_abaty%C5%A1e_Kunhuty.jpg</a:t>
            </a:r>
          </a:p>
          <a:p>
            <a:r>
              <a:rPr lang="cs-CZ" sz="1100" b="1" dirty="0" smtClean="0"/>
              <a:t>http://commons.wikimedia.org/wiki/File:Adam_a_Eva_v_r%C3%A1ji.jpg</a:t>
            </a:r>
          </a:p>
          <a:p>
            <a:r>
              <a:rPr lang="cs-CZ" sz="1100" b="1" dirty="0" smtClean="0"/>
              <a:t>http://commons.wikimedia.org/wiki/File:Sn%C3%ADm%C3%A1n%C3%AD_z_k%C5%99%C3%AD%C5%BEe.jpg</a:t>
            </a:r>
          </a:p>
          <a:p>
            <a:r>
              <a:rPr lang="cs-CZ" sz="1100" b="1" dirty="0" smtClean="0"/>
              <a:t>http://commons.wikimedia.org/wiki/File:Pasional.jpg</a:t>
            </a:r>
          </a:p>
          <a:p>
            <a:r>
              <a:rPr lang="cs-CZ" sz="1100" b="1" dirty="0" smtClean="0"/>
              <a:t>http://commons.wikimedia.org/wiki/File:Vyhnani_z_raje.jpg</a:t>
            </a:r>
          </a:p>
          <a:p>
            <a:r>
              <a:rPr lang="cs-CZ" sz="1100" b="1" dirty="0" smtClean="0"/>
              <a:t>http://commons.wikimedia.org/wiki/File:Kladen%C3%AD_Krista_do_hrobu.jpg</a:t>
            </a:r>
          </a:p>
          <a:p>
            <a:r>
              <a:rPr lang="cs-CZ" sz="1100" b="1" dirty="0" smtClean="0"/>
              <a:t>http://commons.wikimedia.org/wiki/File:Pasion%C3%A1lKunhuty.jpg</a:t>
            </a:r>
          </a:p>
          <a:p>
            <a:r>
              <a:rPr lang="cs-CZ" sz="1100" b="1" dirty="0" smtClean="0"/>
              <a:t>http://upload.wikimedia.org/wikipedia/commons/e/e4/Devil_codex_Gigas.jpg, autor </a:t>
            </a:r>
            <a:r>
              <a:rPr lang="cs-CZ" sz="1100" b="1" dirty="0" err="1" smtClean="0"/>
              <a:t>Kungl</a:t>
            </a:r>
            <a:r>
              <a:rPr lang="cs-CZ" sz="1100" b="1" dirty="0" smtClean="0"/>
              <a:t>. </a:t>
            </a:r>
            <a:r>
              <a:rPr lang="cs-CZ" sz="1100" b="1" dirty="0" err="1" smtClean="0"/>
              <a:t>Biblioteket</a:t>
            </a:r>
            <a:endParaRPr lang="cs-CZ" sz="1100" b="1" dirty="0" smtClean="0"/>
          </a:p>
          <a:p>
            <a:r>
              <a:rPr lang="cs-CZ" sz="1100" b="1" dirty="0" smtClean="0"/>
              <a:t>http://upload.wikimedia.org/wikipedia/commons/2/22/Sapientia.jpg, autor </a:t>
            </a:r>
            <a:r>
              <a:rPr lang="cs-CZ" sz="1100" b="1" dirty="0" err="1" smtClean="0"/>
              <a:t>Benedictine</a:t>
            </a:r>
            <a:r>
              <a:rPr lang="cs-CZ" sz="1100" b="1" dirty="0" smtClean="0"/>
              <a:t> </a:t>
            </a:r>
            <a:r>
              <a:rPr lang="cs-CZ" sz="1100" b="1" dirty="0" err="1" smtClean="0"/>
              <a:t>monastery</a:t>
            </a:r>
            <a:r>
              <a:rPr lang="cs-CZ" sz="1100" b="1" dirty="0" smtClean="0"/>
              <a:t> </a:t>
            </a:r>
            <a:r>
              <a:rPr lang="cs-CZ" sz="1100" b="1" dirty="0" err="1" smtClean="0"/>
              <a:t>of</a:t>
            </a:r>
            <a:r>
              <a:rPr lang="cs-CZ" sz="1100" b="1" dirty="0" smtClean="0"/>
              <a:t> </a:t>
            </a:r>
            <a:r>
              <a:rPr lang="cs-CZ" sz="1100" b="1" dirty="0" err="1" smtClean="0"/>
              <a:t>Podlažice</a:t>
            </a:r>
            <a:endParaRPr lang="cs-CZ" sz="1100" b="1" dirty="0" smtClean="0"/>
          </a:p>
          <a:p>
            <a:r>
              <a:rPr lang="cs-CZ" sz="1100" b="1" dirty="0" smtClean="0"/>
              <a:t>http://upload.wikimedia.org/wikipedia/commons/e/e5/Devil_medium.jpg</a:t>
            </a:r>
          </a:p>
          <a:p>
            <a:r>
              <a:rPr lang="cs-CZ" sz="1100" b="1" dirty="0" smtClean="0"/>
              <a:t>http://upload.wikimedia.org/wikipedia/commons/e/e7/Kostel_Svat%C3%A9_Mark%C3%A9ty_v_Podla%C5%BEic%C3%ADch1.jpg, autor </a:t>
            </a:r>
            <a:r>
              <a:rPr lang="en-US" sz="1100" b="1" dirty="0" smtClean="0"/>
              <a:t>Original </a:t>
            </a:r>
            <a:r>
              <a:rPr lang="en-US" sz="1100" b="1" dirty="0" err="1" smtClean="0"/>
              <a:t>uploader</a:t>
            </a:r>
            <a:r>
              <a:rPr lang="en-US" sz="1100" b="1" dirty="0" smtClean="0"/>
              <a:t> was </a:t>
            </a:r>
            <a:r>
              <a:rPr lang="en-US" sz="1100" b="1" dirty="0" err="1" smtClean="0"/>
              <a:t>Zp</a:t>
            </a:r>
            <a:r>
              <a:rPr lang="en-US" sz="1100" b="1" dirty="0" smtClean="0"/>
              <a:t> at </a:t>
            </a:r>
            <a:r>
              <a:rPr lang="en-US" sz="1100" b="1" dirty="0" err="1" smtClean="0"/>
              <a:t>cs.wikipedia</a:t>
            </a:r>
            <a:endParaRPr lang="cs-CZ" sz="1100" b="1" dirty="0" smtClean="0"/>
          </a:p>
          <a:p>
            <a:r>
              <a:rPr lang="cs-CZ" sz="1100" b="1" dirty="0" smtClean="0"/>
              <a:t>http://cs.wikipedia.org/wiki/%C4%8E%C3%A1blova_bible</a:t>
            </a:r>
          </a:p>
          <a:p>
            <a:r>
              <a:rPr lang="cs-CZ" sz="1100" b="1" dirty="0" smtClean="0"/>
              <a:t>http://upload.wikimedia.org/wikipedia/commons/6/68/LIBRI-08_276_-_%C4%8E%C3%A1blova_bible.jpg, autor Matěj </a:t>
            </a:r>
            <a:r>
              <a:rPr lang="cs-CZ" sz="1100" b="1" dirty="0" err="1" smtClean="0"/>
              <a:t>Baťha</a:t>
            </a:r>
            <a:endParaRPr lang="cs-CZ" sz="1100" b="1" dirty="0" smtClean="0"/>
          </a:p>
          <a:p>
            <a:r>
              <a:rPr lang="cs-CZ" sz="1100" b="1" dirty="0" smtClean="0"/>
              <a:t>http://cs.wikipedia.org/wiki/Soubor:Josef_Dobrovsky_Vilimek.jpg</a:t>
            </a:r>
          </a:p>
          <a:p>
            <a:r>
              <a:rPr lang="cs-CZ" sz="1100" b="1" dirty="0" smtClean="0"/>
              <a:t>http://upload.wikimedia.org/wikipedia/commons/f/f2/Aleksander-d-store.jpg, autor </a:t>
            </a:r>
            <a:r>
              <a:rPr lang="cs-CZ" sz="1100" b="1" dirty="0" err="1" smtClean="0"/>
              <a:t>Gunnar</a:t>
            </a:r>
            <a:r>
              <a:rPr lang="cs-CZ" sz="1100" b="1" dirty="0" smtClean="0"/>
              <a:t> </a:t>
            </a:r>
            <a:r>
              <a:rPr lang="cs-CZ" sz="1100" b="1" dirty="0" err="1" smtClean="0"/>
              <a:t>Bach</a:t>
            </a:r>
            <a:r>
              <a:rPr lang="cs-CZ" sz="1100" b="1" dirty="0" smtClean="0"/>
              <a:t> </a:t>
            </a:r>
            <a:r>
              <a:rPr lang="cs-CZ" sz="1100" b="1" dirty="0" err="1" smtClean="0"/>
              <a:t>Pedersen</a:t>
            </a:r>
            <a:endParaRPr lang="cs-CZ" sz="1100" b="1" dirty="0" smtClean="0"/>
          </a:p>
          <a:p>
            <a:r>
              <a:rPr lang="cs-CZ" sz="1100" b="1" dirty="0" smtClean="0"/>
              <a:t>http://upload.wikimedia.org/wikipedia/commons/c/c4/Dalimilova_kronika_parizsky_fragment.jpg, autor Michal </a:t>
            </a:r>
            <a:r>
              <a:rPr lang="cs-CZ" sz="1100" b="1" dirty="0" err="1" smtClean="0"/>
              <a:t>Maňas</a:t>
            </a:r>
            <a:endParaRPr lang="cs-CZ" sz="1100" b="1" dirty="0" smtClean="0"/>
          </a:p>
          <a:p>
            <a:r>
              <a:rPr lang="cs-CZ" sz="1100" b="1" dirty="0" smtClean="0"/>
              <a:t>http://upload.wikimedia.org/wikipedia/commons/9/92/Dalimilova_kronika_vrazda_Ludmily.jpg</a:t>
            </a:r>
          </a:p>
          <a:p>
            <a:r>
              <a:rPr lang="cs-CZ" sz="1100" b="1" dirty="0" smtClean="0"/>
              <a:t>http://upload.wikimedia.org/wikipedia/commons/8/81/Dalimilova_kronika_Bretislav_unasi_Jitku.jpg, autor Michal </a:t>
            </a:r>
            <a:r>
              <a:rPr lang="cs-CZ" sz="1100" b="1" dirty="0" err="1" smtClean="0"/>
              <a:t>Maňas</a:t>
            </a:r>
            <a:endParaRPr lang="cs-CZ" sz="1100" b="1" dirty="0" smtClean="0"/>
          </a:p>
          <a:p>
            <a:r>
              <a:rPr lang="cs-CZ" sz="1100" b="1" dirty="0" smtClean="0"/>
              <a:t>http://upload.wikimedia.org/wikipedia/commons/7/7a/Dalimilova_kronika.jpg</a:t>
            </a:r>
          </a:p>
          <a:p>
            <a:r>
              <a:rPr lang="cs-CZ" sz="1100" b="1" dirty="0" smtClean="0"/>
              <a:t>http://upload.wikimedia.org/wikipedia/commons/c/c1/Oda.jpg</a:t>
            </a:r>
          </a:p>
          <a:p>
            <a:r>
              <a:rPr lang="cs-CZ" sz="1100" b="1" dirty="0" smtClean="0"/>
              <a:t>http://upload.wikimedia.org/wikipedia/commons/3/3d/Codex_Manesse_Ulrich_von_Liechtenstein.jpg</a:t>
            </a:r>
          </a:p>
          <a:p>
            <a:r>
              <a:rPr lang="cs-CZ" sz="1100" b="1" noProof="1" smtClean="0"/>
              <a:t>Martínková ,Věra a kol.,: Čítanka 1, Trizonia, Praha, 1991</a:t>
            </a:r>
          </a:p>
          <a:p>
            <a:r>
              <a:rPr lang="cs-CZ" sz="1100" b="1" noProof="1" smtClean="0"/>
              <a:t>Vlastní  přípravy do vyučování.</a:t>
            </a:r>
          </a:p>
          <a:p>
            <a:r>
              <a:rPr lang="cs-CZ" sz="1100" b="1" noProof="1" smtClean="0"/>
              <a:t>Hrabák, Josef, Jeřábek, Dušan,Tichá, Zdenka : Průvodce po dějinách české literatury, Orbis, Praha  1976 </a:t>
            </a:r>
          </a:p>
          <a:p>
            <a:r>
              <a:rPr lang="cs-CZ" sz="1100" b="1" noProof="1" smtClean="0"/>
              <a:t>Balajka, Bohuslav a kol.: Přehledné dějiny literatury, SPN Praha 1970</a:t>
            </a:r>
          </a:p>
          <a:p>
            <a:endParaRPr lang="cs-CZ" sz="1100" b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1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969</TotalTime>
  <Words>2286</Words>
  <Application>Microsoft Office PowerPoint</Application>
  <PresentationFormat>Předvádění na obrazovce (4:3)</PresentationFormat>
  <Paragraphs>287</Paragraphs>
  <Slides>28</Slides>
  <Notes>4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28</vt:i4>
      </vt:variant>
    </vt:vector>
  </HeadingPairs>
  <TitlesOfParts>
    <vt:vector size="29" baseType="lpstr">
      <vt:lpstr>Motiv1</vt:lpstr>
      <vt:lpstr>13.století České země</vt:lpstr>
      <vt:lpstr>Hospodářské  a společenské podmínky literárního rozvoje: </vt:lpstr>
      <vt:lpstr>Zvláštnosti nejstaršího písemnictví     v českém jazyce : </vt:lpstr>
      <vt:lpstr>Snímek 4</vt:lpstr>
      <vt:lpstr>Snímek 5</vt:lpstr>
      <vt:lpstr>Snímek 6</vt:lpstr>
      <vt:lpstr>Snímek 7</vt:lpstr>
      <vt:lpstr>Snímek 8</vt:lpstr>
      <vt:lpstr>Snímek 9</vt:lpstr>
      <vt:lpstr>Snímek 10</vt:lpstr>
      <vt:lpstr>Snímek 11</vt:lpstr>
      <vt:lpstr>Snímek 12</vt:lpstr>
      <vt:lpstr>Snímek 13</vt:lpstr>
      <vt:lpstr>Snímek 14</vt:lpstr>
      <vt:lpstr>Snímek 15</vt:lpstr>
      <vt:lpstr>Snímek 16</vt:lpstr>
      <vt:lpstr>Maketa Ďáblovy bible</vt:lpstr>
      <vt:lpstr>Snímek 18</vt:lpstr>
      <vt:lpstr>Snímek 19</vt:lpstr>
      <vt:lpstr>Snímek 20</vt:lpstr>
      <vt:lpstr>Snímek 21</vt:lpstr>
      <vt:lpstr>Snímek 22</vt:lpstr>
      <vt:lpstr>Snímek 23</vt:lpstr>
      <vt:lpstr>Snímek 24</vt:lpstr>
      <vt:lpstr>Snímek 25</vt:lpstr>
      <vt:lpstr>Snímek 26</vt:lpstr>
      <vt:lpstr>Snímek 27</vt:lpstr>
      <vt:lpstr>Použité zdroje:</vt:lpstr>
    </vt:vector>
  </TitlesOfParts>
  <Company>pc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Středověklá literatura</dc:title>
  <dc:creator>dana</dc:creator>
  <cp:lastModifiedBy>katka</cp:lastModifiedBy>
  <cp:revision>102</cp:revision>
  <dcterms:created xsi:type="dcterms:W3CDTF">2011-01-22T15:12:52Z</dcterms:created>
  <dcterms:modified xsi:type="dcterms:W3CDTF">2012-05-24T18:18:47Z</dcterms:modified>
</cp:coreProperties>
</file>