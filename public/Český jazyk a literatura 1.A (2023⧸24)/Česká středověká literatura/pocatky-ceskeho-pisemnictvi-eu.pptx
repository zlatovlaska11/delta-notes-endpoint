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7" r:id="rId2"/>
    <p:sldId id="322" r:id="rId3"/>
    <p:sldId id="300" r:id="rId4"/>
    <p:sldId id="258" r:id="rId5"/>
    <p:sldId id="267" r:id="rId6"/>
    <p:sldId id="272" r:id="rId7"/>
    <p:sldId id="284" r:id="rId8"/>
    <p:sldId id="273" r:id="rId9"/>
    <p:sldId id="275" r:id="rId10"/>
    <p:sldId id="281" r:id="rId11"/>
    <p:sldId id="277" r:id="rId12"/>
    <p:sldId id="278" r:id="rId13"/>
    <p:sldId id="280" r:id="rId14"/>
    <p:sldId id="279" r:id="rId15"/>
    <p:sldId id="282" r:id="rId16"/>
    <p:sldId id="285" r:id="rId17"/>
    <p:sldId id="283" r:id="rId18"/>
    <p:sldId id="323" r:id="rId19"/>
    <p:sldId id="261" r:id="rId20"/>
    <p:sldId id="286" r:id="rId21"/>
    <p:sldId id="269" r:id="rId22"/>
    <p:sldId id="287" r:id="rId23"/>
    <p:sldId id="288" r:id="rId24"/>
    <p:sldId id="289" r:id="rId25"/>
    <p:sldId id="291" r:id="rId26"/>
    <p:sldId id="290" r:id="rId27"/>
    <p:sldId id="292" r:id="rId28"/>
    <p:sldId id="295" r:id="rId29"/>
    <p:sldId id="294" r:id="rId30"/>
    <p:sldId id="297" r:id="rId31"/>
    <p:sldId id="298" r:id="rId32"/>
    <p:sldId id="299" r:id="rId33"/>
    <p:sldId id="262" r:id="rId34"/>
    <p:sldId id="301" r:id="rId35"/>
    <p:sldId id="304" r:id="rId36"/>
    <p:sldId id="305" r:id="rId37"/>
    <p:sldId id="306" r:id="rId38"/>
    <p:sldId id="296" r:id="rId39"/>
    <p:sldId id="309" r:id="rId40"/>
    <p:sldId id="310" r:id="rId41"/>
    <p:sldId id="308" r:id="rId42"/>
    <p:sldId id="321" r:id="rId43"/>
    <p:sldId id="312" r:id="rId44"/>
    <p:sldId id="317" r:id="rId45"/>
    <p:sldId id="311" r:id="rId46"/>
    <p:sldId id="264" r:id="rId47"/>
    <p:sldId id="313" r:id="rId48"/>
    <p:sldId id="315" r:id="rId49"/>
    <p:sldId id="314" r:id="rId50"/>
    <p:sldId id="320" r:id="rId51"/>
    <p:sldId id="316" r:id="rId52"/>
    <p:sldId id="319" r:id="rId53"/>
    <p:sldId id="270" r:id="rId54"/>
    <p:sldId id="265" r:id="rId55"/>
    <p:sldId id="303" r:id="rId5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1ADA2-0A60-4E27-BA61-0F922D3CB619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FDAA1-E45E-4CEB-B7FA-11F3AFCCDD6D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mtClean="0"/>
              <a:t>Asi byl ženatý,ale zřejmě bezdětný,</a:t>
            </a:r>
            <a:r>
              <a:rPr lang="cs-CZ" baseline="0" smtClean="0"/>
              <a:t> nobo měl jen dcery.</a:t>
            </a:r>
            <a:r>
              <a:rPr lang="cs-CZ" smtClean="0"/>
              <a:t> Milenka</a:t>
            </a:r>
            <a:r>
              <a:rPr lang="cs-CZ" baseline="0" smtClean="0"/>
              <a:t> mu měla údajně porodit syna Zbraslava – nedůvěryhodné zdroje z legend.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3DC21-D6EA-4750-8376-8882A1AC780F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6D5DC-B343-43E3-8411-D565919C4CF1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upload.wikimedia.org/wikipedia/commons/3/32/KyrilMethod.jpg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upload.wikimedia.org/wikipedia/commons/7/7f/Cyril_and_Methodius.jpg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upload.wikimedia.org/wikipedia/commons/8/87/ZographensisColour.jp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gif"/><Relationship Id="rId4" Type="http://schemas.openxmlformats.org/officeDocument/2006/relationships/hyperlink" Target="http://cs.wikipedia.org/wiki/Soubor:Hlaholice-nazev.gi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cs.wikipedia.org/wiki/Soubor:Cyrilice-900.png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://upload.wikimedia.org/wikipedia/commons/1/13/Wenzeslaus_by_Peter_Parler.JPG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hyperlink" Target="http://upload.wikimedia.org/wikipedia/commons/f/fb/Kosmas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hyperlink" Target="http://upload.wikimedia.org/wikipedia/commons/c/c5/ZnojmoRotundaKateriny.jp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jpeg"/><Relationship Id="rId4" Type="http://schemas.openxmlformats.org/officeDocument/2006/relationships/hyperlink" Target="http://upload.wikimedia.org/wikipedia/commons/3/3c/Boleslav-I-Bohemian.jpg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aoblený obdélník 4"/>
          <p:cNvSpPr/>
          <p:nvPr/>
        </p:nvSpPr>
        <p:spPr>
          <a:xfrm>
            <a:off x="428596" y="3214686"/>
            <a:ext cx="8429684" cy="271464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cs-CZ"/>
          </a:p>
        </p:txBody>
      </p:sp>
      <p:pic>
        <p:nvPicPr>
          <p:cNvPr id="3" name="Picture 2" descr="http://hroch.spseol.cz/~vac26092/images/Obdobi/pocatkyCZ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132" y="0"/>
            <a:ext cx="9054868" cy="2714620"/>
          </a:xfrm>
          <a:prstGeom prst="rect">
            <a:avLst/>
          </a:prstGeom>
          <a:noFill/>
        </p:spPr>
      </p:pic>
      <p:sp>
        <p:nvSpPr>
          <p:cNvPr id="4" name="TextovéPole 3"/>
          <p:cNvSpPr txBox="1"/>
          <p:nvPr/>
        </p:nvSpPr>
        <p:spPr>
          <a:xfrm>
            <a:off x="571472" y="3128563"/>
            <a:ext cx="8001056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cs-CZ" sz="4400" b="1" smtClean="0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Doba písemnictví staroslověnského</a:t>
            </a:r>
          </a:p>
          <a:p>
            <a:r>
              <a:rPr lang="cs-CZ" sz="4400" b="1" smtClean="0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                   a latinského</a:t>
            </a:r>
          </a:p>
          <a:p>
            <a:r>
              <a:rPr lang="cs-CZ" sz="4400" b="1" smtClean="0">
                <a:ln w="11430"/>
                <a:solidFill>
                  <a:srgbClr val="FFFF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od poloviny 9.století do 13.století</a:t>
            </a:r>
            <a:endParaRPr lang="cs-CZ" sz="4400" b="1">
              <a:ln w="11430"/>
              <a:solidFill>
                <a:srgbClr val="FFFF0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" name="Picture 2" descr="http://nd03.jxs.cz/378/980/8626eb6760_62328303_o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16" y="2000240"/>
            <a:ext cx="2285984" cy="3263324"/>
          </a:xfrm>
          <a:prstGeom prst="rect">
            <a:avLst/>
          </a:prstGeom>
          <a:noFill/>
        </p:spPr>
      </p:pic>
      <p:sp>
        <p:nvSpPr>
          <p:cNvPr id="7" name="TextovéPole 6"/>
          <p:cNvSpPr txBox="1"/>
          <p:nvPr/>
        </p:nvSpPr>
        <p:spPr>
          <a:xfrm>
            <a:off x="395536" y="6237312"/>
            <a:ext cx="8461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 smtClean="0"/>
              <a:t>Mgr. Kateřina </a:t>
            </a:r>
            <a:r>
              <a:rPr lang="cs-CZ" dirty="0" err="1" smtClean="0"/>
              <a:t>Karbulová</a:t>
            </a:r>
            <a:r>
              <a:rPr lang="cs-CZ" dirty="0" smtClean="0"/>
              <a:t>, 2011, Sportovní gymnázium Dany a Emila </a:t>
            </a:r>
            <a:r>
              <a:rPr lang="cs-CZ" dirty="0" err="1" smtClean="0"/>
              <a:t>Zátopkových</a:t>
            </a:r>
            <a:r>
              <a:rPr lang="cs-CZ" dirty="0" smtClean="0"/>
              <a:t>, Ostrava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3214678" y="357166"/>
            <a:ext cx="1956433" cy="76944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Obsah :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Obdélník 2"/>
          <p:cNvSpPr/>
          <p:nvPr/>
        </p:nvSpPr>
        <p:spPr>
          <a:xfrm>
            <a:off x="500066" y="1565397"/>
            <a:ext cx="8715404" cy="397031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514350" indent="-514350"/>
            <a:r>
              <a:rPr lang="cs-CZ" sz="3600" b="1" smtClean="0">
                <a:ln w="50800"/>
                <a:solidFill>
                  <a:srgbClr val="002060"/>
                </a:solidFill>
              </a:rPr>
              <a:t>1. Pojmy</a:t>
            </a:r>
          </a:p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2. Slovanské kořeny našeho písemnictví</a:t>
            </a:r>
          </a:p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3. Boj literatury staroslověnské s latinskou</a:t>
            </a:r>
          </a:p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     v 10. a 11.století</a:t>
            </a:r>
          </a:p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4. Vítězství latiny a první stopy užití češtiny</a:t>
            </a:r>
          </a:p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     - počátek 12. – 1.polovina 13.století</a:t>
            </a:r>
          </a:p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5. Slovníček pojmů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3428992" y="214290"/>
            <a:ext cx="1638525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Pojmy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825299" y="1357298"/>
            <a:ext cx="2889445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b="1" smtClean="0">
                <a:solidFill>
                  <a:srgbClr val="002060"/>
                </a:solidFill>
              </a:rPr>
              <a:t>proglas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evangelium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legenda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pasionál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glosa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glosátor </a:t>
            </a:r>
          </a:p>
          <a:p>
            <a:endParaRPr lang="cs-CZ" sz="4400" b="1">
              <a:solidFill>
                <a:srgbClr val="002060"/>
              </a:solidFill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5000660" y="1357298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400" b="1" smtClean="0">
                <a:solidFill>
                  <a:srgbClr val="002060"/>
                </a:solidFill>
              </a:rPr>
              <a:t>kapitula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kanovník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staroslověnština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hlaholice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cyrilice</a:t>
            </a:r>
          </a:p>
          <a:p>
            <a:r>
              <a:rPr lang="cs-CZ" sz="4400" b="1" smtClean="0">
                <a:solidFill>
                  <a:srgbClr val="002060"/>
                </a:solidFill>
              </a:rPr>
              <a:t>pasionály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28596" y="1237855"/>
            <a:ext cx="81439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dirty="0" smtClean="0"/>
              <a:t> období </a:t>
            </a:r>
            <a:r>
              <a:rPr lang="cs-CZ" sz="2800" b="1" i="1" dirty="0" smtClean="0"/>
              <a:t>raného feudalismu</a:t>
            </a:r>
          </a:p>
          <a:p>
            <a:pPr>
              <a:buFont typeface="Wingdings" pitchFamily="2" charset="2"/>
              <a:buChar char="v"/>
            </a:pPr>
            <a:r>
              <a:rPr lang="cs-CZ" sz="2800" dirty="0" smtClean="0"/>
              <a:t> </a:t>
            </a:r>
            <a:r>
              <a:rPr lang="cs-CZ" sz="2800" b="1" i="1" dirty="0" smtClean="0"/>
              <a:t>románská kultura</a:t>
            </a:r>
          </a:p>
          <a:p>
            <a:pPr>
              <a:buFont typeface="Wingdings" pitchFamily="2" charset="2"/>
              <a:buChar char="v"/>
            </a:pPr>
            <a:r>
              <a:rPr lang="cs-CZ" sz="2800" dirty="0" smtClean="0"/>
              <a:t> patří k nejstarším literaturám v Evropě</a:t>
            </a:r>
          </a:p>
          <a:p>
            <a:pPr>
              <a:buFont typeface="Wingdings" pitchFamily="2" charset="2"/>
              <a:buChar char="v"/>
            </a:pPr>
            <a:r>
              <a:rPr lang="cs-CZ" sz="2800" dirty="0" smtClean="0"/>
              <a:t> používané jazyky: </a:t>
            </a:r>
            <a:r>
              <a:rPr lang="cs-CZ" sz="2800" b="1" i="1" dirty="0" smtClean="0"/>
              <a:t>staroslověnština, latina a čeština</a:t>
            </a:r>
          </a:p>
          <a:p>
            <a:pPr>
              <a:buFont typeface="Wingdings" pitchFamily="2" charset="2"/>
              <a:buChar char="v"/>
            </a:pPr>
            <a:r>
              <a:rPr lang="cs-CZ" sz="2800" dirty="0" smtClean="0"/>
              <a:t> základy knižní vzdělanosti v polovině  </a:t>
            </a:r>
            <a:r>
              <a:rPr lang="cs-CZ" sz="2800" b="1" i="1" dirty="0" smtClean="0"/>
              <a:t>9.století =</a:t>
            </a:r>
          </a:p>
          <a:p>
            <a:r>
              <a:rPr lang="cs-CZ" sz="2800" b="1" i="1" dirty="0" smtClean="0"/>
              <a:t>     období </a:t>
            </a:r>
            <a:r>
              <a:rPr lang="cs-CZ" sz="2800" b="1" i="1" dirty="0" smtClean="0"/>
              <a:t>Velkomoravské </a:t>
            </a:r>
            <a:r>
              <a:rPr lang="cs-CZ" sz="2800" b="1" i="1" dirty="0" smtClean="0"/>
              <a:t>říše </a:t>
            </a:r>
          </a:p>
          <a:p>
            <a:pPr>
              <a:buFont typeface="Wingdings" pitchFamily="2" charset="2"/>
              <a:buChar char="v"/>
            </a:pPr>
            <a:r>
              <a:rPr lang="cs-CZ" sz="2800" dirty="0" smtClean="0"/>
              <a:t> </a:t>
            </a:r>
            <a:r>
              <a:rPr lang="cs-CZ" sz="2800" b="1" i="1" dirty="0" smtClean="0"/>
              <a:t>pronikání křesťanství :</a:t>
            </a:r>
          </a:p>
          <a:p>
            <a:r>
              <a:rPr lang="cs-CZ" sz="2800" b="1" dirty="0" smtClean="0">
                <a:solidFill>
                  <a:schemeClr val="accent5">
                    <a:lumMod val="50000"/>
                  </a:schemeClr>
                </a:solidFill>
              </a:rPr>
              <a:t>     ze západu – z Franské říše</a:t>
            </a:r>
          </a:p>
          <a:p>
            <a:r>
              <a:rPr lang="cs-CZ" sz="2800" b="1" dirty="0" smtClean="0">
                <a:solidFill>
                  <a:schemeClr val="accent5">
                    <a:lumMod val="50000"/>
                  </a:schemeClr>
                </a:solidFill>
              </a:rPr>
              <a:t>     z východu – z Byzantské říše ( 395 – 1453)</a:t>
            </a:r>
          </a:p>
          <a:p>
            <a:pPr>
              <a:buFont typeface="Wingdings" pitchFamily="2" charset="2"/>
              <a:buChar char="v"/>
            </a:pPr>
            <a:r>
              <a:rPr lang="cs-CZ" sz="2800" dirty="0" smtClean="0"/>
              <a:t> </a:t>
            </a:r>
            <a:r>
              <a:rPr lang="cs-CZ" sz="2800" b="1" i="1" dirty="0" smtClean="0"/>
              <a:t>kníže Rastislav požádal v roce 862 byzantského </a:t>
            </a:r>
          </a:p>
          <a:p>
            <a:r>
              <a:rPr lang="cs-CZ" sz="2800" b="1" i="1" dirty="0" smtClean="0"/>
              <a:t>     císaře Michala III. o vyslání slovanské mise</a:t>
            </a:r>
          </a:p>
          <a:p>
            <a:endParaRPr lang="cs-CZ" sz="2800" dirty="0"/>
          </a:p>
        </p:txBody>
      </p:sp>
      <p:sp>
        <p:nvSpPr>
          <p:cNvPr id="3" name="TextovéPole 2"/>
          <p:cNvSpPr txBox="1"/>
          <p:nvPr/>
        </p:nvSpPr>
        <p:spPr>
          <a:xfrm>
            <a:off x="214282" y="302105"/>
            <a:ext cx="8856720" cy="7694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Slovanské kořeny našeho písemnictví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pravoslav.gts.cz/c_m/img/rostis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1285860"/>
            <a:ext cx="4710767" cy="5572164"/>
          </a:xfrm>
          <a:prstGeom prst="rect">
            <a:avLst/>
          </a:prstGeom>
          <a:noFill/>
        </p:spPr>
      </p:pic>
      <p:sp>
        <p:nvSpPr>
          <p:cNvPr id="3" name="TextovéPole 2"/>
          <p:cNvSpPr txBox="1"/>
          <p:nvPr/>
        </p:nvSpPr>
        <p:spPr>
          <a:xfrm>
            <a:off x="2786050" y="-71462"/>
            <a:ext cx="3603422" cy="14465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Kníže Rastislav</a:t>
            </a:r>
          </a:p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 ( 846 - 870)</a:t>
            </a:r>
            <a:endParaRPr lang="cs-CZ" sz="4400" b="1">
              <a:ln w="50800"/>
              <a:solidFill>
                <a:srgbClr val="7030A0"/>
              </a:solidFill>
            </a:endParaRPr>
          </a:p>
        </p:txBody>
      </p:sp>
      <p:pic>
        <p:nvPicPr>
          <p:cNvPr id="4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68" y="0"/>
            <a:ext cx="2019992" cy="6858000"/>
          </a:xfrm>
          <a:prstGeom prst="rect">
            <a:avLst/>
          </a:prstGeom>
          <a:noFill/>
        </p:spPr>
      </p:pic>
      <p:pic>
        <p:nvPicPr>
          <p:cNvPr id="5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19992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/>
          <p:cNvSpPr txBox="1"/>
          <p:nvPr/>
        </p:nvSpPr>
        <p:spPr>
          <a:xfrm>
            <a:off x="71406" y="1142984"/>
            <a:ext cx="88900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>
                <a:latin typeface="+mn-lt"/>
                <a:cs typeface="Arial" pitchFamily="34" charset="0"/>
              </a:rPr>
              <a:t> </a:t>
            </a:r>
            <a:r>
              <a:rPr lang="cs-CZ" sz="2800" b="1" i="1" smtClean="0">
                <a:latin typeface="+mn-lt"/>
                <a:cs typeface="Arial" pitchFamily="34" charset="0"/>
              </a:rPr>
              <a:t>misie = šíření křesťanství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latin typeface="+mn-lt"/>
                <a:cs typeface="Arial" pitchFamily="34" charset="0"/>
              </a:rPr>
              <a:t> </a:t>
            </a:r>
            <a:r>
              <a:rPr lang="cs-CZ" sz="2800" b="1" i="1" smtClean="0">
                <a:latin typeface="+mn-lt"/>
                <a:cs typeface="Arial" pitchFamily="34" charset="0"/>
              </a:rPr>
              <a:t>863 - příchod mise věrozvěstů </a:t>
            </a:r>
            <a:r>
              <a:rPr lang="cs-CZ" sz="2800" b="1" i="1" smtClean="0">
                <a:solidFill>
                  <a:srgbClr val="7030A0"/>
                </a:solidFill>
                <a:latin typeface="+mn-lt"/>
                <a:cs typeface="Arial" pitchFamily="34" charset="0"/>
              </a:rPr>
              <a:t>Konstantina a Metoděj</a:t>
            </a:r>
            <a:r>
              <a:rPr lang="cs-CZ" sz="2800" b="1" i="1" smtClean="0">
                <a:solidFill>
                  <a:srgbClr val="7030A0"/>
                </a:solidFill>
                <a:cs typeface="Arial" pitchFamily="34" charset="0"/>
              </a:rPr>
              <a:t>e</a:t>
            </a:r>
            <a:endParaRPr lang="cs-CZ" sz="2800" b="1" i="1" smtClean="0">
              <a:latin typeface="+mn-lt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latin typeface="+mn-lt"/>
                <a:cs typeface="Arial" pitchFamily="34" charset="0"/>
              </a:rPr>
              <a:t> pocházeli ze Soluně z Řecka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</a:t>
            </a:r>
            <a:r>
              <a:rPr lang="cs-CZ" sz="2800" b="1" i="1" smtClean="0">
                <a:cs typeface="Arial" pitchFamily="34" charset="0"/>
              </a:rPr>
              <a:t>vytvořili jazyk, písmo, staroslověnskou literaturu</a:t>
            </a:r>
            <a:endParaRPr lang="cs-CZ" sz="2800" b="1" i="1" smtClean="0">
              <a:latin typeface="+mn-lt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latin typeface="+mn-lt"/>
                <a:cs typeface="Arial" pitchFamily="34" charset="0"/>
              </a:rPr>
              <a:t> </a:t>
            </a:r>
            <a:r>
              <a:rPr lang="cs-CZ" sz="2800" b="1" smtClean="0">
                <a:solidFill>
                  <a:srgbClr val="002060"/>
                </a:solidFill>
                <a:latin typeface="+mn-lt"/>
                <a:cs typeface="Arial" pitchFamily="34" charset="0"/>
              </a:rPr>
              <a:t>Nomokánon, Zákon sudnyj ljudem, Proglas,</a:t>
            </a:r>
          </a:p>
          <a:p>
            <a:r>
              <a:rPr lang="cs-CZ" sz="2800" b="1" smtClean="0">
                <a:solidFill>
                  <a:srgbClr val="002060"/>
                </a:solidFill>
                <a:latin typeface="+mn-lt"/>
                <a:cs typeface="Arial" pitchFamily="34" charset="0"/>
              </a:rPr>
              <a:t>     Panonské legendy ( Život sv.Konstantina</a:t>
            </a:r>
          </a:p>
          <a:p>
            <a:r>
              <a:rPr lang="cs-CZ" sz="2800" b="1" smtClean="0">
                <a:solidFill>
                  <a:srgbClr val="002060"/>
                </a:solidFill>
                <a:latin typeface="+mn-lt"/>
                <a:cs typeface="Arial" pitchFamily="34" charset="0"/>
              </a:rPr>
              <a:t>     a Metoděje)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cs typeface="Arial" pitchFamily="34" charset="0"/>
              </a:rPr>
              <a:t> Velkomoravská říše se rozpadla kolem</a:t>
            </a:r>
          </a:p>
          <a:p>
            <a:r>
              <a:rPr lang="cs-CZ" sz="2800" smtClean="0">
                <a:latin typeface="+mn-lt"/>
                <a:cs typeface="Arial" pitchFamily="34" charset="0"/>
              </a:rPr>
              <a:t>     roku 906 pod náporem Maďarů,</a:t>
            </a:r>
          </a:p>
          <a:p>
            <a:r>
              <a:rPr lang="cs-CZ" sz="2800" smtClean="0">
                <a:cs typeface="Arial" pitchFamily="34" charset="0"/>
              </a:rPr>
              <a:t>     </a:t>
            </a:r>
            <a:r>
              <a:rPr lang="cs-CZ" sz="2800" b="1" i="1" smtClean="0">
                <a:cs typeface="Arial" pitchFamily="34" charset="0"/>
              </a:rPr>
              <a:t>těžiště kultury se přenáší do Čech</a:t>
            </a:r>
            <a:r>
              <a:rPr lang="cs-CZ" sz="2800" b="1" i="1" smtClean="0">
                <a:latin typeface="+mn-lt"/>
                <a:cs typeface="Arial" pitchFamily="34" charset="0"/>
              </a:rPr>
              <a:t>   </a:t>
            </a:r>
            <a:endParaRPr lang="cs-CZ" sz="2800" b="1" i="1">
              <a:latin typeface="+mn-lt"/>
              <a:cs typeface="Arial" pitchFamily="34" charset="0"/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857224" y="5786454"/>
            <a:ext cx="6000792" cy="76944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200" i="1" smtClean="0">
                <a:latin typeface="+mn-lt"/>
                <a:cs typeface="Arial" pitchFamily="34" charset="0"/>
              </a:rPr>
              <a:t>Konstantin a Metoděj, synové vysokého úředníka</a:t>
            </a:r>
          </a:p>
          <a:p>
            <a:r>
              <a:rPr lang="cs-CZ" sz="2200" i="1" smtClean="0">
                <a:latin typeface="+mn-lt"/>
                <a:cs typeface="Arial" pitchFamily="34" charset="0"/>
              </a:rPr>
              <a:t> v Soluni, kde převládalo slovanské obyvatelstvo</a:t>
            </a:r>
            <a:endParaRPr lang="cs-CZ" sz="2200" i="1">
              <a:latin typeface="+mn-lt"/>
              <a:cs typeface="Arial" pitchFamily="34" charset="0"/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2500298" y="214290"/>
            <a:ext cx="4336700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Šíření  křesťanství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4822" name="Picture 6" descr="http://www.dejepis.com/pict/konst_a_meto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0826" y="3357562"/>
            <a:ext cx="2461863" cy="3286148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869369"/>
            <a:ext cx="8501122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Politický význam </a:t>
            </a:r>
            <a:r>
              <a:rPr lang="cs-CZ" sz="2800" smtClean="0"/>
              <a:t>: vytvořili hráz proti francké expanzi</a:t>
            </a:r>
          </a:p>
          <a:p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Náboženský význam</a:t>
            </a:r>
            <a:r>
              <a:rPr lang="cs-CZ" sz="2800" smtClean="0"/>
              <a:t>:  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šíření křesťanství ve slovanském jazyce</a:t>
            </a:r>
            <a:endParaRPr lang="cs-CZ" sz="2800" b="1" i="1" smtClean="0"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cs typeface="Arial" pitchFamily="34" charset="0"/>
              </a:rPr>
              <a:t> výchova kněží,učili číst a psát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cs typeface="Arial" pitchFamily="34" charset="0"/>
              </a:rPr>
              <a:t> překlady bohoslužebných knih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>
                <a:cs typeface="Arial" pitchFamily="34" charset="0"/>
              </a:rPr>
              <a:t> překlad bible do staroslověnštiny</a:t>
            </a:r>
          </a:p>
          <a:p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Literární  význam</a:t>
            </a:r>
            <a:r>
              <a:rPr lang="cs-CZ" sz="2800" smtClean="0"/>
              <a:t>: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jazyk - </a:t>
            </a:r>
            <a:r>
              <a:rPr lang="cs-CZ" sz="2800" b="1" i="1" smtClean="0"/>
              <a:t>staroslověnština </a:t>
            </a:r>
            <a:r>
              <a:rPr lang="cs-CZ" sz="2800" smtClean="0"/>
              <a:t>( nářečí Slovanů z okolí </a:t>
            </a:r>
          </a:p>
          <a:p>
            <a:r>
              <a:rPr lang="cs-CZ" sz="2800" smtClean="0"/>
              <a:t>     Soluně, makedonský dialekt)=  základy staroslověnské </a:t>
            </a:r>
          </a:p>
          <a:p>
            <a:r>
              <a:rPr lang="cs-CZ" sz="2800" smtClean="0"/>
              <a:t>     literatury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písmo </a:t>
            </a:r>
            <a:r>
              <a:rPr lang="cs-CZ" sz="2800" b="1" i="1" smtClean="0"/>
              <a:t>hlaholice</a:t>
            </a:r>
            <a:r>
              <a:rPr lang="cs-CZ" sz="2800" smtClean="0"/>
              <a:t> (odvozena z malých písmen řecké </a:t>
            </a:r>
          </a:p>
          <a:p>
            <a:r>
              <a:rPr lang="cs-CZ" sz="2800" smtClean="0"/>
              <a:t>     abecedy)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písmo </a:t>
            </a:r>
            <a:r>
              <a:rPr lang="cs-CZ" sz="2800" b="1" i="1" smtClean="0"/>
              <a:t>cyrilice  </a:t>
            </a:r>
            <a:r>
              <a:rPr lang="cs-CZ" sz="2800" smtClean="0"/>
              <a:t>=  základ azbuky  ( vzniklo v Bulharsku)</a:t>
            </a:r>
          </a:p>
          <a:p>
            <a:endParaRPr lang="cs-CZ" sz="2800" smtClean="0"/>
          </a:p>
          <a:p>
            <a:endParaRPr lang="cs-CZ" sz="2800" smtClean="0"/>
          </a:p>
          <a:p>
            <a:r>
              <a:rPr lang="cs-CZ" sz="2800" smtClean="0"/>
              <a:t/>
            </a:r>
            <a:br>
              <a:rPr lang="cs-CZ" sz="2800" smtClean="0"/>
            </a:br>
            <a:endParaRPr lang="cs-CZ" sz="2800"/>
          </a:p>
        </p:txBody>
      </p:sp>
      <p:sp>
        <p:nvSpPr>
          <p:cNvPr id="3" name="Obdélník 2"/>
          <p:cNvSpPr/>
          <p:nvPr/>
        </p:nvSpPr>
        <p:spPr>
          <a:xfrm>
            <a:off x="1714480" y="-24"/>
            <a:ext cx="6305059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Význam Cyrila a Metoděje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http://www.cojeco.cz/attach/ilustrations/3b44a12db5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85728"/>
            <a:ext cx="2731914" cy="6215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530" name="Picture 2" descr="Hlaholice a její převod do české abeced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0152" y="1500174"/>
            <a:ext cx="4586624" cy="29289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délník 4"/>
          <p:cNvSpPr/>
          <p:nvPr/>
        </p:nvSpPr>
        <p:spPr>
          <a:xfrm>
            <a:off x="3428992" y="5669837"/>
            <a:ext cx="4635532" cy="83099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Hlaholice </a:t>
            </a:r>
          </a:p>
          <a:p>
            <a:r>
              <a:rPr lang="cs-CZ" sz="2400" i="1" smtClean="0"/>
              <a:t>- tabulka převodu do české abecedy</a:t>
            </a:r>
            <a:endParaRPr lang="cs-CZ" sz="2400" i="1"/>
          </a:p>
        </p:txBody>
      </p:sp>
      <p:sp>
        <p:nvSpPr>
          <p:cNvPr id="6" name="TextovéPole 5"/>
          <p:cNvSpPr txBox="1"/>
          <p:nvPr/>
        </p:nvSpPr>
        <p:spPr>
          <a:xfrm>
            <a:off x="4000496" y="428604"/>
            <a:ext cx="3759619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rgbClr val="7030A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Cyril a Metoděj</a:t>
            </a:r>
            <a:endParaRPr lang="cs-CZ" sz="4400" b="1">
              <a:ln w="11430"/>
              <a:solidFill>
                <a:srgbClr val="7030A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Soubor:KyrilMethod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214289"/>
            <a:ext cx="3501284" cy="5857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214282" y="6215082"/>
            <a:ext cx="4105483" cy="40011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cs-CZ" sz="2000" i="1" smtClean="0"/>
              <a:t>Ikona zobrazující sv. Cyrila a Metoděje</a:t>
            </a:r>
            <a:endParaRPr lang="cs-CZ" sz="2000" i="1"/>
          </a:p>
        </p:txBody>
      </p:sp>
      <p:sp>
        <p:nvSpPr>
          <p:cNvPr id="4" name="Obdélník 3"/>
          <p:cNvSpPr/>
          <p:nvPr/>
        </p:nvSpPr>
        <p:spPr>
          <a:xfrm>
            <a:off x="3873495" y="71414"/>
            <a:ext cx="5270505" cy="347787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 Svatý Metoděj</a:t>
            </a:r>
          </a:p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 *  815 Soluň</a:t>
            </a:r>
          </a:p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  I  885 Morava </a:t>
            </a:r>
          </a:p>
          <a:p>
            <a:endParaRPr lang="cs-CZ" sz="4400" b="1" smtClean="0">
              <a:ln w="50800"/>
              <a:solidFill>
                <a:srgbClr val="7030A0"/>
              </a:solidFill>
            </a:endParaRPr>
          </a:p>
          <a:p>
            <a:endParaRPr lang="cs-CZ" sz="4400" b="1" smtClean="0">
              <a:ln w="50800"/>
              <a:solidFill>
                <a:srgbClr val="7030A0"/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3857620" y="2143116"/>
            <a:ext cx="5286380" cy="440120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b="1" i="1" smtClean="0">
                <a:ln w="50800"/>
              </a:rPr>
              <a:t> byzantský státní úředník, </a:t>
            </a:r>
          </a:p>
          <a:p>
            <a:r>
              <a:rPr lang="cs-CZ" sz="2800" b="1" i="1" smtClean="0">
                <a:ln w="50800"/>
              </a:rPr>
              <a:t>     pak mnich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>
                <a:ln w="50800"/>
              </a:rPr>
              <a:t> stal se prvním moravsko-</a:t>
            </a:r>
          </a:p>
          <a:p>
            <a:r>
              <a:rPr lang="cs-CZ" sz="2800" b="1" i="1" smtClean="0">
                <a:ln w="50800"/>
              </a:rPr>
              <a:t>     panonským arcibiskupem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</a:t>
            </a:r>
            <a:r>
              <a:rPr lang="cs-CZ" sz="2800" b="1" i="1" smtClean="0"/>
              <a:t>organizátor a diplomat</a:t>
            </a:r>
            <a:endParaRPr lang="cs-CZ" sz="2800" b="1" i="1" smtClean="0">
              <a:ln w="50800"/>
            </a:endParaRP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papež Jan Pavel II. je </a:t>
            </a:r>
          </a:p>
          <a:p>
            <a:r>
              <a:rPr lang="cs-CZ" sz="2800" b="1" i="1" smtClean="0"/>
              <a:t>     v roce 1980  prohlásil </a:t>
            </a:r>
          </a:p>
          <a:p>
            <a:r>
              <a:rPr lang="cs-CZ" sz="2800" b="1" i="1" smtClean="0"/>
              <a:t>     spolupatrony Evropy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u nás svátek Cyrila </a:t>
            </a:r>
          </a:p>
          <a:p>
            <a:r>
              <a:rPr lang="cs-CZ" sz="2800" b="1" i="1" smtClean="0"/>
              <a:t>     a Metoděje 5.7. = státní svátek</a:t>
            </a:r>
            <a:endParaRPr lang="cs-CZ" sz="2800" b="1" i="1"/>
          </a:p>
        </p:txBody>
      </p:sp>
      <p:sp>
        <p:nvSpPr>
          <p:cNvPr id="7" name="TextovéPole 6"/>
          <p:cNvSpPr txBox="1"/>
          <p:nvPr/>
        </p:nvSpPr>
        <p:spPr>
          <a:xfrm>
            <a:off x="4071934" y="14287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smtClean="0">
                <a:solidFill>
                  <a:srgbClr val="7030A0"/>
                </a:solidFill>
              </a:rPr>
              <a:t>__</a:t>
            </a:r>
            <a:endParaRPr lang="cs-CZ" b="1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Soubor:Cyril and Methodius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285728"/>
            <a:ext cx="2988733" cy="571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142844" y="6072206"/>
            <a:ext cx="3643338" cy="64633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i="1" smtClean="0"/>
              <a:t>Svatí Cyril a Metoděj,obraz polského malíře Jana Matejky z roku 1885</a:t>
            </a:r>
            <a:endParaRPr lang="cs-CZ" i="1"/>
          </a:p>
        </p:txBody>
      </p:sp>
      <p:sp>
        <p:nvSpPr>
          <p:cNvPr id="5" name="Obdélník 4"/>
          <p:cNvSpPr/>
          <p:nvPr/>
        </p:nvSpPr>
        <p:spPr>
          <a:xfrm>
            <a:off x="3500430" y="-24"/>
            <a:ext cx="4572000" cy="280076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Svatý Konstantin - zvaný Filosof</a:t>
            </a:r>
          </a:p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*826  Soluň </a:t>
            </a:r>
          </a:p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 I 869 Řím</a:t>
            </a:r>
          </a:p>
        </p:txBody>
      </p:sp>
      <p:sp>
        <p:nvSpPr>
          <p:cNvPr id="7" name="Obdélník 6"/>
          <p:cNvSpPr/>
          <p:nvPr/>
        </p:nvSpPr>
        <p:spPr>
          <a:xfrm>
            <a:off x="3286116" y="2571744"/>
            <a:ext cx="621510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b="1" i="1" smtClean="0"/>
              <a:t> profesor  filosofie v Konstantinopoli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zabýval se jazyky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roku 855 vstoupil do kláštera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mnich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obhájil před papežem Hadriánem II.</a:t>
            </a:r>
          </a:p>
          <a:p>
            <a:r>
              <a:rPr lang="cs-CZ" sz="2800" b="1" i="1" smtClean="0"/>
              <a:t>     bohoslužbu ve staroslověnštině 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znovu vstoupil do kláštera před </a:t>
            </a:r>
          </a:p>
          <a:p>
            <a:r>
              <a:rPr lang="cs-CZ" sz="2800" b="1" i="1" smtClean="0"/>
              <a:t>     svou smrtí v Římě, kde přijal řeholní </a:t>
            </a:r>
          </a:p>
          <a:p>
            <a:r>
              <a:rPr lang="cs-CZ" sz="2800" b="1" i="1" smtClean="0"/>
              <a:t>     jméno Cyril </a:t>
            </a:r>
            <a:endParaRPr lang="cs-CZ" sz="2800" b="1" i="1"/>
          </a:p>
        </p:txBody>
      </p:sp>
      <p:sp>
        <p:nvSpPr>
          <p:cNvPr id="8" name="TextovéPole 7"/>
          <p:cNvSpPr txBox="1"/>
          <p:nvPr/>
        </p:nvSpPr>
        <p:spPr>
          <a:xfrm>
            <a:off x="3571868" y="20595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smtClean="0">
                <a:solidFill>
                  <a:srgbClr val="7030A0"/>
                </a:solidFill>
              </a:rPr>
              <a:t>__</a:t>
            </a:r>
            <a:endParaRPr lang="cs-CZ" b="1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staroslovenstina.navajo.cz/staroslovenstin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571612"/>
            <a:ext cx="3365524" cy="42256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Svislý svitek 2"/>
          <p:cNvSpPr/>
          <p:nvPr/>
        </p:nvSpPr>
        <p:spPr bwMode="auto">
          <a:xfrm>
            <a:off x="3571868" y="1571612"/>
            <a:ext cx="5572132" cy="5000660"/>
          </a:xfrm>
          <a:prstGeom prst="verticalScroll">
            <a:avLst/>
          </a:prstGeom>
          <a:solidFill>
            <a:schemeClr val="accent6">
              <a:lumMod val="50000"/>
            </a:scheme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4286248" y="2285992"/>
            <a:ext cx="4111653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če naš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ь,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iže jesi na nebesi, da svętit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sę imę tvoe, da pridet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cěsar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stvo tvoe, da bǫdet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volě tvoě ěko na nebesi i na zemli; chlěb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naš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nasǫšt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nii dažd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nam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 ne v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vedi nas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napast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ь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izbavi ny ot</a:t>
            </a:r>
            <a:r>
              <a:rPr lang="az-Cyrl-A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ъ </a:t>
            </a:r>
            <a:r>
              <a:rPr lang="cs-CZ" sz="25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lǫkavago.</a:t>
            </a:r>
            <a:endParaRPr lang="cs-CZ" sz="25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1039788" y="-24"/>
            <a:ext cx="7175550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cs typeface="Arial" pitchFamily="34" charset="0"/>
              </a:rPr>
              <a:t>Klasická </a:t>
            </a:r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Arial" pitchFamily="34" charset="0"/>
              </a:rPr>
              <a:t>staroslověnština</a:t>
            </a:r>
          </a:p>
          <a:p>
            <a:pPr algn="ctr"/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Arial" pitchFamily="34" charset="0"/>
              </a:rPr>
              <a:t>(cyrilometodějská):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Soubor:ZographensisColour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764" y="285728"/>
            <a:ext cx="3950046" cy="6286544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253970" y="5556610"/>
            <a:ext cx="4000528" cy="132343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FFCC66"/>
            </a:solidFill>
          </a:ln>
        </p:spPr>
        <p:txBody>
          <a:bodyPr wrap="square">
            <a:spAutoFit/>
          </a:bodyPr>
          <a:lstStyle/>
          <a:p>
            <a:r>
              <a:rPr lang="cs-CZ" sz="2000" b="1" smtClean="0">
                <a:latin typeface="+mn-lt"/>
                <a:cs typeface="Arial" pitchFamily="34" charset="0"/>
              </a:rPr>
              <a:t>Stránka z kodexu Zografského, psaného na přelomu 10. a 11. století</a:t>
            </a:r>
          </a:p>
          <a:p>
            <a:r>
              <a:rPr lang="cs-CZ" sz="2000" b="1" smtClean="0">
                <a:latin typeface="+mn-lt"/>
                <a:cs typeface="Arial" pitchFamily="34" charset="0"/>
              </a:rPr>
              <a:t>v klášteře na hoře Athos.</a:t>
            </a:r>
            <a:endParaRPr lang="cs-CZ" sz="2000" b="1">
              <a:latin typeface="+mn-lt"/>
              <a:cs typeface="Arial" pitchFamily="34" charset="0"/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4429124" y="1928802"/>
            <a:ext cx="4397373" cy="353943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800" b="1" i="1" dirty="0" smtClean="0">
                <a:latin typeface="+mn-lt"/>
                <a:cs typeface="Arial" pitchFamily="34" charset="0"/>
              </a:rPr>
              <a:t>Je nejstarší slovanské písmo. Dnes se již nepoužívá. Během 10. století Slované přešli buď k latince, nebo cyrilici (která má na hlaholici nezávislý původ)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           a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hlaholice byla odsunuta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           na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okraj.</a:t>
            </a:r>
            <a:endParaRPr lang="cs-CZ" sz="2800" b="1" i="1" dirty="0">
              <a:latin typeface="+mn-lt"/>
              <a:cs typeface="Arial" pitchFamily="34" charset="0"/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5429256" y="-55085"/>
            <a:ext cx="2358338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Arial" pitchFamily="34" charset="0"/>
              </a:rPr>
              <a:t>Hlaholice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n-lt"/>
            </a:endParaRPr>
          </a:p>
        </p:txBody>
      </p:sp>
      <p:pic>
        <p:nvPicPr>
          <p:cNvPr id="8" name="Picture 4" descr="Ukázka psaní Hlaholice">
            <a:hlinkClick r:id="rId4" tooltip="Ukázka psaní Hlaholice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0563" y="857232"/>
            <a:ext cx="4082171" cy="71438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3259655" y="159229"/>
            <a:ext cx="1883849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Arial" pitchFamily="34" charset="0"/>
              </a:rPr>
              <a:t>Cyrilice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n-lt"/>
              <a:cs typeface="Arial" pitchFamily="34" charset="0"/>
            </a:endParaRPr>
          </a:p>
        </p:txBody>
      </p:sp>
      <p:pic>
        <p:nvPicPr>
          <p:cNvPr id="3" name="Picture 2" descr="Cyrilice kolem roku 900.">
            <a:hlinkClick r:id="rId2" tooltip="Cyrilice kolem roku 900.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1214422"/>
            <a:ext cx="9158019" cy="1357322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2428860" y="2818528"/>
            <a:ext cx="4357718" cy="353943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800" b="1" i="1" dirty="0" smtClean="0">
                <a:latin typeface="+mn-lt"/>
                <a:cs typeface="Arial" pitchFamily="34" charset="0"/>
              </a:rPr>
              <a:t>Písmo původně vymyšlené pro zápis staroslověnštiny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          a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posléze používané</a:t>
            </a:r>
          </a:p>
          <a:p>
            <a:pPr algn="ctr"/>
            <a:r>
              <a:rPr lang="cs-CZ" sz="2800" b="1" i="1" dirty="0" smtClean="0">
                <a:latin typeface="+mn-lt"/>
                <a:cs typeface="Arial" pitchFamily="34" charset="0"/>
              </a:rPr>
              <a:t> pro zápis církevní slovanštiny, která</a:t>
            </a:r>
          </a:p>
          <a:p>
            <a:pPr algn="ctr"/>
            <a:r>
              <a:rPr lang="cs-CZ" sz="2800" b="1" i="1" dirty="0" smtClean="0">
                <a:latin typeface="+mn-lt"/>
                <a:cs typeface="Arial" pitchFamily="34" charset="0"/>
              </a:rPr>
              <a:t> na staroslověnštinu navázala. Cyrilici sloužilo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          za </a:t>
            </a:r>
            <a:r>
              <a:rPr lang="cs-CZ" sz="2800" b="1" i="1" dirty="0" smtClean="0">
                <a:latin typeface="+mn-lt"/>
                <a:cs typeface="Arial" pitchFamily="34" charset="0"/>
              </a:rPr>
              <a:t>vzor řecké písmo. </a:t>
            </a:r>
            <a:endParaRPr lang="cs-CZ" sz="2800" b="1" i="1" dirty="0">
              <a:latin typeface="+mn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 descr="http://malotridka.ic.cz/gallery/historie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857232"/>
            <a:ext cx="7715304" cy="5520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357158" y="53624"/>
            <a:ext cx="8501122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pt-BR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Konstantin a Metoděj na Velehradě</a:t>
            </a:r>
            <a:br>
              <a:rPr lang="pt-BR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71406" y="1214422"/>
            <a:ext cx="78581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autorem byl Konstantin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je to předzpěv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veršovaná předmluva k Evangeliu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vyjadřuje program mise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zdůrazněno právo člověka </a:t>
            </a:r>
          </a:p>
          <a:p>
            <a:r>
              <a:rPr lang="cs-CZ" sz="2800" b="1" i="1" smtClean="0"/>
              <a:t>     na bohoslužby v mateřském</a:t>
            </a:r>
          </a:p>
          <a:p>
            <a:r>
              <a:rPr lang="cs-CZ" sz="2800" b="1" i="1" smtClean="0"/>
              <a:t>     jazyce</a:t>
            </a:r>
          </a:p>
        </p:txBody>
      </p:sp>
      <p:pic>
        <p:nvPicPr>
          <p:cNvPr id="41988" name="Picture 4" descr="http://www.artforum.sk/userdata/catalog/images/big_5777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2" y="1000108"/>
            <a:ext cx="3341694" cy="5357850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3071802" y="285728"/>
            <a:ext cx="1889813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Proglas</a:t>
            </a:r>
          </a:p>
        </p:txBody>
      </p:sp>
      <p:pic>
        <p:nvPicPr>
          <p:cNvPr id="41990" name="Picture 6" descr="http://kcjl.upol.cz/htx/litera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4670771"/>
            <a:ext cx="5214942" cy="16871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vislý svitek 2"/>
          <p:cNvSpPr/>
          <p:nvPr/>
        </p:nvSpPr>
        <p:spPr>
          <a:xfrm>
            <a:off x="0" y="285728"/>
            <a:ext cx="6000760" cy="6215106"/>
          </a:xfrm>
          <a:prstGeom prst="vertic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928662" y="991634"/>
            <a:ext cx="4572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2200" b="1" smtClean="0"/>
              <a:t>Jako bez světla se nepotěší</a:t>
            </a:r>
            <a:br>
              <a:rPr lang="cs-CZ" sz="2200" b="1" smtClean="0"/>
            </a:br>
            <a:r>
              <a:rPr lang="cs-CZ" sz="2200" b="1" smtClean="0"/>
              <a:t>oko patřící na všechno stvoření boží, </a:t>
            </a:r>
            <a:br>
              <a:rPr lang="cs-CZ" sz="2200" b="1" smtClean="0"/>
            </a:br>
            <a:r>
              <a:rPr lang="cs-CZ" sz="2200" b="1" smtClean="0"/>
              <a:t>nýbrž vše není ani krásné, ani viditelné, tak je to i s každou duší</a:t>
            </a:r>
          </a:p>
          <a:p>
            <a:r>
              <a:rPr lang="cs-CZ" sz="2200" b="1" smtClean="0"/>
              <a:t>bez knih, jež nezná zákona božího, </a:t>
            </a:r>
            <a:br>
              <a:rPr lang="cs-CZ" sz="2200" b="1" smtClean="0"/>
            </a:br>
            <a:r>
              <a:rPr lang="cs-CZ" sz="2200" b="1" smtClean="0"/>
              <a:t>zákona knižního a duchovního, </a:t>
            </a:r>
            <a:br>
              <a:rPr lang="cs-CZ" sz="2200" b="1" smtClean="0"/>
            </a:br>
            <a:r>
              <a:rPr lang="cs-CZ" sz="2200" b="1" smtClean="0"/>
              <a:t>zákona zjevujícího ráj boží.</a:t>
            </a:r>
            <a:br>
              <a:rPr lang="cs-CZ" sz="2200" b="1" smtClean="0"/>
            </a:br>
            <a:r>
              <a:rPr lang="cs-CZ" sz="2200" b="1" smtClean="0"/>
              <a:t>Neboť který sluch, jestliže rachot hromu neslyší, může se báti Boha?</a:t>
            </a:r>
            <a:br>
              <a:rPr lang="cs-CZ" sz="2200" b="1" smtClean="0"/>
            </a:br>
            <a:r>
              <a:rPr lang="cs-CZ" sz="2200" b="1" smtClean="0"/>
              <a:t>Dále chřípí, nečichají-li vůně květu, </a:t>
            </a:r>
            <a:br>
              <a:rPr lang="cs-CZ" sz="2200" b="1" smtClean="0"/>
            </a:br>
            <a:r>
              <a:rPr lang="cs-CZ" sz="2200" b="1" smtClean="0"/>
              <a:t>kterak pochopí zázrak boží?</a:t>
            </a:r>
            <a:br>
              <a:rPr lang="cs-CZ" sz="2200" b="1" smtClean="0"/>
            </a:br>
            <a:r>
              <a:rPr lang="cs-CZ" sz="2200" b="1" smtClean="0"/>
              <a:t>Vždyť ústa, jež necítí sladkosti, </a:t>
            </a:r>
            <a:br>
              <a:rPr lang="cs-CZ" sz="2200" b="1" smtClean="0"/>
            </a:br>
            <a:r>
              <a:rPr lang="cs-CZ" sz="2200" b="1" smtClean="0"/>
              <a:t>činí člověka jako kamenným. </a:t>
            </a:r>
            <a:br>
              <a:rPr lang="cs-CZ" sz="2200" b="1" smtClean="0"/>
            </a:br>
            <a:r>
              <a:rPr lang="cs-CZ" sz="2200" b="1" smtClean="0"/>
              <a:t>Ještě víc však duše bez knih </a:t>
            </a:r>
            <a:br>
              <a:rPr lang="cs-CZ" sz="2200" b="1" smtClean="0"/>
            </a:br>
            <a:r>
              <a:rPr lang="cs-CZ" sz="2200" b="1" smtClean="0"/>
              <a:t>zdá se být v lidech mrtva.</a:t>
            </a:r>
            <a:br>
              <a:rPr lang="cs-CZ" sz="2200" b="1" smtClean="0"/>
            </a:br>
            <a:endParaRPr lang="cs-CZ" sz="2200"/>
          </a:p>
        </p:txBody>
      </p:sp>
      <p:sp>
        <p:nvSpPr>
          <p:cNvPr id="4" name="Obdélník 3"/>
          <p:cNvSpPr/>
          <p:nvPr/>
        </p:nvSpPr>
        <p:spPr>
          <a:xfrm>
            <a:off x="5286348" y="3500438"/>
            <a:ext cx="385765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100" b="1" i="1" smtClean="0"/>
              <a:t>Bratři, to vše jsme my uvážili </a:t>
            </a:r>
            <a:br>
              <a:rPr lang="cs-CZ" sz="2100" b="1" i="1" smtClean="0"/>
            </a:br>
            <a:r>
              <a:rPr lang="cs-CZ" sz="2100" b="1" i="1" smtClean="0"/>
              <a:t>a povíme vám radu výbornou, </a:t>
            </a:r>
            <a:br>
              <a:rPr lang="cs-CZ" sz="2100" b="1" i="1" smtClean="0"/>
            </a:br>
            <a:r>
              <a:rPr lang="cs-CZ" sz="2100" b="1" i="1" smtClean="0"/>
              <a:t>která všechny lidí zbaví</a:t>
            </a:r>
            <a:br>
              <a:rPr lang="cs-CZ" sz="2100" b="1" i="1" smtClean="0"/>
            </a:br>
            <a:r>
              <a:rPr lang="cs-CZ" sz="2100" b="1" i="1" smtClean="0"/>
              <a:t>života zvířeckého a žádostivosti, </a:t>
            </a:r>
            <a:br>
              <a:rPr lang="cs-CZ" sz="2100" b="1" i="1" smtClean="0"/>
            </a:br>
            <a:r>
              <a:rPr lang="cs-CZ" sz="2100" b="1" i="1" smtClean="0"/>
              <a:t>abyste, majíce myslnerozumnou, </a:t>
            </a:r>
            <a:br>
              <a:rPr lang="cs-CZ" sz="2100" b="1" i="1" smtClean="0"/>
            </a:br>
            <a:r>
              <a:rPr lang="cs-CZ" sz="2100" b="1" i="1" smtClean="0"/>
              <a:t>a slyšíce slovo cizím jazykem, </a:t>
            </a:r>
            <a:br>
              <a:rPr lang="cs-CZ" sz="2100" b="1" i="1" smtClean="0"/>
            </a:br>
            <a:r>
              <a:rPr lang="cs-CZ" sz="2100" b="1" i="1" smtClean="0"/>
              <a:t>neslyšeli je jak hlas zvonce měděného. </a:t>
            </a:r>
            <a:br>
              <a:rPr lang="cs-CZ" sz="2100" b="1" i="1" smtClean="0"/>
            </a:br>
            <a:endParaRPr lang="cs-CZ" sz="2100" i="1"/>
          </a:p>
        </p:txBody>
      </p:sp>
      <p:sp>
        <p:nvSpPr>
          <p:cNvPr id="5" name="Obdélník 4"/>
          <p:cNvSpPr/>
          <p:nvPr/>
        </p:nvSpPr>
        <p:spPr>
          <a:xfrm>
            <a:off x="6215074" y="1428736"/>
            <a:ext cx="1889813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Proglas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1357298"/>
            <a:ext cx="83582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Panonské legendy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prozaická díla</a:t>
            </a:r>
            <a:r>
              <a:rPr lang="cs-CZ" sz="2800" smtClean="0"/>
              <a:t>, která byla napsána jejich žáky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napsal asi  Gorazd</a:t>
            </a:r>
            <a:r>
              <a:rPr lang="cs-CZ" sz="2800" smtClean="0"/>
              <a:t>, nástupce Metoděje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určený vzdělaným vrstvám, stylistická vybroušenost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obhajoba životního díla obou bratří x moravským</a:t>
            </a:r>
          </a:p>
          <a:p>
            <a:r>
              <a:rPr lang="cs-CZ" sz="2800" smtClean="0"/>
              <a:t>     kněžím, kteří nesouhlasili s novým křesťanstvím</a:t>
            </a:r>
          </a:p>
        </p:txBody>
      </p:sp>
      <p:sp>
        <p:nvSpPr>
          <p:cNvPr id="3" name="Obdélník 2"/>
          <p:cNvSpPr/>
          <p:nvPr/>
        </p:nvSpPr>
        <p:spPr>
          <a:xfrm>
            <a:off x="2214546" y="71414"/>
            <a:ext cx="4572000" cy="144655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Život Konstantinův</a:t>
            </a:r>
          </a:p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Život Metodějův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pic>
        <p:nvPicPr>
          <p:cNvPr id="4" name="Picture 2" descr="http://fotky87.szm.com/meto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4000504"/>
            <a:ext cx="4143404" cy="27512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odorovný svitek 4"/>
          <p:cNvSpPr/>
          <p:nvPr/>
        </p:nvSpPr>
        <p:spPr>
          <a:xfrm>
            <a:off x="571472" y="2643182"/>
            <a:ext cx="7858180" cy="4000504"/>
          </a:xfrm>
          <a:prstGeom prst="horizont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extovéPole 1"/>
          <p:cNvSpPr txBox="1"/>
          <p:nvPr/>
        </p:nvSpPr>
        <p:spPr>
          <a:xfrm>
            <a:off x="214282" y="1071546"/>
            <a:ext cx="903785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i="1" smtClean="0"/>
              <a:t>Vypravuje dost podrobně o Konstantinových studiích,</a:t>
            </a:r>
          </a:p>
          <a:p>
            <a:r>
              <a:rPr lang="cs-CZ" sz="2800" i="1" smtClean="0"/>
              <a:t>o jeho misijní činnosti v jižních oblastech dnešního Ruska,</a:t>
            </a:r>
          </a:p>
          <a:p>
            <a:r>
              <a:rPr lang="cs-CZ" sz="2800" i="1" smtClean="0"/>
              <a:t>jsou zde obsáhlé filozofické disputace, které Konstantin</a:t>
            </a:r>
          </a:p>
          <a:p>
            <a:r>
              <a:rPr lang="cs-CZ" sz="2800" i="1" smtClean="0"/>
              <a:t>vedl s nevěřícími, najdeme zde obhajobu slovanského jazyka.</a:t>
            </a:r>
            <a:endParaRPr lang="cs-CZ" sz="2800" i="1"/>
          </a:p>
        </p:txBody>
      </p:sp>
      <p:sp>
        <p:nvSpPr>
          <p:cNvPr id="3" name="Obdélník 2"/>
          <p:cNvSpPr/>
          <p:nvPr/>
        </p:nvSpPr>
        <p:spPr>
          <a:xfrm>
            <a:off x="2285984" y="142852"/>
            <a:ext cx="4579074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Život Konstantinův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1214414" y="3286124"/>
            <a:ext cx="690009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smtClean="0">
                <a:solidFill>
                  <a:srgbClr val="002060"/>
                </a:solidFill>
              </a:rPr>
              <a:t>Což nepadá déšť od Boha na všechny stejně? </a:t>
            </a:r>
          </a:p>
          <a:p>
            <a:r>
              <a:rPr lang="cs-CZ" sz="2800" b="1" smtClean="0">
                <a:solidFill>
                  <a:srgbClr val="002060"/>
                </a:solidFill>
              </a:rPr>
              <a:t>Nebo slunce také nesvítí na všechny?</a:t>
            </a:r>
          </a:p>
          <a:p>
            <a:r>
              <a:rPr lang="cs-CZ" sz="2800" b="1" smtClean="0">
                <a:solidFill>
                  <a:srgbClr val="002060"/>
                </a:solidFill>
              </a:rPr>
              <a:t>Nedýcháme na vzduchu všichni stejně?</a:t>
            </a:r>
          </a:p>
          <a:p>
            <a:r>
              <a:rPr lang="cs-CZ" sz="2800" b="1" smtClean="0">
                <a:solidFill>
                  <a:srgbClr val="002060"/>
                </a:solidFill>
              </a:rPr>
              <a:t>Kterak se tedy vy nestydíte připomínat jen</a:t>
            </a:r>
          </a:p>
          <a:p>
            <a:r>
              <a:rPr lang="cs-CZ" sz="2800" b="1" smtClean="0">
                <a:solidFill>
                  <a:srgbClr val="002060"/>
                </a:solidFill>
              </a:rPr>
              <a:t>tři jazyky a chtít, aby všechny ostatní jazyky</a:t>
            </a:r>
          </a:p>
          <a:p>
            <a:r>
              <a:rPr lang="cs-CZ" sz="2800" b="1" smtClean="0">
                <a:solidFill>
                  <a:srgbClr val="002060"/>
                </a:solidFill>
              </a:rPr>
              <a:t>a národy byly slepé a hluché?</a:t>
            </a:r>
            <a:endParaRPr lang="cs-CZ" sz="2800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357422" y="642918"/>
            <a:ext cx="83582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Knihy otců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vzdělavatelná četba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vypravování  o proslulých </a:t>
            </a:r>
          </a:p>
          <a:p>
            <a:r>
              <a:rPr lang="cs-CZ" sz="2800" smtClean="0"/>
              <a:t>     mniších a poustevnících </a:t>
            </a:r>
          </a:p>
          <a:p>
            <a:r>
              <a:rPr lang="cs-CZ" sz="2800" smtClean="0"/>
              <a:t/>
            </a:r>
            <a:br>
              <a:rPr lang="cs-CZ" sz="2800" smtClean="0"/>
            </a:br>
            <a:endParaRPr lang="cs-CZ" sz="2800"/>
          </a:p>
        </p:txBody>
      </p:sp>
      <p:sp>
        <p:nvSpPr>
          <p:cNvPr id="3" name="Obdélník 2"/>
          <p:cNvSpPr/>
          <p:nvPr/>
        </p:nvSpPr>
        <p:spPr>
          <a:xfrm>
            <a:off x="3357554" y="71414"/>
            <a:ext cx="1828642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Paterik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pic>
        <p:nvPicPr>
          <p:cNvPr id="7170" name="Picture 2" descr="http://g-ecx.images-amazon.com/images/G/01/ciu/1b/7f/e467c060ada093f8e2fcf110.L._SL500_AA300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2428868"/>
            <a:ext cx="4214842" cy="4214842"/>
          </a:xfrm>
          <a:prstGeom prst="rect">
            <a:avLst/>
          </a:prstGeom>
          <a:noFill/>
        </p:spPr>
      </p:pic>
      <p:pic>
        <p:nvPicPr>
          <p:cNvPr id="5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68" y="0"/>
            <a:ext cx="2019992" cy="6858000"/>
          </a:xfrm>
          <a:prstGeom prst="rect">
            <a:avLst/>
          </a:prstGeom>
          <a:noFill/>
        </p:spPr>
      </p:pic>
      <p:pic>
        <p:nvPicPr>
          <p:cNvPr id="6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19992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500034" y="1643050"/>
            <a:ext cx="835824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právnické texty pro laiky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soupis právnických norem pro široké vrstvy</a:t>
            </a:r>
          </a:p>
          <a:p>
            <a:endParaRPr lang="cs-CZ" sz="2800" smtClean="0"/>
          </a:p>
          <a:p>
            <a:endParaRPr lang="cs-CZ" sz="2800" smtClean="0"/>
          </a:p>
          <a:p>
            <a:pPr>
              <a:buFont typeface="Wingdings" pitchFamily="2" charset="2"/>
              <a:buChar char="v"/>
            </a:pPr>
            <a:endParaRPr lang="cs-CZ" sz="2800" smtClean="0"/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sbírka církevních a občanských zákonů 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autorem asi  Metoděj</a:t>
            </a:r>
          </a:p>
          <a:p>
            <a:endParaRPr lang="cs-CZ" sz="2800" smtClean="0"/>
          </a:p>
          <a:p>
            <a:pPr algn="ctr"/>
            <a:r>
              <a:rPr lang="cs-CZ" sz="2800" b="1" i="1" smtClean="0"/>
              <a:t>Po Metodějově smrti je staroslověnština uchovávána v Sázavském klášteře, kde se dochovala až do konce</a:t>
            </a:r>
          </a:p>
          <a:p>
            <a:pPr algn="ctr"/>
            <a:r>
              <a:rPr lang="cs-CZ" sz="2800" b="1" i="1" smtClean="0"/>
              <a:t>11.století.</a:t>
            </a:r>
          </a:p>
        </p:txBody>
      </p:sp>
      <p:sp>
        <p:nvSpPr>
          <p:cNvPr id="3" name="Obdélník 2"/>
          <p:cNvSpPr/>
          <p:nvPr/>
        </p:nvSpPr>
        <p:spPr>
          <a:xfrm>
            <a:off x="2500298" y="71414"/>
            <a:ext cx="3741473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Právnické texty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2071670" y="785794"/>
            <a:ext cx="5012847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Zákon sudnyj ljudem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2786050" y="2928934"/>
            <a:ext cx="3072829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Nomokánon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zidenice.farnost.cz/clanky/cyr_met09/kyj_zlomk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2571745"/>
            <a:ext cx="5143536" cy="4168970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214282" y="684424"/>
            <a:ext cx="84296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psány  hlaholicí, obsahovaly zlomek misálu (kázání)</a:t>
            </a:r>
          </a:p>
          <a:p>
            <a:r>
              <a:rPr lang="cs-CZ" sz="2800" smtClean="0"/>
              <a:t>     – je to text čtený při mši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kolem roku 900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jediný rukopis , který se dochoval v původní podobě</a:t>
            </a:r>
          </a:p>
        </p:txBody>
      </p:sp>
      <p:sp>
        <p:nvSpPr>
          <p:cNvPr id="4" name="Obdélník 3"/>
          <p:cNvSpPr/>
          <p:nvPr/>
        </p:nvSpPr>
        <p:spPr>
          <a:xfrm>
            <a:off x="2786050" y="-24"/>
            <a:ext cx="3279359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Kyjevské listy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106398" y="285728"/>
            <a:ext cx="9037602" cy="13849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2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Boj literatury staroslověnské s latinskou</a:t>
            </a:r>
          </a:p>
          <a:p>
            <a:r>
              <a:rPr lang="cs-CZ" sz="42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                    10. a 11.století</a:t>
            </a:r>
            <a:endParaRPr lang="cs-CZ" sz="42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214282" y="1857364"/>
            <a:ext cx="892971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v Čechách </a:t>
            </a:r>
            <a:r>
              <a:rPr lang="cs-CZ" sz="2800" smtClean="0"/>
              <a:t>vzniká mocný feudální stát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vládnoucí </a:t>
            </a:r>
            <a:r>
              <a:rPr lang="cs-CZ" sz="2800" b="1" i="1" smtClean="0"/>
              <a:t>dynastie Přemyslovců ( pol.9.stol. – 1306</a:t>
            </a:r>
            <a:r>
              <a:rPr lang="cs-CZ" sz="2800" b="1" smtClean="0"/>
              <a:t>)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kněžský ráz literatury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orientace na západní země = latinská literatura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973 vznik biskupství v Praze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staroslověnština vytlačena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střediskem staroslověnské vzdělanosti  už </a:t>
            </a:r>
            <a:r>
              <a:rPr lang="cs-CZ" sz="2800" b="1" smtClean="0"/>
              <a:t>jen </a:t>
            </a:r>
            <a:r>
              <a:rPr lang="cs-CZ" sz="2800" b="1" i="1" smtClean="0"/>
              <a:t>klášter</a:t>
            </a:r>
          </a:p>
          <a:p>
            <a:r>
              <a:rPr lang="cs-CZ" sz="2800" b="1" i="1" smtClean="0"/>
              <a:t>    Sázavský </a:t>
            </a:r>
            <a:r>
              <a:rPr lang="cs-CZ" sz="2800" smtClean="0"/>
              <a:t>- založen </a:t>
            </a:r>
            <a:r>
              <a:rPr lang="cs-CZ" sz="2800" i="1" smtClean="0"/>
              <a:t>1032</a:t>
            </a:r>
            <a:r>
              <a:rPr lang="cs-CZ" sz="2800" smtClean="0"/>
              <a:t> knížetem Oldřichem, prvním </a:t>
            </a:r>
          </a:p>
          <a:p>
            <a:r>
              <a:rPr lang="cs-CZ" sz="2800" smtClean="0"/>
              <a:t>    opatem </a:t>
            </a:r>
            <a:r>
              <a:rPr lang="cs-CZ" sz="2800" b="1" smtClean="0">
                <a:solidFill>
                  <a:srgbClr val="7030A0"/>
                </a:solidFill>
              </a:rPr>
              <a:t>Prokop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1092 </a:t>
            </a:r>
            <a:r>
              <a:rPr lang="cs-CZ" sz="2800" smtClean="0">
                <a:cs typeface="Arial" pitchFamily="34" charset="0"/>
              </a:rPr>
              <a:t>papež zakázal slovanské bohoslužby = slovanští </a:t>
            </a:r>
          </a:p>
          <a:p>
            <a:r>
              <a:rPr lang="cs-CZ" sz="2800" smtClean="0">
                <a:cs typeface="Arial" pitchFamily="34" charset="0"/>
              </a:rPr>
              <a:t>    mniši museli ze sázavského kláštera odejít</a:t>
            </a:r>
            <a:endParaRPr lang="cs-CZ" sz="2800" smtClean="0"/>
          </a:p>
          <a:p>
            <a:endParaRPr lang="cs-CZ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www.svprokop-sazava.cz/obrazky/fotogalerie/PB3009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39844" cy="6858000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1189793" y="16353"/>
            <a:ext cx="3953711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Sázavský klášter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http://ao-institut.cz/texty/zivotopisy-ceskych-svetcu/img/prokop-sazavsk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785794"/>
            <a:ext cx="2444844" cy="3357586"/>
          </a:xfrm>
          <a:prstGeom prst="rect">
            <a:avLst/>
          </a:prstGeom>
          <a:noFill/>
        </p:spPr>
      </p:pic>
      <p:pic>
        <p:nvPicPr>
          <p:cNvPr id="39940" name="Picture 4" descr="http://ao-institut.cz/texty/zivotopisy-ceskych-svetcu/img/svaty-proko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84" y="2786058"/>
            <a:ext cx="2695303" cy="3857652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357158" y="4286256"/>
            <a:ext cx="5214974" cy="221599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300" smtClean="0"/>
              <a:t> </a:t>
            </a:r>
            <a:r>
              <a:rPr lang="cs-CZ" sz="2300" i="1" smtClean="0"/>
              <a:t>„Pohrdl ničemnou marností tohoto světa“</a:t>
            </a:r>
            <a:r>
              <a:rPr lang="cs-CZ" sz="2300" smtClean="0"/>
              <a:t> - píše o něm kronikář sázavského kláštera 12. století - </a:t>
            </a:r>
            <a:r>
              <a:rPr lang="cs-CZ" sz="2300" i="1" smtClean="0"/>
              <a:t>„a odřeknuv se domu, manželky, polností, příbuzných a přátel, ba i sebe samého, dal výhost lstivému světu a jeho bídným nádherám“</a:t>
            </a:r>
            <a:r>
              <a:rPr lang="cs-CZ" sz="2300" smtClean="0"/>
              <a:t>.</a:t>
            </a:r>
            <a:endParaRPr lang="cs-CZ" sz="2300"/>
          </a:p>
        </p:txBody>
      </p:sp>
      <p:sp>
        <p:nvSpPr>
          <p:cNvPr id="6" name="Obdélník 5"/>
          <p:cNvSpPr/>
          <p:nvPr/>
        </p:nvSpPr>
        <p:spPr>
          <a:xfrm>
            <a:off x="1333934" y="0"/>
            <a:ext cx="6595652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Svatý Prokop asi 970- 1053</a:t>
            </a:r>
            <a:endParaRPr lang="cs-CZ" sz="4400" b="1">
              <a:ln w="50800"/>
              <a:solidFill>
                <a:srgbClr val="7030A0"/>
              </a:solidFill>
            </a:endParaRPr>
          </a:p>
        </p:txBody>
      </p:sp>
      <p:sp>
        <p:nvSpPr>
          <p:cNvPr id="7" name="Obdélník 6"/>
          <p:cNvSpPr/>
          <p:nvPr/>
        </p:nvSpPr>
        <p:spPr>
          <a:xfrm>
            <a:off x="2928926" y="785794"/>
            <a:ext cx="5786446" cy="193899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„Byl někdy jeden opat, jménem Prokop, rodem Čech, jenž v slovanském písmě od nejsvětějšího biskupa Cyrila někdy vynalezeném a od církve kanonicky schváleném byl dokonale vzdělán.“</a:t>
            </a:r>
            <a:r>
              <a:rPr lang="cs-CZ" sz="2400" smtClean="0"/>
              <a:t> </a:t>
            </a:r>
            <a:endParaRPr lang="cs-CZ" sz="2400"/>
          </a:p>
        </p:txBody>
      </p:sp>
      <p:sp>
        <p:nvSpPr>
          <p:cNvPr id="8" name="TextovéPole 7"/>
          <p:cNvSpPr txBox="1"/>
          <p:nvPr/>
        </p:nvSpPr>
        <p:spPr>
          <a:xfrm>
            <a:off x="3143240" y="2857496"/>
            <a:ext cx="2214578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smtClean="0"/>
              <a:t>Životopis světce </a:t>
            </a:r>
          </a:p>
          <a:p>
            <a:r>
              <a:rPr lang="cs-CZ" sz="2400" smtClean="0"/>
              <a:t>ze sázavské kroniky</a:t>
            </a:r>
            <a:endParaRPr lang="cs-CZ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ttp://www.ldt-vrabov.cz/foto/sternberk_ilustrace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61450" cy="6858000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214282" y="214290"/>
            <a:ext cx="3953711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Sázavský klášter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media.novinky.cz/838/178384-top_foto1-y2ge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8496" y="285728"/>
            <a:ext cx="6721090" cy="37862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142876" y="4286256"/>
            <a:ext cx="8858280" cy="2308324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400" i="1" smtClean="0"/>
              <a:t> v Sázavském klášteře v roce 2009 restaurátoři pod  11ti vrstvami </a:t>
            </a:r>
          </a:p>
          <a:p>
            <a:r>
              <a:rPr lang="cs-CZ" sz="2400" i="1" smtClean="0"/>
              <a:t>     maleb objevili čtyři barokní fresky ( 18 je už popsaných)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pocházejí asi z gotické doby vlády Karla IV. 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první je způli zničena, druhá zobrazuje knížete Břetislava a Prokopa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</a:t>
            </a:r>
            <a:r>
              <a:rPr lang="cs-CZ" sz="2400" b="1" i="1" smtClean="0"/>
              <a:t>jsou zde tváře světců -  Ludmily, Prokopa, Václava a Vojtěcha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barokní fresky vznikly  v roce 1746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/>
          <p:cNvSpPr txBox="1"/>
          <p:nvPr/>
        </p:nvSpPr>
        <p:spPr>
          <a:xfrm>
            <a:off x="1413187" y="214290"/>
            <a:ext cx="6516399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Život knížete Václava ( 970)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285720" y="1142984"/>
            <a:ext cx="80109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1.staroslověnská legenda o sv Václavovi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prostý styl, srozumitelná pro široké vrstvy obyvatel </a:t>
            </a:r>
            <a:endParaRPr lang="cs-CZ" sz="2800"/>
          </a:p>
        </p:txBody>
      </p:sp>
      <p:pic>
        <p:nvPicPr>
          <p:cNvPr id="5" name="Picture 2" descr="Soubor:Wenzeslaus by Peter Parler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2428867"/>
            <a:ext cx="2500330" cy="40832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Obdélník 5"/>
          <p:cNvSpPr/>
          <p:nvPr/>
        </p:nvSpPr>
        <p:spPr>
          <a:xfrm>
            <a:off x="3143240" y="5929330"/>
            <a:ext cx="3744936" cy="707886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cs-CZ" sz="2000" b="1" i="1" smtClean="0">
                <a:cs typeface="Arial" pitchFamily="34" charset="0"/>
              </a:rPr>
              <a:t>Socha sv. Václava  ze 14.století od</a:t>
            </a:r>
          </a:p>
          <a:p>
            <a:r>
              <a:rPr lang="cs-CZ" sz="2000" b="1" i="1" smtClean="0">
                <a:cs typeface="Arial" pitchFamily="34" charset="0"/>
              </a:rPr>
              <a:t> Petra Parléře v katedrále sv. Víta</a:t>
            </a:r>
            <a:endParaRPr lang="cs-CZ" sz="2000" b="1" i="1">
              <a:cs typeface="Arial" pitchFamily="34" charset="0"/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3214678" y="3000372"/>
            <a:ext cx="59293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400" smtClean="0">
                <a:cs typeface="Arial" pitchFamily="34" charset="0"/>
              </a:rPr>
              <a:t> český kníže,světec</a:t>
            </a:r>
          </a:p>
          <a:p>
            <a:pPr>
              <a:buFont typeface="Wingdings" pitchFamily="2" charset="2"/>
              <a:buChar char="v"/>
            </a:pPr>
            <a:r>
              <a:rPr lang="cs-CZ" sz="2400" smtClean="0">
                <a:cs typeface="Arial" pitchFamily="34" charset="0"/>
              </a:rPr>
              <a:t> </a:t>
            </a:r>
            <a:r>
              <a:rPr lang="cs-CZ" sz="2400" b="1" i="1" smtClean="0">
                <a:solidFill>
                  <a:srgbClr val="002060"/>
                </a:solidFill>
                <a:cs typeface="Arial" pitchFamily="34" charset="0"/>
              </a:rPr>
              <a:t>hlavní patron české země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>
                <a:cs typeface="Arial" pitchFamily="34" charset="0"/>
              </a:rPr>
              <a:t> zavražděn ve  28 letech </a:t>
            </a:r>
          </a:p>
          <a:p>
            <a:r>
              <a:rPr lang="cs-CZ" sz="2400" i="1" smtClean="0">
                <a:cs typeface="Arial" pitchFamily="34" charset="0"/>
              </a:rPr>
              <a:t>    ve Staré Boleslavi </a:t>
            </a:r>
            <a:r>
              <a:rPr lang="cs-CZ" sz="2400" b="1" i="1" smtClean="0">
                <a:solidFill>
                  <a:srgbClr val="002060"/>
                </a:solidFill>
                <a:cs typeface="Arial" pitchFamily="34" charset="0"/>
              </a:rPr>
              <a:t>28.9. = státní svátek</a:t>
            </a:r>
          </a:p>
          <a:p>
            <a:pPr>
              <a:buFont typeface="Wingdings" pitchFamily="2" charset="2"/>
              <a:buChar char="v"/>
            </a:pPr>
            <a:r>
              <a:rPr lang="cs-CZ" sz="2400" smtClean="0">
                <a:cs typeface="Arial" pitchFamily="34" charset="0"/>
              </a:rPr>
              <a:t> je pochován v Katedrále svatého </a:t>
            </a:r>
          </a:p>
          <a:p>
            <a:r>
              <a:rPr lang="cs-CZ" sz="2400" smtClean="0">
                <a:cs typeface="Arial" pitchFamily="34" charset="0"/>
              </a:rPr>
              <a:t>     Víta, Václava a Vojtěcha</a:t>
            </a:r>
            <a:endParaRPr lang="cs-CZ" sz="2400">
              <a:cs typeface="Arial" pitchFamily="34" charset="0"/>
            </a:endParaRPr>
          </a:p>
        </p:txBody>
      </p:sp>
      <p:sp>
        <p:nvSpPr>
          <p:cNvPr id="8" name="Obdélník 7"/>
          <p:cNvSpPr/>
          <p:nvPr/>
        </p:nvSpPr>
        <p:spPr>
          <a:xfrm>
            <a:off x="3119594" y="2285992"/>
            <a:ext cx="6024406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28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Svatý Václav  921 – 28.9.935  (929)</a:t>
            </a:r>
            <a:endParaRPr lang="cs-CZ" sz="28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142844" y="967917"/>
            <a:ext cx="84296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2. staroslověnská legenda o sv. Václavovi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iluminovaný rukopis , vznikl  pro vzdělance, 980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námětem latinská Kristiánova legenda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typická středověká legenda = legenda se zázraky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autorem mantovský biskup Gumpold</a:t>
            </a:r>
          </a:p>
        </p:txBody>
      </p:sp>
      <p:sp>
        <p:nvSpPr>
          <p:cNvPr id="4" name="Obdélník 3"/>
          <p:cNvSpPr/>
          <p:nvPr/>
        </p:nvSpPr>
        <p:spPr>
          <a:xfrm>
            <a:off x="1142976" y="214290"/>
            <a:ext cx="7214283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Život Václava, knížete českého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pic>
        <p:nvPicPr>
          <p:cNvPr id="41988" name="Picture 4" descr="http://www.valentinska.cz/images/31a17eb866710b3dcf013e2e88c9018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2714620"/>
            <a:ext cx="2638104" cy="3929090"/>
          </a:xfrm>
          <a:prstGeom prst="rect">
            <a:avLst/>
          </a:prstGeom>
          <a:noFill/>
        </p:spPr>
      </p:pic>
      <p:pic>
        <p:nvPicPr>
          <p:cNvPr id="9218" name="Picture 2" descr="http://www.pravoslavi-litomerice.cz/images/vaclav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1670" y="3357562"/>
            <a:ext cx="2000264" cy="3279121"/>
          </a:xfrm>
          <a:prstGeom prst="rect">
            <a:avLst/>
          </a:prstGeom>
          <a:noFill/>
        </p:spPr>
      </p:pic>
      <p:sp>
        <p:nvSpPr>
          <p:cNvPr id="8" name="TextovéPole 7"/>
          <p:cNvSpPr txBox="1"/>
          <p:nvPr/>
        </p:nvSpPr>
        <p:spPr>
          <a:xfrm>
            <a:off x="500034" y="6143644"/>
            <a:ext cx="1478546" cy="40011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000" i="1" smtClean="0"/>
              <a:t>Svatý Václav</a:t>
            </a:r>
            <a:endParaRPr lang="cs-CZ" sz="20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ovéPole 7"/>
          <p:cNvSpPr txBox="1"/>
          <p:nvPr/>
        </p:nvSpPr>
        <p:spPr>
          <a:xfrm>
            <a:off x="474709" y="5500702"/>
            <a:ext cx="4893006" cy="1107996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200" i="1" smtClean="0"/>
              <a:t>Kněžna Emma se koří svatému Václavovi, </a:t>
            </a:r>
          </a:p>
          <a:p>
            <a:r>
              <a:rPr lang="cs-CZ" sz="2200" i="1" smtClean="0"/>
              <a:t>kterému Kristus dává na hlavu korunu</a:t>
            </a:r>
          </a:p>
          <a:p>
            <a:r>
              <a:rPr lang="cs-CZ" sz="2200" i="1" smtClean="0"/>
              <a:t>Mučedníka.</a:t>
            </a:r>
            <a:endParaRPr lang="cs-CZ" sz="2200" i="1"/>
          </a:p>
        </p:txBody>
      </p:sp>
      <p:pic>
        <p:nvPicPr>
          <p:cNvPr id="45060" name="Picture 4" descr="http://abicko.avcr.cz/miranda2/export/sites/abicko.avcr.cz/cs/archiv/2005/12/obsah/images/b_2005-12-20_22190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1071546"/>
            <a:ext cx="3429024" cy="4326844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642910" y="285728"/>
            <a:ext cx="8002640" cy="64633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3600" b="1" smtClean="0">
                <a:ln w="50800"/>
                <a:solidFill>
                  <a:srgbClr val="002060"/>
                </a:solidFill>
              </a:rPr>
              <a:t>Gumpoldova legenda o svatém Václavovi</a:t>
            </a:r>
            <a:endParaRPr lang="cs-CZ" sz="3600" b="1">
              <a:ln w="50800"/>
              <a:solidFill>
                <a:srgbClr val="002060"/>
              </a:solidFill>
            </a:endParaRPr>
          </a:p>
        </p:txBody>
      </p:sp>
      <p:pic>
        <p:nvPicPr>
          <p:cNvPr id="45062" name="Picture 6" descr="http://media.rozhlas.cz/_obrazek/02107909.jpeg?im=1&amp;mand=gt&amp;sc_x=400&amp;sc_y=26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7686" y="1071546"/>
            <a:ext cx="3810000" cy="2533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http://ff.ujep.cz/velimsky/cs_1_1/03CS/kristianova_legend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1470" y="-23"/>
            <a:ext cx="4472624" cy="6858024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4293337" y="-24"/>
            <a:ext cx="4779257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Kristiánova legenda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4357686" y="1168676"/>
            <a:ext cx="478631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Život a umučení svatého </a:t>
            </a:r>
          </a:p>
          <a:p>
            <a:r>
              <a:rPr lang="cs-CZ" sz="2800" b="1" i="1" smtClean="0"/>
              <a:t>     Václava a babičky svaté </a:t>
            </a:r>
          </a:p>
          <a:p>
            <a:r>
              <a:rPr lang="cs-CZ" sz="2800" b="1" i="1" smtClean="0"/>
              <a:t>     Ludmily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latinsky</a:t>
            </a:r>
            <a:r>
              <a:rPr lang="cs-CZ" sz="2800" smtClean="0"/>
              <a:t>, vysoká úroveň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konec 10.století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jsou zde zaznamenány i  </a:t>
            </a:r>
          </a:p>
          <a:p>
            <a:r>
              <a:rPr lang="cs-CZ" sz="2800" smtClean="0"/>
              <a:t>     počátky křesťanství </a:t>
            </a:r>
          </a:p>
          <a:p>
            <a:r>
              <a:rPr lang="cs-CZ" sz="2800" smtClean="0"/>
              <a:t>     v Čechách, působení mise</a:t>
            </a:r>
          </a:p>
          <a:p>
            <a:r>
              <a:rPr lang="cs-CZ" sz="2800" smtClean="0"/>
              <a:t>     na Velké Moravě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hlásá, že přemyslovský stát</a:t>
            </a:r>
          </a:p>
          <a:p>
            <a:r>
              <a:rPr lang="cs-CZ" sz="2800" smtClean="0"/>
              <a:t>    je dědicem Velké Moravy</a:t>
            </a:r>
            <a:endParaRPr lang="cs-CZ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1428728" y="428604"/>
            <a:ext cx="6080382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Pražské hlaholské zlomky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285720" y="1214422"/>
            <a:ext cx="81932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části modliteb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obsahují bohemismy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svědčí o stycích Sázavského kláštera s Kyjevskou Rusí</a:t>
            </a:r>
            <a:endParaRPr lang="cs-CZ" sz="2800"/>
          </a:p>
        </p:txBody>
      </p:sp>
      <p:pic>
        <p:nvPicPr>
          <p:cNvPr id="49154" name="Picture 2" descr="http://www.cuni.cz/IFORUM-6948-version1-Prazske_hlaholske_zlomky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928934"/>
            <a:ext cx="2979985" cy="350046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5" name="Obdélník 4"/>
          <p:cNvSpPr/>
          <p:nvPr/>
        </p:nvSpPr>
        <p:spPr>
          <a:xfrm>
            <a:off x="3286116" y="5286388"/>
            <a:ext cx="5214974" cy="1015663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000" b="1" i="1" smtClean="0"/>
              <a:t>Pražské hlaholské zlomky, dva pergamenové listy, text staroslověnský, psaný hlaholicí,</a:t>
            </a:r>
          </a:p>
          <a:p>
            <a:pPr algn="ctr"/>
            <a:r>
              <a:rPr lang="cs-CZ" sz="2000" b="1" i="1" smtClean="0"/>
              <a:t> před pol. 11. stol., Čechy</a:t>
            </a:r>
            <a:r>
              <a:rPr lang="cs-CZ" sz="2000" smtClean="0"/>
              <a:t> </a:t>
            </a:r>
            <a:endParaRPr lang="cs-CZ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3108" y="428604"/>
            <a:ext cx="4831707" cy="144655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Svatořehořské glosy</a:t>
            </a:r>
          </a:p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Vídeňské glosy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2143108" y="2000240"/>
            <a:ext cx="500643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vznikly okolo roku 1100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byly vepsány do latinských</a:t>
            </a:r>
          </a:p>
          <a:p>
            <a:r>
              <a:rPr lang="cs-CZ" sz="2800" smtClean="0"/>
              <a:t>     rukopisů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vedle prvků českých obsahují </a:t>
            </a:r>
          </a:p>
          <a:p>
            <a:r>
              <a:rPr lang="cs-CZ" sz="2800" b="1" i="1" smtClean="0"/>
              <a:t>     i prvky staroslověnské</a:t>
            </a:r>
            <a:endParaRPr lang="cs-CZ" sz="2800" b="1" i="1"/>
          </a:p>
        </p:txBody>
      </p:sp>
      <p:pic>
        <p:nvPicPr>
          <p:cNvPr id="4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68" y="0"/>
            <a:ext cx="2019992" cy="6858000"/>
          </a:xfrm>
          <a:prstGeom prst="rect">
            <a:avLst/>
          </a:prstGeom>
          <a:noFill/>
        </p:spPr>
      </p:pic>
      <p:pic>
        <p:nvPicPr>
          <p:cNvPr id="5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992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643174" y="71414"/>
            <a:ext cx="4641912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Vyšehradský kodex</a:t>
            </a:r>
          </a:p>
        </p:txBody>
      </p:sp>
      <p:pic>
        <p:nvPicPr>
          <p:cNvPr id="4" name="Picture 2" descr="http://www.veda.cz/dwn/5430/13006B_kodex_vysehradsk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214290"/>
            <a:ext cx="2267380" cy="3214710"/>
          </a:xfrm>
          <a:prstGeom prst="rect">
            <a:avLst/>
          </a:prstGeom>
          <a:noFill/>
        </p:spPr>
      </p:pic>
      <p:pic>
        <p:nvPicPr>
          <p:cNvPr id="6" name="Picture 4" descr="http://img.ihned.cz/attachment.php/740/27409740/asuv3458BEGKLOk6QWefghpqrxSTUAmn/Kodex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2264" y="1142984"/>
            <a:ext cx="2478588" cy="3857652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214282" y="4468379"/>
            <a:ext cx="889003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b="1" i="1" smtClean="0">
                <a:cs typeface="Arial" pitchFamily="34" charset="0"/>
              </a:rPr>
              <a:t> evangelistář z 11. století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nejznámější rukopis pražské Národní knihovny 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</a:t>
            </a:r>
            <a:r>
              <a:rPr lang="cs-CZ" sz="2800" b="1" i="1" smtClean="0">
                <a:cs typeface="Arial" pitchFamily="34" charset="0"/>
              </a:rPr>
              <a:t>vznikl </a:t>
            </a:r>
            <a:r>
              <a:rPr lang="cs-CZ" sz="2800" i="1" smtClean="0">
                <a:cs typeface="Arial" pitchFamily="34" charset="0"/>
              </a:rPr>
              <a:t>zřejmě v souvislosti </a:t>
            </a:r>
            <a:r>
              <a:rPr lang="cs-CZ" sz="2800" b="1" i="1" smtClean="0">
                <a:cs typeface="Arial" pitchFamily="34" charset="0"/>
              </a:rPr>
              <a:t>s královskou korunovací </a:t>
            </a:r>
          </a:p>
          <a:p>
            <a:r>
              <a:rPr lang="cs-CZ" sz="2800" b="1" i="1" smtClean="0">
                <a:cs typeface="Arial" pitchFamily="34" charset="0"/>
              </a:rPr>
              <a:t>    Vratislava II</a:t>
            </a:r>
            <a:r>
              <a:rPr lang="cs-CZ" sz="2800" i="1" smtClean="0">
                <a:cs typeface="Arial" pitchFamily="34" charset="0"/>
              </a:rPr>
              <a:t>., který v roce </a:t>
            </a:r>
            <a:r>
              <a:rPr lang="cs-CZ" sz="2800" b="1" i="1" smtClean="0">
                <a:cs typeface="Arial" pitchFamily="34" charset="0"/>
              </a:rPr>
              <a:t>1085 </a:t>
            </a:r>
            <a:r>
              <a:rPr lang="cs-CZ" sz="2800" i="1" smtClean="0">
                <a:cs typeface="Arial" pitchFamily="34" charset="0"/>
              </a:rPr>
              <a:t>obdržel  </a:t>
            </a:r>
            <a:r>
              <a:rPr lang="cs-CZ" sz="2800" b="1" i="1" smtClean="0">
                <a:cs typeface="Arial" pitchFamily="34" charset="0"/>
              </a:rPr>
              <a:t>1.královský titul </a:t>
            </a:r>
          </a:p>
          <a:p>
            <a:r>
              <a:rPr lang="cs-CZ" sz="2800" b="1" i="1" smtClean="0">
                <a:cs typeface="Arial" pitchFamily="34" charset="0"/>
              </a:rPr>
              <a:t>    v Čechách</a:t>
            </a:r>
          </a:p>
        </p:txBody>
      </p:sp>
      <p:pic>
        <p:nvPicPr>
          <p:cNvPr id="5126" name="Picture 6" descr="http://www.ikaros.cz/images/200311/bible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36" y="1000108"/>
            <a:ext cx="3865558" cy="289916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71406" y="71414"/>
            <a:ext cx="921550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pořizovatelem asi vyšehradská kapitula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obsahuje malované a bohatě zdobené iniciálky, </a:t>
            </a:r>
          </a:p>
          <a:p>
            <a:r>
              <a:rPr lang="cs-CZ" sz="2800" i="1" smtClean="0">
                <a:cs typeface="Arial" pitchFamily="34" charset="0"/>
              </a:rPr>
              <a:t>     celostránkové iluminace 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obrazová výzdoba znázorňuje např. čtyři u pultu píšící </a:t>
            </a:r>
          </a:p>
          <a:p>
            <a:r>
              <a:rPr lang="cs-CZ" sz="2800" i="1" smtClean="0">
                <a:cs typeface="Arial" pitchFamily="34" charset="0"/>
              </a:rPr>
              <a:t>     evangelisty, starozákonní motivy, cyklus výjevů ze života</a:t>
            </a:r>
          </a:p>
          <a:p>
            <a:r>
              <a:rPr lang="cs-CZ" sz="2800" i="1" smtClean="0">
                <a:cs typeface="Arial" pitchFamily="34" charset="0"/>
              </a:rPr>
              <a:t>     Krista, několik vyobrazení  svatého Václava, znázornění </a:t>
            </a:r>
          </a:p>
          <a:p>
            <a:r>
              <a:rPr lang="cs-CZ" sz="2800" i="1" smtClean="0">
                <a:cs typeface="Arial" pitchFamily="34" charset="0"/>
              </a:rPr>
              <a:t>     mrtvých vstávajících z hrobů</a:t>
            </a:r>
            <a:endParaRPr lang="cs-CZ" sz="2800" i="1">
              <a:cs typeface="Arial" pitchFamily="34" charset="0"/>
            </a:endParaRPr>
          </a:p>
        </p:txBody>
      </p:sp>
      <p:pic>
        <p:nvPicPr>
          <p:cNvPr id="52226" name="Picture 2" descr="http://www.alescenek.cz/data/produkty/kodex-vysehradsky_academ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3286124"/>
            <a:ext cx="2123886" cy="3071834"/>
          </a:xfrm>
          <a:prstGeom prst="rect">
            <a:avLst/>
          </a:prstGeom>
          <a:noFill/>
        </p:spPr>
      </p:pic>
      <p:pic>
        <p:nvPicPr>
          <p:cNvPr id="52228" name="Picture 4" descr="http://curiavitkov.cz/images/zivot/rakv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7818" y="2693561"/>
            <a:ext cx="2913766" cy="39501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www.quo-sb.cz/evropa1000/galerie/522_kod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71414"/>
            <a:ext cx="5262062" cy="6786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délník 4"/>
          <p:cNvSpPr/>
          <p:nvPr/>
        </p:nvSpPr>
        <p:spPr>
          <a:xfrm>
            <a:off x="2285984" y="3088187"/>
            <a:ext cx="4641912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Vyšehradský kodex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http://www.collegium.cz/waldorf/hudba/hdejiny/hospodi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24" y="928670"/>
            <a:ext cx="3536182" cy="4714908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1835087" y="71414"/>
            <a:ext cx="5451557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Hospodine, pomiluj ny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3643306" y="792708"/>
            <a:ext cx="521957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700" smtClean="0"/>
              <a:t> </a:t>
            </a:r>
            <a:r>
              <a:rPr lang="cs-CZ" sz="2700" b="1" i="1" smtClean="0"/>
              <a:t>nejstarší česká dochovaná píseň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asi z konce </a:t>
            </a:r>
            <a:r>
              <a:rPr lang="cs-CZ" sz="2700" b="1" i="1" smtClean="0"/>
              <a:t>10.století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zlidověla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promlouvají v ní </a:t>
            </a:r>
            <a:r>
              <a:rPr lang="cs-CZ" sz="2700" b="1" i="1" smtClean="0"/>
              <a:t>zájmy člověka</a:t>
            </a:r>
            <a:r>
              <a:rPr lang="cs-CZ" sz="2700" smtClean="0"/>
              <a:t>,</a:t>
            </a:r>
          </a:p>
          <a:p>
            <a:r>
              <a:rPr lang="cs-CZ" sz="2700" smtClean="0"/>
              <a:t>      pro něhož hlavním zdrojem</a:t>
            </a:r>
          </a:p>
          <a:p>
            <a:r>
              <a:rPr lang="cs-CZ" sz="2700" smtClean="0"/>
              <a:t>      obživy byla půda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zpívána i mimo kostel při</a:t>
            </a:r>
          </a:p>
          <a:p>
            <a:r>
              <a:rPr lang="cs-CZ" sz="2700" smtClean="0"/>
              <a:t>     slavnostních příležitostech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zpívána i jako píseň válečná</a:t>
            </a:r>
          </a:p>
          <a:p>
            <a:r>
              <a:rPr lang="cs-CZ" sz="2700" smtClean="0"/>
              <a:t>     - 1260 v bitvě u Kresenbrunu</a:t>
            </a:r>
          </a:p>
          <a:p>
            <a:r>
              <a:rPr lang="cs-CZ" sz="2700" smtClean="0"/>
              <a:t>     - 1278 v bitvě na Moravském poli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plnila vlastně funkci hymny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</a:t>
            </a:r>
            <a:r>
              <a:rPr lang="cs-CZ" sz="2700" b="1" i="1" smtClean="0"/>
              <a:t>Karel IV. ji zařadil </a:t>
            </a:r>
          </a:p>
          <a:p>
            <a:r>
              <a:rPr lang="cs-CZ" sz="2700" b="1" i="1" smtClean="0"/>
              <a:t>    do korunovačního řádu</a:t>
            </a:r>
            <a:endParaRPr lang="cs-CZ" sz="27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714876" y="1012812"/>
            <a:ext cx="44291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400" i="1" smtClean="0"/>
              <a:t> poprvé  doložena roku 1055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zpívána při volbě knížete</a:t>
            </a:r>
          </a:p>
          <a:p>
            <a:r>
              <a:rPr lang="cs-CZ" sz="2400" i="1" smtClean="0"/>
              <a:t>     Spytihněva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nejstarší dochovaný zápis </a:t>
            </a:r>
          </a:p>
          <a:p>
            <a:r>
              <a:rPr lang="cs-CZ" sz="2400" i="1" smtClean="0"/>
              <a:t>     pochází z kroniky břevnovského</a:t>
            </a:r>
          </a:p>
          <a:p>
            <a:r>
              <a:rPr lang="cs-CZ" sz="2400" i="1" smtClean="0"/>
              <a:t>     mnicha Jana z Holešova z roku</a:t>
            </a:r>
          </a:p>
          <a:p>
            <a:r>
              <a:rPr lang="cs-CZ" sz="2400" i="1" smtClean="0"/>
              <a:t>     1397</a:t>
            </a:r>
          </a:p>
          <a:p>
            <a:pPr>
              <a:buFont typeface="Wingdings" pitchFamily="2" charset="2"/>
              <a:buChar char="v"/>
            </a:pPr>
            <a:r>
              <a:rPr lang="cs-CZ" sz="2400" i="1" smtClean="0"/>
              <a:t> za autora býval někdy</a:t>
            </a:r>
          </a:p>
          <a:p>
            <a:r>
              <a:rPr lang="cs-CZ" sz="2400" i="1" smtClean="0"/>
              <a:t>     považován i svatý Vojtěch</a:t>
            </a:r>
            <a:endParaRPr lang="cs-CZ" sz="2400" i="1"/>
          </a:p>
        </p:txBody>
      </p:sp>
      <p:sp>
        <p:nvSpPr>
          <p:cNvPr id="4" name="Obdélník 3"/>
          <p:cNvSpPr/>
          <p:nvPr/>
        </p:nvSpPr>
        <p:spPr>
          <a:xfrm>
            <a:off x="500034" y="4929198"/>
            <a:ext cx="8215370" cy="156966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smtClean="0"/>
              <a:t>Vysvětlivky staročeských a zbytkových staroslověnských formulací : </a:t>
            </a:r>
            <a:r>
              <a:rPr lang="cs-CZ" sz="2400" i="1" smtClean="0"/>
              <a:t>pomiluj ny = smiluj se nad námi, spase = spasiteli mira = světa, spasiž ny i uslyšiž = spas nás a vyslyš, žizn = hojnost, mír = pokoj, Krleš = Kyrie eleison (Pane, smiluj se)</a:t>
            </a:r>
            <a:r>
              <a:rPr lang="cs-CZ" sz="2400" smtClean="0"/>
              <a:t> </a:t>
            </a:r>
            <a:endParaRPr lang="cs-CZ" sz="2400"/>
          </a:p>
        </p:txBody>
      </p:sp>
      <p:sp>
        <p:nvSpPr>
          <p:cNvPr id="7" name="Svislý svitek 6"/>
          <p:cNvSpPr/>
          <p:nvPr/>
        </p:nvSpPr>
        <p:spPr>
          <a:xfrm>
            <a:off x="0" y="285728"/>
            <a:ext cx="5143536" cy="4143404"/>
          </a:xfrm>
          <a:prstGeom prst="vertic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Obdélník 2"/>
          <p:cNvSpPr/>
          <p:nvPr/>
        </p:nvSpPr>
        <p:spPr>
          <a:xfrm>
            <a:off x="642910" y="744566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2800" b="1" i="1" smtClean="0"/>
              <a:t>Hospodine, pomiluj ny!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Jezukriste, pomiluj ny!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Ty, spase všeho mira,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spasiž ny i uslyšiž,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Hospodine, hlasy našě!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Daj nám všěm, Hospodine,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žizn a mír v zemi!</a:t>
            </a:r>
            <a:r>
              <a:rPr lang="cs-CZ" sz="2800" b="1" smtClean="0"/>
              <a:t/>
            </a:r>
            <a:br>
              <a:rPr lang="cs-CZ" sz="2800" b="1" smtClean="0"/>
            </a:br>
            <a:r>
              <a:rPr lang="cs-CZ" sz="2800" b="1" i="1" smtClean="0"/>
              <a:t>Krleš! Krleš! Krleš!</a:t>
            </a:r>
            <a:r>
              <a:rPr lang="cs-CZ" sz="2800" b="1" smtClean="0"/>
              <a:t/>
            </a:r>
            <a:br>
              <a:rPr lang="cs-CZ" sz="2800" b="1" smtClean="0"/>
            </a:br>
            <a:endParaRPr lang="cs-CZ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 animBg="1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/>
          <p:cNvSpPr txBox="1"/>
          <p:nvPr/>
        </p:nvSpPr>
        <p:spPr>
          <a:xfrm>
            <a:off x="1" y="-71462"/>
            <a:ext cx="9144000" cy="13849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2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Vítězství latiny a první stopy užití češtiny</a:t>
            </a:r>
          </a:p>
          <a:p>
            <a:r>
              <a:rPr lang="cs-CZ" sz="42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  počátek 12. – 1.polovina 13.století</a:t>
            </a:r>
            <a:endParaRPr lang="cs-CZ" sz="42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214282" y="1500174"/>
            <a:ext cx="88582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latinská literatura získává převahu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duchovenstvo opisuje a překládá latinské knihy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postupně se začíná objevovat i čeština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legenda </a:t>
            </a:r>
            <a:r>
              <a:rPr lang="cs-CZ" sz="2800" smtClean="0"/>
              <a:t>- stále populární , veršem, prózou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objevují se však i </a:t>
            </a:r>
            <a:r>
              <a:rPr lang="cs-CZ" sz="2800" b="1" i="1" smtClean="0"/>
              <a:t>kroniky = zlatý věk dějepisectví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drama </a:t>
            </a:r>
            <a:r>
              <a:rPr lang="cs-CZ" sz="2800" smtClean="0"/>
              <a:t>– spjato s vánočními a velikonočními obřady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kazatelské texty – psány latinsky, kázalo se podle nich</a:t>
            </a:r>
          </a:p>
          <a:p>
            <a:r>
              <a:rPr lang="cs-CZ" sz="2800" smtClean="0"/>
              <a:t>     česky 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vznikají   </a:t>
            </a:r>
            <a:r>
              <a:rPr lang="cs-CZ" sz="2800" b="1" i="1" smtClean="0"/>
              <a:t>bohemika</a:t>
            </a:r>
            <a:r>
              <a:rPr lang="cs-CZ" sz="2800" b="1" smtClean="0"/>
              <a:t> </a:t>
            </a:r>
            <a:r>
              <a:rPr lang="cs-CZ" sz="2800" smtClean="0"/>
              <a:t>- česká slova v latinském textu </a:t>
            </a:r>
          </a:p>
          <a:p>
            <a:r>
              <a:rPr lang="cs-CZ" sz="2800" smtClean="0"/>
              <a:t>     ( hlavně místní názvy, osobní jména)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glosy </a:t>
            </a:r>
            <a:r>
              <a:rPr lang="cs-CZ" sz="2800" smtClean="0"/>
              <a:t>(vpisky), většinou český překlad připsaný </a:t>
            </a:r>
          </a:p>
          <a:p>
            <a:r>
              <a:rPr lang="cs-CZ" sz="2800" smtClean="0"/>
              <a:t>     v latinském textu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dorovný svitek 3"/>
          <p:cNvSpPr/>
          <p:nvPr/>
        </p:nvSpPr>
        <p:spPr>
          <a:xfrm>
            <a:off x="1000100" y="1500174"/>
            <a:ext cx="7072362" cy="5000660"/>
          </a:xfrm>
          <a:prstGeom prst="horizont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85720" y="285728"/>
            <a:ext cx="8501122" cy="83099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Ze 13. století pochází i 1. dochovaná česky psaná věta na zakládací listině litoměřické kapituly, která má podobu právnického textu:</a:t>
            </a:r>
          </a:p>
        </p:txBody>
      </p:sp>
      <p:sp>
        <p:nvSpPr>
          <p:cNvPr id="3" name="Obdélník 2"/>
          <p:cNvSpPr/>
          <p:nvPr/>
        </p:nvSpPr>
        <p:spPr>
          <a:xfrm>
            <a:off x="1928794" y="2714620"/>
            <a:ext cx="550072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b="1" smtClean="0">
                <a:solidFill>
                  <a:srgbClr val="002060"/>
                </a:solidFill>
              </a:rPr>
              <a:t>„</a:t>
            </a:r>
            <a:r>
              <a:rPr lang="cs-CZ" sz="3200" b="1" i="1" smtClean="0">
                <a:solidFill>
                  <a:srgbClr val="002060"/>
                </a:solidFill>
              </a:rPr>
              <a:t>Pavel dal jest Ploskovicích zemu, Vlach dal jest Dolas zemu Bogu i svatému Ščepánu se dvěma dušníkoma, Bogučejú a Sedlatú.</a:t>
            </a:r>
            <a:r>
              <a:rPr lang="cs-CZ" sz="3200" b="1" smtClean="0">
                <a:solidFill>
                  <a:srgbClr val="002060"/>
                </a:solidFill>
              </a:rPr>
              <a:t>“</a:t>
            </a:r>
            <a:endParaRPr lang="cs-CZ" sz="3200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3143240" y="-24"/>
            <a:ext cx="2077364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Tvorba :</a:t>
            </a:r>
          </a:p>
        </p:txBody>
      </p:sp>
      <p:sp>
        <p:nvSpPr>
          <p:cNvPr id="3" name="Obdélník 2"/>
          <p:cNvSpPr/>
          <p:nvPr/>
        </p:nvSpPr>
        <p:spPr>
          <a:xfrm>
            <a:off x="214282" y="726493"/>
            <a:ext cx="9072626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b="1" i="1" smtClean="0">
                <a:solidFill>
                  <a:srgbClr val="002060"/>
                </a:solidFill>
              </a:rPr>
              <a:t>Vita minor</a:t>
            </a:r>
            <a:r>
              <a:rPr lang="cs-CZ" sz="2800" smtClean="0"/>
              <a:t> – Menší život, latinská legenda o svatém Prokopovi, psána prózou, byla velmi oblíbena</a:t>
            </a:r>
          </a:p>
          <a:p>
            <a:r>
              <a:rPr lang="cs-CZ" sz="2800" b="1" smtClean="0"/>
              <a:t>Vita maior (Větší život)</a:t>
            </a:r>
            <a:r>
              <a:rPr lang="cs-CZ" sz="2800" smtClean="0"/>
              <a:t> – vznikla až ve 14.století, latinsky, veršovaná legenda o svatém Prokopovi</a:t>
            </a:r>
          </a:p>
          <a:p>
            <a:r>
              <a:rPr lang="cs-CZ" sz="2800" smtClean="0"/>
              <a:t> </a:t>
            </a:r>
            <a:r>
              <a:rPr lang="cs-CZ" sz="2800" b="1" smtClean="0"/>
              <a:t>Versus de passione sancti Adalberti</a:t>
            </a:r>
            <a:r>
              <a:rPr lang="cs-CZ" sz="2800" smtClean="0"/>
              <a:t> – Verše o utrpení svatého Vojtěcha, veršovaná legenda z 1. pol. 12. století</a:t>
            </a:r>
            <a:r>
              <a:rPr lang="cs-CZ" sz="2800" b="1" smtClean="0"/>
              <a:t> </a:t>
            </a:r>
            <a:endParaRPr lang="cs-CZ" sz="2800" smtClean="0"/>
          </a:p>
          <a:p>
            <a:r>
              <a:rPr lang="cs-CZ" sz="2800" b="1" smtClean="0"/>
              <a:t>Letopis Vincenciův</a:t>
            </a:r>
            <a:r>
              <a:rPr lang="cs-CZ" sz="2800" smtClean="0"/>
              <a:t> – oslava vlády Vladislava II.,úspěchy Čechů při tažení Friedricha Barbarossy v Itálii </a:t>
            </a:r>
          </a:p>
          <a:p>
            <a:r>
              <a:rPr lang="cs-CZ" sz="2800" b="1" i="1" smtClean="0">
                <a:solidFill>
                  <a:srgbClr val="002060"/>
                </a:solidFill>
              </a:rPr>
              <a:t>Kronika česká – autor Kosmas, nejdůležitější dílo </a:t>
            </a:r>
          </a:p>
          <a:p>
            <a:r>
              <a:rPr lang="cs-CZ" sz="2800" b="1" i="1" smtClean="0">
                <a:solidFill>
                  <a:srgbClr val="002060"/>
                </a:solidFill>
              </a:rPr>
              <a:t>Kronika kanovníka Vyšehradského</a:t>
            </a:r>
            <a:r>
              <a:rPr lang="cs-CZ" sz="2800" i="1" smtClean="0">
                <a:solidFill>
                  <a:srgbClr val="002060"/>
                </a:solidFill>
              </a:rPr>
              <a:t> </a:t>
            </a:r>
            <a:r>
              <a:rPr lang="cs-CZ" sz="2800" smtClean="0"/>
              <a:t>– vzorem je mu Chronica Boëmorum, slabší, doba 1126 - 1142</a:t>
            </a:r>
            <a:endParaRPr lang="cs-CZ" sz="2800" b="1" i="1" smtClean="0">
              <a:solidFill>
                <a:srgbClr val="002060"/>
              </a:solidFill>
            </a:endParaRPr>
          </a:p>
          <a:p>
            <a:r>
              <a:rPr lang="cs-CZ" sz="2800" b="1" i="1" smtClean="0">
                <a:solidFill>
                  <a:srgbClr val="002060"/>
                </a:solidFill>
              </a:rPr>
              <a:t>Kronika sázavská</a:t>
            </a:r>
            <a:r>
              <a:rPr lang="cs-CZ" sz="2800" i="1" smtClean="0">
                <a:solidFill>
                  <a:srgbClr val="002060"/>
                </a:solidFill>
              </a:rPr>
              <a:t> </a:t>
            </a:r>
            <a:r>
              <a:rPr lang="cs-CZ" sz="2800" smtClean="0"/>
              <a:t>– kronika mnicha sázavského, nespolehlivá </a:t>
            </a:r>
          </a:p>
          <a:p>
            <a:r>
              <a:rPr lang="cs-CZ" sz="2800" b="1" i="1" smtClean="0">
                <a:solidFill>
                  <a:srgbClr val="002060"/>
                </a:solidFill>
              </a:rPr>
              <a:t>Kronika boleslavská</a:t>
            </a:r>
            <a:r>
              <a:rPr lang="cs-CZ" sz="2800" i="1" smtClean="0">
                <a:solidFill>
                  <a:srgbClr val="002060"/>
                </a:solidFill>
              </a:rPr>
              <a:t> </a:t>
            </a:r>
            <a:r>
              <a:rPr lang="cs-CZ" sz="2800" smtClean="0"/>
              <a:t>– poměrně spolehlivá </a:t>
            </a:r>
          </a:p>
          <a:p>
            <a:r>
              <a:rPr lang="cs-CZ" sz="2800" b="1" i="1" smtClean="0">
                <a:solidFill>
                  <a:srgbClr val="002060"/>
                </a:solidFill>
              </a:rPr>
              <a:t>Kronika břeclavská</a:t>
            </a:r>
            <a:r>
              <a:rPr lang="cs-CZ" sz="2800" i="1" smtClean="0">
                <a:solidFill>
                  <a:srgbClr val="002060"/>
                </a:solidFill>
              </a:rPr>
              <a:t> </a:t>
            </a:r>
          </a:p>
          <a:p>
            <a:r>
              <a:rPr lang="cs-CZ" sz="2800" smtClean="0"/>
              <a:t> </a:t>
            </a:r>
          </a:p>
          <a:p>
            <a:endParaRPr lang="cs-CZ" sz="2800" smtClean="0"/>
          </a:p>
          <a:p>
            <a:endParaRPr lang="cs-CZ" sz="2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142844" y="1071546"/>
            <a:ext cx="87154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přelom 12. a 13. stol.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chorál </a:t>
            </a:r>
            <a:r>
              <a:rPr lang="cs-CZ" sz="2800" smtClean="0"/>
              <a:t>( slavnostní píseň)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psána </a:t>
            </a:r>
            <a:r>
              <a:rPr lang="cs-CZ" sz="2800" b="1" i="1" smtClean="0"/>
              <a:t>staročeštinou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3 sloky, později 9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světec je zobrazen jako rytíř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vyspělá forma, složitější styl</a:t>
            </a:r>
          </a:p>
          <a:p>
            <a:r>
              <a:rPr lang="cs-CZ" sz="2800" smtClean="0"/>
              <a:t>      i nápěv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dodnes se hraje </a:t>
            </a:r>
            <a:r>
              <a:rPr lang="cs-CZ" sz="2800" smtClean="0"/>
              <a:t>a zpívá při </a:t>
            </a:r>
          </a:p>
          <a:p>
            <a:r>
              <a:rPr lang="cs-CZ" sz="2800" smtClean="0"/>
              <a:t>     nejslavnostnějších událostech</a:t>
            </a:r>
          </a:p>
          <a:p>
            <a:r>
              <a:rPr lang="cs-CZ" sz="2800" smtClean="0"/>
              <a:t>     souvisejících s českou státností</a:t>
            </a:r>
          </a:p>
          <a:p>
            <a:r>
              <a:rPr lang="cs-CZ" sz="2800" smtClean="0"/>
              <a:t>     ( ale s novou melodií z 15.století)</a:t>
            </a:r>
          </a:p>
          <a:p>
            <a:endParaRPr lang="cs-CZ" sz="2800" smtClean="0"/>
          </a:p>
        </p:txBody>
      </p:sp>
      <p:sp>
        <p:nvSpPr>
          <p:cNvPr id="5" name="Obdélník 4"/>
          <p:cNvSpPr/>
          <p:nvPr/>
        </p:nvSpPr>
        <p:spPr>
          <a:xfrm>
            <a:off x="500034" y="214290"/>
            <a:ext cx="8109015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Svatý Václave, vévodo země české</a:t>
            </a:r>
          </a:p>
        </p:txBody>
      </p:sp>
      <p:pic>
        <p:nvPicPr>
          <p:cNvPr id="16386" name="Picture 2" descr="http://i.lidovky.cz/08/122/lngal/VAL27ddb9_kul3vaclav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6" y="1071546"/>
            <a:ext cx="3482603" cy="46434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vislý svitek 5"/>
          <p:cNvSpPr/>
          <p:nvPr/>
        </p:nvSpPr>
        <p:spPr>
          <a:xfrm>
            <a:off x="4357686" y="214290"/>
            <a:ext cx="4357718" cy="6429420"/>
          </a:xfrm>
          <a:prstGeom prst="vertic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Svislý svitek 2"/>
          <p:cNvSpPr/>
          <p:nvPr/>
        </p:nvSpPr>
        <p:spPr>
          <a:xfrm>
            <a:off x="214282" y="214290"/>
            <a:ext cx="4429156" cy="6429420"/>
          </a:xfrm>
          <a:prstGeom prst="vertic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572132" y="285728"/>
            <a:ext cx="27860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Text současné verze </a:t>
            </a:r>
          </a:p>
        </p:txBody>
      </p:sp>
      <p:sp>
        <p:nvSpPr>
          <p:cNvPr id="5" name="Obdélník 4"/>
          <p:cNvSpPr/>
          <p:nvPr/>
        </p:nvSpPr>
        <p:spPr>
          <a:xfrm>
            <a:off x="4929190" y="1071546"/>
            <a:ext cx="321471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900" b="1" smtClean="0"/>
              <a:t>Svatý Václave, vévodo české země,</a:t>
            </a:r>
            <a:br>
              <a:rPr lang="cs-CZ" sz="1900" b="1" smtClean="0"/>
            </a:br>
            <a:r>
              <a:rPr lang="cs-CZ" sz="1900" b="1" smtClean="0"/>
              <a:t>kníže náš, pros za nás Boha, svatého Ducha!</a:t>
            </a:r>
            <a:br>
              <a:rPr lang="cs-CZ" sz="1900" b="1" smtClean="0"/>
            </a:br>
            <a:r>
              <a:rPr lang="cs-CZ" sz="1900" b="1" smtClean="0"/>
              <a:t>Kriste, eleison.</a:t>
            </a:r>
            <a:br>
              <a:rPr lang="cs-CZ" sz="1900" b="1" smtClean="0"/>
            </a:br>
            <a:r>
              <a:rPr lang="cs-CZ" sz="1900" b="1" smtClean="0"/>
              <a:t/>
            </a:r>
            <a:br>
              <a:rPr lang="cs-CZ" sz="1900" b="1" smtClean="0"/>
            </a:br>
            <a:r>
              <a:rPr lang="cs-CZ" sz="1900" b="1" smtClean="0"/>
              <a:t>Ty jsi dědic české země, rozpomeň se na své plémě,</a:t>
            </a:r>
            <a:br>
              <a:rPr lang="cs-CZ" sz="1900" b="1" smtClean="0"/>
            </a:br>
            <a:r>
              <a:rPr lang="cs-CZ" sz="1900" b="1" smtClean="0"/>
              <a:t>nedej zahynouti nám ni budoucím, svatý Václave!</a:t>
            </a:r>
            <a:br>
              <a:rPr lang="cs-CZ" sz="1900" b="1" smtClean="0"/>
            </a:br>
            <a:r>
              <a:rPr lang="cs-CZ" sz="1900" b="1" smtClean="0"/>
              <a:t>Kriste, eleison.</a:t>
            </a:r>
            <a:br>
              <a:rPr lang="cs-CZ" sz="1900" b="1" smtClean="0"/>
            </a:br>
            <a:r>
              <a:rPr lang="cs-CZ" sz="1900" b="1" smtClean="0"/>
              <a:t/>
            </a:r>
            <a:br>
              <a:rPr lang="cs-CZ" sz="1900" b="1" smtClean="0"/>
            </a:br>
            <a:r>
              <a:rPr lang="cs-CZ" sz="1900" b="1" smtClean="0"/>
              <a:t>Pomoci my tvé žádáme, smiluj se nad námi,</a:t>
            </a:r>
            <a:br>
              <a:rPr lang="cs-CZ" sz="1900" b="1" smtClean="0"/>
            </a:br>
            <a:r>
              <a:rPr lang="cs-CZ" sz="1900" b="1" smtClean="0"/>
              <a:t>utěš smutné, zažeň vše zlé, svatý Václave!</a:t>
            </a:r>
            <a:br>
              <a:rPr lang="cs-CZ" sz="1900" b="1" smtClean="0"/>
            </a:br>
            <a:r>
              <a:rPr lang="cs-CZ" sz="1900" b="1" smtClean="0"/>
              <a:t>Kriste, eleison.</a:t>
            </a:r>
            <a:br>
              <a:rPr lang="cs-CZ" sz="1900" b="1" smtClean="0"/>
            </a:br>
            <a:endParaRPr lang="cs-CZ" sz="1900" b="1"/>
          </a:p>
        </p:txBody>
      </p:sp>
      <p:sp>
        <p:nvSpPr>
          <p:cNvPr id="8" name="Obdélník 7"/>
          <p:cNvSpPr/>
          <p:nvPr/>
        </p:nvSpPr>
        <p:spPr>
          <a:xfrm>
            <a:off x="785786" y="768425"/>
            <a:ext cx="4572000" cy="62324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900" b="1" smtClean="0"/>
              <a:t>Svatý Václave,</a:t>
            </a:r>
          </a:p>
          <a:p>
            <a:r>
              <a:rPr lang="cs-CZ" sz="1900" b="1" smtClean="0"/>
              <a:t>vévodo české země,</a:t>
            </a:r>
            <a:br>
              <a:rPr lang="cs-CZ" sz="1900" b="1" smtClean="0"/>
            </a:br>
            <a:r>
              <a:rPr lang="cs-CZ" sz="1900" b="1" smtClean="0"/>
              <a:t>kněže náš,</a:t>
            </a:r>
          </a:p>
          <a:p>
            <a:r>
              <a:rPr lang="cs-CZ" sz="1900" b="1" smtClean="0"/>
              <a:t> pros za ny Boha,</a:t>
            </a:r>
          </a:p>
          <a:p>
            <a:r>
              <a:rPr lang="cs-CZ" sz="1900" b="1" smtClean="0"/>
              <a:t> svatého Ducha!</a:t>
            </a:r>
            <a:br>
              <a:rPr lang="cs-CZ" sz="1900" b="1" smtClean="0"/>
            </a:br>
            <a:r>
              <a:rPr lang="cs-CZ" sz="1900" b="1" smtClean="0"/>
              <a:t>Kyrieleison!</a:t>
            </a:r>
            <a:br>
              <a:rPr lang="cs-CZ" sz="1900" b="1" smtClean="0"/>
            </a:br>
            <a:r>
              <a:rPr lang="cs-CZ" sz="1900" b="1" smtClean="0"/>
              <a:t/>
            </a:r>
            <a:br>
              <a:rPr lang="cs-CZ" sz="1900" b="1" smtClean="0"/>
            </a:br>
            <a:r>
              <a:rPr lang="cs-CZ" sz="1900" b="1" smtClean="0"/>
              <a:t>Nebeskéť jest dvorstvo krásné,</a:t>
            </a:r>
            <a:br>
              <a:rPr lang="cs-CZ" sz="1900" b="1" smtClean="0"/>
            </a:br>
            <a:r>
              <a:rPr lang="cs-CZ" sz="1900" b="1" smtClean="0"/>
              <a:t>blazě tomu, ktož tam pójde,</a:t>
            </a:r>
            <a:br>
              <a:rPr lang="cs-CZ" sz="1900" b="1" smtClean="0"/>
            </a:br>
            <a:r>
              <a:rPr lang="cs-CZ" sz="1900" b="1" smtClean="0"/>
              <a:t>v život věčný, </a:t>
            </a:r>
          </a:p>
          <a:p>
            <a:r>
              <a:rPr lang="cs-CZ" sz="1900" b="1" smtClean="0"/>
              <a:t>oheň jasný </a:t>
            </a:r>
          </a:p>
          <a:p>
            <a:r>
              <a:rPr lang="cs-CZ" sz="1900" b="1" smtClean="0"/>
              <a:t>svatého Ducha!</a:t>
            </a:r>
            <a:br>
              <a:rPr lang="cs-CZ" sz="1900" b="1" smtClean="0"/>
            </a:br>
            <a:r>
              <a:rPr lang="cs-CZ" sz="1900" b="1" smtClean="0"/>
              <a:t>Kyrieleison!</a:t>
            </a:r>
            <a:br>
              <a:rPr lang="cs-CZ" sz="1900" b="1" smtClean="0"/>
            </a:br>
            <a:r>
              <a:rPr lang="cs-CZ" sz="1900" b="1" smtClean="0"/>
              <a:t/>
            </a:r>
            <a:br>
              <a:rPr lang="cs-CZ" sz="1900" b="1" smtClean="0"/>
            </a:br>
            <a:r>
              <a:rPr lang="cs-CZ" sz="1900" b="1" smtClean="0"/>
              <a:t>Pomoci tvé žádámy,</a:t>
            </a:r>
            <a:br>
              <a:rPr lang="cs-CZ" sz="1900" b="1" smtClean="0"/>
            </a:br>
            <a:r>
              <a:rPr lang="cs-CZ" sz="1900" b="1" smtClean="0"/>
              <a:t>smiluj sě nad námi,</a:t>
            </a:r>
            <a:br>
              <a:rPr lang="cs-CZ" sz="1900" b="1" smtClean="0"/>
            </a:br>
            <a:r>
              <a:rPr lang="cs-CZ" sz="1900" b="1" smtClean="0"/>
              <a:t>utěš smutné, </a:t>
            </a:r>
          </a:p>
          <a:p>
            <a:r>
              <a:rPr lang="cs-CZ" sz="1900" b="1" smtClean="0"/>
              <a:t>otžeň vše zlé,</a:t>
            </a:r>
          </a:p>
          <a:p>
            <a:r>
              <a:rPr lang="cs-CZ" sz="1900" b="1" smtClean="0"/>
              <a:t> svatý Václave!</a:t>
            </a:r>
            <a:br>
              <a:rPr lang="cs-CZ" sz="1900" b="1" smtClean="0"/>
            </a:br>
            <a:r>
              <a:rPr lang="cs-CZ" sz="1900" b="1" smtClean="0"/>
              <a:t>Kyrieleison!</a:t>
            </a:r>
            <a:br>
              <a:rPr lang="cs-CZ" sz="1900" b="1" smtClean="0"/>
            </a:br>
            <a:endParaRPr lang="cs-CZ" sz="19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214546" y="357166"/>
            <a:ext cx="5402954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7030A0"/>
                </a:solidFill>
              </a:rPr>
              <a:t>Kosmas ( 1045 – 1125)</a:t>
            </a:r>
            <a:endParaRPr lang="cs-CZ" sz="4400" b="1">
              <a:ln w="50800"/>
              <a:solidFill>
                <a:srgbClr val="7030A0"/>
              </a:solidFill>
            </a:endParaRPr>
          </a:p>
        </p:txBody>
      </p:sp>
      <p:pic>
        <p:nvPicPr>
          <p:cNvPr id="1026" name="Picture 2" descr="Soubor:Kosmas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071546"/>
            <a:ext cx="2672392" cy="3286148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3000364" y="1000108"/>
            <a:ext cx="61436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první známý český kronikář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založil tradici dějepisectví</a:t>
            </a:r>
            <a:r>
              <a:rPr lang="cs-CZ" sz="2800" smtClean="0"/>
              <a:t> u nás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studoval v belgickém Lutychu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 letech 1120 až 1125 </a:t>
            </a:r>
            <a:r>
              <a:rPr lang="cs-CZ" sz="2800" b="1" i="1" smtClean="0"/>
              <a:t>děkanem </a:t>
            </a:r>
          </a:p>
          <a:p>
            <a:r>
              <a:rPr lang="cs-CZ" sz="2800" b="1" i="1" smtClean="0"/>
              <a:t>     pražské kapituly při sv. Vítu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o jeho životě víme z jeho kroniky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ve službách panovníků podnikl </a:t>
            </a:r>
          </a:p>
          <a:p>
            <a:r>
              <a:rPr lang="cs-CZ" sz="2800" smtClean="0"/>
              <a:t>     diplomatické cesty – Uhry, Německo,</a:t>
            </a:r>
          </a:p>
          <a:p>
            <a:r>
              <a:rPr lang="cs-CZ" sz="2800" smtClean="0"/>
              <a:t>     Itálie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vynikající vypravěč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znalec řecké a římské literatury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manželka Božetěcha ( umírá 1117)</a:t>
            </a:r>
            <a:endParaRPr lang="cs-CZ" sz="2800"/>
          </a:p>
        </p:txBody>
      </p:sp>
      <p:pic>
        <p:nvPicPr>
          <p:cNvPr id="10244" name="Picture 4" descr="http://www.osel.cz/_popisky/118_/s_118286401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4500570"/>
            <a:ext cx="2779385" cy="14287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loket.cz/muzeum/g_komplet/kniha0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71414"/>
            <a:ext cx="5608639" cy="6643710"/>
          </a:xfrm>
          <a:prstGeom prst="rect">
            <a:avLst/>
          </a:prstGeom>
          <a:noFill/>
        </p:spPr>
      </p:pic>
      <p:pic>
        <p:nvPicPr>
          <p:cNvPr id="3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19992" cy="6858000"/>
          </a:xfrm>
          <a:prstGeom prst="rect">
            <a:avLst/>
          </a:prstGeom>
          <a:noFill/>
        </p:spPr>
      </p:pic>
      <p:pic>
        <p:nvPicPr>
          <p:cNvPr id="4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24008" y="0"/>
            <a:ext cx="2019992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428596" y="71414"/>
            <a:ext cx="8616461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Kronika česká - Chronica Boëmorum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214282" y="714356"/>
            <a:ext cx="9026382" cy="6324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700" smtClean="0"/>
              <a:t> také Kosmova kronika, nejstarší naše kronika </a:t>
            </a:r>
          </a:p>
          <a:p>
            <a:r>
              <a:rPr lang="cs-CZ" sz="2700" smtClean="0"/>
              <a:t>     ( její kvality dosáhla až Zbraslavská kronika ze 14.století)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vznikla asi v letech </a:t>
            </a:r>
            <a:r>
              <a:rPr lang="cs-CZ" sz="2700" b="1" i="1" smtClean="0"/>
              <a:t>1119 - 1125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evropská úroveň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</a:t>
            </a:r>
            <a:r>
              <a:rPr lang="cs-CZ" sz="2700" b="1" i="1" smtClean="0"/>
              <a:t>napsána latinsky </a:t>
            </a:r>
            <a:r>
              <a:rPr lang="cs-CZ" sz="2700" smtClean="0"/>
              <a:t>= omezená čtenářská obec </a:t>
            </a:r>
          </a:p>
          <a:p>
            <a:r>
              <a:rPr lang="cs-CZ" sz="2700" smtClean="0"/>
              <a:t>     = vzdělaný klér,velmožská elita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historicky věrohodná 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odchovanec západní kultury = </a:t>
            </a:r>
            <a:r>
              <a:rPr lang="cs-CZ" sz="2700" b="1" i="1" smtClean="0"/>
              <a:t>zamlčuje slovanskou liturgii 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politický cíl = chtěl přispět k upevnění českého státu =</a:t>
            </a:r>
          </a:p>
          <a:p>
            <a:r>
              <a:rPr lang="cs-CZ" sz="2700" smtClean="0"/>
              <a:t>     dílo má </a:t>
            </a:r>
            <a:r>
              <a:rPr lang="cs-CZ" sz="2700" b="1" i="1" smtClean="0"/>
              <a:t>vlastenecký ráz</a:t>
            </a:r>
            <a:r>
              <a:rPr lang="cs-CZ" sz="2700" smtClean="0"/>
              <a:t>, straní v ní katolické církvi,</a:t>
            </a:r>
          </a:p>
          <a:p>
            <a:r>
              <a:rPr lang="cs-CZ" sz="2700" smtClean="0"/>
              <a:t>     zachycuje úspěchy Přemyslovců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vliv Kosmova díla = </a:t>
            </a:r>
            <a:r>
              <a:rPr lang="cs-CZ" sz="2700" b="1" i="1" smtClean="0"/>
              <a:t>výzdoba znojemské rotundy sv. Kateřiny,</a:t>
            </a:r>
          </a:p>
          <a:p>
            <a:r>
              <a:rPr lang="cs-CZ" sz="2700" smtClean="0"/>
              <a:t>     po vzniku kroniky = zobrazení Přemyslovců, pověstí </a:t>
            </a:r>
          </a:p>
          <a:p>
            <a:pPr>
              <a:buFont typeface="Wingdings" pitchFamily="2" charset="2"/>
              <a:buChar char="v"/>
            </a:pPr>
            <a:r>
              <a:rPr lang="cs-CZ" sz="2700" smtClean="0"/>
              <a:t> </a:t>
            </a:r>
            <a:r>
              <a:rPr lang="cs-CZ" sz="2700" b="1" i="1" smtClean="0"/>
              <a:t>líčí české dějiny od nejstarších dob po autorovu současnost </a:t>
            </a:r>
          </a:p>
          <a:p>
            <a:endParaRPr lang="cs-CZ" sz="27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85720" y="357166"/>
            <a:ext cx="9215502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kultivovaná próza, oživena verši, zábavnými </a:t>
            </a:r>
          </a:p>
          <a:p>
            <a:r>
              <a:rPr lang="cs-CZ" sz="2800" b="1" i="1" smtClean="0"/>
              <a:t>     historkami, dialogy a citáty z klasických římských autorů</a:t>
            </a:r>
          </a:p>
          <a:p>
            <a:pPr>
              <a:buFont typeface="Wingdings" pitchFamily="2" charset="2"/>
              <a:buChar char="v"/>
            </a:pPr>
            <a:r>
              <a:rPr lang="cs-CZ" sz="2800" b="1" i="1" smtClean="0"/>
              <a:t> </a:t>
            </a:r>
            <a:r>
              <a:rPr lang="cs-CZ" sz="2800" b="1" smtClean="0"/>
              <a:t>latinský text je proložen </a:t>
            </a:r>
            <a:r>
              <a:rPr lang="cs-CZ" sz="2800" b="1" i="1" smtClean="0"/>
              <a:t>bohemismy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původní </a:t>
            </a:r>
            <a:r>
              <a:rPr lang="cs-CZ" sz="2800" b="1" i="1" smtClean="0"/>
              <a:t>rukopis Kosmovy kroniky se nedochoval 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dnes je známo celkem 15 rukopisů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čerpal z bájesloví (mytologie), vyprávění pamětníků, </a:t>
            </a:r>
          </a:p>
          <a:p>
            <a:r>
              <a:rPr lang="cs-CZ" sz="2800" smtClean="0"/>
              <a:t>     ze svých zážitků 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b="1" i="1" smtClean="0"/>
              <a:t>české pověsti </a:t>
            </a:r>
            <a:r>
              <a:rPr lang="cs-CZ" sz="2800" smtClean="0"/>
              <a:t>- O příchodu Čechů,</a:t>
            </a:r>
          </a:p>
          <a:p>
            <a:r>
              <a:rPr lang="cs-CZ" sz="2800" smtClean="0"/>
              <a:t>     O Krokovi, O Libuši aj.</a:t>
            </a:r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kronika je rozdělena do </a:t>
            </a:r>
            <a:r>
              <a:rPr lang="cs-CZ" sz="2800" b="1" i="1" smtClean="0"/>
              <a:t>tří knih</a:t>
            </a:r>
          </a:p>
          <a:p>
            <a:r>
              <a:rPr lang="cs-CZ" sz="2800" smtClean="0"/>
              <a:t>     - začíná stavbou babylonské věže</a:t>
            </a:r>
          </a:p>
          <a:p>
            <a:r>
              <a:rPr lang="cs-CZ" sz="2800" smtClean="0"/>
              <a:t>       a vznikem Čechů </a:t>
            </a:r>
          </a:p>
          <a:p>
            <a:r>
              <a:rPr lang="cs-CZ" sz="2800" smtClean="0"/>
              <a:t>     - chronologicky pokračuje</a:t>
            </a:r>
          </a:p>
          <a:p>
            <a:r>
              <a:rPr lang="cs-CZ" sz="2800" smtClean="0"/>
              <a:t>       do Kosmovy smrti v r. 1125</a:t>
            </a:r>
          </a:p>
          <a:p>
            <a:endParaRPr lang="cs-CZ" sz="2800" smtClean="0"/>
          </a:p>
          <a:p>
            <a:endParaRPr lang="cs-CZ" sz="2800" smtClean="0"/>
          </a:p>
        </p:txBody>
      </p:sp>
      <p:pic>
        <p:nvPicPr>
          <p:cNvPr id="8196" name="Picture 4" descr="http://www.antikvariatpocta.cz/images/books/kosmova_kronika_cesk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3000372"/>
            <a:ext cx="2471256" cy="3643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Soubor:ZnojmoRotundaKateriny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3429000"/>
            <a:ext cx="3714776" cy="31343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1857356" y="0"/>
            <a:ext cx="5732467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cs typeface="Arial" pitchFamily="34" charset="0"/>
              </a:rPr>
              <a:t>Rotunda svaté Kateřiny 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357158" y="714356"/>
            <a:ext cx="831852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Národní kulturní památka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stojí v areálu přemyslovského hradu ve Znojmě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pochází  z raného středověku, románský sloh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</a:t>
            </a:r>
            <a:r>
              <a:rPr lang="cs-CZ" sz="2800" b="1" i="1" smtClean="0">
                <a:cs typeface="Arial" pitchFamily="34" charset="0"/>
              </a:rPr>
              <a:t>zachované nástěnné malby z roku 1134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>
                <a:cs typeface="Arial" pitchFamily="34" charset="0"/>
              </a:rPr>
              <a:t> malby </a:t>
            </a:r>
            <a:r>
              <a:rPr lang="cs-CZ" sz="2800" b="1" smtClean="0">
                <a:cs typeface="Arial" pitchFamily="34" charset="0"/>
              </a:rPr>
              <a:t>přemyslovských knížat</a:t>
            </a:r>
            <a:r>
              <a:rPr lang="cs-CZ" sz="2800" i="1" smtClean="0">
                <a:cs typeface="Arial" pitchFamily="34" charset="0"/>
              </a:rPr>
              <a:t>, církevní </a:t>
            </a:r>
          </a:p>
          <a:p>
            <a:r>
              <a:rPr lang="cs-CZ" sz="2800" i="1" smtClean="0">
                <a:cs typeface="Arial" pitchFamily="34" charset="0"/>
              </a:rPr>
              <a:t>    náměty, náměty z dějin</a:t>
            </a:r>
          </a:p>
          <a:p>
            <a:pPr>
              <a:buFont typeface="Wingdings" pitchFamily="2" charset="2"/>
              <a:buChar char="v"/>
            </a:pPr>
            <a:endParaRPr lang="cs-CZ" sz="2800" i="1">
              <a:cs typeface="Arial" pitchFamily="34" charset="0"/>
            </a:endParaRPr>
          </a:p>
        </p:txBody>
      </p:sp>
      <p:pic>
        <p:nvPicPr>
          <p:cNvPr id="5" name="Picture 2" descr="Soubor:Boleslav-I-Bohemian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00826" y="2500306"/>
            <a:ext cx="2455349" cy="41434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Obdélník 5"/>
          <p:cNvSpPr/>
          <p:nvPr/>
        </p:nvSpPr>
        <p:spPr>
          <a:xfrm>
            <a:off x="4714876" y="5929330"/>
            <a:ext cx="2643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000" b="1" i="1" smtClean="0">
                <a:cs typeface="Arial" pitchFamily="34" charset="0"/>
              </a:rPr>
              <a:t>Malba Boleslava I. </a:t>
            </a:r>
          </a:p>
          <a:p>
            <a:r>
              <a:rPr lang="cs-CZ" sz="2000" b="1" i="1" smtClean="0">
                <a:cs typeface="Arial" pitchFamily="34" charset="0"/>
              </a:rPr>
              <a:t>v rotundě </a:t>
            </a:r>
            <a:endParaRPr lang="cs-CZ" sz="2000" b="1" i="1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500042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cs-CZ" sz="2800" i="1" smtClean="0"/>
              <a:t> </a:t>
            </a:r>
            <a:r>
              <a:rPr lang="cs-CZ" sz="2800" b="1" i="1" smtClean="0"/>
              <a:t>nepřesná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důležitá část = obsahuje vysvětlení původu českého </a:t>
            </a:r>
          </a:p>
          <a:p>
            <a:r>
              <a:rPr lang="cs-CZ" sz="2800" i="1" smtClean="0"/>
              <a:t>     národa při stavbě babylónské věže ,</a:t>
            </a:r>
            <a:r>
              <a:rPr lang="cs-CZ" sz="2800" b="1" i="1" smtClean="0"/>
              <a:t>příchod do Čech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je zde zdůrazněno, že se jednalo o krajinu neosídlenou a </a:t>
            </a:r>
          </a:p>
          <a:p>
            <a:r>
              <a:rPr lang="cs-CZ" sz="2800" i="1" smtClean="0"/>
              <a:t>     z tohoto hlediska vychází nároky Čechů na její  vlastnictví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soudcem lidu se stal jeden z předáků Krok, později jeho </a:t>
            </a:r>
          </a:p>
          <a:p>
            <a:r>
              <a:rPr lang="cs-CZ" sz="2800" i="1" smtClean="0"/>
              <a:t>     dcera Libuše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národ si přál knížete = </a:t>
            </a:r>
            <a:r>
              <a:rPr lang="cs-CZ" sz="2800" b="1" i="1" smtClean="0"/>
              <a:t>právo přemyslovských knížat </a:t>
            </a:r>
          </a:p>
          <a:p>
            <a:r>
              <a:rPr lang="cs-CZ" sz="2800" i="1" smtClean="0"/>
              <a:t>     </a:t>
            </a:r>
            <a:r>
              <a:rPr lang="cs-CZ" sz="2800" b="1" i="1" smtClean="0"/>
              <a:t>na  vládu nad Čechy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kniha končí smrtí knížete Jaromíra v roce 1035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</a:t>
            </a:r>
            <a:r>
              <a:rPr lang="cs-CZ" sz="2800" b="1" i="1" smtClean="0"/>
              <a:t>obsahuje  přijetí křesťanství za knížete Bořivoje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</a:t>
            </a:r>
            <a:r>
              <a:rPr lang="cs-CZ" sz="2800" b="1" i="1" smtClean="0"/>
              <a:t>život světců sv. Václava,  sv. Vojtěcha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popisuje vládu Boleslava II., přisuzuje mu zásadní podíl</a:t>
            </a:r>
          </a:p>
          <a:p>
            <a:r>
              <a:rPr lang="cs-CZ" sz="2800" i="1" smtClean="0"/>
              <a:t>     na vytvoření přemyslovského státu</a:t>
            </a:r>
            <a:endParaRPr lang="cs-CZ" sz="2800" i="1"/>
          </a:p>
        </p:txBody>
      </p:sp>
      <p:sp>
        <p:nvSpPr>
          <p:cNvPr id="3" name="Obdélník 2"/>
          <p:cNvSpPr/>
          <p:nvPr/>
        </p:nvSpPr>
        <p:spPr>
          <a:xfrm>
            <a:off x="3073604" y="0"/>
            <a:ext cx="2855718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Kniha první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85720" y="233204"/>
            <a:ext cx="871540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cs-CZ" sz="2800" b="1" smtClean="0"/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i="1" smtClean="0"/>
              <a:t>líčí </a:t>
            </a:r>
            <a:r>
              <a:rPr lang="cs-CZ" sz="2800" b="1" i="1" smtClean="0"/>
              <a:t>vývoj českého státu od roku 1038 </a:t>
            </a:r>
            <a:r>
              <a:rPr lang="cs-CZ" sz="2800" i="1" smtClean="0"/>
              <a:t>( 1034 nastupuje</a:t>
            </a:r>
          </a:p>
          <a:p>
            <a:r>
              <a:rPr lang="cs-CZ" sz="2800" i="1" smtClean="0"/>
              <a:t>     Břetislav) do smrti krále Vratislava II. roku </a:t>
            </a:r>
            <a:r>
              <a:rPr lang="cs-CZ" sz="2800" b="1" i="1" smtClean="0"/>
              <a:t>1092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</a:t>
            </a:r>
            <a:r>
              <a:rPr lang="cs-CZ" sz="2800" b="1" i="1" smtClean="0"/>
              <a:t>Břetislava I. hodnotí vysoce kladně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vrchol spatřuje v Břetislavově  výpravě do Polska,</a:t>
            </a:r>
          </a:p>
          <a:p>
            <a:r>
              <a:rPr lang="cs-CZ" sz="2800" i="1" smtClean="0"/>
              <a:t>     v jeho programu křesťanství 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ve sporu mezi králem Vratislavem II. a  jeho bratrem</a:t>
            </a:r>
          </a:p>
          <a:p>
            <a:r>
              <a:rPr lang="cs-CZ" sz="2800" i="1" smtClean="0"/>
              <a:t>     Jaromírem -  pražským biskupem,  Kosmas stojí </a:t>
            </a:r>
          </a:p>
          <a:p>
            <a:r>
              <a:rPr lang="cs-CZ" sz="2800" i="1" smtClean="0"/>
              <a:t>     na straně biskupa</a:t>
            </a:r>
          </a:p>
          <a:p>
            <a:endParaRPr lang="cs-CZ" sz="2800" b="1" smtClean="0"/>
          </a:p>
          <a:p>
            <a:endParaRPr lang="cs-CZ" sz="2800" b="1" smtClean="0"/>
          </a:p>
          <a:p>
            <a:pPr>
              <a:buFont typeface="Wingdings" pitchFamily="2" charset="2"/>
              <a:buChar char="v"/>
            </a:pPr>
            <a:r>
              <a:rPr lang="cs-CZ" sz="2800" smtClean="0"/>
              <a:t> </a:t>
            </a:r>
            <a:r>
              <a:rPr lang="cs-CZ" sz="2800" i="1" smtClean="0"/>
              <a:t>zde je ideálem panovníka Břetislav II.</a:t>
            </a:r>
          </a:p>
          <a:p>
            <a:pPr>
              <a:buFont typeface="Wingdings" pitchFamily="2" charset="2"/>
              <a:buChar char="v"/>
            </a:pPr>
            <a:r>
              <a:rPr lang="cs-CZ" sz="2800" i="1" smtClean="0"/>
              <a:t> </a:t>
            </a:r>
            <a:r>
              <a:rPr lang="cs-CZ" sz="2800" b="1" i="1" smtClean="0"/>
              <a:t>kniha končí smrtí knížete Vladislava I.</a:t>
            </a:r>
          </a:p>
          <a:p>
            <a:r>
              <a:rPr lang="cs-CZ" sz="2800" b="1" i="1" smtClean="0"/>
              <a:t>     v roce 1125</a:t>
            </a:r>
            <a:endParaRPr lang="cs-CZ" sz="2800" b="1" i="1"/>
          </a:p>
        </p:txBody>
      </p:sp>
      <p:pic>
        <p:nvPicPr>
          <p:cNvPr id="6146" name="Picture 2" descr="http://www.czech-books.com/files/imagecache/product/files/KosmovaKronika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40" y="3714752"/>
            <a:ext cx="1905000" cy="2962275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3073604" y="0"/>
            <a:ext cx="3027111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Kniha druhá</a:t>
            </a:r>
          </a:p>
        </p:txBody>
      </p:sp>
      <p:sp>
        <p:nvSpPr>
          <p:cNvPr id="5" name="Obdélník 4"/>
          <p:cNvSpPr/>
          <p:nvPr/>
        </p:nvSpPr>
        <p:spPr>
          <a:xfrm>
            <a:off x="3357554" y="4088319"/>
            <a:ext cx="2641813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Kniha třetí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podzemni-antikvariat.cz/img/foto/f/sl7042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5" y="285728"/>
            <a:ext cx="3952903" cy="5929354"/>
          </a:xfrm>
          <a:prstGeom prst="rect">
            <a:avLst/>
          </a:prstGeom>
          <a:noFill/>
        </p:spPr>
      </p:pic>
      <p:pic>
        <p:nvPicPr>
          <p:cNvPr id="67586" name="Picture 2" descr="http://antikvariat-domecek.cz/files/kosmovakronikaceska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285728"/>
            <a:ext cx="3963644" cy="59293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3108" y="1357860"/>
            <a:ext cx="64294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400" smtClean="0"/>
              <a:t>Kosmova kronika se stala známou již brzy po svém vzniku, byla </a:t>
            </a:r>
            <a:r>
              <a:rPr lang="cs-CZ" sz="2400" b="1" i="1" smtClean="0"/>
              <a:t>často opisována </a:t>
            </a:r>
            <a:r>
              <a:rPr lang="cs-CZ" sz="2400" smtClean="0"/>
              <a:t>a stala se </a:t>
            </a:r>
            <a:r>
              <a:rPr lang="cs-CZ" sz="2400" b="1" i="1" smtClean="0"/>
              <a:t>předlohou pro další pokusy zpracovat české dějiny po roce 1125. </a:t>
            </a:r>
            <a:r>
              <a:rPr lang="cs-CZ" sz="2400" smtClean="0"/>
              <a:t>Těmto kronikářům, kteří na Kosmovu kroniku navázali, se říká </a:t>
            </a:r>
            <a:r>
              <a:rPr lang="cs-CZ" sz="2400" b="1" i="1" smtClean="0"/>
              <a:t>pokračovatelé Kosmovi  </a:t>
            </a:r>
            <a:r>
              <a:rPr lang="cs-CZ" sz="2400" smtClean="0"/>
              <a:t>- </a:t>
            </a:r>
            <a:r>
              <a:rPr lang="cs-CZ" sz="2400" b="1" smtClean="0">
                <a:solidFill>
                  <a:srgbClr val="7030A0"/>
                </a:solidFill>
              </a:rPr>
              <a:t>Kanovník vyšehradský</a:t>
            </a:r>
            <a:r>
              <a:rPr lang="cs-CZ" sz="2400" smtClean="0"/>
              <a:t>, </a:t>
            </a:r>
            <a:r>
              <a:rPr lang="cs-CZ" sz="2400" b="1" smtClean="0">
                <a:solidFill>
                  <a:srgbClr val="7030A0"/>
                </a:solidFill>
              </a:rPr>
              <a:t>Mnich sázavský </a:t>
            </a:r>
            <a:r>
              <a:rPr lang="cs-CZ" sz="2400" smtClean="0"/>
              <a:t>nebo </a:t>
            </a:r>
            <a:r>
              <a:rPr lang="cs-CZ" sz="2400" b="1" smtClean="0">
                <a:solidFill>
                  <a:srgbClr val="7030A0"/>
                </a:solidFill>
              </a:rPr>
              <a:t>Vincentius</a:t>
            </a:r>
            <a:r>
              <a:rPr lang="cs-CZ" sz="2400" smtClean="0"/>
              <a:t>. Kroniku používala většina pozdějších  kronikářů - </a:t>
            </a:r>
            <a:r>
              <a:rPr lang="cs-CZ" sz="2400" b="1" smtClean="0">
                <a:solidFill>
                  <a:srgbClr val="7030A0"/>
                </a:solidFill>
              </a:rPr>
              <a:t>Dalimil, Přibík Pulkava z Radenína</a:t>
            </a:r>
            <a:r>
              <a:rPr lang="cs-CZ" sz="2400" smtClean="0"/>
              <a:t>,</a:t>
            </a:r>
          </a:p>
          <a:p>
            <a:pPr algn="ctr"/>
            <a:r>
              <a:rPr lang="cs-CZ" sz="2400" smtClean="0"/>
              <a:t> je obsažena v </a:t>
            </a:r>
            <a:r>
              <a:rPr lang="cs-CZ" sz="2400" b="1" smtClean="0">
                <a:solidFill>
                  <a:srgbClr val="002060"/>
                </a:solidFill>
              </a:rPr>
              <a:t>Ďáblově bibli </a:t>
            </a:r>
            <a:r>
              <a:rPr lang="cs-CZ" sz="2400" smtClean="0"/>
              <a:t>, </a:t>
            </a:r>
            <a:r>
              <a:rPr lang="cs-CZ" sz="2400" b="1" smtClean="0">
                <a:solidFill>
                  <a:srgbClr val="002060"/>
                </a:solidFill>
              </a:rPr>
              <a:t>Budyšínském rukopisu </a:t>
            </a:r>
            <a:r>
              <a:rPr lang="cs-CZ" sz="2400" smtClean="0"/>
              <a:t>aj.</a:t>
            </a:r>
            <a:endParaRPr lang="cs-CZ" sz="2400"/>
          </a:p>
        </p:txBody>
      </p:sp>
      <p:pic>
        <p:nvPicPr>
          <p:cNvPr id="3" name="Picture 4" descr="http://www.phil.muni.cz/german/mediaev/histsem/obrDet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992" cy="6858000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2500298" y="230667"/>
            <a:ext cx="5598649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Pokračovatelé Kosmovi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1214422"/>
            <a:ext cx="84296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smtClean="0">
                <a:solidFill>
                  <a:srgbClr val="002060"/>
                </a:solidFill>
              </a:rPr>
              <a:t>legendy </a:t>
            </a:r>
            <a:r>
              <a:rPr lang="cs-CZ" sz="2400" b="1" smtClean="0"/>
              <a:t> </a:t>
            </a:r>
            <a:r>
              <a:rPr lang="cs-CZ" sz="2400" smtClean="0"/>
              <a:t>= vyprávění o životě a skutcích světců , doslovný překlad </a:t>
            </a:r>
          </a:p>
          <a:p>
            <a:r>
              <a:rPr lang="cs-CZ" sz="2400" smtClean="0"/>
              <a:t>z latiny „ to, co má být čteno“, vzniká v raném feudalismu. Původně vyprávění o životě lidí prohlášených církví za svaté. Byly zpočátku předčítány při mších a svátcích jako jejich životopisy.</a:t>
            </a:r>
          </a:p>
          <a:p>
            <a:r>
              <a:rPr lang="cs-CZ" sz="2400" b="1" smtClean="0">
                <a:solidFill>
                  <a:srgbClr val="002060"/>
                </a:solidFill>
              </a:rPr>
              <a:t>kapitula</a:t>
            </a:r>
            <a:r>
              <a:rPr lang="cs-CZ" sz="2400" b="1" smtClean="0"/>
              <a:t> </a:t>
            </a:r>
            <a:r>
              <a:rPr lang="cs-CZ" sz="2400" smtClean="0"/>
              <a:t>= sbor kanovníků při hlavním kostele, chrámu</a:t>
            </a:r>
          </a:p>
          <a:p>
            <a:r>
              <a:rPr lang="cs-CZ" sz="2400" b="1" smtClean="0">
                <a:solidFill>
                  <a:srgbClr val="002060"/>
                </a:solidFill>
              </a:rPr>
              <a:t>kanovník </a:t>
            </a:r>
            <a:r>
              <a:rPr lang="cs-CZ" sz="2400" smtClean="0"/>
              <a:t>= duchovní ( kněz) člen kapituly</a:t>
            </a:r>
          </a:p>
          <a:p>
            <a:r>
              <a:rPr lang="cs-CZ" sz="2400" b="1" smtClean="0">
                <a:solidFill>
                  <a:srgbClr val="002060"/>
                </a:solidFill>
              </a:rPr>
              <a:t>pasionály</a:t>
            </a:r>
            <a:r>
              <a:rPr lang="cs-CZ" sz="2400" b="1" smtClean="0"/>
              <a:t> </a:t>
            </a:r>
            <a:r>
              <a:rPr lang="cs-CZ" sz="2400" smtClean="0"/>
              <a:t>= soubory, sbírky životopisů světců a mučedníků</a:t>
            </a:r>
          </a:p>
          <a:p>
            <a:r>
              <a:rPr lang="cs-CZ" sz="2400" b="1" smtClean="0">
                <a:solidFill>
                  <a:srgbClr val="002060"/>
                </a:solidFill>
              </a:rPr>
              <a:t>glosa</a:t>
            </a:r>
            <a:r>
              <a:rPr lang="cs-CZ" sz="2400" b="1" smtClean="0"/>
              <a:t> </a:t>
            </a:r>
            <a:r>
              <a:rPr lang="cs-CZ" sz="2400" smtClean="0"/>
              <a:t>= ve starých textech vysvětlivka k textu ( na okraji nebo uvnitř) ; dnes je glosa rovněž novinářským literárním útvarem</a:t>
            </a:r>
          </a:p>
          <a:p>
            <a:r>
              <a:rPr lang="cs-CZ" sz="2400" b="1" smtClean="0">
                <a:solidFill>
                  <a:srgbClr val="002060"/>
                </a:solidFill>
              </a:rPr>
              <a:t>glosátor</a:t>
            </a:r>
            <a:r>
              <a:rPr lang="cs-CZ" sz="2400" smtClean="0"/>
              <a:t> = písař, který opatřuje text glosami</a:t>
            </a:r>
          </a:p>
          <a:p>
            <a:r>
              <a:rPr lang="cs-CZ" sz="2400" b="1" smtClean="0">
                <a:solidFill>
                  <a:srgbClr val="002060"/>
                </a:solidFill>
              </a:rPr>
              <a:t>proglas </a:t>
            </a:r>
            <a:r>
              <a:rPr lang="cs-CZ" sz="2400" smtClean="0"/>
              <a:t>= předmluva ( předzpěv)</a:t>
            </a:r>
          </a:p>
        </p:txBody>
      </p:sp>
      <p:sp>
        <p:nvSpPr>
          <p:cNvPr id="3" name="Obdélník 2"/>
          <p:cNvSpPr/>
          <p:nvPr/>
        </p:nvSpPr>
        <p:spPr>
          <a:xfrm>
            <a:off x="2928926" y="230667"/>
            <a:ext cx="2388731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Slovníček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užka dolů 6"/>
          <p:cNvSpPr/>
          <p:nvPr/>
        </p:nvSpPr>
        <p:spPr>
          <a:xfrm>
            <a:off x="142844" y="2714620"/>
            <a:ext cx="8929718" cy="3000396"/>
          </a:xfrm>
          <a:prstGeom prst="ribbon">
            <a:avLst/>
          </a:prstGeom>
          <a:solidFill>
            <a:srgbClr val="857B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714612" y="4000504"/>
            <a:ext cx="3786214" cy="1470025"/>
          </a:xfrm>
        </p:spPr>
        <p:txBody>
          <a:bodyPr>
            <a:noAutofit/>
          </a:bodyPr>
          <a:lstStyle/>
          <a:p>
            <a:r>
              <a:rPr lang="cs-CZ" sz="5400" b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13.století</a:t>
            </a:r>
            <a:br>
              <a:rPr lang="cs-CZ" sz="5400" b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</a:br>
            <a:r>
              <a:rPr lang="cs-CZ" sz="5400" b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České země</a:t>
            </a:r>
            <a:endParaRPr lang="cs-CZ" sz="5400" b="1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026" name="Picture 2" descr="C:\Documents and Settings\dana\Dokumenty\Úvodní snímek E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943600"/>
            <a:ext cx="9144000" cy="914400"/>
          </a:xfrm>
          <a:prstGeom prst="rect">
            <a:avLst/>
          </a:prstGeom>
          <a:noFill/>
        </p:spPr>
      </p:pic>
      <p:pic>
        <p:nvPicPr>
          <p:cNvPr id="8" name="Picture 2" descr="Středověká literatur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00108"/>
            <a:ext cx="9144000" cy="2857496"/>
          </a:xfrm>
          <a:prstGeom prst="rect">
            <a:avLst/>
          </a:prstGeom>
          <a:noFill/>
        </p:spPr>
      </p:pic>
      <p:sp>
        <p:nvSpPr>
          <p:cNvPr id="6" name="TextovéPole 5"/>
          <p:cNvSpPr txBox="1"/>
          <p:nvPr/>
        </p:nvSpPr>
        <p:spPr>
          <a:xfrm>
            <a:off x="337887" y="0"/>
            <a:ext cx="866326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5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Na prezentaci navazuje učivo:</a:t>
            </a:r>
            <a:endParaRPr lang="cs-CZ" sz="5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642918"/>
            <a:ext cx="8929718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400" b="1" smtClean="0"/>
              <a:t>http://hroch.spseol.cz/~vac26092/images/Obdobi/pocatkyCZ.png</a:t>
            </a:r>
          </a:p>
          <a:p>
            <a:r>
              <a:rPr lang="cs-CZ" sz="1400" b="1" smtClean="0"/>
              <a:t>http://www.pravoslav.gts.cz/c_m/img/rostisl.jpg</a:t>
            </a:r>
          </a:p>
          <a:p>
            <a:r>
              <a:rPr lang="cs-CZ" sz="1400" b="1" smtClean="0"/>
              <a:t>http://zidenice.farnost.cz/clanky/cyr_met09/kyj_zlomky.jpg</a:t>
            </a:r>
          </a:p>
          <a:p>
            <a:r>
              <a:rPr lang="cs-CZ" sz="1400" b="1" smtClean="0"/>
              <a:t>http://nd03.jxs.cz/378/980/8626eb6760_62328303_o2.jpg</a:t>
            </a:r>
          </a:p>
          <a:p>
            <a:r>
              <a:rPr lang="cs-CZ" sz="1400" b="1" smtClean="0"/>
              <a:t>http://www.pravoslav.gts.cz/c_m/img/cyrmet.gif</a:t>
            </a:r>
          </a:p>
          <a:p>
            <a:r>
              <a:rPr lang="cs-CZ" sz="1400" b="1" smtClean="0"/>
              <a:t>http://ao-institut.cz/Galerie/Ceska-zeme/detail/24-konstantin-a-metodej-na-velehrade.jpg</a:t>
            </a:r>
          </a:p>
          <a:p>
            <a:r>
              <a:rPr lang="cs-CZ" sz="1400" b="1" smtClean="0"/>
              <a:t>http://www.pravoslav.gts.cz/c_m/img/cm_gr_m.jpg</a:t>
            </a:r>
          </a:p>
          <a:p>
            <a:r>
              <a:rPr lang="cs-CZ" sz="1400" b="1" smtClean="0"/>
              <a:t>http://www.dejepis.com/pict/konst_a_metod.jpg</a:t>
            </a:r>
          </a:p>
          <a:p>
            <a:r>
              <a:rPr lang="cs-CZ" sz="1400" b="1" smtClean="0"/>
              <a:t>http://www.farnostvelehrad.cz/Resources/Image/cm2.JPG</a:t>
            </a:r>
          </a:p>
          <a:p>
            <a:r>
              <a:rPr lang="cs-CZ" sz="1400" b="1" smtClean="0"/>
              <a:t>http://www.artforum.sk/userdata/catalog/images/big_57778.jpg</a:t>
            </a:r>
          </a:p>
          <a:p>
            <a:r>
              <a:rPr lang="cs-CZ" sz="1400" b="1" smtClean="0"/>
              <a:t>http://kcjl.upol.cz/htx/litera4.jpg</a:t>
            </a:r>
          </a:p>
          <a:p>
            <a:r>
              <a:rPr lang="cs-CZ" sz="1400" b="1" smtClean="0"/>
              <a:t>http://fotky87.szm.com/metod.jpg</a:t>
            </a:r>
          </a:p>
          <a:p>
            <a:r>
              <a:rPr lang="cs-CZ" sz="1400" b="1" smtClean="0"/>
              <a:t>http://g-ecx.images-amazon.com/images/G/01/ciu/1b/7f/e467c060ada093f8e2fcf110.L._SL500_AA300_.jpg</a:t>
            </a:r>
          </a:p>
          <a:p>
            <a:r>
              <a:rPr lang="cs-CZ" sz="1400" b="1" smtClean="0"/>
              <a:t>http://www.svprokop-sazava.cz/obrazky/fotogalerie/PB300956.JPG</a:t>
            </a:r>
          </a:p>
          <a:p>
            <a:r>
              <a:rPr lang="cs-CZ" sz="1400" b="1" smtClean="0"/>
              <a:t>http://media.novinky.cz/838/178384-top_foto1-y2gek.jpg</a:t>
            </a:r>
          </a:p>
          <a:p>
            <a:r>
              <a:rPr lang="cs-CZ" sz="1400" b="1" smtClean="0"/>
              <a:t>http://www.ldt-vrabov.cz/foto/sternberk_ilustrace_2.jpg</a:t>
            </a:r>
          </a:p>
          <a:p>
            <a:r>
              <a:rPr lang="cs-CZ" sz="1400" b="1" smtClean="0"/>
              <a:t>http://ao-institut.cz/texty/zivotopisy-ceskych-svetcu/img/prokop-sazavsky.jpg</a:t>
            </a:r>
          </a:p>
          <a:p>
            <a:r>
              <a:rPr lang="cs-CZ" sz="1400" b="1" smtClean="0"/>
              <a:t>http://ao-institut.cz/texty/zivotopisy-ceskych-svetcu/img/svaty-prokop.jpg</a:t>
            </a:r>
          </a:p>
          <a:p>
            <a:r>
              <a:rPr lang="cs-CZ" sz="1400" b="1" smtClean="0"/>
              <a:t>http://www.putovanihrocha.cz/fotky2216/vaclav3.jpg</a:t>
            </a:r>
          </a:p>
          <a:p>
            <a:r>
              <a:rPr lang="cs-CZ" sz="1400" b="1" smtClean="0"/>
              <a:t>http://abicko.avcr.cz/miranda2/export/sites/abicko.avcr.cz/cs/archiv/2005/12/obsah/images/b_2005-12-20_221908.jpg</a:t>
            </a:r>
          </a:p>
          <a:p>
            <a:r>
              <a:rPr lang="cs-CZ" sz="1400" b="1" smtClean="0"/>
              <a:t>http://media.rozhlas.cz/_obrazek/02107909.jpeg?im=1&amp;mand=gt&amp;sc_x=400&amp;sc_y=266</a:t>
            </a:r>
          </a:p>
          <a:p>
            <a:r>
              <a:rPr lang="cs-CZ" sz="1400" b="1" smtClean="0"/>
              <a:t>http://www.valentinska.cz/images/31a17eb866710b3dcf013e2e88c90189.jpg</a:t>
            </a:r>
          </a:p>
          <a:p>
            <a:r>
              <a:rPr lang="cs-CZ" sz="1400" b="1" smtClean="0"/>
              <a:t>http://www.pravoslavi-litomerice.cz/images/vaclav.gif</a:t>
            </a:r>
          </a:p>
          <a:p>
            <a:r>
              <a:rPr lang="cs-CZ" sz="1400" b="1" smtClean="0"/>
              <a:t>http://ff.ujep.cz/velimsky/cs_1_1/03CS/kristianova_legenda.jpg</a:t>
            </a:r>
          </a:p>
          <a:p>
            <a:r>
              <a:rPr lang="cs-CZ" sz="1400" b="1" smtClean="0"/>
              <a:t>http://www.cuni.cz/IFORUM-6948-version1-Prazske_hlaholske_zlomky0.jpg</a:t>
            </a:r>
          </a:p>
          <a:p>
            <a:r>
              <a:rPr lang="cs-CZ" sz="1400" b="1" smtClean="0">
                <a:latin typeface="Arial" pitchFamily="34" charset="0"/>
                <a:cs typeface="Arial" pitchFamily="34" charset="0"/>
              </a:rPr>
              <a:t>http://www.veda.cz/dwn/5430/13006B_kodex_vysehradsky.jpg</a:t>
            </a:r>
          </a:p>
          <a:p>
            <a:r>
              <a:rPr lang="cs-CZ" sz="1400" b="1" smtClean="0">
                <a:cs typeface="Arial" pitchFamily="34" charset="0"/>
              </a:rPr>
              <a:t>http://img.ihned.cz/attachment.php/740/27409740/asuv3458BEGKLOk6QWefghpqrxSTUAmn/Kodex.jpg</a:t>
            </a:r>
          </a:p>
          <a:p>
            <a:endParaRPr lang="cs-CZ" sz="1400" b="1" smtClean="0">
              <a:cs typeface="Arial" pitchFamily="34" charset="0"/>
            </a:endParaRPr>
          </a:p>
          <a:p>
            <a:endParaRPr lang="cs-CZ" sz="1400" b="1" smtClean="0">
              <a:latin typeface="Arial" pitchFamily="34" charset="0"/>
              <a:cs typeface="Arial" pitchFamily="34" charset="0"/>
            </a:endParaRPr>
          </a:p>
          <a:p>
            <a:endParaRPr lang="cs-CZ" sz="1400" b="1" smtClean="0">
              <a:latin typeface="Arial" pitchFamily="34" charset="0"/>
              <a:cs typeface="Arial" pitchFamily="34" charset="0"/>
            </a:endParaRPr>
          </a:p>
          <a:p>
            <a:endParaRPr lang="cs-CZ" sz="1400" b="1" smtClean="0"/>
          </a:p>
          <a:p>
            <a:endParaRPr lang="cs-CZ" sz="1400" b="1" smtClean="0"/>
          </a:p>
        </p:txBody>
      </p:sp>
      <p:sp>
        <p:nvSpPr>
          <p:cNvPr id="3" name="TextovéPole 2"/>
          <p:cNvSpPr txBox="1"/>
          <p:nvPr/>
        </p:nvSpPr>
        <p:spPr>
          <a:xfrm>
            <a:off x="214282" y="-24"/>
            <a:ext cx="6348341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Použitá literatura a zdroje:</a:t>
            </a:r>
            <a:endParaRPr lang="cs-CZ" sz="4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214290"/>
            <a:ext cx="871543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400" b="1" smtClean="0"/>
              <a:t>http://www.alescenek.cz/data/produkty/kodex-vysehradsky_academia.jpg</a:t>
            </a:r>
          </a:p>
          <a:p>
            <a:r>
              <a:rPr lang="cs-CZ" sz="1400" b="1" smtClean="0"/>
              <a:t>http://curiavitkov.cz/images/zivot/rakve.jpg</a:t>
            </a:r>
          </a:p>
          <a:p>
            <a:r>
              <a:rPr lang="cs-CZ" sz="1400" b="1" smtClean="0"/>
              <a:t>http://img.radio.cz/pictures/cirkev/svati/vaclav_vysehradsky_kodex2x.jpg</a:t>
            </a:r>
          </a:p>
          <a:p>
            <a:r>
              <a:rPr lang="cs-CZ" sz="1400" b="1" smtClean="0"/>
              <a:t>http://www.quo-sb.cz/evropa1000/galerie/522_kodex.jpg</a:t>
            </a:r>
          </a:p>
          <a:p>
            <a:r>
              <a:rPr lang="cs-CZ" sz="1400" b="1" smtClean="0"/>
              <a:t>http://www.collegium.cz/waldorf/hudba/hdejiny/hospodine.jpg</a:t>
            </a:r>
          </a:p>
          <a:p>
            <a:r>
              <a:rPr lang="cs-CZ" sz="1400" b="1" smtClean="0"/>
              <a:t>http://cs.wikipedia.org/wiki/Po%C4%8D%C3%A1tky_%C4%8Desk%C3%A9_literatury</a:t>
            </a:r>
          </a:p>
          <a:p>
            <a:r>
              <a:rPr lang="cs-CZ" sz="1400" b="1" smtClean="0"/>
              <a:t>http://cs.wikipedia.org/wiki/Soubor:Kosmas.jpg</a:t>
            </a:r>
          </a:p>
          <a:p>
            <a:r>
              <a:rPr lang="cs-CZ" sz="1400" b="1" smtClean="0"/>
              <a:t>http://www.loket.cz/muzeum/g_komplet/kniha028.jpg</a:t>
            </a:r>
          </a:p>
          <a:p>
            <a:r>
              <a:rPr lang="cs-CZ" sz="1400" b="1" smtClean="0"/>
              <a:t>http://www.osel.cz/_popisky/118_/s_1182864018.jpg</a:t>
            </a:r>
          </a:p>
          <a:p>
            <a:r>
              <a:rPr lang="cs-CZ" sz="1400" b="1" smtClean="0"/>
              <a:t>http://www.antikvariat-fenix.cz/img/p/906-1079-large.jpg</a:t>
            </a:r>
          </a:p>
          <a:p>
            <a:r>
              <a:rPr lang="cs-CZ" sz="1400" b="1" smtClean="0"/>
              <a:t>http://www.podzemni-antikvariat.cz/img/foto/f/sl704216.jpg</a:t>
            </a:r>
          </a:p>
          <a:p>
            <a:r>
              <a:rPr lang="cs-CZ" sz="1400" b="1" smtClean="0"/>
              <a:t>http://www.antikvariatpocta.cz/images/books/kosmova_kronika_ceska.jpg</a:t>
            </a:r>
          </a:p>
          <a:p>
            <a:r>
              <a:rPr lang="cs-CZ" sz="1400" b="1" smtClean="0"/>
              <a:t>http://www.czech-books.com/files/imagecache/product/files/KosmovaKronikaB.jpg</a:t>
            </a:r>
          </a:p>
          <a:p>
            <a:r>
              <a:rPr lang="cs-CZ" sz="1400" b="1" smtClean="0"/>
              <a:t>http://antikvariat-domecek.cz/files/kosmovakronikaceska_1.jpg</a:t>
            </a:r>
          </a:p>
          <a:p>
            <a:r>
              <a:rPr lang="cs-CZ" sz="1400" b="1" smtClean="0"/>
              <a:t>http://i.lidovky.cz/08/122/lngal/VAL27ddb9_kul3vaclav.JPG</a:t>
            </a:r>
          </a:p>
          <a:p>
            <a:r>
              <a:rPr lang="cs-CZ" sz="1400" b="1" smtClean="0">
                <a:cs typeface="Arial" pitchFamily="34" charset="0"/>
              </a:rPr>
              <a:t>http://www.balustrada.cz/bratrstvo/grafika/obrazky/nahled/vysehradsky0207.jpg</a:t>
            </a:r>
          </a:p>
          <a:p>
            <a:r>
              <a:rPr lang="cs-CZ" sz="1400" b="1" smtClean="0">
                <a:cs typeface="Arial" pitchFamily="34" charset="0"/>
              </a:rPr>
              <a:t>http://www.ikaros.cz/images/200311/bible5.jpg</a:t>
            </a:r>
            <a:endParaRPr lang="cs-CZ" sz="1400" b="1"/>
          </a:p>
        </p:txBody>
      </p:sp>
      <p:sp>
        <p:nvSpPr>
          <p:cNvPr id="3" name="Obdélník 2"/>
          <p:cNvSpPr/>
          <p:nvPr/>
        </p:nvSpPr>
        <p:spPr>
          <a:xfrm>
            <a:off x="214282" y="3857628"/>
            <a:ext cx="850112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400" b="1" noProof="1" smtClean="0"/>
              <a:t>Vlastní  přípravy do vyučování, výstřižky z novin, časopisů, vyrobené fólie.</a:t>
            </a:r>
          </a:p>
          <a:p>
            <a:r>
              <a:rPr lang="cs-CZ" sz="1400" b="1" smtClean="0"/>
              <a:t>Prokop V.: Dějiny literatury od starověku do počátku 19. století</a:t>
            </a:r>
            <a:r>
              <a:rPr lang="cs-CZ" sz="1400" b="1" i="1" smtClean="0"/>
              <a:t>, </a:t>
            </a:r>
            <a:r>
              <a:rPr lang="cs-CZ" sz="1400" b="1" smtClean="0"/>
              <a:t>Sokolov, 2001</a:t>
            </a:r>
          </a:p>
          <a:p>
            <a:r>
              <a:rPr lang="cs-CZ" sz="1400" b="1" noProof="1" smtClean="0"/>
              <a:t>Martínková, Věra a kol.,: Čítanka 1, Trizonia, Praha, 1991</a:t>
            </a:r>
          </a:p>
          <a:p>
            <a:r>
              <a:rPr lang="cs-CZ" sz="1400" b="1" noProof="1" smtClean="0"/>
              <a:t>Hrabák, Josef, Jeřábek, Dušan, Tichá, Zdenka : Průvodce po dějinách české literatury, Orbis, Praha  1976 </a:t>
            </a:r>
          </a:p>
          <a:p>
            <a:r>
              <a:rPr lang="cs-CZ" sz="1400" b="1" noProof="1" smtClean="0"/>
              <a:t>Balajka, Bohuslav a kol.: Přehledné dějiny literatury, SPN Praha 1970</a:t>
            </a:r>
          </a:p>
          <a:p>
            <a:r>
              <a:rPr lang="cs-CZ" sz="1400" b="1" smtClean="0"/>
              <a:t>Polášková T., Milotová D., Dvořáková Z.: Literatura-přehled středoškolského učiva</a:t>
            </a:r>
            <a:r>
              <a:rPr lang="cs-CZ" sz="1400" b="1" i="1" smtClean="0"/>
              <a:t>, </a:t>
            </a:r>
            <a:r>
              <a:rPr lang="cs-CZ" sz="1400" b="1" smtClean="0"/>
              <a:t>Edice Maturita, Třebíč, 2005</a:t>
            </a:r>
          </a:p>
          <a:p>
            <a:r>
              <a:rPr lang="cs-CZ" sz="1400" b="1" smtClean="0"/>
              <a:t>Augusta P., Honzák F., Picková D., Kubů N. : Dějiny středověku a raného novověku, Práce, Praha 1996</a:t>
            </a:r>
          </a:p>
          <a:p>
            <a:r>
              <a:rPr lang="cs-CZ" sz="1400" b="1" smtClean="0">
                <a:cs typeface="Arial" pitchFamily="34" charset="0"/>
              </a:rPr>
              <a:t>Sochrová, Marie: Dějepis v kostce I, Fragment, Havlíčkův Brod 2004</a:t>
            </a:r>
          </a:p>
          <a:p>
            <a:r>
              <a:rPr lang="cs-CZ" sz="1400" b="1" smtClean="0">
                <a:cs typeface="Arial" pitchFamily="34" charset="0"/>
              </a:rPr>
              <a:t>Čornej, Petr, Čornejová, Ivana, Parkan, František :Středověk a raný novověk, Dějepis pro gymnázia a střední školy, SPN, Praha 2001</a:t>
            </a:r>
            <a:endParaRPr lang="cs-CZ" sz="1400" dirty="0"/>
          </a:p>
        </p:txBody>
      </p:sp>
      <p:sp>
        <p:nvSpPr>
          <p:cNvPr id="4" name="Obdélník 3"/>
          <p:cNvSpPr/>
          <p:nvPr/>
        </p:nvSpPr>
        <p:spPr>
          <a:xfrm>
            <a:off x="214282" y="6334780"/>
            <a:ext cx="771299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2800" b="1" noProof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Zpracovala: Mgr.Kateřina Karbulová, 2O11</a:t>
            </a:r>
            <a:endParaRPr lang="cs-CZ" sz="2800" b="1" noProof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2913</Words>
  <Application>Microsoft Office PowerPoint</Application>
  <PresentationFormat>Předvádění na obrazovce (4:3)</PresentationFormat>
  <Paragraphs>486</Paragraphs>
  <Slides>55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55</vt:i4>
      </vt:variant>
    </vt:vector>
  </HeadingPairs>
  <TitlesOfParts>
    <vt:vector size="56" baseType="lpstr">
      <vt:lpstr>Motiv sady Office</vt:lpstr>
      <vt:lpstr>Snímek 1</vt:lpstr>
      <vt:lpstr>Snímek 2</vt:lpstr>
      <vt:lpstr>Snímek 3</vt:lpstr>
      <vt:lpstr>Snímek 4</vt:lpstr>
      <vt:lpstr>Snímek 5</vt:lpstr>
      <vt:lpstr>Snímek 6</vt:lpstr>
      <vt:lpstr>Snímek 7</vt:lpstr>
      <vt:lpstr>Snímek 8</vt:lpstr>
      <vt:lpstr>Snímek 9</vt:lpstr>
      <vt:lpstr>Snímek 10</vt:lpstr>
      <vt:lpstr>Snímek 11</vt:lpstr>
      <vt:lpstr>Snímek 12</vt:lpstr>
      <vt:lpstr>Snímek 13</vt:lpstr>
      <vt:lpstr>Snímek 14</vt:lpstr>
      <vt:lpstr>Snímek 15</vt:lpstr>
      <vt:lpstr>Snímek 16</vt:lpstr>
      <vt:lpstr>Snímek 17</vt:lpstr>
      <vt:lpstr>Snímek 18</vt:lpstr>
      <vt:lpstr>Snímek 19</vt:lpstr>
      <vt:lpstr>Snímek 20</vt:lpstr>
      <vt:lpstr>Snímek 21</vt:lpstr>
      <vt:lpstr>Snímek 22</vt:lpstr>
      <vt:lpstr>Snímek 23</vt:lpstr>
      <vt:lpstr>Snímek 24</vt:lpstr>
      <vt:lpstr>Snímek 25</vt:lpstr>
      <vt:lpstr>Snímek 26</vt:lpstr>
      <vt:lpstr>Snímek 27</vt:lpstr>
      <vt:lpstr>Snímek 28</vt:lpstr>
      <vt:lpstr>Snímek 29</vt:lpstr>
      <vt:lpstr>Snímek 30</vt:lpstr>
      <vt:lpstr>Snímek 31</vt:lpstr>
      <vt:lpstr>Snímek 32</vt:lpstr>
      <vt:lpstr>Snímek 33</vt:lpstr>
      <vt:lpstr>Snímek 34</vt:lpstr>
      <vt:lpstr>Snímek 35</vt:lpstr>
      <vt:lpstr>Snímek 36</vt:lpstr>
      <vt:lpstr>Snímek 37</vt:lpstr>
      <vt:lpstr>Snímek 38</vt:lpstr>
      <vt:lpstr>Snímek 39</vt:lpstr>
      <vt:lpstr>Snímek 40</vt:lpstr>
      <vt:lpstr>Snímek 41</vt:lpstr>
      <vt:lpstr>Snímek 42</vt:lpstr>
      <vt:lpstr>Snímek 43</vt:lpstr>
      <vt:lpstr>Snímek 44</vt:lpstr>
      <vt:lpstr>Snímek 45</vt:lpstr>
      <vt:lpstr>Snímek 46</vt:lpstr>
      <vt:lpstr>Snímek 47</vt:lpstr>
      <vt:lpstr>Snímek 48</vt:lpstr>
      <vt:lpstr>Snímek 49</vt:lpstr>
      <vt:lpstr>Snímek 50</vt:lpstr>
      <vt:lpstr>Snímek 51</vt:lpstr>
      <vt:lpstr>Snímek 52</vt:lpstr>
      <vt:lpstr>13.století České země</vt:lpstr>
      <vt:lpstr>Snímek 54</vt:lpstr>
      <vt:lpstr>Snímek 55</vt:lpstr>
    </vt:vector>
  </TitlesOfParts>
  <Company>pc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Počátky českého písemnictví</dc:title>
  <dc:creator>dana</dc:creator>
  <cp:lastModifiedBy>Dum</cp:lastModifiedBy>
  <cp:revision>73</cp:revision>
  <dcterms:created xsi:type="dcterms:W3CDTF">2011-01-23T00:33:36Z</dcterms:created>
  <dcterms:modified xsi:type="dcterms:W3CDTF">2012-05-21T20:57:23Z</dcterms:modified>
</cp:coreProperties>
</file>