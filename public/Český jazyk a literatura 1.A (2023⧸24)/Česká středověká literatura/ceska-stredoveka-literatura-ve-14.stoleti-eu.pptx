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1" r:id="rId3"/>
    <p:sldId id="272" r:id="rId4"/>
    <p:sldId id="273" r:id="rId5"/>
    <p:sldId id="280" r:id="rId6"/>
    <p:sldId id="281" r:id="rId7"/>
    <p:sldId id="283" r:id="rId8"/>
    <p:sldId id="275" r:id="rId9"/>
    <p:sldId id="266" r:id="rId10"/>
    <p:sldId id="274" r:id="rId11"/>
    <p:sldId id="278" r:id="rId12"/>
    <p:sldId id="279" r:id="rId13"/>
    <p:sldId id="276" r:id="rId14"/>
    <p:sldId id="284" r:id="rId15"/>
    <p:sldId id="286" r:id="rId16"/>
    <p:sldId id="267" r:id="rId17"/>
    <p:sldId id="268" r:id="rId18"/>
    <p:sldId id="269" r:id="rId19"/>
    <p:sldId id="287" r:id="rId20"/>
    <p:sldId id="285" r:id="rId21"/>
    <p:sldId id="270" r:id="rId22"/>
    <p:sldId id="295" r:id="rId23"/>
    <p:sldId id="294" r:id="rId24"/>
    <p:sldId id="293" r:id="rId25"/>
    <p:sldId id="260" r:id="rId26"/>
    <p:sldId id="298" r:id="rId27"/>
    <p:sldId id="297" r:id="rId28"/>
    <p:sldId id="261" r:id="rId29"/>
    <p:sldId id="301" r:id="rId30"/>
    <p:sldId id="291" r:id="rId31"/>
    <p:sldId id="292" r:id="rId32"/>
    <p:sldId id="299" r:id="rId33"/>
    <p:sldId id="263" r:id="rId34"/>
    <p:sldId id="264" r:id="rId35"/>
    <p:sldId id="296" r:id="rId36"/>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7" autoAdjust="0"/>
    <p:restoredTop sz="94660"/>
  </p:normalViewPr>
  <p:slideViewPr>
    <p:cSldViewPr>
      <p:cViewPr varScale="1">
        <p:scale>
          <a:sx n="103" d="100"/>
          <a:sy n="103" d="100"/>
        </p:scale>
        <p:origin x="-16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smtClean="0"/>
              <a:t>Klepnutím lze upravit styl předlohy nadpisů.</a:t>
            </a:r>
            <a:endParaRPr lang="cs-CZ"/>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smtClean="0"/>
              <a:t>Klepnutím lze upravit styl předlohy podnadpisů.</a:t>
            </a:r>
            <a:endParaRPr lang="cs-CZ"/>
          </a:p>
        </p:txBody>
      </p:sp>
      <p:sp>
        <p:nvSpPr>
          <p:cNvPr id="4" name="Zástupný symbol pro datum 3"/>
          <p:cNvSpPr>
            <a:spLocks noGrp="1"/>
          </p:cNvSpPr>
          <p:nvPr>
            <p:ph type="dt" sz="half" idx="10"/>
          </p:nvPr>
        </p:nvSpPr>
        <p:spPr/>
        <p:txBody>
          <a:body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Klepnutím lze upravit styl předlohy nadpisů.</a:t>
            </a:r>
            <a:endParaRPr lang="cs-CZ"/>
          </a:p>
        </p:txBody>
      </p:sp>
      <p:sp>
        <p:nvSpPr>
          <p:cNvPr id="3" name="Zástupný symbol pro obsah 2"/>
          <p:cNvSpPr>
            <a:spLocks noGrp="1"/>
          </p:cNvSpPr>
          <p:nvPr>
            <p:ph idx="1"/>
          </p:nvPr>
        </p:nvSpPr>
        <p:spPr/>
        <p:txBody>
          <a:body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smtClean="0"/>
              <a:t>Klepnutím lze upravit styl předlohy nadpisů.</a:t>
            </a:r>
            <a:endParaRPr lang="cs-CZ"/>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smtClean="0"/>
              <a:t>Klepnutím lze upravit styly předlohy textu.</a:t>
            </a:r>
          </a:p>
        </p:txBody>
      </p:sp>
      <p:sp>
        <p:nvSpPr>
          <p:cNvPr id="4" name="Zástupný symbol pro datum 3"/>
          <p:cNvSpPr>
            <a:spLocks noGrp="1"/>
          </p:cNvSpPr>
          <p:nvPr>
            <p:ph type="dt" sz="half" idx="10"/>
          </p:nvPr>
        </p:nvSpPr>
        <p:spPr/>
        <p:txBody>
          <a:body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Klepnutím lze upravit styl předlohy nadpisů.</a:t>
            </a:r>
            <a:endParaRPr lang="cs-CZ"/>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5" name="Zástupný symbol pro datum 4"/>
          <p:cNvSpPr>
            <a:spLocks noGrp="1"/>
          </p:cNvSpPr>
          <p:nvPr>
            <p:ph type="dt" sz="half" idx="10"/>
          </p:nvPr>
        </p:nvSpPr>
        <p:spPr/>
        <p:txBody>
          <a:bodyPr/>
          <a:lstStyle/>
          <a:p>
            <a:fld id="{8CE7A1AC-8644-4F9B-A882-867DCFDD09F3}" type="datetimeFigureOut">
              <a:rPr lang="cs-CZ" smtClean="0"/>
              <a:pPr/>
              <a:t>21.5.2012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smtClean="0"/>
              <a:t>Klepnutím lze upravit styl předlohy nadpisů.</a:t>
            </a:r>
            <a:endParaRPr lang="cs-CZ"/>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Klepnutím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Klepnutím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7" name="Zástupný symbol pro datum 6"/>
          <p:cNvSpPr>
            <a:spLocks noGrp="1"/>
          </p:cNvSpPr>
          <p:nvPr>
            <p:ph type="dt" sz="half" idx="10"/>
          </p:nvPr>
        </p:nvSpPr>
        <p:spPr/>
        <p:txBody>
          <a:bodyPr/>
          <a:lstStyle/>
          <a:p>
            <a:fld id="{8CE7A1AC-8644-4F9B-A882-867DCFDD09F3}" type="datetimeFigureOut">
              <a:rPr lang="cs-CZ" smtClean="0"/>
              <a:pPr/>
              <a:t>21.5.2012</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Klepnutím lze upravit styl předlohy nadpisů.</a:t>
            </a:r>
            <a:endParaRPr lang="cs-CZ"/>
          </a:p>
        </p:txBody>
      </p:sp>
      <p:sp>
        <p:nvSpPr>
          <p:cNvPr id="3" name="Zástupný symbol pro datum 2"/>
          <p:cNvSpPr>
            <a:spLocks noGrp="1"/>
          </p:cNvSpPr>
          <p:nvPr>
            <p:ph type="dt" sz="half" idx="10"/>
          </p:nvPr>
        </p:nvSpPr>
        <p:spPr/>
        <p:txBody>
          <a:bodyPr/>
          <a:lstStyle/>
          <a:p>
            <a:fld id="{8CE7A1AC-8644-4F9B-A882-867DCFDD09F3}" type="datetimeFigureOut">
              <a:rPr lang="cs-CZ" smtClean="0"/>
              <a:pPr/>
              <a:t>21.5.2012</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8CE7A1AC-8644-4F9B-A882-867DCFDD09F3}" type="datetimeFigureOut">
              <a:rPr lang="cs-CZ" smtClean="0"/>
              <a:pPr/>
              <a:t>21.5.2012</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smtClean="0"/>
              <a:t>Klepnutím lze upravit styl předlohy nadpisů.</a:t>
            </a:r>
            <a:endParaRPr lang="cs-CZ"/>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smtClean="0"/>
              <a:t>Klepnutím lze upravit styly předlohy textu.</a:t>
            </a:r>
          </a:p>
        </p:txBody>
      </p:sp>
      <p:sp>
        <p:nvSpPr>
          <p:cNvPr id="5" name="Zástupný symbol pro datum 4"/>
          <p:cNvSpPr>
            <a:spLocks noGrp="1"/>
          </p:cNvSpPr>
          <p:nvPr>
            <p:ph type="dt" sz="half" idx="10"/>
          </p:nvPr>
        </p:nvSpPr>
        <p:spPr/>
        <p:txBody>
          <a:bodyPr/>
          <a:lstStyle/>
          <a:p>
            <a:fld id="{8CE7A1AC-8644-4F9B-A882-867DCFDD09F3}" type="datetimeFigureOut">
              <a:rPr lang="cs-CZ" smtClean="0"/>
              <a:pPr/>
              <a:t>21.5.2012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smtClean="0"/>
              <a:t>Klepnutím lze upravit styl předlohy nadpisů.</a:t>
            </a:r>
            <a:endParaRPr lang="cs-CZ"/>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smtClean="0"/>
              <a:t>Klepnutím lze upravit styly předlohy textu.</a:t>
            </a:r>
          </a:p>
        </p:txBody>
      </p:sp>
      <p:sp>
        <p:nvSpPr>
          <p:cNvPr id="5" name="Zástupný symbol pro datum 4"/>
          <p:cNvSpPr>
            <a:spLocks noGrp="1"/>
          </p:cNvSpPr>
          <p:nvPr>
            <p:ph type="dt" sz="half" idx="10"/>
          </p:nvPr>
        </p:nvSpPr>
        <p:spPr/>
        <p:txBody>
          <a:bodyPr/>
          <a:lstStyle/>
          <a:p>
            <a:fld id="{8CE7A1AC-8644-4F9B-A882-867DCFDD09F3}" type="datetimeFigureOut">
              <a:rPr lang="cs-CZ" smtClean="0"/>
              <a:pPr/>
              <a:t>21.5.2012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Klepnutím lze upravit styl předlohy nadpisů.</a:t>
            </a:r>
            <a:endParaRPr lang="cs-CZ"/>
          </a:p>
        </p:txBody>
      </p:sp>
      <p:sp>
        <p:nvSpPr>
          <p:cNvPr id="3" name="Zástupný symbol pro svislý text 2"/>
          <p:cNvSpPr>
            <a:spLocks noGrp="1"/>
          </p:cNvSpPr>
          <p:nvPr>
            <p:ph type="body" orient="vert" idx="1"/>
          </p:nvPr>
        </p:nvSpPr>
        <p:spPr/>
        <p:txBody>
          <a:bodyPr vert="eaVert"/>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smtClean="0"/>
              <a:t>Klepnutím lze upravit styl předlohy nadpisů.</a:t>
            </a:r>
            <a:endParaRPr lang="cs-CZ"/>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5B447E17-D939-45E2-B2D8-25770A30150C}" type="slidenum">
              <a:rPr lang="cs-CZ" smtClean="0"/>
              <a:pPr/>
              <a:t>‹#›</a:t>
            </a:fld>
            <a:endParaRPr lang="cs-CZ"/>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DCAC"/>
            </a:gs>
            <a:gs pos="12000">
              <a:srgbClr val="E6D78A"/>
            </a:gs>
            <a:gs pos="30000">
              <a:srgbClr val="C7AC4C"/>
            </a:gs>
            <a:gs pos="45000">
              <a:srgbClr val="E6D78A"/>
            </a:gs>
            <a:gs pos="77000">
              <a:srgbClr val="C7AC4C"/>
            </a:gs>
            <a:gs pos="100000">
              <a:srgbClr val="E6DCAC"/>
            </a:gs>
          </a:gsLst>
          <a:lin ang="5400000" scaled="0"/>
          <a:tileRect/>
        </a:gradFill>
        <a:effectLst/>
      </p:bgPr>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smtClean="0"/>
              <a:t>Klepnutím lze upravit styl předlohy nadpisů.</a:t>
            </a:r>
            <a:endParaRPr lang="cs-CZ"/>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smtClean="0"/>
              <a:t>Klepnutím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7A1AC-8644-4F9B-A882-867DCFDD09F3}" type="datetimeFigureOut">
              <a:rPr lang="cs-CZ" smtClean="0"/>
              <a:pPr/>
              <a:t>21.5.2012</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447E17-D939-45E2-B2D8-25770A30150C}" type="slidenum">
              <a:rPr lang="cs-CZ" smtClean="0"/>
              <a:pPr/>
              <a:t>‹#›</a:t>
            </a:fld>
            <a:endParaRPr lang="cs-CZ"/>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upload.wikimedia.org/wikipedia/commons/2/28/KAREL4_pouceninastupcum.jpg" TargetMode="Externa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hyperlink" Target="http://upload.wikimedia.org/wikipedia/commons/1/16/Charles_IV-John_Ocko_votive_picture-fragment.jp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upload.wikimedia.org/wikipedia/commons/8/8b/Josef_Mathauser_-_Kn%C3%AD%C5%BEe_Old%C5%99ich_se_setk%C3%A1v%C3%A1_s_poustevn%C3%ADkem_Prokopem.jpg" TargetMode="Externa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hyperlink" Target="http://upload.wikimedia.org/wikipedia/commons/2/2a/Nepomucky2-20061.jp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upload.wikimedia.org/wikipedia/commons/c/c7/Michelangelo_Caravaggio_060.jpg" TargetMode="Externa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hyperlink" Target="http://cs.wikipedia.org/wiki/Soubor:Michelangelo_Caravaggio_060.jp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cs.wikipedia.org/wiki/Soubor:Katharinaklosteret.jpg" TargetMode="Externa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hyperlink" Target="http://upload.wikimedia.org/wikipedia/commons/6/6b/Katharinenkloster_Sinai_BW_2.jp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11.png"/><Relationship Id="rId2" Type="http://schemas.openxmlformats.org/officeDocument/2006/relationships/hyperlink" Target="http://upload.wikimedia.org/wikipedia/commons/2/29/Marco_Polo,_Il_Milione,_Chapter_CXXIII_and_CXXIV.jpg" TargetMode="External"/><Relationship Id="rId1" Type="http://schemas.openxmlformats.org/officeDocument/2006/relationships/slideLayout" Target="../slideLayouts/slideLayout7.xml"/><Relationship Id="rId6" Type="http://schemas.openxmlformats.org/officeDocument/2006/relationships/hyperlink" Target="http://cs.wikipedia.org/wiki/Soubor:Marco_Polo_traveling.JPG" TargetMode="External"/><Relationship Id="rId5" Type="http://schemas.openxmlformats.org/officeDocument/2006/relationships/image" Target="../media/image19.jpeg"/><Relationship Id="rId4" Type="http://schemas.openxmlformats.org/officeDocument/2006/relationships/hyperlink" Target="http://upload.wikimedia.org/wikipedia/commons/a/a8/Marco_Polo_traveling.JPG"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upload.wikimedia.org/wikipedia/commons/5/54/Marco_Polo_portrait.jpg" TargetMode="Externa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hyperlink" Target="http://upload.wikimedia.org/wikipedia/commons/d/df/PoloBrotherAndKubilai.JPG"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hyperlink" Target="http://upload.wikimedia.org/wikipedia/commons/a/a0/Buchdrucker-1568.png" TargetMode="External"/><Relationship Id="rId1" Type="http://schemas.openxmlformats.org/officeDocument/2006/relationships/slideLayout" Target="../slideLayouts/slideLayout7.xml"/><Relationship Id="rId6" Type="http://schemas.openxmlformats.org/officeDocument/2006/relationships/hyperlink" Target="http://cs.wikipedia.org/wiki/Soubor:Garamond_type_fi-ligature.jpg" TargetMode="External"/><Relationship Id="rId5" Type="http://schemas.openxmlformats.org/officeDocument/2006/relationships/image" Target="../media/image23.jpeg"/><Relationship Id="rId4" Type="http://schemas.openxmlformats.org/officeDocument/2006/relationships/hyperlink" Target="http://upload.wikimedia.org/wikipedia/commons/0/07/Garamond_type_fi-ligature.jpg" TargetMode="External"/><Relationship Id="rId9" Type="http://schemas.openxmlformats.org/officeDocument/2006/relationships/image" Target="../media/image25.jpeg"/></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hyperlink" Target="http://upload.wikimedia.org/wikipedia/commons/8/87/Baldung_stallknecht.jpg"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tužka dolů 3"/>
          <p:cNvSpPr/>
          <p:nvPr/>
        </p:nvSpPr>
        <p:spPr>
          <a:xfrm>
            <a:off x="0" y="2857496"/>
            <a:ext cx="9144000" cy="2786082"/>
          </a:xfrm>
          <a:prstGeom prst="ribbon">
            <a:avLst/>
          </a:prstGeom>
          <a:solidFill>
            <a:srgbClr val="857B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solidFill>
                <a:schemeClr val="bg2">
                  <a:lumMod val="50000"/>
                </a:schemeClr>
              </a:solidFill>
            </a:endParaRPr>
          </a:p>
        </p:txBody>
      </p:sp>
      <p:sp>
        <p:nvSpPr>
          <p:cNvPr id="9" name="Obdélník 8"/>
          <p:cNvSpPr/>
          <p:nvPr/>
        </p:nvSpPr>
        <p:spPr>
          <a:xfrm>
            <a:off x="2357422" y="3500438"/>
            <a:ext cx="6500858" cy="1754326"/>
          </a:xfrm>
          <a:prstGeom prst="rect">
            <a:avLst/>
          </a:prstGeom>
        </p:spPr>
        <p:txBody>
          <a:bodyPr wrap="squar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5400" b="1" dirty="0" smtClean="0">
                <a:ln/>
                <a:solidFill>
                  <a:schemeClr val="accent3">
                    <a:lumMod val="50000"/>
                  </a:schemeClr>
                </a:solidFill>
              </a:rPr>
              <a:t>    </a:t>
            </a:r>
          </a:p>
          <a:p>
            <a:r>
              <a:rPr lang="cs-CZ" sz="5400" b="1" dirty="0" smtClean="0">
                <a:ln/>
                <a:solidFill>
                  <a:schemeClr val="accent3">
                    <a:lumMod val="50000"/>
                  </a:schemeClr>
                </a:solidFill>
              </a:rPr>
              <a:t> </a:t>
            </a:r>
            <a:r>
              <a:rPr lang="cs-CZ" sz="5400" b="1" dirty="0" smtClean="0">
                <a:ln/>
                <a:solidFill>
                  <a:srgbClr val="FFFF00"/>
                </a:solidFill>
              </a:rPr>
              <a:t>Doba Karla IV.</a:t>
            </a:r>
          </a:p>
        </p:txBody>
      </p:sp>
      <p:pic>
        <p:nvPicPr>
          <p:cNvPr id="10" name="Picture 2" descr="Středověká literatura"/>
          <p:cNvPicPr>
            <a:picLocks noChangeAspect="1" noChangeArrowheads="1"/>
          </p:cNvPicPr>
          <p:nvPr/>
        </p:nvPicPr>
        <p:blipFill>
          <a:blip r:embed="rId2" cstate="print"/>
          <a:srcRect/>
          <a:stretch>
            <a:fillRect/>
          </a:stretch>
        </p:blipFill>
        <p:spPr bwMode="auto">
          <a:xfrm>
            <a:off x="0" y="0"/>
            <a:ext cx="9525000" cy="2857500"/>
          </a:xfrm>
          <a:prstGeom prst="rect">
            <a:avLst/>
          </a:prstGeom>
          <a:noFill/>
        </p:spPr>
      </p:pic>
      <p:sp>
        <p:nvSpPr>
          <p:cNvPr id="11" name="Nadpis 1"/>
          <p:cNvSpPr txBox="1">
            <a:spLocks/>
          </p:cNvSpPr>
          <p:nvPr/>
        </p:nvSpPr>
        <p:spPr>
          <a:xfrm>
            <a:off x="2714612" y="3286124"/>
            <a:ext cx="3786214" cy="1470025"/>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cs-CZ" sz="6000" b="1" i="0" u="none" strike="noStrike" kern="1200" cap="none" spc="0" normalizeH="0" baseline="0" noProof="0" dirty="0" smtClean="0">
                <a:ln w="17780" cmpd="sng">
                  <a:solidFill>
                    <a:srgbClr val="FFFFFF"/>
                  </a:solidFill>
                  <a:prstDash val="solid"/>
                  <a:miter lim="800000"/>
                </a:ln>
                <a:solidFill>
                  <a:srgbClr val="FFFF00"/>
                </a:solidFill>
                <a:effectLst>
                  <a:outerShdw blurRad="50800" algn="tl" rotWithShape="0">
                    <a:srgbClr val="000000"/>
                  </a:outerShdw>
                </a:effectLst>
                <a:uLnTx/>
                <a:uFillTx/>
                <a:latin typeface="+mj-lt"/>
                <a:ea typeface="+mj-ea"/>
                <a:cs typeface="+mj-cs"/>
              </a:rPr>
              <a:t>14.století</a:t>
            </a:r>
            <a:endParaRPr kumimoji="0" lang="cs-CZ" sz="6000" b="1" i="0" u="none" strike="noStrike" kern="1200" cap="none" spc="0" normalizeH="0" baseline="0" noProof="0" dirty="0">
              <a:ln w="17780" cmpd="sng">
                <a:solidFill>
                  <a:srgbClr val="FFFFFF"/>
                </a:solidFill>
                <a:prstDash val="solid"/>
                <a:miter lim="800000"/>
              </a:ln>
              <a:solidFill>
                <a:srgbClr val="FFFF00"/>
              </a:solidFill>
              <a:effectLst>
                <a:outerShdw blurRad="50800" algn="tl" rotWithShape="0">
                  <a:srgbClr val="000000"/>
                </a:outerShdw>
              </a:effectLst>
              <a:uLnTx/>
              <a:uFillTx/>
              <a:latin typeface="+mj-lt"/>
              <a:ea typeface="+mj-ea"/>
              <a:cs typeface="+mj-cs"/>
            </a:endParaRPr>
          </a:p>
        </p:txBody>
      </p:sp>
      <p:sp>
        <p:nvSpPr>
          <p:cNvPr id="7" name="TextovéPole 6"/>
          <p:cNvSpPr txBox="1"/>
          <p:nvPr/>
        </p:nvSpPr>
        <p:spPr>
          <a:xfrm>
            <a:off x="611560" y="6237312"/>
            <a:ext cx="7882864" cy="369332"/>
          </a:xfrm>
          <a:prstGeom prst="rect">
            <a:avLst/>
          </a:prstGeom>
          <a:noFill/>
        </p:spPr>
        <p:txBody>
          <a:bodyPr wrap="none" rtlCol="0">
            <a:spAutoFit/>
          </a:bodyPr>
          <a:lstStyle/>
          <a:p>
            <a:r>
              <a:rPr lang="cs-CZ" dirty="0" smtClean="0"/>
              <a:t>Mgr. Kateřina </a:t>
            </a:r>
            <a:r>
              <a:rPr lang="cs-CZ" dirty="0" err="1" smtClean="0"/>
              <a:t>Karbulová</a:t>
            </a:r>
            <a:r>
              <a:rPr lang="cs-CZ" dirty="0" smtClean="0"/>
              <a:t>, Sportovní gymnázium Dany a Emila </a:t>
            </a:r>
            <a:r>
              <a:rPr lang="cs-CZ" dirty="0" err="1" smtClean="0"/>
              <a:t>Zátopkových</a:t>
            </a:r>
            <a:r>
              <a:rPr lang="cs-CZ" dirty="0" smtClean="0"/>
              <a:t>, Ostrava</a:t>
            </a:r>
            <a:endParaRPr lang="cs-CZ"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3500430" y="0"/>
            <a:ext cx="2159950" cy="923330"/>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5400" b="1" dirty="0" smtClean="0">
                <a:ln/>
                <a:solidFill>
                  <a:schemeClr val="accent3">
                    <a:lumMod val="50000"/>
                  </a:schemeClr>
                </a:solidFill>
              </a:rPr>
              <a:t>Pojmy:</a:t>
            </a:r>
            <a:endParaRPr lang="cs-CZ" sz="5400" b="1" dirty="0">
              <a:ln/>
              <a:solidFill>
                <a:schemeClr val="accent3">
                  <a:lumMod val="50000"/>
                </a:schemeClr>
              </a:solidFill>
            </a:endParaRPr>
          </a:p>
        </p:txBody>
      </p:sp>
      <p:sp>
        <p:nvSpPr>
          <p:cNvPr id="3" name="TextovéPole 2"/>
          <p:cNvSpPr txBox="1"/>
          <p:nvPr/>
        </p:nvSpPr>
        <p:spPr>
          <a:xfrm>
            <a:off x="878097" y="1188035"/>
            <a:ext cx="3261855" cy="4401205"/>
          </a:xfrm>
          <a:prstGeom prst="rect">
            <a:avLst/>
          </a:prstGeom>
          <a:noFill/>
          <a:ln>
            <a:solidFill>
              <a:srgbClr val="002060"/>
            </a:solidFill>
          </a:ln>
        </p:spPr>
        <p:txBody>
          <a:bodyPr wrap="none" rtlCol="0">
            <a:spAutoFit/>
          </a:bodyPr>
          <a:lstStyle/>
          <a:p>
            <a:pPr>
              <a:buFont typeface="Arial" pitchFamily="34" charset="0"/>
              <a:buChar char="•"/>
            </a:pPr>
            <a:r>
              <a:rPr lang="cs-CZ" sz="2800" b="1" dirty="0" smtClean="0"/>
              <a:t> duchovní lyrika</a:t>
            </a:r>
          </a:p>
          <a:p>
            <a:pPr>
              <a:buFont typeface="Arial" pitchFamily="34" charset="0"/>
              <a:buChar char="•"/>
            </a:pPr>
            <a:r>
              <a:rPr lang="cs-CZ" sz="2800" b="1" dirty="0" smtClean="0"/>
              <a:t> duchovní epika</a:t>
            </a:r>
          </a:p>
          <a:p>
            <a:pPr>
              <a:buFont typeface="Arial" pitchFamily="34" charset="0"/>
              <a:buChar char="•"/>
            </a:pPr>
            <a:r>
              <a:rPr lang="cs-CZ" sz="2800" b="1" dirty="0" smtClean="0"/>
              <a:t> světská lyrika</a:t>
            </a:r>
          </a:p>
          <a:p>
            <a:pPr>
              <a:buFont typeface="Arial" pitchFamily="34" charset="0"/>
              <a:buChar char="•"/>
            </a:pPr>
            <a:r>
              <a:rPr lang="cs-CZ" sz="2800" b="1" dirty="0" smtClean="0"/>
              <a:t> světská epika</a:t>
            </a:r>
          </a:p>
          <a:p>
            <a:pPr>
              <a:buFont typeface="Arial" pitchFamily="34" charset="0"/>
              <a:buChar char="•"/>
            </a:pPr>
            <a:r>
              <a:rPr lang="cs-CZ" sz="2800" b="1" dirty="0" smtClean="0"/>
              <a:t> legenda</a:t>
            </a:r>
          </a:p>
          <a:p>
            <a:pPr>
              <a:buFont typeface="Arial" pitchFamily="34" charset="0"/>
              <a:buChar char="•"/>
            </a:pPr>
            <a:r>
              <a:rPr lang="cs-CZ" sz="2800" b="1" dirty="0" smtClean="0"/>
              <a:t> traktát</a:t>
            </a:r>
          </a:p>
          <a:p>
            <a:pPr>
              <a:buFont typeface="Arial" pitchFamily="34" charset="0"/>
              <a:buChar char="•"/>
            </a:pPr>
            <a:r>
              <a:rPr lang="cs-CZ" sz="2800" b="1" dirty="0" smtClean="0"/>
              <a:t> žákovská poezie</a:t>
            </a:r>
          </a:p>
          <a:p>
            <a:pPr>
              <a:buFont typeface="Arial" pitchFamily="34" charset="0"/>
              <a:buChar char="•"/>
            </a:pPr>
            <a:r>
              <a:rPr lang="cs-CZ" sz="2800" b="1" dirty="0" smtClean="0"/>
              <a:t> vagantská poezie</a:t>
            </a:r>
          </a:p>
          <a:p>
            <a:pPr>
              <a:buFont typeface="Arial" pitchFamily="34" charset="0"/>
              <a:buChar char="•"/>
            </a:pPr>
            <a:r>
              <a:rPr lang="cs-CZ" sz="2800" b="1" dirty="0" smtClean="0"/>
              <a:t> </a:t>
            </a:r>
            <a:r>
              <a:rPr lang="cs-CZ" sz="2800" b="1" smtClean="0"/>
              <a:t>makarónská poezie</a:t>
            </a:r>
          </a:p>
          <a:p>
            <a:pPr>
              <a:buFont typeface="Arial" pitchFamily="34" charset="0"/>
              <a:buChar char="•"/>
            </a:pPr>
            <a:r>
              <a:rPr lang="cs-CZ" sz="2800" b="1" smtClean="0"/>
              <a:t> inkunábule</a:t>
            </a:r>
            <a:endParaRPr lang="cs-CZ" sz="2800" b="1" dirty="0" smtClean="0"/>
          </a:p>
        </p:txBody>
      </p:sp>
      <p:sp>
        <p:nvSpPr>
          <p:cNvPr id="4" name="TextovéPole 3"/>
          <p:cNvSpPr txBox="1"/>
          <p:nvPr/>
        </p:nvSpPr>
        <p:spPr>
          <a:xfrm>
            <a:off x="5234154" y="1189196"/>
            <a:ext cx="2578206" cy="4401205"/>
          </a:xfrm>
          <a:prstGeom prst="rect">
            <a:avLst/>
          </a:prstGeom>
          <a:noFill/>
          <a:ln>
            <a:solidFill>
              <a:srgbClr val="002060"/>
            </a:solidFill>
          </a:ln>
        </p:spPr>
        <p:txBody>
          <a:bodyPr wrap="none" rtlCol="0">
            <a:spAutoFit/>
          </a:bodyPr>
          <a:lstStyle/>
          <a:p>
            <a:pPr>
              <a:buFont typeface="Arial" pitchFamily="34" charset="0"/>
              <a:buChar char="•"/>
            </a:pPr>
            <a:r>
              <a:rPr lang="cs-CZ" sz="2800" b="1" noProof="1" smtClean="0"/>
              <a:t> </a:t>
            </a:r>
            <a:r>
              <a:rPr lang="cs-CZ" sz="2800" b="1" dirty="0" smtClean="0"/>
              <a:t>laicizace</a:t>
            </a:r>
          </a:p>
          <a:p>
            <a:pPr>
              <a:buFont typeface="Arial" pitchFamily="34" charset="0"/>
              <a:buChar char="•"/>
            </a:pPr>
            <a:r>
              <a:rPr lang="cs-CZ" sz="2800" b="1" dirty="0" smtClean="0"/>
              <a:t> demokratizace</a:t>
            </a:r>
          </a:p>
          <a:p>
            <a:pPr>
              <a:buFont typeface="Arial" pitchFamily="34" charset="0"/>
              <a:buChar char="•"/>
            </a:pPr>
            <a:r>
              <a:rPr lang="cs-CZ" sz="2800" b="1" dirty="0" smtClean="0"/>
              <a:t> kronika</a:t>
            </a:r>
          </a:p>
          <a:p>
            <a:pPr>
              <a:buFont typeface="Arial" pitchFamily="34" charset="0"/>
              <a:buChar char="•"/>
            </a:pPr>
            <a:r>
              <a:rPr lang="cs-CZ" sz="2800" b="1" dirty="0" smtClean="0"/>
              <a:t> mýtus</a:t>
            </a:r>
          </a:p>
          <a:p>
            <a:pPr>
              <a:buFont typeface="Arial" pitchFamily="34" charset="0"/>
              <a:buChar char="•"/>
            </a:pPr>
            <a:r>
              <a:rPr lang="cs-CZ" sz="2800" b="1" noProof="1" smtClean="0"/>
              <a:t> světice</a:t>
            </a:r>
          </a:p>
          <a:p>
            <a:pPr>
              <a:buFont typeface="Arial" pitchFamily="34" charset="0"/>
              <a:buChar char="•"/>
            </a:pPr>
            <a:r>
              <a:rPr lang="cs-CZ" sz="2800" b="1" noProof="1" smtClean="0"/>
              <a:t> fraška</a:t>
            </a:r>
          </a:p>
          <a:p>
            <a:pPr>
              <a:buFont typeface="Arial" pitchFamily="34" charset="0"/>
              <a:buChar char="•"/>
            </a:pPr>
            <a:r>
              <a:rPr lang="cs-CZ" sz="2800" b="1" noProof="1" smtClean="0"/>
              <a:t> exempla</a:t>
            </a:r>
          </a:p>
          <a:p>
            <a:pPr>
              <a:buFont typeface="Arial" pitchFamily="34" charset="0"/>
              <a:buChar char="•"/>
            </a:pPr>
            <a:r>
              <a:rPr lang="cs-CZ" sz="2800" b="1" noProof="1" smtClean="0"/>
              <a:t> alegorie</a:t>
            </a:r>
          </a:p>
          <a:p>
            <a:pPr>
              <a:buFont typeface="Arial" pitchFamily="34" charset="0"/>
              <a:buChar char="•"/>
            </a:pPr>
            <a:r>
              <a:rPr lang="cs-CZ" sz="2800" b="1" noProof="1" smtClean="0"/>
              <a:t> disput</a:t>
            </a:r>
          </a:p>
          <a:p>
            <a:pPr>
              <a:buFont typeface="Arial" pitchFamily="34" charset="0"/>
              <a:buChar char="•"/>
            </a:pPr>
            <a:r>
              <a:rPr lang="cs-CZ" sz="2800" b="1" noProof="1" smtClean="0"/>
              <a:t> duálový tvar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285720" y="77908"/>
            <a:ext cx="8405763" cy="707886"/>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000" b="1" smtClean="0">
                <a:ln/>
                <a:solidFill>
                  <a:schemeClr val="accent3">
                    <a:lumMod val="50000"/>
                  </a:schemeClr>
                </a:solidFill>
              </a:rPr>
              <a:t>Hospodářské a společenské podmínky:</a:t>
            </a:r>
            <a:endParaRPr lang="cs-CZ" sz="4000" b="1">
              <a:ln/>
              <a:solidFill>
                <a:schemeClr val="accent3">
                  <a:lumMod val="50000"/>
                </a:schemeClr>
              </a:solidFill>
            </a:endParaRPr>
          </a:p>
        </p:txBody>
      </p:sp>
      <p:sp>
        <p:nvSpPr>
          <p:cNvPr id="4" name="TextovéPole 3"/>
          <p:cNvSpPr txBox="1"/>
          <p:nvPr/>
        </p:nvSpPr>
        <p:spPr>
          <a:xfrm>
            <a:off x="214282" y="714356"/>
            <a:ext cx="8929718" cy="6001643"/>
          </a:xfrm>
          <a:prstGeom prst="rect">
            <a:avLst/>
          </a:prstGeom>
          <a:noFill/>
        </p:spPr>
        <p:txBody>
          <a:bodyPr wrap="square" rtlCol="0">
            <a:spAutoFit/>
          </a:bodyPr>
          <a:lstStyle/>
          <a:p>
            <a:pPr marL="457200" indent="-457200"/>
            <a:r>
              <a:rPr lang="cs-CZ" sz="2400" b="1" smtClean="0"/>
              <a:t> 1. v </a:t>
            </a:r>
            <a:r>
              <a:rPr lang="cs-CZ" sz="2400" b="1" smtClean="0">
                <a:solidFill>
                  <a:srgbClr val="002060"/>
                </a:solidFill>
              </a:rPr>
              <a:t>1.polovině 14.století </a:t>
            </a:r>
            <a:r>
              <a:rPr lang="cs-CZ" sz="2400" b="1" smtClean="0"/>
              <a:t>sloužilo písemictví v českém jazyce</a:t>
            </a:r>
          </a:p>
          <a:p>
            <a:pPr marL="457200" indent="-457200"/>
            <a:r>
              <a:rPr lang="cs-CZ" sz="2400" b="1" smtClean="0"/>
              <a:t>    v podstatě jen duchovenstvu a šlechtě.</a:t>
            </a:r>
          </a:p>
          <a:p>
            <a:pPr marL="457200" indent="-457200"/>
            <a:r>
              <a:rPr lang="cs-CZ" sz="2400" b="1" smtClean="0"/>
              <a:t>    V </a:t>
            </a:r>
            <a:r>
              <a:rPr lang="cs-CZ" sz="2400" b="1" smtClean="0">
                <a:solidFill>
                  <a:srgbClr val="002060"/>
                </a:solidFill>
              </a:rPr>
              <a:t>2.polovině 14.století </a:t>
            </a:r>
            <a:r>
              <a:rPr lang="cs-CZ" sz="2400" b="1" smtClean="0"/>
              <a:t> se </a:t>
            </a:r>
            <a:r>
              <a:rPr lang="cs-CZ" sz="2400" b="1" smtClean="0">
                <a:solidFill>
                  <a:srgbClr val="002060"/>
                </a:solidFill>
              </a:rPr>
              <a:t>uplatňuje i </a:t>
            </a:r>
            <a:r>
              <a:rPr lang="cs-CZ" sz="2400" b="1" i="1" smtClean="0">
                <a:solidFill>
                  <a:srgbClr val="002060"/>
                </a:solidFill>
              </a:rPr>
              <a:t>měšťanstvo</a:t>
            </a:r>
            <a:r>
              <a:rPr lang="cs-CZ" sz="2400" b="1" smtClean="0"/>
              <a:t>, což bylo spjato</a:t>
            </a:r>
          </a:p>
          <a:p>
            <a:pPr marL="457200" indent="-457200"/>
            <a:r>
              <a:rPr lang="cs-CZ" sz="2400" b="1" smtClean="0"/>
              <a:t>    s rozvojem hospodářského a politického života.</a:t>
            </a:r>
          </a:p>
          <a:p>
            <a:pPr marL="457200" indent="-457200"/>
            <a:r>
              <a:rPr lang="cs-CZ" sz="2400" b="1" smtClean="0"/>
              <a:t>2. </a:t>
            </a:r>
            <a:r>
              <a:rPr lang="cs-CZ" sz="2400" b="1" u="sng" smtClean="0">
                <a:solidFill>
                  <a:srgbClr val="002060"/>
                </a:solidFill>
              </a:rPr>
              <a:t>období vlády Lucemburků </a:t>
            </a:r>
            <a:r>
              <a:rPr lang="cs-CZ" sz="2400" b="1" smtClean="0"/>
              <a:t>( Jan Lucemburský, Karel IV., </a:t>
            </a:r>
          </a:p>
          <a:p>
            <a:pPr marL="457200" indent="-457200"/>
            <a:r>
              <a:rPr lang="cs-CZ" sz="2400" b="1" smtClean="0"/>
              <a:t>     Václav IV. ,Zikmund)</a:t>
            </a:r>
          </a:p>
          <a:p>
            <a:pPr marL="457200" indent="-457200"/>
            <a:r>
              <a:rPr lang="cs-CZ" sz="2400" b="1" smtClean="0"/>
              <a:t>3. </a:t>
            </a:r>
            <a:r>
              <a:rPr lang="cs-CZ" sz="2400" b="1" u="sng" smtClean="0">
                <a:solidFill>
                  <a:srgbClr val="002060"/>
                </a:solidFill>
              </a:rPr>
              <a:t>období vlády Karla IV. ( 1346 – 1378):</a:t>
            </a:r>
          </a:p>
          <a:p>
            <a:pPr marL="457200" indent="-457200"/>
            <a:r>
              <a:rPr lang="cs-CZ" sz="2400" b="1" smtClean="0">
                <a:solidFill>
                  <a:srgbClr val="002060"/>
                </a:solidFill>
              </a:rPr>
              <a:t>     - </a:t>
            </a:r>
            <a:r>
              <a:rPr lang="cs-CZ" sz="2400" b="1" smtClean="0"/>
              <a:t>české země se stávají jádrem světové říše</a:t>
            </a:r>
          </a:p>
          <a:p>
            <a:pPr marL="457200" indent="-457200"/>
            <a:r>
              <a:rPr lang="cs-CZ" sz="2400" b="1" smtClean="0"/>
              <a:t>     - </a:t>
            </a:r>
            <a:r>
              <a:rPr lang="cs-CZ" sz="2400" b="1" smtClean="0">
                <a:solidFill>
                  <a:srgbClr val="002060"/>
                </a:solidFill>
              </a:rPr>
              <a:t>Praha centrem </a:t>
            </a:r>
            <a:r>
              <a:rPr lang="cs-CZ" sz="2400" b="1" smtClean="0"/>
              <a:t>evropského politického hnutí</a:t>
            </a:r>
          </a:p>
          <a:p>
            <a:pPr marL="457200" indent="-457200"/>
            <a:r>
              <a:rPr lang="cs-CZ" sz="2400" b="1" smtClean="0"/>
              <a:t>     - </a:t>
            </a:r>
            <a:r>
              <a:rPr lang="cs-CZ" sz="2400" b="1" i="1" smtClean="0">
                <a:solidFill>
                  <a:srgbClr val="002060"/>
                </a:solidFill>
              </a:rPr>
              <a:t>1344</a:t>
            </a:r>
            <a:r>
              <a:rPr lang="cs-CZ" sz="2400" b="1" smtClean="0"/>
              <a:t> biskupství povýšeno na </a:t>
            </a:r>
            <a:r>
              <a:rPr lang="cs-CZ" sz="2400" b="1" i="1" smtClean="0">
                <a:solidFill>
                  <a:srgbClr val="002060"/>
                </a:solidFill>
              </a:rPr>
              <a:t>arcibiskupství </a:t>
            </a:r>
            <a:r>
              <a:rPr lang="cs-CZ" sz="2400" b="1" smtClean="0"/>
              <a:t>– 1.Arnošt z Pardubic</a:t>
            </a:r>
          </a:p>
          <a:p>
            <a:pPr marL="457200" indent="-457200"/>
            <a:r>
              <a:rPr lang="cs-CZ" sz="2400" b="1" smtClean="0"/>
              <a:t>        = česká církev se vymanila se závislosti na německém arcibiskupství v Mohuči = </a:t>
            </a:r>
            <a:r>
              <a:rPr lang="cs-CZ" sz="2400" b="1" smtClean="0">
                <a:solidFill>
                  <a:srgbClr val="002060"/>
                </a:solidFill>
              </a:rPr>
              <a:t>posílení kulturního života Čechů</a:t>
            </a:r>
          </a:p>
          <a:p>
            <a:pPr marL="457200" indent="-457200"/>
            <a:r>
              <a:rPr lang="cs-CZ" sz="2400" b="1" smtClean="0"/>
              <a:t>     - </a:t>
            </a:r>
            <a:r>
              <a:rPr lang="cs-CZ" sz="2400" b="1" i="1" smtClean="0">
                <a:solidFill>
                  <a:srgbClr val="002060"/>
                </a:solidFill>
              </a:rPr>
              <a:t>1348 – založení Karlovy univerzity</a:t>
            </a:r>
          </a:p>
          <a:p>
            <a:pPr marL="457200" indent="-457200"/>
            <a:r>
              <a:rPr lang="cs-CZ" sz="2400" b="1" smtClean="0"/>
              <a:t>     - stavitelská činnost – Karlštejn, Nové Město, Karlův most atd.</a:t>
            </a:r>
          </a:p>
          <a:p>
            <a:pPr marL="457200" indent="-457200"/>
            <a:r>
              <a:rPr lang="cs-CZ" sz="2400" b="1" smtClean="0"/>
              <a:t>       = stoupá vliv katolické církve, bída lidu = sociální rozpory =</a:t>
            </a:r>
          </a:p>
          <a:p>
            <a:pPr marL="457200" indent="-457200"/>
            <a:r>
              <a:rPr lang="cs-CZ" sz="2400" b="1" smtClean="0"/>
              <a:t>       za </a:t>
            </a:r>
            <a:r>
              <a:rPr lang="cs-CZ" sz="2400" b="1" i="1" smtClean="0">
                <a:solidFill>
                  <a:srgbClr val="002060"/>
                </a:solidFill>
              </a:rPr>
              <a:t>Václava IV. ( 1378 – 1419) vypukne Husitské revoluční hnutí</a:t>
            </a:r>
            <a:endParaRPr lang="cs-CZ" sz="2400" b="1" i="1">
              <a:solidFill>
                <a:srgbClr val="00206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1928794" y="77908"/>
            <a:ext cx="4507901" cy="707886"/>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000" b="1" smtClean="0">
                <a:ln/>
                <a:solidFill>
                  <a:schemeClr val="accent3">
                    <a:lumMod val="50000"/>
                  </a:schemeClr>
                </a:solidFill>
              </a:rPr>
              <a:t>Charakter literatury:</a:t>
            </a:r>
            <a:endParaRPr lang="cs-CZ" sz="4000" b="1">
              <a:ln/>
              <a:solidFill>
                <a:schemeClr val="accent3">
                  <a:lumMod val="50000"/>
                </a:schemeClr>
              </a:solidFill>
            </a:endParaRPr>
          </a:p>
        </p:txBody>
      </p:sp>
      <p:sp>
        <p:nvSpPr>
          <p:cNvPr id="3" name="TextovéPole 2"/>
          <p:cNvSpPr txBox="1"/>
          <p:nvPr/>
        </p:nvSpPr>
        <p:spPr>
          <a:xfrm>
            <a:off x="500034" y="1285860"/>
            <a:ext cx="8215370" cy="4893647"/>
          </a:xfrm>
          <a:prstGeom prst="rect">
            <a:avLst/>
          </a:prstGeom>
          <a:noFill/>
        </p:spPr>
        <p:txBody>
          <a:bodyPr wrap="square" rtlCol="0">
            <a:spAutoFit/>
          </a:bodyPr>
          <a:lstStyle/>
          <a:p>
            <a:pPr marL="457200" indent="-457200"/>
            <a:r>
              <a:rPr lang="cs-CZ" sz="2400" b="1" smtClean="0"/>
              <a:t>1. zájem o </a:t>
            </a:r>
            <a:r>
              <a:rPr lang="cs-CZ" sz="2400" b="1" smtClean="0">
                <a:solidFill>
                  <a:srgbClr val="002060"/>
                </a:solidFill>
              </a:rPr>
              <a:t>skutečné zobrazení světa </a:t>
            </a:r>
          </a:p>
          <a:p>
            <a:r>
              <a:rPr lang="cs-CZ" sz="2400" b="1" smtClean="0"/>
              <a:t>2. zájem o </a:t>
            </a:r>
            <a:r>
              <a:rPr lang="cs-CZ" sz="2400" b="1" smtClean="0">
                <a:solidFill>
                  <a:srgbClr val="002060"/>
                </a:solidFill>
              </a:rPr>
              <a:t>sociální problémy</a:t>
            </a:r>
            <a:r>
              <a:rPr lang="cs-CZ" sz="2400" b="1" smtClean="0"/>
              <a:t> =  rozrůstá se česká tvorba   </a:t>
            </a:r>
          </a:p>
          <a:p>
            <a:r>
              <a:rPr lang="cs-CZ" sz="2400" b="1" smtClean="0"/>
              <a:t>    = </a:t>
            </a:r>
            <a:r>
              <a:rPr lang="cs-CZ" sz="2400" b="1" i="1" smtClean="0">
                <a:solidFill>
                  <a:srgbClr val="002060"/>
                </a:solidFill>
              </a:rPr>
              <a:t>lidové publikum</a:t>
            </a:r>
          </a:p>
          <a:p>
            <a:r>
              <a:rPr lang="cs-CZ" sz="2400" b="1" smtClean="0"/>
              <a:t>3. zájem o jedinečnost literatury</a:t>
            </a:r>
          </a:p>
          <a:p>
            <a:r>
              <a:rPr lang="cs-CZ" sz="2400" b="1" smtClean="0"/>
              <a:t>4. </a:t>
            </a:r>
            <a:r>
              <a:rPr lang="cs-CZ" sz="2400" b="1" smtClean="0">
                <a:solidFill>
                  <a:srgbClr val="002060"/>
                </a:solidFill>
              </a:rPr>
              <a:t>exotika</a:t>
            </a:r>
            <a:r>
              <a:rPr lang="cs-CZ" sz="2400" b="1" smtClean="0"/>
              <a:t>, fantazie, jazyková zjemnělost = </a:t>
            </a:r>
            <a:r>
              <a:rPr lang="cs-CZ" sz="2400" b="1" i="1" smtClean="0">
                <a:solidFill>
                  <a:srgbClr val="002060"/>
                </a:solidFill>
              </a:rPr>
              <a:t>vzdělané publikum</a:t>
            </a:r>
          </a:p>
          <a:p>
            <a:pPr marL="457200" indent="-457200"/>
            <a:r>
              <a:rPr lang="cs-CZ" sz="2400" b="1" smtClean="0"/>
              <a:t>5. </a:t>
            </a:r>
            <a:r>
              <a:rPr lang="cs-CZ" sz="2400" b="1" smtClean="0">
                <a:solidFill>
                  <a:srgbClr val="002060"/>
                </a:solidFill>
              </a:rPr>
              <a:t>málo dě</a:t>
            </a:r>
            <a:r>
              <a:rPr lang="cs-CZ" sz="2400" b="1" smtClean="0"/>
              <a:t>l z  je psáno </a:t>
            </a:r>
            <a:r>
              <a:rPr lang="cs-CZ" sz="2400" b="1" smtClean="0">
                <a:solidFill>
                  <a:srgbClr val="002060"/>
                </a:solidFill>
              </a:rPr>
              <a:t>česky </a:t>
            </a:r>
            <a:r>
              <a:rPr lang="cs-CZ" sz="2400" b="1" smtClean="0"/>
              <a:t>=  vyšší šlechtické kruhy používaly</a:t>
            </a:r>
          </a:p>
          <a:p>
            <a:pPr marL="457200" indent="-457200"/>
            <a:r>
              <a:rPr lang="cs-CZ" sz="2400" b="1" smtClean="0"/>
              <a:t>    latinu, němčinu i  francouzštinu, kruhy církevní latinu</a:t>
            </a:r>
          </a:p>
          <a:p>
            <a:pPr marL="457200" indent="-457200"/>
            <a:r>
              <a:rPr lang="cs-CZ" sz="2400" b="1" smtClean="0"/>
              <a:t>6. </a:t>
            </a:r>
            <a:r>
              <a:rPr lang="cs-CZ" sz="2400" b="1" smtClean="0">
                <a:solidFill>
                  <a:srgbClr val="002060"/>
                </a:solidFill>
              </a:rPr>
              <a:t>užívání češtiny </a:t>
            </a:r>
            <a:r>
              <a:rPr lang="cs-CZ" sz="2400" b="1" smtClean="0"/>
              <a:t>= díla vytvořená </a:t>
            </a:r>
            <a:r>
              <a:rPr lang="cs-CZ" sz="2400" b="1" smtClean="0">
                <a:solidFill>
                  <a:srgbClr val="002060"/>
                </a:solidFill>
              </a:rPr>
              <a:t>měšťany</a:t>
            </a:r>
            <a:r>
              <a:rPr lang="cs-CZ" sz="2400" b="1" smtClean="0"/>
              <a:t> </a:t>
            </a:r>
          </a:p>
          <a:p>
            <a:pPr marL="457200" indent="-457200"/>
            <a:r>
              <a:rPr lang="cs-CZ" sz="2400" b="1" smtClean="0"/>
              <a:t>   = </a:t>
            </a:r>
            <a:r>
              <a:rPr lang="cs-CZ" sz="2400" b="1" i="1" smtClean="0">
                <a:solidFill>
                  <a:srgbClr val="002060"/>
                </a:solidFill>
              </a:rPr>
              <a:t>demokratizace písemnictví</a:t>
            </a:r>
          </a:p>
          <a:p>
            <a:pPr marL="457200" indent="-457200"/>
            <a:r>
              <a:rPr lang="cs-CZ" sz="2400" b="1" i="1" smtClean="0"/>
              <a:t>7.</a:t>
            </a:r>
            <a:r>
              <a:rPr lang="cs-CZ" sz="2400" b="1" smtClean="0"/>
              <a:t> </a:t>
            </a:r>
            <a:r>
              <a:rPr lang="cs-CZ" sz="2400" b="1" i="1" smtClean="0">
                <a:solidFill>
                  <a:srgbClr val="002060"/>
                </a:solidFill>
              </a:rPr>
              <a:t>proces  laicizace</a:t>
            </a:r>
            <a:r>
              <a:rPr lang="cs-CZ" sz="2400" b="1" smtClean="0"/>
              <a:t> (zesvětštění a částečný ústup náboženských</a:t>
            </a:r>
          </a:p>
          <a:p>
            <a:pPr marL="457200" indent="-457200"/>
            <a:r>
              <a:rPr lang="cs-CZ" sz="2400" b="1" smtClean="0"/>
              <a:t>    témat dobovým problémům)=  literatura už  nebyla jen</a:t>
            </a:r>
          </a:p>
          <a:p>
            <a:pPr marL="457200" indent="-457200"/>
            <a:r>
              <a:rPr lang="cs-CZ" sz="2400" b="1" smtClean="0"/>
              <a:t>    záležitostí kněží a mnichů</a:t>
            </a:r>
          </a:p>
          <a:p>
            <a:endParaRPr lang="cs-CZ" sz="2400" b="1" i="1">
              <a:solidFill>
                <a:srgbClr val="00206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2334044" y="0"/>
            <a:ext cx="4166782" cy="707886"/>
          </a:xfrm>
          <a:prstGeom prst="rect">
            <a:avLst/>
          </a:prstGeom>
          <a:solidFill>
            <a:schemeClr val="bg2">
              <a:lumMod val="75000"/>
            </a:schemeClr>
          </a:solid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000" b="1" smtClean="0">
                <a:ln/>
                <a:solidFill>
                  <a:schemeClr val="accent3">
                    <a:lumMod val="50000"/>
                  </a:schemeClr>
                </a:solidFill>
              </a:rPr>
              <a:t>Latinská literatura:</a:t>
            </a:r>
            <a:endParaRPr lang="cs-CZ" sz="4000" b="1">
              <a:ln/>
              <a:solidFill>
                <a:schemeClr val="accent3">
                  <a:lumMod val="50000"/>
                </a:schemeClr>
              </a:solidFill>
            </a:endParaRPr>
          </a:p>
        </p:txBody>
      </p:sp>
      <p:sp>
        <p:nvSpPr>
          <p:cNvPr id="3" name="TextovéPole 2"/>
          <p:cNvSpPr txBox="1"/>
          <p:nvPr/>
        </p:nvSpPr>
        <p:spPr>
          <a:xfrm>
            <a:off x="214282" y="615524"/>
            <a:ext cx="7656455" cy="7171194"/>
          </a:xfrm>
          <a:prstGeom prst="rect">
            <a:avLst/>
          </a:prstGeom>
          <a:noFill/>
        </p:spPr>
        <p:txBody>
          <a:bodyPr wrap="none" rtlCol="0">
            <a:spAutoFit/>
          </a:bodyPr>
          <a:lstStyle/>
          <a:p>
            <a:pPr>
              <a:buFont typeface="Arial" pitchFamily="34" charset="0"/>
              <a:buChar char="•"/>
            </a:pPr>
            <a:r>
              <a:rPr lang="cs-CZ" sz="2300" b="1" smtClean="0"/>
              <a:t> </a:t>
            </a:r>
            <a:r>
              <a:rPr lang="cs-CZ" sz="2300" b="1" i="1" smtClean="0">
                <a:solidFill>
                  <a:srgbClr val="002060"/>
                </a:solidFill>
              </a:rPr>
              <a:t>byla podporována založením Karlovy univerzity</a:t>
            </a:r>
          </a:p>
          <a:p>
            <a:pPr>
              <a:buFont typeface="Arial" pitchFamily="34" charset="0"/>
              <a:buChar char="•"/>
            </a:pPr>
            <a:r>
              <a:rPr lang="cs-CZ" sz="2300" b="1" i="1" smtClean="0">
                <a:solidFill>
                  <a:srgbClr val="002060"/>
                </a:solidFill>
              </a:rPr>
              <a:t> možnost vzdělání doma = rozrůstá se česká inteligence</a:t>
            </a:r>
          </a:p>
          <a:p>
            <a:pPr>
              <a:buFont typeface="Arial" pitchFamily="34" charset="0"/>
              <a:buChar char="•"/>
            </a:pPr>
            <a:r>
              <a:rPr lang="cs-CZ" sz="2300" b="1" i="1" smtClean="0">
                <a:solidFill>
                  <a:srgbClr val="002060"/>
                </a:solidFill>
              </a:rPr>
              <a:t> latina je známá širšímu publiku</a:t>
            </a:r>
          </a:p>
          <a:p>
            <a:r>
              <a:rPr lang="cs-CZ" sz="2300" b="1" i="1" smtClean="0">
                <a:solidFill>
                  <a:srgbClr val="002060"/>
                </a:solidFill>
              </a:rPr>
              <a:t>   </a:t>
            </a:r>
            <a:r>
              <a:rPr lang="cs-CZ" sz="2300" b="1" i="1" u="sng" smtClean="0">
                <a:solidFill>
                  <a:srgbClr val="002060"/>
                </a:solidFill>
              </a:rPr>
              <a:t>duchovní tematika :</a:t>
            </a:r>
          </a:p>
          <a:p>
            <a:pPr marL="457200" indent="-457200"/>
            <a:r>
              <a:rPr lang="cs-CZ" sz="2300" b="1" smtClean="0"/>
              <a:t>   - stále legendy – o Prokopovi, Kateřině </a:t>
            </a:r>
          </a:p>
          <a:p>
            <a:pPr marL="457200" indent="-457200"/>
            <a:r>
              <a:rPr lang="cs-CZ" sz="2300" b="1" smtClean="0"/>
              <a:t>   - </a:t>
            </a:r>
            <a:r>
              <a:rPr lang="cs-CZ" sz="2300" b="1" smtClean="0">
                <a:solidFill>
                  <a:schemeClr val="accent3">
                    <a:lumMod val="50000"/>
                  </a:schemeClr>
                </a:solidFill>
              </a:rPr>
              <a:t>Karel IV. </a:t>
            </a:r>
            <a:r>
              <a:rPr lang="cs-CZ" sz="2300" b="1" smtClean="0"/>
              <a:t>– </a:t>
            </a:r>
            <a:r>
              <a:rPr lang="cs-CZ" sz="2300" b="1" smtClean="0">
                <a:solidFill>
                  <a:srgbClr val="FF0000"/>
                </a:solidFill>
              </a:rPr>
              <a:t>Legenda o svatém Václavovi</a:t>
            </a:r>
          </a:p>
          <a:p>
            <a:pPr marL="457200" indent="-457200"/>
            <a:r>
              <a:rPr lang="cs-CZ" sz="2300" b="1" i="1" smtClean="0">
                <a:solidFill>
                  <a:schemeClr val="accent3">
                    <a:lumMod val="50000"/>
                  </a:schemeClr>
                </a:solidFill>
              </a:rPr>
              <a:t>   - Jan z Jenštejna </a:t>
            </a:r>
            <a:r>
              <a:rPr lang="cs-CZ" sz="2300" b="1" smtClean="0">
                <a:solidFill>
                  <a:srgbClr val="002060"/>
                </a:solidFill>
              </a:rPr>
              <a:t>( 1349 – 1400) – </a:t>
            </a:r>
            <a:r>
              <a:rPr lang="cs-CZ" sz="2300" b="1" smtClean="0"/>
              <a:t>3.pražský arcibiskup,</a:t>
            </a:r>
          </a:p>
          <a:p>
            <a:pPr marL="457200" indent="-457200"/>
            <a:r>
              <a:rPr lang="cs-CZ" sz="2300" b="1" smtClean="0"/>
              <a:t>     autor duchovních písní, řady traktátů ( učené pojednání</a:t>
            </a:r>
          </a:p>
          <a:p>
            <a:pPr marL="457200" indent="-457200"/>
            <a:r>
              <a:rPr lang="cs-CZ" sz="2300" b="1" smtClean="0"/>
              <a:t>     o náboženských a filozofických otázkách)</a:t>
            </a:r>
          </a:p>
          <a:p>
            <a:pPr marL="457200" indent="-457200"/>
            <a:r>
              <a:rPr lang="cs-CZ" sz="2300" b="1" i="1" smtClean="0">
                <a:solidFill>
                  <a:srgbClr val="002060"/>
                </a:solidFill>
              </a:rPr>
              <a:t>   </a:t>
            </a:r>
            <a:r>
              <a:rPr lang="cs-CZ" sz="2300" b="1" i="1" u="sng" smtClean="0">
                <a:solidFill>
                  <a:srgbClr val="002060"/>
                </a:solidFill>
              </a:rPr>
              <a:t>světská tématika </a:t>
            </a:r>
            <a:r>
              <a:rPr lang="cs-CZ" sz="2300" b="1" i="1" smtClean="0">
                <a:solidFill>
                  <a:srgbClr val="002060"/>
                </a:solidFill>
              </a:rPr>
              <a:t>: </a:t>
            </a:r>
          </a:p>
          <a:p>
            <a:pPr marL="457200" indent="-457200"/>
            <a:r>
              <a:rPr lang="cs-CZ" sz="2300" b="1" i="1" smtClean="0">
                <a:solidFill>
                  <a:srgbClr val="002060"/>
                </a:solidFill>
              </a:rPr>
              <a:t>   - zábavná </a:t>
            </a:r>
            <a:r>
              <a:rPr lang="cs-CZ" sz="2300" b="1" smtClean="0"/>
              <a:t>= z prostředí univerzitních studentů</a:t>
            </a:r>
          </a:p>
          <a:p>
            <a:pPr marL="457200" indent="-457200"/>
            <a:r>
              <a:rPr lang="cs-CZ" sz="2300" b="1" smtClean="0"/>
              <a:t>   = </a:t>
            </a:r>
            <a:r>
              <a:rPr lang="cs-CZ" sz="2300" b="1" i="1" smtClean="0"/>
              <a:t>žákovská poezie </a:t>
            </a:r>
            <a:r>
              <a:rPr lang="cs-CZ" sz="2300" b="1" smtClean="0"/>
              <a:t>lyrická, satirická, milostná</a:t>
            </a:r>
          </a:p>
          <a:p>
            <a:pPr marL="457200" indent="-457200"/>
            <a:r>
              <a:rPr lang="cs-CZ" sz="2300" b="1" smtClean="0"/>
              <a:t>   - </a:t>
            </a:r>
            <a:r>
              <a:rPr lang="cs-CZ" sz="2300" b="1" i="1" smtClean="0">
                <a:solidFill>
                  <a:srgbClr val="002060"/>
                </a:solidFill>
              </a:rPr>
              <a:t>odborná </a:t>
            </a:r>
            <a:r>
              <a:rPr lang="cs-CZ" sz="2300" b="1" smtClean="0"/>
              <a:t>= hlavně díla dějepisná</a:t>
            </a:r>
          </a:p>
          <a:p>
            <a:pPr marL="457200" indent="-457200"/>
            <a:r>
              <a:rPr lang="cs-CZ" sz="2300" b="1" smtClean="0"/>
              <a:t>   - </a:t>
            </a:r>
            <a:r>
              <a:rPr lang="cs-CZ" sz="2300" b="1" smtClean="0">
                <a:solidFill>
                  <a:schemeClr val="accent3">
                    <a:lumMod val="50000"/>
                  </a:schemeClr>
                </a:solidFill>
              </a:rPr>
              <a:t>Karel IV. </a:t>
            </a:r>
            <a:r>
              <a:rPr lang="cs-CZ" sz="2300" b="1" smtClean="0"/>
              <a:t>– </a:t>
            </a:r>
            <a:r>
              <a:rPr lang="cs-CZ" sz="2300" b="1" smtClean="0">
                <a:solidFill>
                  <a:srgbClr val="FF0000"/>
                </a:solidFill>
              </a:rPr>
              <a:t>Vita Caroli </a:t>
            </a:r>
            <a:r>
              <a:rPr lang="cs-CZ" sz="2300" b="1" smtClean="0"/>
              <a:t>( Život Karlův)</a:t>
            </a:r>
          </a:p>
          <a:p>
            <a:pPr marL="457200" indent="-457200"/>
            <a:r>
              <a:rPr lang="cs-CZ" sz="2300" b="1" smtClean="0"/>
              <a:t>   - </a:t>
            </a:r>
            <a:r>
              <a:rPr lang="cs-CZ" sz="2300" b="1" smtClean="0">
                <a:solidFill>
                  <a:schemeClr val="accent3">
                    <a:lumMod val="50000"/>
                  </a:schemeClr>
                </a:solidFill>
              </a:rPr>
              <a:t>Přibík Pulkava z Radetína </a:t>
            </a:r>
            <a:r>
              <a:rPr lang="cs-CZ" sz="2300" b="1" smtClean="0"/>
              <a:t>– dějepisná kronika</a:t>
            </a:r>
          </a:p>
          <a:p>
            <a:pPr marL="457200" indent="-457200"/>
            <a:r>
              <a:rPr lang="cs-CZ" sz="2300" b="1" smtClean="0"/>
              <a:t>      ( později přeložena do češtiny)</a:t>
            </a:r>
            <a:r>
              <a:rPr lang="cs-CZ" sz="2300" smtClean="0"/>
              <a:t> </a:t>
            </a:r>
          </a:p>
          <a:p>
            <a:pPr marL="457200" indent="-457200"/>
            <a:r>
              <a:rPr lang="cs-CZ" sz="2300" smtClean="0"/>
              <a:t>   - </a:t>
            </a:r>
            <a:r>
              <a:rPr lang="cs-CZ" sz="2300" b="1" smtClean="0">
                <a:solidFill>
                  <a:schemeClr val="accent3">
                    <a:lumMod val="50000"/>
                  </a:schemeClr>
                </a:solidFill>
              </a:rPr>
              <a:t>Bartoloměj z Chlumce ( Klaret) </a:t>
            </a:r>
            <a:r>
              <a:rPr lang="cs-CZ" sz="2300" b="1" smtClean="0"/>
              <a:t>- lexikolog, lexikograf, lékař</a:t>
            </a:r>
          </a:p>
          <a:p>
            <a:pPr marL="457200" indent="-457200"/>
            <a:r>
              <a:rPr lang="cs-CZ" sz="2300" b="1" i="1" smtClean="0">
                <a:solidFill>
                  <a:srgbClr val="002060"/>
                </a:solidFill>
              </a:rPr>
              <a:t>                            </a:t>
            </a:r>
          </a:p>
          <a:p>
            <a:pPr marL="457200" indent="-457200"/>
            <a:endParaRPr lang="cs-CZ" sz="2300" b="1" smtClean="0">
              <a:solidFill>
                <a:srgbClr val="002060"/>
              </a:solidFill>
            </a:endParaRPr>
          </a:p>
          <a:p>
            <a:endParaRPr lang="cs-CZ" sz="2300" b="1"/>
          </a:p>
        </p:txBody>
      </p:sp>
      <p:pic>
        <p:nvPicPr>
          <p:cNvPr id="4" name="Picture 2" descr="http://ao-institut.cz/texty/zivotopisy-ceskych-svetcu/img/arcibiskup-jan-II-z-jenstejna.jpg"/>
          <p:cNvPicPr>
            <a:picLocks noChangeAspect="1" noChangeArrowheads="1"/>
          </p:cNvPicPr>
          <p:nvPr/>
        </p:nvPicPr>
        <p:blipFill>
          <a:blip r:embed="rId2" cstate="print"/>
          <a:srcRect/>
          <a:stretch>
            <a:fillRect/>
          </a:stretch>
        </p:blipFill>
        <p:spPr bwMode="auto">
          <a:xfrm>
            <a:off x="7000892" y="3429000"/>
            <a:ext cx="1886026" cy="2500330"/>
          </a:xfrm>
          <a:prstGeom prst="rect">
            <a:avLst/>
          </a:prstGeom>
          <a:noFill/>
        </p:spPr>
      </p:pic>
      <p:sp>
        <p:nvSpPr>
          <p:cNvPr id="5" name="Šipka doprava 4"/>
          <p:cNvSpPr/>
          <p:nvPr/>
        </p:nvSpPr>
        <p:spPr>
          <a:xfrm>
            <a:off x="5786446" y="3500438"/>
            <a:ext cx="906970"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ubor:KAREL4 pouceninastupcum.jpg">
            <a:hlinkClick r:id="rId2"/>
          </p:cNvPr>
          <p:cNvPicPr>
            <a:picLocks noChangeAspect="1" noChangeArrowheads="1"/>
          </p:cNvPicPr>
          <p:nvPr/>
        </p:nvPicPr>
        <p:blipFill>
          <a:blip r:embed="rId3" cstate="print"/>
          <a:srcRect/>
          <a:stretch>
            <a:fillRect/>
          </a:stretch>
        </p:blipFill>
        <p:spPr bwMode="auto">
          <a:xfrm>
            <a:off x="5214910" y="3857628"/>
            <a:ext cx="3929090" cy="2779831"/>
          </a:xfrm>
          <a:prstGeom prst="rect">
            <a:avLst/>
          </a:prstGeom>
          <a:noFill/>
          <a:ln>
            <a:solidFill>
              <a:schemeClr val="accent1"/>
            </a:solidFill>
          </a:ln>
        </p:spPr>
      </p:pic>
      <p:sp>
        <p:nvSpPr>
          <p:cNvPr id="3" name="Obdélník 2"/>
          <p:cNvSpPr/>
          <p:nvPr/>
        </p:nvSpPr>
        <p:spPr>
          <a:xfrm>
            <a:off x="357158" y="6143644"/>
            <a:ext cx="4695901" cy="400110"/>
          </a:xfrm>
          <a:prstGeom prst="rect">
            <a:avLst/>
          </a:prstGeom>
          <a:ln>
            <a:solidFill>
              <a:srgbClr val="002060"/>
            </a:solidFill>
          </a:ln>
        </p:spPr>
        <p:txBody>
          <a:bodyPr wrap="none">
            <a:spAutoFit/>
          </a:bodyPr>
          <a:lstStyle/>
          <a:p>
            <a:r>
              <a:rPr lang="cs-CZ" sz="2000" b="1" i="1" smtClean="0"/>
              <a:t>Karel IV. poučuje své nástupce (Vita Caroli)</a:t>
            </a:r>
            <a:endParaRPr lang="cs-CZ" sz="2000" b="1" i="1"/>
          </a:p>
        </p:txBody>
      </p:sp>
      <p:sp>
        <p:nvSpPr>
          <p:cNvPr id="4" name="Obdélník 3"/>
          <p:cNvSpPr/>
          <p:nvPr/>
        </p:nvSpPr>
        <p:spPr>
          <a:xfrm>
            <a:off x="71406" y="976387"/>
            <a:ext cx="8786842" cy="4524315"/>
          </a:xfrm>
          <a:prstGeom prst="rect">
            <a:avLst/>
          </a:prstGeom>
        </p:spPr>
        <p:txBody>
          <a:bodyPr wrap="square">
            <a:spAutoFit/>
          </a:bodyPr>
          <a:lstStyle/>
          <a:p>
            <a:pPr>
              <a:buFont typeface="Arial" pitchFamily="34" charset="0"/>
              <a:buChar char="•"/>
            </a:pPr>
            <a:r>
              <a:rPr lang="cs-CZ" sz="2400" b="1" i="1" smtClean="0"/>
              <a:t> </a:t>
            </a:r>
            <a:r>
              <a:rPr lang="cs-CZ" sz="2400" b="1" i="1" smtClean="0">
                <a:solidFill>
                  <a:srgbClr val="002060"/>
                </a:solidFill>
              </a:rPr>
              <a:t>latinská </a:t>
            </a:r>
            <a:r>
              <a:rPr lang="cs-CZ" sz="2400" b="1" smtClean="0">
                <a:solidFill>
                  <a:srgbClr val="002060"/>
                </a:solidFill>
              </a:rPr>
              <a:t>autobiografie </a:t>
            </a:r>
          </a:p>
          <a:p>
            <a:pPr>
              <a:buFont typeface="Arial" pitchFamily="34" charset="0"/>
              <a:buChar char="•"/>
            </a:pPr>
            <a:r>
              <a:rPr lang="cs-CZ" sz="2400" b="1" smtClean="0"/>
              <a:t> zachytil v něm zážitky z mládí, kdy žil v cizině</a:t>
            </a:r>
          </a:p>
          <a:p>
            <a:pPr>
              <a:buFont typeface="Arial" pitchFamily="34" charset="0"/>
              <a:buChar char="•"/>
            </a:pPr>
            <a:r>
              <a:rPr lang="cs-CZ" sz="2400" b="1" smtClean="0"/>
              <a:t> popisuje počátky pobytu v Čechách do roku 1340</a:t>
            </a:r>
          </a:p>
          <a:p>
            <a:pPr>
              <a:buFont typeface="Arial" pitchFamily="34" charset="0"/>
              <a:buChar char="•"/>
            </a:pPr>
            <a:r>
              <a:rPr lang="cs-CZ" sz="2400" b="1" smtClean="0"/>
              <a:t> události následujících let vylíčil  jiný autor</a:t>
            </a:r>
          </a:p>
          <a:p>
            <a:pPr>
              <a:buFont typeface="Arial" pitchFamily="34" charset="0"/>
              <a:buChar char="•"/>
            </a:pPr>
            <a:r>
              <a:rPr lang="cs-CZ" sz="2400" b="1" smtClean="0"/>
              <a:t> poslední kapitola pojednává o Karlově </a:t>
            </a:r>
          </a:p>
          <a:p>
            <a:r>
              <a:rPr lang="cs-CZ" sz="2400" b="1" smtClean="0"/>
              <a:t>  korunovaci na římského krále v roce 1346</a:t>
            </a:r>
          </a:p>
          <a:p>
            <a:pPr>
              <a:buFont typeface="Arial" pitchFamily="34" charset="0"/>
              <a:buChar char="•"/>
            </a:pPr>
            <a:r>
              <a:rPr lang="cs-CZ" sz="2400" b="1" smtClean="0"/>
              <a:t> </a:t>
            </a:r>
            <a:r>
              <a:rPr lang="cs-CZ" sz="2400" b="1" smtClean="0">
                <a:solidFill>
                  <a:srgbClr val="002060"/>
                </a:solidFill>
              </a:rPr>
              <a:t>osobní prožitky X  náboženské a morální úvahy</a:t>
            </a:r>
          </a:p>
          <a:p>
            <a:pPr>
              <a:buFont typeface="Arial" pitchFamily="34" charset="0"/>
              <a:buChar char="•"/>
            </a:pPr>
            <a:r>
              <a:rPr lang="cs-CZ" sz="2400" b="1" smtClean="0"/>
              <a:t> vyniká líčení návratu do Čech roku 1333</a:t>
            </a:r>
          </a:p>
          <a:p>
            <a:pPr>
              <a:buFont typeface="Arial" pitchFamily="34" charset="0"/>
              <a:buChar char="•"/>
            </a:pPr>
            <a:r>
              <a:rPr lang="cs-CZ" sz="2400" b="1" smtClean="0"/>
              <a:t> </a:t>
            </a:r>
            <a:r>
              <a:rPr lang="cs-CZ" sz="2400" b="1" smtClean="0">
                <a:solidFill>
                  <a:srgbClr val="002060"/>
                </a:solidFill>
              </a:rPr>
              <a:t>navazoval na slavné české tradice</a:t>
            </a:r>
          </a:p>
          <a:p>
            <a:r>
              <a:rPr lang="cs-CZ" sz="2400" b="1" smtClean="0"/>
              <a:t>   - napsal Legendu o svatém Václavu</a:t>
            </a:r>
          </a:p>
          <a:p>
            <a:r>
              <a:rPr lang="cs-CZ" sz="2400" b="1" smtClean="0"/>
              <a:t>   - do nového Korunovačního řádu</a:t>
            </a:r>
          </a:p>
          <a:p>
            <a:r>
              <a:rPr lang="cs-CZ" sz="2400" b="1" smtClean="0"/>
              <a:t>     zařadil  píseň Hospodine, pomiluj ny</a:t>
            </a:r>
            <a:endParaRPr lang="cs-CZ" sz="2400" b="1"/>
          </a:p>
        </p:txBody>
      </p:sp>
      <p:sp>
        <p:nvSpPr>
          <p:cNvPr id="5" name="TextovéPole 4"/>
          <p:cNvSpPr txBox="1"/>
          <p:nvPr/>
        </p:nvSpPr>
        <p:spPr>
          <a:xfrm>
            <a:off x="3000364" y="214290"/>
            <a:ext cx="2602444" cy="769441"/>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rgbClr val="FF0000"/>
                </a:solidFill>
              </a:rPr>
              <a:t>Vita Caroli</a:t>
            </a:r>
          </a:p>
        </p:txBody>
      </p:sp>
      <p:pic>
        <p:nvPicPr>
          <p:cNvPr id="1028" name="Picture 4" descr="Soubor:Charles IV-John Ocko votive picture-fragment.jpg">
            <a:hlinkClick r:id="rId4"/>
          </p:cNvPr>
          <p:cNvPicPr>
            <a:picLocks noChangeAspect="1" noChangeArrowheads="1"/>
          </p:cNvPicPr>
          <p:nvPr/>
        </p:nvPicPr>
        <p:blipFill>
          <a:blip r:embed="rId5" cstate="print"/>
          <a:srcRect/>
          <a:stretch>
            <a:fillRect/>
          </a:stretch>
        </p:blipFill>
        <p:spPr bwMode="auto">
          <a:xfrm>
            <a:off x="6500826" y="214290"/>
            <a:ext cx="2200369" cy="3214686"/>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500034" y="714356"/>
            <a:ext cx="8643966" cy="6463308"/>
          </a:xfrm>
          <a:prstGeom prst="rect">
            <a:avLst/>
          </a:prstGeom>
        </p:spPr>
        <p:txBody>
          <a:bodyPr wrap="square">
            <a:spAutoFit/>
          </a:bodyPr>
          <a:lstStyle/>
          <a:p>
            <a:pPr>
              <a:buFont typeface="Arial" pitchFamily="34" charset="0"/>
              <a:buChar char="•"/>
            </a:pPr>
            <a:r>
              <a:rPr lang="cs-CZ" sz="2300" b="1" smtClean="0"/>
              <a:t> </a:t>
            </a:r>
            <a:r>
              <a:rPr lang="cs-CZ" sz="2300" b="1" i="1" smtClean="0">
                <a:solidFill>
                  <a:srgbClr val="002060"/>
                </a:solidFill>
              </a:rPr>
              <a:t>český spisovatel, učenec, lékař, učitel, lexikograf, lexikolog </a:t>
            </a:r>
          </a:p>
          <a:p>
            <a:pPr>
              <a:buFont typeface="Arial" pitchFamily="34" charset="0"/>
              <a:buChar char="•"/>
            </a:pPr>
            <a:r>
              <a:rPr lang="cs-CZ" sz="2300" b="1" smtClean="0"/>
              <a:t> kanovník katedrály svatého Víta a mistr pražské univerzity</a:t>
            </a:r>
          </a:p>
          <a:p>
            <a:pPr>
              <a:buFont typeface="Arial" pitchFamily="34" charset="0"/>
              <a:buChar char="•"/>
            </a:pPr>
            <a:r>
              <a:rPr lang="cs-CZ" sz="2300" b="1" smtClean="0"/>
              <a:t> vyučoval latinu a připravoval žáky ke studiu na univerzitě, učil</a:t>
            </a:r>
          </a:p>
          <a:p>
            <a:r>
              <a:rPr lang="cs-CZ" sz="2300" b="1" smtClean="0"/>
              <a:t>  zejména latinskou terminologii </a:t>
            </a:r>
          </a:p>
          <a:p>
            <a:pPr>
              <a:buFont typeface="Arial" pitchFamily="34" charset="0"/>
              <a:buChar char="•"/>
            </a:pPr>
            <a:r>
              <a:rPr lang="cs-CZ" sz="2300" b="1" smtClean="0"/>
              <a:t> zachované dílo :</a:t>
            </a:r>
          </a:p>
          <a:p>
            <a:r>
              <a:rPr lang="cs-CZ" sz="2300" b="1" smtClean="0"/>
              <a:t>  - básně </a:t>
            </a:r>
          </a:p>
          <a:p>
            <a:r>
              <a:rPr lang="cs-CZ" sz="2300" b="1" smtClean="0"/>
              <a:t>  - </a:t>
            </a:r>
            <a:r>
              <a:rPr lang="cs-CZ" sz="2300" b="1" smtClean="0">
                <a:solidFill>
                  <a:srgbClr val="002060"/>
                </a:solidFill>
              </a:rPr>
              <a:t>veršované slovníky</a:t>
            </a:r>
          </a:p>
          <a:p>
            <a:r>
              <a:rPr lang="cs-CZ" sz="2300" b="1" smtClean="0"/>
              <a:t>  - </a:t>
            </a:r>
            <a:r>
              <a:rPr lang="cs-CZ" sz="2300" b="1" smtClean="0">
                <a:solidFill>
                  <a:srgbClr val="002060"/>
                </a:solidFill>
              </a:rPr>
              <a:t>nejstarší slovníky českého jazyka </a:t>
            </a:r>
          </a:p>
          <a:p>
            <a:r>
              <a:rPr lang="cs-CZ" sz="2300" b="1" smtClean="0"/>
              <a:t>    ( skoro 10 tisíc staročeských slov + slovo latinské)</a:t>
            </a:r>
          </a:p>
          <a:p>
            <a:pPr>
              <a:buFont typeface="Arial" pitchFamily="34" charset="0"/>
              <a:buChar char="•"/>
            </a:pPr>
            <a:r>
              <a:rPr lang="cs-CZ" sz="2300" smtClean="0"/>
              <a:t> </a:t>
            </a:r>
            <a:r>
              <a:rPr lang="cs-CZ" sz="2300" b="1" smtClean="0"/>
              <a:t>na tvorbě slovníků se podíleli i další vzdělanci, arcibiskup </a:t>
            </a:r>
          </a:p>
          <a:p>
            <a:r>
              <a:rPr lang="cs-CZ" sz="2300" b="1" smtClean="0"/>
              <a:t>  Arnošt z Pardubic, Jan Očko z Vlašimi, královský lékař Havel</a:t>
            </a:r>
          </a:p>
          <a:p>
            <a:r>
              <a:rPr lang="cs-CZ" sz="2300" b="1" smtClean="0"/>
              <a:t>  ze Strahova a  dokonce prý  i císař Karel IV. Slovníky</a:t>
            </a:r>
          </a:p>
          <a:p>
            <a:r>
              <a:rPr lang="cs-CZ" sz="2300" b="1" i="1" smtClean="0">
                <a:solidFill>
                  <a:srgbClr val="FF0000"/>
                </a:solidFill>
              </a:rPr>
              <a:t>  Bohemář</a:t>
            </a:r>
            <a:endParaRPr lang="cs-CZ" sz="2300" b="1" smtClean="0">
              <a:solidFill>
                <a:srgbClr val="FF0000"/>
              </a:solidFill>
            </a:endParaRPr>
          </a:p>
          <a:p>
            <a:r>
              <a:rPr lang="cs-CZ" sz="2300" b="1" i="1" smtClean="0">
                <a:solidFill>
                  <a:srgbClr val="FF0000"/>
                </a:solidFill>
              </a:rPr>
              <a:t>  Glosář</a:t>
            </a:r>
            <a:endParaRPr lang="cs-CZ" sz="2300" b="1" smtClean="0">
              <a:solidFill>
                <a:srgbClr val="FF0000"/>
              </a:solidFill>
            </a:endParaRPr>
          </a:p>
          <a:p>
            <a:r>
              <a:rPr lang="cs-CZ" sz="2300" b="1" i="1" smtClean="0">
                <a:solidFill>
                  <a:srgbClr val="FF0000"/>
                </a:solidFill>
              </a:rPr>
              <a:t>  Vokábulář gramatický</a:t>
            </a:r>
            <a:r>
              <a:rPr lang="cs-CZ" sz="2300" b="1" smtClean="0">
                <a:solidFill>
                  <a:srgbClr val="FF0000"/>
                </a:solidFill>
              </a:rPr>
              <a:t>  - </a:t>
            </a:r>
            <a:r>
              <a:rPr lang="cs-CZ" sz="2300" b="1" smtClean="0"/>
              <a:t> odborná terminologie sedmi svobodných </a:t>
            </a:r>
          </a:p>
          <a:p>
            <a:r>
              <a:rPr lang="cs-CZ" sz="2300" b="1" smtClean="0"/>
              <a:t>  umění (gramatiky, logiky, rétoriky, aritmetiky, geometrie, </a:t>
            </a:r>
          </a:p>
          <a:p>
            <a:r>
              <a:rPr lang="cs-CZ" sz="2300" b="1" smtClean="0"/>
              <a:t>  astronomie, muziky a lékařství)</a:t>
            </a:r>
          </a:p>
          <a:p>
            <a:endParaRPr lang="cs-CZ" sz="2300" b="1"/>
          </a:p>
        </p:txBody>
      </p:sp>
      <p:sp>
        <p:nvSpPr>
          <p:cNvPr id="3" name="Obdélník 2"/>
          <p:cNvSpPr/>
          <p:nvPr/>
        </p:nvSpPr>
        <p:spPr>
          <a:xfrm>
            <a:off x="571472" y="119698"/>
            <a:ext cx="8001056" cy="523220"/>
          </a:xfrm>
          <a:prstGeom prst="rect">
            <a:avLst/>
          </a:prstGeom>
        </p:spPr>
        <p:txBody>
          <a:bodyPr wrap="squar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2800" b="1" smtClean="0">
                <a:ln/>
                <a:solidFill>
                  <a:srgbClr val="002060"/>
                </a:solidFill>
              </a:rPr>
              <a:t>Mistr Klaret, Bartoloměj z Chlumce (asi 1320 – 1370)</a:t>
            </a:r>
            <a:endParaRPr lang="cs-CZ" sz="2800" b="1">
              <a:ln/>
              <a:solidFill>
                <a:srgbClr val="00206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285720" y="1857364"/>
            <a:ext cx="7500990" cy="4401205"/>
          </a:xfrm>
          <a:prstGeom prst="rect">
            <a:avLst/>
          </a:prstGeom>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r>
              <a:rPr lang="cs-CZ" sz="4000" b="1" smtClean="0">
                <a:ln w="50800"/>
                <a:solidFill>
                  <a:srgbClr val="002060"/>
                </a:solidFill>
              </a:rPr>
              <a:t>            1) duchovní lyrika a epika</a:t>
            </a:r>
          </a:p>
          <a:p>
            <a:endParaRPr lang="cs-CZ" sz="4000" b="1" smtClean="0">
              <a:ln w="50800"/>
              <a:solidFill>
                <a:srgbClr val="002060"/>
              </a:solidFill>
            </a:endParaRPr>
          </a:p>
          <a:p>
            <a:r>
              <a:rPr lang="cs-CZ" sz="4000" b="1" smtClean="0">
                <a:ln w="50800"/>
                <a:solidFill>
                  <a:srgbClr val="002060"/>
                </a:solidFill>
              </a:rPr>
              <a:t>            2) světská lyrika a epika</a:t>
            </a:r>
          </a:p>
          <a:p>
            <a:endParaRPr lang="cs-CZ" sz="4000" b="1" smtClean="0">
              <a:ln w="50800"/>
              <a:solidFill>
                <a:srgbClr val="002060"/>
              </a:solidFill>
            </a:endParaRPr>
          </a:p>
          <a:p>
            <a:r>
              <a:rPr lang="cs-CZ" sz="4000" b="1" smtClean="0">
                <a:ln w="50800"/>
                <a:solidFill>
                  <a:srgbClr val="002060"/>
                </a:solidFill>
              </a:rPr>
              <a:t>            3) drama</a:t>
            </a:r>
          </a:p>
          <a:p>
            <a:endParaRPr lang="cs-CZ" sz="4000" b="1" smtClean="0">
              <a:ln w="50800"/>
              <a:solidFill>
                <a:srgbClr val="002060"/>
              </a:solidFill>
            </a:endParaRPr>
          </a:p>
          <a:p>
            <a:r>
              <a:rPr lang="cs-CZ" sz="4000" b="1" smtClean="0">
                <a:ln w="50800"/>
                <a:solidFill>
                  <a:srgbClr val="002060"/>
                </a:solidFill>
              </a:rPr>
              <a:t>            4) zábavná a odborná próza</a:t>
            </a:r>
            <a:endParaRPr lang="cs-CZ" sz="4000" b="1">
              <a:ln w="50800"/>
              <a:solidFill>
                <a:srgbClr val="002060"/>
              </a:solidFill>
            </a:endParaRPr>
          </a:p>
        </p:txBody>
      </p:sp>
      <p:sp>
        <p:nvSpPr>
          <p:cNvPr id="3" name="TextovéPole 2"/>
          <p:cNvSpPr txBox="1"/>
          <p:nvPr/>
        </p:nvSpPr>
        <p:spPr>
          <a:xfrm>
            <a:off x="2357422" y="1071546"/>
            <a:ext cx="3823611" cy="769441"/>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rgbClr val="FF0000"/>
                </a:solidFill>
              </a:rPr>
              <a:t>Literární žánry :</a:t>
            </a:r>
            <a:endParaRPr lang="cs-CZ" sz="4400" b="1">
              <a:ln/>
              <a:solidFill>
                <a:schemeClr val="accent3">
                  <a:lumMod val="50000"/>
                </a:schemeClr>
              </a:solidFill>
            </a:endParaRPr>
          </a:p>
        </p:txBody>
      </p:sp>
      <p:sp>
        <p:nvSpPr>
          <p:cNvPr id="4" name="Obdélník 3"/>
          <p:cNvSpPr/>
          <p:nvPr/>
        </p:nvSpPr>
        <p:spPr>
          <a:xfrm>
            <a:off x="1714480" y="214290"/>
            <a:ext cx="5346785" cy="769441"/>
          </a:xfrm>
          <a:prstGeom prst="rect">
            <a:avLst/>
          </a:prstGeom>
          <a:solidFill>
            <a:schemeClr val="bg2">
              <a:lumMod val="75000"/>
            </a:schemeClr>
          </a:solid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chemeClr val="accent3">
                    <a:lumMod val="50000"/>
                  </a:schemeClr>
                </a:solidFill>
              </a:rPr>
              <a:t>Česky psaná literatura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71406" y="427753"/>
            <a:ext cx="8786842" cy="6001643"/>
          </a:xfrm>
          <a:prstGeom prst="rect">
            <a:avLst/>
          </a:prstGeom>
        </p:spPr>
        <p:txBody>
          <a:bodyPr wrap="square">
            <a:spAutoFit/>
          </a:bodyPr>
          <a:lstStyle/>
          <a:p>
            <a:pPr marL="457200" indent="-457200"/>
            <a:r>
              <a:rPr lang="cs-CZ" sz="2400" b="1" dirty="0" smtClean="0">
                <a:solidFill>
                  <a:srgbClr val="002060"/>
                </a:solidFill>
              </a:rPr>
              <a:t> </a:t>
            </a:r>
            <a:endParaRPr lang="cs-CZ" sz="2400" b="1" dirty="0" smtClean="0">
              <a:solidFill>
                <a:schemeClr val="accent3">
                  <a:lumMod val="50000"/>
                </a:schemeClr>
              </a:solidFill>
            </a:endParaRPr>
          </a:p>
          <a:p>
            <a:pPr marL="457200" indent="-457200"/>
            <a:endParaRPr lang="cs-CZ" sz="2400" b="1" dirty="0" smtClean="0">
              <a:solidFill>
                <a:srgbClr val="002060"/>
              </a:solidFill>
            </a:endParaRPr>
          </a:p>
          <a:p>
            <a:pPr marL="457200" indent="-457200"/>
            <a:r>
              <a:rPr lang="cs-CZ" sz="2400" b="1" dirty="0" smtClean="0">
                <a:solidFill>
                  <a:srgbClr val="002060"/>
                </a:solidFill>
              </a:rPr>
              <a:t>      </a:t>
            </a:r>
            <a:r>
              <a:rPr lang="cs-CZ" sz="2400" b="1" i="1" u="sng" dirty="0" smtClean="0">
                <a:solidFill>
                  <a:srgbClr val="002060"/>
                </a:solidFill>
              </a:rPr>
              <a:t>duchovní lyrika :</a:t>
            </a:r>
          </a:p>
          <a:p>
            <a:pPr marL="457200" indent="-457200"/>
            <a:endParaRPr lang="cs-CZ" sz="2400" b="1" dirty="0" smtClean="0">
              <a:solidFill>
                <a:srgbClr val="002060"/>
              </a:solidFill>
            </a:endParaRPr>
          </a:p>
          <a:p>
            <a:pPr marL="457200" indent="-457200"/>
            <a:r>
              <a:rPr lang="cs-CZ" sz="2400" b="1" dirty="0" smtClean="0">
                <a:solidFill>
                  <a:srgbClr val="002060"/>
                </a:solidFill>
              </a:rPr>
              <a:t>      </a:t>
            </a:r>
            <a:r>
              <a:rPr lang="cs-CZ" sz="2400" b="1" dirty="0" smtClean="0">
                <a:solidFill>
                  <a:srgbClr val="FF0000"/>
                </a:solidFill>
              </a:rPr>
              <a:t>Spor duše s tělem </a:t>
            </a:r>
            <a:r>
              <a:rPr lang="cs-CZ" sz="2400" b="1" dirty="0" smtClean="0">
                <a:solidFill>
                  <a:srgbClr val="002060"/>
                </a:solidFill>
              </a:rPr>
              <a:t>( poč.14.stol.)</a:t>
            </a:r>
          </a:p>
          <a:p>
            <a:pPr marL="457200" indent="-457200"/>
            <a:r>
              <a:rPr lang="cs-CZ" sz="2400" b="1" dirty="0" smtClean="0">
                <a:solidFill>
                  <a:srgbClr val="002060"/>
                </a:solidFill>
              </a:rPr>
              <a:t>       - zde rozvinuto oblíbené středověké téma, kdo je zodpovědný</a:t>
            </a:r>
          </a:p>
          <a:p>
            <a:pPr marL="457200" indent="-457200"/>
            <a:r>
              <a:rPr lang="cs-CZ" sz="2400" b="1" dirty="0" smtClean="0">
                <a:solidFill>
                  <a:srgbClr val="002060"/>
                </a:solidFill>
              </a:rPr>
              <a:t>        za </a:t>
            </a:r>
            <a:r>
              <a:rPr lang="cs-CZ" sz="2400" b="1" dirty="0" smtClean="0">
                <a:solidFill>
                  <a:srgbClr val="002060"/>
                </a:solidFill>
              </a:rPr>
              <a:t>hříchy, </a:t>
            </a:r>
            <a:r>
              <a:rPr lang="cs-CZ" sz="2400" b="1" dirty="0" smtClean="0">
                <a:solidFill>
                  <a:srgbClr val="002060"/>
                </a:solidFill>
              </a:rPr>
              <a:t>zda tělo nebo duše, formou hádky, v níž se</a:t>
            </a:r>
          </a:p>
          <a:p>
            <a:pPr marL="457200" indent="-457200"/>
            <a:r>
              <a:rPr lang="cs-CZ" sz="2400" b="1" dirty="0" smtClean="0">
                <a:solidFill>
                  <a:srgbClr val="002060"/>
                </a:solidFill>
              </a:rPr>
              <a:t>        „ s </a:t>
            </a:r>
            <a:r>
              <a:rPr lang="cs-CZ" sz="2400" b="1" dirty="0" err="1" smtClean="0">
                <a:solidFill>
                  <a:srgbClr val="002060"/>
                </a:solidFill>
              </a:rPr>
              <a:t>svú</a:t>
            </a:r>
            <a:r>
              <a:rPr lang="cs-CZ" sz="2400" b="1" dirty="0" smtClean="0">
                <a:solidFill>
                  <a:srgbClr val="002060"/>
                </a:solidFill>
              </a:rPr>
              <a:t> </a:t>
            </a:r>
            <a:r>
              <a:rPr lang="cs-CZ" sz="2400" b="1" dirty="0" err="1" smtClean="0">
                <a:solidFill>
                  <a:srgbClr val="002060"/>
                </a:solidFill>
              </a:rPr>
              <a:t>sě</a:t>
            </a:r>
            <a:r>
              <a:rPr lang="cs-CZ" sz="2400" b="1" dirty="0" smtClean="0">
                <a:solidFill>
                  <a:srgbClr val="002060"/>
                </a:solidFill>
              </a:rPr>
              <a:t> duší vadí tělo“</a:t>
            </a:r>
          </a:p>
          <a:p>
            <a:pPr marL="457200" indent="-457200"/>
            <a:r>
              <a:rPr lang="cs-CZ" sz="2400" b="1" dirty="0" smtClean="0">
                <a:solidFill>
                  <a:srgbClr val="FF0000"/>
                </a:solidFill>
              </a:rPr>
              <a:t>     </a:t>
            </a:r>
            <a:r>
              <a:rPr lang="cs-CZ" sz="2400" b="1" dirty="0" err="1" smtClean="0">
                <a:solidFill>
                  <a:srgbClr val="FF0000"/>
                </a:solidFill>
              </a:rPr>
              <a:t>Buoh</a:t>
            </a:r>
            <a:r>
              <a:rPr lang="cs-CZ" sz="2400" b="1" dirty="0" smtClean="0">
                <a:solidFill>
                  <a:srgbClr val="FF0000"/>
                </a:solidFill>
              </a:rPr>
              <a:t> </a:t>
            </a:r>
            <a:r>
              <a:rPr lang="cs-CZ" sz="2400" b="1" dirty="0" err="1" smtClean="0">
                <a:solidFill>
                  <a:srgbClr val="FF0000"/>
                </a:solidFill>
              </a:rPr>
              <a:t>všemohúcí</a:t>
            </a:r>
            <a:r>
              <a:rPr lang="cs-CZ" sz="2400" b="1" dirty="0" smtClean="0">
                <a:solidFill>
                  <a:srgbClr val="FF0000"/>
                </a:solidFill>
              </a:rPr>
              <a:t> v stal z mrtvých </a:t>
            </a:r>
          </a:p>
          <a:p>
            <a:pPr marL="457200" indent="-457200"/>
            <a:r>
              <a:rPr lang="cs-CZ" sz="2400" b="1" dirty="0" smtClean="0">
                <a:solidFill>
                  <a:srgbClr val="FF0000"/>
                </a:solidFill>
              </a:rPr>
              <a:t>     Jezu Kriste, </a:t>
            </a:r>
            <a:r>
              <a:rPr lang="cs-CZ" sz="2400" b="1" dirty="0" err="1" smtClean="0">
                <a:solidFill>
                  <a:srgbClr val="FF0000"/>
                </a:solidFill>
              </a:rPr>
              <a:t>ščedrý</a:t>
            </a:r>
            <a:r>
              <a:rPr lang="cs-CZ" sz="2400" b="1" dirty="0" smtClean="0">
                <a:solidFill>
                  <a:srgbClr val="FF0000"/>
                </a:solidFill>
              </a:rPr>
              <a:t> </a:t>
            </a:r>
            <a:r>
              <a:rPr lang="cs-CZ" sz="2400" b="1" dirty="0" err="1" smtClean="0">
                <a:solidFill>
                  <a:srgbClr val="FF0000"/>
                </a:solidFill>
              </a:rPr>
              <a:t>kněže</a:t>
            </a:r>
            <a:r>
              <a:rPr lang="cs-CZ" sz="2400" b="1" dirty="0" smtClean="0">
                <a:solidFill>
                  <a:srgbClr val="FF0000"/>
                </a:solidFill>
              </a:rPr>
              <a:t> </a:t>
            </a:r>
            <a:r>
              <a:rPr lang="cs-CZ" sz="2400" b="1" dirty="0" smtClean="0">
                <a:solidFill>
                  <a:srgbClr val="002060"/>
                </a:solidFill>
              </a:rPr>
              <a:t>– obě zlidověly jako píseň</a:t>
            </a:r>
          </a:p>
          <a:p>
            <a:pPr marL="457200" indent="-457200"/>
            <a:r>
              <a:rPr lang="cs-CZ" sz="2400" b="1" dirty="0" smtClean="0">
                <a:solidFill>
                  <a:srgbClr val="002060"/>
                </a:solidFill>
              </a:rPr>
              <a:t>     </a:t>
            </a:r>
          </a:p>
          <a:p>
            <a:pPr marL="457200" indent="-457200"/>
            <a:r>
              <a:rPr lang="cs-CZ" sz="2400" b="1" i="1" dirty="0" smtClean="0">
                <a:solidFill>
                  <a:srgbClr val="002060"/>
                </a:solidFill>
              </a:rPr>
              <a:t>       </a:t>
            </a:r>
            <a:r>
              <a:rPr lang="cs-CZ" sz="2400" b="1" i="1" u="sng" dirty="0" smtClean="0">
                <a:solidFill>
                  <a:srgbClr val="002060"/>
                </a:solidFill>
              </a:rPr>
              <a:t> duchovní epika :</a:t>
            </a:r>
          </a:p>
          <a:p>
            <a:pPr marL="457200" indent="-457200"/>
            <a:endParaRPr lang="cs-CZ" sz="2400" b="1" i="1" u="sng" dirty="0" smtClean="0">
              <a:solidFill>
                <a:srgbClr val="002060"/>
              </a:solidFill>
            </a:endParaRPr>
          </a:p>
          <a:p>
            <a:pPr marL="457200" indent="-457200"/>
            <a:r>
              <a:rPr lang="cs-CZ" sz="2400" b="1" dirty="0" smtClean="0">
                <a:solidFill>
                  <a:srgbClr val="002060"/>
                </a:solidFill>
              </a:rPr>
              <a:t>        - stále </a:t>
            </a:r>
            <a:r>
              <a:rPr lang="cs-CZ" sz="2400" b="1" dirty="0" smtClean="0">
                <a:solidFill>
                  <a:srgbClr val="FF0000"/>
                </a:solidFill>
              </a:rPr>
              <a:t>legendy </a:t>
            </a:r>
            <a:r>
              <a:rPr lang="cs-CZ" sz="2400" b="1" dirty="0" smtClean="0">
                <a:solidFill>
                  <a:srgbClr val="002060"/>
                </a:solidFill>
              </a:rPr>
              <a:t>( veršované) – o svatém </a:t>
            </a:r>
            <a:r>
              <a:rPr lang="cs-CZ" sz="2400" b="1" dirty="0" smtClean="0">
                <a:solidFill>
                  <a:srgbClr val="FF0000"/>
                </a:solidFill>
              </a:rPr>
              <a:t>Prokopovi</a:t>
            </a:r>
            <a:r>
              <a:rPr lang="cs-CZ" sz="2400" b="1" dirty="0" smtClean="0">
                <a:solidFill>
                  <a:srgbClr val="002060"/>
                </a:solidFill>
              </a:rPr>
              <a:t>, o svaté</a:t>
            </a:r>
          </a:p>
          <a:p>
            <a:pPr marL="457200" indent="-457200"/>
            <a:r>
              <a:rPr lang="cs-CZ" sz="2400" b="1" dirty="0" smtClean="0">
                <a:solidFill>
                  <a:srgbClr val="002060"/>
                </a:solidFill>
              </a:rPr>
              <a:t>          </a:t>
            </a:r>
            <a:r>
              <a:rPr lang="cs-CZ" sz="2400" b="1" dirty="0" smtClean="0">
                <a:solidFill>
                  <a:srgbClr val="FF0000"/>
                </a:solidFill>
              </a:rPr>
              <a:t>Kateřině</a:t>
            </a:r>
            <a:r>
              <a:rPr lang="cs-CZ" sz="2400" b="1" dirty="0" smtClean="0">
                <a:solidFill>
                  <a:srgbClr val="002060"/>
                </a:solidFill>
              </a:rPr>
              <a:t>, o </a:t>
            </a:r>
            <a:r>
              <a:rPr lang="cs-CZ" sz="2400" b="1" dirty="0" smtClean="0">
                <a:solidFill>
                  <a:srgbClr val="FF0000"/>
                </a:solidFill>
              </a:rPr>
              <a:t>Jeronýmovi</a:t>
            </a:r>
            <a:r>
              <a:rPr lang="cs-CZ" sz="2400" b="1" dirty="0" smtClean="0">
                <a:solidFill>
                  <a:srgbClr val="002060"/>
                </a:solidFill>
              </a:rPr>
              <a:t>, o </a:t>
            </a:r>
            <a:r>
              <a:rPr lang="cs-CZ" sz="2400" b="1" dirty="0" smtClean="0">
                <a:solidFill>
                  <a:srgbClr val="FF0000"/>
                </a:solidFill>
              </a:rPr>
              <a:t>Adamovi a Evě </a:t>
            </a:r>
            <a:r>
              <a:rPr lang="cs-CZ" sz="2400" b="1" dirty="0" smtClean="0">
                <a:solidFill>
                  <a:srgbClr val="002060"/>
                </a:solidFill>
              </a:rPr>
              <a:t>aj.</a:t>
            </a:r>
          </a:p>
          <a:p>
            <a:pPr marL="457200" indent="-457200">
              <a:buFontTx/>
              <a:buChar char="-"/>
            </a:pPr>
            <a:endParaRPr lang="cs-CZ" sz="2400" b="1" dirty="0" smtClean="0">
              <a:solidFill>
                <a:srgbClr val="002060"/>
              </a:solidFill>
            </a:endParaRPr>
          </a:p>
        </p:txBody>
      </p:sp>
      <p:sp>
        <p:nvSpPr>
          <p:cNvPr id="3" name="Obdélník 2"/>
          <p:cNvSpPr/>
          <p:nvPr/>
        </p:nvSpPr>
        <p:spPr>
          <a:xfrm>
            <a:off x="500034" y="142852"/>
            <a:ext cx="6249468" cy="769441"/>
          </a:xfrm>
          <a:prstGeom prst="rect">
            <a:avLst/>
          </a:prstGeom>
          <a:solidFill>
            <a:schemeClr val="bg2">
              <a:lumMod val="90000"/>
            </a:schemeClr>
          </a:solidFill>
          <a:ln>
            <a:solidFill>
              <a:srgbClr val="002060"/>
            </a:solidFill>
          </a:ln>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chemeClr val="accent3">
                    <a:lumMod val="50000"/>
                  </a:schemeClr>
                </a:solidFill>
              </a:rPr>
              <a:t>1. duchovní lyrika a epika </a:t>
            </a:r>
            <a:endParaRPr lang="cs-CZ" sz="4400" b="1">
              <a:ln/>
              <a:solidFill>
                <a:schemeClr val="accent3">
                  <a:lumMod val="50000"/>
                </a:schemeClr>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214282" y="142852"/>
            <a:ext cx="8643966" cy="3631763"/>
          </a:xfrm>
          <a:prstGeom prst="rect">
            <a:avLst/>
          </a:prstGeom>
        </p:spPr>
        <p:txBody>
          <a:bodyPr wrap="square">
            <a:spAutoFit/>
          </a:bodyPr>
          <a:lstStyle/>
          <a:p>
            <a:r>
              <a:rPr lang="cs-CZ" sz="2300" b="1" i="1" smtClean="0">
                <a:solidFill>
                  <a:srgbClr val="002060"/>
                </a:solidFill>
              </a:rPr>
              <a:t>Legendy </a:t>
            </a:r>
            <a:r>
              <a:rPr lang="cs-CZ" sz="2300" b="1" i="1" smtClean="0"/>
              <a:t> = vyprávění o životě a skutcích světců , doslovný překlad </a:t>
            </a:r>
          </a:p>
          <a:p>
            <a:r>
              <a:rPr lang="cs-CZ" sz="2300" b="1" i="1" smtClean="0"/>
              <a:t>z latiny „ to, co má být čteno“, vzniká v raném feudalismu. Původně vyprávění o životě lidí prohlášených církví za svaté. Byly zpočátku předčítány při mších a svátcích jako jejich životopisy.</a:t>
            </a:r>
          </a:p>
          <a:p>
            <a:endParaRPr lang="cs-CZ" sz="2300" b="1" smtClean="0"/>
          </a:p>
          <a:p>
            <a:r>
              <a:rPr lang="cs-CZ" sz="2300" b="1" i="1" smtClean="0"/>
              <a:t>Byly psány dvěma různými formami :</a:t>
            </a:r>
          </a:p>
          <a:p>
            <a:pPr>
              <a:buFontTx/>
              <a:buChar char="-"/>
            </a:pPr>
            <a:r>
              <a:rPr lang="cs-CZ" sz="2300" b="1" i="1" smtClean="0"/>
              <a:t> přístupnou a </a:t>
            </a:r>
            <a:r>
              <a:rPr lang="cs-CZ" sz="2300" b="1" i="1" smtClean="0">
                <a:solidFill>
                  <a:srgbClr val="002060"/>
                </a:solidFill>
              </a:rPr>
              <a:t>srozumitelnou</a:t>
            </a:r>
            <a:r>
              <a:rPr lang="cs-CZ" sz="2300" b="1" i="1" smtClean="0"/>
              <a:t> širšímu okruhu čtenářů </a:t>
            </a:r>
          </a:p>
          <a:p>
            <a:r>
              <a:rPr lang="cs-CZ" sz="2300" b="1" i="1" smtClean="0"/>
              <a:t>  (Legenda o svatém Prokopu)</a:t>
            </a:r>
          </a:p>
          <a:p>
            <a:pPr>
              <a:buFontTx/>
              <a:buChar char="-"/>
            </a:pPr>
            <a:r>
              <a:rPr lang="cs-CZ" sz="2300" b="1" i="1" smtClean="0"/>
              <a:t> formou </a:t>
            </a:r>
            <a:r>
              <a:rPr lang="cs-CZ" sz="2300" b="1" i="1" smtClean="0">
                <a:solidFill>
                  <a:srgbClr val="002060"/>
                </a:solidFill>
              </a:rPr>
              <a:t>náročnou</a:t>
            </a:r>
            <a:r>
              <a:rPr lang="cs-CZ" sz="2300" b="1" i="1" smtClean="0"/>
              <a:t> a vybroušenější  (Život svaté Kateřiny)</a:t>
            </a:r>
          </a:p>
          <a:p>
            <a:endParaRPr lang="cs-CZ" sz="2300" b="1" smtClean="0"/>
          </a:p>
        </p:txBody>
      </p:sp>
      <p:pic>
        <p:nvPicPr>
          <p:cNvPr id="18436" name="Picture 4" descr="http://www.pravoslavneikony.ivetakadlecova.cz/pic/icons/SvKaterina.jpg"/>
          <p:cNvPicPr>
            <a:picLocks noChangeAspect="1" noChangeArrowheads="1"/>
          </p:cNvPicPr>
          <p:nvPr/>
        </p:nvPicPr>
        <p:blipFill>
          <a:blip r:embed="rId2" cstate="print"/>
          <a:srcRect/>
          <a:stretch>
            <a:fillRect/>
          </a:stretch>
        </p:blipFill>
        <p:spPr bwMode="auto">
          <a:xfrm>
            <a:off x="6072198" y="3429000"/>
            <a:ext cx="2500330" cy="3264139"/>
          </a:xfrm>
          <a:prstGeom prst="rect">
            <a:avLst/>
          </a:prstGeom>
          <a:noFill/>
          <a:ln>
            <a:solidFill>
              <a:schemeClr val="accent1"/>
            </a:solidFill>
          </a:ln>
        </p:spPr>
      </p:pic>
      <p:pic>
        <p:nvPicPr>
          <p:cNvPr id="18440" name="Picture 8" descr="http://www.svprokop-sazava.cz/obrazky/fotogalerie/mil%20obraz%20sv%20propa.JPG"/>
          <p:cNvPicPr>
            <a:picLocks noChangeAspect="1" noChangeArrowheads="1"/>
          </p:cNvPicPr>
          <p:nvPr/>
        </p:nvPicPr>
        <p:blipFill>
          <a:blip r:embed="rId3" cstate="print"/>
          <a:srcRect/>
          <a:stretch>
            <a:fillRect/>
          </a:stretch>
        </p:blipFill>
        <p:spPr bwMode="auto">
          <a:xfrm>
            <a:off x="3214678" y="3429000"/>
            <a:ext cx="2428892" cy="3234602"/>
          </a:xfrm>
          <a:prstGeom prst="rect">
            <a:avLst/>
          </a:prstGeom>
          <a:noFill/>
          <a:ln>
            <a:solidFill>
              <a:schemeClr val="accent1"/>
            </a:solidFill>
          </a:ln>
        </p:spPr>
      </p:pic>
      <p:sp>
        <p:nvSpPr>
          <p:cNvPr id="7" name="Obdélník 6"/>
          <p:cNvSpPr/>
          <p:nvPr/>
        </p:nvSpPr>
        <p:spPr>
          <a:xfrm>
            <a:off x="428596" y="3643314"/>
            <a:ext cx="2357454" cy="2585323"/>
          </a:xfrm>
          <a:prstGeom prst="rect">
            <a:avLst/>
          </a:prstGeom>
          <a:ln>
            <a:solidFill>
              <a:srgbClr val="002060"/>
            </a:solidFill>
          </a:ln>
        </p:spPr>
        <p:txBody>
          <a:bodyPr wrap="square">
            <a:spAutoFit/>
          </a:bodyPr>
          <a:lstStyle/>
          <a:p>
            <a:r>
              <a:rPr lang="cs-CZ" b="1" i="1" dirty="0" smtClean="0"/>
              <a:t>Obraz pochází z roku 1600. Prokop je namalován po smrti </a:t>
            </a:r>
          </a:p>
          <a:p>
            <a:r>
              <a:rPr lang="cs-CZ" b="1" i="1" dirty="0" smtClean="0"/>
              <a:t>se zavřenýma očima.</a:t>
            </a:r>
          </a:p>
          <a:p>
            <a:r>
              <a:rPr lang="cs-CZ" b="1" i="1" dirty="0" smtClean="0"/>
              <a:t>Existuje </a:t>
            </a:r>
            <a:r>
              <a:rPr lang="cs-CZ" b="1" i="1" dirty="0" smtClean="0"/>
              <a:t>86 písemných svědectví poutníků, kteří pod přísahou potvrzovali, že viděli sv. Prokopa otvírat oči</a:t>
            </a:r>
            <a:endParaRPr lang="cs-CZ" b="1" i="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428596" y="1214422"/>
            <a:ext cx="8572560" cy="5262979"/>
          </a:xfrm>
          <a:prstGeom prst="rect">
            <a:avLst/>
          </a:prstGeom>
        </p:spPr>
        <p:txBody>
          <a:bodyPr wrap="square">
            <a:spAutoFit/>
          </a:bodyPr>
          <a:lstStyle/>
          <a:p>
            <a:r>
              <a:rPr lang="cs-CZ" sz="2400" b="1" smtClean="0"/>
              <a:t>- zájem o </a:t>
            </a:r>
            <a:r>
              <a:rPr lang="cs-CZ" sz="2400" b="1" i="1" smtClean="0">
                <a:solidFill>
                  <a:srgbClr val="002060"/>
                </a:solidFill>
              </a:rPr>
              <a:t>sázavského světce </a:t>
            </a:r>
            <a:r>
              <a:rPr lang="cs-CZ" sz="2400" b="1" smtClean="0"/>
              <a:t>podporovalo Karlovo</a:t>
            </a:r>
          </a:p>
          <a:p>
            <a:r>
              <a:rPr lang="cs-CZ" sz="2400" b="1" smtClean="0"/>
              <a:t>  úsilí o zavedení slovanské bohoslužby do nově</a:t>
            </a:r>
          </a:p>
          <a:p>
            <a:r>
              <a:rPr lang="cs-CZ" sz="2400" b="1" smtClean="0"/>
              <a:t>  zařízeného Emauzského kláštera  v Praze</a:t>
            </a:r>
          </a:p>
          <a:p>
            <a:r>
              <a:rPr lang="cs-CZ" sz="2400" b="1" smtClean="0"/>
              <a:t>- forma realistického životopisu, psáno jako kronika</a:t>
            </a:r>
          </a:p>
          <a:p>
            <a:pPr>
              <a:buFontTx/>
              <a:buChar char="-"/>
            </a:pPr>
            <a:r>
              <a:rPr lang="cs-CZ" sz="2400" b="1" smtClean="0"/>
              <a:t> zdůrazňuje </a:t>
            </a:r>
            <a:r>
              <a:rPr lang="cs-CZ" sz="2400" b="1" i="1" smtClean="0">
                <a:solidFill>
                  <a:srgbClr val="002060"/>
                </a:solidFill>
              </a:rPr>
              <a:t>tradici staroslověnské vzdělanosti</a:t>
            </a:r>
          </a:p>
          <a:p>
            <a:pPr>
              <a:buFontTx/>
              <a:buChar char="-"/>
            </a:pPr>
            <a:r>
              <a:rPr lang="cs-CZ" sz="2400" b="1" smtClean="0"/>
              <a:t> líčí celý  život zakladatele Sázavského kláštera sv. Prokopa</a:t>
            </a:r>
          </a:p>
          <a:p>
            <a:pPr>
              <a:buFontTx/>
              <a:buChar char="-"/>
            </a:pPr>
            <a:r>
              <a:rPr lang="cs-CZ" sz="2400" b="1" smtClean="0"/>
              <a:t> po jeho smrti jsou z kláštera vypuzeni slovanští mniši a jsou</a:t>
            </a:r>
          </a:p>
          <a:p>
            <a:r>
              <a:rPr lang="cs-CZ" sz="2400" b="1" smtClean="0"/>
              <a:t>  nahrazeni německými </a:t>
            </a:r>
          </a:p>
          <a:p>
            <a:r>
              <a:rPr lang="cs-CZ" sz="2400" b="1" i="1" smtClean="0">
                <a:solidFill>
                  <a:srgbClr val="002060"/>
                </a:solidFill>
              </a:rPr>
              <a:t>- dílo vrcholí posmrtným zázrakem = vyhání Němce, vlastenectví</a:t>
            </a:r>
          </a:p>
          <a:p>
            <a:pPr>
              <a:buFontTx/>
              <a:buChar char="-"/>
            </a:pPr>
            <a:r>
              <a:rPr lang="cs-CZ" sz="2400" b="1" smtClean="0"/>
              <a:t> základem této (již třetí prokopské legendy) je </a:t>
            </a:r>
            <a:r>
              <a:rPr lang="cs-CZ" sz="2400" b="1" i="1" smtClean="0"/>
              <a:t>Vita maior</a:t>
            </a:r>
          </a:p>
          <a:p>
            <a:r>
              <a:rPr lang="cs-CZ" sz="2400" b="1" i="1" smtClean="0"/>
              <a:t>  </a:t>
            </a:r>
            <a:r>
              <a:rPr lang="cs-CZ" sz="2400" b="1" smtClean="0"/>
              <a:t> (druhá prokopská legenda)</a:t>
            </a:r>
          </a:p>
          <a:p>
            <a:pPr>
              <a:buFontTx/>
              <a:buChar char="-"/>
            </a:pPr>
            <a:r>
              <a:rPr lang="cs-CZ" sz="2400" b="1" smtClean="0"/>
              <a:t> legenda </a:t>
            </a:r>
            <a:r>
              <a:rPr lang="cs-CZ" sz="2400" b="1" i="1" smtClean="0">
                <a:solidFill>
                  <a:srgbClr val="002060"/>
                </a:solidFill>
              </a:rPr>
              <a:t>reaguje na sociální poměry ve městech </a:t>
            </a:r>
            <a:r>
              <a:rPr lang="cs-CZ" sz="2400" b="1" smtClean="0"/>
              <a:t>= problémy</a:t>
            </a:r>
          </a:p>
          <a:p>
            <a:r>
              <a:rPr lang="cs-CZ" sz="2400" b="1" smtClean="0"/>
              <a:t>   s německým patriciátem</a:t>
            </a:r>
          </a:p>
          <a:p>
            <a:r>
              <a:rPr lang="cs-CZ" sz="2400" b="1" smtClean="0"/>
              <a:t> - </a:t>
            </a:r>
            <a:r>
              <a:rPr lang="cs-CZ" sz="2400" b="1" i="1" smtClean="0">
                <a:solidFill>
                  <a:srgbClr val="002060"/>
                </a:solidFill>
              </a:rPr>
              <a:t>napsána prostým a srozumitelným jazykem</a:t>
            </a:r>
          </a:p>
        </p:txBody>
      </p:sp>
      <p:pic>
        <p:nvPicPr>
          <p:cNvPr id="15362" name="Picture 2" descr="http://www.svprokop-sazava.cz/obrazky/prefoceno/P1050905.JPG"/>
          <p:cNvPicPr>
            <a:picLocks noChangeAspect="1" noChangeArrowheads="1"/>
          </p:cNvPicPr>
          <p:nvPr/>
        </p:nvPicPr>
        <p:blipFill>
          <a:blip r:embed="rId2" cstate="print"/>
          <a:srcRect/>
          <a:stretch>
            <a:fillRect/>
          </a:stretch>
        </p:blipFill>
        <p:spPr bwMode="auto">
          <a:xfrm>
            <a:off x="7000892" y="285728"/>
            <a:ext cx="1936732" cy="2579183"/>
          </a:xfrm>
          <a:prstGeom prst="rect">
            <a:avLst/>
          </a:prstGeom>
          <a:noFill/>
          <a:ln>
            <a:solidFill>
              <a:schemeClr val="accent1"/>
            </a:solidFill>
          </a:ln>
        </p:spPr>
      </p:pic>
      <p:sp>
        <p:nvSpPr>
          <p:cNvPr id="4" name="Obdélník 3"/>
          <p:cNvSpPr/>
          <p:nvPr/>
        </p:nvSpPr>
        <p:spPr>
          <a:xfrm>
            <a:off x="525377" y="285728"/>
            <a:ext cx="6261201" cy="707886"/>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000" b="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Legenda o svatém Prokopovi</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délník 2"/>
          <p:cNvSpPr/>
          <p:nvPr/>
        </p:nvSpPr>
        <p:spPr>
          <a:xfrm>
            <a:off x="357158" y="214290"/>
            <a:ext cx="3357586" cy="923330"/>
          </a:xfrm>
          <a:prstGeom prst="rect">
            <a:avLst/>
          </a:prstGeom>
          <a:solidFill>
            <a:schemeClr val="bg2">
              <a:lumMod val="75000"/>
            </a:schemeClr>
          </a:solidFill>
        </p:spPr>
        <p:txBody>
          <a:bodyPr wrap="square">
            <a:spAutoFit/>
          </a:bodyPr>
          <a:lstStyle/>
          <a:p>
            <a:r>
              <a:rPr lang="cs-CZ" b="1" i="1" smtClean="0"/>
              <a:t>Barokní socha svatého Prokopa</a:t>
            </a:r>
          </a:p>
          <a:p>
            <a:r>
              <a:rPr lang="cs-CZ" b="1" i="1" smtClean="0"/>
              <a:t> na kostele svatého Jana Nepomuckého v Kutné Hoře</a:t>
            </a:r>
            <a:endParaRPr lang="cs-CZ" b="1" i="1"/>
          </a:p>
        </p:txBody>
      </p:sp>
      <p:pic>
        <p:nvPicPr>
          <p:cNvPr id="1028" name="Picture 4" descr="Soubor:Josef Mathauser - Kníže Oldřich se setkává s poustevníkem Prokopem.jpg">
            <a:hlinkClick r:id="rId2"/>
          </p:cNvPr>
          <p:cNvPicPr>
            <a:picLocks noChangeAspect="1" noChangeArrowheads="1"/>
          </p:cNvPicPr>
          <p:nvPr/>
        </p:nvPicPr>
        <p:blipFill>
          <a:blip r:embed="rId3" cstate="print"/>
          <a:srcRect/>
          <a:stretch>
            <a:fillRect/>
          </a:stretch>
        </p:blipFill>
        <p:spPr bwMode="auto">
          <a:xfrm>
            <a:off x="4000496" y="2500306"/>
            <a:ext cx="4572032" cy="2943897"/>
          </a:xfrm>
          <a:prstGeom prst="rect">
            <a:avLst/>
          </a:prstGeom>
          <a:noFill/>
          <a:ln>
            <a:solidFill>
              <a:schemeClr val="accent1"/>
            </a:solidFill>
          </a:ln>
        </p:spPr>
      </p:pic>
      <p:sp>
        <p:nvSpPr>
          <p:cNvPr id="5" name="Obdélník 4"/>
          <p:cNvSpPr/>
          <p:nvPr/>
        </p:nvSpPr>
        <p:spPr>
          <a:xfrm>
            <a:off x="6215074" y="1857364"/>
            <a:ext cx="2786082" cy="954107"/>
          </a:xfrm>
          <a:prstGeom prst="rect">
            <a:avLst/>
          </a:prstGeom>
          <a:solidFill>
            <a:schemeClr val="bg2">
              <a:lumMod val="75000"/>
            </a:schemeClr>
          </a:solidFill>
          <a:ln>
            <a:solidFill>
              <a:schemeClr val="accent1"/>
            </a:solidFill>
          </a:ln>
        </p:spPr>
        <p:txBody>
          <a:bodyPr wrap="square">
            <a:spAutoFit/>
          </a:bodyPr>
          <a:lstStyle/>
          <a:p>
            <a:r>
              <a:rPr lang="pt-BR" b="1" i="1" smtClean="0"/>
              <a:t>Kníže Oldřich</a:t>
            </a:r>
            <a:r>
              <a:rPr lang="cs-CZ" b="1" i="1" smtClean="0"/>
              <a:t> </a:t>
            </a:r>
            <a:r>
              <a:rPr lang="pt-BR" b="1" i="1" smtClean="0"/>
              <a:t>se setkává </a:t>
            </a:r>
            <a:endParaRPr lang="cs-CZ" b="1" i="1" smtClean="0"/>
          </a:p>
          <a:p>
            <a:r>
              <a:rPr lang="pt-BR" b="1" i="1" smtClean="0"/>
              <a:t>s poustevníkem Prokopem</a:t>
            </a:r>
            <a:r>
              <a:rPr lang="pt-BR" b="1" smtClean="0"/>
              <a:t> </a:t>
            </a:r>
            <a:endParaRPr lang="cs-CZ" b="1" smtClean="0"/>
          </a:p>
          <a:p>
            <a:r>
              <a:rPr lang="cs-CZ" sz="2000" b="1" smtClean="0"/>
              <a:t>(</a:t>
            </a:r>
            <a:r>
              <a:rPr lang="pt-BR" b="1" smtClean="0"/>
              <a:t>obraz Josefa Mathausera</a:t>
            </a:r>
            <a:r>
              <a:rPr lang="cs-CZ" b="1" smtClean="0"/>
              <a:t>)</a:t>
            </a:r>
            <a:endParaRPr lang="pt-BR" b="1"/>
          </a:p>
        </p:txBody>
      </p:sp>
      <p:sp>
        <p:nvSpPr>
          <p:cNvPr id="6" name="Obdélník 5"/>
          <p:cNvSpPr/>
          <p:nvPr/>
        </p:nvSpPr>
        <p:spPr>
          <a:xfrm>
            <a:off x="428596" y="5643578"/>
            <a:ext cx="8429684" cy="1015663"/>
          </a:xfrm>
          <a:prstGeom prst="rect">
            <a:avLst/>
          </a:prstGeom>
          <a:ln>
            <a:solidFill>
              <a:srgbClr val="002060"/>
            </a:solidFill>
          </a:ln>
        </p:spPr>
        <p:txBody>
          <a:bodyPr wrap="square">
            <a:spAutoFit/>
          </a:bodyPr>
          <a:lstStyle/>
          <a:p>
            <a:r>
              <a:rPr lang="cs-CZ" sz="2000" b="1" i="1" smtClean="0"/>
              <a:t>Roku 1204 byl  kanonizován papežem Inocencem III.  - prohlášen za svatého. Roku 1588 byly Prokopovy ostatky přeneseny do Prahy a uloženy  v kostele Všech svatých na Pražském hradě</a:t>
            </a:r>
            <a:endParaRPr lang="cs-CZ" sz="2000" b="1" i="1"/>
          </a:p>
        </p:txBody>
      </p:sp>
      <p:sp>
        <p:nvSpPr>
          <p:cNvPr id="7" name="Obdélník 6"/>
          <p:cNvSpPr/>
          <p:nvPr/>
        </p:nvSpPr>
        <p:spPr>
          <a:xfrm>
            <a:off x="3714744" y="768004"/>
            <a:ext cx="5072098" cy="1446550"/>
          </a:xfrm>
          <a:prstGeom prst="rect">
            <a:avLst/>
          </a:prstGeom>
        </p:spPr>
        <p:txBody>
          <a:bodyPr wrap="square">
            <a:spAutoFit/>
          </a:bodyPr>
          <a:lstStyle/>
          <a:p>
            <a:r>
              <a:rPr lang="cs-CZ" sz="2200" b="1" smtClean="0"/>
              <a:t>(kolem 970 Chotouň– 25. 3. 1053 Sázava) byl původně světský kněz a později poustevník, zakladatel </a:t>
            </a:r>
            <a:r>
              <a:rPr lang="cs-CZ" sz="2200" b="1" smtClean="0">
                <a:solidFill>
                  <a:srgbClr val="002060"/>
                </a:solidFill>
              </a:rPr>
              <a:t>Sázavského kláštera.</a:t>
            </a:r>
            <a:endParaRPr lang="cs-CZ" sz="2200" b="1">
              <a:solidFill>
                <a:srgbClr val="002060"/>
              </a:solidFill>
            </a:endParaRPr>
          </a:p>
        </p:txBody>
      </p:sp>
      <p:pic>
        <p:nvPicPr>
          <p:cNvPr id="8" name="Picture 2" descr="Soubor:Nepomucky2-20061.jpg">
            <a:hlinkClick r:id="rId4"/>
          </p:cNvPr>
          <p:cNvPicPr>
            <a:picLocks noChangeAspect="1" noChangeArrowheads="1"/>
          </p:cNvPicPr>
          <p:nvPr/>
        </p:nvPicPr>
        <p:blipFill>
          <a:blip r:embed="rId5" cstate="print"/>
          <a:srcRect/>
          <a:stretch>
            <a:fillRect/>
          </a:stretch>
        </p:blipFill>
        <p:spPr bwMode="auto">
          <a:xfrm>
            <a:off x="500034" y="1142984"/>
            <a:ext cx="2928958" cy="4393437"/>
          </a:xfrm>
          <a:prstGeom prst="rect">
            <a:avLst/>
          </a:prstGeom>
          <a:noFill/>
          <a:ln>
            <a:solidFill>
              <a:schemeClr val="accent1"/>
            </a:solidFill>
          </a:ln>
        </p:spPr>
      </p:pic>
      <p:sp>
        <p:nvSpPr>
          <p:cNvPr id="9" name="Obdélník 8"/>
          <p:cNvSpPr/>
          <p:nvPr/>
        </p:nvSpPr>
        <p:spPr>
          <a:xfrm>
            <a:off x="3786182" y="0"/>
            <a:ext cx="2502223" cy="707886"/>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000" b="1" smtClean="0">
                <a:ln w="11430"/>
                <a:solidFill>
                  <a:srgbClr val="002060"/>
                </a:solidFill>
                <a:effectLst>
                  <a:outerShdw blurRad="50800" dist="39000" dir="5460000" algn="tl">
                    <a:srgbClr val="000000">
                      <a:alpha val="38000"/>
                    </a:srgbClr>
                  </a:outerShdw>
                </a:effectLst>
              </a:rPr>
              <a:t>Sv. Prokop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285720" y="745412"/>
            <a:ext cx="8786842" cy="5755422"/>
          </a:xfrm>
          <a:prstGeom prst="rect">
            <a:avLst/>
          </a:prstGeom>
        </p:spPr>
        <p:txBody>
          <a:bodyPr wrap="square">
            <a:spAutoFit/>
          </a:bodyPr>
          <a:lstStyle/>
          <a:p>
            <a:pPr>
              <a:buFont typeface="Arial" pitchFamily="34" charset="0"/>
              <a:buChar char="•"/>
            </a:pPr>
            <a:r>
              <a:rPr lang="cs-CZ" sz="2300" b="1" smtClean="0"/>
              <a:t> Život svaté Kateřiny, 14.stol.</a:t>
            </a:r>
          </a:p>
          <a:p>
            <a:pPr>
              <a:buFont typeface="Arial" pitchFamily="34" charset="0"/>
              <a:buChar char="•"/>
            </a:pPr>
            <a:r>
              <a:rPr lang="cs-CZ" sz="2300" b="1" smtClean="0"/>
              <a:t> 3519 veršů = veršovaný epos</a:t>
            </a:r>
          </a:p>
          <a:p>
            <a:pPr>
              <a:buFont typeface="Arial" pitchFamily="34" charset="0"/>
              <a:buChar char="•"/>
            </a:pPr>
            <a:r>
              <a:rPr lang="cs-CZ" sz="2300" b="1" smtClean="0"/>
              <a:t> vyprávění o životě světice</a:t>
            </a:r>
          </a:p>
          <a:p>
            <a:pPr>
              <a:buFont typeface="Arial" pitchFamily="34" charset="0"/>
              <a:buChar char="•"/>
            </a:pPr>
            <a:r>
              <a:rPr lang="cs-CZ" sz="2300" b="1" smtClean="0"/>
              <a:t> mystické prvky</a:t>
            </a:r>
          </a:p>
          <a:p>
            <a:pPr>
              <a:buFont typeface="Arial" pitchFamily="34" charset="0"/>
              <a:buChar char="•"/>
            </a:pPr>
            <a:r>
              <a:rPr lang="cs-CZ" sz="2300" b="1" smtClean="0"/>
              <a:t> děj se odehrává v Alexandrii ve 4.století</a:t>
            </a:r>
          </a:p>
          <a:p>
            <a:pPr>
              <a:buFont typeface="Arial" pitchFamily="34" charset="0"/>
              <a:buChar char="•"/>
            </a:pPr>
            <a:r>
              <a:rPr lang="cs-CZ" sz="2300" b="1" smtClean="0"/>
              <a:t> </a:t>
            </a:r>
            <a:r>
              <a:rPr lang="cs-CZ" sz="2300" b="1" i="1" smtClean="0">
                <a:solidFill>
                  <a:srgbClr val="002060"/>
                </a:solidFill>
              </a:rPr>
              <a:t>egyptská královská  dcera Kateřina </a:t>
            </a:r>
          </a:p>
          <a:p>
            <a:r>
              <a:rPr lang="cs-CZ" sz="2300" b="1" i="1" smtClean="0">
                <a:solidFill>
                  <a:srgbClr val="002060"/>
                </a:solidFill>
              </a:rPr>
              <a:t>  Alexandrijská přijala křesťanství  a zasnoubila</a:t>
            </a:r>
          </a:p>
          <a:p>
            <a:r>
              <a:rPr lang="cs-CZ" sz="2300" b="1" i="1" smtClean="0">
                <a:solidFill>
                  <a:srgbClr val="002060"/>
                </a:solidFill>
              </a:rPr>
              <a:t>  se Kristu</a:t>
            </a:r>
          </a:p>
          <a:p>
            <a:pPr>
              <a:buFont typeface="Arial" pitchFamily="34" charset="0"/>
              <a:buChar char="•"/>
            </a:pPr>
            <a:r>
              <a:rPr lang="cs-CZ" sz="2300" b="1" smtClean="0"/>
              <a:t> získá  50 pohanských  kněží ( upáleni)</a:t>
            </a:r>
          </a:p>
          <a:p>
            <a:pPr>
              <a:buFont typeface="Arial" pitchFamily="34" charset="0"/>
              <a:buChar char="•"/>
            </a:pPr>
            <a:r>
              <a:rPr lang="cs-CZ" sz="2300" b="1" smtClean="0"/>
              <a:t> odmítne za manžela syna pohanského císaře Maxencia</a:t>
            </a:r>
          </a:p>
          <a:p>
            <a:pPr>
              <a:buFont typeface="Arial" pitchFamily="34" charset="0"/>
              <a:buChar char="•"/>
            </a:pPr>
            <a:r>
              <a:rPr lang="cs-CZ" sz="2300" b="1" smtClean="0"/>
              <a:t> pro svou pevnost ve víře byla </a:t>
            </a:r>
            <a:r>
              <a:rPr lang="cs-CZ" sz="2300" b="1" i="1" smtClean="0">
                <a:solidFill>
                  <a:srgbClr val="002060"/>
                </a:solidFill>
              </a:rPr>
              <a:t>nepřáteli umučena </a:t>
            </a:r>
          </a:p>
          <a:p>
            <a:pPr>
              <a:buFont typeface="Arial" pitchFamily="34" charset="0"/>
              <a:buChar char="•"/>
            </a:pPr>
            <a:r>
              <a:rPr lang="cs-CZ" sz="2300" b="1" smtClean="0"/>
              <a:t> na zmučeném těle světice  poté se zázrakem objevilo 6 barev</a:t>
            </a:r>
          </a:p>
          <a:p>
            <a:r>
              <a:rPr lang="cs-CZ" sz="2300" b="1" smtClean="0"/>
              <a:t>  (co barva, to lidská ctnost)</a:t>
            </a:r>
          </a:p>
          <a:p>
            <a:pPr>
              <a:buFont typeface="Arial" pitchFamily="34" charset="0"/>
              <a:buChar char="•"/>
            </a:pPr>
            <a:r>
              <a:rPr lang="cs-CZ" sz="2300" b="1" smtClean="0"/>
              <a:t> postava sv. Kateřiny byla velmi oblíbena u vyšších vrstev ,</a:t>
            </a:r>
          </a:p>
          <a:p>
            <a:r>
              <a:rPr lang="cs-CZ" sz="2300" b="1" smtClean="0"/>
              <a:t>   především u dvora Karla IV., stala se </a:t>
            </a:r>
            <a:r>
              <a:rPr lang="cs-CZ" sz="2300" b="1" i="1" smtClean="0">
                <a:solidFill>
                  <a:srgbClr val="002060"/>
                </a:solidFill>
              </a:rPr>
              <a:t>patronkou artistické</a:t>
            </a:r>
          </a:p>
          <a:p>
            <a:r>
              <a:rPr lang="cs-CZ" sz="2300" b="1" i="1" smtClean="0">
                <a:solidFill>
                  <a:srgbClr val="002060"/>
                </a:solidFill>
              </a:rPr>
              <a:t>  (filozofické) fakulty UK23</a:t>
            </a:r>
          </a:p>
        </p:txBody>
      </p:sp>
      <p:sp>
        <p:nvSpPr>
          <p:cNvPr id="4" name="Obdélník 3"/>
          <p:cNvSpPr/>
          <p:nvPr/>
        </p:nvSpPr>
        <p:spPr>
          <a:xfrm>
            <a:off x="357158" y="-24"/>
            <a:ext cx="5521768" cy="769441"/>
          </a:xfrm>
          <a:prstGeom prst="rect">
            <a:avLst/>
          </a:prstGeom>
        </p:spPr>
        <p:txBody>
          <a:bodyPr wrap="none">
            <a:spAutoFit/>
            <a:scene3d>
              <a:camera prst="orthographicFront"/>
              <a:lightRig rig="balanced" dir="t">
                <a:rot lat="0" lon="0" rev="2100000"/>
              </a:lightRig>
            </a:scene3d>
            <a:sp3d extrusionH="57150" prstMaterial="metal">
              <a:bevelT w="38100" h="25400"/>
              <a:contourClr>
                <a:schemeClr val="bg2"/>
              </a:contourClr>
            </a:sp3d>
          </a:bodyPr>
          <a:lstStyle/>
          <a:p>
            <a:r>
              <a:rPr lang="cs-CZ" sz="4400" b="1" smtClean="0">
                <a:ln w="50800"/>
                <a:solidFill>
                  <a:srgbClr val="FF0000"/>
                </a:solidFill>
              </a:rPr>
              <a:t>Legenda o sv. Kateřině </a:t>
            </a:r>
            <a:endParaRPr lang="cs-CZ" sz="4400" b="1">
              <a:ln w="50800"/>
              <a:solidFill>
                <a:srgbClr val="FF0000"/>
              </a:solidFill>
            </a:endParaRPr>
          </a:p>
        </p:txBody>
      </p:sp>
      <p:pic>
        <p:nvPicPr>
          <p:cNvPr id="15362" name="Picture 2" descr="Soubor:Michelangelo Caravaggio 060.jpg">
            <a:hlinkClick r:id="rId2"/>
          </p:cNvPr>
          <p:cNvPicPr>
            <a:picLocks noChangeAspect="1" noChangeArrowheads="1"/>
          </p:cNvPicPr>
          <p:nvPr/>
        </p:nvPicPr>
        <p:blipFill>
          <a:blip r:embed="rId3" cstate="print"/>
          <a:srcRect/>
          <a:stretch>
            <a:fillRect/>
          </a:stretch>
        </p:blipFill>
        <p:spPr bwMode="auto">
          <a:xfrm>
            <a:off x="6286512" y="214290"/>
            <a:ext cx="2643206" cy="3495101"/>
          </a:xfrm>
          <a:prstGeom prst="rect">
            <a:avLst/>
          </a:prstGeom>
          <a:noFill/>
          <a:ln>
            <a:solidFill>
              <a:schemeClr val="accent1"/>
            </a:solidFill>
          </a:ln>
        </p:spPr>
      </p:pic>
      <p:sp>
        <p:nvSpPr>
          <p:cNvPr id="15363" name="Rectangle 3"/>
          <p:cNvSpPr>
            <a:spLocks noChangeArrowheads="1"/>
          </p:cNvSpPr>
          <p:nvPr/>
        </p:nvSpPr>
        <p:spPr bwMode="auto">
          <a:xfrm>
            <a:off x="4572000" y="928670"/>
            <a:ext cx="1643074" cy="1077218"/>
          </a:xfrm>
          <a:prstGeom prst="rect">
            <a:avLst/>
          </a:prstGeom>
          <a:noFill/>
          <a:ln w="9525">
            <a:solidFill>
              <a:srgbClr val="00206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sz="1600" b="1" i="1" strike="noStrike" cap="none" normalizeH="0" baseline="0" smtClean="0">
                <a:ln>
                  <a:noFill/>
                </a:ln>
                <a:effectLst/>
                <a:latin typeface="Arial" charset="0"/>
              </a:rPr>
              <a:t>Caravaggio: </a:t>
            </a:r>
          </a:p>
          <a:p>
            <a:pPr marL="0" marR="0" lvl="0" indent="0" algn="l" defTabSz="914400" rtl="0" eaLnBrk="1" fontAlgn="base" latinLnBrk="0" hangingPunct="1">
              <a:lnSpc>
                <a:spcPct val="100000"/>
              </a:lnSpc>
              <a:spcBef>
                <a:spcPct val="0"/>
              </a:spcBef>
              <a:spcAft>
                <a:spcPct val="0"/>
              </a:spcAft>
              <a:buClrTx/>
              <a:buSzTx/>
              <a:buFontTx/>
              <a:buNone/>
              <a:tabLst/>
            </a:pPr>
            <a:r>
              <a:rPr kumimoji="0" lang="cs-CZ" sz="1600" b="1" i="1" u="none" strike="noStrike" cap="none" normalizeH="0" baseline="0" smtClean="0">
                <a:ln>
                  <a:noFill/>
                </a:ln>
                <a:effectLst/>
                <a:latin typeface="Arial" charset="0"/>
              </a:rPr>
              <a:t>Sv. Kateřina </a:t>
            </a:r>
          </a:p>
          <a:p>
            <a:pPr marL="0" marR="0" lvl="0" indent="0" algn="l" defTabSz="914400" rtl="0" eaLnBrk="1" fontAlgn="base" latinLnBrk="0" hangingPunct="1">
              <a:lnSpc>
                <a:spcPct val="100000"/>
              </a:lnSpc>
              <a:spcBef>
                <a:spcPct val="0"/>
              </a:spcBef>
              <a:spcAft>
                <a:spcPct val="0"/>
              </a:spcAft>
              <a:buClrTx/>
              <a:buSzTx/>
              <a:buFontTx/>
              <a:buNone/>
              <a:tabLst/>
            </a:pPr>
            <a:r>
              <a:rPr kumimoji="0" lang="cs-CZ" sz="1600" b="1" i="1" u="none" strike="noStrike" cap="none" normalizeH="0" baseline="0" smtClean="0">
                <a:ln>
                  <a:noFill/>
                </a:ln>
                <a:effectLst/>
                <a:latin typeface="Arial" charset="0"/>
              </a:rPr>
              <a:t>Alexandrijská</a:t>
            </a:r>
            <a:r>
              <a:rPr kumimoji="0" lang="cs-CZ" sz="1600" b="1" i="0" u="none" strike="noStrike" cap="none" normalizeH="0" baseline="0" smtClean="0">
                <a:ln>
                  <a:noFill/>
                </a:ln>
                <a:effectLst/>
                <a:latin typeface="Arial"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cs-CZ" sz="1600" b="1" i="0" u="none" strike="noStrike" cap="none" normalizeH="0" baseline="0" smtClean="0">
                <a:ln>
                  <a:noFill/>
                </a:ln>
                <a:effectLst/>
                <a:latin typeface="Arial" charset="0"/>
              </a:rPr>
              <a:t>(1595 – 1596)</a:t>
            </a:r>
          </a:p>
        </p:txBody>
      </p:sp>
      <p:pic>
        <p:nvPicPr>
          <p:cNvPr id="15364" name="Picture 4" descr="http://bits.wikimedia.org/skins-1.5/common/images/magnify-clip.png">
            <a:hlinkClick r:id="rId4" tooltip="Zvětšit"/>
          </p:cNvPr>
          <p:cNvPicPr>
            <a:picLocks noChangeAspect="1" noChangeArrowheads="1"/>
          </p:cNvPicPr>
          <p:nvPr/>
        </p:nvPicPr>
        <p:blipFill>
          <a:blip r:embed="rId5" cstate="print"/>
          <a:srcRect/>
          <a:stretch>
            <a:fillRect/>
          </a:stretch>
        </p:blipFill>
        <p:spPr bwMode="auto">
          <a:xfrm>
            <a:off x="130175" y="-130175"/>
            <a:ext cx="142875" cy="104775"/>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642910" y="214290"/>
            <a:ext cx="8143932" cy="1015663"/>
          </a:xfrm>
          <a:prstGeom prst="rect">
            <a:avLst/>
          </a:prstGeom>
          <a:ln>
            <a:solidFill>
              <a:srgbClr val="002060"/>
            </a:solidFill>
          </a:ln>
        </p:spPr>
        <p:txBody>
          <a:bodyPr wrap="square">
            <a:spAutoFit/>
          </a:bodyPr>
          <a:lstStyle/>
          <a:p>
            <a:r>
              <a:rPr lang="cs-CZ" sz="2000" b="1" i="1" smtClean="0"/>
              <a:t>Atributy, s nimiž je zobrazována, jsou kolo (na němž byla mučena), kniha (symbol učenosti), koruna a palmová ratolest (dva obecné symboly mučednictví jako vítězství).</a:t>
            </a:r>
            <a:endParaRPr lang="cs-CZ" sz="2000" b="1" i="1"/>
          </a:p>
        </p:txBody>
      </p:sp>
      <p:pic>
        <p:nvPicPr>
          <p:cNvPr id="39940" name="Picture 4" descr="http://bits.wikimedia.org/skins-1.5/common/images/magnify-clip.png">
            <a:hlinkClick r:id="rId2" tooltip="Zvětšit"/>
          </p:cNvPr>
          <p:cNvPicPr>
            <a:picLocks noChangeAspect="1" noChangeArrowheads="1"/>
          </p:cNvPicPr>
          <p:nvPr/>
        </p:nvPicPr>
        <p:blipFill>
          <a:blip r:embed="rId3" cstate="print"/>
          <a:srcRect/>
          <a:stretch>
            <a:fillRect/>
          </a:stretch>
        </p:blipFill>
        <p:spPr bwMode="auto">
          <a:xfrm>
            <a:off x="130175" y="-130175"/>
            <a:ext cx="142875" cy="104775"/>
          </a:xfrm>
          <a:prstGeom prst="rect">
            <a:avLst/>
          </a:prstGeom>
          <a:noFill/>
        </p:spPr>
      </p:pic>
      <p:pic>
        <p:nvPicPr>
          <p:cNvPr id="39942" name="Picture 6" descr="Soubor:Katharinenkloster Sinai BW 2.jpg">
            <a:hlinkClick r:id="rId4"/>
          </p:cNvPr>
          <p:cNvPicPr>
            <a:picLocks noChangeAspect="1" noChangeArrowheads="1"/>
          </p:cNvPicPr>
          <p:nvPr/>
        </p:nvPicPr>
        <p:blipFill>
          <a:blip r:embed="rId5" cstate="print"/>
          <a:srcRect/>
          <a:stretch>
            <a:fillRect/>
          </a:stretch>
        </p:blipFill>
        <p:spPr bwMode="auto">
          <a:xfrm>
            <a:off x="1214414" y="1357298"/>
            <a:ext cx="6786610" cy="4547030"/>
          </a:xfrm>
          <a:prstGeom prst="rect">
            <a:avLst/>
          </a:prstGeom>
          <a:noFill/>
          <a:ln>
            <a:solidFill>
              <a:schemeClr val="accent1"/>
            </a:solidFill>
          </a:ln>
        </p:spPr>
      </p:pic>
      <p:sp>
        <p:nvSpPr>
          <p:cNvPr id="7" name="Obdélník 6"/>
          <p:cNvSpPr/>
          <p:nvPr/>
        </p:nvSpPr>
        <p:spPr>
          <a:xfrm>
            <a:off x="1857356" y="1500174"/>
            <a:ext cx="5857900" cy="646331"/>
          </a:xfrm>
          <a:prstGeom prst="rect">
            <a:avLst/>
          </a:prstGeom>
          <a:solidFill>
            <a:schemeClr val="bg2"/>
          </a:solidFill>
        </p:spPr>
        <p:txBody>
          <a:bodyPr wrap="square">
            <a:spAutoFit/>
          </a:bodyPr>
          <a:lstStyle/>
          <a:p>
            <a:r>
              <a:rPr lang="cs-CZ" b="1" smtClean="0"/>
              <a:t>Klášter svaté Kateřiny  v poušti na Sinajském poloostrově </a:t>
            </a:r>
          </a:p>
          <a:p>
            <a:r>
              <a:rPr lang="cs-CZ" b="1" smtClean="0"/>
              <a:t>v egyptské poušti na úpatí Mojžíšovy hory .</a:t>
            </a:r>
            <a:endParaRPr lang="cs-CZ" b="1"/>
          </a:p>
        </p:txBody>
      </p:sp>
      <p:sp>
        <p:nvSpPr>
          <p:cNvPr id="8" name="Obdélník 7"/>
          <p:cNvSpPr/>
          <p:nvPr/>
        </p:nvSpPr>
        <p:spPr>
          <a:xfrm>
            <a:off x="357158" y="6007262"/>
            <a:ext cx="8572560" cy="707886"/>
          </a:xfrm>
          <a:prstGeom prst="rect">
            <a:avLst/>
          </a:prstGeom>
          <a:ln>
            <a:solidFill>
              <a:srgbClr val="002060"/>
            </a:solidFill>
          </a:ln>
        </p:spPr>
        <p:txBody>
          <a:bodyPr wrap="square">
            <a:spAutoFit/>
          </a:bodyPr>
          <a:lstStyle/>
          <a:p>
            <a:r>
              <a:rPr lang="cs-CZ" sz="2000" b="1" i="1" smtClean="0"/>
              <a:t>Andělé zanesli její mrtvé tělo na posvátnou egyptskou horu Sinaj. Zde byly ostatky  údajně později nalezeny a vystavěn dodnes stojící klášter sv. Kateřiny.</a:t>
            </a:r>
            <a:endParaRPr lang="cs-CZ" sz="2000" b="1" i="1"/>
          </a:p>
        </p:txBody>
      </p:sp>
      <p:pic>
        <p:nvPicPr>
          <p:cNvPr id="39944" name="Picture 8" descr="http://www.revprirody.cz/picture/1109/katerina.jpg"/>
          <p:cNvPicPr>
            <a:picLocks noChangeAspect="1" noChangeArrowheads="1"/>
          </p:cNvPicPr>
          <p:nvPr/>
        </p:nvPicPr>
        <p:blipFill>
          <a:blip r:embed="rId6" cstate="print"/>
          <a:srcRect/>
          <a:stretch>
            <a:fillRect/>
          </a:stretch>
        </p:blipFill>
        <p:spPr bwMode="auto">
          <a:xfrm>
            <a:off x="214282" y="2143116"/>
            <a:ext cx="2000264" cy="2395527"/>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vislý svitek 4"/>
          <p:cNvSpPr/>
          <p:nvPr/>
        </p:nvSpPr>
        <p:spPr>
          <a:xfrm>
            <a:off x="142844" y="214290"/>
            <a:ext cx="5715040" cy="6357982"/>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extovéPole 1"/>
          <p:cNvSpPr txBox="1"/>
          <p:nvPr/>
        </p:nvSpPr>
        <p:spPr>
          <a:xfrm>
            <a:off x="1071538" y="928670"/>
            <a:ext cx="3853427" cy="5632311"/>
          </a:xfrm>
          <a:prstGeom prst="rect">
            <a:avLst/>
          </a:prstGeom>
          <a:noFill/>
        </p:spPr>
        <p:txBody>
          <a:bodyPr wrap="none" rtlCol="0">
            <a:spAutoFit/>
          </a:bodyPr>
          <a:lstStyle/>
          <a:p>
            <a:r>
              <a:rPr lang="cs-CZ" sz="2400" b="1" smtClean="0">
                <a:solidFill>
                  <a:schemeClr val="bg1"/>
                </a:solidFill>
              </a:rPr>
              <a:t> Ježíše Krista laskavého,</a:t>
            </a:r>
          </a:p>
          <a:p>
            <a:r>
              <a:rPr lang="cs-CZ" sz="2400" b="1" smtClean="0">
                <a:solidFill>
                  <a:schemeClr val="bg1"/>
                </a:solidFill>
              </a:rPr>
              <a:t> jež je radost srdce mého,</a:t>
            </a:r>
          </a:p>
          <a:p>
            <a:r>
              <a:rPr lang="cs-CZ" sz="2400" b="1" smtClean="0">
                <a:solidFill>
                  <a:schemeClr val="bg1"/>
                </a:solidFill>
              </a:rPr>
              <a:t> jehož moc všemu odolá,</a:t>
            </a:r>
          </a:p>
          <a:p>
            <a:r>
              <a:rPr lang="cs-CZ" sz="2400" b="1" smtClean="0">
                <a:solidFill>
                  <a:schemeClr val="bg1"/>
                </a:solidFill>
              </a:rPr>
              <a:t> jenž mne vlídně k sobě volá.</a:t>
            </a:r>
          </a:p>
          <a:p>
            <a:r>
              <a:rPr lang="cs-CZ" sz="2400" b="1" smtClean="0">
                <a:solidFill>
                  <a:schemeClr val="bg1"/>
                </a:solidFill>
              </a:rPr>
              <a:t> Z něho svou sílu nabírám,</a:t>
            </a:r>
          </a:p>
          <a:p>
            <a:r>
              <a:rPr lang="cs-CZ" sz="2400" b="1" smtClean="0">
                <a:solidFill>
                  <a:schemeClr val="bg1"/>
                </a:solidFill>
              </a:rPr>
              <a:t> pro jeho lásku umírám,</a:t>
            </a:r>
          </a:p>
          <a:p>
            <a:r>
              <a:rPr lang="cs-CZ" sz="2400" b="1" smtClean="0">
                <a:solidFill>
                  <a:schemeClr val="bg1"/>
                </a:solidFill>
              </a:rPr>
              <a:t> on je můj král a císař mocný,</a:t>
            </a:r>
          </a:p>
          <a:p>
            <a:r>
              <a:rPr lang="cs-CZ" sz="2400" b="1" smtClean="0">
                <a:solidFill>
                  <a:schemeClr val="bg1"/>
                </a:solidFill>
              </a:rPr>
              <a:t> on je mé duši spomocný,</a:t>
            </a:r>
          </a:p>
          <a:p>
            <a:r>
              <a:rPr lang="cs-CZ" sz="2400" b="1" smtClean="0">
                <a:solidFill>
                  <a:schemeClr val="bg1"/>
                </a:solidFill>
              </a:rPr>
              <a:t> on je můj choť slavný, jasný,</a:t>
            </a:r>
          </a:p>
          <a:p>
            <a:r>
              <a:rPr lang="cs-CZ" sz="2400" b="1" smtClean="0">
                <a:solidFill>
                  <a:schemeClr val="bg1"/>
                </a:solidFill>
              </a:rPr>
              <a:t> a můj drahý ženich krásný,</a:t>
            </a:r>
          </a:p>
          <a:p>
            <a:r>
              <a:rPr lang="cs-CZ" sz="2400" b="1" smtClean="0">
                <a:solidFill>
                  <a:schemeClr val="bg1"/>
                </a:solidFill>
              </a:rPr>
              <a:t> k němu je má mysl upřena.</a:t>
            </a:r>
          </a:p>
          <a:p>
            <a:r>
              <a:rPr lang="cs-CZ" sz="2400" b="1" smtClean="0">
                <a:solidFill>
                  <a:schemeClr val="bg1"/>
                </a:solidFill>
              </a:rPr>
              <a:t> On je úplná odměna</a:t>
            </a:r>
          </a:p>
          <a:p>
            <a:r>
              <a:rPr lang="cs-CZ" sz="2400" b="1" smtClean="0">
                <a:solidFill>
                  <a:schemeClr val="bg1"/>
                </a:solidFill>
              </a:rPr>
              <a:t> a mocná útěcha svatých</a:t>
            </a:r>
          </a:p>
          <a:p>
            <a:r>
              <a:rPr lang="cs-CZ" sz="2400" b="1" smtClean="0">
                <a:solidFill>
                  <a:schemeClr val="bg1"/>
                </a:solidFill>
              </a:rPr>
              <a:t> ve víře ze světa vzatých.</a:t>
            </a:r>
          </a:p>
          <a:p>
            <a:r>
              <a:rPr lang="cs-CZ" sz="2400" b="1" smtClean="0">
                <a:solidFill>
                  <a:schemeClr val="bg1"/>
                </a:solidFill>
              </a:rPr>
              <a:t> </a:t>
            </a:r>
            <a:endParaRPr lang="cs-CZ" sz="2400" b="1">
              <a:solidFill>
                <a:schemeClr val="bg1"/>
              </a:solidFill>
            </a:endParaRPr>
          </a:p>
        </p:txBody>
      </p:sp>
      <p:sp>
        <p:nvSpPr>
          <p:cNvPr id="3" name="TextovéPole 2"/>
          <p:cNvSpPr txBox="1"/>
          <p:nvPr/>
        </p:nvSpPr>
        <p:spPr>
          <a:xfrm>
            <a:off x="5435613" y="2143116"/>
            <a:ext cx="3351229" cy="3170099"/>
          </a:xfrm>
          <a:prstGeom prst="rect">
            <a:avLst/>
          </a:prstGeom>
          <a:noFill/>
          <a:ln>
            <a:solidFill>
              <a:schemeClr val="accent1"/>
            </a:solidFill>
          </a:ln>
        </p:spPr>
        <p:txBody>
          <a:bodyPr wrap="square" rtlCol="0">
            <a:spAutoFit/>
          </a:bodyPr>
          <a:lstStyle/>
          <a:p>
            <a:r>
              <a:rPr lang="cs-CZ" sz="2000" b="1" i="1" smtClean="0"/>
              <a:t>Nejpěknějším místem</a:t>
            </a:r>
          </a:p>
          <a:p>
            <a:r>
              <a:rPr lang="cs-CZ" sz="2000" b="1" i="1" smtClean="0"/>
              <a:t>v legendě je místo, kdy má Kateřina vidění, </a:t>
            </a:r>
          </a:p>
          <a:p>
            <a:r>
              <a:rPr lang="cs-CZ" sz="2000" b="1" i="1" smtClean="0"/>
              <a:t>že slaví sňatek s Kristem:</a:t>
            </a:r>
          </a:p>
          <a:p>
            <a:endParaRPr lang="cs-CZ" sz="2000" b="1" smtClean="0"/>
          </a:p>
          <a:p>
            <a:r>
              <a:rPr lang="cs-CZ" sz="2000" b="1" smtClean="0">
                <a:solidFill>
                  <a:srgbClr val="00B050"/>
                </a:solidFill>
              </a:rPr>
              <a:t>Kristus</a:t>
            </a:r>
            <a:r>
              <a:rPr lang="cs-CZ" sz="2000" b="1" smtClean="0"/>
              <a:t>: </a:t>
            </a:r>
          </a:p>
          <a:p>
            <a:r>
              <a:rPr lang="cs-CZ" sz="2000" b="1" smtClean="0"/>
              <a:t>„Vítaj, mojě choti ladná !</a:t>
            </a:r>
          </a:p>
          <a:p>
            <a:r>
              <a:rPr lang="cs-CZ" sz="2000" b="1" smtClean="0"/>
              <a:t>  Pojď sem, vzvolené líčko,</a:t>
            </a:r>
          </a:p>
          <a:p>
            <a:r>
              <a:rPr lang="cs-CZ" sz="2000" b="1" smtClean="0"/>
              <a:t>  ke mně, milá holubičko!“</a:t>
            </a:r>
          </a:p>
          <a:p>
            <a:r>
              <a:rPr lang="cs-CZ" sz="2000" b="1" smtClean="0"/>
              <a:t> </a:t>
            </a:r>
            <a:endParaRPr lang="cs-CZ" sz="2000" b="1"/>
          </a:p>
        </p:txBody>
      </p:sp>
      <p:sp>
        <p:nvSpPr>
          <p:cNvPr id="4" name="Obdélník 3"/>
          <p:cNvSpPr/>
          <p:nvPr/>
        </p:nvSpPr>
        <p:spPr>
          <a:xfrm>
            <a:off x="1428728" y="285728"/>
            <a:ext cx="4552465" cy="646331"/>
          </a:xfrm>
          <a:prstGeom prst="rect">
            <a:avLst/>
          </a:prstGeom>
        </p:spPr>
        <p:txBody>
          <a:bodyPr wrap="none">
            <a:spAutoFit/>
          </a:bodyPr>
          <a:lstStyle/>
          <a:p>
            <a:r>
              <a:rPr lang="cs-CZ" sz="3600" b="1" smtClean="0">
                <a:solidFill>
                  <a:srgbClr val="FF0000"/>
                </a:solidFill>
              </a:rPr>
              <a:t>Legenda o sv. Kateřině </a:t>
            </a:r>
            <a:endParaRPr lang="cs-CZ" sz="3600" b="1">
              <a:solidFill>
                <a:srgbClr val="FF0000"/>
              </a:solidFill>
            </a:endParaRPr>
          </a:p>
        </p:txBody>
      </p:sp>
      <p:sp>
        <p:nvSpPr>
          <p:cNvPr id="6" name="TextovéPole 5"/>
          <p:cNvSpPr txBox="1"/>
          <p:nvPr/>
        </p:nvSpPr>
        <p:spPr>
          <a:xfrm>
            <a:off x="3071802" y="6143644"/>
            <a:ext cx="1624227" cy="369332"/>
          </a:xfrm>
          <a:prstGeom prst="rect">
            <a:avLst/>
          </a:prstGeom>
          <a:noFill/>
          <a:ln>
            <a:solidFill>
              <a:schemeClr val="accent1"/>
            </a:solidFill>
          </a:ln>
        </p:spPr>
        <p:txBody>
          <a:bodyPr wrap="none" rtlCol="0">
            <a:spAutoFit/>
          </a:bodyPr>
          <a:lstStyle/>
          <a:p>
            <a:r>
              <a:rPr lang="cs-CZ" b="1" smtClean="0"/>
              <a:t>Překlad J.Pelán</a:t>
            </a:r>
            <a:endParaRPr lang="cs-CZ" b="1"/>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Vodorovný svitek 4"/>
          <p:cNvSpPr/>
          <p:nvPr/>
        </p:nvSpPr>
        <p:spPr>
          <a:xfrm>
            <a:off x="4929190" y="1214422"/>
            <a:ext cx="3071834" cy="1643074"/>
          </a:xfrm>
          <a:prstGeom prst="horizontalScroll">
            <a:avLst/>
          </a:prstGeom>
          <a:solidFill>
            <a:schemeClr val="accent3">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Obdélník 1"/>
          <p:cNvSpPr/>
          <p:nvPr/>
        </p:nvSpPr>
        <p:spPr>
          <a:xfrm>
            <a:off x="383333" y="230667"/>
            <a:ext cx="5688865" cy="769441"/>
          </a:xfrm>
          <a:prstGeom prst="rect">
            <a:avLst/>
          </a:prstGeom>
          <a:solidFill>
            <a:schemeClr val="bg2">
              <a:lumMod val="90000"/>
            </a:schemeClr>
          </a:solidFill>
          <a:ln>
            <a:solidFill>
              <a:srgbClr val="002060"/>
            </a:solidFill>
          </a:ln>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457200" indent="-457200"/>
            <a:r>
              <a:rPr lang="cs-CZ" sz="4400" b="1" smtClean="0">
                <a:ln/>
                <a:solidFill>
                  <a:schemeClr val="accent3">
                    <a:lumMod val="50000"/>
                  </a:schemeClr>
                </a:solidFill>
              </a:rPr>
              <a:t>2. světská lyrika a epika</a:t>
            </a:r>
            <a:endParaRPr lang="cs-CZ" sz="4400" b="1">
              <a:ln/>
              <a:solidFill>
                <a:schemeClr val="accent3">
                  <a:lumMod val="50000"/>
                </a:schemeClr>
              </a:solidFill>
            </a:endParaRPr>
          </a:p>
        </p:txBody>
      </p:sp>
      <p:sp>
        <p:nvSpPr>
          <p:cNvPr id="3" name="TextovéPole 2"/>
          <p:cNvSpPr txBox="1"/>
          <p:nvPr/>
        </p:nvSpPr>
        <p:spPr>
          <a:xfrm>
            <a:off x="357158" y="988528"/>
            <a:ext cx="8786842" cy="4524315"/>
          </a:xfrm>
          <a:prstGeom prst="rect">
            <a:avLst/>
          </a:prstGeom>
          <a:noFill/>
        </p:spPr>
        <p:txBody>
          <a:bodyPr wrap="square" rtlCol="0">
            <a:spAutoFit/>
          </a:bodyPr>
          <a:lstStyle/>
          <a:p>
            <a:pPr marL="457200" indent="-457200"/>
            <a:r>
              <a:rPr lang="cs-CZ" sz="2400" b="1" i="1" u="sng" smtClean="0">
                <a:solidFill>
                  <a:srgbClr val="002060"/>
                </a:solidFill>
              </a:rPr>
              <a:t>světská lyrika: </a:t>
            </a:r>
            <a:r>
              <a:rPr lang="cs-CZ" sz="2400" b="1" smtClean="0"/>
              <a:t>vliv evropské dvorské lyriky</a:t>
            </a:r>
          </a:p>
          <a:p>
            <a:pPr marL="457200" indent="-457200"/>
            <a:endParaRPr lang="cs-CZ" sz="2400" b="1" smtClean="0"/>
          </a:p>
          <a:p>
            <a:pPr marL="457200" indent="-457200"/>
            <a:endParaRPr lang="cs-CZ" sz="2400" b="1" smtClean="0"/>
          </a:p>
          <a:p>
            <a:pPr marL="457200" indent="-457200"/>
            <a:r>
              <a:rPr lang="cs-CZ" sz="2400" b="1" smtClean="0"/>
              <a:t> lidové milostné písně:</a:t>
            </a:r>
          </a:p>
          <a:p>
            <a:pPr marL="457200" indent="-457200"/>
            <a:r>
              <a:rPr lang="cs-CZ" sz="2400" b="1" smtClean="0">
                <a:solidFill>
                  <a:srgbClr val="FF0000"/>
                </a:solidFill>
              </a:rPr>
              <a:t> Jměj sě dobřě, srdečko </a:t>
            </a:r>
          </a:p>
          <a:p>
            <a:pPr marL="457200" indent="-457200"/>
            <a:r>
              <a:rPr lang="cs-CZ" sz="2400" b="1" smtClean="0"/>
              <a:t> </a:t>
            </a:r>
            <a:r>
              <a:rPr lang="cs-CZ" sz="2400" b="1" smtClean="0">
                <a:solidFill>
                  <a:srgbClr val="FF0000"/>
                </a:solidFill>
              </a:rPr>
              <a:t>Závišova píseň </a:t>
            </a:r>
            <a:r>
              <a:rPr lang="cs-CZ" sz="2400" b="1" smtClean="0"/>
              <a:t>– napsal mistr Záviš, nářek nad neoblomností jeho</a:t>
            </a:r>
          </a:p>
          <a:p>
            <a:pPr marL="457200" indent="-457200"/>
            <a:r>
              <a:rPr lang="cs-CZ" sz="2400" b="1" smtClean="0"/>
              <a:t> milé </a:t>
            </a:r>
          </a:p>
          <a:p>
            <a:pPr marL="457200" indent="-457200"/>
            <a:r>
              <a:rPr lang="cs-CZ" sz="2400" b="1" smtClean="0">
                <a:solidFill>
                  <a:srgbClr val="FF0000"/>
                </a:solidFill>
              </a:rPr>
              <a:t>Píseň o Štemberkovi </a:t>
            </a:r>
            <a:r>
              <a:rPr lang="cs-CZ" sz="2400" b="1" smtClean="0"/>
              <a:t>– líčí, jak mělničtí měšťané zrádně ubili</a:t>
            </a:r>
          </a:p>
          <a:p>
            <a:pPr marL="457200" indent="-457200"/>
            <a:r>
              <a:rPr lang="cs-CZ" sz="2400" b="1" smtClean="0"/>
              <a:t>šlechtice, který miloval měšťanskou dcerku Aničku = rozpory mezi</a:t>
            </a:r>
          </a:p>
          <a:p>
            <a:pPr marL="457200" indent="-457200"/>
            <a:r>
              <a:rPr lang="cs-CZ" sz="2400" b="1" smtClean="0"/>
              <a:t>měšťany a šlechtou</a:t>
            </a:r>
          </a:p>
          <a:p>
            <a:pPr marL="457200" indent="-457200"/>
            <a:r>
              <a:rPr lang="cs-CZ" sz="2400" b="1" smtClean="0">
                <a:solidFill>
                  <a:srgbClr val="FF0000"/>
                </a:solidFill>
              </a:rPr>
              <a:t>Píseň veselé chudiny </a:t>
            </a:r>
            <a:r>
              <a:rPr lang="cs-CZ" sz="2400" b="1" smtClean="0"/>
              <a:t>– humor, zobrazuje bídu chudých studentů.</a:t>
            </a:r>
          </a:p>
          <a:p>
            <a:pPr marL="457200" indent="-457200"/>
            <a:endParaRPr lang="cs-CZ" sz="2400" b="1"/>
          </a:p>
        </p:txBody>
      </p:sp>
      <p:sp>
        <p:nvSpPr>
          <p:cNvPr id="4" name="TextovéPole 3"/>
          <p:cNvSpPr txBox="1"/>
          <p:nvPr/>
        </p:nvSpPr>
        <p:spPr>
          <a:xfrm>
            <a:off x="5178055" y="1484643"/>
            <a:ext cx="2680093" cy="1015663"/>
          </a:xfrm>
          <a:prstGeom prst="rect">
            <a:avLst/>
          </a:prstGeom>
          <a:noFill/>
        </p:spPr>
        <p:txBody>
          <a:bodyPr wrap="none" rtlCol="0">
            <a:spAutoFit/>
          </a:bodyPr>
          <a:lstStyle/>
          <a:p>
            <a:r>
              <a:rPr lang="cs-CZ" sz="2000" b="1" smtClean="0">
                <a:solidFill>
                  <a:schemeClr val="bg1"/>
                </a:solidFill>
              </a:rPr>
              <a:t>Ztratilať jsem milého,</a:t>
            </a:r>
          </a:p>
          <a:p>
            <a:r>
              <a:rPr lang="cs-CZ" sz="2000" b="1" smtClean="0">
                <a:solidFill>
                  <a:schemeClr val="bg1"/>
                </a:solidFill>
              </a:rPr>
              <a:t>v tom srdci jediného.</a:t>
            </a:r>
          </a:p>
          <a:p>
            <a:r>
              <a:rPr lang="cs-CZ" sz="2000" b="1" smtClean="0">
                <a:solidFill>
                  <a:schemeClr val="bg1"/>
                </a:solidFill>
              </a:rPr>
              <a:t>Jměj sě dobřě, srdéčko!</a:t>
            </a:r>
            <a:endParaRPr lang="cs-CZ" sz="2000" b="1">
              <a:solidFill>
                <a:schemeClr val="bg1"/>
              </a:solidFill>
            </a:endParaRPr>
          </a:p>
        </p:txBody>
      </p:sp>
      <p:sp>
        <p:nvSpPr>
          <p:cNvPr id="7" name="Vodorovný svitek 6"/>
          <p:cNvSpPr/>
          <p:nvPr/>
        </p:nvSpPr>
        <p:spPr>
          <a:xfrm>
            <a:off x="2357422" y="5000612"/>
            <a:ext cx="3286148" cy="1857388"/>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TextovéPole 5"/>
          <p:cNvSpPr txBox="1"/>
          <p:nvPr/>
        </p:nvSpPr>
        <p:spPr>
          <a:xfrm>
            <a:off x="2928926" y="5248833"/>
            <a:ext cx="2318263" cy="1323439"/>
          </a:xfrm>
          <a:prstGeom prst="rect">
            <a:avLst/>
          </a:prstGeom>
          <a:noFill/>
        </p:spPr>
        <p:txBody>
          <a:bodyPr wrap="none" rtlCol="0">
            <a:spAutoFit/>
          </a:bodyPr>
          <a:lstStyle/>
          <a:p>
            <a:r>
              <a:rPr lang="cs-CZ" sz="2000" b="1" smtClean="0">
                <a:solidFill>
                  <a:schemeClr val="bg1"/>
                </a:solidFill>
              </a:rPr>
              <a:t>Jižt nám zima přišla,</a:t>
            </a:r>
          </a:p>
          <a:p>
            <a:r>
              <a:rPr lang="cs-CZ" sz="2000" b="1" smtClean="0">
                <a:solidFill>
                  <a:schemeClr val="bg1"/>
                </a:solidFill>
              </a:rPr>
              <a:t>slyžtež, odraní!</a:t>
            </a:r>
          </a:p>
          <a:p>
            <a:r>
              <a:rPr lang="cs-CZ" sz="2000" b="1" smtClean="0">
                <a:solidFill>
                  <a:schemeClr val="bg1"/>
                </a:solidFill>
              </a:rPr>
              <a:t>Zle sme se přioděli </a:t>
            </a:r>
          </a:p>
          <a:p>
            <a:r>
              <a:rPr lang="cs-CZ" sz="2000" b="1" smtClean="0">
                <a:solidFill>
                  <a:schemeClr val="bg1"/>
                </a:solidFill>
              </a:rPr>
              <a:t>A šatuov nenie!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214282" y="21996"/>
            <a:ext cx="8858280" cy="7478970"/>
          </a:xfrm>
          <a:prstGeom prst="rect">
            <a:avLst/>
          </a:prstGeom>
          <a:noFill/>
        </p:spPr>
        <p:txBody>
          <a:bodyPr wrap="square" rtlCol="0">
            <a:spAutoFit/>
          </a:bodyPr>
          <a:lstStyle/>
          <a:p>
            <a:pPr marL="457200" indent="-457200"/>
            <a:r>
              <a:rPr lang="cs-CZ" sz="2400" b="1" smtClean="0"/>
              <a:t>Hlavními tvůrci satirické poezie byli </a:t>
            </a:r>
            <a:r>
              <a:rPr lang="cs-CZ" sz="2400" b="1" smtClean="0">
                <a:solidFill>
                  <a:srgbClr val="002060"/>
                </a:solidFill>
              </a:rPr>
              <a:t>žáci</a:t>
            </a:r>
          </a:p>
          <a:p>
            <a:pPr marL="457200" indent="-457200"/>
            <a:r>
              <a:rPr lang="cs-CZ" sz="2400" b="1" smtClean="0"/>
              <a:t>( studenti vysokých škol) = </a:t>
            </a:r>
            <a:r>
              <a:rPr lang="cs-CZ" sz="2400" b="1" smtClean="0">
                <a:solidFill>
                  <a:srgbClr val="002060"/>
                </a:solidFill>
              </a:rPr>
              <a:t>žákovská poezie </a:t>
            </a:r>
            <a:r>
              <a:rPr lang="cs-CZ" sz="2400" b="1" smtClean="0"/>
              <a:t>a </a:t>
            </a:r>
            <a:r>
              <a:rPr lang="cs-CZ" sz="2400" b="1" smtClean="0">
                <a:solidFill>
                  <a:srgbClr val="002060"/>
                </a:solidFill>
              </a:rPr>
              <a:t>vaganti</a:t>
            </a:r>
          </a:p>
          <a:p>
            <a:pPr marL="457200" indent="-457200"/>
            <a:r>
              <a:rPr lang="cs-CZ" sz="2400" b="1" smtClean="0"/>
              <a:t>( studenti, kteří chodili od města k městu a vydělávali si na studia)</a:t>
            </a:r>
          </a:p>
          <a:p>
            <a:pPr marL="457200" indent="-457200"/>
            <a:r>
              <a:rPr lang="cs-CZ" sz="2400" b="1" smtClean="0"/>
              <a:t>= </a:t>
            </a:r>
            <a:r>
              <a:rPr lang="cs-CZ" sz="2400" b="1" smtClean="0">
                <a:solidFill>
                  <a:srgbClr val="002060"/>
                </a:solidFill>
              </a:rPr>
              <a:t>vagantská poezie</a:t>
            </a:r>
          </a:p>
          <a:p>
            <a:pPr marL="457200" indent="-457200"/>
            <a:r>
              <a:rPr lang="cs-CZ" sz="2400" b="1" smtClean="0"/>
              <a:t>Tvořili česky, latinsky, česko- latinsky = tzv. </a:t>
            </a:r>
            <a:r>
              <a:rPr lang="cs-CZ" sz="2400" b="1" smtClean="0">
                <a:solidFill>
                  <a:srgbClr val="002060"/>
                </a:solidFill>
              </a:rPr>
              <a:t>makarónská poezie</a:t>
            </a:r>
          </a:p>
          <a:p>
            <a:pPr marL="457200" indent="-457200"/>
            <a:r>
              <a:rPr lang="cs-CZ" sz="2400" b="1" smtClean="0"/>
              <a:t>( střídá se verš český a latinký)</a:t>
            </a:r>
          </a:p>
          <a:p>
            <a:pPr marL="457200" indent="-457200"/>
            <a:r>
              <a:rPr lang="cs-CZ" sz="2400" b="1" smtClean="0"/>
              <a:t> </a:t>
            </a:r>
          </a:p>
          <a:p>
            <a:r>
              <a:rPr lang="cs-CZ" sz="2400" b="1" i="1" u="sng" smtClean="0">
                <a:solidFill>
                  <a:srgbClr val="002060"/>
                </a:solidFill>
              </a:rPr>
              <a:t>Světská veršovaná epika:</a:t>
            </a:r>
          </a:p>
          <a:p>
            <a:endParaRPr lang="cs-CZ" sz="2400" b="1" i="1" u="sng" smtClean="0">
              <a:solidFill>
                <a:srgbClr val="002060"/>
              </a:solidFill>
            </a:endParaRPr>
          </a:p>
          <a:p>
            <a:pPr>
              <a:buFont typeface="Arial" pitchFamily="34" charset="0"/>
              <a:buChar char="•"/>
            </a:pPr>
            <a:r>
              <a:rPr lang="cs-CZ" sz="2400" b="1" smtClean="0"/>
              <a:t> stagnuje</a:t>
            </a:r>
          </a:p>
          <a:p>
            <a:pPr>
              <a:buFont typeface="Arial" pitchFamily="34" charset="0"/>
              <a:buChar char="•"/>
            </a:pPr>
            <a:r>
              <a:rPr lang="cs-CZ" sz="2400" b="1" smtClean="0"/>
              <a:t> přechází od hrdinských látek k látkám zábavným</a:t>
            </a:r>
          </a:p>
          <a:p>
            <a:pPr>
              <a:buFont typeface="Arial" pitchFamily="34" charset="0"/>
              <a:buChar char="•"/>
            </a:pPr>
            <a:r>
              <a:rPr lang="cs-CZ" sz="2400" b="1" smtClean="0"/>
              <a:t> čerpá ze západních literatur</a:t>
            </a:r>
          </a:p>
          <a:p>
            <a:pPr>
              <a:buFont typeface="Arial" pitchFamily="34" charset="0"/>
              <a:buChar char="•"/>
            </a:pPr>
            <a:r>
              <a:rPr lang="cs-CZ" sz="2400" b="1" smtClean="0"/>
              <a:t> děj je často prostoupen fantastickými  a pohádkovými prvky</a:t>
            </a:r>
          </a:p>
          <a:p>
            <a:r>
              <a:rPr lang="cs-CZ" sz="2400" b="1" smtClean="0"/>
              <a:t>   – boj s drakem, obry, trpaslíky aj. </a:t>
            </a:r>
          </a:p>
          <a:p>
            <a:pPr>
              <a:buFont typeface="Arial" pitchFamily="34" charset="0"/>
              <a:buChar char="•"/>
            </a:pPr>
            <a:r>
              <a:rPr lang="cs-CZ" sz="2400" b="1" smtClean="0"/>
              <a:t> v povědomí zůstává Alexandreida</a:t>
            </a:r>
          </a:p>
          <a:p>
            <a:pPr>
              <a:buFont typeface="Arial" pitchFamily="34" charset="0"/>
              <a:buChar char="•"/>
            </a:pPr>
            <a:r>
              <a:rPr lang="cs-CZ" sz="2400" b="1" smtClean="0"/>
              <a:t> </a:t>
            </a:r>
            <a:r>
              <a:rPr lang="cs-CZ" sz="2400" b="1" smtClean="0">
                <a:solidFill>
                  <a:srgbClr val="FF0000"/>
                </a:solidFill>
              </a:rPr>
              <a:t>Tristram a Izalda </a:t>
            </a:r>
            <a:r>
              <a:rPr lang="cs-CZ" sz="2400" b="1" smtClean="0"/>
              <a:t>– nejhodnotnější skladba, 9000 veršů, námět </a:t>
            </a:r>
          </a:p>
          <a:p>
            <a:r>
              <a:rPr lang="cs-CZ" sz="2400" b="1" smtClean="0"/>
              <a:t>  z Francie, známá ve všech evropských literaturách ( viz. učivo</a:t>
            </a:r>
          </a:p>
          <a:p>
            <a:r>
              <a:rPr lang="cs-CZ" sz="2400" b="1" smtClean="0"/>
              <a:t>  Světová středověká literatura), báseň o věčné tragické lásce</a:t>
            </a:r>
          </a:p>
          <a:p>
            <a:endParaRPr lang="cs-CZ" sz="2400" b="1" smtClean="0"/>
          </a:p>
          <a:p>
            <a:endParaRPr lang="cs-CZ" sz="2400" b="1"/>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2857488" y="285728"/>
            <a:ext cx="2256195" cy="769441"/>
          </a:xfrm>
          <a:prstGeom prst="rect">
            <a:avLst/>
          </a:prstGeom>
          <a:solidFill>
            <a:schemeClr val="bg2">
              <a:lumMod val="90000"/>
            </a:schemeClr>
          </a:solidFill>
          <a:ln>
            <a:solidFill>
              <a:srgbClr val="002060"/>
            </a:solidFill>
          </a:ln>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chemeClr val="accent3">
                    <a:lumMod val="50000"/>
                  </a:schemeClr>
                </a:solidFill>
              </a:rPr>
              <a:t>3. drama</a:t>
            </a:r>
            <a:endParaRPr lang="cs-CZ" sz="4400" b="1">
              <a:ln/>
              <a:solidFill>
                <a:schemeClr val="accent3">
                  <a:lumMod val="50000"/>
                </a:schemeClr>
              </a:solidFill>
            </a:endParaRPr>
          </a:p>
        </p:txBody>
      </p:sp>
      <p:sp>
        <p:nvSpPr>
          <p:cNvPr id="4" name="Obdélník 3"/>
          <p:cNvSpPr/>
          <p:nvPr/>
        </p:nvSpPr>
        <p:spPr>
          <a:xfrm>
            <a:off x="285720" y="1643050"/>
            <a:ext cx="8858280" cy="4524315"/>
          </a:xfrm>
          <a:prstGeom prst="rect">
            <a:avLst/>
          </a:prstGeom>
        </p:spPr>
        <p:txBody>
          <a:bodyPr wrap="square">
            <a:spAutoFit/>
          </a:bodyPr>
          <a:lstStyle/>
          <a:p>
            <a:pPr>
              <a:buFont typeface="Arial" pitchFamily="34" charset="0"/>
              <a:buChar char="•"/>
            </a:pPr>
            <a:r>
              <a:rPr lang="cs-CZ" sz="2400" b="1" smtClean="0"/>
              <a:t> nejstarší české drama ze 14. století</a:t>
            </a:r>
          </a:p>
          <a:p>
            <a:pPr>
              <a:buFont typeface="Arial" pitchFamily="34" charset="0"/>
              <a:buChar char="•"/>
            </a:pPr>
            <a:r>
              <a:rPr lang="cs-CZ" sz="2400" b="1" smtClean="0"/>
              <a:t> veršovaná satirická fraška</a:t>
            </a:r>
          </a:p>
          <a:p>
            <a:pPr>
              <a:buFont typeface="Arial" pitchFamily="34" charset="0"/>
              <a:buChar char="•"/>
            </a:pPr>
            <a:r>
              <a:rPr lang="cs-CZ" sz="2400" b="1" smtClean="0"/>
              <a:t> hovorový jazyk</a:t>
            </a:r>
          </a:p>
          <a:p>
            <a:pPr>
              <a:buFont typeface="Arial" pitchFamily="34" charset="0"/>
              <a:buChar char="•"/>
            </a:pPr>
            <a:r>
              <a:rPr lang="cs-CZ" sz="2400" b="1" smtClean="0"/>
              <a:t> velikonoční hra</a:t>
            </a:r>
          </a:p>
          <a:p>
            <a:pPr>
              <a:buFont typeface="Arial" pitchFamily="34" charset="0"/>
              <a:buChar char="•"/>
            </a:pPr>
            <a:r>
              <a:rPr lang="cs-CZ" sz="2400" b="1" smtClean="0"/>
              <a:t> zesměšňující pochybné léčitele a poměry ve středověké Praze</a:t>
            </a:r>
          </a:p>
          <a:p>
            <a:pPr>
              <a:buFont typeface="Arial" pitchFamily="34" charset="0"/>
              <a:buChar char="•"/>
            </a:pPr>
            <a:r>
              <a:rPr lang="cs-CZ" sz="2400" b="1" smtClean="0"/>
              <a:t> jsou známy dvě části: </a:t>
            </a:r>
          </a:p>
          <a:p>
            <a:r>
              <a:rPr lang="cs-CZ" sz="2400" b="1" smtClean="0"/>
              <a:t>  - první tvoří vložku latinsko - české hry Tří Marií</a:t>
            </a:r>
          </a:p>
          <a:p>
            <a:r>
              <a:rPr lang="cs-CZ" sz="2400" b="1" smtClean="0"/>
              <a:t>  - v druhé části je obsažen ve zlomcích rukopisu několika latinsko-</a:t>
            </a:r>
          </a:p>
          <a:p>
            <a:r>
              <a:rPr lang="cs-CZ" sz="2400" b="1" smtClean="0"/>
              <a:t>    českých náboženských her ( námět asi z něm.literatury)</a:t>
            </a:r>
          </a:p>
          <a:p>
            <a:endParaRPr lang="cs-CZ" sz="2400" b="1" smtClean="0"/>
          </a:p>
          <a:p>
            <a:endParaRPr lang="cs-CZ" sz="2400" b="1" smtClean="0"/>
          </a:p>
          <a:p>
            <a:endParaRPr lang="cs-CZ" sz="2400" b="1" smtClean="0"/>
          </a:p>
        </p:txBody>
      </p:sp>
      <p:pic>
        <p:nvPicPr>
          <p:cNvPr id="12294" name="Picture 6" descr="http://www.topzine.cz/wp-content/uploads/2010/07/l%C3%A9karna-faf.cuni_.cz_.jpg"/>
          <p:cNvPicPr>
            <a:picLocks noChangeAspect="1" noChangeArrowheads="1"/>
          </p:cNvPicPr>
          <p:nvPr/>
        </p:nvPicPr>
        <p:blipFill>
          <a:blip r:embed="rId2" cstate="print"/>
          <a:srcRect/>
          <a:stretch>
            <a:fillRect/>
          </a:stretch>
        </p:blipFill>
        <p:spPr bwMode="auto">
          <a:xfrm>
            <a:off x="5429256" y="428604"/>
            <a:ext cx="3257573" cy="2286016"/>
          </a:xfrm>
          <a:prstGeom prst="rect">
            <a:avLst/>
          </a:prstGeom>
          <a:noFill/>
          <a:ln>
            <a:solidFill>
              <a:srgbClr val="002060"/>
            </a:solidFill>
          </a:ln>
        </p:spPr>
      </p:pic>
      <p:sp>
        <p:nvSpPr>
          <p:cNvPr id="7" name="Obdélník 6"/>
          <p:cNvSpPr/>
          <p:nvPr/>
        </p:nvSpPr>
        <p:spPr>
          <a:xfrm>
            <a:off x="357158" y="785794"/>
            <a:ext cx="2397579" cy="707886"/>
          </a:xfrm>
          <a:prstGeom prst="rect">
            <a:avLst/>
          </a:prstGeom>
        </p:spPr>
        <p:txBody>
          <a:bodyPr wrap="none">
            <a:spAutoFit/>
            <a:scene3d>
              <a:camera prst="orthographicFront"/>
              <a:lightRig rig="balanced" dir="t">
                <a:rot lat="0" lon="0" rev="2100000"/>
              </a:lightRig>
            </a:scene3d>
            <a:sp3d extrusionH="57150" prstMaterial="metal">
              <a:bevelT w="38100" h="25400"/>
              <a:contourClr>
                <a:schemeClr val="bg2"/>
              </a:contourClr>
            </a:sp3d>
          </a:bodyPr>
          <a:lstStyle/>
          <a:p>
            <a:r>
              <a:rPr lang="cs-CZ" sz="4000" b="1" smtClean="0">
                <a:ln w="50800"/>
                <a:solidFill>
                  <a:srgbClr val="FF0000"/>
                </a:solidFill>
              </a:rPr>
              <a:t>Mastičkář </a:t>
            </a:r>
          </a:p>
        </p:txBody>
      </p:sp>
      <p:sp>
        <p:nvSpPr>
          <p:cNvPr id="8" name="TextovéPole 7"/>
          <p:cNvSpPr txBox="1"/>
          <p:nvPr/>
        </p:nvSpPr>
        <p:spPr>
          <a:xfrm>
            <a:off x="156949" y="5072074"/>
            <a:ext cx="9052030" cy="1631216"/>
          </a:xfrm>
          <a:prstGeom prst="rect">
            <a:avLst/>
          </a:prstGeom>
          <a:noFill/>
          <a:ln>
            <a:solidFill>
              <a:schemeClr val="accent1"/>
            </a:solidFill>
          </a:ln>
        </p:spPr>
        <p:txBody>
          <a:bodyPr wrap="none" rtlCol="0">
            <a:spAutoFit/>
          </a:bodyPr>
          <a:lstStyle/>
          <a:p>
            <a:r>
              <a:rPr lang="cs-CZ" sz="2000" b="1" i="1" smtClean="0">
                <a:solidFill>
                  <a:srgbClr val="002060"/>
                </a:solidFill>
              </a:rPr>
              <a:t>Fraška </a:t>
            </a:r>
            <a:r>
              <a:rPr lang="cs-CZ" sz="2000" b="1" i="1" smtClean="0"/>
              <a:t>: z latinského farsum = žert = druh komedie s obhroublou komikou,těží </a:t>
            </a:r>
          </a:p>
          <a:p>
            <a:r>
              <a:rPr lang="cs-CZ" sz="2000" b="1" i="1" smtClean="0"/>
              <a:t>většinou  z nějaké nedokonalosti ( koktavost, hloupost, ošklivost aj.) Počátky </a:t>
            </a:r>
          </a:p>
          <a:p>
            <a:r>
              <a:rPr lang="cs-CZ" sz="2000" b="1" i="1" smtClean="0"/>
              <a:t>najdeme v antickém Řecku. Ve středověku se vyvíjela jako komická výplň vážné </a:t>
            </a:r>
          </a:p>
          <a:p>
            <a:r>
              <a:rPr lang="cs-CZ" sz="2000" b="1" i="1" smtClean="0"/>
              <a:t>církevní hry.</a:t>
            </a:r>
            <a:r>
              <a:rPr lang="cs-CZ" sz="2000" b="1" smtClean="0"/>
              <a:t> </a:t>
            </a:r>
            <a:r>
              <a:rPr lang="cs-CZ" sz="2000" b="1" i="1" smtClean="0"/>
              <a:t>Frašky byly kvůli vulgaritě a lidovosti vykázány ven z kostelů </a:t>
            </a:r>
          </a:p>
          <a:p>
            <a:r>
              <a:rPr lang="cs-CZ" sz="2000" b="1" i="1" smtClean="0"/>
              <a:t>do venkovského prostředí, před krčmy.Ve 14.- 16.stol. se ujímá jak samostatný žánr. </a:t>
            </a:r>
            <a:endParaRPr lang="cs-CZ" sz="2000" b="1" i="1"/>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Vodorovný svitek 4"/>
          <p:cNvSpPr/>
          <p:nvPr/>
        </p:nvSpPr>
        <p:spPr>
          <a:xfrm>
            <a:off x="714348" y="214290"/>
            <a:ext cx="7500990" cy="6000792"/>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extovéPole 1"/>
          <p:cNvSpPr txBox="1"/>
          <p:nvPr/>
        </p:nvSpPr>
        <p:spPr>
          <a:xfrm flipH="1">
            <a:off x="1500166" y="1142984"/>
            <a:ext cx="6357982" cy="4893647"/>
          </a:xfrm>
          <a:prstGeom prst="rect">
            <a:avLst/>
          </a:prstGeom>
          <a:noFill/>
        </p:spPr>
        <p:txBody>
          <a:bodyPr wrap="square" rtlCol="0">
            <a:spAutoFit/>
          </a:bodyPr>
          <a:lstStyle/>
          <a:p>
            <a:r>
              <a:rPr lang="cs-CZ" sz="2400" b="1" i="1" smtClean="0"/>
              <a:t>Mastičkář:</a:t>
            </a:r>
            <a:r>
              <a:rPr lang="cs-CZ" sz="2400" b="1" smtClean="0">
                <a:solidFill>
                  <a:schemeClr val="bg1"/>
                </a:solidFill>
              </a:rPr>
              <a:t> Rubíne, to ti vše jáz rád dám,</a:t>
            </a:r>
          </a:p>
          <a:p>
            <a:r>
              <a:rPr lang="cs-CZ" sz="2400" b="1" smtClean="0">
                <a:solidFill>
                  <a:schemeClr val="bg1"/>
                </a:solidFill>
              </a:rPr>
              <a:t>                     so jsi potřěboval sám.</a:t>
            </a:r>
          </a:p>
          <a:p>
            <a:r>
              <a:rPr lang="cs-CZ" sz="2400" b="1" smtClean="0">
                <a:solidFill>
                  <a:schemeClr val="bg1"/>
                </a:solidFill>
              </a:rPr>
              <a:t>                     Jedno na to všdy ptaj</a:t>
            </a:r>
          </a:p>
          <a:p>
            <a:r>
              <a:rPr lang="cs-CZ" sz="2400" b="1" smtClean="0">
                <a:solidFill>
                  <a:schemeClr val="bg1"/>
                </a:solidFill>
              </a:rPr>
              <a:t>                     a těch miest pýtaj,</a:t>
            </a:r>
          </a:p>
          <a:p>
            <a:r>
              <a:rPr lang="cs-CZ" sz="2400" b="1" smtClean="0">
                <a:solidFill>
                  <a:schemeClr val="bg1"/>
                </a:solidFill>
              </a:rPr>
              <a:t>                     kde bychom mohli svój krám vyklásti</a:t>
            </a:r>
          </a:p>
          <a:p>
            <a:r>
              <a:rPr lang="cs-CZ" sz="2400" b="1" smtClean="0">
                <a:solidFill>
                  <a:schemeClr val="bg1"/>
                </a:solidFill>
              </a:rPr>
              <a:t>                     a své masti draho prodati.</a:t>
            </a:r>
          </a:p>
          <a:p>
            <a:endParaRPr lang="cs-CZ" sz="2400" b="1" smtClean="0">
              <a:solidFill>
                <a:schemeClr val="bg1"/>
              </a:solidFill>
            </a:endParaRPr>
          </a:p>
          <a:p>
            <a:r>
              <a:rPr lang="cs-CZ" sz="2400" b="1" i="1" smtClean="0"/>
              <a:t>Rubín:         </a:t>
            </a:r>
            <a:r>
              <a:rPr lang="cs-CZ" sz="2400" b="1" smtClean="0">
                <a:solidFill>
                  <a:schemeClr val="bg1"/>
                </a:solidFill>
              </a:rPr>
              <a:t>Mistři, hyn jsú miesta sdravá</a:t>
            </a:r>
          </a:p>
          <a:p>
            <a:r>
              <a:rPr lang="cs-CZ" sz="2400" b="1" smtClean="0">
                <a:solidFill>
                  <a:schemeClr val="bg1"/>
                </a:solidFill>
              </a:rPr>
              <a:t>                     a v nich jest krásná úprava.</a:t>
            </a:r>
          </a:p>
          <a:p>
            <a:r>
              <a:rPr lang="cs-CZ" sz="2400" b="1" smtClean="0">
                <a:solidFill>
                  <a:schemeClr val="bg1"/>
                </a:solidFill>
              </a:rPr>
              <a:t>                     tu rač své seděnie jmieti</a:t>
            </a:r>
          </a:p>
          <a:p>
            <a:r>
              <a:rPr lang="cs-CZ" sz="2400" b="1" smtClean="0">
                <a:solidFill>
                  <a:schemeClr val="bg1"/>
                </a:solidFill>
              </a:rPr>
              <a:t>                     a své drahé masti vynieti. </a:t>
            </a:r>
          </a:p>
          <a:p>
            <a:r>
              <a:rPr lang="cs-CZ" sz="2400" b="1" smtClean="0">
                <a:solidFill>
                  <a:schemeClr val="bg1"/>
                </a:solidFill>
              </a:rPr>
              <a:t>  </a:t>
            </a:r>
          </a:p>
          <a:p>
            <a:r>
              <a:rPr lang="cs-CZ" sz="2400" b="1" smtClean="0">
                <a:solidFill>
                  <a:schemeClr val="bg1"/>
                </a:solidFill>
              </a:rPr>
              <a:t>                    </a:t>
            </a:r>
            <a:endParaRPr lang="cs-CZ" sz="2400" b="1">
              <a:solidFill>
                <a:schemeClr val="bg1"/>
              </a:solidFill>
            </a:endParaRPr>
          </a:p>
        </p:txBody>
      </p:sp>
      <p:pic>
        <p:nvPicPr>
          <p:cNvPr id="3" name="Picture 4" descr="http://m3.weststats.com/images/items/right_arm/elixier.png"/>
          <p:cNvPicPr>
            <a:picLocks noChangeAspect="1" noChangeArrowheads="1"/>
          </p:cNvPicPr>
          <p:nvPr/>
        </p:nvPicPr>
        <p:blipFill>
          <a:blip r:embed="rId2" cstate="print"/>
          <a:srcRect/>
          <a:stretch>
            <a:fillRect/>
          </a:stretch>
        </p:blipFill>
        <p:spPr bwMode="auto">
          <a:xfrm>
            <a:off x="6715140" y="4357694"/>
            <a:ext cx="1643074" cy="1643074"/>
          </a:xfrm>
          <a:prstGeom prst="hexagon">
            <a:avLst/>
          </a:prstGeom>
          <a:no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Obdélník 3"/>
          <p:cNvSpPr/>
          <p:nvPr/>
        </p:nvSpPr>
        <p:spPr>
          <a:xfrm>
            <a:off x="3143240" y="142852"/>
            <a:ext cx="2616037" cy="769441"/>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400" b="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Mastičkář </a:t>
            </a:r>
          </a:p>
        </p:txBody>
      </p:sp>
      <p:pic>
        <p:nvPicPr>
          <p:cNvPr id="6" name="Picture 2" descr="http://wiki.the-west.cz/images/4/4c/Pracovat_jako_masti%C4%8Dk%C3%A1%C5%99.png"/>
          <p:cNvPicPr>
            <a:picLocks noChangeAspect="1" noChangeArrowheads="1"/>
          </p:cNvPicPr>
          <p:nvPr/>
        </p:nvPicPr>
        <p:blipFill>
          <a:blip r:embed="rId3" cstate="print"/>
          <a:srcRect/>
          <a:stretch>
            <a:fillRect/>
          </a:stretch>
        </p:blipFill>
        <p:spPr bwMode="auto">
          <a:xfrm>
            <a:off x="1571604" y="2214554"/>
            <a:ext cx="1143008" cy="1143008"/>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571472" y="1142984"/>
            <a:ext cx="8001056" cy="4893647"/>
          </a:xfrm>
          <a:prstGeom prst="rect">
            <a:avLst/>
          </a:prstGeom>
          <a:ln>
            <a:solidFill>
              <a:schemeClr val="accent1"/>
            </a:solidFill>
          </a:ln>
        </p:spPr>
        <p:txBody>
          <a:bodyPr wrap="square">
            <a:spAutoFit/>
          </a:bodyPr>
          <a:lstStyle/>
          <a:p>
            <a:r>
              <a:rPr lang="cs-CZ" sz="2400" b="1" i="1" smtClean="0"/>
              <a:t>Dějištěm je středověké tržiště. Mastičkář -  mistr Severin  a jeho prostořeký sluha Rubín na něm rozloží krám a začnou tam vypočítávat a vychvalovat své léčebné masti. </a:t>
            </a:r>
          </a:p>
          <a:p>
            <a:r>
              <a:rPr lang="cs-CZ" sz="2400" b="1" i="1" smtClean="0"/>
              <a:t>Rubín přiláká ke krámku tři Marie (Panna Maria, Máří Magdaléna a Marie, sestra Lazara), které shánějí masti </a:t>
            </a:r>
          </a:p>
          <a:p>
            <a:r>
              <a:rPr lang="cs-CZ" sz="2400" b="1" i="1" smtClean="0"/>
              <a:t>k balzamování mrtvého Kristova těla. Mastičkář před jejich očima vzkřísí Abrahámova syna Izáka (opět narážka na Bibli, tentokrát na starozákonní příběh) tím, že mu poleje hýždě výkaly. Své masti chce prodat za tři hřivny zlata, ale nakonec je třem Mariím prodá jen za dvě hřivny. Jeho manželka mu nadává, že za ně mohl dostat víc. Další text není dochován.</a:t>
            </a:r>
          </a:p>
          <a:p>
            <a:r>
              <a:rPr lang="cs-CZ" sz="2400" b="1" i="1" smtClean="0"/>
              <a:t>Posledním výjevem hry je spor studenta Pustrpalka</a:t>
            </a:r>
          </a:p>
          <a:p>
            <a:r>
              <a:rPr lang="cs-CZ" sz="2400" b="1" i="1" smtClean="0"/>
              <a:t> s Rubínem o to, čí rod je přednější.</a:t>
            </a:r>
            <a:endParaRPr lang="cs-CZ" sz="2400" b="1" i="1"/>
          </a:p>
        </p:txBody>
      </p:sp>
      <p:sp>
        <p:nvSpPr>
          <p:cNvPr id="5" name="Obdélník 4"/>
          <p:cNvSpPr/>
          <p:nvPr/>
        </p:nvSpPr>
        <p:spPr>
          <a:xfrm>
            <a:off x="2071670" y="357166"/>
            <a:ext cx="4118948" cy="707886"/>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000" b="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Obsah Mastičkáře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1285852" y="159229"/>
            <a:ext cx="6665479" cy="769441"/>
          </a:xfrm>
          <a:prstGeom prst="rect">
            <a:avLst/>
          </a:prstGeom>
          <a:solidFill>
            <a:schemeClr val="bg2">
              <a:lumMod val="90000"/>
            </a:schemeClr>
          </a:solidFill>
          <a:ln>
            <a:solidFill>
              <a:srgbClr val="002060"/>
            </a:solidFill>
          </a:ln>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chemeClr val="accent3">
                    <a:lumMod val="50000"/>
                  </a:schemeClr>
                </a:solidFill>
              </a:rPr>
              <a:t>4. Zábavná a odborná próza</a:t>
            </a:r>
            <a:endParaRPr lang="cs-CZ" sz="4400" b="1">
              <a:ln/>
              <a:solidFill>
                <a:schemeClr val="accent3">
                  <a:lumMod val="50000"/>
                </a:schemeClr>
              </a:solidFill>
            </a:endParaRPr>
          </a:p>
        </p:txBody>
      </p:sp>
      <p:sp>
        <p:nvSpPr>
          <p:cNvPr id="3" name="TextovéPole 2"/>
          <p:cNvSpPr txBox="1"/>
          <p:nvPr/>
        </p:nvSpPr>
        <p:spPr>
          <a:xfrm>
            <a:off x="285720" y="1058553"/>
            <a:ext cx="8628965" cy="6370975"/>
          </a:xfrm>
          <a:prstGeom prst="rect">
            <a:avLst/>
          </a:prstGeom>
          <a:noFill/>
        </p:spPr>
        <p:txBody>
          <a:bodyPr wrap="none" rtlCol="0">
            <a:spAutoFit/>
          </a:bodyPr>
          <a:lstStyle/>
          <a:p>
            <a:pPr>
              <a:buFont typeface="Arial" pitchFamily="34" charset="0"/>
              <a:buChar char="•"/>
            </a:pPr>
            <a:r>
              <a:rPr lang="cs-CZ" sz="2400" b="1" noProof="1" smtClean="0"/>
              <a:t> ve 14.století  rychlý rozvoj</a:t>
            </a:r>
          </a:p>
          <a:p>
            <a:pPr>
              <a:buFont typeface="Arial" pitchFamily="34" charset="0"/>
              <a:buChar char="•"/>
            </a:pPr>
            <a:r>
              <a:rPr lang="cs-CZ" sz="2400" b="1" noProof="1" smtClean="0"/>
              <a:t> vznikaly nové žánry, které se už vyhýbaly verši</a:t>
            </a:r>
            <a:endParaRPr lang="cs-CZ" sz="2400" b="1" dirty="0" smtClean="0">
              <a:solidFill>
                <a:srgbClr val="002060"/>
              </a:solidFill>
            </a:endParaRPr>
          </a:p>
          <a:p>
            <a:pPr>
              <a:buFont typeface="Arial" pitchFamily="34" charset="0"/>
              <a:buChar char="•"/>
            </a:pPr>
            <a:r>
              <a:rPr lang="cs-CZ" sz="2400" b="1" dirty="0" smtClean="0">
                <a:solidFill>
                  <a:srgbClr val="002060"/>
                </a:solidFill>
              </a:rPr>
              <a:t> v próze odborné </a:t>
            </a:r>
            <a:r>
              <a:rPr lang="cs-CZ" sz="2400" b="1" dirty="0" smtClean="0"/>
              <a:t>se jednalo hlavně o </a:t>
            </a:r>
            <a:r>
              <a:rPr lang="cs-CZ" sz="2400" b="1" dirty="0" smtClean="0">
                <a:solidFill>
                  <a:srgbClr val="002060"/>
                </a:solidFill>
              </a:rPr>
              <a:t>kronikářství a právnictví</a:t>
            </a:r>
            <a:r>
              <a:rPr lang="cs-CZ" sz="2400" b="1" noProof="1" smtClean="0"/>
              <a:t> </a:t>
            </a:r>
          </a:p>
          <a:p>
            <a:pPr>
              <a:buFont typeface="Arial" pitchFamily="34" charset="0"/>
              <a:buChar char="•"/>
            </a:pPr>
            <a:r>
              <a:rPr lang="cs-CZ" sz="2400" b="1" noProof="1" smtClean="0"/>
              <a:t> próza se zaměřovala na tiché čtení  ( = pro sebe)</a:t>
            </a:r>
            <a:r>
              <a:rPr lang="cs-CZ" sz="2400" b="1" dirty="0" smtClean="0">
                <a:solidFill>
                  <a:srgbClr val="002060"/>
                </a:solidFill>
              </a:rPr>
              <a:t> </a:t>
            </a:r>
            <a:endParaRPr lang="cs-CZ" sz="2400" b="1" noProof="1" smtClean="0"/>
          </a:p>
          <a:p>
            <a:pPr>
              <a:buFont typeface="Arial" pitchFamily="34" charset="0"/>
              <a:buChar char="•"/>
            </a:pPr>
            <a:r>
              <a:rPr lang="cs-CZ" sz="2400" b="1" noProof="1" smtClean="0">
                <a:solidFill>
                  <a:srgbClr val="FF0000"/>
                </a:solidFill>
              </a:rPr>
              <a:t> Trojánská kronika </a:t>
            </a:r>
          </a:p>
          <a:p>
            <a:r>
              <a:rPr lang="cs-CZ" sz="2400" b="1" noProof="1" smtClean="0"/>
              <a:t>   - rozsáhlý román o dobývání Tróje</a:t>
            </a:r>
          </a:p>
          <a:p>
            <a:r>
              <a:rPr lang="cs-CZ" sz="2400" b="1" noProof="1" smtClean="0"/>
              <a:t>   - je zde vylíčena jako středověké město</a:t>
            </a:r>
          </a:p>
          <a:p>
            <a:r>
              <a:rPr lang="cs-CZ" sz="2400" b="1" noProof="1" smtClean="0"/>
              <a:t>   - </a:t>
            </a:r>
            <a:r>
              <a:rPr lang="cs-CZ" sz="2400" b="1" i="1" noProof="1" smtClean="0">
                <a:solidFill>
                  <a:srgbClr val="002060"/>
                </a:solidFill>
              </a:rPr>
              <a:t>1468 se stala první tištěnou knihou v Čechách ( v Plzni)</a:t>
            </a:r>
          </a:p>
          <a:p>
            <a:pPr>
              <a:buFont typeface="Arial" pitchFamily="34" charset="0"/>
              <a:buChar char="•"/>
            </a:pPr>
            <a:r>
              <a:rPr lang="cs-CZ" sz="2400" b="1" noProof="1" smtClean="0">
                <a:solidFill>
                  <a:srgbClr val="FF0000"/>
                </a:solidFill>
              </a:rPr>
              <a:t> Tristram a Izolda </a:t>
            </a:r>
            <a:r>
              <a:rPr lang="cs-CZ" sz="2400" b="1" noProof="1" smtClean="0"/>
              <a:t>– rytířský epos</a:t>
            </a:r>
          </a:p>
          <a:p>
            <a:pPr>
              <a:buFont typeface="Arial" pitchFamily="34" charset="0"/>
              <a:buChar char="•"/>
            </a:pPr>
            <a:r>
              <a:rPr lang="cs-CZ" sz="2400" b="1" noProof="1" smtClean="0">
                <a:solidFill>
                  <a:srgbClr val="FF0000"/>
                </a:solidFill>
              </a:rPr>
              <a:t>Povídka o Alexandru Velikém </a:t>
            </a:r>
            <a:r>
              <a:rPr lang="cs-CZ" sz="2400" b="1" noProof="1" smtClean="0"/>
              <a:t>– hrdina </a:t>
            </a:r>
            <a:r>
              <a:rPr lang="cs-CZ" sz="2400" b="1" noProof="1" smtClean="0"/>
              <a:t>změněn </a:t>
            </a:r>
            <a:r>
              <a:rPr lang="cs-CZ" sz="2400" b="1" noProof="1" smtClean="0"/>
              <a:t>z rytíře na nositele</a:t>
            </a:r>
          </a:p>
          <a:p>
            <a:r>
              <a:rPr lang="cs-CZ" sz="2400" b="1" noProof="1" smtClean="0"/>
              <a:t>  pohádkových dobrodružství, fantastické prvky</a:t>
            </a:r>
          </a:p>
          <a:p>
            <a:pPr>
              <a:buFont typeface="Arial" pitchFamily="34" charset="0"/>
              <a:buChar char="•"/>
            </a:pPr>
            <a:r>
              <a:rPr lang="cs-CZ" sz="2400" b="1" noProof="1" smtClean="0">
                <a:solidFill>
                  <a:srgbClr val="FF0000"/>
                </a:solidFill>
              </a:rPr>
              <a:t>Tkadleček</a:t>
            </a:r>
            <a:r>
              <a:rPr lang="cs-CZ" sz="2400" b="1" noProof="1" smtClean="0"/>
              <a:t> – filozofická próza, nejnáročnější staročeská skladba</a:t>
            </a:r>
          </a:p>
          <a:p>
            <a:r>
              <a:rPr lang="cs-CZ" sz="2400" b="1" noProof="1" smtClean="0"/>
              <a:t>  z roku 1400, alegorický spor milence s Neštěstím, které mu vzalo</a:t>
            </a:r>
          </a:p>
          <a:p>
            <a:r>
              <a:rPr lang="cs-CZ" sz="2400" b="1" noProof="1" smtClean="0"/>
              <a:t>  milou</a:t>
            </a:r>
          </a:p>
          <a:p>
            <a:pPr>
              <a:buFont typeface="Arial" pitchFamily="34" charset="0"/>
              <a:buChar char="•"/>
            </a:pPr>
            <a:r>
              <a:rPr lang="cs-CZ" sz="2400" b="1" noProof="1" smtClean="0">
                <a:solidFill>
                  <a:srgbClr val="FF0000"/>
                </a:solidFill>
              </a:rPr>
              <a:t> </a:t>
            </a:r>
            <a:r>
              <a:rPr lang="cs-CZ" sz="2400" b="1" dirty="0" smtClean="0">
                <a:solidFill>
                  <a:srgbClr val="FF0000"/>
                </a:solidFill>
              </a:rPr>
              <a:t>Olomoucké povídky </a:t>
            </a:r>
            <a:r>
              <a:rPr lang="cs-CZ" sz="2400" b="1" dirty="0" smtClean="0"/>
              <a:t>– drobné moralistické povídky</a:t>
            </a:r>
          </a:p>
          <a:p>
            <a:endParaRPr lang="cs-CZ" sz="2400" b="1" dirty="0" smtClean="0">
              <a:solidFill>
                <a:srgbClr val="002060"/>
              </a:solidFill>
            </a:endParaRPr>
          </a:p>
          <a:p>
            <a:pPr>
              <a:buFont typeface="Arial" pitchFamily="34" charset="0"/>
              <a:buChar char="•"/>
            </a:pPr>
            <a:endParaRPr lang="cs-CZ" sz="2400" b="1" noProof="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zsrokytnice.cz/spol/dejepis/slohy/renesance/kronika.jpg"/>
          <p:cNvPicPr>
            <a:picLocks noChangeAspect="1" noChangeArrowheads="1"/>
          </p:cNvPicPr>
          <p:nvPr/>
        </p:nvPicPr>
        <p:blipFill>
          <a:blip r:embed="rId2" cstate="print"/>
          <a:srcRect/>
          <a:stretch>
            <a:fillRect/>
          </a:stretch>
        </p:blipFill>
        <p:spPr bwMode="auto">
          <a:xfrm>
            <a:off x="785786" y="500042"/>
            <a:ext cx="4071966" cy="5694131"/>
          </a:xfrm>
          <a:prstGeom prst="rect">
            <a:avLst/>
          </a:prstGeom>
          <a:noFill/>
          <a:ln>
            <a:solidFill>
              <a:schemeClr val="accent1"/>
            </a:solidFill>
          </a:ln>
        </p:spPr>
      </p:pic>
      <p:sp>
        <p:nvSpPr>
          <p:cNvPr id="3" name="Obdélník 2"/>
          <p:cNvSpPr/>
          <p:nvPr/>
        </p:nvSpPr>
        <p:spPr>
          <a:xfrm>
            <a:off x="5072066" y="500042"/>
            <a:ext cx="4049378" cy="707886"/>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000" b="1" noProof="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Trojánská kronika </a:t>
            </a:r>
            <a:endParaRPr lang="cs-CZ"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Soubor:Marco Polo, Il Milione, Chapter CXXIII and CXXIV.jpg">
            <a:hlinkClick r:id="rId2"/>
          </p:cNvPr>
          <p:cNvPicPr>
            <a:picLocks noChangeAspect="1" noChangeArrowheads="1"/>
          </p:cNvPicPr>
          <p:nvPr/>
        </p:nvPicPr>
        <p:blipFill>
          <a:blip r:embed="rId3" cstate="print"/>
          <a:srcRect/>
          <a:stretch>
            <a:fillRect/>
          </a:stretch>
        </p:blipFill>
        <p:spPr bwMode="auto">
          <a:xfrm>
            <a:off x="395536" y="764704"/>
            <a:ext cx="3187554" cy="4608512"/>
          </a:xfrm>
          <a:prstGeom prst="rect">
            <a:avLst/>
          </a:prstGeom>
          <a:noFill/>
        </p:spPr>
      </p:pic>
      <p:sp>
        <p:nvSpPr>
          <p:cNvPr id="3" name="Obdélník 2"/>
          <p:cNvSpPr/>
          <p:nvPr/>
        </p:nvSpPr>
        <p:spPr>
          <a:xfrm>
            <a:off x="3707904" y="764704"/>
            <a:ext cx="5436096" cy="2308324"/>
          </a:xfrm>
          <a:prstGeom prst="rect">
            <a:avLst/>
          </a:prstGeom>
        </p:spPr>
        <p:txBody>
          <a:bodyPr wrap="square">
            <a:spAutoFit/>
          </a:bodyPr>
          <a:lstStyle/>
          <a:p>
            <a:pPr>
              <a:buFont typeface="Arial" pitchFamily="34" charset="0"/>
              <a:buChar char="•"/>
            </a:pPr>
            <a:r>
              <a:rPr lang="cs-CZ" sz="2400" b="1" noProof="1" smtClean="0">
                <a:solidFill>
                  <a:srgbClr val="FF0000"/>
                </a:solidFill>
              </a:rPr>
              <a:t> Mandevillův cestopis </a:t>
            </a:r>
            <a:r>
              <a:rPr lang="cs-CZ" sz="2400" b="1" noProof="1" smtClean="0"/>
              <a:t>– </a:t>
            </a:r>
            <a:r>
              <a:rPr lang="cs-CZ" sz="2400" b="1" i="1" noProof="1" smtClean="0"/>
              <a:t>smyšlený</a:t>
            </a:r>
            <a:r>
              <a:rPr lang="cs-CZ" sz="2400" b="1" noProof="1" smtClean="0"/>
              <a:t> popis</a:t>
            </a:r>
          </a:p>
          <a:p>
            <a:r>
              <a:rPr lang="cs-CZ" sz="2400" b="1" noProof="1" smtClean="0"/>
              <a:t>  cest do východních krajů</a:t>
            </a:r>
          </a:p>
          <a:p>
            <a:r>
              <a:rPr lang="cs-CZ" sz="2400" b="1" noProof="1" smtClean="0"/>
              <a:t>  belgického </a:t>
            </a:r>
            <a:r>
              <a:rPr lang="cs-CZ" sz="2400" b="1" noProof="1" smtClean="0">
                <a:solidFill>
                  <a:srgbClr val="002060"/>
                </a:solidFill>
              </a:rPr>
              <a:t>lékaře Mandevilly </a:t>
            </a:r>
          </a:p>
          <a:p>
            <a:pPr>
              <a:buFont typeface="Arial" pitchFamily="34" charset="0"/>
              <a:buChar char="•"/>
            </a:pPr>
            <a:r>
              <a:rPr lang="cs-CZ" sz="2400" b="1" noProof="1" smtClean="0">
                <a:solidFill>
                  <a:srgbClr val="FF0000"/>
                </a:solidFill>
              </a:rPr>
              <a:t> Milión </a:t>
            </a:r>
            <a:r>
              <a:rPr lang="cs-CZ" sz="2400" b="1" noProof="1" smtClean="0"/>
              <a:t>– </a:t>
            </a:r>
            <a:r>
              <a:rPr lang="cs-CZ" sz="2400" b="1" i="1" noProof="1" smtClean="0"/>
              <a:t>pravdivý c</a:t>
            </a:r>
            <a:r>
              <a:rPr lang="cs-CZ" sz="2400" b="1" noProof="1" smtClean="0"/>
              <a:t>estopis benátského</a:t>
            </a:r>
          </a:p>
          <a:p>
            <a:r>
              <a:rPr lang="cs-CZ" sz="2400" b="1" noProof="1" smtClean="0"/>
              <a:t>  kupce </a:t>
            </a:r>
            <a:r>
              <a:rPr lang="cs-CZ" sz="2400" b="1" noProof="1" smtClean="0">
                <a:solidFill>
                  <a:srgbClr val="002060"/>
                </a:solidFill>
              </a:rPr>
              <a:t>Marca Pola</a:t>
            </a:r>
            <a:r>
              <a:rPr lang="cs-CZ" sz="2400" b="1" noProof="1" smtClean="0"/>
              <a:t>, který se dostal až </a:t>
            </a:r>
          </a:p>
          <a:p>
            <a:r>
              <a:rPr lang="cs-CZ" sz="2400" b="1" noProof="1" smtClean="0"/>
              <a:t>  do Mongolska a do Číny</a:t>
            </a:r>
          </a:p>
        </p:txBody>
      </p:sp>
      <p:sp>
        <p:nvSpPr>
          <p:cNvPr id="4" name="TextovéPole 3"/>
          <p:cNvSpPr txBox="1"/>
          <p:nvPr/>
        </p:nvSpPr>
        <p:spPr>
          <a:xfrm>
            <a:off x="3786182" y="77908"/>
            <a:ext cx="2915029" cy="769441"/>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Cestopisy    </a:t>
            </a:r>
            <a:endParaRPr lang="cs-CZ"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45060" name="Picture 4" descr="Soubor:Marco Polo traveling.JPG">
            <a:hlinkClick r:id="rId4"/>
          </p:cNvPr>
          <p:cNvPicPr>
            <a:picLocks noChangeAspect="1" noChangeArrowheads="1"/>
          </p:cNvPicPr>
          <p:nvPr/>
        </p:nvPicPr>
        <p:blipFill>
          <a:blip r:embed="rId5" cstate="print"/>
          <a:srcRect/>
          <a:stretch>
            <a:fillRect/>
          </a:stretch>
        </p:blipFill>
        <p:spPr bwMode="auto">
          <a:xfrm>
            <a:off x="3851920" y="3284984"/>
            <a:ext cx="4680520" cy="2937027"/>
          </a:xfrm>
          <a:prstGeom prst="rect">
            <a:avLst/>
          </a:prstGeom>
          <a:noFill/>
          <a:ln>
            <a:solidFill>
              <a:srgbClr val="002060"/>
            </a:solidFill>
          </a:ln>
        </p:spPr>
      </p:pic>
      <p:sp>
        <p:nvSpPr>
          <p:cNvPr id="45061" name="Rectangle 5"/>
          <p:cNvSpPr>
            <a:spLocks noChangeArrowheads="1"/>
          </p:cNvSpPr>
          <p:nvPr/>
        </p:nvSpPr>
        <p:spPr bwMode="auto">
          <a:xfrm>
            <a:off x="899592" y="5517232"/>
            <a:ext cx="2339752" cy="646331"/>
          </a:xfrm>
          <a:prstGeom prst="rect">
            <a:avLst/>
          </a:prstGeom>
          <a:noFill/>
          <a:ln w="9525">
            <a:solidFill>
              <a:srgbClr val="00206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b="1" i="0" u="none" strike="noStrike" cap="none" normalizeH="0" baseline="0" noProof="1" smtClean="0">
                <a:ln>
                  <a:noFill/>
                </a:ln>
                <a:effectLst/>
                <a:latin typeface="Arial" charset="0"/>
                <a:cs typeface="Arial" charset="0"/>
              </a:rPr>
              <a:t>Marco Polo </a:t>
            </a:r>
          </a:p>
          <a:p>
            <a:pPr marL="0" marR="0" lvl="0" indent="0" algn="l" defTabSz="914400" rtl="0" eaLnBrk="1" fontAlgn="base" latinLnBrk="0" hangingPunct="1">
              <a:lnSpc>
                <a:spcPct val="100000"/>
              </a:lnSpc>
              <a:spcBef>
                <a:spcPct val="0"/>
              </a:spcBef>
              <a:spcAft>
                <a:spcPct val="0"/>
              </a:spcAft>
              <a:buClrTx/>
              <a:buSzTx/>
              <a:buFontTx/>
              <a:buNone/>
              <a:tabLst/>
            </a:pPr>
            <a:r>
              <a:rPr kumimoji="0" lang="cs-CZ" b="1" i="0" u="none" strike="noStrike" cap="none" normalizeH="0" baseline="0" noProof="1" smtClean="0">
                <a:ln>
                  <a:noFill/>
                </a:ln>
                <a:effectLst/>
                <a:latin typeface="Arial" charset="0"/>
                <a:cs typeface="Arial" charset="0"/>
              </a:rPr>
              <a:t>na cestě v Číně</a:t>
            </a:r>
          </a:p>
        </p:txBody>
      </p:sp>
      <p:pic>
        <p:nvPicPr>
          <p:cNvPr id="45062" name="Picture 6" descr="http://bits.wikimedia.org/skins-1.5/common/images/magnify-clip.png">
            <a:hlinkClick r:id="rId6" tooltip="Zvětšit"/>
          </p:cNvPr>
          <p:cNvPicPr>
            <a:picLocks noChangeAspect="1" noChangeArrowheads="1"/>
          </p:cNvPicPr>
          <p:nvPr/>
        </p:nvPicPr>
        <p:blipFill>
          <a:blip r:embed="rId7" cstate="print"/>
          <a:srcRect/>
          <a:stretch>
            <a:fillRect/>
          </a:stretch>
        </p:blipFill>
        <p:spPr bwMode="auto">
          <a:xfrm>
            <a:off x="130175" y="-130175"/>
            <a:ext cx="142875" cy="104775"/>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Soubor:Marco Polo portrait.jpg">
            <a:hlinkClick r:id="rId2"/>
          </p:cNvPr>
          <p:cNvPicPr>
            <a:picLocks noChangeAspect="1" noChangeArrowheads="1"/>
          </p:cNvPicPr>
          <p:nvPr/>
        </p:nvPicPr>
        <p:blipFill>
          <a:blip r:embed="rId3" cstate="print"/>
          <a:srcRect/>
          <a:stretch>
            <a:fillRect/>
          </a:stretch>
        </p:blipFill>
        <p:spPr bwMode="auto">
          <a:xfrm>
            <a:off x="428596" y="1156444"/>
            <a:ext cx="2952328" cy="3987068"/>
          </a:xfrm>
          <a:prstGeom prst="rect">
            <a:avLst/>
          </a:prstGeom>
          <a:solidFill>
            <a:srgbClr val="FFFFFF">
              <a:shade val="85000"/>
            </a:srgbClr>
          </a:solidFill>
          <a:ln w="88900" cap="sq">
            <a:solidFill>
              <a:srgbClr val="00206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ovéPole 2"/>
          <p:cNvSpPr txBox="1"/>
          <p:nvPr/>
        </p:nvSpPr>
        <p:spPr>
          <a:xfrm>
            <a:off x="1635425" y="77908"/>
            <a:ext cx="6277039" cy="769441"/>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noProof="1" smtClean="0">
                <a:ln/>
                <a:solidFill>
                  <a:srgbClr val="002060"/>
                </a:solidFill>
              </a:rPr>
              <a:t>Marco Polo ( 1254 – 1324)</a:t>
            </a:r>
            <a:endParaRPr lang="cs-CZ" sz="4400" b="1" noProof="1">
              <a:ln/>
              <a:solidFill>
                <a:srgbClr val="002060"/>
              </a:solidFill>
            </a:endParaRPr>
          </a:p>
        </p:txBody>
      </p:sp>
      <p:sp>
        <p:nvSpPr>
          <p:cNvPr id="5" name="TextovéPole 4"/>
          <p:cNvSpPr txBox="1"/>
          <p:nvPr/>
        </p:nvSpPr>
        <p:spPr>
          <a:xfrm>
            <a:off x="3428992" y="930504"/>
            <a:ext cx="5724128" cy="2569934"/>
          </a:xfrm>
          <a:prstGeom prst="rect">
            <a:avLst/>
          </a:prstGeom>
          <a:noFill/>
        </p:spPr>
        <p:txBody>
          <a:bodyPr wrap="square" rtlCol="0">
            <a:spAutoFit/>
          </a:bodyPr>
          <a:lstStyle/>
          <a:p>
            <a:pPr>
              <a:buFont typeface="Arial" pitchFamily="34" charset="0"/>
              <a:buChar char="•"/>
            </a:pPr>
            <a:r>
              <a:rPr lang="cs-CZ" sz="2300" b="1" i="1" noProof="1" smtClean="0"/>
              <a:t> benátský kupec, cestovatel</a:t>
            </a:r>
          </a:p>
          <a:p>
            <a:pPr>
              <a:buFont typeface="Arial" pitchFamily="34" charset="0"/>
              <a:buChar char="•"/>
            </a:pPr>
            <a:r>
              <a:rPr lang="cs-CZ" sz="2300" b="1" i="1" noProof="1" smtClean="0"/>
              <a:t> cesty po Číně</a:t>
            </a:r>
          </a:p>
          <a:p>
            <a:pPr>
              <a:buFont typeface="Arial" pitchFamily="34" charset="0"/>
              <a:buChar char="•"/>
            </a:pPr>
            <a:r>
              <a:rPr lang="cs-CZ" sz="2300" b="1" i="1" noProof="1" smtClean="0"/>
              <a:t> první Evropan, který poznal východní Asii</a:t>
            </a:r>
          </a:p>
          <a:p>
            <a:pPr>
              <a:buFont typeface="Arial" pitchFamily="34" charset="0"/>
              <a:buChar char="•"/>
            </a:pPr>
            <a:r>
              <a:rPr lang="cs-CZ" sz="2300" b="1" i="1" noProof="1" smtClean="0"/>
              <a:t> 1264 je chán Kublaj opět přijal s velkými </a:t>
            </a:r>
          </a:p>
          <a:p>
            <a:r>
              <a:rPr lang="cs-CZ" sz="2300" b="1" i="1" noProof="1" smtClean="0"/>
              <a:t>   poctami</a:t>
            </a:r>
          </a:p>
          <a:p>
            <a:pPr>
              <a:buFont typeface="Arial" pitchFamily="34" charset="0"/>
              <a:buChar char="•"/>
            </a:pPr>
            <a:r>
              <a:rPr lang="cs-CZ" sz="2300" b="1" i="1" noProof="1" smtClean="0"/>
              <a:t> oblíbil si mladého Marka a během 17 ti let,</a:t>
            </a:r>
          </a:p>
          <a:p>
            <a:r>
              <a:rPr lang="cs-CZ" sz="2300" b="1" i="1" noProof="1" smtClean="0"/>
              <a:t>  které tu pobýval, mu svěřoval různé úřady </a:t>
            </a:r>
            <a:endParaRPr lang="cs-CZ" sz="2300" b="1" i="1" noProof="1"/>
          </a:p>
        </p:txBody>
      </p:sp>
      <p:pic>
        <p:nvPicPr>
          <p:cNvPr id="44036" name="Picture 4" descr="Soubor:PoloBrotherAndKubilai.JPG">
            <a:hlinkClick r:id="rId4"/>
          </p:cNvPr>
          <p:cNvPicPr>
            <a:picLocks noChangeAspect="1" noChangeArrowheads="1"/>
          </p:cNvPicPr>
          <p:nvPr/>
        </p:nvPicPr>
        <p:blipFill>
          <a:blip r:embed="rId5" cstate="print"/>
          <a:srcRect/>
          <a:stretch>
            <a:fillRect/>
          </a:stretch>
        </p:blipFill>
        <p:spPr bwMode="auto">
          <a:xfrm>
            <a:off x="3995936" y="3645024"/>
            <a:ext cx="4861048" cy="2880172"/>
          </a:xfrm>
          <a:prstGeom prst="rect">
            <a:avLst/>
          </a:prstGeom>
          <a:noFill/>
          <a:ln>
            <a:solidFill>
              <a:srgbClr val="002060"/>
            </a:solidFill>
          </a:ln>
        </p:spPr>
      </p:pic>
      <p:sp>
        <p:nvSpPr>
          <p:cNvPr id="7" name="Obdélník 6"/>
          <p:cNvSpPr/>
          <p:nvPr/>
        </p:nvSpPr>
        <p:spPr>
          <a:xfrm>
            <a:off x="179512" y="5745450"/>
            <a:ext cx="3623108" cy="707886"/>
          </a:xfrm>
          <a:prstGeom prst="rect">
            <a:avLst/>
          </a:prstGeom>
          <a:ln>
            <a:solidFill>
              <a:srgbClr val="002060"/>
            </a:solidFill>
          </a:ln>
        </p:spPr>
        <p:txBody>
          <a:bodyPr wrap="none">
            <a:spAutoFit/>
          </a:bodyPr>
          <a:lstStyle/>
          <a:p>
            <a:r>
              <a:rPr lang="pl-PL" sz="2000" b="1" i="1" dirty="0" smtClean="0"/>
              <a:t>Jeho otec a strýc u mongolského</a:t>
            </a:r>
          </a:p>
          <a:p>
            <a:r>
              <a:rPr lang="pl-PL" sz="2000" b="1" i="1" dirty="0" smtClean="0"/>
              <a:t>chána Kublaje v Pekingu</a:t>
            </a:r>
            <a:endParaRPr lang="pl-PL" sz="2000" b="1" i="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ovéPole 2"/>
          <p:cNvSpPr txBox="1"/>
          <p:nvPr/>
        </p:nvSpPr>
        <p:spPr>
          <a:xfrm>
            <a:off x="2000232" y="71414"/>
            <a:ext cx="4262705" cy="769441"/>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cs-CZ" sz="4400" b="1" smtClean="0">
                <a:ln/>
                <a:solidFill>
                  <a:srgbClr val="002060"/>
                </a:solidFill>
              </a:rPr>
              <a:t>Vynález knihtisku</a:t>
            </a:r>
            <a:endParaRPr lang="cs-CZ" sz="4400" b="1">
              <a:ln/>
              <a:solidFill>
                <a:srgbClr val="002060"/>
              </a:solidFill>
            </a:endParaRPr>
          </a:p>
        </p:txBody>
      </p:sp>
      <p:pic>
        <p:nvPicPr>
          <p:cNvPr id="6146" name="Picture 2" descr="Soubor:Buchdrucker-1568.png">
            <a:hlinkClick r:id="rId2"/>
          </p:cNvPr>
          <p:cNvPicPr>
            <a:picLocks noChangeAspect="1" noChangeArrowheads="1"/>
          </p:cNvPicPr>
          <p:nvPr/>
        </p:nvPicPr>
        <p:blipFill>
          <a:blip r:embed="rId3" cstate="print"/>
          <a:srcRect/>
          <a:stretch>
            <a:fillRect/>
          </a:stretch>
        </p:blipFill>
        <p:spPr bwMode="auto">
          <a:xfrm>
            <a:off x="6286512" y="3357562"/>
            <a:ext cx="2415081" cy="3143272"/>
          </a:xfrm>
          <a:prstGeom prst="rect">
            <a:avLst/>
          </a:prstGeom>
          <a:noFill/>
          <a:ln>
            <a:solidFill>
              <a:srgbClr val="002060"/>
            </a:solidFill>
          </a:ln>
        </p:spPr>
      </p:pic>
      <p:sp>
        <p:nvSpPr>
          <p:cNvPr id="6" name="TextovéPole 5"/>
          <p:cNvSpPr txBox="1"/>
          <p:nvPr/>
        </p:nvSpPr>
        <p:spPr>
          <a:xfrm>
            <a:off x="214282" y="928670"/>
            <a:ext cx="7742953" cy="2308324"/>
          </a:xfrm>
          <a:prstGeom prst="rect">
            <a:avLst/>
          </a:prstGeom>
          <a:noFill/>
        </p:spPr>
        <p:txBody>
          <a:bodyPr wrap="none" rtlCol="0">
            <a:spAutoFit/>
          </a:bodyPr>
          <a:lstStyle/>
          <a:p>
            <a:pPr>
              <a:buFont typeface="Arial" pitchFamily="34" charset="0"/>
              <a:buChar char="•"/>
            </a:pPr>
            <a:r>
              <a:rPr lang="cs-CZ" sz="2400" b="1" i="1" noProof="1" smtClean="0"/>
              <a:t> masové používání knihtisku v r. 1447</a:t>
            </a:r>
          </a:p>
          <a:p>
            <a:pPr>
              <a:buFont typeface="Arial" pitchFamily="34" charset="0"/>
              <a:buChar char="•"/>
            </a:pPr>
            <a:r>
              <a:rPr lang="cs-CZ" sz="2400" b="1" i="1" noProof="1" smtClean="0"/>
              <a:t> </a:t>
            </a:r>
            <a:r>
              <a:rPr lang="cs-CZ" sz="2400" b="1" i="1" noProof="1" smtClean="0">
                <a:solidFill>
                  <a:srgbClr val="002060"/>
                </a:solidFill>
              </a:rPr>
              <a:t>vynalezl Johann Gutenberg</a:t>
            </a:r>
          </a:p>
          <a:p>
            <a:pPr>
              <a:buFont typeface="Arial" pitchFamily="34" charset="0"/>
              <a:buChar char="•"/>
            </a:pPr>
            <a:r>
              <a:rPr lang="cs-CZ" sz="2400" b="1" i="1" noProof="1" smtClean="0"/>
              <a:t> tisky do roku 15OO se nazývají </a:t>
            </a:r>
            <a:r>
              <a:rPr lang="cs-CZ" sz="2400" b="1" i="1" noProof="1" smtClean="0">
                <a:solidFill>
                  <a:srgbClr val="002060"/>
                </a:solidFill>
              </a:rPr>
              <a:t>inkunábule </a:t>
            </a:r>
          </a:p>
          <a:p>
            <a:r>
              <a:rPr lang="cs-CZ" sz="2400" b="1" i="1" noProof="1" smtClean="0">
                <a:solidFill>
                  <a:srgbClr val="002060"/>
                </a:solidFill>
              </a:rPr>
              <a:t>  </a:t>
            </a:r>
            <a:r>
              <a:rPr lang="cs-CZ" sz="2400" b="1" i="1" noProof="1" smtClean="0"/>
              <a:t>= prvotisky</a:t>
            </a:r>
            <a:r>
              <a:rPr lang="cs-CZ" sz="2400" i="1" dirty="0" smtClean="0"/>
              <a:t> </a:t>
            </a:r>
          </a:p>
          <a:p>
            <a:pPr>
              <a:buFont typeface="Arial" pitchFamily="34" charset="0"/>
              <a:buChar char="•"/>
            </a:pPr>
            <a:r>
              <a:rPr lang="cs-CZ" sz="2400" b="1" i="1" dirty="0" smtClean="0"/>
              <a:t>roku 1500 existovalo už 1100 dílen ve více než 250 městech</a:t>
            </a:r>
          </a:p>
          <a:p>
            <a:pPr>
              <a:buFont typeface="Arial" pitchFamily="34" charset="0"/>
              <a:buChar char="•"/>
            </a:pPr>
            <a:r>
              <a:rPr lang="cs-CZ" sz="2400" b="1" i="1" noProof="1" smtClean="0"/>
              <a:t> </a:t>
            </a:r>
            <a:r>
              <a:rPr lang="cs-CZ" sz="2400" b="1" i="1" dirty="0" smtClean="0"/>
              <a:t>Itálie - 80, Německo 50, Francie 40 a Španělsko 30</a:t>
            </a:r>
            <a:endParaRPr lang="cs-CZ" sz="2400" b="1" i="1" noProof="1"/>
          </a:p>
        </p:txBody>
      </p:sp>
      <p:pic>
        <p:nvPicPr>
          <p:cNvPr id="6148" name="Picture 4" descr="Soubor:Garamond type fi-ligature.jpg">
            <a:hlinkClick r:id="rId4"/>
          </p:cNvPr>
          <p:cNvPicPr>
            <a:picLocks noChangeAspect="1" noChangeArrowheads="1"/>
          </p:cNvPicPr>
          <p:nvPr/>
        </p:nvPicPr>
        <p:blipFill>
          <a:blip r:embed="rId5" cstate="print"/>
          <a:srcRect/>
          <a:stretch>
            <a:fillRect/>
          </a:stretch>
        </p:blipFill>
        <p:spPr bwMode="auto">
          <a:xfrm>
            <a:off x="3571868" y="3214686"/>
            <a:ext cx="1499363" cy="2000264"/>
          </a:xfrm>
          <a:prstGeom prst="rect">
            <a:avLst/>
          </a:prstGeom>
          <a:noFill/>
          <a:ln>
            <a:solidFill>
              <a:srgbClr val="002060"/>
            </a:solidFill>
          </a:ln>
        </p:spPr>
      </p:pic>
      <p:sp>
        <p:nvSpPr>
          <p:cNvPr id="6149" name="Rectangle 5"/>
          <p:cNvSpPr>
            <a:spLocks noChangeArrowheads="1"/>
          </p:cNvSpPr>
          <p:nvPr/>
        </p:nvSpPr>
        <p:spPr bwMode="auto">
          <a:xfrm>
            <a:off x="3071802" y="5500702"/>
            <a:ext cx="2714644" cy="707886"/>
          </a:xfrm>
          <a:prstGeom prst="rect">
            <a:avLst/>
          </a:prstGeom>
          <a:noFill/>
          <a:ln w="9525">
            <a:solidFill>
              <a:schemeClr val="accent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cs-CZ" sz="2000" b="1" i="1" u="none" strike="noStrike" cap="none" normalizeH="0" baseline="0" smtClean="0">
                <a:ln>
                  <a:noFill/>
                </a:ln>
                <a:solidFill>
                  <a:srgbClr val="002060"/>
                </a:solidFill>
                <a:effectLst/>
                <a:latin typeface="Arial" charset="0"/>
                <a:cs typeface="Arial" charset="0"/>
              </a:rPr>
              <a:t> </a:t>
            </a:r>
            <a:r>
              <a:rPr lang="cs-CZ" sz="2000" b="1" i="1" smtClean="0">
                <a:solidFill>
                  <a:srgbClr val="002060"/>
                </a:solidFill>
                <a:latin typeface="Arial" charset="0"/>
                <a:cs typeface="Arial" charset="0"/>
              </a:rPr>
              <a:t>T</a:t>
            </a:r>
            <a:r>
              <a:rPr kumimoji="0" lang="cs-CZ" sz="2000" b="1" i="1" u="none" strike="noStrike" cap="none" normalizeH="0" baseline="0" smtClean="0">
                <a:ln>
                  <a:noFill/>
                </a:ln>
                <a:solidFill>
                  <a:srgbClr val="002060"/>
                </a:solidFill>
                <a:effectLst/>
                <a:latin typeface="Arial" charset="0"/>
                <a:cs typeface="Arial" charset="0"/>
              </a:rPr>
              <a:t>iskové písmeno</a:t>
            </a:r>
            <a:r>
              <a:rPr kumimoji="0" lang="cs-CZ" sz="2000" b="0" i="1" u="none" strike="noStrike" cap="none" normalizeH="0" baseline="0" smtClean="0">
                <a:ln>
                  <a:noFill/>
                </a:ln>
                <a:solidFill>
                  <a:srgbClr val="002060"/>
                </a:solidFill>
                <a:effectLst/>
                <a:latin typeface="Arial" charset="0"/>
                <a:cs typeface="Arial" charset="0"/>
              </a:rPr>
              <a:t> </a:t>
            </a:r>
            <a:r>
              <a:rPr kumimoji="0" lang="cs-CZ" sz="2000" b="0" i="1" u="none" strike="noStrike" cap="none" normalizeH="0" baseline="0" dirty="0" smtClean="0">
                <a:ln>
                  <a:noFill/>
                </a:ln>
                <a:solidFill>
                  <a:srgbClr val="002060"/>
                </a:solidFill>
                <a:effectLst/>
                <a:latin typeface="Arial" charset="0"/>
                <a:cs typeface="Arial" charset="0"/>
              </a:rPr>
              <a:t>– </a:t>
            </a:r>
            <a:r>
              <a:rPr kumimoji="0" lang="cs-CZ" sz="2000" b="1" i="1" u="none" strike="noStrike" cap="none" normalizeH="0" baseline="0" dirty="0" smtClean="0">
                <a:ln>
                  <a:noFill/>
                </a:ln>
                <a:solidFill>
                  <a:srgbClr val="002060"/>
                </a:solidFill>
                <a:effectLst/>
                <a:latin typeface="Arial" charset="0"/>
                <a:cs typeface="Arial" charset="0"/>
              </a:rPr>
              <a:t>ligatura</a:t>
            </a:r>
            <a:r>
              <a:rPr lang="cs-CZ" sz="2000" b="1" i="1" dirty="0" smtClean="0">
                <a:solidFill>
                  <a:srgbClr val="002060"/>
                </a:solidFill>
                <a:latin typeface="Arial" charset="0"/>
                <a:cs typeface="Arial" charset="0"/>
              </a:rPr>
              <a:t> </a:t>
            </a:r>
            <a:r>
              <a:rPr kumimoji="0" lang="cs-CZ" sz="2000" b="1" i="1" u="none" strike="noStrike" cap="none" normalizeH="0" baseline="0" dirty="0" smtClean="0">
                <a:ln>
                  <a:noFill/>
                </a:ln>
                <a:solidFill>
                  <a:srgbClr val="002060"/>
                </a:solidFill>
                <a:effectLst/>
                <a:latin typeface="Arial" charset="0"/>
                <a:cs typeface="Arial" charset="0"/>
              </a:rPr>
              <a:t>písmen ſ</a:t>
            </a:r>
            <a:r>
              <a:rPr kumimoji="0" lang="cs-CZ" sz="2000" b="0" i="1" u="none" strike="noStrike" cap="none" normalizeH="0" baseline="0" dirty="0" smtClean="0">
                <a:ln>
                  <a:noFill/>
                </a:ln>
                <a:solidFill>
                  <a:srgbClr val="002060"/>
                </a:solidFill>
                <a:effectLst/>
                <a:latin typeface="Arial" charset="0"/>
                <a:cs typeface="Arial" charset="0"/>
              </a:rPr>
              <a:t> a </a:t>
            </a:r>
            <a:r>
              <a:rPr kumimoji="0" lang="cs-CZ" sz="2000" b="1" i="1" u="none" strike="noStrike" cap="none" normalizeH="0" baseline="0" dirty="0" smtClean="0">
                <a:ln>
                  <a:noFill/>
                </a:ln>
                <a:solidFill>
                  <a:srgbClr val="002060"/>
                </a:solidFill>
                <a:effectLst/>
                <a:latin typeface="Arial" charset="0"/>
                <a:cs typeface="Arial" charset="0"/>
              </a:rPr>
              <a:t>i</a:t>
            </a:r>
            <a:r>
              <a:rPr kumimoji="0" lang="cs-CZ" sz="2000" b="0" i="1" u="none" strike="noStrike" cap="none" normalizeH="0" baseline="0" dirty="0" smtClean="0">
                <a:ln>
                  <a:noFill/>
                </a:ln>
                <a:solidFill>
                  <a:srgbClr val="002060"/>
                </a:solidFill>
                <a:effectLst/>
                <a:latin typeface="Arial" charset="0"/>
                <a:cs typeface="Arial" charset="0"/>
              </a:rPr>
              <a:t>.</a:t>
            </a:r>
            <a:endParaRPr kumimoji="0" lang="cs-CZ" sz="2000" b="1" i="1" u="none" strike="noStrike" cap="none" normalizeH="0" baseline="0" dirty="0" smtClean="0">
              <a:ln>
                <a:noFill/>
              </a:ln>
              <a:solidFill>
                <a:srgbClr val="002060"/>
              </a:solidFill>
              <a:effectLst/>
              <a:latin typeface="Arial" charset="0"/>
              <a:cs typeface="Arial" charset="0"/>
            </a:endParaRPr>
          </a:p>
        </p:txBody>
      </p:sp>
      <p:pic>
        <p:nvPicPr>
          <p:cNvPr id="6150" name="Picture 6" descr="http://bits.wikimedia.org/skins-1.5/common/images/magnify-clip.png">
            <a:hlinkClick r:id="rId6" tooltip="Zvětšit"/>
          </p:cNvPr>
          <p:cNvPicPr>
            <a:picLocks noChangeAspect="1" noChangeArrowheads="1"/>
          </p:cNvPicPr>
          <p:nvPr/>
        </p:nvPicPr>
        <p:blipFill>
          <a:blip r:embed="rId7" cstate="print"/>
          <a:srcRect/>
          <a:stretch>
            <a:fillRect/>
          </a:stretch>
        </p:blipFill>
        <p:spPr bwMode="auto">
          <a:xfrm>
            <a:off x="9013825" y="-168275"/>
            <a:ext cx="142875" cy="104775"/>
          </a:xfrm>
          <a:prstGeom prst="rect">
            <a:avLst/>
          </a:prstGeom>
          <a:noFill/>
        </p:spPr>
      </p:pic>
      <p:pic>
        <p:nvPicPr>
          <p:cNvPr id="7170" name="Picture 2" descr="http://www.fontriver.com/i/maps/1454_gutenberg_bibel_map.png"/>
          <p:cNvPicPr>
            <a:picLocks noChangeAspect="1" noChangeArrowheads="1"/>
          </p:cNvPicPr>
          <p:nvPr/>
        </p:nvPicPr>
        <p:blipFill>
          <a:blip r:embed="rId8" cstate="print"/>
          <a:srcRect/>
          <a:stretch>
            <a:fillRect/>
          </a:stretch>
        </p:blipFill>
        <p:spPr bwMode="auto">
          <a:xfrm>
            <a:off x="500034" y="3714752"/>
            <a:ext cx="2369914" cy="2571768"/>
          </a:xfrm>
          <a:prstGeom prst="rect">
            <a:avLst/>
          </a:prstGeom>
          <a:noFill/>
          <a:ln>
            <a:solidFill>
              <a:schemeClr val="accent1"/>
            </a:solidFill>
          </a:ln>
        </p:spPr>
      </p:pic>
      <p:pic>
        <p:nvPicPr>
          <p:cNvPr id="9" name="Picture 4" descr="http://www.biografiasyvidas.com/monografia/gutenberg/fotos/gutenberg_color.jpg"/>
          <p:cNvPicPr>
            <a:picLocks noChangeAspect="1" noChangeArrowheads="1"/>
          </p:cNvPicPr>
          <p:nvPr/>
        </p:nvPicPr>
        <p:blipFill>
          <a:blip r:embed="rId9" cstate="print"/>
          <a:srcRect/>
          <a:stretch>
            <a:fillRect/>
          </a:stretch>
        </p:blipFill>
        <p:spPr bwMode="auto">
          <a:xfrm>
            <a:off x="6572264" y="285728"/>
            <a:ext cx="2068379" cy="2143140"/>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http://images.devshed.com/dh/stories/Printers/Printers_Gutenberg_press.jpg"/>
          <p:cNvPicPr>
            <a:picLocks noChangeAspect="1" noChangeArrowheads="1"/>
          </p:cNvPicPr>
          <p:nvPr/>
        </p:nvPicPr>
        <p:blipFill>
          <a:blip r:embed="rId2" cstate="print"/>
          <a:srcRect/>
          <a:stretch>
            <a:fillRect/>
          </a:stretch>
        </p:blipFill>
        <p:spPr bwMode="auto">
          <a:xfrm>
            <a:off x="4214810" y="1785926"/>
            <a:ext cx="4286280" cy="4286280"/>
          </a:xfrm>
          <a:prstGeom prst="rect">
            <a:avLst/>
          </a:prstGeom>
          <a:noFill/>
          <a:ln>
            <a:solidFill>
              <a:schemeClr val="accent1"/>
            </a:solidFill>
          </a:ln>
        </p:spPr>
      </p:pic>
      <p:pic>
        <p:nvPicPr>
          <p:cNvPr id="47110" name="Picture 6" descr="http://media-cdn.tripadvisor.com/media/photo-s/01/51/5e/75/place-gutenberg.jpg"/>
          <p:cNvPicPr>
            <a:picLocks noChangeAspect="1" noChangeArrowheads="1"/>
          </p:cNvPicPr>
          <p:nvPr/>
        </p:nvPicPr>
        <p:blipFill>
          <a:blip r:embed="rId3" cstate="print"/>
          <a:srcRect/>
          <a:stretch>
            <a:fillRect/>
          </a:stretch>
        </p:blipFill>
        <p:spPr bwMode="auto">
          <a:xfrm>
            <a:off x="357158" y="500042"/>
            <a:ext cx="3321867" cy="4429156"/>
          </a:xfrm>
          <a:prstGeom prst="rect">
            <a:avLst/>
          </a:prstGeom>
          <a:noFill/>
          <a:ln>
            <a:solidFill>
              <a:schemeClr val="accent1"/>
            </a:solidFill>
          </a:ln>
        </p:spPr>
      </p:pic>
      <p:sp>
        <p:nvSpPr>
          <p:cNvPr id="5" name="Obdélník 4"/>
          <p:cNvSpPr/>
          <p:nvPr/>
        </p:nvSpPr>
        <p:spPr>
          <a:xfrm>
            <a:off x="4286248" y="214290"/>
            <a:ext cx="4486998" cy="769441"/>
          </a:xfrm>
          <a:prstGeom prst="rect">
            <a:avLst/>
          </a:prstGeom>
        </p:spPr>
        <p:txBody>
          <a:bodyPr wrap="none">
            <a:spAutoFit/>
            <a:scene3d>
              <a:camera prst="orthographicFront"/>
              <a:lightRig rig="balanced" dir="t">
                <a:rot lat="0" lon="0" rev="2100000"/>
              </a:lightRig>
            </a:scene3d>
            <a:sp3d extrusionH="57150" prstMaterial="metal">
              <a:bevelT w="38100" h="25400"/>
              <a:contourClr>
                <a:schemeClr val="bg2"/>
              </a:contourClr>
            </a:sp3d>
          </a:bodyPr>
          <a:lstStyle/>
          <a:p>
            <a:r>
              <a:rPr lang="cs-CZ" sz="4400" b="1" noProof="1" smtClean="0">
                <a:ln w="50800"/>
                <a:solidFill>
                  <a:srgbClr val="002060"/>
                </a:solidFill>
              </a:rPr>
              <a:t>Johann Gutenberg</a:t>
            </a:r>
            <a:endParaRPr lang="cs-CZ" sz="4400" b="1">
              <a:ln w="50800"/>
              <a:solidFill>
                <a:srgbClr val="00206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ovéPole 2"/>
          <p:cNvSpPr txBox="1"/>
          <p:nvPr/>
        </p:nvSpPr>
        <p:spPr>
          <a:xfrm>
            <a:off x="500034" y="4714884"/>
            <a:ext cx="3892604" cy="461665"/>
          </a:xfrm>
          <a:prstGeom prst="rect">
            <a:avLst/>
          </a:prstGeom>
          <a:noFill/>
          <a:ln>
            <a:solidFill>
              <a:schemeClr val="accent1"/>
            </a:solidFill>
          </a:ln>
        </p:spPr>
        <p:txBody>
          <a:bodyPr wrap="none" rtlCol="0">
            <a:spAutoFit/>
          </a:bodyPr>
          <a:lstStyle/>
          <a:p>
            <a:r>
              <a:rPr lang="cs-CZ" sz="2400" b="1" dirty="0" err="1" smtClean="0"/>
              <a:t>Gutenbergem</a:t>
            </a:r>
            <a:r>
              <a:rPr lang="cs-CZ" sz="2400" b="1" dirty="0" smtClean="0"/>
              <a:t> vytištěná bible</a:t>
            </a:r>
            <a:endParaRPr lang="cs-CZ" sz="2400" b="1" dirty="0"/>
          </a:p>
        </p:txBody>
      </p:sp>
      <p:pic>
        <p:nvPicPr>
          <p:cNvPr id="45064" name="Picture 8" descr="http://www.boxcarpress.com/us/blog/wp-content/uploads/2008/10/johann-gutenberg-press1.jpg"/>
          <p:cNvPicPr>
            <a:picLocks noChangeAspect="1" noChangeArrowheads="1"/>
          </p:cNvPicPr>
          <p:nvPr/>
        </p:nvPicPr>
        <p:blipFill>
          <a:blip r:embed="rId2" cstate="print"/>
          <a:srcRect/>
          <a:stretch>
            <a:fillRect/>
          </a:stretch>
        </p:blipFill>
        <p:spPr bwMode="auto">
          <a:xfrm>
            <a:off x="3571868" y="214290"/>
            <a:ext cx="4619625" cy="3276600"/>
          </a:xfrm>
          <a:prstGeom prst="rect">
            <a:avLst/>
          </a:prstGeom>
          <a:noFill/>
          <a:ln>
            <a:solidFill>
              <a:schemeClr val="accent1"/>
            </a:solidFill>
          </a:ln>
        </p:spPr>
      </p:pic>
      <p:pic>
        <p:nvPicPr>
          <p:cNvPr id="45058" name="Picture 2" descr="http://www.luxuo.com/wp-content/uploads/2010/03/gutenberg-bible.jpg"/>
          <p:cNvPicPr>
            <a:picLocks noChangeAspect="1" noChangeArrowheads="1"/>
          </p:cNvPicPr>
          <p:nvPr/>
        </p:nvPicPr>
        <p:blipFill>
          <a:blip r:embed="rId3" cstate="print"/>
          <a:srcRect/>
          <a:stretch>
            <a:fillRect/>
          </a:stretch>
        </p:blipFill>
        <p:spPr bwMode="auto">
          <a:xfrm>
            <a:off x="428596" y="1180804"/>
            <a:ext cx="3857652" cy="2891138"/>
          </a:xfrm>
          <a:prstGeom prst="rect">
            <a:avLst/>
          </a:prstGeom>
          <a:noFill/>
          <a:ln>
            <a:solidFill>
              <a:schemeClr val="accent1"/>
            </a:solidFill>
          </a:ln>
        </p:spPr>
      </p:pic>
      <p:pic>
        <p:nvPicPr>
          <p:cNvPr id="45062" name="Picture 6" descr="http://www.dclab.com/images/gutenberg_bible.jpeg"/>
          <p:cNvPicPr>
            <a:picLocks noChangeAspect="1" noChangeArrowheads="1"/>
          </p:cNvPicPr>
          <p:nvPr/>
        </p:nvPicPr>
        <p:blipFill>
          <a:blip r:embed="rId4" cstate="print"/>
          <a:srcRect/>
          <a:stretch>
            <a:fillRect/>
          </a:stretch>
        </p:blipFill>
        <p:spPr bwMode="auto">
          <a:xfrm>
            <a:off x="5143504" y="2857496"/>
            <a:ext cx="3143272" cy="3533612"/>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www.christnet.cz/magazin/Obrazky/priroda/zvirata/cervena-liska-kytky-small.jpg"/>
          <p:cNvPicPr>
            <a:picLocks noChangeAspect="1" noChangeArrowheads="1"/>
          </p:cNvPicPr>
          <p:nvPr/>
        </p:nvPicPr>
        <p:blipFill>
          <a:blip r:embed="rId2" cstate="print"/>
          <a:srcRect/>
          <a:stretch>
            <a:fillRect/>
          </a:stretch>
        </p:blipFill>
        <p:spPr bwMode="auto">
          <a:xfrm>
            <a:off x="6876256" y="1484784"/>
            <a:ext cx="1392154" cy="2088232"/>
          </a:xfrm>
          <a:prstGeom prst="rect">
            <a:avLst/>
          </a:prstGeom>
          <a:solidFill>
            <a:srgbClr val="FFFFFF">
              <a:shade val="85000"/>
            </a:srgbClr>
          </a:solidFill>
          <a:ln w="88900" cap="sq">
            <a:solidFill>
              <a:srgbClr val="00206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ovéPole 4"/>
          <p:cNvSpPr txBox="1"/>
          <p:nvPr/>
        </p:nvSpPr>
        <p:spPr>
          <a:xfrm>
            <a:off x="1500166" y="0"/>
            <a:ext cx="5840253" cy="707886"/>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Sociální satira ve 14.století</a:t>
            </a:r>
            <a:endParaRPr lang="cs-CZ"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6" name="TextovéPole 5"/>
          <p:cNvSpPr txBox="1"/>
          <p:nvPr/>
        </p:nvSpPr>
        <p:spPr>
          <a:xfrm>
            <a:off x="146452" y="571480"/>
            <a:ext cx="8568952" cy="6817251"/>
          </a:xfrm>
          <a:prstGeom prst="rect">
            <a:avLst/>
          </a:prstGeom>
          <a:noFill/>
        </p:spPr>
        <p:txBody>
          <a:bodyPr wrap="square" rtlCol="0">
            <a:spAutoFit/>
          </a:bodyPr>
          <a:lstStyle/>
          <a:p>
            <a:pPr>
              <a:buFont typeface="Arial" pitchFamily="34" charset="0"/>
              <a:buChar char="•"/>
            </a:pPr>
            <a:r>
              <a:rPr lang="cs-CZ" sz="2300" b="1" noProof="1" smtClean="0"/>
              <a:t> nacházíme ji v poezii, próze, dramatu</a:t>
            </a:r>
          </a:p>
          <a:p>
            <a:pPr>
              <a:buFont typeface="Arial" pitchFamily="34" charset="0"/>
              <a:buChar char="•"/>
            </a:pPr>
            <a:r>
              <a:rPr lang="cs-CZ" sz="2300" b="1" noProof="1" smtClean="0"/>
              <a:t> pohled na společnost „ zdola“, zesměšňování šlechty, církve</a:t>
            </a:r>
          </a:p>
          <a:p>
            <a:pPr>
              <a:buFont typeface="Arial" pitchFamily="34" charset="0"/>
              <a:buChar char="•"/>
            </a:pPr>
            <a:r>
              <a:rPr lang="cs-CZ" sz="2300" b="1" noProof="1" smtClean="0"/>
              <a:t> kritizuje vady společnosti a společenské zlořády</a:t>
            </a:r>
          </a:p>
          <a:p>
            <a:pPr>
              <a:buFont typeface="Arial" pitchFamily="34" charset="0"/>
              <a:buChar char="•"/>
            </a:pPr>
            <a:r>
              <a:rPr lang="cs-CZ" sz="2300" b="1" noProof="1" smtClean="0">
                <a:solidFill>
                  <a:srgbClr val="FF0000"/>
                </a:solidFill>
              </a:rPr>
              <a:t> Hradecký rukopis </a:t>
            </a:r>
          </a:p>
          <a:p>
            <a:r>
              <a:rPr lang="cs-CZ" sz="2300" b="1" noProof="1" smtClean="0"/>
              <a:t>  - kolem roku 134O</a:t>
            </a:r>
          </a:p>
          <a:p>
            <a:r>
              <a:rPr lang="cs-CZ" sz="2300" b="1" noProof="1" smtClean="0"/>
              <a:t>  - autor neznámý, rukopis objevil Josef Dobrovský</a:t>
            </a:r>
          </a:p>
          <a:p>
            <a:r>
              <a:rPr lang="cs-CZ" sz="2300" b="1" noProof="1" smtClean="0"/>
              <a:t>    v Hradci Králové</a:t>
            </a:r>
          </a:p>
          <a:p>
            <a:r>
              <a:rPr lang="cs-CZ" sz="2300" b="1" noProof="1" smtClean="0"/>
              <a:t>  - celkem obsahuje 11 skladeb</a:t>
            </a:r>
          </a:p>
          <a:p>
            <a:r>
              <a:rPr lang="cs-CZ" sz="2300" b="1" noProof="1" smtClean="0"/>
              <a:t>  - patří sem například skladby:</a:t>
            </a:r>
          </a:p>
          <a:p>
            <a:r>
              <a:rPr lang="cs-CZ" sz="2300" b="1" i="1" noProof="1" smtClean="0">
                <a:solidFill>
                  <a:srgbClr val="002060"/>
                </a:solidFill>
              </a:rPr>
              <a:t>    Desatero kázanie božie </a:t>
            </a:r>
            <a:r>
              <a:rPr lang="cs-CZ" sz="2300" b="1" noProof="1" smtClean="0"/>
              <a:t>– veršované kázání, kárá za hříchy proti</a:t>
            </a:r>
          </a:p>
          <a:p>
            <a:r>
              <a:rPr lang="cs-CZ" sz="2300" b="1" noProof="1" smtClean="0"/>
              <a:t>    desateru celou společnost, zaměřuje se na prodavače na trhu, </a:t>
            </a:r>
          </a:p>
          <a:p>
            <a:r>
              <a:rPr lang="cs-CZ" sz="2300" b="1" noProof="1" smtClean="0"/>
              <a:t>    kteří  okrádají chudé</a:t>
            </a:r>
          </a:p>
          <a:p>
            <a:r>
              <a:rPr lang="cs-CZ" sz="2300" b="1" noProof="1" smtClean="0"/>
              <a:t>    </a:t>
            </a:r>
            <a:r>
              <a:rPr lang="cs-CZ" sz="2300" b="1" i="1" noProof="1" smtClean="0">
                <a:solidFill>
                  <a:srgbClr val="002060"/>
                </a:solidFill>
              </a:rPr>
              <a:t>Satiry o řemeslnících a konšelích </a:t>
            </a:r>
            <a:r>
              <a:rPr lang="cs-CZ" sz="2300" b="1" noProof="1" smtClean="0"/>
              <a:t>– </a:t>
            </a:r>
            <a:r>
              <a:rPr lang="cs-CZ" sz="2300" b="1" dirty="0" smtClean="0"/>
              <a:t>sedm </a:t>
            </a:r>
            <a:r>
              <a:rPr lang="cs-CZ" sz="2300" b="1" dirty="0" smtClean="0"/>
              <a:t>drobných satir, </a:t>
            </a:r>
          </a:p>
          <a:p>
            <a:r>
              <a:rPr lang="cs-CZ" sz="2300" b="1" noProof="1" smtClean="0"/>
              <a:t>    kritika nepoctivosti, úplatkářství a okrádání, kritizují ševce</a:t>
            </a:r>
            <a:r>
              <a:rPr lang="cs-CZ" sz="2300" b="1" noProof="1" smtClean="0"/>
              <a:t>, kováře</a:t>
            </a:r>
            <a:r>
              <a:rPr lang="cs-CZ" sz="2300" b="1" noProof="1" smtClean="0"/>
              <a:t>,</a:t>
            </a:r>
          </a:p>
          <a:p>
            <a:r>
              <a:rPr lang="cs-CZ" sz="2300" b="1" noProof="1" smtClean="0"/>
              <a:t>    radní aj. a hrozí jim peklem, </a:t>
            </a:r>
            <a:r>
              <a:rPr lang="cs-CZ" sz="2300" b="1" dirty="0" smtClean="0"/>
              <a:t>hovorový jazyk, vtipné</a:t>
            </a:r>
            <a:endParaRPr lang="cs-CZ" sz="2300" b="1" noProof="1" smtClean="0"/>
          </a:p>
          <a:p>
            <a:r>
              <a:rPr lang="cs-CZ" sz="2300" b="1" i="1" noProof="1" smtClean="0">
                <a:solidFill>
                  <a:srgbClr val="002060"/>
                </a:solidFill>
              </a:rPr>
              <a:t>    Bajka o lišce a džbánu </a:t>
            </a:r>
            <a:r>
              <a:rPr lang="cs-CZ" sz="2300" b="1" noProof="1" smtClean="0"/>
              <a:t>– první česká veršovaná bajka,</a:t>
            </a:r>
          </a:p>
          <a:p>
            <a:r>
              <a:rPr lang="cs-CZ" sz="2300" b="1" noProof="1" smtClean="0"/>
              <a:t>    i chytrák může na svoji chytrost doplatit</a:t>
            </a:r>
          </a:p>
          <a:p>
            <a:r>
              <a:rPr lang="cs-CZ" sz="2300" b="1" noProof="1" smtClean="0"/>
              <a:t>   </a:t>
            </a:r>
          </a:p>
          <a:p>
            <a:endParaRPr lang="cs-CZ" sz="2300" b="1" noProof="1"/>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naturfoto.cz/fotografie/ostatni/liska-obecna-7594.jpg"/>
          <p:cNvPicPr>
            <a:picLocks noChangeAspect="1" noChangeArrowheads="1"/>
          </p:cNvPicPr>
          <p:nvPr/>
        </p:nvPicPr>
        <p:blipFill>
          <a:blip r:embed="rId2" cstate="print"/>
          <a:srcRect/>
          <a:stretch>
            <a:fillRect/>
          </a:stretch>
        </p:blipFill>
        <p:spPr bwMode="auto">
          <a:xfrm>
            <a:off x="357158" y="1000108"/>
            <a:ext cx="3214674" cy="2143116"/>
          </a:xfrm>
          <a:prstGeom prst="rect">
            <a:avLst/>
          </a:prstGeom>
          <a:noFill/>
          <a:ln>
            <a:solidFill>
              <a:schemeClr val="accent1"/>
            </a:solidFill>
          </a:ln>
        </p:spPr>
      </p:pic>
      <p:sp>
        <p:nvSpPr>
          <p:cNvPr id="2" name="Obdélník 1"/>
          <p:cNvSpPr/>
          <p:nvPr/>
        </p:nvSpPr>
        <p:spPr>
          <a:xfrm>
            <a:off x="642910" y="4214818"/>
            <a:ext cx="3786214" cy="1477328"/>
          </a:xfrm>
          <a:prstGeom prst="rect">
            <a:avLst/>
          </a:prstGeom>
        </p:spPr>
        <p:txBody>
          <a:bodyPr wrap="square">
            <a:spAutoFit/>
          </a:bodyPr>
          <a:lstStyle/>
          <a:p>
            <a:pPr algn="ctr"/>
            <a:r>
              <a:rPr lang="cs-CZ" b="1" i="1" smtClean="0"/>
              <a:t>I nabrala víc. Ale stále byl poloprázdný.  A tak liška nabírala a nabírala a džbán stále těžknul, až byl plný , stáhnul lišku do studny a utopil ji……….Pointa?</a:t>
            </a:r>
          </a:p>
        </p:txBody>
      </p:sp>
      <p:pic>
        <p:nvPicPr>
          <p:cNvPr id="1028" name="Picture 4" descr="http://www.czprodukt.cz/obrazky/big_dzban.jpg"/>
          <p:cNvPicPr>
            <a:picLocks noChangeAspect="1" noChangeArrowheads="1"/>
          </p:cNvPicPr>
          <p:nvPr/>
        </p:nvPicPr>
        <p:blipFill>
          <a:blip r:embed="rId3" cstate="print"/>
          <a:srcRect/>
          <a:stretch>
            <a:fillRect/>
          </a:stretch>
        </p:blipFill>
        <p:spPr bwMode="auto">
          <a:xfrm>
            <a:off x="5500694" y="3786190"/>
            <a:ext cx="2502976" cy="2857520"/>
          </a:xfrm>
          <a:prstGeom prst="rect">
            <a:avLst/>
          </a:prstGeom>
          <a:noFill/>
          <a:ln>
            <a:solidFill>
              <a:schemeClr val="accent1"/>
            </a:solidFill>
          </a:ln>
        </p:spPr>
      </p:pic>
      <p:sp>
        <p:nvSpPr>
          <p:cNvPr id="5" name="Obdélník 4"/>
          <p:cNvSpPr/>
          <p:nvPr/>
        </p:nvSpPr>
        <p:spPr>
          <a:xfrm>
            <a:off x="1714480" y="-24"/>
            <a:ext cx="5582490" cy="769441"/>
          </a:xfrm>
          <a:prstGeom prst="rect">
            <a:avLst/>
          </a:prstGeom>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400" b="1" noProof="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Bajka o lišce a džbánu </a:t>
            </a:r>
            <a:endParaRPr lang="cs-CZ" sz="4400"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6" name="Obdélník 5"/>
          <p:cNvSpPr/>
          <p:nvPr/>
        </p:nvSpPr>
        <p:spPr>
          <a:xfrm>
            <a:off x="3714744" y="857232"/>
            <a:ext cx="4643470" cy="2585323"/>
          </a:xfrm>
          <a:prstGeom prst="rect">
            <a:avLst/>
          </a:prstGeom>
        </p:spPr>
        <p:txBody>
          <a:bodyPr wrap="square">
            <a:spAutoFit/>
          </a:bodyPr>
          <a:lstStyle/>
          <a:p>
            <a:pPr algn="ctr"/>
            <a:r>
              <a:rPr lang="cs-CZ" b="1" i="1" smtClean="0"/>
              <a:t>Liška potulujíc se po kraji narazila na opuštěný dům a v něm stejně opuštěný  džbán. Zalíbil se jí a tak si ho vzala. Když míjela studnu, napadlo ji, že by ho mohla naplnit chladivou vodu. Při pohledu na hladinu ji napadlo, že má vlastně žízeň. Přivázala  si džbán na krk </a:t>
            </a:r>
          </a:p>
          <a:p>
            <a:pPr algn="ctr"/>
            <a:r>
              <a:rPr lang="cs-CZ" b="1" i="1" smtClean="0"/>
              <a:t>a spustila se do studny. Nabrala trochu vody, na uhašení žízně by to stačilo, ale když ten džbán byl tak velký… proč té vody nevzít víc. </a:t>
            </a:r>
            <a:endParaRPr lang="cs-CZ" i="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2500298" y="214290"/>
            <a:ext cx="3382464" cy="769441"/>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Podkoní a žák</a:t>
            </a:r>
            <a:endParaRPr lang="cs-CZ"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 name="TextovéPole 2"/>
          <p:cNvSpPr txBox="1"/>
          <p:nvPr/>
        </p:nvSpPr>
        <p:spPr>
          <a:xfrm>
            <a:off x="357158" y="1196752"/>
            <a:ext cx="8500212" cy="4154984"/>
          </a:xfrm>
          <a:prstGeom prst="rect">
            <a:avLst/>
          </a:prstGeom>
          <a:noFill/>
        </p:spPr>
        <p:txBody>
          <a:bodyPr wrap="none" rtlCol="0">
            <a:spAutoFit/>
          </a:bodyPr>
          <a:lstStyle/>
          <a:p>
            <a:pPr>
              <a:buFont typeface="Arial" pitchFamily="34" charset="0"/>
              <a:buChar char="•"/>
            </a:pPr>
            <a:r>
              <a:rPr lang="cs-CZ" sz="2400" b="1" noProof="1" smtClean="0"/>
              <a:t> konec 14.století, žákovská poezie</a:t>
            </a:r>
          </a:p>
          <a:p>
            <a:pPr>
              <a:buFont typeface="Arial" pitchFamily="34" charset="0"/>
              <a:buChar char="•"/>
            </a:pPr>
            <a:r>
              <a:rPr lang="cs-CZ" sz="2400" b="1" noProof="1" smtClean="0"/>
              <a:t> veršovaná hádka ( spor= disput)</a:t>
            </a:r>
          </a:p>
          <a:p>
            <a:pPr>
              <a:buFont typeface="Arial" pitchFamily="34" charset="0"/>
              <a:buChar char="•"/>
            </a:pPr>
            <a:r>
              <a:rPr lang="cs-CZ" sz="2400" b="1" noProof="1" smtClean="0"/>
              <a:t> 490 veršů</a:t>
            </a:r>
          </a:p>
          <a:p>
            <a:pPr>
              <a:buFont typeface="Arial" pitchFamily="34" charset="0"/>
              <a:buChar char="•"/>
            </a:pPr>
            <a:r>
              <a:rPr lang="cs-CZ" sz="2400" b="1" noProof="1" smtClean="0"/>
              <a:t> </a:t>
            </a:r>
            <a:r>
              <a:rPr lang="cs-CZ" sz="2400" b="1" noProof="1" smtClean="0">
                <a:solidFill>
                  <a:srgbClr val="002060"/>
                </a:solidFill>
              </a:rPr>
              <a:t>dva chudáci se hádají v krčmě </a:t>
            </a:r>
            <a:r>
              <a:rPr lang="cs-CZ" sz="2400" b="1" noProof="1" smtClean="0"/>
              <a:t>(hospodě)- panský kočí a student </a:t>
            </a:r>
          </a:p>
          <a:p>
            <a:r>
              <a:rPr lang="cs-CZ" sz="2400" b="1" noProof="1" smtClean="0"/>
              <a:t>  se hádají </a:t>
            </a:r>
            <a:r>
              <a:rPr lang="cs-CZ" sz="2400" b="1" noProof="1" smtClean="0">
                <a:solidFill>
                  <a:srgbClr val="002060"/>
                </a:solidFill>
              </a:rPr>
              <a:t>o přednost svého </a:t>
            </a:r>
            <a:r>
              <a:rPr lang="cs-CZ" sz="2400" b="1" noProof="1" smtClean="0">
                <a:solidFill>
                  <a:srgbClr val="002060"/>
                </a:solidFill>
              </a:rPr>
              <a:t>st</a:t>
            </a:r>
            <a:r>
              <a:rPr lang="cs-CZ" sz="2400" b="1" noProof="1" smtClean="0"/>
              <a:t>avu, </a:t>
            </a:r>
            <a:r>
              <a:rPr lang="cs-CZ" sz="2400" b="1" noProof="1" smtClean="0"/>
              <a:t>vypočítávají výhody svého</a:t>
            </a:r>
          </a:p>
          <a:p>
            <a:r>
              <a:rPr lang="cs-CZ" sz="2400" b="1" noProof="1" smtClean="0"/>
              <a:t>  života a těší se na budoucnost, ale oba přitom odhalují svoji bídu</a:t>
            </a:r>
          </a:p>
          <a:p>
            <a:pPr>
              <a:buFont typeface="Arial" pitchFamily="34" charset="0"/>
              <a:buChar char="•"/>
            </a:pPr>
            <a:r>
              <a:rPr lang="cs-CZ" sz="2400" b="1" noProof="1" smtClean="0"/>
              <a:t> spor zůstane nevyřešen, hrdinové se poperou, když cítí slabost</a:t>
            </a:r>
          </a:p>
          <a:p>
            <a:r>
              <a:rPr lang="cs-CZ" sz="2400" b="1" noProof="1" smtClean="0"/>
              <a:t>  svých argumentů</a:t>
            </a:r>
          </a:p>
          <a:p>
            <a:pPr>
              <a:buFont typeface="Arial" pitchFamily="34" charset="0"/>
              <a:buChar char="•"/>
            </a:pPr>
            <a:r>
              <a:rPr lang="cs-CZ" sz="2400" b="1" noProof="1" smtClean="0"/>
              <a:t> výsledek rvačky není znám, autor se loučí s oběma:</a:t>
            </a:r>
          </a:p>
          <a:p>
            <a:endParaRPr lang="cs-CZ" sz="2400" b="1" noProof="1" smtClean="0"/>
          </a:p>
          <a:p>
            <a:r>
              <a:rPr lang="cs-CZ" sz="2400" b="1" noProof="1" smtClean="0"/>
              <a:t> </a:t>
            </a:r>
            <a:r>
              <a:rPr lang="cs-CZ" sz="2400" b="1" noProof="1" smtClean="0">
                <a:solidFill>
                  <a:srgbClr val="002060"/>
                </a:solidFill>
              </a:rPr>
              <a:t>„ Rujtaž se, dokud ráčítá….“  ( Perte se, jak dlouho chcete.)</a:t>
            </a:r>
            <a:endParaRPr lang="cs-CZ" sz="2400" b="1" noProof="1">
              <a:solidFill>
                <a:srgbClr val="002060"/>
              </a:solidFill>
            </a:endParaRPr>
          </a:p>
        </p:txBody>
      </p:sp>
      <p:sp>
        <p:nvSpPr>
          <p:cNvPr id="4" name="Obdélník 3"/>
          <p:cNvSpPr/>
          <p:nvPr/>
        </p:nvSpPr>
        <p:spPr>
          <a:xfrm>
            <a:off x="611560" y="5589240"/>
            <a:ext cx="7992888" cy="830997"/>
          </a:xfrm>
          <a:prstGeom prst="rect">
            <a:avLst/>
          </a:prstGeom>
          <a:ln>
            <a:solidFill>
              <a:schemeClr val="accent1"/>
            </a:solidFill>
          </a:ln>
        </p:spPr>
        <p:txBody>
          <a:bodyPr wrap="square">
            <a:spAutoFit/>
          </a:bodyPr>
          <a:lstStyle/>
          <a:p>
            <a:r>
              <a:rPr lang="cs-CZ" sz="2400" b="1" i="1" noProof="1" smtClean="0"/>
              <a:t>Vedení disputu (sporu) je základem dialektické metody</a:t>
            </a:r>
          </a:p>
          <a:p>
            <a:r>
              <a:rPr lang="cs-CZ" sz="2400" b="1" i="1" noProof="1" smtClean="0"/>
              <a:t> s jejíž pomocí se ve středověkých školách vyučovala filozofie.</a:t>
            </a:r>
            <a:endParaRPr lang="cs-CZ" sz="2400" b="1" i="1" noProof="1"/>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délník 1"/>
          <p:cNvSpPr/>
          <p:nvPr/>
        </p:nvSpPr>
        <p:spPr>
          <a:xfrm>
            <a:off x="609280" y="705882"/>
            <a:ext cx="3819844" cy="5509200"/>
          </a:xfrm>
          <a:prstGeom prst="rect">
            <a:avLst/>
          </a:prstGeom>
          <a:ln>
            <a:solidFill>
              <a:schemeClr val="accent1"/>
            </a:solidFill>
          </a:ln>
        </p:spPr>
        <p:txBody>
          <a:bodyPr wrap="square">
            <a:spAutoFit/>
          </a:bodyPr>
          <a:lstStyle/>
          <a:p>
            <a:r>
              <a:rPr lang="cs-CZ" sz="2200" b="1" noProof="1" smtClean="0"/>
              <a:t>Přihodich se jednú k tomu,</a:t>
            </a:r>
            <a:br>
              <a:rPr lang="cs-CZ" sz="2200" b="1" noProof="1" smtClean="0"/>
            </a:br>
            <a:r>
              <a:rPr lang="cs-CZ" sz="2200" b="1" noProof="1" smtClean="0"/>
              <a:t>kdež nalezech v jednom domu,</a:t>
            </a:r>
            <a:br>
              <a:rPr lang="cs-CZ" sz="2200" b="1" noProof="1" smtClean="0"/>
            </a:br>
            <a:r>
              <a:rPr lang="cs-CZ" sz="2200" b="1" noProof="1" smtClean="0"/>
              <a:t>právě také v túž hodinu</a:t>
            </a:r>
            <a:br>
              <a:rPr lang="cs-CZ" sz="2200" b="1" noProof="1" smtClean="0"/>
            </a:br>
            <a:r>
              <a:rPr lang="cs-CZ" sz="2200" b="1" i="1" noProof="1" smtClean="0"/>
              <a:t>dva, jenž přišla </a:t>
            </a:r>
            <a:r>
              <a:rPr lang="cs-CZ" sz="2200" b="1" noProof="1" smtClean="0"/>
              <a:t>pohostinu,</a:t>
            </a:r>
            <a:br>
              <a:rPr lang="cs-CZ" sz="2200" b="1" noProof="1" smtClean="0"/>
            </a:br>
            <a:r>
              <a:rPr lang="cs-CZ" sz="2200" b="1" i="1" noProof="1" smtClean="0"/>
              <a:t>ana sedíta </a:t>
            </a:r>
            <a:r>
              <a:rPr lang="cs-CZ" sz="2200" b="1" noProof="1" smtClean="0"/>
              <a:t>na pivě.</a:t>
            </a:r>
            <a:br>
              <a:rPr lang="cs-CZ" sz="2200" b="1" noProof="1" smtClean="0"/>
            </a:br>
            <a:r>
              <a:rPr lang="cs-CZ" sz="2200" b="1" noProof="1" smtClean="0"/>
              <a:t>Tu </a:t>
            </a:r>
            <a:r>
              <a:rPr lang="cs-CZ" sz="2200" b="1" i="1" noProof="1" smtClean="0"/>
              <a:t>učiništa</a:t>
            </a:r>
            <a:r>
              <a:rPr lang="cs-CZ" sz="2200" b="1" noProof="1" smtClean="0"/>
              <a:t> poctívě,</a:t>
            </a:r>
            <a:br>
              <a:rPr lang="cs-CZ" sz="2200" b="1" noProof="1" smtClean="0"/>
            </a:br>
            <a:r>
              <a:rPr lang="cs-CZ" sz="2200" b="1" noProof="1" smtClean="0"/>
              <a:t>oba právě bez meškánie</a:t>
            </a:r>
            <a:br>
              <a:rPr lang="cs-CZ" sz="2200" b="1" noProof="1" smtClean="0"/>
            </a:br>
            <a:r>
              <a:rPr lang="cs-CZ" sz="2200" b="1" i="1" noProof="1" smtClean="0"/>
              <a:t>dašta</a:t>
            </a:r>
            <a:r>
              <a:rPr lang="cs-CZ" sz="2200" b="1" noProof="1" smtClean="0"/>
              <a:t> mi milé vítanie.</a:t>
            </a:r>
            <a:br>
              <a:rPr lang="cs-CZ" sz="2200" b="1" noProof="1" smtClean="0"/>
            </a:br>
            <a:r>
              <a:rPr lang="cs-CZ" sz="2200" b="1" noProof="1" smtClean="0"/>
              <a:t>A já, přiblíživ se k </a:t>
            </a:r>
            <a:r>
              <a:rPr lang="cs-CZ" sz="2200" b="1" i="1" noProof="1" smtClean="0"/>
              <a:t>nima</a:t>
            </a:r>
            <a:r>
              <a:rPr lang="cs-CZ" sz="2200" b="1" noProof="1" smtClean="0"/>
              <a:t>,</a:t>
            </a:r>
            <a:br>
              <a:rPr lang="cs-CZ" sz="2200" b="1" noProof="1" smtClean="0"/>
            </a:br>
            <a:r>
              <a:rPr lang="cs-CZ" sz="2200" b="1" noProof="1" smtClean="0"/>
              <a:t>posadich se mezi </a:t>
            </a:r>
            <a:r>
              <a:rPr lang="cs-CZ" sz="2200" b="1" i="1" noProof="1" smtClean="0"/>
              <a:t>nima,</a:t>
            </a:r>
            <a:r>
              <a:rPr lang="cs-CZ" sz="2200" b="1" noProof="1" smtClean="0"/>
              <a:t/>
            </a:r>
            <a:br>
              <a:rPr lang="cs-CZ" sz="2200" b="1" noProof="1" smtClean="0"/>
            </a:br>
            <a:r>
              <a:rPr lang="cs-CZ" sz="2200" b="1" noProof="1" smtClean="0"/>
              <a:t>jakož často v krčmě bývá,</a:t>
            </a:r>
            <a:br>
              <a:rPr lang="cs-CZ" sz="2200" b="1" noProof="1" smtClean="0"/>
            </a:br>
            <a:r>
              <a:rPr lang="cs-CZ" sz="2200" b="1" noProof="1" smtClean="0"/>
              <a:t>křičiec: „Paní, nalí piva!“</a:t>
            </a:r>
            <a:br>
              <a:rPr lang="cs-CZ" sz="2200" b="1" noProof="1" smtClean="0"/>
            </a:br>
            <a:r>
              <a:rPr lang="cs-CZ" sz="2200" b="1" noProof="1" smtClean="0"/>
              <a:t>Jechomť se v odplatu ctíti,</a:t>
            </a:r>
            <a:br>
              <a:rPr lang="cs-CZ" sz="2200" b="1" noProof="1" smtClean="0"/>
            </a:br>
            <a:r>
              <a:rPr lang="cs-CZ" sz="2200" b="1" noProof="1" smtClean="0"/>
              <a:t>podávajíc sobě píti.</a:t>
            </a:r>
            <a:br>
              <a:rPr lang="cs-CZ" sz="2200" b="1" noProof="1" smtClean="0"/>
            </a:br>
            <a:r>
              <a:rPr lang="cs-CZ" sz="2200" b="1" noProof="1" smtClean="0"/>
              <a:t>Poslúchajte tuto právě,</a:t>
            </a:r>
            <a:br>
              <a:rPr lang="cs-CZ" sz="2200" b="1" noProof="1" smtClean="0"/>
            </a:br>
            <a:r>
              <a:rPr lang="cs-CZ" sz="2200" b="1" noProof="1" smtClean="0"/>
              <a:t>poviemť vám o jich postavě.</a:t>
            </a:r>
            <a:endParaRPr lang="cs-CZ" sz="2200" b="1" noProof="1"/>
          </a:p>
        </p:txBody>
      </p:sp>
      <p:pic>
        <p:nvPicPr>
          <p:cNvPr id="3" name="Picture 2" descr="Soubor:Baldung stallknecht.jpg">
            <a:hlinkClick r:id="rId2"/>
          </p:cNvPr>
          <p:cNvPicPr>
            <a:picLocks noChangeAspect="1" noChangeArrowheads="1"/>
          </p:cNvPicPr>
          <p:nvPr/>
        </p:nvPicPr>
        <p:blipFill>
          <a:blip r:embed="rId3" cstate="print"/>
          <a:srcRect/>
          <a:stretch>
            <a:fillRect/>
          </a:stretch>
        </p:blipFill>
        <p:spPr bwMode="auto">
          <a:xfrm>
            <a:off x="5143504" y="500042"/>
            <a:ext cx="3263011" cy="5429288"/>
          </a:xfrm>
          <a:prstGeom prst="rect">
            <a:avLst/>
          </a:prstGeom>
          <a:noFill/>
        </p:spPr>
      </p:pic>
      <p:sp>
        <p:nvSpPr>
          <p:cNvPr id="4" name="TextovéPole 3"/>
          <p:cNvSpPr txBox="1"/>
          <p:nvPr/>
        </p:nvSpPr>
        <p:spPr>
          <a:xfrm>
            <a:off x="642910" y="6357958"/>
            <a:ext cx="3763210" cy="369332"/>
          </a:xfrm>
          <a:prstGeom prst="rect">
            <a:avLst/>
          </a:prstGeom>
          <a:noFill/>
          <a:ln>
            <a:solidFill>
              <a:schemeClr val="accent1"/>
            </a:solidFill>
          </a:ln>
        </p:spPr>
        <p:txBody>
          <a:bodyPr wrap="none" rtlCol="0">
            <a:spAutoFit/>
          </a:bodyPr>
          <a:lstStyle/>
          <a:p>
            <a:r>
              <a:rPr lang="cs-CZ" b="1" noProof="1" smtClean="0"/>
              <a:t>Proloženým písmem – duálové zvary.</a:t>
            </a:r>
            <a:endParaRPr lang="cs-CZ" b="1" noProof="1"/>
          </a:p>
        </p:txBody>
      </p:sp>
      <p:sp>
        <p:nvSpPr>
          <p:cNvPr id="5" name="TextovéPole 4"/>
          <p:cNvSpPr txBox="1"/>
          <p:nvPr/>
        </p:nvSpPr>
        <p:spPr>
          <a:xfrm>
            <a:off x="571472" y="0"/>
            <a:ext cx="3382464" cy="769441"/>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cs-CZ" sz="4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Podkoní a žák</a:t>
            </a:r>
            <a:endParaRPr lang="cs-CZ" sz="4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6" name="TextovéPole 5"/>
          <p:cNvSpPr txBox="1"/>
          <p:nvPr/>
        </p:nvSpPr>
        <p:spPr>
          <a:xfrm>
            <a:off x="4786314" y="6143644"/>
            <a:ext cx="3997376" cy="369332"/>
          </a:xfrm>
          <a:prstGeom prst="rect">
            <a:avLst/>
          </a:prstGeom>
          <a:noFill/>
          <a:ln>
            <a:solidFill>
              <a:schemeClr val="accent1"/>
            </a:solidFill>
          </a:ln>
        </p:spPr>
        <p:txBody>
          <a:bodyPr wrap="none" rtlCol="0">
            <a:spAutoFit/>
          </a:bodyPr>
          <a:lstStyle/>
          <a:p>
            <a:r>
              <a:rPr lang="cs-CZ" b="1" dirty="0" smtClean="0"/>
              <a:t>Uhranutý podkoní, dřevoryt z 15.století.</a:t>
            </a:r>
            <a:endParaRPr lang="cs-CZ"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véPole 1"/>
          <p:cNvSpPr txBox="1"/>
          <p:nvPr/>
        </p:nvSpPr>
        <p:spPr>
          <a:xfrm>
            <a:off x="785786" y="928670"/>
            <a:ext cx="3428696" cy="5016758"/>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cs-CZ" sz="2000" b="1" smtClean="0"/>
              <a:t>Žáku, ty miero jeden!</a:t>
            </a:r>
          </a:p>
          <a:p>
            <a:r>
              <a:rPr lang="cs-CZ" sz="2000" b="1" smtClean="0"/>
              <a:t>Nač tak zpupné řeči vedeš?</a:t>
            </a:r>
          </a:p>
          <a:p>
            <a:r>
              <a:rPr lang="cs-CZ" sz="2000" b="1" smtClean="0"/>
              <a:t>Vždyť za babku ceny nemáš,</a:t>
            </a:r>
          </a:p>
          <a:p>
            <a:r>
              <a:rPr lang="cs-CZ" sz="2000" b="1" smtClean="0"/>
              <a:t>hubený jsi, z metly strach máš,</a:t>
            </a:r>
          </a:p>
          <a:p>
            <a:r>
              <a:rPr lang="cs-CZ" sz="2000" b="1" smtClean="0"/>
              <a:t>Světem plahočíš se bídně</a:t>
            </a:r>
          </a:p>
          <a:p>
            <a:r>
              <a:rPr lang="cs-CZ" sz="2000" b="1" smtClean="0"/>
              <a:t>a jen dřeš se očividně.</a:t>
            </a:r>
          </a:p>
          <a:p>
            <a:r>
              <a:rPr lang="cs-CZ" sz="2000" b="1" smtClean="0"/>
              <a:t>Ač se lopotíš, jak můžeš,</a:t>
            </a:r>
          </a:p>
          <a:p>
            <a:r>
              <a:rPr lang="cs-CZ" sz="2000" b="1" smtClean="0"/>
              <a:t>na lepší šat se nezmůžeš, </a:t>
            </a:r>
          </a:p>
          <a:p>
            <a:r>
              <a:rPr lang="cs-CZ" sz="2000" b="1" smtClean="0"/>
              <a:t>v hadrech chodit zvyk je žáků.</a:t>
            </a:r>
          </a:p>
          <a:p>
            <a:r>
              <a:rPr lang="cs-CZ" sz="2000" b="1" smtClean="0"/>
              <a:t>A tvůj nocleh, ubožáku?</a:t>
            </a:r>
          </a:p>
          <a:p>
            <a:r>
              <a:rPr lang="cs-CZ" sz="2000" b="1" smtClean="0"/>
              <a:t>Na kamnech si nyní hovíš,</a:t>
            </a:r>
          </a:p>
          <a:p>
            <a:r>
              <a:rPr lang="cs-CZ" sz="2000" b="1" smtClean="0"/>
              <a:t>v zimě však si nepohovíš.</a:t>
            </a:r>
          </a:p>
          <a:p>
            <a:r>
              <a:rPr lang="cs-CZ" sz="2000" b="1" smtClean="0"/>
              <a:t>Do hádky se s tebou pustí</a:t>
            </a:r>
          </a:p>
          <a:p>
            <a:r>
              <a:rPr lang="cs-CZ" sz="2000" b="1" smtClean="0"/>
              <a:t>a na kamna tě nepustí.</a:t>
            </a:r>
          </a:p>
          <a:p>
            <a:r>
              <a:rPr lang="cs-CZ" sz="2000" b="1" smtClean="0"/>
              <a:t>Ba ještě ti bude blaze,</a:t>
            </a:r>
          </a:p>
          <a:p>
            <a:r>
              <a:rPr lang="cs-CZ" sz="2000" b="1" smtClean="0"/>
              <a:t>budeš-li spát na podlaze.</a:t>
            </a:r>
          </a:p>
        </p:txBody>
      </p:sp>
      <p:sp>
        <p:nvSpPr>
          <p:cNvPr id="3" name="TextovéPole 2"/>
          <p:cNvSpPr txBox="1"/>
          <p:nvPr/>
        </p:nvSpPr>
        <p:spPr>
          <a:xfrm>
            <a:off x="714348" y="214290"/>
            <a:ext cx="2081083" cy="461665"/>
          </a:xfrm>
          <a:prstGeom prst="rect">
            <a:avLst/>
          </a:prstGeom>
          <a:noFill/>
        </p:spPr>
        <p:txBody>
          <a:bodyPr wrap="none" rtlCol="0">
            <a:spAutoFit/>
          </a:bodyPr>
          <a:lstStyle/>
          <a:p>
            <a:r>
              <a:rPr lang="cs-CZ" sz="2400" b="1" smtClean="0">
                <a:solidFill>
                  <a:srgbClr val="002060"/>
                </a:solidFill>
              </a:rPr>
              <a:t>Podkoní žákovi</a:t>
            </a:r>
            <a:endParaRPr lang="cs-CZ" sz="2400" b="1">
              <a:solidFill>
                <a:srgbClr val="002060"/>
              </a:solidFill>
            </a:endParaRPr>
          </a:p>
        </p:txBody>
      </p:sp>
      <p:sp>
        <p:nvSpPr>
          <p:cNvPr id="4" name="TextovéPole 3"/>
          <p:cNvSpPr txBox="1"/>
          <p:nvPr/>
        </p:nvSpPr>
        <p:spPr>
          <a:xfrm>
            <a:off x="4643438" y="252691"/>
            <a:ext cx="2154179" cy="461665"/>
          </a:xfrm>
          <a:prstGeom prst="rect">
            <a:avLst/>
          </a:prstGeom>
          <a:noFill/>
        </p:spPr>
        <p:txBody>
          <a:bodyPr wrap="none" rtlCol="0">
            <a:spAutoFit/>
          </a:bodyPr>
          <a:lstStyle/>
          <a:p>
            <a:r>
              <a:rPr lang="cs-CZ" sz="2400" b="1" smtClean="0">
                <a:solidFill>
                  <a:srgbClr val="002060"/>
                </a:solidFill>
              </a:rPr>
              <a:t>Žák podkonímu</a:t>
            </a:r>
            <a:endParaRPr lang="cs-CZ" sz="2400" b="1">
              <a:solidFill>
                <a:srgbClr val="002060"/>
              </a:solidFill>
            </a:endParaRPr>
          </a:p>
        </p:txBody>
      </p:sp>
      <p:sp>
        <p:nvSpPr>
          <p:cNvPr id="5" name="TextovéPole 4"/>
          <p:cNvSpPr txBox="1"/>
          <p:nvPr/>
        </p:nvSpPr>
        <p:spPr>
          <a:xfrm>
            <a:off x="4643438" y="912572"/>
            <a:ext cx="3315459" cy="5016758"/>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cs-CZ" sz="2000" b="1" smtClean="0"/>
              <a:t>Hadr ze stáje jsi pouze!</a:t>
            </a:r>
          </a:p>
          <a:p>
            <a:r>
              <a:rPr lang="cs-CZ" sz="2000" b="1" smtClean="0"/>
              <a:t>Znáš kdy svátek místo nouze?</a:t>
            </a:r>
          </a:p>
          <a:p>
            <a:r>
              <a:rPr lang="cs-CZ" sz="2000" b="1" smtClean="0"/>
              <a:t>Vychrtlý jsi mi satrapa,</a:t>
            </a:r>
          </a:p>
          <a:p>
            <a:r>
              <a:rPr lang="cs-CZ" sz="2000" b="1" smtClean="0"/>
              <a:t>ne lepší selského chlapa,</a:t>
            </a:r>
          </a:p>
          <a:p>
            <a:r>
              <a:rPr lang="cs-CZ" sz="2000" b="1" smtClean="0"/>
              <a:t>když každičký den hnůj kydáš</a:t>
            </a:r>
          </a:p>
          <a:p>
            <a:r>
              <a:rPr lang="cs-CZ" sz="2000" b="1" smtClean="0"/>
              <a:t>A lepším to nevystřídáš.</a:t>
            </a:r>
          </a:p>
          <a:p>
            <a:r>
              <a:rPr lang="cs-CZ" sz="2000" b="1" smtClean="0"/>
              <a:t>Marně se chceš rovnat žáku,</a:t>
            </a:r>
          </a:p>
          <a:p>
            <a:r>
              <a:rPr lang="cs-CZ" sz="2000" b="1" smtClean="0"/>
              <a:t>ve všem máme lepší čáku,</a:t>
            </a:r>
          </a:p>
          <a:p>
            <a:r>
              <a:rPr lang="cs-CZ" sz="2000" b="1" smtClean="0"/>
              <a:t>Ne jak vy, ta chátra tupá!</a:t>
            </a:r>
          </a:p>
          <a:p>
            <a:r>
              <a:rPr lang="cs-CZ" sz="2000" b="1" smtClean="0"/>
              <a:t>Dosáhnu to na biskupa,</a:t>
            </a:r>
          </a:p>
          <a:p>
            <a:r>
              <a:rPr lang="cs-CZ" sz="2000" b="1" smtClean="0"/>
              <a:t>když mi bude pánbůh přáti,</a:t>
            </a:r>
          </a:p>
          <a:p>
            <a:r>
              <a:rPr lang="cs-CZ" sz="2000" b="1" smtClean="0"/>
              <a:t>neboť se ho nechci vzdáti.</a:t>
            </a:r>
          </a:p>
          <a:p>
            <a:r>
              <a:rPr lang="cs-CZ" sz="2000" b="1" smtClean="0"/>
              <a:t>Bude-li má hlava zdráva,</a:t>
            </a:r>
          </a:p>
          <a:p>
            <a:r>
              <a:rPr lang="cs-CZ" sz="2000" b="1" smtClean="0"/>
              <a:t>brzičko, už na Václava,</a:t>
            </a:r>
          </a:p>
          <a:p>
            <a:r>
              <a:rPr lang="cs-CZ" sz="2000" b="1" smtClean="0"/>
              <a:t>což tak daleko už není,</a:t>
            </a:r>
          </a:p>
          <a:p>
            <a:r>
              <a:rPr lang="cs-CZ" sz="2000" b="1" smtClean="0"/>
              <a:t>Získám první vysvědčení.</a:t>
            </a:r>
          </a:p>
        </p:txBody>
      </p:sp>
      <p:sp>
        <p:nvSpPr>
          <p:cNvPr id="6" name="TextovéPole 5"/>
          <p:cNvSpPr txBox="1"/>
          <p:nvPr/>
        </p:nvSpPr>
        <p:spPr>
          <a:xfrm>
            <a:off x="6072198" y="6072206"/>
            <a:ext cx="2441053" cy="369332"/>
          </a:xfrm>
          <a:prstGeom prst="rect">
            <a:avLst/>
          </a:prstGeom>
          <a:noFill/>
          <a:ln>
            <a:solidFill>
              <a:schemeClr val="accent1"/>
            </a:solidFill>
          </a:ln>
        </p:spPr>
        <p:txBody>
          <a:bodyPr wrap="none" rtlCol="0">
            <a:spAutoFit/>
          </a:bodyPr>
          <a:lstStyle/>
          <a:p>
            <a:r>
              <a:rPr lang="cs-CZ" b="1" i="1" smtClean="0"/>
              <a:t>Převod do nové češtiny.</a:t>
            </a:r>
            <a:endParaRPr lang="cs-CZ" b="1" i="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ovéPole 2"/>
          <p:cNvSpPr txBox="1"/>
          <p:nvPr/>
        </p:nvSpPr>
        <p:spPr>
          <a:xfrm>
            <a:off x="285720" y="142852"/>
            <a:ext cx="8795293" cy="769441"/>
          </a:xfrm>
          <a:prstGeom prst="rect">
            <a:avLst/>
          </a:prstGeom>
          <a:noFill/>
        </p:spPr>
        <p:txBody>
          <a:bodyPr wrap="none" rtlCol="0">
            <a:spAutoFit/>
            <a:scene3d>
              <a:camera prst="orthographicFront"/>
              <a:lightRig rig="balanced" dir="t">
                <a:rot lat="0" lon="0" rev="2100000"/>
              </a:lightRig>
            </a:scene3d>
            <a:sp3d extrusionH="57150" prstMaterial="metal">
              <a:bevelT w="38100" h="25400"/>
              <a:contourClr>
                <a:schemeClr val="bg2"/>
              </a:contourClr>
            </a:sp3d>
          </a:bodyPr>
          <a:lstStyle/>
          <a:p>
            <a:r>
              <a:rPr lang="cs-CZ" sz="4400" b="1" noProof="1" smtClean="0">
                <a:ln w="50800"/>
                <a:solidFill>
                  <a:srgbClr val="002060"/>
                </a:solidFill>
              </a:rPr>
              <a:t>Smil Flaška z Pardubic ( 135O -14O3) </a:t>
            </a:r>
            <a:endParaRPr lang="cs-CZ" sz="4400" b="1" noProof="1">
              <a:ln w="50800"/>
              <a:solidFill>
                <a:srgbClr val="002060"/>
              </a:solidFill>
            </a:endParaRPr>
          </a:p>
        </p:txBody>
      </p:sp>
      <p:sp>
        <p:nvSpPr>
          <p:cNvPr id="4" name="TextovéPole 3"/>
          <p:cNvSpPr txBox="1"/>
          <p:nvPr/>
        </p:nvSpPr>
        <p:spPr>
          <a:xfrm>
            <a:off x="285720" y="1000108"/>
            <a:ext cx="9397552" cy="3785652"/>
          </a:xfrm>
          <a:prstGeom prst="rect">
            <a:avLst/>
          </a:prstGeom>
          <a:noFill/>
        </p:spPr>
        <p:txBody>
          <a:bodyPr wrap="square" rtlCol="0">
            <a:spAutoFit/>
          </a:bodyPr>
          <a:lstStyle/>
          <a:p>
            <a:pPr>
              <a:buFont typeface="Arial" pitchFamily="34" charset="0"/>
              <a:buChar char="•"/>
            </a:pPr>
            <a:r>
              <a:rPr lang="cs-CZ" sz="2400" b="1" dirty="0" smtClean="0"/>
              <a:t> český </a:t>
            </a:r>
            <a:r>
              <a:rPr lang="cs-CZ" sz="2400" b="1" dirty="0" smtClean="0">
                <a:solidFill>
                  <a:srgbClr val="002060"/>
                </a:solidFill>
              </a:rPr>
              <a:t>šlechtic</a:t>
            </a:r>
            <a:r>
              <a:rPr lang="cs-CZ" sz="2400" b="1" dirty="0" smtClean="0"/>
              <a:t>, synovec prvního pražského arcibiskupa Arnošta</a:t>
            </a:r>
          </a:p>
          <a:p>
            <a:r>
              <a:rPr lang="cs-CZ" sz="2400" b="1" dirty="0" smtClean="0"/>
              <a:t>   z Pardubic, místopísařem zemských desek, padl v boji</a:t>
            </a:r>
          </a:p>
          <a:p>
            <a:pPr>
              <a:buFont typeface="Arial" pitchFamily="34" charset="0"/>
              <a:buChar char="•"/>
            </a:pPr>
            <a:r>
              <a:rPr lang="cs-CZ" sz="2400" b="1" dirty="0" smtClean="0"/>
              <a:t> spisovatel, </a:t>
            </a:r>
            <a:r>
              <a:rPr lang="cs-CZ" sz="2400" b="1" dirty="0" smtClean="0">
                <a:solidFill>
                  <a:srgbClr val="002060"/>
                </a:solidFill>
              </a:rPr>
              <a:t>satirik</a:t>
            </a:r>
            <a:r>
              <a:rPr lang="cs-CZ" sz="2400" b="1" dirty="0" smtClean="0"/>
              <a:t>, sběratel lidových moudrostí</a:t>
            </a:r>
          </a:p>
          <a:p>
            <a:pPr>
              <a:buFont typeface="Arial" pitchFamily="34" charset="0"/>
              <a:buChar char="•"/>
            </a:pPr>
            <a:r>
              <a:rPr lang="cs-CZ" sz="2400" b="1" dirty="0" smtClean="0"/>
              <a:t> napsal rozsáhlou alegorickou skladbu </a:t>
            </a:r>
            <a:r>
              <a:rPr lang="cs-CZ" sz="2400" b="1" dirty="0" smtClean="0">
                <a:solidFill>
                  <a:srgbClr val="FF0000"/>
                </a:solidFill>
              </a:rPr>
              <a:t>Nová rada</a:t>
            </a:r>
          </a:p>
          <a:p>
            <a:pPr>
              <a:buFont typeface="Arial" pitchFamily="34" charset="0"/>
              <a:buChar char="•"/>
            </a:pPr>
            <a:r>
              <a:rPr lang="cs-CZ" sz="2400" b="1" dirty="0" smtClean="0"/>
              <a:t>2116 osmislabičných veršů</a:t>
            </a:r>
          </a:p>
          <a:p>
            <a:pPr>
              <a:buFont typeface="Arial" pitchFamily="34" charset="0"/>
              <a:buChar char="•"/>
            </a:pPr>
            <a:r>
              <a:rPr lang="cs-CZ" sz="2400" b="1" dirty="0" smtClean="0"/>
              <a:t> zvířata se schází na sněmu ( ptáci v čele s orlem = symbol Moravy) </a:t>
            </a:r>
          </a:p>
          <a:p>
            <a:r>
              <a:rPr lang="cs-CZ" sz="2400" b="1" dirty="0" smtClean="0"/>
              <a:t>  a radí králi Lvovi, jak má vládnout = rada panovníkovi, jak má</a:t>
            </a:r>
          </a:p>
          <a:p>
            <a:r>
              <a:rPr lang="cs-CZ" sz="2400" b="1" dirty="0" smtClean="0"/>
              <a:t>  vypadat ideální panovník, hájí zájmy šlechty a církve</a:t>
            </a:r>
          </a:p>
          <a:p>
            <a:pPr>
              <a:buFont typeface="Arial" pitchFamily="34" charset="0"/>
              <a:buChar char="•"/>
            </a:pPr>
            <a:r>
              <a:rPr lang="cs-CZ" sz="2400" b="1" dirty="0" smtClean="0"/>
              <a:t> </a:t>
            </a:r>
            <a:r>
              <a:rPr lang="cs-CZ" sz="2400" b="1" dirty="0" smtClean="0">
                <a:solidFill>
                  <a:srgbClr val="FF0000"/>
                </a:solidFill>
              </a:rPr>
              <a:t>Sbírka přísloví </a:t>
            </a:r>
            <a:r>
              <a:rPr lang="cs-CZ" sz="2400" b="1" dirty="0" smtClean="0"/>
              <a:t>– zachována pouze z části</a:t>
            </a:r>
            <a:r>
              <a:rPr lang="cs-CZ" sz="2400" b="1" smtClean="0"/>
              <a:t>, jedná</a:t>
            </a:r>
          </a:p>
          <a:p>
            <a:r>
              <a:rPr lang="cs-CZ" sz="2400" b="1" smtClean="0"/>
              <a:t>  </a:t>
            </a:r>
            <a:r>
              <a:rPr lang="cs-CZ" sz="2400" b="1" dirty="0" smtClean="0"/>
              <a:t>se </a:t>
            </a:r>
            <a:r>
              <a:rPr lang="cs-CZ" sz="2400" b="1" smtClean="0"/>
              <a:t>o nejstarší slovanské </a:t>
            </a:r>
            <a:r>
              <a:rPr lang="cs-CZ" sz="2400" b="1" dirty="0" smtClean="0"/>
              <a:t>dílo tohoto typu</a:t>
            </a:r>
            <a:endParaRPr lang="cs-CZ" sz="2400" b="1" dirty="0"/>
          </a:p>
        </p:txBody>
      </p:sp>
      <p:pic>
        <p:nvPicPr>
          <p:cNvPr id="3074" name="Picture 2" descr="http://knihynainternetu.cz/foto2/0056609915_.jpeg"/>
          <p:cNvPicPr>
            <a:picLocks noChangeAspect="1" noChangeArrowheads="1"/>
          </p:cNvPicPr>
          <p:nvPr/>
        </p:nvPicPr>
        <p:blipFill>
          <a:blip r:embed="rId2" cstate="print"/>
          <a:srcRect/>
          <a:stretch>
            <a:fillRect/>
          </a:stretch>
        </p:blipFill>
        <p:spPr bwMode="auto">
          <a:xfrm>
            <a:off x="1471314" y="4786346"/>
            <a:ext cx="1171860" cy="1928802"/>
          </a:xfrm>
          <a:prstGeom prst="rect">
            <a:avLst/>
          </a:prstGeom>
          <a:noFill/>
          <a:ln>
            <a:solidFill>
              <a:schemeClr val="accent1"/>
            </a:solidFill>
          </a:ln>
        </p:spPr>
      </p:pic>
      <p:pic>
        <p:nvPicPr>
          <p:cNvPr id="3078" name="Picture 6" descr="http://www.valentinska.cz/images/8821485dae10a2f965d5c59764acd472.jpg"/>
          <p:cNvPicPr>
            <a:picLocks noChangeAspect="1" noChangeArrowheads="1"/>
          </p:cNvPicPr>
          <p:nvPr/>
        </p:nvPicPr>
        <p:blipFill>
          <a:blip r:embed="rId3" cstate="print"/>
          <a:srcRect/>
          <a:stretch>
            <a:fillRect/>
          </a:stretch>
        </p:blipFill>
        <p:spPr bwMode="auto">
          <a:xfrm>
            <a:off x="7000892" y="4071942"/>
            <a:ext cx="1714512" cy="2571768"/>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délník 2"/>
          <p:cNvSpPr/>
          <p:nvPr/>
        </p:nvSpPr>
        <p:spPr>
          <a:xfrm>
            <a:off x="214282" y="472018"/>
            <a:ext cx="8715436" cy="6555641"/>
          </a:xfrm>
          <a:prstGeom prst="rect">
            <a:avLst/>
          </a:prstGeom>
        </p:spPr>
        <p:txBody>
          <a:bodyPr wrap="square">
            <a:spAutoFit/>
          </a:bodyPr>
          <a:lstStyle/>
          <a:p>
            <a:r>
              <a:rPr lang="cs-CZ" sz="1400" b="1" noProof="1" smtClean="0"/>
              <a:t>http://hroch.spseol.cz/~vac26092/images/Obdobi/stredovek.png</a:t>
            </a:r>
          </a:p>
          <a:p>
            <a:r>
              <a:rPr lang="cs-CZ" sz="1400" b="1" noProof="1" smtClean="0"/>
              <a:t>http://ao-institut.cz/texty/zivotopisy-ceskych-svetcu/img/arcibiskup-jan-II-z-jenstejna.jpg</a:t>
            </a:r>
          </a:p>
          <a:p>
            <a:r>
              <a:rPr lang="cs-CZ" sz="1400" b="1" noProof="1" smtClean="0"/>
              <a:t>http://cs.wikipedia.org/wiki/Soubor:Nepomucky2-20061.jpg</a:t>
            </a:r>
          </a:p>
          <a:p>
            <a:r>
              <a:rPr lang="cs-CZ" sz="1400" b="1" noProof="1" smtClean="0"/>
              <a:t>http://cs.wikipedia.org/wiki/Soubor:Josef_Mathauser_-_Kn%C3%AD%C5%BEe_Old%C5%99ich_se_setk%C3%A1v%C3%A1_s_poustevn%C3%ADkem_Prokopem.jpg</a:t>
            </a:r>
          </a:p>
          <a:p>
            <a:r>
              <a:rPr lang="cs-CZ" sz="1400" b="1" noProof="1" smtClean="0"/>
              <a:t>http://www.svprokop-sazava.cz/obrazky/prefoceno/P1050905.JPG</a:t>
            </a:r>
          </a:p>
          <a:p>
            <a:r>
              <a:rPr lang="cs-CZ" sz="1400" b="1" noProof="1" smtClean="0"/>
              <a:t>http://cs.wikipedia.org/wiki/Soubor:KAREL4_pouceninastupcum.jpg</a:t>
            </a:r>
          </a:p>
          <a:p>
            <a:r>
              <a:rPr lang="cs-CZ" sz="1400" b="1" noProof="1" smtClean="0"/>
              <a:t>http://cs.wikipedia.org/wiki/Soubor:Charles_IV-John_Ocko_votive_picture-fragment.jpg</a:t>
            </a:r>
          </a:p>
          <a:p>
            <a:r>
              <a:rPr lang="cs-CZ" sz="1400" b="1" noProof="1" smtClean="0"/>
              <a:t>http://cs.wikipedia.org/wiki/Bartolom%C4%9Bj_z_Chlumce</a:t>
            </a:r>
          </a:p>
          <a:p>
            <a:r>
              <a:rPr lang="cs-CZ" sz="1400" b="1" noProof="1" smtClean="0"/>
              <a:t>http://cs.wikipedia.org/wiki/Soubor:Michelangelo_Caravaggio_060.jpg</a:t>
            </a:r>
          </a:p>
          <a:p>
            <a:r>
              <a:rPr lang="cs-CZ" sz="1400" b="1" noProof="1" smtClean="0"/>
              <a:t>http://cs.wikipedia.org/wiki/Soubor:Katharinenkloster_Sinai_BW_2.jpg</a:t>
            </a:r>
          </a:p>
          <a:p>
            <a:r>
              <a:rPr lang="cs-CZ" sz="1400" b="1" noProof="1" smtClean="0"/>
              <a:t>http://www.revprirody.cz/picture/1109/katerina.jpg</a:t>
            </a:r>
          </a:p>
          <a:p>
            <a:r>
              <a:rPr lang="cs-CZ" sz="1400" b="1" noProof="1" smtClean="0"/>
              <a:t>http://www.pravoslavneikony.ivetakadlecova.cz/pic/icons/SvKaterina.jpg</a:t>
            </a:r>
          </a:p>
          <a:p>
            <a:r>
              <a:rPr lang="cs-CZ" sz="1400" b="1" noProof="1" smtClean="0"/>
              <a:t> http://www.svprokop-sazava.cz/obrazky/fotogalerie/mil%20obraz%20sv%20propa.JPG</a:t>
            </a:r>
          </a:p>
          <a:p>
            <a:r>
              <a:rPr lang="cs-CZ" sz="1400" b="1" noProof="1" smtClean="0"/>
              <a:t>http://wiki.the-west.cz/images/4/4c/Pracovat_jako_masti%C4%8Dk%C3%A1%C5%99.png</a:t>
            </a:r>
          </a:p>
          <a:p>
            <a:r>
              <a:rPr lang="cs-CZ" sz="1400" b="1" noProof="1" smtClean="0"/>
              <a:t>http://m3.weststats.com/images/items/right_arm/elixier.png</a:t>
            </a:r>
          </a:p>
          <a:p>
            <a:r>
              <a:rPr lang="cs-CZ" sz="1400" b="1" noProof="1" smtClean="0"/>
              <a:t>http://www.topzine.cz/wp-content/uploads/2010/07/l%C3%A9karna-faf.cuni_.cz_.jpg</a:t>
            </a:r>
          </a:p>
          <a:p>
            <a:r>
              <a:rPr lang="cs-CZ" sz="1400" b="1" noProof="1" smtClean="0"/>
              <a:t>http://www.christnet.cz/magazin/Obrazky/priroda/zvirata/cervena-liska-kytky-small.jpg</a:t>
            </a:r>
          </a:p>
          <a:p>
            <a:r>
              <a:rPr lang="cs-CZ" sz="1400" b="1" noProof="1" smtClean="0"/>
              <a:t>http://cs.wikipedia.org/wiki/Soubor:Baldung_stallknecht.jpg</a:t>
            </a:r>
          </a:p>
          <a:p>
            <a:r>
              <a:rPr lang="cs-CZ" sz="1400" b="1" noProof="1" smtClean="0"/>
              <a:t>http://cs.wikipedia.org/wiki/Soubor:Buchdrucker-1568.png</a:t>
            </a:r>
          </a:p>
          <a:p>
            <a:r>
              <a:rPr lang="cs-CZ" sz="1400" b="1" noProof="1" smtClean="0"/>
              <a:t>http://cs.wikipedia.org/wiki/Soubor:Garamond_type_fi-ligature.jpg</a:t>
            </a:r>
          </a:p>
          <a:p>
            <a:r>
              <a:rPr lang="cs-CZ" sz="1400" b="1" noProof="1" smtClean="0"/>
              <a:t>http://cs.wikipedia.org/wiki/Soubor:Marco_Polo_portrait.jpg</a:t>
            </a:r>
          </a:p>
          <a:p>
            <a:r>
              <a:rPr lang="cs-CZ" sz="1400" b="1" noProof="1" smtClean="0"/>
              <a:t>http://cs.wikipedia.org/wiki/Soubor:PoloBrotherAndKubilai.JPG</a:t>
            </a:r>
          </a:p>
          <a:p>
            <a:r>
              <a:rPr lang="cs-CZ" sz="1400" b="1" noProof="1" smtClean="0"/>
              <a:t>http://cs.wikipedia.org/wiki/Soubor:Marco_Polo,_Il_Milione,_Chapter_CXXIII_and_CXXIV.jpg</a:t>
            </a:r>
          </a:p>
          <a:p>
            <a:r>
              <a:rPr lang="cs-CZ" sz="1400" b="1" noProof="1" smtClean="0"/>
              <a:t>http://cs.wikipedia.org/wiki/Soubor:Marco_Polo_traveling.JPG</a:t>
            </a:r>
          </a:p>
          <a:p>
            <a:r>
              <a:rPr lang="cs-CZ" sz="1400" b="1" noProof="1" smtClean="0"/>
              <a:t>http://www.zsrokytnice.cz/spol/dejepis/slohy/renesance/kronika.jpg</a:t>
            </a:r>
          </a:p>
          <a:p>
            <a:r>
              <a:rPr lang="cs-CZ" sz="1400" b="1" noProof="1" smtClean="0"/>
              <a:t>http://www.luxuo.com/wp-content/uploads/2010/03/gutenberg-bible.jpg</a:t>
            </a:r>
          </a:p>
          <a:p>
            <a:r>
              <a:rPr lang="cs-CZ" sz="1400" b="1" noProof="1" smtClean="0"/>
              <a:t>http://www.biografiasyvidas.com/monografia/gutenberg/fotos/gutenberg_color.jpg</a:t>
            </a:r>
          </a:p>
          <a:p>
            <a:r>
              <a:rPr lang="cs-CZ" sz="1400" b="1" noProof="1" smtClean="0"/>
              <a:t>http://www.dclab.com/images/gutenberg_bible.jpeg</a:t>
            </a:r>
          </a:p>
          <a:p>
            <a:endParaRPr lang="cs-CZ" sz="1400" b="1" noProof="1" smtClean="0"/>
          </a:p>
        </p:txBody>
      </p:sp>
      <p:sp>
        <p:nvSpPr>
          <p:cNvPr id="4" name="TextovéPole 3"/>
          <p:cNvSpPr txBox="1"/>
          <p:nvPr/>
        </p:nvSpPr>
        <p:spPr>
          <a:xfrm>
            <a:off x="214282" y="-27384"/>
            <a:ext cx="3545458" cy="461665"/>
          </a:xfrm>
          <a:prstGeom prst="rect">
            <a:avLst/>
          </a:prstGeom>
          <a:noFill/>
        </p:spPr>
        <p:txBody>
          <a:bodyPr wrap="none" rtlCol="0">
            <a:spAutoFit/>
          </a:bodyPr>
          <a:lstStyle/>
          <a:p>
            <a:r>
              <a:rPr lang="cs-CZ" sz="2400" b="1" dirty="0" smtClean="0"/>
              <a:t>Použitá literatura a zdroje:</a:t>
            </a:r>
            <a:endParaRPr lang="cs-CZ" sz="2400"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ovéPole 2"/>
          <p:cNvSpPr txBox="1"/>
          <p:nvPr/>
        </p:nvSpPr>
        <p:spPr>
          <a:xfrm>
            <a:off x="90847" y="6215082"/>
            <a:ext cx="5124095" cy="430887"/>
          </a:xfrm>
          <a:prstGeom prst="rect">
            <a:avLst/>
          </a:prstGeom>
          <a:noFill/>
        </p:spPr>
        <p:txBody>
          <a:bodyPr wrap="none" rtlCol="0">
            <a:spAutoFit/>
          </a:bodyPr>
          <a:lstStyle/>
          <a:p>
            <a:r>
              <a:rPr lang="cs-CZ" sz="2200" b="1" noProof="1" smtClean="0"/>
              <a:t>Zpracovala: Mgr. Kateřina Karbulová, 2011</a:t>
            </a:r>
            <a:endParaRPr lang="cs-CZ" sz="2200" b="1" noProof="1"/>
          </a:p>
        </p:txBody>
      </p:sp>
      <p:sp>
        <p:nvSpPr>
          <p:cNvPr id="4" name="Obdélník 3"/>
          <p:cNvSpPr/>
          <p:nvPr/>
        </p:nvSpPr>
        <p:spPr>
          <a:xfrm>
            <a:off x="357158" y="3429000"/>
            <a:ext cx="8286808" cy="954107"/>
          </a:xfrm>
          <a:prstGeom prst="rect">
            <a:avLst/>
          </a:prstGeom>
        </p:spPr>
        <p:txBody>
          <a:bodyPr wrap="square">
            <a:spAutoFit/>
          </a:bodyPr>
          <a:lstStyle/>
          <a:p>
            <a:r>
              <a:rPr lang="cs-CZ" sz="1400" b="1" noProof="1" smtClean="0"/>
              <a:t>Martínková, Věra a kol.,: Čítanka 1, Trizonia, Praha, 1991</a:t>
            </a:r>
          </a:p>
          <a:p>
            <a:r>
              <a:rPr lang="cs-CZ" sz="1400" b="1" noProof="1" smtClean="0"/>
              <a:t>Vlastní  přípravy do vyučování.</a:t>
            </a:r>
          </a:p>
          <a:p>
            <a:r>
              <a:rPr lang="cs-CZ" sz="1400" b="1" noProof="1" smtClean="0"/>
              <a:t>Hrabák, Josef, Jeřábek, Dušan, Tichá, Zdenka : Průvodce po dějinách české literatury, Orbis, Praha  1976 </a:t>
            </a:r>
          </a:p>
          <a:p>
            <a:r>
              <a:rPr lang="cs-CZ" sz="1400" b="1" noProof="1" smtClean="0"/>
              <a:t>Balajka, Bohuslav a kol.: Přehledné dějiny literatury, SPN Praha 1970</a:t>
            </a:r>
            <a:endParaRPr lang="cs-CZ" sz="1400" b="1" noProof="1"/>
          </a:p>
        </p:txBody>
      </p:sp>
      <p:sp>
        <p:nvSpPr>
          <p:cNvPr id="5" name="Obdélník 4"/>
          <p:cNvSpPr/>
          <p:nvPr/>
        </p:nvSpPr>
        <p:spPr>
          <a:xfrm>
            <a:off x="323528" y="260648"/>
            <a:ext cx="7632848" cy="3323987"/>
          </a:xfrm>
          <a:prstGeom prst="rect">
            <a:avLst/>
          </a:prstGeom>
        </p:spPr>
        <p:txBody>
          <a:bodyPr wrap="square">
            <a:spAutoFit/>
          </a:bodyPr>
          <a:lstStyle/>
          <a:p>
            <a:r>
              <a:rPr lang="cs-CZ" sz="1400" b="1" noProof="1" smtClean="0"/>
              <a:t>http://www.boxcarpress.com/us/blog/wp-content/uploads/2008/10/johann-gutenberg-press1.jpg</a:t>
            </a:r>
          </a:p>
          <a:p>
            <a:r>
              <a:rPr lang="cs-CZ" sz="1400" b="1" noProof="1" smtClean="0"/>
              <a:t>http://www.lib-art.com/imgpainting/0/5/8850-gutenberg-david-d-angers.jpg</a:t>
            </a:r>
          </a:p>
          <a:p>
            <a:r>
              <a:rPr lang="cs-CZ" sz="1400" b="1" noProof="1" smtClean="0"/>
              <a:t>http://images.devshed.com/dh/stories/Printers/Printers_Gutenberg_press.jpg</a:t>
            </a:r>
          </a:p>
          <a:p>
            <a:r>
              <a:rPr lang="cs-CZ" sz="1400" b="1" noProof="1" smtClean="0"/>
              <a:t>http://media-cdn.tripadvisor.com/media/photo-s/01/51/5e/75/place-gutenberg.jpg</a:t>
            </a:r>
          </a:p>
          <a:p>
            <a:r>
              <a:rPr lang="cs-CZ" sz="1400" b="1" noProof="1" smtClean="0"/>
              <a:t>http://knihynainternetu.cz/foto2/0056609915_.jpeg</a:t>
            </a:r>
          </a:p>
          <a:p>
            <a:r>
              <a:rPr lang="cs-CZ" sz="1400" b="1" noProof="1" smtClean="0"/>
              <a:t>http://www.valentinska.cz/images/8821485dae10a2f965d5c59764acd472.jpg</a:t>
            </a:r>
          </a:p>
          <a:p>
            <a:r>
              <a:rPr lang="cs-CZ" sz="1400" b="1" noProof="1" smtClean="0"/>
              <a:t>http://www.google.cz/imgres?imgurl=http://www.christnet.cz/magazin/Obrazky/priroda/zvirata/cervena-liska-kytky-small.jpg&amp;imgrefurl=http://www.christnet.cz/magazin/autor.asp%3Fautor%3Djh&amp;usg=__lpBVUKcXLyMIpWbNGILiCTTF0TU=&amp;h=96&amp;w=64&amp;sz=3&amp;hl=cs&amp;start=7&amp;zoom=0&amp;itbs=1&amp;tbnid=sYbL1_WeXbzTcM:&amp;tbnh=81&amp;tbnw=54&amp;prev=/images%3Fq%3DBajka%2Bo%2Bli%25C5%25A1ce%2Ba%2Bd%25C5%25BEb%25C3%25A1nu%26hl%3Dcs%26sa%3DG%26gbv%3D2%26tbs%3Disch:1&amp;ei=adg9TcTdE4iBswa8kbD1Bg</a:t>
            </a:r>
          </a:p>
          <a:p>
            <a:r>
              <a:rPr lang="cs-CZ" sz="1400" b="1" noProof="1" smtClean="0"/>
              <a:t>http://www.naturfoto.cz/fotografie/ostatni/liska-obecna-7594.jpg</a:t>
            </a:r>
          </a:p>
          <a:p>
            <a:r>
              <a:rPr lang="cs-CZ" sz="1400" b="1" noProof="1" smtClean="0"/>
              <a:t>http://www.czprodukt.cz/obrazky/big_dzban.jpg</a:t>
            </a:r>
            <a:endParaRPr lang="cs-CZ" sz="1400" b="1" noProof="1"/>
          </a:p>
        </p:txBody>
      </p:sp>
    </p:spTree>
  </p:cSld>
  <p:clrMapOvr>
    <a:masterClrMapping/>
  </p:clrMapOvr>
</p:sld>
</file>

<file path=ppt/theme/theme1.xml><?xml version="1.0" encoding="utf-8"?>
<a:theme xmlns:a="http://schemas.openxmlformats.org/drawingml/2006/main" name="Motiv sady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887</TotalTime>
  <Words>3332</Words>
  <Application>Microsoft Office PowerPoint</Application>
  <PresentationFormat>Předvádění na obrazovce (4:3)</PresentationFormat>
  <Paragraphs>464</Paragraphs>
  <Slides>35</Slides>
  <Notes>0</Notes>
  <HiddenSlides>0</HiddenSlides>
  <MMClips>0</MMClips>
  <ScaleCrop>false</ScaleCrop>
  <HeadingPairs>
    <vt:vector size="4" baseType="variant">
      <vt:variant>
        <vt:lpstr>Motiv</vt:lpstr>
      </vt:variant>
      <vt:variant>
        <vt:i4>1</vt:i4>
      </vt:variant>
      <vt:variant>
        <vt:lpstr>Nadpisy snímků</vt:lpstr>
      </vt:variant>
      <vt:variant>
        <vt:i4>35</vt:i4>
      </vt:variant>
    </vt:vector>
  </HeadingPairs>
  <TitlesOfParts>
    <vt:vector size="36" baseType="lpstr">
      <vt:lpstr>Motiv sady Office</vt:lpstr>
      <vt:lpstr>Snímek 1</vt:lpstr>
      <vt:lpstr>Snímek 2</vt:lpstr>
      <vt:lpstr>Snímek 3</vt:lpstr>
      <vt:lpstr>Snímek 4</vt:lpstr>
      <vt:lpstr>Snímek 5</vt:lpstr>
      <vt:lpstr>Snímek 6</vt:lpstr>
      <vt:lpstr>Snímek 7</vt:lpstr>
      <vt:lpstr>Snímek 8</vt:lpstr>
      <vt:lpstr>Snímek 9</vt:lpstr>
      <vt:lpstr>Snímek 10</vt:lpstr>
      <vt:lpstr>Snímek 11</vt:lpstr>
      <vt:lpstr>Snímek 12</vt:lpstr>
      <vt:lpstr>Snímek 13</vt:lpstr>
      <vt:lpstr>Snímek 14</vt:lpstr>
      <vt:lpstr>Snímek 15</vt:lpstr>
      <vt:lpstr>Snímek 16</vt:lpstr>
      <vt:lpstr>Snímek 17</vt:lpstr>
      <vt:lpstr>Snímek 18</vt:lpstr>
      <vt:lpstr>Snímek 19</vt:lpstr>
      <vt:lpstr>Snímek 20</vt:lpstr>
      <vt:lpstr>Snímek 21</vt:lpstr>
      <vt:lpstr>Snímek 22</vt:lpstr>
      <vt:lpstr>Snímek 23</vt:lpstr>
      <vt:lpstr>Snímek 24</vt:lpstr>
      <vt:lpstr>Snímek 25</vt:lpstr>
      <vt:lpstr>Snímek 26</vt:lpstr>
      <vt:lpstr>Snímek 27</vt:lpstr>
      <vt:lpstr>Snímek 28</vt:lpstr>
      <vt:lpstr>Snímek 29</vt:lpstr>
      <vt:lpstr>Snímek 30</vt:lpstr>
      <vt:lpstr>Snímek 31</vt:lpstr>
      <vt:lpstr>Snímek 32</vt:lpstr>
      <vt:lpstr>Snímek 33</vt:lpstr>
      <vt:lpstr>Snímek 34</vt:lpstr>
      <vt:lpstr>Snímek 35</vt:lpstr>
    </vt:vector>
  </TitlesOfParts>
  <Company>pc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Světová středověká literatura</dc:title>
  <dc:creator>dana</dc:creator>
  <cp:lastModifiedBy>Dum</cp:lastModifiedBy>
  <cp:revision>95</cp:revision>
  <dcterms:created xsi:type="dcterms:W3CDTF">2011-01-23T00:30:46Z</dcterms:created>
  <dcterms:modified xsi:type="dcterms:W3CDTF">2012-05-21T21:11:09Z</dcterms:modified>
</cp:coreProperties>
</file>