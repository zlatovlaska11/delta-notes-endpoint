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339" r:id="rId2"/>
    <p:sldId id="300" r:id="rId3"/>
    <p:sldId id="391" r:id="rId4"/>
    <p:sldId id="297" r:id="rId5"/>
    <p:sldId id="319" r:id="rId6"/>
    <p:sldId id="298" r:id="rId7"/>
    <p:sldId id="299" r:id="rId8"/>
    <p:sldId id="302" r:id="rId9"/>
    <p:sldId id="311" r:id="rId10"/>
    <p:sldId id="306" r:id="rId11"/>
    <p:sldId id="317" r:id="rId12"/>
    <p:sldId id="315" r:id="rId13"/>
    <p:sldId id="312" r:id="rId14"/>
    <p:sldId id="316" r:id="rId15"/>
    <p:sldId id="320" r:id="rId16"/>
    <p:sldId id="321" r:id="rId17"/>
    <p:sldId id="362" r:id="rId18"/>
    <p:sldId id="313" r:id="rId19"/>
    <p:sldId id="393" r:id="rId20"/>
    <p:sldId id="392" r:id="rId21"/>
    <p:sldId id="386" r:id="rId22"/>
    <p:sldId id="375" r:id="rId23"/>
    <p:sldId id="329" r:id="rId24"/>
    <p:sldId id="331" r:id="rId25"/>
    <p:sldId id="333" r:id="rId26"/>
    <p:sldId id="334" r:id="rId27"/>
    <p:sldId id="359" r:id="rId28"/>
    <p:sldId id="335" r:id="rId29"/>
    <p:sldId id="338" r:id="rId30"/>
    <p:sldId id="337" r:id="rId31"/>
    <p:sldId id="350" r:id="rId32"/>
    <p:sldId id="361" r:id="rId33"/>
    <p:sldId id="367" r:id="rId34"/>
    <p:sldId id="352" r:id="rId35"/>
    <p:sldId id="382" r:id="rId36"/>
    <p:sldId id="383" r:id="rId37"/>
    <p:sldId id="379" r:id="rId38"/>
    <p:sldId id="384" r:id="rId39"/>
    <p:sldId id="385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6" r:id="rId48"/>
    <p:sldId id="377" r:id="rId49"/>
    <p:sldId id="340" r:id="rId50"/>
    <p:sldId id="342" r:id="rId51"/>
    <p:sldId id="348" r:id="rId52"/>
    <p:sldId id="354" r:id="rId53"/>
    <p:sldId id="358" r:id="rId54"/>
    <p:sldId id="378" r:id="rId55"/>
    <p:sldId id="364" r:id="rId56"/>
    <p:sldId id="355" r:id="rId57"/>
    <p:sldId id="356" r:id="rId58"/>
    <p:sldId id="360" r:id="rId59"/>
    <p:sldId id="365" r:id="rId60"/>
    <p:sldId id="387" r:id="rId61"/>
    <p:sldId id="286" r:id="rId62"/>
    <p:sldId id="256" r:id="rId63"/>
    <p:sldId id="388" r:id="rId64"/>
    <p:sldId id="389" r:id="rId65"/>
    <p:sldId id="390" r:id="rId6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A3100-1481-4EE6-8EE6-1EB999DF4C09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52E83-8DDC-4063-83F5-00031994A99E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mtClean="0"/>
              <a:t>Okres Rakovník.</a:t>
            </a:r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52E83-8DDC-4063-83F5-00031994A99E}" type="slidenum">
              <a:rPr lang="cs-CZ" smtClean="0"/>
              <a:pPr/>
              <a:t>29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6CC57-39C5-4AF5-A3FF-DB00D6A61294}" type="datetimeFigureOut">
              <a:rPr lang="cs-CZ" smtClean="0"/>
              <a:pPr/>
              <a:t>21.5.2012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CC8B-3785-4AD0-B5E2-EA86124868F4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upload.wikimedia.org/wikipedia/commons/f/f6/Jan_Mil%C3%AD%C4%8D_z_Krom%C4%9B%C5%99%C3%AD%C5%BEe.JP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upload.wikimedia.org/wikipedia/commons/0/06/Betlemska_kaple.jpg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upload.wikimedia.org/wikipedia/commons/9/9e/Jan_Vil%C3%ADmek_-_Tom%C3%A1%C5%A1_%C5%A0t%C3%ADtn%C3%BD_ze_%C5%A0t%C3%ADtn%C3%A9ho.jp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upload.wikimedia.org/wikipedia/commons/4/4c/Jan_Vil%C3%ADmek_-_Mistr_Jan_Hus.jpg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upload.wikimedia.org/wikipedia/commons/4/4d/Prague_hus_statue.jpg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9/9b/Detail-Hrad_Koz%C3%AD.jpg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hyperlink" Target="http://cs.wikipedia.org/wiki/Soubor:Detail-Hrad_Koz%C3%AD.jpg" TargetMode="External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://upload.wikimedia.org/wikipedia/commons/a/a9/Zikmund_Zho%C5%99elecka_radnice.jpg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a/ab/Konstanz_Bischofswappen.jpg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://upload.wikimedia.org/wikipedia/commons/2/23/Praha,_Nove_Mesto_-_Reznicka_(Jeronym_Prazsky).jpg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hyperlink" Target="http://upload.wikimedia.org/wikipedia/commons/0/01/Johannes_XXIII_Gegenpapst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upload.wikimedia.org/wikipedia/commons/a/ad/C_o_a_Martino_V.svg" TargetMode="Externa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hyperlink" Target="http://upload.wikimedia.org/wikipedia/commons/3/39/Brozik,_Vaclav_-_Jan_Hus_souzen_na_snemu_Kostnickem_r._1415.jp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jpeg"/><Relationship Id="rId4" Type="http://schemas.openxmlformats.org/officeDocument/2006/relationships/hyperlink" Target="http://upload.wikimedia.org/wikipedia/commons/d/d2/Pierre_d'Ailly.jpg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hyperlink" Target="http://upload.wikimedia.org/wikipedia/commons/a/a2/Muttich,_Kamil_Vladislav_-_Posledni_vyzvani_mistru_Husovi.jpg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jpeg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aoblený obdélník 9"/>
          <p:cNvSpPr/>
          <p:nvPr/>
        </p:nvSpPr>
        <p:spPr>
          <a:xfrm>
            <a:off x="357158" y="3357562"/>
            <a:ext cx="8429684" cy="128588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" name="Picture 4" descr="http://hroch.spseol.cz/~vac26092/images/Obdobi/husitsk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145" y="0"/>
            <a:ext cx="9035855" cy="2708920"/>
          </a:xfrm>
          <a:prstGeom prst="rect">
            <a:avLst/>
          </a:prstGeom>
          <a:noFill/>
        </p:spPr>
      </p:pic>
      <p:pic>
        <p:nvPicPr>
          <p:cNvPr id="5" name="Picture 2" descr="C:\Documents and Settings\dana\Dokumenty\Úvodní snímek EU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943600"/>
            <a:ext cx="9144000" cy="914400"/>
          </a:xfrm>
          <a:prstGeom prst="rect">
            <a:avLst/>
          </a:prstGeom>
          <a:noFill/>
        </p:spPr>
      </p:pic>
      <p:sp>
        <p:nvSpPr>
          <p:cNvPr id="7" name="TextovéPole 6"/>
          <p:cNvSpPr txBox="1"/>
          <p:nvPr/>
        </p:nvSpPr>
        <p:spPr>
          <a:xfrm>
            <a:off x="428596" y="3571876"/>
            <a:ext cx="8318431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400" b="1" smtClean="0">
                <a:ln w="50800"/>
                <a:solidFill>
                  <a:srgbClr val="002060"/>
                </a:solidFill>
              </a:rPr>
              <a:t>konec 14.stol – polovina 15. století</a:t>
            </a:r>
            <a:endParaRPr lang="cs-CZ" sz="4400" b="1">
              <a:ln w="50800"/>
              <a:solidFill>
                <a:srgbClr val="002060"/>
              </a:solidFill>
            </a:endParaRPr>
          </a:p>
        </p:txBody>
      </p:sp>
      <p:sp>
        <p:nvSpPr>
          <p:cNvPr id="8" name="Elipsa 7"/>
          <p:cNvSpPr/>
          <p:nvPr/>
        </p:nvSpPr>
        <p:spPr>
          <a:xfrm>
            <a:off x="1428728" y="214290"/>
            <a:ext cx="6357982" cy="221457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/>
          <p:cNvSpPr txBox="1"/>
          <p:nvPr/>
        </p:nvSpPr>
        <p:spPr>
          <a:xfrm>
            <a:off x="1714480" y="785794"/>
            <a:ext cx="5985741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800" b="1" smtClean="0">
                <a:ln w="50800"/>
                <a:solidFill>
                  <a:srgbClr val="002060"/>
                </a:solidFill>
              </a:rPr>
              <a:t>Předhusitská literatura</a:t>
            </a:r>
          </a:p>
          <a:p>
            <a:r>
              <a:rPr lang="cs-CZ" sz="4800" b="1" smtClean="0">
                <a:ln w="50800"/>
                <a:solidFill>
                  <a:srgbClr val="002060"/>
                </a:solidFill>
              </a:rPr>
              <a:t>             Jan Hus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79512" y="5549170"/>
            <a:ext cx="8969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000" b="1" dirty="0" smtClean="0"/>
              <a:t>Mgr. Kateřina </a:t>
            </a:r>
            <a:r>
              <a:rPr lang="cs-CZ" sz="2000" b="1" dirty="0" err="1" smtClean="0"/>
              <a:t>Karbulová</a:t>
            </a:r>
            <a:r>
              <a:rPr lang="cs-CZ" sz="2000" b="1" dirty="0" smtClean="0"/>
              <a:t>, Sportovní gymnázium Dany a Emila </a:t>
            </a:r>
            <a:r>
              <a:rPr lang="cs-CZ" sz="2000" b="1" dirty="0" err="1" smtClean="0"/>
              <a:t>Zátopkových</a:t>
            </a:r>
            <a:r>
              <a:rPr lang="cs-CZ" sz="2000" b="1" dirty="0" smtClean="0"/>
              <a:t>, Ostrava</a:t>
            </a:r>
            <a:endParaRPr lang="cs-CZ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57158" y="876146"/>
            <a:ext cx="8429684" cy="61247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1. Historické pozadí husitské literatury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2. Charakter husitské literatury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3. Husovi předchůdci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4. Jan Hus – život a tvorba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5. Mistr Jeroným Pražský, Jakoubek ze Stříbra,</a:t>
            </a: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    Petr z Mladoňovic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742950" indent="-742950"/>
            <a:r>
              <a:rPr lang="cs-CZ" sz="2800" b="1" smtClean="0">
                <a:ln w="50800"/>
                <a:solidFill>
                  <a:srgbClr val="002060"/>
                </a:solidFill>
              </a:rPr>
              <a:t>6. Zajímavosti – Kostnický koncil, Husova smrt</a:t>
            </a:r>
          </a:p>
          <a:p>
            <a:pPr marL="742950" indent="-742950"/>
            <a:endParaRPr lang="cs-CZ" sz="2800" b="1" smtClean="0">
              <a:ln w="50800"/>
              <a:solidFill>
                <a:srgbClr val="002060"/>
              </a:solidFill>
            </a:endParaRPr>
          </a:p>
          <a:p>
            <a:pPr marL="342900" indent="-342900"/>
            <a:endParaRPr lang="cs-CZ" sz="2800" b="1">
              <a:ln w="50800"/>
              <a:solidFill>
                <a:srgbClr val="002060"/>
              </a:solidFill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2928926" y="-71462"/>
            <a:ext cx="220105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5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Obsah: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3143240" y="0"/>
            <a:ext cx="217431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5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Pojmy:</a:t>
            </a:r>
          </a:p>
        </p:txBody>
      </p:sp>
      <p:sp>
        <p:nvSpPr>
          <p:cNvPr id="3" name="TextovéPole 2"/>
          <p:cNvSpPr txBox="1"/>
          <p:nvPr/>
        </p:nvSpPr>
        <p:spPr>
          <a:xfrm>
            <a:off x="935683" y="1142984"/>
            <a:ext cx="3064813" cy="526297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kazatel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teologie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kacíř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křesťan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papežské schizma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vyznavači kalicha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traktát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mistr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mecenáš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patriciát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svatokupectví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laik</a:t>
            </a:r>
          </a:p>
        </p:txBody>
      </p:sp>
      <p:sp>
        <p:nvSpPr>
          <p:cNvPr id="4" name="Obdélník 3"/>
          <p:cNvSpPr/>
          <p:nvPr/>
        </p:nvSpPr>
        <p:spPr>
          <a:xfrm>
            <a:off x="5000660" y="1097238"/>
            <a:ext cx="4572000" cy="526297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rektor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Kutnohorský dekret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reformace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interdikt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koncil 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Kostnice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Páteř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Postila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pašije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diakritický pravopis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6.7.1415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>
                <a:ln w="50800"/>
                <a:solidFill>
                  <a:srgbClr val="002060"/>
                </a:solidFill>
              </a:rPr>
              <a:t> Betlémská kaple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949560"/>
            <a:ext cx="9144000" cy="769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600" b="1" smtClean="0">
                <a:solidFill>
                  <a:schemeClr val="accent6">
                    <a:lumMod val="50000"/>
                  </a:schemeClr>
                </a:solidFill>
              </a:rPr>
              <a:t>Ve 14. a 15. století dochází k prohloubení rozporů všech vrstev</a:t>
            </a:r>
          </a:p>
          <a:p>
            <a:r>
              <a:rPr lang="cs-CZ" sz="2600" b="1" smtClean="0">
                <a:solidFill>
                  <a:schemeClr val="accent6">
                    <a:lumMod val="50000"/>
                  </a:schemeClr>
                </a:solidFill>
              </a:rPr>
              <a:t>ve společnosti, ale společným nepřítelem všech je </a:t>
            </a:r>
            <a:r>
              <a:rPr lang="cs-CZ" sz="2600" b="1" i="1" smtClean="0">
                <a:solidFill>
                  <a:schemeClr val="accent6">
                    <a:lumMod val="50000"/>
                  </a:schemeClr>
                </a:solidFill>
              </a:rPr>
              <a:t>církev.</a:t>
            </a:r>
          </a:p>
          <a:p>
            <a:pPr marL="457200" indent="-457200"/>
            <a:r>
              <a:rPr lang="cs-CZ" sz="2600" smtClean="0"/>
              <a:t>a) </a:t>
            </a:r>
            <a:r>
              <a:rPr lang="cs-CZ" sz="2600" b="1" i="1" smtClean="0"/>
              <a:t>světští feudálové </a:t>
            </a:r>
            <a:r>
              <a:rPr lang="cs-CZ" sz="2600" smtClean="0"/>
              <a:t>( chtějí půdu)</a:t>
            </a:r>
          </a:p>
          <a:p>
            <a:pPr marL="457200" indent="-457200"/>
            <a:r>
              <a:rPr lang="cs-CZ" sz="2600" smtClean="0"/>
              <a:t>    </a:t>
            </a:r>
            <a:r>
              <a:rPr lang="cs-CZ" sz="2600" b="1" smtClean="0"/>
              <a:t> </a:t>
            </a:r>
            <a:r>
              <a:rPr lang="cs-CZ" sz="2600" b="1" smtClean="0">
                <a:solidFill>
                  <a:srgbClr val="FF0000"/>
                </a:solidFill>
              </a:rPr>
              <a:t>X</a:t>
            </a:r>
            <a:r>
              <a:rPr lang="cs-CZ" sz="2600" b="1" smtClean="0"/>
              <a:t> </a:t>
            </a:r>
            <a:r>
              <a:rPr lang="cs-CZ" sz="2600" b="1" i="1" smtClean="0"/>
              <a:t>církevní feudálové </a:t>
            </a:r>
            <a:r>
              <a:rPr lang="cs-CZ" sz="2600" smtClean="0"/>
              <a:t>(největší vlastníci půdy)</a:t>
            </a:r>
          </a:p>
          <a:p>
            <a:pPr marL="457200" indent="-457200"/>
            <a:r>
              <a:rPr lang="cs-CZ" sz="2600" smtClean="0"/>
              <a:t>b) nižší feudálové, nižšší kněží, měšťané, prostý lid</a:t>
            </a:r>
          </a:p>
          <a:p>
            <a:pPr marL="457200" indent="-457200"/>
            <a:r>
              <a:rPr lang="cs-CZ" sz="2600" smtClean="0"/>
              <a:t>    = odpor proti mravnímu úpadku církve, odkazují na bibli</a:t>
            </a:r>
          </a:p>
          <a:p>
            <a:pPr marL="457200" indent="-457200"/>
            <a:r>
              <a:rPr lang="cs-CZ" sz="2600" b="1" smtClean="0"/>
              <a:t>    </a:t>
            </a:r>
            <a:r>
              <a:rPr lang="cs-CZ" sz="2600" b="1" smtClean="0">
                <a:solidFill>
                  <a:srgbClr val="FF0000"/>
                </a:solidFill>
              </a:rPr>
              <a:t>X</a:t>
            </a:r>
            <a:r>
              <a:rPr lang="cs-CZ" sz="2600" b="1" smtClean="0"/>
              <a:t> </a:t>
            </a:r>
            <a:r>
              <a:rPr lang="cs-CZ" sz="2600" smtClean="0"/>
              <a:t>církevní hromadění majetku, hříšný život</a:t>
            </a:r>
          </a:p>
          <a:p>
            <a:pPr marL="457200" indent="-457200"/>
            <a:r>
              <a:rPr lang="cs-CZ" sz="2600" smtClean="0"/>
              <a:t>c) </a:t>
            </a:r>
            <a:r>
              <a:rPr lang="cs-CZ" sz="2600" b="1" i="1" smtClean="0"/>
              <a:t>myslitelé, reformní kazatelé </a:t>
            </a:r>
            <a:r>
              <a:rPr lang="cs-CZ" sz="2600" smtClean="0"/>
              <a:t>= usilují o nápravu církve</a:t>
            </a:r>
          </a:p>
          <a:p>
            <a:pPr marL="457200" indent="-457200"/>
            <a:r>
              <a:rPr lang="cs-CZ" sz="2600" b="1" smtClean="0"/>
              <a:t>     </a:t>
            </a:r>
            <a:r>
              <a:rPr lang="cs-CZ" sz="2600" b="1" smtClean="0">
                <a:solidFill>
                  <a:srgbClr val="FF0000"/>
                </a:solidFill>
              </a:rPr>
              <a:t>X</a:t>
            </a:r>
            <a:r>
              <a:rPr lang="cs-CZ" sz="2600" b="1" smtClean="0"/>
              <a:t> </a:t>
            </a:r>
            <a:r>
              <a:rPr lang="cs-CZ" sz="2600" smtClean="0"/>
              <a:t>vyhánění církví, obžalováváni z </a:t>
            </a:r>
            <a:r>
              <a:rPr lang="cs-CZ" sz="2600" b="1" i="1" smtClean="0"/>
              <a:t>kacířství </a:t>
            </a:r>
            <a:r>
              <a:rPr lang="cs-CZ" sz="2600" smtClean="0"/>
              <a:t>( upalováni)</a:t>
            </a:r>
          </a:p>
          <a:p>
            <a:pPr marL="457200" indent="-457200"/>
            <a:r>
              <a:rPr lang="cs-CZ" sz="2600" smtClean="0"/>
              <a:t>d) </a:t>
            </a:r>
            <a:r>
              <a:rPr lang="cs-CZ" sz="2600" b="1" i="1" smtClean="0"/>
              <a:t>česká inteligence  </a:t>
            </a:r>
            <a:r>
              <a:rPr lang="cs-CZ" sz="2600" smtClean="0"/>
              <a:t>( podpora angl.reformátora J. Wyccliffa ) </a:t>
            </a:r>
          </a:p>
          <a:p>
            <a:pPr marL="457200" indent="-457200"/>
            <a:r>
              <a:rPr lang="cs-CZ" sz="2600" b="1" i="1" smtClean="0"/>
              <a:t>    </a:t>
            </a:r>
            <a:r>
              <a:rPr lang="cs-CZ" sz="2600" b="1" i="1" smtClean="0">
                <a:solidFill>
                  <a:srgbClr val="FF0000"/>
                </a:solidFill>
              </a:rPr>
              <a:t> X </a:t>
            </a:r>
            <a:r>
              <a:rPr lang="cs-CZ" sz="2600" b="1" i="1" smtClean="0"/>
              <a:t>německá inteligence </a:t>
            </a:r>
            <a:r>
              <a:rPr lang="cs-CZ" sz="2600" smtClean="0"/>
              <a:t>( odmítají jeho názory)</a:t>
            </a:r>
          </a:p>
          <a:p>
            <a:pPr marL="457200" indent="-457200"/>
            <a:r>
              <a:rPr lang="cs-CZ" sz="2600" smtClean="0"/>
              <a:t>e) Češi podporují Václava IV. a prosazení Dekretu kutnohorského</a:t>
            </a:r>
          </a:p>
          <a:p>
            <a:pPr marL="457200" indent="-457200"/>
            <a:r>
              <a:rPr lang="cs-CZ" sz="2600" smtClean="0"/>
              <a:t>     ( 1409, převahu na KU získávají Češi)</a:t>
            </a:r>
          </a:p>
          <a:p>
            <a:pPr marL="457200" indent="-457200"/>
            <a:r>
              <a:rPr lang="cs-CZ" sz="2600" b="1" smtClean="0">
                <a:solidFill>
                  <a:srgbClr val="FF0000"/>
                </a:solidFill>
              </a:rPr>
              <a:t>    X </a:t>
            </a:r>
            <a:r>
              <a:rPr lang="cs-CZ" sz="2600" smtClean="0"/>
              <a:t>Václavovi IV., na straně římského papeže</a:t>
            </a:r>
          </a:p>
          <a:p>
            <a:endParaRPr lang="cs-CZ" sz="2600" smtClean="0"/>
          </a:p>
          <a:p>
            <a:endParaRPr lang="cs-CZ" sz="2600" smtClean="0"/>
          </a:p>
          <a:p>
            <a:endParaRPr lang="cs-CZ" sz="2600" smtClean="0"/>
          </a:p>
          <a:p>
            <a:endParaRPr lang="cs-CZ" sz="2600" dirty="0" smtClean="0"/>
          </a:p>
          <a:p>
            <a:endParaRPr lang="cs-CZ" sz="2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8614" y="142860"/>
            <a:ext cx="8229600" cy="1143000"/>
          </a:xfrm>
          <a:prstGeom prst="rect">
            <a:avLst/>
          </a:prstGeo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4400" b="1" i="0" u="none" strike="noStrike" kern="1200" normalizeH="0" baseline="0" noProof="0" smtClean="0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20" y="4214818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cs-CZ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120480" y="71414"/>
            <a:ext cx="9094990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742950" indent="-742950"/>
            <a:r>
              <a:rPr lang="cs-CZ" sz="4400" b="1" smtClean="0">
                <a:ln w="50800"/>
                <a:solidFill>
                  <a:srgbClr val="002060"/>
                </a:solidFill>
              </a:rPr>
              <a:t>1. Historické pozadí husitské literatury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dorovný svitek 3"/>
          <p:cNvSpPr/>
          <p:nvPr/>
        </p:nvSpPr>
        <p:spPr>
          <a:xfrm>
            <a:off x="357158" y="1357298"/>
            <a:ext cx="7500990" cy="4572056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85720" y="214290"/>
            <a:ext cx="90726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dirty="0" smtClean="0">
                <a:solidFill>
                  <a:schemeClr val="accent6">
                    <a:lumMod val="50000"/>
                  </a:schemeClr>
                </a:solidFill>
              </a:rPr>
              <a:t>V 2.polovině 14.století dochází k úplnému </a:t>
            </a:r>
            <a:r>
              <a:rPr lang="cs-CZ" sz="2800" b="1" dirty="0" smtClean="0">
                <a:solidFill>
                  <a:schemeClr val="accent6">
                    <a:lumMod val="50000"/>
                  </a:schemeClr>
                </a:solidFill>
              </a:rPr>
              <a:t>překladu </a:t>
            </a:r>
            <a:r>
              <a:rPr lang="cs-CZ" sz="2800" b="1" dirty="0" smtClean="0">
                <a:solidFill>
                  <a:schemeClr val="accent6">
                    <a:lumMod val="50000"/>
                  </a:schemeClr>
                </a:solidFill>
              </a:rPr>
              <a:t>bible</a:t>
            </a:r>
          </a:p>
          <a:p>
            <a:r>
              <a:rPr lang="cs-CZ" sz="2800" b="1" dirty="0" smtClean="0">
                <a:solidFill>
                  <a:schemeClr val="accent6">
                    <a:lumMod val="50000"/>
                  </a:schemeClr>
                </a:solidFill>
              </a:rPr>
              <a:t>do češtiny = nejčtenější kniha = život křesťanů x církev.</a:t>
            </a:r>
          </a:p>
        </p:txBody>
      </p:sp>
      <p:sp>
        <p:nvSpPr>
          <p:cNvPr id="3" name="Obdélník 2"/>
          <p:cNvSpPr/>
          <p:nvPr/>
        </p:nvSpPr>
        <p:spPr>
          <a:xfrm>
            <a:off x="1142976" y="1928802"/>
            <a:ext cx="607223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cs-CZ" sz="2800" smtClean="0">
              <a:solidFill>
                <a:schemeClr val="bg1"/>
              </a:solidFill>
            </a:endParaRPr>
          </a:p>
          <a:p>
            <a:r>
              <a:rPr lang="cs-CZ" sz="2800" smtClean="0">
                <a:solidFill>
                  <a:schemeClr val="bg1"/>
                </a:solidFill>
              </a:rPr>
              <a:t>„Považoval jsem za užitečnější mít vždy </a:t>
            </a:r>
          </a:p>
          <a:p>
            <a:r>
              <a:rPr lang="cs-CZ" sz="2800" smtClean="0">
                <a:solidFill>
                  <a:schemeClr val="bg1"/>
                </a:solidFill>
              </a:rPr>
              <a:t>s sebou slova a naučení svatých proroků a Krista i apoštolů a evangelistů ve všem napomínající a se mnou přelahodně rozmlouvající než jejich kosti nebo jiné podobné věci neživé." </a:t>
            </a:r>
          </a:p>
          <a:p>
            <a:endParaRPr lang="cs-CZ" sz="2800" smtClean="0">
              <a:solidFill>
                <a:schemeClr val="bg1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5143504" y="4786322"/>
            <a:ext cx="2184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2400" b="1" i="1" smtClean="0">
                <a:solidFill>
                  <a:schemeClr val="bg1"/>
                </a:solidFill>
              </a:rPr>
              <a:t>Matěj z Janova</a:t>
            </a:r>
            <a:endParaRPr lang="cs-CZ" sz="2400" smtClean="0">
              <a:solidFill>
                <a:schemeClr val="bg1"/>
              </a:solidFill>
            </a:endParaRPr>
          </a:p>
        </p:txBody>
      </p:sp>
      <p:pic>
        <p:nvPicPr>
          <p:cNvPr id="70658" name="Picture 2" descr="http://www.podzemni-antikvariat.cz/img/foto/t/__sl70609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4286256"/>
            <a:ext cx="1815366" cy="22860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857232"/>
            <a:ext cx="885828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500" b="1" smtClean="0"/>
              <a:t> </a:t>
            </a:r>
            <a:r>
              <a:rPr lang="cs-CZ" sz="2500" b="1" smtClean="0">
                <a:solidFill>
                  <a:schemeClr val="accent6">
                    <a:lumMod val="50000"/>
                  </a:schemeClr>
                </a:solidFill>
              </a:rPr>
              <a:t>1. z literatury mizí:</a:t>
            </a:r>
          </a:p>
          <a:p>
            <a:r>
              <a:rPr lang="cs-CZ" sz="2500" b="1" smtClean="0"/>
              <a:t>      - tradiční duchovní a rytířská epika </a:t>
            </a:r>
          </a:p>
          <a:p>
            <a:r>
              <a:rPr lang="cs-CZ" sz="2500" b="1" smtClean="0"/>
              <a:t>        ( legendy, rytířské eposy, vysoký styl)</a:t>
            </a:r>
          </a:p>
          <a:p>
            <a:r>
              <a:rPr lang="cs-CZ" sz="2500" b="1" smtClean="0"/>
              <a:t>      - částečně mizí drama </a:t>
            </a:r>
          </a:p>
          <a:p>
            <a:r>
              <a:rPr lang="cs-CZ" sz="2500" b="1" smtClean="0"/>
              <a:t>      - úbytek světské lyriky</a:t>
            </a:r>
          </a:p>
          <a:p>
            <a:endParaRPr lang="cs-CZ" sz="2500" b="1" smtClean="0"/>
          </a:p>
          <a:p>
            <a:r>
              <a:rPr lang="cs-CZ" sz="2500" b="1" smtClean="0">
                <a:solidFill>
                  <a:schemeClr val="accent6">
                    <a:lumMod val="50000"/>
                  </a:schemeClr>
                </a:solidFill>
              </a:rPr>
              <a:t>2. v popředí  stojí:</a:t>
            </a:r>
          </a:p>
          <a:p>
            <a:r>
              <a:rPr lang="cs-CZ" sz="2500" b="1" smtClean="0"/>
              <a:t>       - satira, satirické básnictví</a:t>
            </a:r>
          </a:p>
          <a:p>
            <a:r>
              <a:rPr lang="cs-CZ" sz="2500" b="1" smtClean="0"/>
              <a:t>       - duchovní píseň – funkce nejen modlitby, ale reaguje </a:t>
            </a:r>
          </a:p>
          <a:p>
            <a:r>
              <a:rPr lang="cs-CZ" sz="2500" b="1" smtClean="0"/>
              <a:t>         i na život, podílí se na ní lid</a:t>
            </a:r>
          </a:p>
          <a:p>
            <a:r>
              <a:rPr lang="cs-CZ" sz="2500" b="1" smtClean="0"/>
              <a:t>       - kázání – působivost živého slova, funkce agitační, informační</a:t>
            </a:r>
          </a:p>
          <a:p>
            <a:r>
              <a:rPr lang="cs-CZ" sz="2500" b="1" smtClean="0"/>
              <a:t>       - traktáty – ( z lat. slova tractatus = učené pojednání </a:t>
            </a:r>
          </a:p>
          <a:p>
            <a:r>
              <a:rPr lang="cs-CZ" sz="2500" b="1" smtClean="0"/>
              <a:t>         o náboženských a filozofických otázkách </a:t>
            </a:r>
          </a:p>
          <a:p>
            <a:r>
              <a:rPr lang="cs-CZ" sz="2500" b="1" smtClean="0"/>
              <a:t>       - postila</a:t>
            </a:r>
          </a:p>
          <a:p>
            <a:r>
              <a:rPr lang="cs-CZ" sz="2500" b="1" smtClean="0"/>
              <a:t>      </a:t>
            </a:r>
            <a:endParaRPr lang="cs-CZ" sz="2500" b="1" dirty="0" smtClean="0"/>
          </a:p>
        </p:txBody>
      </p:sp>
      <p:sp>
        <p:nvSpPr>
          <p:cNvPr id="4" name="Obdélník 3"/>
          <p:cNvSpPr/>
          <p:nvPr/>
        </p:nvSpPr>
        <p:spPr>
          <a:xfrm>
            <a:off x="815684" y="142852"/>
            <a:ext cx="7399654" cy="76944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742950" indent="-742950"/>
            <a:r>
              <a:rPr lang="cs-CZ" sz="4400" b="1" smtClean="0">
                <a:ln w="50800"/>
                <a:solidFill>
                  <a:srgbClr val="002060"/>
                </a:solidFill>
              </a:rPr>
              <a:t>2. Charakter husitské literatury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285728"/>
            <a:ext cx="892971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500" b="1" dirty="0" smtClean="0"/>
              <a:t> </a:t>
            </a:r>
            <a:r>
              <a:rPr lang="cs-CZ" sz="2500" b="1" dirty="0" smtClean="0">
                <a:solidFill>
                  <a:schemeClr val="accent6">
                    <a:lumMod val="50000"/>
                  </a:schemeClr>
                </a:solidFill>
              </a:rPr>
              <a:t>3. poměr české a latinské tvorby</a:t>
            </a:r>
          </a:p>
          <a:p>
            <a:r>
              <a:rPr lang="cs-CZ" sz="2500" b="1" dirty="0" smtClean="0"/>
              <a:t>     - převažuje čeština</a:t>
            </a:r>
          </a:p>
          <a:p>
            <a:r>
              <a:rPr lang="cs-CZ" sz="2500" b="1" dirty="0" smtClean="0"/>
              <a:t>     - mizí dvojjazyčnost</a:t>
            </a:r>
          </a:p>
          <a:p>
            <a:r>
              <a:rPr lang="cs-CZ" sz="2500" b="1" dirty="0" smtClean="0"/>
              <a:t>     - latina je užívána  tehdy, když se husité obracejí </a:t>
            </a:r>
          </a:p>
          <a:p>
            <a:r>
              <a:rPr lang="cs-CZ" sz="2500" b="1" dirty="0" smtClean="0"/>
              <a:t>       mezinárodnímu publiku</a:t>
            </a:r>
          </a:p>
          <a:p>
            <a:r>
              <a:rPr lang="cs-CZ" sz="2500" b="1" dirty="0" smtClean="0"/>
              <a:t>     - úbytek </a:t>
            </a:r>
            <a:r>
              <a:rPr lang="cs-CZ" sz="2500" b="1" dirty="0" smtClean="0"/>
              <a:t>latinských </a:t>
            </a:r>
            <a:r>
              <a:rPr lang="cs-CZ" sz="2500" b="1" dirty="0" smtClean="0"/>
              <a:t>škol</a:t>
            </a:r>
          </a:p>
          <a:p>
            <a:endParaRPr lang="cs-CZ" sz="25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cs-CZ" sz="2500" b="1" dirty="0" smtClean="0">
                <a:solidFill>
                  <a:schemeClr val="accent6">
                    <a:lumMod val="50000"/>
                  </a:schemeClr>
                </a:solidFill>
              </a:rPr>
              <a:t>4. postavení spisovatelů ve společnosti se mění </a:t>
            </a:r>
          </a:p>
          <a:p>
            <a:r>
              <a:rPr lang="cs-CZ" sz="2500" b="1" dirty="0" smtClean="0"/>
              <a:t>     - mizí zábavná literatura</a:t>
            </a:r>
          </a:p>
          <a:p>
            <a:r>
              <a:rPr lang="cs-CZ" sz="2500" b="1" dirty="0" smtClean="0"/>
              <a:t>     - nejsou mecenáši, na které byli odkázáni</a:t>
            </a:r>
          </a:p>
          <a:p>
            <a:pPr marL="457200" indent="-457200"/>
            <a:endParaRPr lang="cs-CZ" sz="2500" b="1" dirty="0" smtClean="0"/>
          </a:p>
          <a:p>
            <a:pPr marL="457200" indent="-457200"/>
            <a:r>
              <a:rPr lang="cs-CZ" sz="2500" b="1" dirty="0" smtClean="0">
                <a:solidFill>
                  <a:schemeClr val="accent6">
                    <a:lumMod val="50000"/>
                  </a:schemeClr>
                </a:solidFill>
              </a:rPr>
              <a:t>5. lidová tvořivost</a:t>
            </a:r>
          </a:p>
          <a:p>
            <a:pPr marL="457200" indent="-457200"/>
            <a:r>
              <a:rPr lang="cs-CZ" sz="2500" b="1" dirty="0" smtClean="0"/>
              <a:t>    - převládá prostá forma</a:t>
            </a:r>
          </a:p>
          <a:p>
            <a:pPr marL="457200" indent="-457200"/>
            <a:r>
              <a:rPr lang="cs-CZ" sz="2500" b="1" dirty="0" smtClean="0"/>
              <a:t>    - srozumitelnost</a:t>
            </a:r>
          </a:p>
          <a:p>
            <a:pPr marL="457200" indent="-457200"/>
            <a:r>
              <a:rPr lang="cs-CZ" sz="2500" b="1" dirty="0" smtClean="0"/>
              <a:t>    = literatura je určena pro nejširší lidové vrstvy</a:t>
            </a:r>
          </a:p>
          <a:p>
            <a:pPr marL="457200" indent="-457200"/>
            <a:endParaRPr lang="cs-CZ" sz="25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1214414" y="214290"/>
            <a:ext cx="6182911" cy="175432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914400" indent="-914400"/>
            <a:r>
              <a:rPr lang="cs-CZ" sz="5400" b="1" smtClean="0">
                <a:ln w="50800"/>
                <a:solidFill>
                  <a:srgbClr val="002060"/>
                </a:solidFill>
              </a:rPr>
              <a:t>3. Husovi předchůdci</a:t>
            </a:r>
          </a:p>
          <a:p>
            <a:pPr marL="914400" indent="-914400"/>
            <a:r>
              <a:rPr lang="cs-CZ" sz="5400" b="1" smtClean="0">
                <a:ln w="50800"/>
                <a:solidFill>
                  <a:srgbClr val="002060"/>
                </a:solidFill>
              </a:rPr>
              <a:t>      </a:t>
            </a:r>
          </a:p>
        </p:txBody>
      </p:sp>
      <p:sp>
        <p:nvSpPr>
          <p:cNvPr id="25" name="TextovéPole 24"/>
          <p:cNvSpPr txBox="1"/>
          <p:nvPr/>
        </p:nvSpPr>
        <p:spPr>
          <a:xfrm>
            <a:off x="285720" y="1500174"/>
            <a:ext cx="8643998" cy="397031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2800" dirty="0" smtClean="0"/>
              <a:t>Většinou velmi </a:t>
            </a:r>
            <a:r>
              <a:rPr lang="cs-CZ" sz="2800" b="1" dirty="0" smtClean="0"/>
              <a:t>vzdělaní kazatelé </a:t>
            </a:r>
            <a:r>
              <a:rPr lang="cs-CZ" sz="2800" dirty="0" smtClean="0"/>
              <a:t>, kteří </a:t>
            </a:r>
            <a:r>
              <a:rPr lang="cs-CZ" sz="2800" b="1" dirty="0" smtClean="0"/>
              <a:t>usilují </a:t>
            </a:r>
          </a:p>
          <a:p>
            <a:pPr algn="ctr"/>
            <a:r>
              <a:rPr lang="cs-CZ" sz="2800" b="1" dirty="0" smtClean="0"/>
              <a:t>o náboženskou reformu</a:t>
            </a:r>
            <a:r>
              <a:rPr lang="cs-CZ" sz="2800" dirty="0" smtClean="0"/>
              <a:t>. Ti, kteří psali jen německy, měli menší ohlas. Někteří se vzdali svého výhodného postavení a žili v chudobě. Důležití byli i teologové působící na pražské univerzitě, kteří měli vliv na </a:t>
            </a:r>
            <a:r>
              <a:rPr lang="cs-CZ" sz="2800" b="1" i="1" dirty="0" smtClean="0"/>
              <a:t>Jana Husa</a:t>
            </a:r>
            <a:r>
              <a:rPr lang="cs-CZ" sz="2800" dirty="0" smtClean="0"/>
              <a:t> a ostatní </a:t>
            </a:r>
            <a:r>
              <a:rPr lang="cs-CZ" sz="2800" b="1" i="1" dirty="0" smtClean="0"/>
              <a:t>venkovské</a:t>
            </a:r>
            <a:r>
              <a:rPr lang="cs-CZ" sz="2800" dirty="0" smtClean="0"/>
              <a:t> kazatele. Někteří z nich zastávali důležitý názor, že </a:t>
            </a:r>
            <a:r>
              <a:rPr lang="cs-CZ" sz="2800" b="1" dirty="0" smtClean="0"/>
              <a:t>lid má právo na poučení o teologických otázkách </a:t>
            </a:r>
            <a:r>
              <a:rPr lang="cs-CZ" sz="2800" b="1" dirty="0" smtClean="0"/>
              <a:t>                  v </a:t>
            </a:r>
            <a:r>
              <a:rPr lang="cs-CZ" sz="2800" b="1" dirty="0" smtClean="0"/>
              <a:t>mateřském jazyce.</a:t>
            </a:r>
          </a:p>
          <a:p>
            <a:pPr algn="ctr"/>
            <a:endParaRPr lang="cs-CZ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1000108"/>
            <a:ext cx="821537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povolán Karlem IV. z Německa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/>
              <a:t>kazatel německého patriciátu </a:t>
            </a:r>
            <a:r>
              <a:rPr lang="cs-CZ" sz="2800" smtClean="0"/>
              <a:t>a univerzitních mistrů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píše a káže latinsky a německy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kázal v kostele sv. Havla, později v Týnském chrámu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kritizoval svatokupectví a život kněží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obžalován z kacířství = cesta do Říma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žaloba zrušena, ale po cestě zemřel</a:t>
            </a:r>
          </a:p>
        </p:txBody>
      </p:sp>
      <p:sp>
        <p:nvSpPr>
          <p:cNvPr id="4" name="Obdélník 3"/>
          <p:cNvSpPr/>
          <p:nvPr/>
        </p:nvSpPr>
        <p:spPr>
          <a:xfrm>
            <a:off x="500034" y="149346"/>
            <a:ext cx="8073429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chemeClr val="accent6">
                    <a:lumMod val="50000"/>
                  </a:schemeClr>
                </a:solidFill>
              </a:rPr>
              <a:t>Konrád Waldhauser ( asi 1326 - 1369)</a:t>
            </a:r>
          </a:p>
        </p:txBody>
      </p:sp>
      <p:pic>
        <p:nvPicPr>
          <p:cNvPr id="2050" name="Picture 2" descr="http://knihynainternetu.cz/foto2/00561256614_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12" y="2747983"/>
            <a:ext cx="2533650" cy="3609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142844" y="1285860"/>
            <a:ext cx="90726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/>
              <a:t>český katolický kněz</a:t>
            </a:r>
            <a:r>
              <a:rPr lang="cs-CZ" sz="2800" smtClean="0"/>
              <a:t>, zakázaný  kazatel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studoval v Paříži na Sorbonně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píše </a:t>
            </a:r>
            <a:r>
              <a:rPr lang="cs-CZ" sz="2800" dirty="0" smtClean="0"/>
              <a:t>a </a:t>
            </a:r>
            <a:r>
              <a:rPr lang="cs-CZ" sz="2800" smtClean="0"/>
              <a:t>káže latinsky = neměl takový úspěch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ale husitství čerpá z jeho myšlenek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v díle  bojuje </a:t>
            </a:r>
            <a:r>
              <a:rPr lang="cs-CZ" sz="2800" dirty="0" smtClean="0"/>
              <a:t>proti </a:t>
            </a:r>
            <a:r>
              <a:rPr lang="cs-CZ" sz="2800" smtClean="0"/>
              <a:t>nešvarům společnosti a církve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Pravidla Starého a Nového zákona </a:t>
            </a:r>
            <a:r>
              <a:rPr lang="cs-CZ" sz="2800" smtClean="0"/>
              <a:t>- požaduje návrat</a:t>
            </a:r>
          </a:p>
          <a:p>
            <a:r>
              <a:rPr lang="cs-CZ" sz="2800" smtClean="0"/>
              <a:t>   k ideálům prvotní apoštolské církve, proti sobě staví </a:t>
            </a:r>
          </a:p>
          <a:p>
            <a:r>
              <a:rPr lang="cs-CZ" sz="2800" smtClean="0"/>
              <a:t>   dvě křesťanství – </a:t>
            </a:r>
            <a:r>
              <a:rPr lang="cs-CZ" sz="2800" b="1" i="1" smtClean="0"/>
              <a:t>křesťanství pravé </a:t>
            </a:r>
            <a:r>
              <a:rPr lang="cs-CZ" sz="2800" smtClean="0"/>
              <a:t>( v souladu</a:t>
            </a:r>
          </a:p>
          <a:p>
            <a:r>
              <a:rPr lang="cs-CZ" sz="2800" smtClean="0"/>
              <a:t>   s učením Kristovým) a </a:t>
            </a:r>
            <a:r>
              <a:rPr lang="cs-CZ" sz="2800" b="1" i="1" smtClean="0"/>
              <a:t>křesťanství nepravé </a:t>
            </a:r>
            <a:r>
              <a:rPr lang="cs-CZ" sz="2800" smtClean="0"/>
              <a:t>(symbolizované</a:t>
            </a:r>
          </a:p>
          <a:p>
            <a:r>
              <a:rPr lang="cs-CZ" sz="2800" smtClean="0"/>
              <a:t>   Antikristem, lpění na všem světském a povrchním)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/>
              <a:t>zlo viděl ve společenském systému</a:t>
            </a:r>
          </a:p>
          <a:p>
            <a:endParaRPr lang="cs-CZ" sz="2800" dirty="0"/>
          </a:p>
        </p:txBody>
      </p:sp>
      <p:sp>
        <p:nvSpPr>
          <p:cNvPr id="5" name="Obdélník 4"/>
          <p:cNvSpPr/>
          <p:nvPr/>
        </p:nvSpPr>
        <p:spPr>
          <a:xfrm>
            <a:off x="142844" y="142852"/>
            <a:ext cx="7153753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Matěj z Janova ( asi 1350 – 1393)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357158" y="142852"/>
            <a:ext cx="83582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Výbor z Pravidel Starého a Nového zákona </a:t>
            </a:r>
          </a:p>
          <a:p>
            <a:r>
              <a:rPr lang="cs-CZ" sz="2800" smtClean="0"/>
              <a:t>   - proti uctívání obrazů a soch svatých, častější přijímání</a:t>
            </a:r>
          </a:p>
          <a:p>
            <a:r>
              <a:rPr lang="cs-CZ" sz="2800" smtClean="0"/>
              <a:t>     eucharistie laiky = vliv na  husitskou reformaci </a:t>
            </a:r>
          </a:p>
          <a:p>
            <a:r>
              <a:rPr lang="cs-CZ" sz="2800" smtClean="0"/>
              <a:t>    (stoupenci kalicha, např. Jakoubek ze Stříbra)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za své názory souzen</a:t>
            </a:r>
            <a:r>
              <a:rPr lang="cs-CZ" sz="2800" smtClean="0"/>
              <a:t> arcibiskupským soudem,</a:t>
            </a:r>
          </a:p>
          <a:p>
            <a:r>
              <a:rPr lang="cs-CZ" sz="2800" smtClean="0"/>
              <a:t>   vyšetřován z kacířství, </a:t>
            </a:r>
            <a:r>
              <a:rPr lang="cs-CZ" sz="2800" b="1" smtClean="0"/>
              <a:t>donucen své učení odvolat.</a:t>
            </a:r>
            <a:r>
              <a:rPr lang="cs-CZ" sz="2800" smtClean="0"/>
              <a:t>  </a:t>
            </a:r>
            <a:endParaRPr lang="cs-CZ" sz="2800"/>
          </a:p>
        </p:txBody>
      </p:sp>
      <p:pic>
        <p:nvPicPr>
          <p:cNvPr id="3" name="Picture 4" descr="http://www.knihynainternetu.cz/foto2/00561256769_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02" y="2857496"/>
            <a:ext cx="2533650" cy="3762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949844"/>
            <a:ext cx="828680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byl </a:t>
            </a:r>
            <a:r>
              <a:rPr lang="cs-CZ" sz="2800" b="1" i="1" smtClean="0"/>
              <a:t>nejradikálnější</a:t>
            </a:r>
            <a:r>
              <a:rPr lang="cs-CZ" sz="2800" smtClean="0"/>
              <a:t> český kazatel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/>
              <a:t>kázal pro chudinu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žáci vytvořili </a:t>
            </a:r>
            <a:r>
              <a:rPr lang="cs-CZ" sz="2800" b="1" i="1" smtClean="0"/>
              <a:t>středisko českého</a:t>
            </a:r>
          </a:p>
          <a:p>
            <a:r>
              <a:rPr lang="cs-CZ" sz="2800" b="1" i="1" smtClean="0"/>
              <a:t>  kazatelství v Betlémské kapli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pracoval v královské kanceláři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zřekl se svého bohatství</a:t>
            </a:r>
          </a:p>
          <a:p>
            <a:r>
              <a:rPr lang="cs-CZ" sz="2800" smtClean="0"/>
              <a:t>   = žil v chudobě (tzv. asketismus)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Karla IV. označil za Antikrista</a:t>
            </a:r>
          </a:p>
          <a:p>
            <a:r>
              <a:rPr lang="cs-CZ" sz="2800" smtClean="0"/>
              <a:t>  = 1366 uvězněn</a:t>
            </a:r>
          </a:p>
          <a:p>
            <a:pPr>
              <a:buFont typeface="Arial" pitchFamily="34" charset="0"/>
              <a:buChar char="•"/>
            </a:pPr>
            <a:r>
              <a:rPr lang="cs-CZ" sz="2800" smtClean="0"/>
              <a:t> pochován ve Francii (Avignon)</a:t>
            </a:r>
          </a:p>
          <a:p>
            <a:pPr>
              <a:buFont typeface="Arial" pitchFamily="34" charset="0"/>
              <a:buChar char="•"/>
            </a:pPr>
            <a:r>
              <a:rPr lang="cs-CZ" sz="2800" smtClean="0"/>
              <a:t> jeho odkaz rozvinul jeho žák </a:t>
            </a:r>
          </a:p>
          <a:p>
            <a:r>
              <a:rPr lang="cs-CZ" sz="2800" smtClean="0"/>
              <a:t>  Tomáš ze Štítného</a:t>
            </a:r>
          </a:p>
          <a:p>
            <a:pPr>
              <a:buFont typeface="Arial" pitchFamily="34" charset="0"/>
              <a:buChar char="•"/>
            </a:pPr>
            <a:endParaRPr lang="cs-CZ" sz="2800"/>
          </a:p>
        </p:txBody>
      </p:sp>
      <p:sp>
        <p:nvSpPr>
          <p:cNvPr id="5" name="Obdélník 4"/>
          <p:cNvSpPr/>
          <p:nvPr/>
        </p:nvSpPr>
        <p:spPr>
          <a:xfrm>
            <a:off x="5643570" y="5929330"/>
            <a:ext cx="3286148" cy="40011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b="1" i="1" smtClean="0"/>
              <a:t>Postila  Milíče z Kroměříže </a:t>
            </a:r>
            <a:endParaRPr lang="cs-CZ" sz="2000" b="1" i="1"/>
          </a:p>
        </p:txBody>
      </p:sp>
      <p:pic>
        <p:nvPicPr>
          <p:cNvPr id="58372" name="Picture 4" descr="http://knihovna.nkp.cz/knihovna72/obrazky/72014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6" y="1285860"/>
            <a:ext cx="3408059" cy="4500594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214282" y="71414"/>
            <a:ext cx="8858387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Jan Milíč z Kroměříže (kolem 1320 – 1374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ubor:Jan Milíč z Kroměříž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357166"/>
            <a:ext cx="7620000" cy="571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2571736" y="6201811"/>
            <a:ext cx="389523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3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Památník v Kroměříži </a:t>
            </a:r>
            <a:endParaRPr lang="cs-CZ" sz="32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oubor:Betlemska kapl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285728"/>
            <a:ext cx="5072098" cy="38040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214282" y="4214818"/>
            <a:ext cx="8572560" cy="2308324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i="1" smtClean="0"/>
              <a:t>Kaple na pražském Starém Městě</a:t>
            </a:r>
          </a:p>
          <a:p>
            <a:r>
              <a:rPr lang="cs-CZ" sz="2400" i="1" smtClean="0"/>
              <a:t>Původní kaple  byla postavena roku </a:t>
            </a:r>
            <a:r>
              <a:rPr lang="cs-CZ" sz="2400" b="1" smtClean="0"/>
              <a:t>1391</a:t>
            </a:r>
            <a:r>
              <a:rPr lang="cs-CZ" sz="2400" i="1" smtClean="0"/>
              <a:t> a byla určena pro česká kázání. Kázal zde Mistr Jan Hus a další husitští kněží.  </a:t>
            </a:r>
            <a:r>
              <a:rPr lang="cs-CZ" sz="2400" b="1" i="1" smtClean="0"/>
              <a:t>1786 byla  zbořena. </a:t>
            </a:r>
            <a:r>
              <a:rPr lang="cs-CZ" sz="2400" i="1" smtClean="0"/>
              <a:t>Znovu vybudována v 50. letech 20. století jako památník husitského hnutí. Obnovená kaple slouží také jako slavnostní aula Českého vysokého učení technického v Praze.</a:t>
            </a:r>
            <a:endParaRPr lang="cs-CZ" sz="2400" i="1"/>
          </a:p>
        </p:txBody>
      </p:sp>
      <p:sp>
        <p:nvSpPr>
          <p:cNvPr id="4" name="Obdélník 3"/>
          <p:cNvSpPr/>
          <p:nvPr/>
        </p:nvSpPr>
        <p:spPr>
          <a:xfrm>
            <a:off x="5500694" y="214290"/>
            <a:ext cx="3789755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Betlémská kaple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50" y="606204"/>
            <a:ext cx="892975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600" smtClean="0"/>
              <a:t> </a:t>
            </a:r>
            <a:r>
              <a:rPr lang="cs-CZ" sz="2600" i="1" smtClean="0"/>
              <a:t>laik (bez teologického vzdělání)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zchudlý šlechtic, zeman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studia na univerzitě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1381 se odstěhoval do Prahy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vliv Waldhausera a Milíče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původně psal pro své děti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</a:t>
            </a:r>
            <a:r>
              <a:rPr lang="cs-CZ" sz="2600" b="1" i="1" smtClean="0"/>
              <a:t>píše dokonalou češtinou, srozumitelné,</a:t>
            </a:r>
          </a:p>
          <a:p>
            <a:r>
              <a:rPr lang="cs-CZ" sz="2600" b="1" i="1" smtClean="0"/>
              <a:t>   věcné vyjadřování 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</a:t>
            </a:r>
            <a:r>
              <a:rPr lang="cs-CZ" sz="2600" b="1" i="1" smtClean="0"/>
              <a:t>1.klasik české naučné prózy </a:t>
            </a:r>
          </a:p>
          <a:p>
            <a:pPr>
              <a:buFont typeface="Wingdings" pitchFamily="2" charset="2"/>
              <a:buChar char="§"/>
            </a:pPr>
            <a:r>
              <a:rPr lang="cs-CZ" sz="2600" i="1" smtClean="0"/>
              <a:t> uvedl češtinu</a:t>
            </a:r>
            <a:r>
              <a:rPr lang="cs-CZ" sz="2600" smtClean="0"/>
              <a:t> </a:t>
            </a:r>
            <a:r>
              <a:rPr lang="cs-CZ" sz="2600" i="1" smtClean="0"/>
              <a:t>do teologické literatury</a:t>
            </a:r>
            <a:endParaRPr lang="cs-CZ" sz="2600" smtClean="0"/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zpřístupnil vzdělanost širšímu okruhu čtenářů</a:t>
            </a:r>
          </a:p>
          <a:p>
            <a:pPr>
              <a:buFont typeface="Wingdings" pitchFamily="2" charset="2"/>
              <a:buChar char="§"/>
            </a:pPr>
            <a:r>
              <a:rPr lang="cs-CZ" sz="2600" smtClean="0"/>
              <a:t> domníval se, že </a:t>
            </a:r>
            <a:r>
              <a:rPr lang="cs-CZ" sz="2600" b="1" i="1" smtClean="0"/>
              <a:t>feudální řád je dílem božím </a:t>
            </a:r>
            <a:r>
              <a:rPr lang="cs-CZ" sz="2600" smtClean="0"/>
              <a:t>= nelze ho</a:t>
            </a:r>
          </a:p>
          <a:p>
            <a:r>
              <a:rPr lang="cs-CZ" sz="2600" smtClean="0"/>
              <a:t>   změnit = usiloval jen o zharmonizování a nápravu </a:t>
            </a:r>
          </a:p>
          <a:p>
            <a:r>
              <a:rPr lang="cs-CZ" sz="2600" smtClean="0"/>
              <a:t>   feudální společnosti = </a:t>
            </a:r>
            <a:r>
              <a:rPr lang="cs-CZ" sz="2600" b="1" smtClean="0"/>
              <a:t>jeho učení se tak nemohlo stát </a:t>
            </a:r>
          </a:p>
          <a:p>
            <a:r>
              <a:rPr lang="cs-CZ" sz="2600" b="1" smtClean="0"/>
              <a:t>   východiskem pro husitské revoluční hnutí</a:t>
            </a:r>
          </a:p>
        </p:txBody>
      </p:sp>
      <p:sp>
        <p:nvSpPr>
          <p:cNvPr id="3" name="Obdélník 2"/>
          <p:cNvSpPr/>
          <p:nvPr/>
        </p:nvSpPr>
        <p:spPr>
          <a:xfrm>
            <a:off x="586832" y="-24"/>
            <a:ext cx="8128572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chemeClr val="accent6">
                    <a:lumMod val="50000"/>
                  </a:schemeClr>
                </a:solidFill>
              </a:rPr>
              <a:t>Tomáš Štítný ze Štítného ( 1333 -1409</a:t>
            </a:r>
          </a:p>
        </p:txBody>
      </p:sp>
      <p:pic>
        <p:nvPicPr>
          <p:cNvPr id="69634" name="Picture 2" descr="http://upload.wikimedia.org/wikipedia/commons/thumb/1/10/Tomas_Stitny_ze_Stitneho_relief.jpg/220px-Tomas_Stitny_ze_Stitneho_relie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825" y="785794"/>
            <a:ext cx="2467415" cy="3286148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6643702" y="4143380"/>
            <a:ext cx="2286016" cy="64633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b="1" i="1" smtClean="0"/>
              <a:t>Reliéf na Masarykově</a:t>
            </a:r>
          </a:p>
          <a:p>
            <a:r>
              <a:rPr lang="cs-CZ" b="1" i="1" smtClean="0"/>
              <a:t>škole v Prostějově</a:t>
            </a:r>
            <a:endParaRPr lang="cs-CZ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3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1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Soubor:Jan Vilímek - Tomáš Štítný ze Štítného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2571744"/>
            <a:ext cx="2857520" cy="3735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2" name="Obdélník 1"/>
          <p:cNvSpPr/>
          <p:nvPr/>
        </p:nvSpPr>
        <p:spPr>
          <a:xfrm>
            <a:off x="214282" y="1000108"/>
            <a:ext cx="892971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smtClean="0"/>
              <a:t>sborníky traktátů ( pojednání):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Knížky šestery o obecných věcech křesťanských ( 1376)</a:t>
            </a:r>
            <a:r>
              <a:rPr lang="cs-CZ" sz="280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r>
              <a:rPr lang="cs-CZ" sz="2800" smtClean="0"/>
              <a:t>  (o dokonalém životě)- traktáty o denních potřebách</a:t>
            </a:r>
          </a:p>
          <a:p>
            <a:r>
              <a:rPr lang="cs-CZ" sz="3200" smtClean="0"/>
              <a:t>  (traktát o hospodáři, hospodyni aj.)</a:t>
            </a:r>
            <a:r>
              <a:rPr lang="cs-CZ" sz="2800" b="1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Řeči besední</a:t>
            </a:r>
            <a:r>
              <a:rPr lang="cs-CZ" sz="280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cs-CZ" sz="2800" smtClean="0"/>
              <a:t>- o základech věrouky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Řeči sváteční a nedělní</a:t>
            </a:r>
            <a:r>
              <a:rPr lang="cs-CZ" sz="280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r>
              <a:rPr lang="cs-CZ" sz="2800" smtClean="0"/>
              <a:t>  (výklad částí evangelia) 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Řeči sváteční a nedělní z rok do roka</a:t>
            </a:r>
            <a:endParaRPr lang="cs-CZ" sz="280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FontTx/>
              <a:buChar char="-"/>
            </a:pPr>
            <a:r>
              <a:rPr lang="cs-CZ" sz="2800" smtClean="0"/>
              <a:t> krátká pojednání určená k besedování </a:t>
            </a:r>
          </a:p>
          <a:p>
            <a:r>
              <a:rPr lang="cs-CZ" sz="2800" smtClean="0"/>
              <a:t>  o náboženských otázkách s těmi, </a:t>
            </a:r>
          </a:p>
          <a:p>
            <a:r>
              <a:rPr lang="cs-CZ" sz="2800" smtClean="0"/>
              <a:t>  kteří nemohou chodit do kostela</a:t>
            </a:r>
            <a:r>
              <a:rPr lang="cs-CZ" sz="2800" b="1" u="sng" smtClean="0"/>
              <a:t> </a:t>
            </a:r>
            <a:endParaRPr lang="cs-CZ" sz="2800"/>
          </a:p>
        </p:txBody>
      </p:sp>
      <p:sp>
        <p:nvSpPr>
          <p:cNvPr id="4" name="Obdélník 3"/>
          <p:cNvSpPr/>
          <p:nvPr/>
        </p:nvSpPr>
        <p:spPr>
          <a:xfrm>
            <a:off x="1857356" y="357166"/>
            <a:ext cx="4811510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chemeClr val="accent6">
                    <a:lumMod val="50000"/>
                  </a:schemeClr>
                </a:solidFill>
              </a:rPr>
              <a:t>Dílo Tomáše Štítného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islý svitek 3"/>
          <p:cNvSpPr/>
          <p:nvPr/>
        </p:nvSpPr>
        <p:spPr>
          <a:xfrm>
            <a:off x="2500298" y="1357298"/>
            <a:ext cx="6643702" cy="5214974"/>
          </a:xfrm>
          <a:prstGeom prst="verticalScroll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3286116" y="2177703"/>
            <a:ext cx="5429288" cy="410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29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„H</a:t>
            </a:r>
            <a:r>
              <a:rPr kumimoji="0" lang="cs-CZ" sz="2900" b="1" i="1" u="none" strike="noStrike" normalizeH="0" baseline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ledaj pravdy, slyš pravdu, uč sě pravdě,miluj pravdu, prav pravdu,drž pravdu,</a:t>
            </a:r>
            <a:r>
              <a:rPr lang="cs-CZ" sz="29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cs-CZ" sz="2900" b="1" i="1" u="none" strike="noStrike" normalizeH="0" baseline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braň pravdy až</a:t>
            </a:r>
            <a:r>
              <a:rPr kumimoji="0" lang="cs-CZ" sz="2900" b="1" i="1" u="none" strike="noStrike" normalizeH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cs-CZ" sz="2900" b="1" i="1" u="none" strike="noStrike" normalizeH="0" baseline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do smrti: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29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nebť pravda tě vysvobodí od hřiecha, od ďábla, od smrti dušě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29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 konečně od smrti věčné, jenž jest odlúčenie věčné od milosti Božie.</a:t>
            </a:r>
            <a:r>
              <a:rPr lang="cs-CZ" sz="29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itchFamily="34" charset="0"/>
                <a:ea typeface="Times New Roman" pitchFamily="18" charset="0"/>
                <a:cs typeface="Arial" pitchFamily="34" charset="0"/>
              </a:rPr>
              <a:t>“</a:t>
            </a:r>
            <a:endParaRPr kumimoji="0" lang="cs-CZ" sz="2900" b="1" i="1" u="none" strike="noStrike" normalizeH="0" baseline="0" smtClean="0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71683" name="Picture 3" descr="http://www.quido.cz/osobnosti/images/hu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428736"/>
            <a:ext cx="2811182" cy="2857520"/>
          </a:xfrm>
          <a:prstGeom prst="ellipse">
            <a:avLst/>
          </a:prstGeom>
          <a:ln w="190500" cap="rnd">
            <a:solidFill>
              <a:schemeClr val="accent6">
                <a:lumMod val="50000"/>
              </a:schemeClr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Obdélník 4"/>
          <p:cNvSpPr/>
          <p:nvPr/>
        </p:nvSpPr>
        <p:spPr>
          <a:xfrm>
            <a:off x="278816" y="-71462"/>
            <a:ext cx="8365150" cy="135421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5400" b="1" smtClean="0">
                <a:ln w="50800"/>
                <a:solidFill>
                  <a:schemeClr val="bg1">
                    <a:shade val="50000"/>
                  </a:schemeClr>
                </a:solidFill>
              </a:rPr>
              <a:t>                </a:t>
            </a:r>
            <a:r>
              <a:rPr lang="cs-CZ" sz="5400" b="1" smtClean="0">
                <a:ln w="50800"/>
                <a:solidFill>
                  <a:srgbClr val="002060"/>
                </a:solidFill>
              </a:rPr>
              <a:t>4. Jan Hus</a:t>
            </a:r>
          </a:p>
          <a:p>
            <a:r>
              <a:rPr lang="cs-CZ" sz="2800" b="1" smtClean="0">
                <a:ln w="50800"/>
                <a:solidFill>
                  <a:srgbClr val="002060"/>
                </a:solidFill>
              </a:rPr>
              <a:t>(asi *1370  Husinec u Prachatic – †6. 7.1415  Kostnice)</a:t>
            </a:r>
            <a:endParaRPr lang="cs-CZ" sz="2800" b="1">
              <a:ln w="50800"/>
              <a:solidFill>
                <a:srgbClr val="002060"/>
              </a:solidFill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6286512" y="6072206"/>
            <a:ext cx="1775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cs-CZ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(Výklad viery…)</a:t>
            </a:r>
            <a:r>
              <a:rPr lang="cs-CZ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1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1681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oubor:Jan Vilímek - Mistr Jan Hus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42" y="214290"/>
            <a:ext cx="2928958" cy="40055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Obdélník 3"/>
          <p:cNvSpPr/>
          <p:nvPr/>
        </p:nvSpPr>
        <p:spPr>
          <a:xfrm>
            <a:off x="214282" y="488037"/>
            <a:ext cx="7997317" cy="7155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700" smtClean="0"/>
              <a:t> z chudé rodiny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vystudoval pražskou KU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</a:t>
            </a:r>
            <a:r>
              <a:rPr lang="cs-CZ" sz="2700" b="1" i="1" smtClean="0"/>
              <a:t>univerzitní mistr (1396), pak rektor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vysvěcen na </a:t>
            </a:r>
            <a:r>
              <a:rPr lang="cs-CZ" sz="2700" b="1" i="1" smtClean="0"/>
              <a:t>kněze</a:t>
            </a:r>
            <a:r>
              <a:rPr lang="cs-CZ" sz="2700" smtClean="0"/>
              <a:t> (1400)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</a:t>
            </a:r>
            <a:r>
              <a:rPr lang="cs-CZ" sz="2700" b="1" i="1" smtClean="0"/>
              <a:t>kazatel v Betlémské kapli </a:t>
            </a:r>
            <a:r>
              <a:rPr lang="cs-CZ" sz="2700" smtClean="0"/>
              <a:t>od r. 1402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oblíbenec krále Václava IV. a jeho ženy Žofie</a:t>
            </a:r>
          </a:p>
          <a:p>
            <a:r>
              <a:rPr lang="cs-CZ" sz="2700" smtClean="0"/>
              <a:t>   =  dokud kázal jen proti církvi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</a:t>
            </a:r>
            <a:r>
              <a:rPr lang="cs-CZ" sz="2700" b="1" i="1" smtClean="0"/>
              <a:t>1409 vydán Kutnohorský dekret </a:t>
            </a:r>
          </a:p>
          <a:p>
            <a:r>
              <a:rPr lang="cs-CZ" sz="2700" smtClean="0"/>
              <a:t>   =  omezen vliv cizinců na pražské univerzitě (3:1) 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</a:t>
            </a:r>
            <a:r>
              <a:rPr lang="cs-CZ" sz="2700" b="1" i="1" smtClean="0"/>
              <a:t>pro církev psal latinsky</a:t>
            </a:r>
          </a:p>
          <a:p>
            <a:r>
              <a:rPr lang="cs-CZ" sz="2700" b="1" i="1" smtClean="0"/>
              <a:t>   pro prostý lid česky </a:t>
            </a:r>
            <a:r>
              <a:rPr lang="cs-CZ" sz="2700" smtClean="0"/>
              <a:t>– přístupný jazyk, jasná kompozice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urychlil vyvrcholení odporu proti církvi</a:t>
            </a:r>
          </a:p>
          <a:p>
            <a:pPr>
              <a:buFont typeface="Wingdings" pitchFamily="2" charset="2"/>
              <a:buChar char="§"/>
            </a:pPr>
            <a:r>
              <a:rPr lang="cs-CZ" sz="2700" smtClean="0"/>
              <a:t> odhaloval příčiny společenských nedostatků</a:t>
            </a:r>
          </a:p>
          <a:p>
            <a:r>
              <a:rPr lang="cs-CZ" sz="2700" smtClean="0"/>
              <a:t> </a:t>
            </a:r>
          </a:p>
          <a:p>
            <a:r>
              <a:rPr lang="cs-CZ" sz="2700" smtClean="0"/>
              <a:t> </a:t>
            </a:r>
          </a:p>
          <a:p>
            <a:endParaRPr lang="cs-CZ" sz="2700" smtClean="0"/>
          </a:p>
          <a:p>
            <a:endParaRPr lang="cs-CZ" sz="2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http://www.feudum.eu/pic/hus_p_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12" y="935021"/>
            <a:ext cx="9131788" cy="5922979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1571604" y="149346"/>
            <a:ext cx="5804089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Rodný dům Husa v Husinci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ites.google.com/site/pikasek/_/rsrc/1258729272281/jan-hus-husinec/Husinec%20Husova%20sv%C4%9Btni%C4%8Dka.jpg?height=300&amp;width=4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285728"/>
            <a:ext cx="4286280" cy="32147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206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http://sites.google.com/site/pikasek/_/rsrc/1258641052783/jan-hus-husinec/Husinec%20rodn%C3%BD%20domek.jpg?height=300&amp;width=4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3071810"/>
            <a:ext cx="4476781" cy="3357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0" name="Picture 6" descr="http://img3.ct24.cz/multimedia/images/10/971/small/9702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57818" y="500042"/>
            <a:ext cx="3226232" cy="2000264"/>
          </a:xfrm>
          <a:prstGeom prst="rect">
            <a:avLst/>
          </a:prstGeom>
          <a:noFill/>
        </p:spPr>
      </p:pic>
      <p:pic>
        <p:nvPicPr>
          <p:cNvPr id="1034" name="Picture 10" descr="http://www.melcer.biz/img/pohledy/images_big/1752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282" y="3929066"/>
            <a:ext cx="3790950" cy="2352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aoblený obdélník 3"/>
          <p:cNvSpPr/>
          <p:nvPr/>
        </p:nvSpPr>
        <p:spPr>
          <a:xfrm>
            <a:off x="214282" y="714356"/>
            <a:ext cx="8715436" cy="571504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428628" y="1097238"/>
            <a:ext cx="878684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800" b="1" i="1" smtClean="0">
                <a:solidFill>
                  <a:schemeClr val="bg1"/>
                </a:solidFill>
              </a:rPr>
              <a:t>Tak jako hejno krkavců snesli se na tuto zemi, aby vyklovali každé zrnko zlata a stříbra. Nemají slitování. Jejich srdce zjedovatěla touhou po bohatství. Se vším kupčí, všechno prodávají. Chceš pokřtít dítě? Zaplať! 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Chceš loupit a vraždit? Zaplať a bude ti odpuštěno. Ale pak, kdyby sám ďábel zaplatil, vstoupil by na nebesa? 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A za peníze takto vydřené z chudého lidu koně krásné chovají, čeleď nepotřebnou drží, v kostky hrají a na své kuběny kožichy drahé věší, zatímco Kristus chodil bos a neměl, kde by hlavu složil. Však poznejte se, vy zloději chudého lidu, neboť Bůh i lid vás vidí. </a:t>
            </a:r>
            <a:endParaRPr lang="cs-CZ" sz="2800" b="1" i="1">
              <a:solidFill>
                <a:schemeClr val="bg1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1571604" y="0"/>
            <a:ext cx="5205912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nl-NL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Mistr Jan Hus </a:t>
            </a:r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– z kázání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Soubor:Prague hus statu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495446"/>
            <a:ext cx="7620000" cy="50768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71406" y="142852"/>
            <a:ext cx="9215502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3600" b="1" dirty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Pomník Jana Husa </a:t>
            </a:r>
            <a:r>
              <a:rPr lang="cs-CZ" sz="36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na pražském Staroměstském náměstí od </a:t>
            </a:r>
            <a:r>
              <a:rPr lang="cs-CZ" sz="3600" b="1" dirty="0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Ladislava </a:t>
            </a:r>
            <a:r>
              <a:rPr lang="cs-CZ" sz="3600" b="1" dirty="0" err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Šalouna</a:t>
            </a:r>
            <a:endParaRPr lang="cs-CZ" sz="3600" b="1" dirty="0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http://www.ceska-konference.cz/uploads/obr/prispevky/historie-ceskeho-naroda/jan-hus-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000108"/>
            <a:ext cx="7902183" cy="50720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1209148" y="77908"/>
            <a:ext cx="6649000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nl-NL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Mistr Jan Hus káže na venkově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aoblený obdélník 5"/>
          <p:cNvSpPr/>
          <p:nvPr/>
        </p:nvSpPr>
        <p:spPr>
          <a:xfrm>
            <a:off x="214282" y="5143512"/>
            <a:ext cx="4714908" cy="150019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14282" y="670869"/>
            <a:ext cx="835824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cs-CZ" sz="2800" smtClean="0"/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opíral se o názory profesora </a:t>
            </a:r>
          </a:p>
          <a:p>
            <a:r>
              <a:rPr lang="cs-CZ" sz="2800" smtClean="0"/>
              <a:t>   Oxfordské univerzity</a:t>
            </a:r>
          </a:p>
          <a:p>
            <a:r>
              <a:rPr lang="cs-CZ" sz="2800" smtClean="0"/>
              <a:t>   </a:t>
            </a:r>
            <a:r>
              <a:rPr lang="cs-CZ" sz="2800" b="1" i="1" smtClean="0"/>
              <a:t>Johna Wycliffa ( 1324 – 1384),</a:t>
            </a:r>
          </a:p>
          <a:p>
            <a:r>
              <a:rPr lang="cs-CZ" sz="2800" smtClean="0"/>
              <a:t>   anglického reformátora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i="1" smtClean="0"/>
              <a:t>kritizoval rozmařilý  život církve </a:t>
            </a:r>
          </a:p>
          <a:p>
            <a:pPr>
              <a:buFont typeface="Wingdings" pitchFamily="2" charset="2"/>
              <a:buChar char="§"/>
            </a:pPr>
            <a:r>
              <a:rPr lang="cs-CZ" sz="2800" b="1" i="1" smtClean="0"/>
              <a:t> vystupoval proti odpustkům</a:t>
            </a:r>
          </a:p>
          <a:p>
            <a:r>
              <a:rPr lang="cs-CZ" sz="2800" smtClean="0"/>
              <a:t>  = spisy</a:t>
            </a:r>
          </a:p>
          <a:p>
            <a:r>
              <a:rPr lang="cs-CZ" sz="2800" smtClean="0"/>
              <a:t> 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Rozprava o odpustcích</a:t>
            </a:r>
          </a:p>
          <a:p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  Proti papežské bule</a:t>
            </a:r>
          </a:p>
        </p:txBody>
      </p:sp>
      <p:pic>
        <p:nvPicPr>
          <p:cNvPr id="76802" name="Picture 2" descr="http://www.os-obroda.cz/grafika/clanky/jan-hus-betl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4" y="1214422"/>
            <a:ext cx="3643338" cy="5329682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787719" y="285728"/>
            <a:ext cx="7356181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nl-NL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Mistr Jan Hus </a:t>
            </a:r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 jeho spory s církví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357190" y="5143512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2400" b="1" i="1" smtClean="0">
                <a:solidFill>
                  <a:schemeClr val="bg1"/>
                </a:solidFill>
              </a:rPr>
              <a:t>„Nemá býti věřeno v církev, poněvadž není církev Bohem. </a:t>
            </a:r>
          </a:p>
          <a:p>
            <a:r>
              <a:rPr lang="cs-CZ" sz="2400" b="1" i="1" smtClean="0">
                <a:solidFill>
                  <a:schemeClr val="bg1"/>
                </a:solidFill>
              </a:rPr>
              <a:t>Papežové zajisté mohou lháti, ale Bůh nelže.“ </a:t>
            </a:r>
            <a:endParaRPr lang="cs-CZ" sz="24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85720" y="6143644"/>
            <a:ext cx="4071966" cy="400110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cs-CZ" sz="2000" smtClean="0"/>
              <a:t>Též </a:t>
            </a:r>
            <a:r>
              <a:rPr lang="cs-CZ" sz="2000" b="1" smtClean="0"/>
              <a:t>Wyclif</a:t>
            </a:r>
            <a:r>
              <a:rPr lang="cs-CZ" sz="2000" smtClean="0"/>
              <a:t>, </a:t>
            </a:r>
            <a:r>
              <a:rPr lang="cs-CZ" sz="2000" b="1" smtClean="0"/>
              <a:t>Wycliff</a:t>
            </a:r>
            <a:r>
              <a:rPr lang="cs-CZ" sz="2000" smtClean="0"/>
              <a:t> , česky </a:t>
            </a:r>
            <a:r>
              <a:rPr lang="cs-CZ" sz="2000" b="1" smtClean="0"/>
              <a:t>Jan Viklef</a:t>
            </a:r>
            <a:r>
              <a:rPr lang="cs-CZ" sz="2000" smtClean="0"/>
              <a:t> </a:t>
            </a:r>
            <a:endParaRPr lang="cs-CZ" sz="2000"/>
          </a:p>
        </p:txBody>
      </p:sp>
      <p:sp>
        <p:nvSpPr>
          <p:cNvPr id="4" name="Obdélník 3"/>
          <p:cNvSpPr/>
          <p:nvPr/>
        </p:nvSpPr>
        <p:spPr>
          <a:xfrm>
            <a:off x="4143372" y="214290"/>
            <a:ext cx="3031023" cy="1323439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rgbClr val="002060"/>
                </a:solidFill>
              </a:rPr>
              <a:t>John Wycliffe</a:t>
            </a:r>
          </a:p>
          <a:p>
            <a:r>
              <a:rPr lang="cs-CZ" sz="4000" b="1" smtClean="0">
                <a:ln w="50800"/>
                <a:solidFill>
                  <a:srgbClr val="002060"/>
                </a:solidFill>
              </a:rPr>
              <a:t>1320 - 1384 </a:t>
            </a:r>
            <a:endParaRPr lang="cs-CZ" sz="4000" b="1">
              <a:ln w="50800"/>
              <a:solidFill>
                <a:srgbClr val="002060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3929058" y="1643050"/>
            <a:ext cx="5000660" cy="4401205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i="1" smtClean="0"/>
              <a:t> anglický teolog na Oxfordské</a:t>
            </a:r>
          </a:p>
          <a:p>
            <a:r>
              <a:rPr lang="cs-CZ" sz="2800" i="1" smtClean="0"/>
              <a:t>   univerzitě 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propagátor reforem římsko-</a:t>
            </a:r>
          </a:p>
          <a:p>
            <a:r>
              <a:rPr lang="cs-CZ" sz="2800" i="1" smtClean="0"/>
              <a:t>   katolické církve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z jeho popudu vznikl první </a:t>
            </a:r>
          </a:p>
          <a:p>
            <a:r>
              <a:rPr lang="cs-CZ" sz="2800" i="1" smtClean="0"/>
              <a:t>   anglický překlad Bible 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předchůdce protestantské </a:t>
            </a:r>
          </a:p>
          <a:p>
            <a:r>
              <a:rPr lang="cs-CZ" sz="2800" i="1" smtClean="0"/>
              <a:t>   reformace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jeho spisy přinesl do českých</a:t>
            </a:r>
          </a:p>
          <a:p>
            <a:r>
              <a:rPr lang="cs-CZ" sz="2800" i="1" smtClean="0"/>
              <a:t>   zemí Jeroným Pražský</a:t>
            </a:r>
            <a:endParaRPr lang="cs-CZ" sz="2800" i="1"/>
          </a:p>
        </p:txBody>
      </p:sp>
      <p:pic>
        <p:nvPicPr>
          <p:cNvPr id="77828" name="Picture 4" descr="http://4.bp.blogspot.com/_MRp4yU2kDdo/Su2Nw8XxQII/AAAAAAAACJ0/4xYTgusAZus/s400/JOHN+WYCLIFFE.1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428604"/>
            <a:ext cx="3571900" cy="555937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808097"/>
            <a:ext cx="8572560" cy="586314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cs-CZ" sz="2500" i="1" dirty="0" smtClean="0"/>
              <a:t>Roku 1367 byl </a:t>
            </a:r>
            <a:r>
              <a:rPr lang="cs-CZ" sz="2500" b="1" i="1" dirty="0" smtClean="0"/>
              <a:t>zbaven řízení koleje v Canterbury</a:t>
            </a:r>
            <a:r>
              <a:rPr lang="cs-CZ" sz="2500" i="1" dirty="0" smtClean="0"/>
              <a:t>, byl obviněn, že učí bludy. Ve spisu </a:t>
            </a:r>
            <a:r>
              <a:rPr lang="cs-CZ" sz="2500" i="1" dirty="0" err="1" smtClean="0"/>
              <a:t>Protestatio</a:t>
            </a:r>
            <a:r>
              <a:rPr lang="cs-CZ" sz="2500" i="1" dirty="0" smtClean="0"/>
              <a:t> píše - církev nemá mít pozemské statky, jediným pramenem víry je Písmo svaté, papež je antikrist a církev ho nepotřebuje. V křížových výpravách viděl jen podniky loupení a plenění. </a:t>
            </a:r>
            <a:r>
              <a:rPr lang="cs-CZ" sz="2500" b="1" i="1" dirty="0" smtClean="0"/>
              <a:t>Jeho spisy byly spáleny</a:t>
            </a:r>
            <a:r>
              <a:rPr lang="cs-CZ" sz="2500" i="1" dirty="0" smtClean="0"/>
              <a:t>. Dožil na své faře, kde se věnoval sepisování knih a kázání. </a:t>
            </a:r>
          </a:p>
          <a:p>
            <a:r>
              <a:rPr lang="cs-CZ" sz="2500" b="1" i="1" dirty="0" smtClean="0"/>
              <a:t>Do Čech  jeho spisy přivezli studenti vracející se z anglických univerzit. </a:t>
            </a:r>
            <a:r>
              <a:rPr lang="cs-CZ" sz="2500" i="1" dirty="0" smtClean="0"/>
              <a:t>( česko-anglické vztahy =  Anna Lucemburská </a:t>
            </a:r>
          </a:p>
          <a:p>
            <a:r>
              <a:rPr lang="cs-CZ" sz="2500" i="1" dirty="0" smtClean="0"/>
              <a:t>( dcera Karla IV.) si vzala </a:t>
            </a:r>
            <a:r>
              <a:rPr lang="cs-CZ" sz="2500" i="1" dirty="0" err="1" smtClean="0"/>
              <a:t>angl</a:t>
            </a:r>
            <a:r>
              <a:rPr lang="cs-CZ" sz="2500" i="1" dirty="0" smtClean="0"/>
              <a:t>. krále Richarda II.,  v Anglii velmi oblíbená, povstalců proti církvi se zastala).</a:t>
            </a:r>
          </a:p>
          <a:p>
            <a:r>
              <a:rPr lang="cs-CZ" sz="2500" i="1" dirty="0" err="1" smtClean="0"/>
              <a:t>Wycliffovy</a:t>
            </a:r>
            <a:r>
              <a:rPr lang="cs-CZ" sz="2500" i="1" dirty="0" smtClean="0"/>
              <a:t> </a:t>
            </a:r>
            <a:r>
              <a:rPr lang="cs-CZ" sz="2500" i="1" dirty="0" smtClean="0"/>
              <a:t>názory převzal Jan Hus a spojoval je s reformními snahami v církvi.</a:t>
            </a:r>
          </a:p>
          <a:p>
            <a:r>
              <a:rPr lang="cs-CZ" sz="2500" i="1" dirty="0" smtClean="0"/>
              <a:t> </a:t>
            </a:r>
            <a:r>
              <a:rPr lang="cs-CZ" sz="2500" b="1" i="1" dirty="0" smtClean="0"/>
              <a:t>V Praze byly </a:t>
            </a:r>
            <a:r>
              <a:rPr lang="cs-CZ" sz="2500" b="1" i="1" dirty="0" err="1" smtClean="0"/>
              <a:t>Wycliffovy</a:t>
            </a:r>
            <a:r>
              <a:rPr lang="cs-CZ" sz="2500" b="1" i="1" dirty="0" smtClean="0"/>
              <a:t> </a:t>
            </a:r>
            <a:r>
              <a:rPr lang="cs-CZ" sz="2500" b="1" i="1" dirty="0" smtClean="0"/>
              <a:t>knihy r.1410 jako kacířské zkonfiskovány a spáleny na hranici na příkaz pražského arcibiskupa.</a:t>
            </a:r>
            <a:endParaRPr lang="cs-CZ" sz="2500" b="1" i="1" dirty="0"/>
          </a:p>
        </p:txBody>
      </p:sp>
      <p:sp>
        <p:nvSpPr>
          <p:cNvPr id="3" name="Obdélník 2"/>
          <p:cNvSpPr/>
          <p:nvPr/>
        </p:nvSpPr>
        <p:spPr>
          <a:xfrm>
            <a:off x="2643174" y="6470"/>
            <a:ext cx="30310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4000" b="1" smtClean="0">
                <a:ln w="50800"/>
                <a:solidFill>
                  <a:srgbClr val="002060"/>
                </a:solidFill>
              </a:rPr>
              <a:t>John Wycliffe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dorovný svitek 3"/>
          <p:cNvSpPr/>
          <p:nvPr/>
        </p:nvSpPr>
        <p:spPr>
          <a:xfrm>
            <a:off x="571472" y="2500306"/>
            <a:ext cx="7643866" cy="4143404"/>
          </a:xfrm>
          <a:prstGeom prst="horizontalScroll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14282" y="285728"/>
            <a:ext cx="86439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v Praze dochází k pouliční bojům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papež uvalil na Husa klatbu spojenou s interdiktem =</a:t>
            </a:r>
          </a:p>
          <a:p>
            <a:r>
              <a:rPr lang="cs-CZ" sz="2800" b="1" smtClean="0"/>
              <a:t>   zákaz konat v Praze církevní obřady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vypovězen z Prahy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kázal pak na Kozím Hrádku a na Krakovci</a:t>
            </a:r>
          </a:p>
        </p:txBody>
      </p:sp>
      <p:sp>
        <p:nvSpPr>
          <p:cNvPr id="3" name="Obdélník 2"/>
          <p:cNvSpPr/>
          <p:nvPr/>
        </p:nvSpPr>
        <p:spPr>
          <a:xfrm>
            <a:off x="1214414" y="3180236"/>
            <a:ext cx="68580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i="1" smtClean="0">
                <a:solidFill>
                  <a:schemeClr val="bg1"/>
                </a:solidFill>
              </a:rPr>
              <a:t>Křesťan má být stálý ve víře a v rozjímání této trojí pravdy: té, která je obsažena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v Písmu, té, kterou poznáváme smysly a té,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jíž dosahujeme neomylným rozumem. 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Je lépe za tuto trojí pravdu vytrpět smrt než získat obročí pochlebováním.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28596" y="4214818"/>
            <a:ext cx="87154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smtClean="0"/>
              <a:t>  </a:t>
            </a:r>
          </a:p>
          <a:p>
            <a:r>
              <a:rPr lang="cs-CZ" sz="2800" smtClean="0"/>
              <a:t> </a:t>
            </a:r>
          </a:p>
        </p:txBody>
      </p:sp>
      <p:pic>
        <p:nvPicPr>
          <p:cNvPr id="80898" name="Picture 2" descr="http://www.zamky-hrady.eu/img/hrady/123627343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62" y="3857628"/>
            <a:ext cx="4258844" cy="27146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Obdélník 3"/>
          <p:cNvSpPr/>
          <p:nvPr/>
        </p:nvSpPr>
        <p:spPr>
          <a:xfrm>
            <a:off x="5857884" y="285728"/>
            <a:ext cx="2702215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Kozí Hrádek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5786446" y="1000108"/>
            <a:ext cx="335755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i="1" smtClean="0"/>
              <a:t>Zřícenina gotického hradu u Tábora.</a:t>
            </a:r>
          </a:p>
          <a:p>
            <a:r>
              <a:rPr lang="cs-CZ" sz="2400" i="1" smtClean="0"/>
              <a:t>Pro spojitost se životem Jana Husa byl Kozí Hrádek dne 30. 3.1962 prohlášen za národní kulturní památku. </a:t>
            </a:r>
            <a:endParaRPr lang="cs-CZ" sz="2400" i="1"/>
          </a:p>
        </p:txBody>
      </p:sp>
      <p:pic>
        <p:nvPicPr>
          <p:cNvPr id="24578" name="Picture 2" descr="Soubor:Detail-Hrad Kozí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428604"/>
            <a:ext cx="5433312" cy="38576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14282" y="4500570"/>
            <a:ext cx="3786214" cy="1015663"/>
          </a:xfrm>
          <a:prstGeom prst="rect">
            <a:avLst/>
          </a:prstGeom>
          <a:noFill/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1" u="none" strike="noStrike" cap="none" normalizeH="0" baseline="0" smtClean="0">
                <a:ln>
                  <a:noFill/>
                </a:ln>
                <a:effectLst/>
                <a:latin typeface="Arial" pitchFamily="34" charset="0"/>
              </a:rPr>
              <a:t>Kozí Hrádek na pomníku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1" u="none" strike="noStrike" cap="none" normalizeH="0" baseline="0" smtClean="0">
                <a:ln>
                  <a:noFill/>
                </a:ln>
                <a:effectLst/>
                <a:latin typeface="Arial" pitchFamily="34" charset="0"/>
              </a:rPr>
              <a:t> „Mistr Jan Hus“ (od Fr.Bílka,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1" u="none" strike="noStrike" cap="none" normalizeH="0" baseline="0" smtClean="0">
                <a:ln>
                  <a:noFill/>
                </a:ln>
                <a:effectLst/>
                <a:latin typeface="Arial" pitchFamily="34" charset="0"/>
              </a:rPr>
              <a:t> odhal. r. 1928 v Táboře)</a:t>
            </a:r>
          </a:p>
        </p:txBody>
      </p:sp>
      <p:pic>
        <p:nvPicPr>
          <p:cNvPr id="24580" name="Picture 4" descr="http://bits.wikimedia.org/skins-1.5/common/images/magnify-clip.png">
            <a:hlinkClick r:id="rId5" tooltip="Zvětšit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0175" y="-130175"/>
            <a:ext cx="142875" cy="104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57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5072074"/>
            <a:ext cx="8643966" cy="156966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Vystavěn asi roku 1383 pro oblíbence Václava IV. purkrabího hradu Křivoklát, Jíru z Roztok. Hrad je znám jako poslední útočiště Jana Husa před jeho odjezdem do Kostnice. V 16. století renesančně upraven, v  17. století opravován. Po požáru roku 1783 byl opuštěn. </a:t>
            </a:r>
            <a:endParaRPr lang="cs-CZ" sz="2400" i="1"/>
          </a:p>
        </p:txBody>
      </p:sp>
      <p:pic>
        <p:nvPicPr>
          <p:cNvPr id="83970" name="Picture 2" descr="http://www.zamky-hrady.cz/2/img/krakovec_l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428604"/>
            <a:ext cx="4762500" cy="3533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3972" name="Picture 4" descr="http://www.ilouny.cz/ikony/Krakovec1x2008102122458_2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6314" y="2500306"/>
            <a:ext cx="3714750" cy="2438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délník 4"/>
          <p:cNvSpPr/>
          <p:nvPr/>
        </p:nvSpPr>
        <p:spPr>
          <a:xfrm>
            <a:off x="5572132" y="214290"/>
            <a:ext cx="3356240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Hrad Krakovec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5500694" y="928670"/>
            <a:ext cx="3214710" cy="1323439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i="1" smtClean="0"/>
              <a:t>Točil se zde dětský muzikál </a:t>
            </a:r>
          </a:p>
          <a:p>
            <a:r>
              <a:rPr lang="cs-CZ" sz="2000" b="1" i="1" smtClean="0"/>
              <a:t>Ať žijí duchové!</a:t>
            </a:r>
            <a:r>
              <a:rPr lang="cs-CZ" sz="2000" i="1" smtClean="0"/>
              <a:t> </a:t>
            </a:r>
          </a:p>
          <a:p>
            <a:r>
              <a:rPr lang="cs-CZ" sz="2000" i="1" smtClean="0"/>
              <a:t> a scény z pohádky </a:t>
            </a:r>
            <a:r>
              <a:rPr lang="cs-CZ" sz="2000" b="1" i="1" smtClean="0"/>
              <a:t>Princ a večernice</a:t>
            </a:r>
            <a:r>
              <a:rPr lang="cs-CZ" sz="2000" i="1" smtClean="0"/>
              <a:t>.</a:t>
            </a:r>
            <a:endParaRPr lang="cs-CZ" sz="20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214290"/>
            <a:ext cx="864399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b="1" smtClean="0"/>
              <a:t> církev si byla vědoma nebezpečnosti Husova učení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na jaře 1414 byl vyzván císařem Zikmundem, aby se </a:t>
            </a:r>
          </a:p>
          <a:p>
            <a:r>
              <a:rPr lang="cs-CZ" sz="2800" b="1" smtClean="0"/>
              <a:t>   ospravedlnil a obhájil své učení před církevním</a:t>
            </a:r>
          </a:p>
          <a:p>
            <a:r>
              <a:rPr lang="cs-CZ" sz="2800" b="1" smtClean="0"/>
              <a:t>   koncilem, který byl svolán do jihoněmecké Kostnice</a:t>
            </a:r>
          </a:p>
          <a:p>
            <a:r>
              <a:rPr lang="cs-CZ" sz="2800" b="1" smtClean="0"/>
              <a:t>   kvůli papežskému schizmatu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byl zde nařčen z kacířství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odmítl své učení odvolat </a:t>
            </a:r>
          </a:p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6. 7. 1415 upálen jako kacíř</a:t>
            </a:r>
          </a:p>
          <a:p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   v Kostnici ( Konstanz)</a:t>
            </a:r>
          </a:p>
        </p:txBody>
      </p:sp>
      <p:pic>
        <p:nvPicPr>
          <p:cNvPr id="17410" name="Picture 2" descr="Soubor:Zikmund Zhořelecka radnic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2143116"/>
            <a:ext cx="3440830" cy="4214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délník 4"/>
          <p:cNvSpPr/>
          <p:nvPr/>
        </p:nvSpPr>
        <p:spPr>
          <a:xfrm>
            <a:off x="428597" y="5072074"/>
            <a:ext cx="5072098" cy="1200329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smtClean="0"/>
              <a:t>Zikmund Lucemburský ( 1419 – 1437) </a:t>
            </a:r>
          </a:p>
          <a:p>
            <a:r>
              <a:rPr lang="cs-CZ" sz="2400" i="1" smtClean="0"/>
              <a:t>Císař Svaté říše římské,uherský, český král, braniborský markrabě</a:t>
            </a:r>
            <a:endParaRPr lang="cs-CZ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http://www.heiligenlexikon.de/Fotos/Konzil_Konstanz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857232"/>
            <a:ext cx="4786346" cy="3177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Obdélník 4"/>
          <p:cNvSpPr/>
          <p:nvPr/>
        </p:nvSpPr>
        <p:spPr>
          <a:xfrm>
            <a:off x="428596" y="4357694"/>
            <a:ext cx="8286808" cy="193899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i="1" smtClean="0"/>
              <a:t>Kostnice ( Konstanz) leží u západního konce Bodamského jezera</a:t>
            </a:r>
          </a:p>
          <a:p>
            <a:r>
              <a:rPr lang="cs-CZ" sz="2400" b="1" i="1" smtClean="0"/>
              <a:t>u švýcarských hranic. Ve středověku byla  největší diecézí Svaté říše římské. Se stavbou kostnického Münsteru Panny Marie (katedrály), bylo započato roku 1054 a odehrávaly se v ní nejdůležitější momenty kostnického koncilu (1414-1418). </a:t>
            </a:r>
            <a:endParaRPr lang="cs-CZ" sz="2400" b="1" i="1"/>
          </a:p>
        </p:txBody>
      </p:sp>
      <p:sp>
        <p:nvSpPr>
          <p:cNvPr id="6" name="TextovéPole 5"/>
          <p:cNvSpPr txBox="1"/>
          <p:nvPr/>
        </p:nvSpPr>
        <p:spPr>
          <a:xfrm>
            <a:off x="1928794" y="0"/>
            <a:ext cx="1985223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Kostnice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8" name="Picture 2" descr="Soubor:Konstanz Bischofswappen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3570" y="500042"/>
            <a:ext cx="2928958" cy="38120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ovéPole 8"/>
          <p:cNvSpPr txBox="1"/>
          <p:nvPr/>
        </p:nvSpPr>
        <p:spPr>
          <a:xfrm>
            <a:off x="5786446" y="142852"/>
            <a:ext cx="2598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000" b="1" i="1" smtClean="0"/>
              <a:t>Znak kostnické diecéze</a:t>
            </a:r>
            <a:endParaRPr lang="cs-CZ" sz="20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642910" y="785794"/>
            <a:ext cx="78581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i="1" dirty="0" smtClean="0"/>
              <a:t>Nachází se zde dům, kde trávil čas před uvězněním. Dnes </a:t>
            </a:r>
            <a:r>
              <a:rPr lang="cs-CZ" sz="2400" b="1" i="1" dirty="0" smtClean="0"/>
              <a:t>               v </a:t>
            </a:r>
            <a:r>
              <a:rPr lang="cs-CZ" sz="2400" b="1" i="1" dirty="0" smtClean="0"/>
              <a:t>něm sídlí Husovo muzeum. </a:t>
            </a:r>
          </a:p>
          <a:p>
            <a:r>
              <a:rPr lang="cs-CZ" sz="2400" b="1" i="1" dirty="0" smtClean="0"/>
              <a:t>Od roku 1980 jsou zde vystaveny exponáty v pěti pokojích, které přibližují život a dílo Jana Husa a následující husitské období. </a:t>
            </a:r>
            <a:endParaRPr lang="cs-CZ" sz="2400" b="1" i="1" dirty="0"/>
          </a:p>
        </p:txBody>
      </p:sp>
      <p:pic>
        <p:nvPicPr>
          <p:cNvPr id="60418" name="Picture 2" descr="http://www.konstanz.de/php/modules/mediamanager/sendobject.php?lang=de&amp;image=NHzLpZag7t,lnJ6IzdeIp96km56VlWpomJhOqdayXbGH3Yuqz56fmp6OwQ--&amp;.JPG?rand=77859186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547958"/>
            <a:ext cx="2543175" cy="381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0420" name="Picture 4" descr="http://www.konstanz.de/php/modules/mediamanager/sendobject.php?lang=de&amp;image=NHzLpZag7t,lnJ6IzdeIp96km56VlWlrn5VOqdayXbGH3Yuqz56fmp6OwQ--&amp;.JPG?rand=8931758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4" y="2547958"/>
            <a:ext cx="2543175" cy="381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ovéPole 5"/>
          <p:cNvSpPr txBox="1"/>
          <p:nvPr/>
        </p:nvSpPr>
        <p:spPr>
          <a:xfrm>
            <a:off x="1428728" y="149346"/>
            <a:ext cx="625735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Husovo muzeum v Konstanzi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http://www.pcblog.cz/wp-content/uploads/2009/08/hus1-bi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785794"/>
            <a:ext cx="5643602" cy="45148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1643042" y="0"/>
            <a:ext cx="6341095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Husseinstein (Husův kámen)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285720" y="5443381"/>
            <a:ext cx="87154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i="1" dirty="0" smtClean="0">
                <a:solidFill>
                  <a:schemeClr val="accent6">
                    <a:lumMod val="50000"/>
                  </a:schemeClr>
                </a:solidFill>
              </a:rPr>
              <a:t>V Kostnici </a:t>
            </a:r>
            <a:r>
              <a:rPr lang="cs-CZ" sz="2400" b="1" i="1" dirty="0" smtClean="0"/>
              <a:t>se mezi panelovým sídlištěm nalézá velký balvan </a:t>
            </a:r>
          </a:p>
          <a:p>
            <a:r>
              <a:rPr lang="cs-CZ" sz="2400" b="1" i="1" dirty="0" smtClean="0"/>
              <a:t>s </a:t>
            </a:r>
            <a:r>
              <a:rPr lang="cs-CZ" sz="2400" b="1" i="1" dirty="0" err="1" smtClean="0"/>
              <a:t>česko</a:t>
            </a:r>
            <a:r>
              <a:rPr lang="cs-CZ" sz="2400" b="1" i="1" dirty="0" smtClean="0"/>
              <a:t> – německou cedulí, která </a:t>
            </a:r>
            <a:r>
              <a:rPr lang="cs-CZ" sz="2400" b="1" i="1" dirty="0" smtClean="0"/>
              <a:t>informuje, </a:t>
            </a:r>
            <a:r>
              <a:rPr lang="cs-CZ" sz="2400" b="1" i="1" dirty="0" smtClean="0"/>
              <a:t>že právě zde měl být</a:t>
            </a:r>
          </a:p>
          <a:p>
            <a:r>
              <a:rPr lang="cs-CZ" sz="2400" b="1" i="1" dirty="0" smtClean="0"/>
              <a:t>Jan Hus upálen.</a:t>
            </a:r>
            <a:r>
              <a:rPr lang="cs-CZ" sz="2400" b="1" dirty="0" smtClean="0"/>
              <a:t> </a:t>
            </a:r>
            <a:r>
              <a:rPr lang="cs-CZ" sz="2400" b="1" i="1" dirty="0" smtClean="0"/>
              <a:t>Hlavní historická třída nese jeho jméno. </a:t>
            </a:r>
            <a:endParaRPr lang="cs-CZ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28596" y="714356"/>
            <a:ext cx="8286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smtClean="0"/>
              <a:t>Husovo upálení vyvolalo v Čechách bouři hněvu, vyvolal nenávist vůči císaři Zikmundovi, který po vypuknutí husitské revoluce 1419 nebyl uznán českým králem. </a:t>
            </a:r>
            <a:endParaRPr lang="cs-CZ" sz="2800"/>
          </a:p>
        </p:txBody>
      </p:sp>
      <p:pic>
        <p:nvPicPr>
          <p:cNvPr id="20482" name="Picture 2" descr="http://ao-institut.cz/texty/Ceske-dejiny/img/zprava-o-smrti-jana-hus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2143116"/>
            <a:ext cx="5643602" cy="3724777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857224" y="5929330"/>
            <a:ext cx="7000924" cy="461665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Historie českého národa v obrazech“,  Josef Mathauser</a:t>
            </a:r>
            <a:endParaRPr lang="cs-CZ" sz="2400" i="1"/>
          </a:p>
        </p:txBody>
      </p:sp>
      <p:sp>
        <p:nvSpPr>
          <p:cNvPr id="6" name="TextovéPole 5"/>
          <p:cNvSpPr txBox="1"/>
          <p:nvPr/>
        </p:nvSpPr>
        <p:spPr>
          <a:xfrm>
            <a:off x="184079" y="0"/>
            <a:ext cx="8959953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Reakce v českých zemích po upálení Husa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928670"/>
            <a:ext cx="892971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mistr čtyř univerzit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studoval v Praze, Paříži,Heidelbergu,</a:t>
            </a:r>
          </a:p>
          <a:p>
            <a:r>
              <a:rPr lang="cs-CZ" sz="2800" smtClean="0"/>
              <a:t>   Kolíně nad Rýnem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přítel Jana Husa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z Oxfordu přivezl do Čech teologické</a:t>
            </a:r>
          </a:p>
          <a:p>
            <a:r>
              <a:rPr lang="cs-CZ" sz="2800" smtClean="0"/>
              <a:t>   spisy Wycliffa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podílel se na vydání Kutnohorského</a:t>
            </a:r>
          </a:p>
          <a:p>
            <a:r>
              <a:rPr lang="cs-CZ" sz="2800" smtClean="0"/>
              <a:t>   dekretu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vydal se obhajovat Husa do Kostnice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340 dní vězněn ve vlhké věži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>
                <a:solidFill>
                  <a:schemeClr val="accent6">
                    <a:lumMod val="50000"/>
                  </a:schemeClr>
                </a:solidFill>
              </a:rPr>
              <a:t>30. května 1416 upálen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pohřební kámen v Kostnici na stejném místě jako Husův</a:t>
            </a:r>
            <a:endParaRPr lang="cs-CZ" sz="2800"/>
          </a:p>
        </p:txBody>
      </p:sp>
      <p:sp>
        <p:nvSpPr>
          <p:cNvPr id="3" name="TextovéPole 2"/>
          <p:cNvSpPr txBox="1"/>
          <p:nvPr/>
        </p:nvSpPr>
        <p:spPr>
          <a:xfrm>
            <a:off x="285720" y="214290"/>
            <a:ext cx="846071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rgbClr val="002060"/>
                </a:solidFill>
              </a:rPr>
              <a:t>5. Mistr Jeroným Pražský (1365 – 1416)</a:t>
            </a:r>
            <a:endParaRPr lang="cs-CZ" sz="4000" b="1">
              <a:ln w="50800"/>
              <a:solidFill>
                <a:srgbClr val="002060"/>
              </a:solidFill>
            </a:endParaRPr>
          </a:p>
        </p:txBody>
      </p:sp>
      <p:pic>
        <p:nvPicPr>
          <p:cNvPr id="73730" name="Picture 2" descr="Soubor:Praha, Nove Mesto - Reznicka (Jeronym Prazsky)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928670"/>
            <a:ext cx="2667019" cy="4000528"/>
          </a:xfrm>
          <a:prstGeom prst="rect">
            <a:avLst/>
          </a:prstGeom>
          <a:noFill/>
        </p:spPr>
      </p:pic>
      <p:sp>
        <p:nvSpPr>
          <p:cNvPr id="6" name="Obdélník 5"/>
          <p:cNvSpPr/>
          <p:nvPr/>
        </p:nvSpPr>
        <p:spPr>
          <a:xfrm>
            <a:off x="6072198" y="5000636"/>
            <a:ext cx="2565318" cy="70788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cs-CZ" sz="2000" i="1" smtClean="0"/>
              <a:t>Pamětní deska v Praze,</a:t>
            </a:r>
          </a:p>
          <a:p>
            <a:r>
              <a:rPr lang="cs-CZ" sz="2000" i="1" smtClean="0"/>
              <a:t> Řeznické ulici</a:t>
            </a:r>
            <a:endParaRPr lang="cs-CZ" sz="20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571736" y="285728"/>
            <a:ext cx="61436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i="1" smtClean="0"/>
              <a:t> Jeroným šel hrdě na smrt, cestou k hranici zpíval „Věřím v jednoho Boha...“  Kati ho svlékli, přivázali a obložili dřívím. Když chtěl kat zapálit hranici za jeho zády, zvolal svatý mučedník: </a:t>
            </a:r>
          </a:p>
          <a:p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„Sem přistup, před mou tváří zapal oheň, neboť kdybych se jej bál, nikdy bych sem nepřišel!“</a:t>
            </a:r>
          </a:p>
        </p:txBody>
      </p:sp>
      <p:pic>
        <p:nvPicPr>
          <p:cNvPr id="74754" name="Picture 2" descr="http://www.turistika.cz/foto/34918/36694/lrg_f_normalFile2--p111063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3" y="3786190"/>
            <a:ext cx="3713087" cy="2786082"/>
          </a:xfrm>
          <a:prstGeom prst="rect">
            <a:avLst/>
          </a:prstGeom>
          <a:noFill/>
        </p:spPr>
      </p:pic>
      <p:pic>
        <p:nvPicPr>
          <p:cNvPr id="74756" name="Picture 4" descr="http://www.kosmas.cz/obalky/2/15458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428604"/>
            <a:ext cx="2186877" cy="3214710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428596" y="4857760"/>
            <a:ext cx="4572000" cy="1384995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cs-CZ" sz="2800" b="1" i="1" smtClean="0"/>
              <a:t>Na rozdíl od mistra Jana trpěl Jeroným v plamenech o mnoho déle.  </a:t>
            </a:r>
            <a:endParaRPr lang="cs-CZ" sz="28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Pamětní kámen na místě upálení Jana Husa a Jeronýma Pražskéh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702945"/>
            <a:ext cx="8429652" cy="522638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214282" y="856357"/>
            <a:ext cx="855022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400" b="1" smtClean="0"/>
              <a:t> univerzitní mistr</a:t>
            </a:r>
          </a:p>
          <a:p>
            <a:pPr>
              <a:buFont typeface="Wingdings" pitchFamily="2" charset="2"/>
              <a:buChar char="§"/>
            </a:pPr>
            <a:r>
              <a:rPr lang="cs-CZ" sz="2400" b="1" smtClean="0"/>
              <a:t> po Husově smrti kázal v kapli Betlémské</a:t>
            </a:r>
          </a:p>
          <a:p>
            <a:pPr>
              <a:buFont typeface="Wingdings" pitchFamily="2" charset="2"/>
              <a:buChar char="§"/>
            </a:pPr>
            <a:r>
              <a:rPr lang="cs-CZ" sz="2400" b="1" smtClean="0"/>
              <a:t> zavedl přijímaní podobojí, které hájil ve spise</a:t>
            </a:r>
          </a:p>
          <a:p>
            <a:r>
              <a:rPr lang="cs-CZ" sz="2400" b="1" smtClean="0"/>
              <a:t>   </a:t>
            </a:r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Spasitel náš ( Salvator noster)</a:t>
            </a:r>
          </a:p>
          <a:p>
            <a:endParaRPr lang="cs-CZ" sz="2400" b="1" smtClean="0"/>
          </a:p>
          <a:p>
            <a:endParaRPr lang="cs-CZ" sz="2400" b="1" smtClean="0"/>
          </a:p>
          <a:p>
            <a:endParaRPr lang="cs-CZ" sz="2400" b="1" smtClean="0"/>
          </a:p>
          <a:p>
            <a:endParaRPr lang="cs-CZ" sz="2400" b="1" smtClean="0"/>
          </a:p>
          <a:p>
            <a:pPr>
              <a:buFont typeface="Wingdings" pitchFamily="2" charset="2"/>
              <a:buChar char="§"/>
            </a:pPr>
            <a:r>
              <a:rPr lang="cs-CZ" sz="2400" b="1" smtClean="0"/>
              <a:t> svědkem kostnického koncilu</a:t>
            </a:r>
          </a:p>
          <a:p>
            <a:pPr>
              <a:buFont typeface="Wingdings" pitchFamily="2" charset="2"/>
              <a:buChar char="§"/>
            </a:pPr>
            <a:r>
              <a:rPr lang="cs-CZ" sz="2400" b="1" smtClean="0"/>
              <a:t> napsal latinskou zprávu o Husově upálení</a:t>
            </a:r>
          </a:p>
          <a:p>
            <a:r>
              <a:rPr lang="cs-CZ" sz="2400" b="1" smtClean="0"/>
              <a:t>   -  část byla přeložena do češtiny </a:t>
            </a:r>
            <a:r>
              <a:rPr lang="cs-CZ" sz="2400" b="1" i="1" smtClean="0"/>
              <a:t>jako </a:t>
            </a:r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Pašije Mistra Jana Husi</a:t>
            </a:r>
            <a:r>
              <a:rPr lang="cs-CZ" sz="2400" b="1" smtClean="0"/>
              <a:t> </a:t>
            </a:r>
          </a:p>
          <a:p>
            <a:r>
              <a:rPr lang="cs-CZ" sz="2400" b="1" smtClean="0"/>
              <a:t>      ( pašije = utrpení, útrapa)</a:t>
            </a:r>
          </a:p>
          <a:p>
            <a:r>
              <a:rPr lang="cs-CZ" sz="2400" b="1" smtClean="0"/>
              <a:t>   -  četly se při husitských bohoslužbách a na Husův svátek</a:t>
            </a:r>
          </a:p>
          <a:p>
            <a:endParaRPr lang="cs-CZ" sz="2400" b="1" smtClean="0"/>
          </a:p>
          <a:p>
            <a:r>
              <a:rPr lang="cs-CZ" sz="2400" b="1" smtClean="0"/>
              <a:t>Jako ohlas Husovy smrti vznikla např. píseň </a:t>
            </a:r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Ó svolanie konstanské</a:t>
            </a:r>
          </a:p>
          <a:p>
            <a:endParaRPr lang="cs-CZ" sz="2400" b="1"/>
          </a:p>
        </p:txBody>
      </p:sp>
      <p:sp>
        <p:nvSpPr>
          <p:cNvPr id="3" name="Obdélník 2"/>
          <p:cNvSpPr/>
          <p:nvPr/>
        </p:nvSpPr>
        <p:spPr>
          <a:xfrm>
            <a:off x="2285984" y="142852"/>
            <a:ext cx="4400500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Jakoubek ze Stříbra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2357422" y="2786058"/>
            <a:ext cx="4127605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Petr z Mladoňovic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aoblený obdélník 3"/>
          <p:cNvSpPr/>
          <p:nvPr/>
        </p:nvSpPr>
        <p:spPr>
          <a:xfrm>
            <a:off x="571472" y="1071546"/>
            <a:ext cx="7929618" cy="521497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857224" y="1285860"/>
            <a:ext cx="771530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b="1" i="1" smtClean="0">
                <a:solidFill>
                  <a:schemeClr val="bg1"/>
                </a:solidFill>
              </a:rPr>
              <a:t>Nemůže-li pravda býti projevena bez pohoršení, lépe je přijmouti pohoršení, nežli pustiti pravdu.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 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Nemohu-li já pravdy osvoboditi ve všem, aspoň nechci býti nepřítelem pravdy. </a:t>
            </a:r>
          </a:p>
          <a:p>
            <a:endParaRPr lang="cs-CZ" sz="2800" b="1" i="1" smtClean="0">
              <a:solidFill>
                <a:schemeClr val="bg1"/>
              </a:solidFill>
            </a:endParaRPr>
          </a:p>
          <a:p>
            <a:r>
              <a:rPr lang="cs-CZ" sz="2800" b="1" i="1" smtClean="0">
                <a:solidFill>
                  <a:schemeClr val="bg1"/>
                </a:solidFill>
              </a:rPr>
              <a:t>Pravda je jen to, co jest dobrem všech. </a:t>
            </a:r>
          </a:p>
          <a:p>
            <a:r>
              <a:rPr lang="cs-CZ" sz="2800" b="1" i="1" smtClean="0">
                <a:solidFill>
                  <a:schemeClr val="bg1"/>
                </a:solidFill>
              </a:rPr>
              <a:t>Zlořečný je ten, kdo pro skývu chleba opustí pravdu. </a:t>
            </a:r>
          </a:p>
          <a:p>
            <a:endParaRPr lang="cs-CZ" sz="2800" b="1" i="1" smtClean="0">
              <a:solidFill>
                <a:schemeClr val="bg1"/>
              </a:solidFill>
            </a:endParaRPr>
          </a:p>
          <a:p>
            <a:r>
              <a:rPr lang="cs-CZ" sz="2800" b="1" i="1" smtClean="0">
                <a:solidFill>
                  <a:schemeClr val="bg1"/>
                </a:solidFill>
              </a:rPr>
              <a:t>Kdo mluví pravdu, hlavu si rozbíjí. </a:t>
            </a:r>
          </a:p>
        </p:txBody>
      </p:sp>
      <p:sp>
        <p:nvSpPr>
          <p:cNvPr id="3" name="Obdélník 2"/>
          <p:cNvSpPr/>
          <p:nvPr/>
        </p:nvSpPr>
        <p:spPr>
          <a:xfrm>
            <a:off x="1714480" y="0"/>
            <a:ext cx="5654881" cy="92333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54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Tvorba Jana Husa </a:t>
            </a:r>
            <a:endParaRPr lang="cs-CZ" sz="54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6215074" y="5786454"/>
            <a:ext cx="1859163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cs-CZ" sz="2000" b="1" smtClean="0">
                <a:solidFill>
                  <a:schemeClr val="bg1"/>
                </a:solidFill>
              </a:rPr>
              <a:t>Citáty o pravdě.</a:t>
            </a:r>
            <a:endParaRPr lang="cs-CZ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/>
          <p:cNvSpPr/>
          <p:nvPr/>
        </p:nvSpPr>
        <p:spPr>
          <a:xfrm>
            <a:off x="2143108" y="285728"/>
            <a:ext cx="4680127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Proti bule papežské  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285720" y="1142984"/>
            <a:ext cx="87868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latinsky</a:t>
            </a:r>
            <a:r>
              <a:rPr lang="cs-CZ" sz="2800" smtClean="0"/>
              <a:t>,  Contra bullam papae, 1412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vystupuje </a:t>
            </a:r>
            <a:r>
              <a:rPr lang="cs-CZ" sz="2800" b="1" smtClean="0"/>
              <a:t>proti prodávání odpustků</a:t>
            </a:r>
            <a:r>
              <a:rPr lang="cs-CZ" sz="2800" smtClean="0"/>
              <a:t>, přímo napadá</a:t>
            </a:r>
          </a:p>
          <a:p>
            <a:r>
              <a:rPr lang="cs-CZ" sz="2800" smtClean="0"/>
              <a:t>   papeže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kvůli tomuto spisu byl vyhoštěn z Prahy</a:t>
            </a:r>
          </a:p>
        </p:txBody>
      </p:sp>
      <p:sp>
        <p:nvSpPr>
          <p:cNvPr id="5" name="TextovéPole 4"/>
          <p:cNvSpPr txBox="1"/>
          <p:nvPr/>
        </p:nvSpPr>
        <p:spPr>
          <a:xfrm>
            <a:off x="47375" y="5526961"/>
            <a:ext cx="9096657" cy="83099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b="1" i="1" smtClean="0"/>
              <a:t>Papež Jan XXIII. se souhlasem Václava IV. vyhlásil prodávání</a:t>
            </a:r>
          </a:p>
          <a:p>
            <a:r>
              <a:rPr lang="cs-CZ" sz="2400" b="1" i="1" smtClean="0"/>
              <a:t> odpustků na získání peněz na válku proti svým papežským odpůrcům.</a:t>
            </a:r>
            <a:endParaRPr lang="cs-CZ" sz="2400" b="1" i="1"/>
          </a:p>
        </p:txBody>
      </p:sp>
      <p:sp>
        <p:nvSpPr>
          <p:cNvPr id="6" name="Obdélník 5"/>
          <p:cNvSpPr/>
          <p:nvPr/>
        </p:nvSpPr>
        <p:spPr>
          <a:xfrm>
            <a:off x="2071670" y="3214686"/>
            <a:ext cx="5046638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Rozprava o odpustcích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357158" y="4143380"/>
            <a:ext cx="64425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latinsky, Questio de indulgentiis, 1412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spisy proti sobě popudil i krále Václava IV.</a:t>
            </a:r>
            <a:endParaRPr lang="cs-CZ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odorovný svitek 4"/>
          <p:cNvSpPr/>
          <p:nvPr/>
        </p:nvSpPr>
        <p:spPr>
          <a:xfrm>
            <a:off x="1571604" y="5072074"/>
            <a:ext cx="6215106" cy="1571636"/>
          </a:xfrm>
          <a:prstGeom prst="horizontalScroll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85720" y="857232"/>
            <a:ext cx="8825749" cy="4832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česky</a:t>
            </a:r>
            <a:r>
              <a:rPr lang="cs-CZ" sz="2800" smtClean="0"/>
              <a:t>, 1412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tj. </a:t>
            </a:r>
            <a:r>
              <a:rPr lang="cs-CZ" sz="2800" b="1" smtClean="0"/>
              <a:t>výklad tří základních modliteb = Věřím v Boha,</a:t>
            </a:r>
          </a:p>
          <a:p>
            <a:r>
              <a:rPr lang="cs-CZ" sz="2800" b="1" smtClean="0"/>
              <a:t>   Desatero a Otčenáš</a:t>
            </a:r>
          </a:p>
          <a:p>
            <a:r>
              <a:rPr lang="cs-CZ" sz="2800" smtClean="0"/>
              <a:t>   ( Páteř = modlitba Pater noster = Otče náš)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náhradou za mluvené slov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úvahy o mravním životě a kritika společnosti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odlišuje „věřit v Boha“ a „věřit Bohu“ =</a:t>
            </a:r>
          </a:p>
          <a:p>
            <a:r>
              <a:rPr lang="cs-CZ" sz="2800" smtClean="0"/>
              <a:t>   věřit v existenci Boha  neznamená, že člověk je křesťanem</a:t>
            </a:r>
          </a:p>
          <a:p>
            <a:r>
              <a:rPr lang="cs-CZ" sz="2800" smtClean="0"/>
              <a:t>   = pravý křesťan věří Bohu, miluje ho =  tzn. věří Božímu</a:t>
            </a:r>
          </a:p>
          <a:p>
            <a:r>
              <a:rPr lang="cs-CZ" sz="2800" smtClean="0"/>
              <a:t>   slovu a jedná podle něho</a:t>
            </a:r>
          </a:p>
          <a:p>
            <a:endParaRPr lang="cs-CZ" sz="2800"/>
          </a:p>
        </p:txBody>
      </p:sp>
      <p:sp>
        <p:nvSpPr>
          <p:cNvPr id="3" name="Obdélník 2"/>
          <p:cNvSpPr/>
          <p:nvPr/>
        </p:nvSpPr>
        <p:spPr>
          <a:xfrm>
            <a:off x="1428728" y="142852"/>
            <a:ext cx="6941131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Výklad Viery, Desatera a Páteře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1857356" y="5429264"/>
            <a:ext cx="59293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500" b="1" i="1" smtClean="0">
                <a:solidFill>
                  <a:schemeClr val="bg1"/>
                </a:solidFill>
              </a:rPr>
              <a:t>”Lépe jest pro pravdu smrť trpěti než </a:t>
            </a:r>
          </a:p>
          <a:p>
            <a:r>
              <a:rPr lang="cs-CZ" sz="2500" b="1" i="1" smtClean="0">
                <a:solidFill>
                  <a:schemeClr val="bg1"/>
                </a:solidFill>
              </a:rPr>
              <a:t> pro pochlebenství časnú odplatu vzieti.”</a:t>
            </a:r>
            <a:endParaRPr lang="cs-CZ" sz="25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214290"/>
            <a:ext cx="9042412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Postila, tj. Výklad svatých čtení nedělních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Obdélník 2"/>
          <p:cNvSpPr/>
          <p:nvPr/>
        </p:nvSpPr>
        <p:spPr>
          <a:xfrm>
            <a:off x="285720" y="1000108"/>
            <a:ext cx="85725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česky</a:t>
            </a:r>
            <a:r>
              <a:rPr lang="cs-CZ" sz="2800" smtClean="0"/>
              <a:t>, 1413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sborník kázání nebo traktátů</a:t>
            </a:r>
            <a:r>
              <a:rPr lang="cs-CZ" sz="2800" smtClean="0"/>
              <a:t>, ale lidově zaměřených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nedělní a sváteční čtení v kostele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postila( původně jen sbírka kázaní)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z lat. post illa verba =  po oněch slovech = po slově</a:t>
            </a:r>
          </a:p>
          <a:p>
            <a:r>
              <a:rPr lang="cs-CZ" sz="2800" smtClean="0"/>
              <a:t>   božím z evangelia následuje výklad kněze =  kázání </a:t>
            </a:r>
          </a:p>
          <a:p>
            <a:r>
              <a:rPr lang="cs-CZ" sz="2800" smtClean="0"/>
              <a:t>   s názornými příklady z každodenního života </a:t>
            </a:r>
          </a:p>
          <a:p>
            <a:r>
              <a:rPr lang="cs-CZ" sz="2800" smtClean="0"/>
              <a:t>  </a:t>
            </a:r>
          </a:p>
        </p:txBody>
      </p:sp>
      <p:sp>
        <p:nvSpPr>
          <p:cNvPr id="4" name="Obdélník 3"/>
          <p:cNvSpPr/>
          <p:nvPr/>
        </p:nvSpPr>
        <p:spPr>
          <a:xfrm>
            <a:off x="2857488" y="4214818"/>
            <a:ext cx="2565831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Hus a zpěv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TextovéPole 5"/>
          <p:cNvSpPr txBox="1"/>
          <p:nvPr/>
        </p:nvSpPr>
        <p:spPr>
          <a:xfrm>
            <a:off x="414937" y="5072074"/>
            <a:ext cx="62691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podporoval lidový zpěv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zavedl český lidový zpěv do bohoslužeb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sám písně upravoval, některé sám složil</a:t>
            </a:r>
            <a:endParaRPr lang="cs-CZ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2214546" y="214290"/>
            <a:ext cx="4534768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 českém pravopise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57158" y="1173194"/>
            <a:ext cx="878684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b="1" smtClean="0"/>
              <a:t> </a:t>
            </a:r>
            <a:r>
              <a:rPr lang="cs-CZ" sz="2800" smtClean="0"/>
              <a:t>latinsky, De orthographia bohemica, 1412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Husovo autorství není zcela jisté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zjednodušení pravopisu </a:t>
            </a:r>
            <a:r>
              <a:rPr lang="cs-CZ" sz="2800" smtClean="0"/>
              <a:t>= odstranil spřežky a zavedl </a:t>
            </a:r>
          </a:p>
          <a:p>
            <a:r>
              <a:rPr lang="cs-CZ" sz="2800" smtClean="0"/>
              <a:t>   </a:t>
            </a:r>
            <a:r>
              <a:rPr lang="cs-CZ" sz="2800" b="1" smtClean="0"/>
              <a:t>diakritický pravopis  </a:t>
            </a:r>
            <a:r>
              <a:rPr lang="cs-CZ" sz="2800" smtClean="0"/>
              <a:t>=  diakritická znaménka ( ie = í), </a:t>
            </a:r>
          </a:p>
          <a:p>
            <a:r>
              <a:rPr lang="cs-CZ" sz="2800" smtClean="0"/>
              <a:t>   měkkost se naznačovala tečkami (nabodeníčka)=</a:t>
            </a:r>
          </a:p>
          <a:p>
            <a:r>
              <a:rPr lang="cs-CZ" sz="2800" smtClean="0"/>
              <a:t>   ( ss =  š ( ale tečka místo háčku)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odstraňoval archaismy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nahrazoval německá slova českými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dbal na správnou výslovnost</a:t>
            </a:r>
            <a:endParaRPr lang="cs-CZ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odorovný svitek 4"/>
          <p:cNvSpPr/>
          <p:nvPr/>
        </p:nvSpPr>
        <p:spPr>
          <a:xfrm>
            <a:off x="1071538" y="3857628"/>
            <a:ext cx="6715172" cy="2643206"/>
          </a:xfrm>
          <a:prstGeom prst="horizontalScroll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85720" y="642918"/>
            <a:ext cx="842968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1413, </a:t>
            </a:r>
            <a:r>
              <a:rPr lang="cs-CZ" sz="2800" b="1" smtClean="0"/>
              <a:t>latinský </a:t>
            </a:r>
            <a:r>
              <a:rPr lang="cs-CZ" sz="2800" smtClean="0"/>
              <a:t>spis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Hus dokazuje, že </a:t>
            </a:r>
            <a:r>
              <a:rPr lang="cs-CZ" sz="2800" b="1" smtClean="0"/>
              <a:t>příslušníkem církve je pouze ten,</a:t>
            </a:r>
          </a:p>
          <a:p>
            <a:r>
              <a:rPr lang="cs-CZ" sz="2800" b="1" smtClean="0"/>
              <a:t>   kdo nespáchal těžký hřích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dokazuje, že hlavou církve je Kristus a ne papež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křesťan nemusí poslouchat papeže, pokud jsou jeho</a:t>
            </a:r>
          </a:p>
          <a:p>
            <a:r>
              <a:rPr lang="cs-CZ" sz="2800" smtClean="0"/>
              <a:t>   nařízení v rozporu s biblí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spis se stal hlavním podkladem obžaloby Husa </a:t>
            </a:r>
          </a:p>
          <a:p>
            <a:r>
              <a:rPr lang="cs-CZ" sz="2800" smtClean="0"/>
              <a:t>   v Kostnici</a:t>
            </a:r>
          </a:p>
          <a:p>
            <a:endParaRPr lang="cs-CZ" sz="2800" smtClean="0"/>
          </a:p>
          <a:p>
            <a:endParaRPr lang="cs-CZ" sz="2800" smtClean="0"/>
          </a:p>
          <a:p>
            <a:endParaRPr lang="cs-CZ" sz="2800" smtClean="0"/>
          </a:p>
          <a:p>
            <a:endParaRPr lang="cs-CZ" sz="2800" smtClean="0"/>
          </a:p>
          <a:p>
            <a:endParaRPr lang="cs-CZ" sz="2800" smtClean="0"/>
          </a:p>
          <a:p>
            <a:endParaRPr lang="cs-CZ" sz="2800"/>
          </a:p>
        </p:txBody>
      </p:sp>
      <p:sp>
        <p:nvSpPr>
          <p:cNvPr id="4" name="Obdélník 3"/>
          <p:cNvSpPr/>
          <p:nvPr/>
        </p:nvSpPr>
        <p:spPr>
          <a:xfrm>
            <a:off x="1571604" y="71414"/>
            <a:ext cx="645888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O církvi (latinsky De ecclesia)</a:t>
            </a:r>
          </a:p>
        </p:txBody>
      </p:sp>
      <p:sp>
        <p:nvSpPr>
          <p:cNvPr id="6" name="Obdélník 5"/>
          <p:cNvSpPr/>
          <p:nvPr/>
        </p:nvSpPr>
        <p:spPr>
          <a:xfrm>
            <a:off x="1571604" y="4357694"/>
            <a:ext cx="592935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500" b="1" i="1" smtClean="0">
                <a:solidFill>
                  <a:schemeClr val="bg1"/>
                </a:solidFill>
              </a:rPr>
              <a:t>… žádné místo nebo lidská volba nedělá člověka údem svaté církve obecné, nýbrž božské předurčení, a to se vztahuje na každého, kdo vytrvale následuje Krista…"</a:t>
            </a:r>
            <a:endParaRPr lang="cs-CZ" sz="2500" b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2214546" y="214290"/>
            <a:ext cx="5119543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Knížky o svatokupectví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285720" y="928670"/>
            <a:ext cx="8572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</a:t>
            </a:r>
            <a:r>
              <a:rPr lang="cs-CZ" sz="2800" b="1" smtClean="0"/>
              <a:t>česky</a:t>
            </a:r>
            <a:r>
              <a:rPr lang="cs-CZ" sz="2800" smtClean="0"/>
              <a:t>, 1413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reagovaly na prodej papežových odpustků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ostrá </a:t>
            </a:r>
            <a:r>
              <a:rPr lang="cs-CZ" sz="2800" b="1" smtClean="0"/>
              <a:t>kritika církve</a:t>
            </a:r>
            <a:r>
              <a:rPr lang="cs-CZ" sz="2800" smtClean="0"/>
              <a:t>, jejího bohatství, zištnosti, </a:t>
            </a:r>
          </a:p>
          <a:p>
            <a:r>
              <a:rPr lang="cs-CZ" sz="2800" smtClean="0"/>
              <a:t>   prodávání odpustků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za svatokupectví považoval poplatky za církevní obřady</a:t>
            </a:r>
          </a:p>
          <a:p>
            <a:r>
              <a:rPr lang="cs-CZ" sz="2800" smtClean="0"/>
              <a:t>  (křty, pohřby, mše, modlitby apod.), chudobným věřícím 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odsuzuje obsazování církevních úřadů za peníze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je pro odebrání majetku církevním hodnostářům</a:t>
            </a:r>
          </a:p>
          <a:p>
            <a:pPr>
              <a:buFont typeface="Wingdings" pitchFamily="2" charset="2"/>
              <a:buChar char="§"/>
            </a:pPr>
            <a:r>
              <a:rPr lang="cs-CZ" sz="2800" smtClean="0"/>
              <a:t> kritika celé tehdejší společnosti</a:t>
            </a:r>
          </a:p>
          <a:p>
            <a:pPr>
              <a:buFont typeface="Wingdings" pitchFamily="2" charset="2"/>
              <a:buChar char="§"/>
            </a:pPr>
            <a:endParaRPr lang="cs-CZ" sz="2800" smtClean="0"/>
          </a:p>
          <a:p>
            <a:r>
              <a:rPr lang="cs-CZ" sz="2800" smtClean="0"/>
              <a:t> </a:t>
            </a:r>
          </a:p>
          <a:p>
            <a:endParaRPr lang="cs-CZ" sz="2800"/>
          </a:p>
        </p:txBody>
      </p:sp>
      <p:sp>
        <p:nvSpPr>
          <p:cNvPr id="6" name="Obdélník 5"/>
          <p:cNvSpPr/>
          <p:nvPr/>
        </p:nvSpPr>
        <p:spPr>
          <a:xfrm>
            <a:off x="142844" y="5072074"/>
            <a:ext cx="9338647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39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 šesti bludiech ( latinsky De sex erroribus)</a:t>
            </a:r>
          </a:p>
        </p:txBody>
      </p:sp>
      <p:sp>
        <p:nvSpPr>
          <p:cNvPr id="7" name="Obdélník 6"/>
          <p:cNvSpPr/>
          <p:nvPr/>
        </p:nvSpPr>
        <p:spPr>
          <a:xfrm>
            <a:off x="357158" y="5857892"/>
            <a:ext cx="8572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smtClean="0"/>
              <a:t> zamýšlí se nad vztahem mezi církví a světským světem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dorovný svitek 6"/>
          <p:cNvSpPr/>
          <p:nvPr/>
        </p:nvSpPr>
        <p:spPr>
          <a:xfrm>
            <a:off x="928662" y="5429264"/>
            <a:ext cx="6286544" cy="1214422"/>
          </a:xfrm>
          <a:prstGeom prst="horizontalScroll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357158" y="2857496"/>
            <a:ext cx="91440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400" b="1" smtClean="0"/>
              <a:t> latinsky i česky</a:t>
            </a:r>
          </a:p>
          <a:p>
            <a:pPr>
              <a:buFont typeface="Wingdings" pitchFamily="2" charset="2"/>
              <a:buChar char="§"/>
            </a:pPr>
            <a:r>
              <a:rPr lang="cs-CZ" sz="2400" smtClean="0"/>
              <a:t> </a:t>
            </a:r>
            <a:r>
              <a:rPr lang="cs-CZ" sz="2400" b="1" smtClean="0"/>
              <a:t>píše je ve vězení v Kostnici </a:t>
            </a:r>
            <a:r>
              <a:rPr lang="cs-CZ" sz="2400" smtClean="0"/>
              <a:t>svým průvodcům, přátelům,univerzitě,</a:t>
            </a:r>
          </a:p>
          <a:p>
            <a:r>
              <a:rPr lang="cs-CZ" sz="2400" smtClean="0"/>
              <a:t>   posluchačům v Betlémské kapli a celému národu</a:t>
            </a:r>
          </a:p>
          <a:p>
            <a:pPr>
              <a:buFont typeface="Wingdings" pitchFamily="2" charset="2"/>
              <a:buChar char="§"/>
            </a:pPr>
            <a:r>
              <a:rPr lang="cs-CZ" sz="2400" smtClean="0"/>
              <a:t> vytvořil </a:t>
            </a:r>
            <a:r>
              <a:rPr lang="cs-CZ" sz="2400" b="1" smtClean="0"/>
              <a:t>nový literární druh </a:t>
            </a:r>
            <a:r>
              <a:rPr lang="cs-CZ" sz="2400" smtClean="0"/>
              <a:t>= list jako promluvu, poslání, traktát</a:t>
            </a:r>
          </a:p>
          <a:p>
            <a:pPr>
              <a:buFont typeface="Wingdings" pitchFamily="2" charset="2"/>
              <a:buChar char="§"/>
            </a:pPr>
            <a:r>
              <a:rPr lang="cs-CZ" sz="2400" smtClean="0"/>
              <a:t> listy jsou patetické, citově hluboké a přesvědčivé</a:t>
            </a:r>
          </a:p>
          <a:p>
            <a:pPr>
              <a:buFont typeface="Wingdings" pitchFamily="2" charset="2"/>
              <a:buChar char="§"/>
            </a:pPr>
            <a:r>
              <a:rPr lang="cs-CZ" sz="2400" smtClean="0"/>
              <a:t> v Čechách pak kolovaly v opisech</a:t>
            </a:r>
          </a:p>
          <a:p>
            <a:pPr>
              <a:buFont typeface="Wingdings" pitchFamily="2" charset="2"/>
              <a:buChar char="§"/>
            </a:pPr>
            <a:r>
              <a:rPr lang="cs-CZ" sz="2400" smtClean="0"/>
              <a:t> </a:t>
            </a:r>
            <a:r>
              <a:rPr lang="cs-CZ" sz="2400" b="1" smtClean="0"/>
              <a:t>závěr listu z 10.6. 1415 je odkazem všem věrným Čechům:</a:t>
            </a:r>
          </a:p>
          <a:p>
            <a:r>
              <a:rPr lang="cs-CZ" sz="2400" b="1" smtClean="0"/>
              <a:t>   </a:t>
            </a:r>
          </a:p>
          <a:p>
            <a:endParaRPr lang="cs-CZ" sz="2400" smtClean="0"/>
          </a:p>
          <a:p>
            <a:endParaRPr lang="cs-CZ" sz="2400" smtClean="0"/>
          </a:p>
          <a:p>
            <a:endParaRPr lang="cs-CZ" sz="2400" smtClean="0"/>
          </a:p>
          <a:p>
            <a:endParaRPr lang="cs-CZ" sz="2400"/>
          </a:p>
        </p:txBody>
      </p:sp>
      <p:sp>
        <p:nvSpPr>
          <p:cNvPr id="3" name="Obdélník 2"/>
          <p:cNvSpPr/>
          <p:nvPr/>
        </p:nvSpPr>
        <p:spPr>
          <a:xfrm>
            <a:off x="3286116" y="71414"/>
            <a:ext cx="1773371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Dcerka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357158" y="500042"/>
            <a:ext cx="82868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400" dirty="0" smtClean="0"/>
              <a:t> </a:t>
            </a:r>
            <a:r>
              <a:rPr lang="cs-CZ" sz="2400" b="1" dirty="0" smtClean="0"/>
              <a:t>česky</a:t>
            </a:r>
            <a:r>
              <a:rPr lang="cs-CZ" sz="2400" dirty="0" smtClean="0"/>
              <a:t>, 1413</a:t>
            </a:r>
          </a:p>
          <a:p>
            <a:pPr>
              <a:buFont typeface="Wingdings" pitchFamily="2" charset="2"/>
              <a:buChar char="§"/>
            </a:pPr>
            <a:r>
              <a:rPr lang="cs-CZ" sz="2400" dirty="0" smtClean="0"/>
              <a:t> celý název O poznání cesty pravé k spasení, neboli Dcerka</a:t>
            </a:r>
          </a:p>
          <a:p>
            <a:pPr>
              <a:buFont typeface="Wingdings" pitchFamily="2" charset="2"/>
              <a:buChar char="§"/>
            </a:pPr>
            <a:r>
              <a:rPr lang="cs-CZ" sz="2400" dirty="0" smtClean="0"/>
              <a:t> učí ženy správnému životu, jak žít v souladu s božím slovem</a:t>
            </a:r>
          </a:p>
          <a:p>
            <a:pPr>
              <a:buFont typeface="Wingdings" pitchFamily="2" charset="2"/>
              <a:buChar char="§"/>
            </a:pPr>
            <a:r>
              <a:rPr lang="cs-CZ" sz="2400" dirty="0" smtClean="0"/>
              <a:t> navazuje </a:t>
            </a:r>
            <a:r>
              <a:rPr lang="cs-CZ" sz="2400" dirty="0" smtClean="0"/>
              <a:t>na </a:t>
            </a:r>
            <a:r>
              <a:rPr lang="cs-CZ" sz="2400" dirty="0" smtClean="0"/>
              <a:t>Štítného</a:t>
            </a:r>
          </a:p>
          <a:p>
            <a:pPr>
              <a:buFont typeface="Wingdings" pitchFamily="2" charset="2"/>
              <a:buChar char="§"/>
            </a:pPr>
            <a:r>
              <a:rPr lang="cs-CZ" sz="2400" dirty="0" smtClean="0"/>
              <a:t> zdůrazňuje význam svědomí</a:t>
            </a:r>
          </a:p>
          <a:p>
            <a:endParaRPr lang="cs-CZ" sz="2400" dirty="0" smtClean="0"/>
          </a:p>
        </p:txBody>
      </p:sp>
      <p:sp>
        <p:nvSpPr>
          <p:cNvPr id="5" name="Obdélník 4"/>
          <p:cNvSpPr/>
          <p:nvPr/>
        </p:nvSpPr>
        <p:spPr>
          <a:xfrm>
            <a:off x="2928926" y="2435362"/>
            <a:ext cx="2858218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Husovy listy 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1071538" y="5643578"/>
            <a:ext cx="62151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b="1" smtClean="0">
                <a:solidFill>
                  <a:schemeClr val="bg1"/>
                </a:solidFill>
              </a:rPr>
              <a:t>„</a:t>
            </a:r>
            <a:r>
              <a:rPr lang="cs-CZ" sz="2400" b="1" i="1" smtClean="0">
                <a:solidFill>
                  <a:schemeClr val="bg1"/>
                </a:solidFill>
              </a:rPr>
              <a:t>Také prosím</a:t>
            </a:r>
            <a:r>
              <a:rPr lang="cs-CZ" sz="2400" b="1" smtClean="0">
                <a:solidFill>
                  <a:schemeClr val="bg1"/>
                </a:solidFill>
              </a:rPr>
              <a:t>, </a:t>
            </a:r>
            <a:r>
              <a:rPr lang="cs-CZ" sz="2400" b="1" i="1" smtClean="0">
                <a:solidFill>
                  <a:schemeClr val="bg1"/>
                </a:solidFill>
              </a:rPr>
              <a:t>aby sě milovali, dobrých</a:t>
            </a:r>
          </a:p>
          <a:p>
            <a:r>
              <a:rPr lang="cs-CZ" sz="2400" b="1" i="1" smtClean="0">
                <a:solidFill>
                  <a:schemeClr val="bg1"/>
                </a:solidFill>
              </a:rPr>
              <a:t> násilím tlačiti nedali a pravdy každému přáli.“</a:t>
            </a:r>
            <a:endParaRPr lang="cs-CZ" sz="2400" b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files.javos.webnode.cz/200003602-0f5831052a/Jan%20Hus%20%20-%20DVD%20v%20TE%C4%8EHN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38854" cy="65008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000232" y="214290"/>
            <a:ext cx="4786760" cy="175432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5400" b="1" smtClean="0">
                <a:ln w="50800"/>
                <a:solidFill>
                  <a:srgbClr val="002060"/>
                </a:solidFill>
              </a:rPr>
              <a:t>  5. Zajímavosti </a:t>
            </a:r>
          </a:p>
          <a:p>
            <a:r>
              <a:rPr lang="cs-CZ" sz="5400" b="1" smtClean="0">
                <a:ln w="50800"/>
                <a:solidFill>
                  <a:srgbClr val="002060"/>
                </a:solidFill>
              </a:rPr>
              <a:t>  </a:t>
            </a:r>
            <a:endParaRPr lang="cs-CZ" sz="5400" b="1">
              <a:ln w="50800"/>
              <a:solidFill>
                <a:srgbClr val="002060"/>
              </a:solidFill>
            </a:endParaRPr>
          </a:p>
        </p:txBody>
      </p:sp>
      <p:pic>
        <p:nvPicPr>
          <p:cNvPr id="3" name="Picture 4" descr="http://www.cvut.cz/fotobanka/bk/hus1.jpg/image_previ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689" y="2078053"/>
            <a:ext cx="7278087" cy="4494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Obdélník 3"/>
          <p:cNvSpPr/>
          <p:nvPr/>
        </p:nvSpPr>
        <p:spPr>
          <a:xfrm>
            <a:off x="2285984" y="1000108"/>
            <a:ext cx="4255652" cy="830997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8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Kostnický koncil</a:t>
            </a:r>
            <a:endParaRPr lang="cs-CZ" sz="48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571472" y="632752"/>
            <a:ext cx="80010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i="1" smtClean="0"/>
              <a:t>Svolal papež Jan XXIII. na nátlak římského krále Zikmunda. Koncil  si kladl za cíl ukončit papežské schizma ( trvalo již od roku 1378), obnovit jednotu církve, církevní reformy, boj proti kacířům.</a:t>
            </a:r>
            <a:endParaRPr lang="cs-CZ" sz="2400" b="1" i="1"/>
          </a:p>
        </p:txBody>
      </p:sp>
      <p:pic>
        <p:nvPicPr>
          <p:cNvPr id="52226" name="Picture 2" descr="Soubor:Johannes XXIII Gegenpapst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4000504"/>
            <a:ext cx="2180673" cy="2500330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3857620" y="5786454"/>
            <a:ext cx="2577885" cy="70788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cs-CZ" sz="2000" b="1" i="1" smtClean="0"/>
              <a:t>Vzdoropapež Jan XXIII.</a:t>
            </a:r>
          </a:p>
          <a:p>
            <a:r>
              <a:rPr lang="cs-CZ" sz="2000" b="1" i="1" smtClean="0"/>
              <a:t>v letech 1410–1415 </a:t>
            </a:r>
            <a:endParaRPr lang="cs-CZ" sz="2000" b="1" i="1"/>
          </a:p>
        </p:txBody>
      </p:sp>
      <p:pic>
        <p:nvPicPr>
          <p:cNvPr id="52228" name="Picture 4" descr="http://upload.wikimedia.org/wikipedia/commons/1/14/Gregory_XII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4214818"/>
            <a:ext cx="2357454" cy="235745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6" name="Obdélník 5"/>
          <p:cNvSpPr/>
          <p:nvPr/>
        </p:nvSpPr>
        <p:spPr>
          <a:xfrm>
            <a:off x="642910" y="2285992"/>
            <a:ext cx="8072494" cy="156966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b="1" i="1" smtClean="0">
                <a:solidFill>
                  <a:srgbClr val="C00000"/>
                </a:solidFill>
              </a:rPr>
              <a:t>Řehoř XII.</a:t>
            </a:r>
            <a:r>
              <a:rPr lang="cs-CZ" sz="2400" i="1" smtClean="0">
                <a:solidFill>
                  <a:srgbClr val="C00000"/>
                </a:solidFill>
              </a:rPr>
              <a:t>  </a:t>
            </a:r>
            <a:r>
              <a:rPr lang="cs-CZ" sz="2400" i="1" smtClean="0"/>
              <a:t>papež katolické církve 1406 – 1415  X  </a:t>
            </a:r>
            <a:r>
              <a:rPr lang="cs-CZ" sz="2400" b="1" i="1" smtClean="0">
                <a:solidFill>
                  <a:srgbClr val="C00000"/>
                </a:solidFill>
              </a:rPr>
              <a:t>Benedikt XIII</a:t>
            </a:r>
            <a:r>
              <a:rPr lang="cs-CZ" sz="2400" i="1" smtClean="0">
                <a:solidFill>
                  <a:srgbClr val="C00000"/>
                </a:solidFill>
              </a:rPr>
              <a:t>.  </a:t>
            </a:r>
            <a:r>
              <a:rPr lang="cs-CZ" sz="2400" i="1" smtClean="0"/>
              <a:t>papež v Avignonu 1394 – 1423 </a:t>
            </a:r>
            <a:r>
              <a:rPr lang="cs-CZ" sz="2400" i="1" smtClean="0">
                <a:solidFill>
                  <a:schemeClr val="accent3">
                    <a:lumMod val="50000"/>
                  </a:schemeClr>
                </a:solidFill>
              </a:rPr>
              <a:t>= 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dvojpapežství</a:t>
            </a:r>
            <a:r>
              <a:rPr lang="cs-CZ" sz="2400" i="1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cs-CZ" sz="2400" i="1" smtClean="0"/>
              <a:t>= sesazeni, odmítli se pontifikátu vzdát, zvolen Alexandr V. ( umírá 1410), </a:t>
            </a:r>
            <a:r>
              <a:rPr lang="cs-CZ" sz="2400" b="1" i="1" smtClean="0">
                <a:solidFill>
                  <a:srgbClr val="C00000"/>
                </a:solidFill>
              </a:rPr>
              <a:t>Jan XXIII</a:t>
            </a:r>
            <a:r>
              <a:rPr lang="cs-CZ" sz="2400" i="1" smtClean="0">
                <a:solidFill>
                  <a:srgbClr val="C00000"/>
                </a:solidFill>
              </a:rPr>
              <a:t>. </a:t>
            </a:r>
            <a:r>
              <a:rPr lang="cs-CZ" sz="2400" i="1" smtClean="0"/>
              <a:t>= </a:t>
            </a:r>
            <a:r>
              <a:rPr lang="cs-CZ" sz="2400" b="1" i="1" smtClean="0">
                <a:solidFill>
                  <a:schemeClr val="accent3">
                    <a:lumMod val="50000"/>
                  </a:schemeClr>
                </a:solidFill>
              </a:rPr>
              <a:t>trojpapežství</a:t>
            </a:r>
            <a:r>
              <a:rPr lang="cs-CZ" sz="2400" i="1" smtClean="0"/>
              <a:t> = abdikace všech tří, zvolen </a:t>
            </a:r>
            <a:r>
              <a:rPr lang="cs-CZ" sz="2400" b="1" i="1" smtClean="0">
                <a:solidFill>
                  <a:srgbClr val="FF0000"/>
                </a:solidFill>
              </a:rPr>
              <a:t>Martin V.</a:t>
            </a:r>
          </a:p>
        </p:txBody>
      </p:sp>
      <p:sp>
        <p:nvSpPr>
          <p:cNvPr id="9" name="Šipka dolů 8"/>
          <p:cNvSpPr/>
          <p:nvPr/>
        </p:nvSpPr>
        <p:spPr>
          <a:xfrm>
            <a:off x="428596" y="2428868"/>
            <a:ext cx="214314" cy="14070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/>
          <p:cNvSpPr/>
          <p:nvPr/>
        </p:nvSpPr>
        <p:spPr>
          <a:xfrm>
            <a:off x="1500166" y="0"/>
            <a:ext cx="646869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Kostnický koncil (1414–1418)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Soubor:C o a Martino V.sv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12" y="642918"/>
            <a:ext cx="2471588" cy="2357454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357158" y="1668742"/>
            <a:ext cx="82868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800" i="1" smtClean="0"/>
              <a:t> </a:t>
            </a:r>
            <a:r>
              <a:rPr lang="cs-CZ" sz="2800" b="1" i="1" smtClean="0">
                <a:ln w="50800"/>
                <a:solidFill>
                  <a:srgbClr val="002060"/>
                </a:solidFill>
              </a:rPr>
              <a:t>vl.jménem Odo z Colonny</a:t>
            </a:r>
          </a:p>
          <a:p>
            <a:pPr>
              <a:buFont typeface="Wingdings" pitchFamily="2" charset="2"/>
              <a:buChar char="§"/>
            </a:pPr>
            <a:r>
              <a:rPr lang="cs-CZ" sz="2800" b="1" i="1" smtClean="0">
                <a:ln w="50800"/>
              </a:rPr>
              <a:t> zvolen </a:t>
            </a:r>
            <a:r>
              <a:rPr lang="cs-CZ" sz="2800" i="1" smtClean="0"/>
              <a:t> </a:t>
            </a:r>
            <a:r>
              <a:rPr lang="cs-CZ" sz="2800" b="1" i="1" smtClean="0"/>
              <a:t>1417 na kostnickém koncilu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</a:t>
            </a:r>
            <a:r>
              <a:rPr lang="cs-CZ" sz="2800" b="1" i="1" smtClean="0"/>
              <a:t>ukončeno  Velké papežské schizma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ještě jako kardinál byl jmenován jedním z komisařů </a:t>
            </a:r>
          </a:p>
          <a:p>
            <a:r>
              <a:rPr lang="cs-CZ" sz="2800" i="1" smtClean="0"/>
              <a:t>   při procesu s Janem Husem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podílel se na jeho odsouzení, </a:t>
            </a:r>
            <a:r>
              <a:rPr lang="cs-CZ" sz="2800" b="1" i="1" smtClean="0"/>
              <a:t>vyhlásil pět křížových </a:t>
            </a:r>
          </a:p>
          <a:p>
            <a:r>
              <a:rPr lang="cs-CZ" sz="2800" b="1" i="1" smtClean="0"/>
              <a:t>   výprav proti českým husitům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 porážky poslední z nich u Domažlic se ale nedožil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 1425 vydal dekret na reformu církve</a:t>
            </a:r>
          </a:p>
          <a:p>
            <a:pPr>
              <a:buFont typeface="Wingdings" pitchFamily="2" charset="2"/>
              <a:buChar char="§"/>
            </a:pPr>
            <a:r>
              <a:rPr lang="cs-CZ" sz="2800" i="1" smtClean="0"/>
              <a:t>  1431 svolal basilejský koncil, jeho zahájení se nedožil</a:t>
            </a:r>
          </a:p>
          <a:p>
            <a:r>
              <a:rPr lang="cs-CZ" sz="2800" i="1" smtClean="0"/>
              <a:t>    ( mrtvice)</a:t>
            </a:r>
          </a:p>
        </p:txBody>
      </p:sp>
      <p:sp>
        <p:nvSpPr>
          <p:cNvPr id="5" name="TextovéPole 4"/>
          <p:cNvSpPr txBox="1"/>
          <p:nvPr/>
        </p:nvSpPr>
        <p:spPr>
          <a:xfrm>
            <a:off x="5000628" y="857232"/>
            <a:ext cx="1816523" cy="40011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000" smtClean="0"/>
              <a:t>Znak Martina V.</a:t>
            </a:r>
            <a:endParaRPr lang="cs-CZ" sz="2000"/>
          </a:p>
        </p:txBody>
      </p:sp>
      <p:sp>
        <p:nvSpPr>
          <p:cNvPr id="6" name="Obdélník 5"/>
          <p:cNvSpPr/>
          <p:nvPr/>
        </p:nvSpPr>
        <p:spPr>
          <a:xfrm>
            <a:off x="571472" y="71414"/>
            <a:ext cx="7989751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4000" b="1" smtClean="0">
                <a:ln w="50800"/>
                <a:solidFill>
                  <a:srgbClr val="002060"/>
                </a:solidFill>
              </a:rPr>
              <a:t>Papež Martin V. v letech 1417 - 1431 </a:t>
            </a:r>
            <a:endParaRPr lang="cs-CZ" sz="4000" b="1" i="1" smtClean="0">
              <a:ln w="50800"/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285720" y="714356"/>
            <a:ext cx="885828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cs-CZ" sz="2500" i="1" smtClean="0"/>
              <a:t> </a:t>
            </a:r>
            <a:r>
              <a:rPr lang="cs-CZ" sz="2500" b="1" i="1" smtClean="0"/>
              <a:t>zahájen 5. 11. 1414, vystupoval jako inkviziční tribunál</a:t>
            </a:r>
            <a:r>
              <a:rPr lang="cs-CZ" sz="2500" i="1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18 tisíc přímých delegátů a asi 100 tisíc ostatních účastníků</a:t>
            </a:r>
          </a:p>
          <a:p>
            <a:r>
              <a:rPr lang="cs-CZ" sz="2500" i="1" smtClean="0"/>
              <a:t>   a doprovodu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Hus dorazil </a:t>
            </a:r>
            <a:r>
              <a:rPr lang="cs-CZ" sz="2500" b="1" i="1" smtClean="0"/>
              <a:t>za použití ochranného glejtu </a:t>
            </a:r>
            <a:r>
              <a:rPr lang="cs-CZ" sz="2500" i="1" smtClean="0"/>
              <a:t>císaře Zikmunda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po 25 dnech pobytu byl na příkaz papeže Jana XXIII.  a kardinálů</a:t>
            </a:r>
          </a:p>
          <a:p>
            <a:r>
              <a:rPr lang="cs-CZ" sz="2500" i="1" smtClean="0"/>
              <a:t>   </a:t>
            </a:r>
            <a:r>
              <a:rPr lang="cs-CZ" sz="2500" b="1" i="1" smtClean="0"/>
              <a:t>uvězněn</a:t>
            </a:r>
            <a:r>
              <a:rPr lang="cs-CZ" sz="2500" i="1" smtClean="0"/>
              <a:t> v podzemní kopce dominikánského kláštera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vyšetřující soudci, úředníci - žalobci (42 bodů obžaloby),</a:t>
            </a:r>
          </a:p>
          <a:p>
            <a:r>
              <a:rPr lang="cs-CZ" sz="2500" i="1" smtClean="0"/>
              <a:t>   zvláštní komisař pověřený výslechem zatčeného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výslechy trvaly několik měsíců</a:t>
            </a:r>
          </a:p>
          <a:p>
            <a:pPr>
              <a:buFont typeface="Wingdings" pitchFamily="2" charset="2"/>
              <a:buChar char="§"/>
            </a:pPr>
            <a:r>
              <a:rPr lang="cs-CZ" sz="2500" i="1" smtClean="0"/>
              <a:t> po sesazení Jana XXIII., byl </a:t>
            </a:r>
            <a:r>
              <a:rPr lang="cs-CZ" sz="2500" b="1" i="1" smtClean="0"/>
              <a:t>Hus  přemístěn </a:t>
            </a:r>
          </a:p>
          <a:p>
            <a:r>
              <a:rPr lang="cs-CZ" sz="2500" b="1" i="1" smtClean="0"/>
              <a:t>   na hrad Gottlieben</a:t>
            </a:r>
            <a:r>
              <a:rPr lang="cs-CZ" sz="2500" i="1" smtClean="0"/>
              <a:t>, kde měl Hus ve dne okovy</a:t>
            </a:r>
          </a:p>
          <a:p>
            <a:r>
              <a:rPr lang="cs-CZ" sz="2500" i="1" smtClean="0"/>
              <a:t>   na nohou a na noc mu připoutávali</a:t>
            </a:r>
          </a:p>
          <a:p>
            <a:r>
              <a:rPr lang="cs-CZ" sz="2500" i="1" smtClean="0"/>
              <a:t>   i ruce k řetězu ve zdi</a:t>
            </a:r>
            <a:endParaRPr lang="cs-CZ" sz="2500" i="1"/>
          </a:p>
        </p:txBody>
      </p:sp>
      <p:sp>
        <p:nvSpPr>
          <p:cNvPr id="8" name="Obdélník 7"/>
          <p:cNvSpPr/>
          <p:nvPr/>
        </p:nvSpPr>
        <p:spPr>
          <a:xfrm>
            <a:off x="2285984" y="71414"/>
            <a:ext cx="3815725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Kostnický koncil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5602" name="Picture 2" descr="http://ao-institut.cz/texty/Ceske-dejiny/img/32-jan-z-hus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78" y="3429000"/>
            <a:ext cx="2196840" cy="32147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144828"/>
            <a:ext cx="8786842" cy="156966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Začátkem června 1415 byla obžaloba sestavena, </a:t>
            </a:r>
            <a:r>
              <a:rPr lang="cs-CZ" sz="2400" b="1" i="1" smtClean="0"/>
              <a:t>Hus </a:t>
            </a:r>
            <a:r>
              <a:rPr lang="cs-CZ" sz="2400" i="1" smtClean="0"/>
              <a:t>byl  </a:t>
            </a:r>
            <a:r>
              <a:rPr lang="cs-CZ" sz="2400" b="1" i="1" smtClean="0"/>
              <a:t>přemístěn do františkánského kláštera v Kostnici</a:t>
            </a:r>
            <a:r>
              <a:rPr lang="cs-CZ" sz="2400" i="1" smtClean="0"/>
              <a:t>, kde koncil zasedal. Odpůrcům Husa se podařilo získat jeho stoupence Štěpána Páleče a některé Husovy přátele, aby ho přesvědčili o nutnosti podřídit se koncilu. </a:t>
            </a:r>
          </a:p>
        </p:txBody>
      </p:sp>
      <p:pic>
        <p:nvPicPr>
          <p:cNvPr id="5" name="Picture 1" descr="kolorierte Federzeichnung: Sitzung mit Gegenpapst Johannes XXIII. im Konstanzer Münster, um 1460/65. Aus: Ulrich Richental: Chronik des Konzils von Konstanz, im Rosgartenmuseum in Konstan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785926"/>
            <a:ext cx="4643470" cy="3508400"/>
          </a:xfrm>
          <a:prstGeom prst="rect">
            <a:avLst/>
          </a:prstGeom>
          <a:noFill/>
        </p:spPr>
      </p:pic>
      <p:sp>
        <p:nvSpPr>
          <p:cNvPr id="6" name="Obdélník 5"/>
          <p:cNvSpPr/>
          <p:nvPr/>
        </p:nvSpPr>
        <p:spPr>
          <a:xfrm>
            <a:off x="142844" y="5357826"/>
            <a:ext cx="8858280" cy="1200329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Husovi nedali za celý měsíc možnost skoro promluvit – křičeli na něho, plivali po něm, spílali mu a proklínali ho. </a:t>
            </a:r>
            <a:r>
              <a:rPr lang="cs-CZ" sz="2400" b="1" i="1" smtClean="0"/>
              <a:t>Jeho řeč byla přerušována </a:t>
            </a:r>
            <a:r>
              <a:rPr lang="cs-CZ" sz="2400" i="1" smtClean="0"/>
              <a:t>hvízdotem a výkřiky „na hranici s ním“. Směl odpovídat – ano x ne.</a:t>
            </a:r>
            <a:endParaRPr lang="cs-CZ" sz="2400" i="1"/>
          </a:p>
        </p:txBody>
      </p:sp>
      <p:pic>
        <p:nvPicPr>
          <p:cNvPr id="7" name="Picture 6" descr="http://cimburk.branapamatek.cz/images/Zikmun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929322" y="1785926"/>
            <a:ext cx="2661947" cy="3500462"/>
          </a:xfrm>
          <a:prstGeom prst="rect">
            <a:avLst/>
          </a:prstGeom>
          <a:noFill/>
        </p:spPr>
      </p:pic>
      <p:sp>
        <p:nvSpPr>
          <p:cNvPr id="8" name="TextovéPole 7"/>
          <p:cNvSpPr txBox="1"/>
          <p:nvPr/>
        </p:nvSpPr>
        <p:spPr>
          <a:xfrm>
            <a:off x="5286380" y="2000240"/>
            <a:ext cx="357190" cy="310854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800" b="1" smtClean="0"/>
              <a:t>ZIKMUND</a:t>
            </a:r>
            <a:endParaRPr lang="cs-CZ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28596" y="214290"/>
            <a:ext cx="8143932" cy="169277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600" b="1" i="1" dirty="0" smtClean="0"/>
              <a:t>Hus i přes vězení a mučení  dal přednost mučednické smrti na hranici. Koncil </a:t>
            </a:r>
            <a:r>
              <a:rPr lang="cs-CZ" sz="2600" b="1" i="1" dirty="0" smtClean="0"/>
              <a:t>prohlásil </a:t>
            </a:r>
            <a:r>
              <a:rPr lang="cs-CZ" sz="2600" b="1" i="1" dirty="0" smtClean="0"/>
              <a:t>Husa za zatvrzelého kacíře, zbavil ho kněžské hodnosti, vyobcoval z církve a odsoudil k upálení. </a:t>
            </a:r>
          </a:p>
        </p:txBody>
      </p:sp>
      <p:pic>
        <p:nvPicPr>
          <p:cNvPr id="3" name="Picture 2" descr="Soubor:Brozik, Vaclav - Jan Hus souzen na snemu Kostnickem r. 1415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1857364"/>
            <a:ext cx="2857520" cy="455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Obdélník 3"/>
          <p:cNvSpPr/>
          <p:nvPr/>
        </p:nvSpPr>
        <p:spPr>
          <a:xfrm>
            <a:off x="1643042" y="5357826"/>
            <a:ext cx="3643338" cy="1015663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i="1" smtClean="0"/>
              <a:t>Jan Hus souzen na sněmu Kostnickém r. 1415</a:t>
            </a:r>
          </a:p>
          <a:p>
            <a:r>
              <a:rPr lang="cs-CZ" sz="2000" i="1" smtClean="0"/>
              <a:t> (detail obrazu Václava Brožíka)</a:t>
            </a:r>
            <a:endParaRPr lang="cs-CZ" sz="2000" i="1"/>
          </a:p>
        </p:txBody>
      </p:sp>
      <p:pic>
        <p:nvPicPr>
          <p:cNvPr id="5" name="Picture 2" descr="Soubor:Pierre d'Ailly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8992" y="2071678"/>
            <a:ext cx="2057414" cy="257176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6" name="Obdélník 5"/>
          <p:cNvSpPr/>
          <p:nvPr/>
        </p:nvSpPr>
        <p:spPr>
          <a:xfrm>
            <a:off x="857224" y="2143116"/>
            <a:ext cx="2206694" cy="646331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36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Petr z Ailly</a:t>
            </a:r>
            <a:endParaRPr lang="cs-CZ" sz="36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Obdélník 6"/>
          <p:cNvSpPr/>
          <p:nvPr/>
        </p:nvSpPr>
        <p:spPr>
          <a:xfrm>
            <a:off x="500034" y="3000372"/>
            <a:ext cx="2643206" cy="193899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i="1" dirty="0" smtClean="0"/>
              <a:t>Předsedal koncilu </a:t>
            </a:r>
          </a:p>
          <a:p>
            <a:r>
              <a:rPr lang="cs-CZ" sz="2000" i="1" dirty="0" smtClean="0"/>
              <a:t>v Kostnici  - francouzský teolog,filosof, logik, astrolog a kardinál. </a:t>
            </a:r>
          </a:p>
          <a:p>
            <a:r>
              <a:rPr lang="cs-CZ" sz="2000" i="1" dirty="0" smtClean="0"/>
              <a:t>K Husovi se choval poměrně </a:t>
            </a:r>
            <a:r>
              <a:rPr lang="cs-CZ" sz="2000" i="1" dirty="0" smtClean="0"/>
              <a:t>slušně.</a:t>
            </a:r>
            <a:endParaRPr lang="cs-CZ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Stížný list české a moravské šlechty kostnickému koncilu proti upálení Jana Hus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142984"/>
            <a:ext cx="7500990" cy="5520728"/>
          </a:xfrm>
          <a:prstGeom prst="rect">
            <a:avLst/>
          </a:prstGeom>
          <a:noFill/>
        </p:spPr>
      </p:pic>
      <p:sp>
        <p:nvSpPr>
          <p:cNvPr id="3" name="Obdélník 2"/>
          <p:cNvSpPr/>
          <p:nvPr/>
        </p:nvSpPr>
        <p:spPr>
          <a:xfrm>
            <a:off x="642910" y="0"/>
            <a:ext cx="8286808" cy="107721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32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Stížný list české a moravské šlechty </a:t>
            </a:r>
          </a:p>
          <a:p>
            <a:r>
              <a:rPr lang="cs-CZ" sz="3200" b="1" i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kostnickému koncilu proti upálení Jana Husa</a:t>
            </a:r>
            <a:r>
              <a:rPr lang="cs-CZ" sz="32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 </a:t>
            </a:r>
            <a:endParaRPr lang="cs-CZ" sz="32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928926" y="2571744"/>
            <a:ext cx="5643602" cy="397031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800" i="1" smtClean="0"/>
              <a:t>Zlom prý nastal v okamžiku, když Hus tvrdil, že </a:t>
            </a:r>
            <a:r>
              <a:rPr lang="cs-CZ" sz="2800" b="1" i="1" smtClean="0"/>
              <a:t>pravda je i nad panovníky, pokud ti žijí ve lži</a:t>
            </a:r>
            <a:r>
              <a:rPr lang="cs-CZ" sz="2800" i="1" smtClean="0"/>
              <a:t>. Předsedající Zikmund pochopil, že Husovo učení je nebezpečné i vůči němu, Hus tím nabádal vlastně lid k neposlušnosti vůči feudální vrchnosti. </a:t>
            </a:r>
            <a:r>
              <a:rPr lang="cs-CZ" sz="2800" b="1" i="1" smtClean="0"/>
              <a:t>Zikmund neměl už tedy zájem, aby se Hus vrátil do Čech.</a:t>
            </a:r>
            <a:endParaRPr lang="cs-CZ" sz="2800" b="1" i="1"/>
          </a:p>
        </p:txBody>
      </p:sp>
      <p:sp>
        <p:nvSpPr>
          <p:cNvPr id="4" name="Obdélník 3"/>
          <p:cNvSpPr/>
          <p:nvPr/>
        </p:nvSpPr>
        <p:spPr>
          <a:xfrm>
            <a:off x="285720" y="142852"/>
            <a:ext cx="84296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i="1" dirty="0" smtClean="0"/>
              <a:t>Koncil chtěl hlavně vyřešit dvojpapežství a  Husově případu nevěnoval zpočátku velkou </a:t>
            </a:r>
            <a:r>
              <a:rPr lang="cs-CZ" sz="2800" i="1" dirty="0" smtClean="0"/>
              <a:t>pozornost</a:t>
            </a:r>
            <a:r>
              <a:rPr lang="cs-CZ" sz="2800" i="1" dirty="0" smtClean="0"/>
              <a:t>. Nechtěli ho původně upálit,</a:t>
            </a:r>
            <a:r>
              <a:rPr lang="cs-CZ" sz="2800" b="1" i="1" dirty="0" smtClean="0"/>
              <a:t> pro církev byl lepší napravený než upálený hříšník, z kterých se pak stávali mučedníci.</a:t>
            </a:r>
            <a:endParaRPr lang="cs-CZ" sz="2800" i="1" dirty="0"/>
          </a:p>
        </p:txBody>
      </p:sp>
      <p:pic>
        <p:nvPicPr>
          <p:cNvPr id="19460" name="Picture 4" descr="http://ao-institut.cz/texty/Ceske-dejiny/img/cisar-zikmund-dur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285992"/>
            <a:ext cx="2381250" cy="4267200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4695244" y="1863858"/>
            <a:ext cx="2162772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Zikmund 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Soubor:Muttich, Kamil Vladislav - Posledni vyzvani mistru Husovi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285728"/>
            <a:ext cx="3067050" cy="4762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3786182" y="4000504"/>
            <a:ext cx="4572000" cy="2246769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/>
            <a:r>
              <a:rPr lang="cs-CZ" sz="2800" i="1" smtClean="0"/>
              <a:t>Akta koncilu se  nezachovala, dějepisci jsou odkázáni na osobní vzpomínky účastníků, především Petra </a:t>
            </a:r>
          </a:p>
          <a:p>
            <a:pPr algn="ctr"/>
            <a:r>
              <a:rPr lang="cs-CZ" sz="2800" i="1" smtClean="0"/>
              <a:t>z Mladoňovic.</a:t>
            </a:r>
            <a:endParaRPr lang="cs-CZ" sz="2800" i="1"/>
          </a:p>
        </p:txBody>
      </p:sp>
      <p:sp>
        <p:nvSpPr>
          <p:cNvPr id="4" name="TextovéPole 3"/>
          <p:cNvSpPr txBox="1"/>
          <p:nvPr/>
        </p:nvSpPr>
        <p:spPr>
          <a:xfrm>
            <a:off x="214282" y="5214950"/>
            <a:ext cx="3068982" cy="115416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cs-CZ" sz="2300" i="1" smtClean="0"/>
              <a:t>Poslední vyzvání mistru</a:t>
            </a:r>
          </a:p>
          <a:p>
            <a:r>
              <a:rPr lang="cs-CZ" sz="2300" i="1" smtClean="0"/>
              <a:t>Husovi 5.7.k podepsání </a:t>
            </a:r>
          </a:p>
          <a:p>
            <a:r>
              <a:rPr lang="cs-CZ" sz="2300" i="1" smtClean="0"/>
              <a:t>odvolání jeho učení.</a:t>
            </a:r>
            <a:endParaRPr lang="cs-CZ" sz="2300" i="1"/>
          </a:p>
        </p:txBody>
      </p:sp>
      <p:sp>
        <p:nvSpPr>
          <p:cNvPr id="5" name="Obdélník 4"/>
          <p:cNvSpPr/>
          <p:nvPr/>
        </p:nvSpPr>
        <p:spPr>
          <a:xfrm>
            <a:off x="3571868" y="214290"/>
            <a:ext cx="52864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800" i="1" smtClean="0"/>
              <a:t>Hus odmítl odvolat i přes zjednodušenou a volnou formulaci:</a:t>
            </a:r>
          </a:p>
          <a:p>
            <a:endParaRPr lang="cs-CZ" sz="2800" i="1" smtClean="0"/>
          </a:p>
          <a:p>
            <a:r>
              <a:rPr lang="cs-CZ" sz="2800" i="1" smtClean="0"/>
              <a:t> </a:t>
            </a:r>
            <a:r>
              <a:rPr lang="cs-CZ" sz="2800" b="1" i="1" smtClean="0">
                <a:solidFill>
                  <a:schemeClr val="accent6">
                    <a:lumMod val="50000"/>
                  </a:schemeClr>
                </a:solidFill>
              </a:rPr>
              <a:t>„Tyto články jsem nikdy nedržel ani nekázal a kdybych to byl učinil, zle bych to byl učinil, neboť je prohlašují za mylné a přísahám, že je nechci držet ani kázat.“</a:t>
            </a:r>
          </a:p>
          <a:p>
            <a:endParaRPr lang="cs-CZ" sz="28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upload.wikimedia.org/wikipedia/commons/e/e1/Muttich%2C_Kamil_Vladislav_-_Mistr_Jan_Hus_na_hranici_v_Kostnici_141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71546"/>
            <a:ext cx="3293624" cy="46434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Obdélník 2"/>
          <p:cNvSpPr/>
          <p:nvPr/>
        </p:nvSpPr>
        <p:spPr>
          <a:xfrm>
            <a:off x="214282" y="5857892"/>
            <a:ext cx="4357718" cy="70788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000" i="1" dirty="0" smtClean="0"/>
              <a:t>Mistr Jan Hus na hranici v </a:t>
            </a:r>
            <a:r>
              <a:rPr lang="cs-CZ" sz="2000" i="1" smtClean="0"/>
              <a:t>Kostnici 1415 (obraz </a:t>
            </a:r>
            <a:r>
              <a:rPr lang="cs-CZ" sz="2000" i="1" dirty="0" smtClean="0"/>
              <a:t>Kamila Vladislava </a:t>
            </a:r>
            <a:r>
              <a:rPr lang="cs-CZ" sz="2000" i="1" dirty="0" err="1" smtClean="0"/>
              <a:t>Mutticha</a:t>
            </a:r>
            <a:r>
              <a:rPr lang="cs-CZ" sz="2000" i="1" dirty="0" smtClean="0"/>
              <a:t>)</a:t>
            </a:r>
            <a:endParaRPr lang="cs-CZ" sz="2000" i="1" dirty="0"/>
          </a:p>
        </p:txBody>
      </p:sp>
      <p:sp>
        <p:nvSpPr>
          <p:cNvPr id="4" name="TextovéPole 3"/>
          <p:cNvSpPr txBox="1"/>
          <p:nvPr/>
        </p:nvSpPr>
        <p:spPr>
          <a:xfrm>
            <a:off x="857224" y="0"/>
            <a:ext cx="7197804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8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Upálení Jana Husa 6.7.1415</a:t>
            </a:r>
            <a:endParaRPr lang="cs-CZ" sz="48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3929058" y="1000108"/>
            <a:ext cx="5000660" cy="489364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i="1" smtClean="0"/>
              <a:t>Husovi dali do rukou tzv. kalich vykoupení a jeden z biskupů pronesl formuli prokletí:</a:t>
            </a:r>
          </a:p>
          <a:p>
            <a:r>
              <a:rPr lang="cs-CZ" sz="2400" i="1" smtClean="0"/>
              <a:t> </a:t>
            </a:r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„Ó, prokletý Jidáši! Za to, že jsi opustil církev, odnímáme ti tento kalich!“.</a:t>
            </a:r>
          </a:p>
          <a:p>
            <a:r>
              <a:rPr lang="cs-CZ" sz="2400" i="1" smtClean="0"/>
              <a:t> </a:t>
            </a:r>
          </a:p>
          <a:p>
            <a:r>
              <a:rPr lang="cs-CZ" sz="2400" i="1" smtClean="0"/>
              <a:t>Byly mu ostříhány nehty a oholena tonzura (kruh vlasů na temeni), na hlavu mu nasadili </a:t>
            </a:r>
            <a:r>
              <a:rPr lang="cs-CZ" sz="2400" b="1" i="1" smtClean="0"/>
              <a:t>papírovou čepici</a:t>
            </a:r>
          </a:p>
          <a:p>
            <a:r>
              <a:rPr lang="cs-CZ" sz="2400" b="1" i="1" smtClean="0"/>
              <a:t>s čerty a s nápisem HIC EST HAERESIARCHA.</a:t>
            </a:r>
          </a:p>
          <a:p>
            <a:r>
              <a:rPr lang="cs-CZ" sz="2400" i="1" smtClean="0"/>
              <a:t> </a:t>
            </a:r>
            <a:endParaRPr lang="cs-CZ" sz="24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oblený obdélník 6"/>
          <p:cNvSpPr/>
          <p:nvPr/>
        </p:nvSpPr>
        <p:spPr>
          <a:xfrm>
            <a:off x="3071802" y="4857760"/>
            <a:ext cx="5929354" cy="185738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Obdélník 1"/>
          <p:cNvSpPr/>
          <p:nvPr/>
        </p:nvSpPr>
        <p:spPr>
          <a:xfrm>
            <a:off x="285720" y="285728"/>
            <a:ext cx="8501122" cy="2308324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s-CZ" sz="2400" i="1" dirty="0" smtClean="0"/>
              <a:t>Popraviště mělo být za městskou branou na cestě k hradu </a:t>
            </a:r>
            <a:r>
              <a:rPr lang="cs-CZ" sz="2400" i="1" dirty="0" err="1" smtClean="0"/>
              <a:t>Gottlieben</a:t>
            </a:r>
            <a:r>
              <a:rPr lang="cs-CZ" sz="2400" i="1" dirty="0" smtClean="0"/>
              <a:t>. </a:t>
            </a:r>
            <a:r>
              <a:rPr lang="cs-CZ" sz="2400" b="1" i="1" dirty="0" smtClean="0"/>
              <a:t>Hus cestou zpíval mariánskou píseň </a:t>
            </a:r>
            <a:r>
              <a:rPr lang="cs-CZ" sz="2400" b="1" i="1" dirty="0" err="1" smtClean="0"/>
              <a:t>Christi</a:t>
            </a:r>
            <a:r>
              <a:rPr lang="cs-CZ" sz="2400" b="1" i="1" dirty="0" smtClean="0"/>
              <a:t> </a:t>
            </a:r>
            <a:r>
              <a:rPr lang="cs-CZ" sz="2400" b="1" i="1" dirty="0" err="1" smtClean="0"/>
              <a:t>virgo</a:t>
            </a:r>
            <a:r>
              <a:rPr lang="cs-CZ" sz="2400" b="1" i="1" dirty="0" smtClean="0"/>
              <a:t> </a:t>
            </a:r>
            <a:r>
              <a:rPr lang="cs-CZ" sz="2400" b="1" i="1" dirty="0" err="1" smtClean="0"/>
              <a:t>dilectissima</a:t>
            </a:r>
            <a:r>
              <a:rPr lang="cs-CZ" sz="2400" b="1" i="1" dirty="0" smtClean="0"/>
              <a:t> </a:t>
            </a:r>
            <a:r>
              <a:rPr lang="cs-CZ" sz="2400" i="1" dirty="0" smtClean="0"/>
              <a:t>a přesvědčoval lid, že neučil bludům. Poté, co byl přivázán k hranici, přijel Zikmundův maršálek a </a:t>
            </a:r>
            <a:r>
              <a:rPr lang="cs-CZ" sz="2400" b="1" i="1" dirty="0" smtClean="0"/>
              <a:t>nabídli Husovi </a:t>
            </a:r>
            <a:r>
              <a:rPr lang="cs-CZ" sz="2400" b="1" i="1" dirty="0" smtClean="0"/>
              <a:t>                 z </a:t>
            </a:r>
            <a:r>
              <a:rPr lang="cs-CZ" sz="2400" b="1" i="1" dirty="0" smtClean="0"/>
              <a:t>králova rozkazu odvolání</a:t>
            </a:r>
            <a:r>
              <a:rPr lang="cs-CZ" sz="2400" i="1" dirty="0" smtClean="0"/>
              <a:t>, aby si zachoval život</a:t>
            </a:r>
            <a:r>
              <a:rPr lang="cs-CZ" sz="2400" b="1" i="1" dirty="0" smtClean="0"/>
              <a:t>. Hus odmítl </a:t>
            </a:r>
            <a:r>
              <a:rPr lang="cs-CZ" sz="2400" b="1" i="1" dirty="0" smtClean="0"/>
              <a:t>                   a </a:t>
            </a:r>
            <a:r>
              <a:rPr lang="cs-CZ" sz="2400" b="1" i="1" dirty="0" smtClean="0"/>
              <a:t>hranice byla zapálena. </a:t>
            </a:r>
            <a:endParaRPr lang="cs-CZ" sz="2400" b="1" i="1" dirty="0"/>
          </a:p>
        </p:txBody>
      </p:sp>
      <p:pic>
        <p:nvPicPr>
          <p:cNvPr id="71682" name="Picture 2" descr="http://upload.wikimedia.org/wikipedia/commons/4/4f/Cerny,_Venceslav_-_Upaleni_mistra_Jana_Hus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643182"/>
            <a:ext cx="2571768" cy="3837746"/>
          </a:xfrm>
          <a:prstGeom prst="rect">
            <a:avLst/>
          </a:prstGeom>
          <a:noFill/>
        </p:spPr>
      </p:pic>
      <p:pic>
        <p:nvPicPr>
          <p:cNvPr id="4" name="Picture 2" descr="http://blog.idnes.cz/blog/3911/145917/060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2643182"/>
            <a:ext cx="2286000" cy="2066925"/>
          </a:xfrm>
          <a:prstGeom prst="rect">
            <a:avLst/>
          </a:prstGeom>
          <a:noFill/>
        </p:spPr>
      </p:pic>
      <p:sp>
        <p:nvSpPr>
          <p:cNvPr id="5" name="TextovéPole 4"/>
          <p:cNvSpPr txBox="1"/>
          <p:nvPr/>
        </p:nvSpPr>
        <p:spPr>
          <a:xfrm>
            <a:off x="5572132" y="2643182"/>
            <a:ext cx="327205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= Státní svátek</a:t>
            </a:r>
            <a:endParaRPr lang="cs-CZ" sz="4000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143240" y="4931174"/>
            <a:ext cx="57150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i="1" smtClean="0">
                <a:solidFill>
                  <a:schemeClr val="bg1"/>
                </a:solidFill>
              </a:rPr>
              <a:t>Boje se ublížiti svědomí svému, býti lhářem před Bohem a dáti pohoršení posluchačům a učedníkům svým, nemohu učení a spisů svých odpřísáhnouti ani odvolati! </a:t>
            </a:r>
            <a:endParaRPr lang="cs-CZ" sz="24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85720" y="142852"/>
            <a:ext cx="8643998" cy="156966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cs-CZ" sz="2400" smtClean="0"/>
              <a:t>Biskup, který celý proces upálení řídil, řekl Husovi: </a:t>
            </a:r>
          </a:p>
          <a:p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„Tvou duši svěřujeme ďáblu!“</a:t>
            </a:r>
          </a:p>
          <a:p>
            <a:r>
              <a:rPr lang="cs-CZ" sz="2400" smtClean="0"/>
              <a:t> Hus pak řekl svá poslední slova:</a:t>
            </a:r>
          </a:p>
          <a:p>
            <a:r>
              <a:rPr lang="cs-CZ" sz="2400" b="1" smtClean="0">
                <a:solidFill>
                  <a:schemeClr val="accent6">
                    <a:lumMod val="50000"/>
                  </a:schemeClr>
                </a:solidFill>
              </a:rPr>
              <a:t>„ </a:t>
            </a:r>
            <a:r>
              <a:rPr lang="cs-CZ" sz="2400" b="1" i="1" smtClean="0">
                <a:solidFill>
                  <a:schemeClr val="accent6">
                    <a:lumMod val="50000"/>
                  </a:schemeClr>
                </a:solidFill>
              </a:rPr>
              <a:t>A já svěřuji svou duši všeodpouštějícímu Pánu Ježíši Kristu!“</a:t>
            </a:r>
            <a:r>
              <a:rPr lang="cs-CZ" sz="2400" b="1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cs-CZ" sz="24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Picture 4" descr="http://upload.wikimedia.org/wikipedia/commons/thumb/0/07/Jan_hus_1.jpg/250px-Jan_hus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1857364"/>
            <a:ext cx="3504079" cy="4429156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323528" y="1595021"/>
            <a:ext cx="421484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400" i="1" dirty="0" smtClean="0"/>
              <a:t>Císař Zikmund poté odevzdal odsouzence hraběti palatinu Ludvíkovi, který nařídil kostnickému úředníkovi Hansu Hakenovi upálit Husa. </a:t>
            </a:r>
            <a:r>
              <a:rPr lang="cs-CZ" sz="2400" i="1" dirty="0" smtClean="0"/>
              <a:t>                         </a:t>
            </a:r>
            <a:r>
              <a:rPr lang="cs-CZ" sz="2400" b="1" i="1" dirty="0" smtClean="0"/>
              <a:t>Po </a:t>
            </a:r>
            <a:r>
              <a:rPr lang="cs-CZ" sz="2400" b="1" i="1" dirty="0" smtClean="0"/>
              <a:t>upálení hlavu mučedníka rozbili klacky na kousky a zuhelnatělé tělo roztrhali ještě kleštěmi. </a:t>
            </a:r>
            <a:r>
              <a:rPr lang="cs-CZ" sz="2400" i="1" dirty="0" smtClean="0"/>
              <a:t>Nakonec kati sebrali </a:t>
            </a:r>
            <a:r>
              <a:rPr lang="cs-CZ" sz="2400" b="1" i="1" dirty="0" smtClean="0"/>
              <a:t>popel z hranice ohniště a dokonce zemi z tohoto místa a hodili je do řeky Rýna</a:t>
            </a:r>
            <a:r>
              <a:rPr lang="cs-CZ" sz="2400" i="1" dirty="0" smtClean="0"/>
              <a:t>, aby si jeho přívrženci neudělali z hrobu poutní místo.</a:t>
            </a:r>
            <a:endParaRPr lang="cs-CZ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aoblený obdélník 3"/>
          <p:cNvSpPr/>
          <p:nvPr/>
        </p:nvSpPr>
        <p:spPr>
          <a:xfrm>
            <a:off x="214282" y="857232"/>
            <a:ext cx="8715436" cy="56436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ovéPole 1"/>
          <p:cNvSpPr txBox="1"/>
          <p:nvPr/>
        </p:nvSpPr>
        <p:spPr>
          <a:xfrm>
            <a:off x="517905" y="1071546"/>
            <a:ext cx="8626095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500" b="1" smtClean="0">
                <a:solidFill>
                  <a:schemeClr val="bg1"/>
                </a:solidFill>
              </a:rPr>
              <a:t>Čechové jsou bídnější než psi nebo hadi, protože pes hájí své lože, na němž leží, a kdyby jiný pes ho chtěl odehnati, bojoval by s ním a had taktéž. Ale nás Němci utiskují a zabírají úřady </a:t>
            </a:r>
          </a:p>
          <a:p>
            <a:r>
              <a:rPr lang="cs-CZ" sz="2500" b="1" smtClean="0">
                <a:solidFill>
                  <a:schemeClr val="bg1"/>
                </a:solidFill>
              </a:rPr>
              <a:t>v Čechách – a my mlčíme. Čechové v království Českém podle všeh zákonů, ano podle zákona božího a přirozené povahy věcí mají být první v úřadech v království Českém, jakož i Frankové </a:t>
            </a:r>
          </a:p>
          <a:p>
            <a:r>
              <a:rPr lang="cs-CZ" sz="2500" b="1" smtClean="0">
                <a:solidFill>
                  <a:schemeClr val="bg1"/>
                </a:solidFill>
              </a:rPr>
              <a:t>v království Franckém a Němci v zemích svých, aby Čech dovedl říditi své a Němec Němce, ale jaký prospěch z toho, že Čech, neznající řeč německou, je v Němcích knězem nebo biskupem?</a:t>
            </a:r>
          </a:p>
          <a:p>
            <a:r>
              <a:rPr lang="cs-CZ" sz="2500" b="1" smtClean="0">
                <a:solidFill>
                  <a:schemeClr val="bg1"/>
                </a:solidFill>
              </a:rPr>
              <a:t>Zajisté tolik bude platen, jako stádu pes němý, nemohoucí štěkati: a tak i nám Čechům jest platen Němec. A tak věda, že jest to proti zákonu božímu i pravidlům, tvrdím, že jest to nezákonné.</a:t>
            </a:r>
            <a:endParaRPr lang="cs-CZ" sz="2500" b="1">
              <a:solidFill>
                <a:schemeClr val="bg1"/>
              </a:solidFill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2143108" y="0"/>
            <a:ext cx="4392036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8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Z Husova kázání</a:t>
            </a:r>
            <a:endParaRPr lang="cs-CZ" sz="48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http://www.flu.cas.cz/cms/old/huscech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57166"/>
            <a:ext cx="2295525" cy="3276600"/>
          </a:xfrm>
          <a:prstGeom prst="rect">
            <a:avLst/>
          </a:prstGeom>
          <a:noFill/>
        </p:spPr>
      </p:pic>
      <p:pic>
        <p:nvPicPr>
          <p:cNvPr id="44036" name="Picture 4" descr="http://www.schacco.savana.cz/vlastni_web/bcovers/frantisek_smahel_husitska_revoluce_3_kronika_valecnych_l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60648"/>
            <a:ext cx="2352675" cy="3276600"/>
          </a:xfrm>
          <a:prstGeom prst="rect">
            <a:avLst/>
          </a:prstGeom>
          <a:noFill/>
        </p:spPr>
      </p:pic>
      <p:pic>
        <p:nvPicPr>
          <p:cNvPr id="44038" name="Picture 6" descr="http://www.schacco.savana.cz/vlastni_web/bcovers/frantisek_smahel_husitska_revoluce_4_epilog_bourliveho_veku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060848"/>
            <a:ext cx="2333625" cy="3276600"/>
          </a:xfrm>
          <a:prstGeom prst="rect">
            <a:avLst/>
          </a:prstGeom>
          <a:noFill/>
        </p:spPr>
      </p:pic>
      <p:pic>
        <p:nvPicPr>
          <p:cNvPr id="44042" name="Picture 10" descr="http://kuttna.sweb.cz/Kejr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3284984"/>
            <a:ext cx="2200275" cy="3276600"/>
          </a:xfrm>
          <a:prstGeom prst="rect">
            <a:avLst/>
          </a:prstGeom>
          <a:noFill/>
        </p:spPr>
      </p:pic>
      <p:pic>
        <p:nvPicPr>
          <p:cNvPr id="44044" name="Picture 12" descr="http://www.ceskapolitika.cz/Knihy/Zikmun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72264" y="214290"/>
            <a:ext cx="2371725" cy="3276600"/>
          </a:xfrm>
          <a:prstGeom prst="rect">
            <a:avLst/>
          </a:prstGeom>
          <a:noFill/>
        </p:spPr>
      </p:pic>
      <p:pic>
        <p:nvPicPr>
          <p:cNvPr id="8" name="Picture 2" descr="http://worsten.org/idaro/sakar_husit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00430" y="3643314"/>
            <a:ext cx="2124075" cy="3000375"/>
          </a:xfrm>
          <a:prstGeom prst="rect">
            <a:avLst/>
          </a:prstGeom>
          <a:noFill/>
        </p:spPr>
      </p:pic>
      <p:sp>
        <p:nvSpPr>
          <p:cNvPr id="9" name="TextovéPole 8"/>
          <p:cNvSpPr txBox="1"/>
          <p:nvPr/>
        </p:nvSpPr>
        <p:spPr>
          <a:xfrm>
            <a:off x="2357422" y="0"/>
            <a:ext cx="456958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4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Literatura o husitství</a:t>
            </a:r>
            <a:endParaRPr lang="cs-CZ" sz="4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7170" name="Picture 2" descr="http://www.schacco.savana.cz/vlastni_web/bcovers/stanislav_sousedik_uceni_o_eucharistii_v_dile_m_jana_husa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71538" y="3071809"/>
            <a:ext cx="2071702" cy="32370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2" name="Picture 8" descr="http://i46.tinypic.com/2qktk0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4560" y="3857628"/>
            <a:ext cx="3159440" cy="2367859"/>
          </a:xfrm>
          <a:prstGeom prst="rect">
            <a:avLst/>
          </a:prstGeom>
          <a:noFill/>
        </p:spPr>
      </p:pic>
      <p:pic>
        <p:nvPicPr>
          <p:cNvPr id="10" name="Picture 2" descr="http://img301.imageshack.us/img301/4489/husitko6y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4546" y="3473624"/>
            <a:ext cx="4365694" cy="3384376"/>
          </a:xfrm>
          <a:prstGeom prst="rect">
            <a:avLst/>
          </a:prstGeom>
          <a:noFill/>
        </p:spPr>
      </p:pic>
      <p:pic>
        <p:nvPicPr>
          <p:cNvPr id="21508" name="Picture 4" descr="http://hroch.spseol.cz/~vac26092/images/Obdobi/husitsk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8145" y="785794"/>
            <a:ext cx="9035855" cy="2708920"/>
          </a:xfrm>
          <a:prstGeom prst="rect">
            <a:avLst/>
          </a:prstGeom>
          <a:noFill/>
        </p:spPr>
      </p:pic>
      <p:pic>
        <p:nvPicPr>
          <p:cNvPr id="21510" name="Picture 6" descr="http://www.e-stredovek.cz/upload/ulozene/H_korouhev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390871"/>
            <a:ext cx="2267744" cy="3467129"/>
          </a:xfrm>
          <a:prstGeom prst="rect">
            <a:avLst/>
          </a:prstGeom>
          <a:noFill/>
        </p:spPr>
      </p:pic>
      <p:sp>
        <p:nvSpPr>
          <p:cNvPr id="11" name="TextovéPole 10"/>
          <p:cNvSpPr txBox="1"/>
          <p:nvPr/>
        </p:nvSpPr>
        <p:spPr>
          <a:xfrm>
            <a:off x="6643702" y="6150114"/>
            <a:ext cx="21741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4000" b="1" dirty="0" smtClean="0"/>
              <a:t>15.století</a:t>
            </a:r>
            <a:endParaRPr lang="cs-CZ" sz="4000" b="1" dirty="0"/>
          </a:p>
        </p:txBody>
      </p:sp>
      <p:sp>
        <p:nvSpPr>
          <p:cNvPr id="8" name="TextovéPole 7"/>
          <p:cNvSpPr txBox="1"/>
          <p:nvPr/>
        </p:nvSpPr>
        <p:spPr>
          <a:xfrm>
            <a:off x="1240865" y="-142900"/>
            <a:ext cx="6974473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cs-CZ" sz="6000" b="1" smtClean="0">
                <a:ln w="11430"/>
                <a:solidFill>
                  <a:schemeClr val="accent6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Navazuje prezentace:</a:t>
            </a:r>
            <a:endParaRPr lang="cs-CZ" sz="6000" b="1">
              <a:ln w="11430"/>
              <a:solidFill>
                <a:schemeClr val="accent6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142844" y="343044"/>
            <a:ext cx="9001156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300" b="1" noProof="1" smtClean="0"/>
              <a:t>http://cs.wikipedia.org/wiki/Soubor:Jan_Vil%C3%ADmek_-_Mistr_Jan_Hus.jpg</a:t>
            </a:r>
          </a:p>
          <a:p>
            <a:r>
              <a:rPr lang="cs-CZ" sz="1300" b="1" noProof="1" smtClean="0"/>
              <a:t>http://cs.wikipedia.org/wiki/Soubor:Hymn_book_of_jistebnice.jpg</a:t>
            </a:r>
          </a:p>
          <a:p>
            <a:r>
              <a:rPr lang="cs-CZ" sz="1300" b="1" noProof="1" smtClean="0"/>
              <a:t>http://cs.wikipedia.org/wiki/Soubor:Chle%C4%8Dice_(7).JPG</a:t>
            </a:r>
          </a:p>
          <a:p>
            <a:r>
              <a:rPr lang="cs-CZ" sz="1300" b="1" noProof="1" smtClean="0"/>
              <a:t>http://cs.wikipedia.org/wiki/Soubor:Prague_hus_statue.jpg</a:t>
            </a:r>
          </a:p>
          <a:p>
            <a:r>
              <a:rPr lang="cs-CZ" sz="1300" b="1" noProof="1" smtClean="0"/>
              <a:t>http://upload.wikimedia.org/wikipedia/commons/e/e1/Muttich%2C_Kamil_Vladislav_-_Mistr_Jan_Hus_na_hranici_v_Kostnici_1415.jpg</a:t>
            </a:r>
          </a:p>
          <a:p>
            <a:r>
              <a:rPr lang="cs-CZ" sz="1300" b="1" noProof="1" smtClean="0"/>
              <a:t>http://cs.wikipedia.org/wiki/Soubor:Kto%C5%BE_s%C3%BA_bo%C5%BE%C3%AD_bojovn%C3%ADci.gif</a:t>
            </a:r>
          </a:p>
          <a:p>
            <a:r>
              <a:rPr lang="cs-CZ" sz="1300" b="1" noProof="1" smtClean="0"/>
              <a:t>http://cs.wikipedia.org/wiki/Kto%C5%BE_js%C3%BA_bo%C5%BE%C3%AD_bojovn%C3%ADci</a:t>
            </a:r>
          </a:p>
          <a:p>
            <a:r>
              <a:rPr lang="cs-CZ" sz="1300" b="1" noProof="1" smtClean="0"/>
              <a:t>http://cs.wikipedia.org/wiki/Soubor:Pintoricchio_012.jp</a:t>
            </a:r>
          </a:p>
          <a:p>
            <a:r>
              <a:rPr lang="cs-CZ" sz="1300" b="1" noProof="1" smtClean="0"/>
              <a:t>http://www.husitstvi.cz/pic/kniha10m.jpg</a:t>
            </a:r>
          </a:p>
          <a:p>
            <a:r>
              <a:rPr lang="cs-CZ" sz="1300" b="1" noProof="1" smtClean="0"/>
              <a:t>http://www.bezverov.cz/data/editor/2cs_7.jpg?gcm_date=1194360980</a:t>
            </a:r>
          </a:p>
          <a:p>
            <a:r>
              <a:rPr lang="cs-CZ" sz="1300" b="1" noProof="1" smtClean="0"/>
              <a:t>http://www.podzemni-antikvariat.cz/img/foto/f/sl706685.jpg</a:t>
            </a:r>
          </a:p>
          <a:p>
            <a:r>
              <a:rPr lang="cs-CZ" sz="1300" b="1" noProof="1" smtClean="0"/>
              <a:t>http://www.flu.cas.cz/cms/old/huscechy.jpg</a:t>
            </a:r>
          </a:p>
          <a:p>
            <a:r>
              <a:rPr lang="cs-CZ" sz="1300" b="1" noProof="1" smtClean="0"/>
              <a:t>http://www.schacco.savana.cz/vlastni_web/bcovers/frantisek_smahel_husitska_revoluce_3_kronika_valecnych_let.jpg</a:t>
            </a:r>
          </a:p>
          <a:p>
            <a:r>
              <a:rPr lang="cs-CZ" sz="1300" b="1" noProof="1" smtClean="0"/>
              <a:t>http://hroch.spseol.cz/~vac26092/images/Obdobi/husitska.png</a:t>
            </a:r>
          </a:p>
          <a:p>
            <a:r>
              <a:rPr lang="cs-CZ" sz="1300" b="1" noProof="1" smtClean="0"/>
              <a:t>http://www.luxusnikroniky.cz/userfiles/image/husitsky-choral.jpg</a:t>
            </a:r>
          </a:p>
          <a:p>
            <a:r>
              <a:rPr lang="cs-CZ" sz="1300" b="1" noProof="1" smtClean="0"/>
              <a:t>http://www.schacco.savana.cz/vlastni_web/bcovers/frantisek_smahel_husitska_revoluce_4_epilog_bourliveho_veku.jpg</a:t>
            </a:r>
          </a:p>
          <a:p>
            <a:r>
              <a:rPr lang="cs-CZ" sz="1300" b="1" noProof="1" smtClean="0"/>
              <a:t>http://www.antik-holy.cz/obrazky/5309/P1010018.JPG</a:t>
            </a:r>
          </a:p>
          <a:p>
            <a:r>
              <a:rPr lang="cs-CZ" sz="1300" b="1" noProof="1" smtClean="0"/>
              <a:t>http://i46.tinypic.com/2qktk0m.jpg</a:t>
            </a:r>
          </a:p>
          <a:p>
            <a:r>
              <a:rPr lang="cs-CZ" sz="1300" b="1" noProof="1" smtClean="0"/>
              <a:t>http://www.ceskapolitika.cz/Knihy/Zikmund.jpg</a:t>
            </a:r>
          </a:p>
          <a:p>
            <a:r>
              <a:rPr lang="cs-CZ" sz="1300" b="1" noProof="1" smtClean="0"/>
              <a:t>http://worsten.org/idaro/sakar_husite.jpg</a:t>
            </a:r>
          </a:p>
          <a:p>
            <a:r>
              <a:rPr lang="cs-CZ" sz="1300" b="1" noProof="1" smtClean="0"/>
              <a:t>http://img301.imageshack.us/img301/4489/husitko6yf.jpg</a:t>
            </a:r>
          </a:p>
          <a:p>
            <a:r>
              <a:rPr lang="cs-CZ" sz="1300" b="1" noProof="1" smtClean="0"/>
              <a:t>http://hudebnirozhledy.scena.cz/fota/cl366.jpg</a:t>
            </a:r>
          </a:p>
          <a:p>
            <a:r>
              <a:rPr lang="cs-CZ" sz="1300" b="1" noProof="1" smtClean="0"/>
              <a:t>http://ces.mkcr.cz/cz/img/5/3/8/p1117.jpg</a:t>
            </a:r>
          </a:p>
          <a:p>
            <a:r>
              <a:rPr lang="cs-CZ" sz="1300" b="1" noProof="1" smtClean="0"/>
              <a:t>http://eshop.trafikadvd.cz/shop/e/1243/t/3331_husitska_kronika3.jpg</a:t>
            </a:r>
          </a:p>
          <a:p>
            <a:r>
              <a:rPr lang="cs-CZ" sz="1300" b="1" noProof="1" smtClean="0"/>
              <a:t>http://knihynainternetu.cz/foto2/00561256708_.jpeg</a:t>
            </a:r>
            <a:r>
              <a:rPr lang="cs-CZ" sz="1200" b="1" smtClean="0"/>
              <a:t> </a:t>
            </a:r>
          </a:p>
          <a:p>
            <a:r>
              <a:rPr lang="cs-CZ" sz="1400" b="1" smtClean="0"/>
              <a:t>http://www.ilouny.cz/ikony/Krakovec1x2008102122458_22.jpg</a:t>
            </a:r>
          </a:p>
          <a:p>
            <a:r>
              <a:rPr lang="cs-CZ" sz="1400" b="1" smtClean="0"/>
              <a:t>http://cs.wikipedia.org/wiki/Soubor:Zikmund_Zho%C5%99elecka_radnice.jpg</a:t>
            </a:r>
          </a:p>
          <a:p>
            <a:r>
              <a:rPr lang="cs-CZ" sz="1400" b="1" smtClean="0"/>
              <a:t>http://cs.wikipedia.org/wiki/Soubor:Johannes_XXIII_Gegenpapst.jpg</a:t>
            </a:r>
          </a:p>
          <a:p>
            <a:r>
              <a:rPr lang="cs-CZ" sz="1400" b="1" noProof="1" smtClean="0"/>
              <a:t>http://www.schacco.savana.cz/vlastni_web/bcovers/stanislav_sousedik_uceni_o_eucharistii_v_dile_m_jana_husa.jpg</a:t>
            </a:r>
          </a:p>
          <a:p>
            <a:r>
              <a:rPr lang="cs-CZ" sz="1400" b="1" noProof="1" smtClean="0"/>
              <a:t>http://img3.ct24.cz/multimedia/images/10/971/small/97022.jpg</a:t>
            </a:r>
          </a:p>
          <a:p>
            <a:r>
              <a:rPr lang="cs-CZ" sz="1400" b="1" noProof="1" smtClean="0"/>
              <a:t>http://www.melcer.biz/img/pohledy/images_big/17520.jpg</a:t>
            </a:r>
            <a:endParaRPr lang="cs-CZ" sz="1400" b="1" noProof="1"/>
          </a:p>
        </p:txBody>
      </p:sp>
      <p:sp>
        <p:nvSpPr>
          <p:cNvPr id="5" name="TextovéPole 4"/>
          <p:cNvSpPr txBox="1"/>
          <p:nvPr/>
        </p:nvSpPr>
        <p:spPr>
          <a:xfrm>
            <a:off x="251520" y="-71462"/>
            <a:ext cx="824957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3200" b="1" dirty="0" smtClean="0">
                <a:ln w="50800"/>
                <a:solidFill>
                  <a:srgbClr val="002060"/>
                </a:solidFill>
              </a:rPr>
              <a:t>Použitá literatura a zdroje:</a:t>
            </a:r>
            <a:endParaRPr lang="cs-CZ" sz="3200" b="1" dirty="0">
              <a:ln w="50800"/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180684" y="-24"/>
            <a:ext cx="8963316" cy="763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400" b="1" dirty="0" smtClean="0"/>
              <a:t>http</a:t>
            </a:r>
            <a:r>
              <a:rPr lang="cs-CZ" sz="1400" b="1" smtClean="0"/>
              <a:t>://upload.wikimedia.org/wikipedia/commons/thumb/0/07/Jan_hus_1.jpg/250px-Jan_hus_1.jpg</a:t>
            </a:r>
          </a:p>
          <a:p>
            <a:r>
              <a:rPr lang="cs-CZ" sz="1400" b="1" smtClean="0"/>
              <a:t>http://img.radio.cz/pictures/osobnosti/zizka_janx.jpg</a:t>
            </a:r>
          </a:p>
          <a:p>
            <a:r>
              <a:rPr lang="cs-CZ" sz="1400" b="1" smtClean="0"/>
              <a:t>http://malotridka.ic.cz/gallery/historie107.jpg</a:t>
            </a:r>
          </a:p>
          <a:p>
            <a:r>
              <a:rPr lang="cs-CZ" sz="1400" b="1" smtClean="0"/>
              <a:t>http://ao-institut.cz/texty/Ceske-dejiny/img/zbrane-husitske.jpg</a:t>
            </a:r>
          </a:p>
          <a:p>
            <a:r>
              <a:rPr lang="cs-CZ" sz="1400" b="1" smtClean="0"/>
              <a:t>http://www.horesany.host.sk/obr/husitsky_voz.jpg</a:t>
            </a:r>
          </a:p>
          <a:p>
            <a:r>
              <a:rPr lang="cs-CZ" sz="1400" b="1" smtClean="0"/>
              <a:t>http://upload.wikimedia.org/wikipedia/commons/thumb/5/57/Klassischer-Flegel.jpg/220px-Klassischer-Flegel.jpg</a:t>
            </a:r>
          </a:p>
          <a:p>
            <a:r>
              <a:rPr lang="cs-CZ" sz="1400" b="1" smtClean="0"/>
              <a:t>http://simonak.eu/images/obrazky_ostatni_strany/h_k/8_14.jpg</a:t>
            </a:r>
          </a:p>
          <a:p>
            <a:r>
              <a:rPr lang="cs-CZ" sz="1400" b="1" smtClean="0"/>
              <a:t>http://www.husitstvi.cz/pic/g45-9.jpg</a:t>
            </a:r>
          </a:p>
          <a:p>
            <a:r>
              <a:rPr lang="cs-CZ" sz="1400" b="1" smtClean="0"/>
              <a:t>http://cs.wikipedia.org/wiki/Soubor:Jan_Mil%C3%AD%C4%8D_z_Krom%C4%9B%C5%99%C3%AD%C5%BEe.JPG</a:t>
            </a:r>
          </a:p>
          <a:p>
            <a:r>
              <a:rPr lang="cs-CZ" sz="1400" b="1" smtClean="0"/>
              <a:t>http://cs.wikipedia.org/wiki/Soubor:Betlemska_kaple.jpg</a:t>
            </a:r>
          </a:p>
          <a:p>
            <a:r>
              <a:rPr lang="cs-CZ" sz="1400" b="1" smtClean="0"/>
              <a:t>http://knihovna.nkp.cz/knihovna72/obrazky/72014a.jpg</a:t>
            </a:r>
          </a:p>
          <a:p>
            <a:r>
              <a:rPr lang="cs-CZ" sz="1400" b="1" smtClean="0"/>
              <a:t>http://www.ceska-konference.cz/uploads/obr/prispevky/historie-ceskeho-naroda/jan-hus-3.jpg</a:t>
            </a:r>
          </a:p>
          <a:p>
            <a:r>
              <a:rPr lang="cs-CZ" sz="1400" b="1" smtClean="0"/>
              <a:t>http://files.javos.webnode.cz/200003602-0f5831052a/Jan%20Hus%20%20-%20DVD%20v%20TE%C4%8EHNED.jpg</a:t>
            </a:r>
          </a:p>
          <a:p>
            <a:r>
              <a:rPr lang="cs-CZ" sz="1400" b="1" smtClean="0"/>
              <a:t>http://www.cvut.cz/fotobanka/bk/hus1.jpg/image_previewhttp://www.ceska-</a:t>
            </a:r>
          </a:p>
          <a:p>
            <a:r>
              <a:rPr lang="cs-CZ" sz="1400" b="1" smtClean="0"/>
              <a:t>http://www.quido.cz/osobnosti/images/hus.jpg</a:t>
            </a:r>
          </a:p>
          <a:p>
            <a:r>
              <a:rPr lang="cs-CZ" sz="1400" b="1" smtClean="0"/>
              <a:t>http://knihynainternetu.cz/foto2/00561256614_.jpeg</a:t>
            </a:r>
          </a:p>
          <a:p>
            <a:r>
              <a:rPr lang="cs-CZ" sz="1400" b="1" smtClean="0"/>
              <a:t>http://www.knihynainternetu.cz/foto2/00561256769_.jpeg</a:t>
            </a:r>
          </a:p>
          <a:p>
            <a:r>
              <a:rPr lang="cs-CZ" sz="1400" b="1" smtClean="0"/>
              <a:t>http://www.podzemni-antikvariat.cz/img/foto/t/__sl706094.jpg</a:t>
            </a:r>
          </a:p>
          <a:p>
            <a:r>
              <a:rPr lang="cs-CZ" sz="1400" b="1" smtClean="0"/>
              <a:t>http://upload.wikimedia.org/wikipedia/commons/thumb/1/10/Tomas_Stitny_ze_Stitneho_relief.jpg/220px-Tomas_Stitny_ze_Stitneho_relief.jpg</a:t>
            </a:r>
          </a:p>
          <a:p>
            <a:r>
              <a:rPr lang="cs-CZ" sz="1400" b="1" smtClean="0"/>
              <a:t>http://cs.wikipedia.org/wiki/Soubor:Jan_Vil%C3%ADmek_-_Tom%C3%A1%C5%A1_%C5%A0t%C3%ADtn%C3%BD_ze_%C5%A0t%C3%ADtn%C3%A9ho.jpg</a:t>
            </a:r>
          </a:p>
          <a:p>
            <a:r>
              <a:rPr lang="cs-CZ" sz="1400" b="1" smtClean="0"/>
              <a:t>http://cs.wikipedia.org/wiki/Soubor:Jwycliffejmk.jpg http://4.bp.blogspot.com/_MRp4yU2kDdo/Su2Nw8XxQII/AAAAAAAACJ0/4xYTgusAZus/s400/JOHN+WYCLIFFE.1.bmp</a:t>
            </a:r>
          </a:p>
          <a:p>
            <a:r>
              <a:rPr lang="cs-CZ" sz="1400" b="1" smtClean="0"/>
              <a:t>http://www.os-obroda.cz/grafika/clanky/jan-hus-betlem.jpg</a:t>
            </a:r>
          </a:p>
          <a:p>
            <a:r>
              <a:rPr lang="cs-CZ" sz="1400" b="1" smtClean="0"/>
              <a:t>http://www.zamky-hrady.eu/img/hrady/1236273433.jpg</a:t>
            </a:r>
          </a:p>
          <a:p>
            <a:r>
              <a:rPr lang="cs-CZ" sz="1400" b="1" smtClean="0"/>
              <a:t>http://www.mikulov.cz/digitalAssets/thumbnail_618_2000_82834_kozi_hradek2.jpg</a:t>
            </a:r>
          </a:p>
          <a:p>
            <a:r>
              <a:rPr lang="cs-CZ" sz="1400" b="1" smtClean="0"/>
              <a:t>http://www.zamky-hrady.cz/2/img/krakovec_let.jpg</a:t>
            </a:r>
          </a:p>
          <a:p>
            <a:r>
              <a:rPr lang="cs-CZ" sz="1400" b="1" smtClean="0"/>
              <a:t>http://sites.google.com/site/pikasek/_/rsrc/1258729272281/jan-hus-husinec/Husinec%20Husova%20sv%C4%9Btni%C4%8Dka.jpg?height=300&amp;width=400</a:t>
            </a:r>
          </a:p>
          <a:p>
            <a:r>
              <a:rPr lang="cs-CZ" sz="1400" b="1" smtClean="0"/>
              <a:t>http://sites.google.com/site/pikasek/_/rsrc/1258641052783/jan-hus-husinec/Husinec%20rodn%C3%BD%20domek.jpg?height=300&amp;width=400</a:t>
            </a:r>
          </a:p>
          <a:p>
            <a:endParaRPr lang="cs-CZ" sz="1400" b="1" smtClean="0"/>
          </a:p>
          <a:p>
            <a:endParaRPr lang="cs-CZ" sz="1400" b="1" smtClean="0"/>
          </a:p>
          <a:p>
            <a:endParaRPr lang="cs-CZ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14282" y="-24"/>
            <a:ext cx="871543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400" b="1" smtClean="0"/>
              <a:t>http://upload.wikimedia.org/wikipedia/commons/1/14/Gregory_XII.jpg</a:t>
            </a:r>
          </a:p>
          <a:p>
            <a:r>
              <a:rPr lang="cs-CZ" sz="1400" b="1" smtClean="0"/>
              <a:t>http://cs.wikipedia.org/wiki/Soubor:C_o_a_Martino_V.svg</a:t>
            </a:r>
          </a:p>
          <a:p>
            <a:r>
              <a:rPr lang="cs-CZ" sz="1400" b="1" smtClean="0"/>
              <a:t>http://cs.wikipedia.org/wiki/Soubor:Konstanz_Bischofswappen.jpg</a:t>
            </a:r>
          </a:p>
          <a:p>
            <a:r>
              <a:rPr lang="cs-CZ" sz="1400" b="1" smtClean="0"/>
              <a:t>http://www.google.cz/imgres?imgurl=http://www.heiligenlexikon.de/Fotos/Konzil_Konstanz.jpg&amp;imgrefurl=http://www.heiligenlexikon.de/Glossar/Konzil_von_Konstanz.htm&amp;usg=__cy5_qIbAvG4Epbi-KjQt8OdAlq4=&amp;h=395&amp;w=595&amp;sz=59&amp;hl=cs&amp;start=7&amp;zoom=1&amp;itbs=1&amp;tbnid=xuSDkzG9xe-wJM:&amp;tbnh=90&amp;tbnw=135&amp;prev=/images%3Fq%3DkONSTANZ%26hl%3Dcs%26sa%3DG%26gbv%3D2%26tbs%3Disch:1&amp;ei=c4FATezvB47_4Ab63vHJAg</a:t>
            </a:r>
          </a:p>
          <a:p>
            <a:r>
              <a:rPr lang="cs-CZ" sz="1400" b="1" smtClean="0"/>
              <a:t>http://www.heiligenlexikon.de/Fotos/Konzil_Konstanz.jpg</a:t>
            </a:r>
          </a:p>
          <a:p>
            <a:r>
              <a:rPr lang="cs-CZ" sz="1400" b="1" smtClean="0"/>
              <a:t>http://www.konstanz.de/tourismus/01434/01435/01648/index.html</a:t>
            </a:r>
          </a:p>
          <a:p>
            <a:r>
              <a:rPr lang="cs-CZ" sz="1400" b="1" smtClean="0"/>
              <a:t>http://www.konstanz.de/tourismus/01434/01435/01648/index.html</a:t>
            </a:r>
          </a:p>
          <a:p>
            <a:r>
              <a:rPr lang="cs-CZ" sz="1400" b="1" smtClean="0"/>
              <a:t>http://cs.wikipedia.org/wiki/Soubor:Brozik,_Vaclav_-_Jan_Hus_souzen_na_snemu_Kostnickem_r._1415.jpg</a:t>
            </a:r>
          </a:p>
          <a:p>
            <a:r>
              <a:rPr lang="cs-CZ" sz="1400" b="1" smtClean="0"/>
              <a:t>http://cs.wikipedia.org/wiki/Soubor:Muttich,_Kamil_Vladislav_-_Posledni_vyzvani_mistru_Husovi.jpg</a:t>
            </a:r>
          </a:p>
          <a:p>
            <a:r>
              <a:rPr lang="cs-CZ" sz="1400" b="1" smtClean="0"/>
              <a:t>http://cs.wikipedia.org/wiki/Soubor:Pierre_d%27Ailly.jpg</a:t>
            </a:r>
          </a:p>
          <a:p>
            <a:r>
              <a:rPr lang="cs-CZ" sz="1400" b="1" smtClean="0"/>
              <a:t>http://cs.wikipedia.org/wiki/Jan_Hus</a:t>
            </a:r>
          </a:p>
          <a:p>
            <a:r>
              <a:rPr lang="cs-CZ" sz="1400" b="1" smtClean="0"/>
              <a:t>http://cs.wikipedia.org/wiki/Soubor:Detail-Hrad_Koz%C3%AD.jpg</a:t>
            </a:r>
          </a:p>
          <a:p>
            <a:r>
              <a:rPr lang="cs-CZ" sz="1400" b="1" smtClean="0"/>
              <a:t>http://upload.wikimedia.org/wikipedia/commons/4/4f/Cerny,_Venceslav_-_Upaleni_mistra_Jana_Husa.jpg</a:t>
            </a:r>
          </a:p>
          <a:p>
            <a:r>
              <a:rPr lang="cs-CZ" sz="1400" b="1" smtClean="0"/>
              <a:t>http://blog.idnes.cz/blog/3911/145917/0607.jpg</a:t>
            </a:r>
          </a:p>
          <a:p>
            <a:r>
              <a:rPr lang="cs-CZ" sz="1400" b="1" smtClean="0"/>
              <a:t>http://cs.wikipedia.org/wiki/Soubor:Jan_Hus_monument_in_Husinec.jpg</a:t>
            </a:r>
          </a:p>
          <a:p>
            <a:r>
              <a:rPr lang="cs-CZ" sz="1400" b="1" smtClean="0"/>
              <a:t>http://www.feudum.eu/pic/hus_p_01.jpg</a:t>
            </a:r>
          </a:p>
          <a:p>
            <a:r>
              <a:rPr lang="cs-CZ" sz="1400" b="1" noProof="1" smtClean="0"/>
              <a:t>Vlastní  přípravy do vyučování, výstřižky z novin, vyrobené fólie.</a:t>
            </a:r>
          </a:p>
          <a:p>
            <a:r>
              <a:rPr lang="cs-CZ" sz="1400" b="1" smtClean="0"/>
              <a:t>Prokop V.: Dějiny literatury od starověku do počátku 19. století</a:t>
            </a:r>
            <a:r>
              <a:rPr lang="cs-CZ" sz="1400" b="1" i="1" smtClean="0"/>
              <a:t>, </a:t>
            </a:r>
            <a:r>
              <a:rPr lang="cs-CZ" sz="1400" b="1" smtClean="0"/>
              <a:t>Sokolov, 2001</a:t>
            </a:r>
          </a:p>
          <a:p>
            <a:r>
              <a:rPr lang="cs-CZ" sz="1400" b="1" noProof="1" smtClean="0"/>
              <a:t>Martínková, Věra a kol.,: Čítanka 1, Trizonia, Praha, 1991</a:t>
            </a:r>
          </a:p>
          <a:p>
            <a:r>
              <a:rPr lang="cs-CZ" sz="1400" b="1" noProof="1" smtClean="0"/>
              <a:t>Hrabák,Josef, Jeřábek, Dušan, Tichá, Zdenka : Průvodce po dějinách české literatury, Orbis, Praha  1976 </a:t>
            </a:r>
          </a:p>
          <a:p>
            <a:r>
              <a:rPr lang="cs-CZ" sz="1400" b="1" noProof="1" smtClean="0"/>
              <a:t>Balajka, Bohuslav a kol.: Přehledné dějiny literatury, SPN Praha 1970</a:t>
            </a:r>
          </a:p>
          <a:p>
            <a:r>
              <a:rPr lang="cs-CZ" sz="1400" b="1" smtClean="0"/>
              <a:t>Polášková T., Milotová D., Dvořáková Z.: Literatura-přehled středoškolského učiva</a:t>
            </a:r>
            <a:r>
              <a:rPr lang="cs-CZ" sz="1400" b="1" i="1" smtClean="0"/>
              <a:t>, </a:t>
            </a:r>
            <a:r>
              <a:rPr lang="cs-CZ" sz="1400" b="1" smtClean="0"/>
              <a:t>Edice Maturita, Třebíč, 2005</a:t>
            </a:r>
          </a:p>
          <a:p>
            <a:r>
              <a:rPr lang="cs-CZ" sz="1400" b="1" smtClean="0"/>
              <a:t>Augusta P., Honzák F., Picková D., Kubů N. : Dějiny středověku a raného novověku, Práce, Praha 1996</a:t>
            </a:r>
          </a:p>
          <a:p>
            <a:r>
              <a:rPr lang="cs-CZ" sz="1400" b="1" smtClean="0">
                <a:cs typeface="Arial" pitchFamily="34" charset="0"/>
              </a:rPr>
              <a:t>Sochrová, Marie: Dějepis v kostce I, Fragment, Havlíčkův Brod 2004</a:t>
            </a:r>
          </a:p>
          <a:p>
            <a:r>
              <a:rPr lang="cs-CZ" sz="1400" b="1" smtClean="0">
                <a:cs typeface="Arial" pitchFamily="34" charset="0"/>
              </a:rPr>
              <a:t>Čornej, Petr, Čornejová, Ivana, Parkan, František :Středověk a raný novověk, Dějepis pro gymnázia a střední školy, SPN, Praha 2001</a:t>
            </a:r>
          </a:p>
          <a:p>
            <a:endParaRPr lang="cs-CZ" sz="1400" b="1" smtClean="0"/>
          </a:p>
          <a:p>
            <a:endParaRPr lang="cs-CZ" sz="1400" b="1" smtClean="0"/>
          </a:p>
        </p:txBody>
      </p:sp>
      <p:sp>
        <p:nvSpPr>
          <p:cNvPr id="4" name="Obdélník 3"/>
          <p:cNvSpPr/>
          <p:nvPr/>
        </p:nvSpPr>
        <p:spPr>
          <a:xfrm>
            <a:off x="214282" y="6396359"/>
            <a:ext cx="5553508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cs-CZ" sz="2400" b="1" noProof="1" smtClean="0">
                <a:ln w="50800"/>
                <a:solidFill>
                  <a:srgbClr val="002060"/>
                </a:solidFill>
              </a:rPr>
              <a:t>Zpracovala: Mgr.Kateřina Karbulová, 2O11</a:t>
            </a:r>
            <a:endParaRPr lang="cs-CZ" sz="2400" b="1" noProof="1">
              <a:ln w="50800"/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4364</Words>
  <Application>Microsoft Office PowerPoint</Application>
  <PresentationFormat>Předvádění na obrazovce (4:3)</PresentationFormat>
  <Paragraphs>590</Paragraphs>
  <Slides>65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65</vt:i4>
      </vt:variant>
    </vt:vector>
  </HeadingPairs>
  <TitlesOfParts>
    <vt:vector size="66" baseType="lpstr">
      <vt:lpstr>Motiv sady Office</vt:lpstr>
      <vt:lpstr>Snímek 1</vt:lpstr>
      <vt:lpstr>Snímek 2</vt:lpstr>
      <vt:lpstr>Snímek 3</vt:lpstr>
      <vt:lpstr>Snímek 4</vt:lpstr>
      <vt:lpstr>Snímek 5</vt:lpstr>
      <vt:lpstr>Snímek 6</vt:lpstr>
      <vt:lpstr>Snímek 7</vt:lpstr>
      <vt:lpstr>Snímek 8</vt:lpstr>
      <vt:lpstr>Snímek 9</vt:lpstr>
      <vt:lpstr>Snímek 10</vt:lpstr>
      <vt:lpstr>Snímek 11</vt:lpstr>
      <vt:lpstr>Snímek 12</vt:lpstr>
      <vt:lpstr>Snímek 13</vt:lpstr>
      <vt:lpstr>Snímek 14</vt:lpstr>
      <vt:lpstr>Snímek 15</vt:lpstr>
      <vt:lpstr>Snímek 16</vt:lpstr>
      <vt:lpstr>Snímek 17</vt:lpstr>
      <vt:lpstr>Snímek 18</vt:lpstr>
      <vt:lpstr>Snímek 19</vt:lpstr>
      <vt:lpstr>Snímek 20</vt:lpstr>
      <vt:lpstr>Snímek 21</vt:lpstr>
      <vt:lpstr>Snímek 22</vt:lpstr>
      <vt:lpstr>Snímek 23</vt:lpstr>
      <vt:lpstr>Snímek 24</vt:lpstr>
      <vt:lpstr>Snímek 25</vt:lpstr>
      <vt:lpstr>Snímek 26</vt:lpstr>
      <vt:lpstr>Snímek 27</vt:lpstr>
      <vt:lpstr>Snímek 28</vt:lpstr>
      <vt:lpstr>Snímek 29</vt:lpstr>
      <vt:lpstr>Snímek 30</vt:lpstr>
      <vt:lpstr>Snímek 31</vt:lpstr>
      <vt:lpstr>Snímek 32</vt:lpstr>
      <vt:lpstr>Snímek 33</vt:lpstr>
      <vt:lpstr>Snímek 34</vt:lpstr>
      <vt:lpstr>Snímek 35</vt:lpstr>
      <vt:lpstr>Snímek 36</vt:lpstr>
      <vt:lpstr>Snímek 37</vt:lpstr>
      <vt:lpstr>Snímek 38</vt:lpstr>
      <vt:lpstr>Snímek 39</vt:lpstr>
      <vt:lpstr>Snímek 40</vt:lpstr>
      <vt:lpstr>Snímek 41</vt:lpstr>
      <vt:lpstr>Snímek 42</vt:lpstr>
      <vt:lpstr>Snímek 43</vt:lpstr>
      <vt:lpstr>Snímek 44</vt:lpstr>
      <vt:lpstr>Snímek 45</vt:lpstr>
      <vt:lpstr>Snímek 46</vt:lpstr>
      <vt:lpstr>Snímek 47</vt:lpstr>
      <vt:lpstr>Snímek 48</vt:lpstr>
      <vt:lpstr>Snímek 49</vt:lpstr>
      <vt:lpstr>Snímek 50</vt:lpstr>
      <vt:lpstr>Snímek 51</vt:lpstr>
      <vt:lpstr>Snímek 52</vt:lpstr>
      <vt:lpstr>Snímek 53</vt:lpstr>
      <vt:lpstr>Snímek 54</vt:lpstr>
      <vt:lpstr>Snímek 55</vt:lpstr>
      <vt:lpstr>Snímek 56</vt:lpstr>
      <vt:lpstr>Snímek 57</vt:lpstr>
      <vt:lpstr>Snímek 58</vt:lpstr>
      <vt:lpstr>Snímek 59</vt:lpstr>
      <vt:lpstr>Snímek 60</vt:lpstr>
      <vt:lpstr>Snímek 61</vt:lpstr>
      <vt:lpstr>Snímek 62</vt:lpstr>
      <vt:lpstr>Snímek 63</vt:lpstr>
      <vt:lpstr>Snímek 64</vt:lpstr>
      <vt:lpstr>Snímek 65</vt:lpstr>
    </vt:vector>
  </TitlesOfParts>
  <Company>Sportovní gymnázium Dany a Emila Zátopkových Ostrava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Husitská literatura</dc:title>
  <dc:creator>Valued Acer Customer</dc:creator>
  <cp:lastModifiedBy>Dum</cp:lastModifiedBy>
  <cp:revision>176</cp:revision>
  <dcterms:created xsi:type="dcterms:W3CDTF">2011-01-24T11:47:30Z</dcterms:created>
  <dcterms:modified xsi:type="dcterms:W3CDTF">2012-05-21T21:27:59Z</dcterms:modified>
</cp:coreProperties>
</file>