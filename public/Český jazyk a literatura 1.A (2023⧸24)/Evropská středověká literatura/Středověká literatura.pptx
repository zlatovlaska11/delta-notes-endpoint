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729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019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77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862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208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693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717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867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212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54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819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5D3B9-1D05-42AE-AE65-DA84468FE62D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8923-850F-4D5E-ACAF-1271FAC7348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4523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youtube.com/watch?v=LW9Es1-IDc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79512" y="908720"/>
            <a:ext cx="7772400" cy="1470025"/>
          </a:xfrm>
        </p:spPr>
        <p:txBody>
          <a:bodyPr>
            <a:normAutofit/>
          </a:bodyPr>
          <a:lstStyle/>
          <a:p>
            <a:r>
              <a:rPr lang="cs-CZ" sz="6000" dirty="0">
                <a:latin typeface="Old English Text MT" pitchFamily="66" charset="0"/>
              </a:rPr>
              <a:t>Středověká literatura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3568" y="2276872"/>
            <a:ext cx="6400800" cy="1752600"/>
          </a:xfrm>
        </p:spPr>
        <p:txBody>
          <a:bodyPr/>
          <a:lstStyle/>
          <a:p>
            <a:endParaRPr lang="cs-CZ" dirty="0"/>
          </a:p>
          <a:p>
            <a:r>
              <a:rPr lang="cs-CZ" sz="4400" dirty="0">
                <a:latin typeface="Old English Text MT" pitchFamily="66" charset="0"/>
              </a:rPr>
              <a:t>Evropa</a:t>
            </a:r>
          </a:p>
        </p:txBody>
      </p:sp>
      <p:pic>
        <p:nvPicPr>
          <p:cNvPr id="1027" name="Picture 3" descr="C:\Users\blazkova\AppData\Local\Microsoft\Windows\Temporary Internet Files\Content.IE5\5UKZ140X\MC900413094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492896"/>
            <a:ext cx="3330166" cy="345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22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850106"/>
          </a:xfrm>
        </p:spPr>
        <p:txBody>
          <a:bodyPr>
            <a:normAutofit/>
          </a:bodyPr>
          <a:lstStyle/>
          <a:p>
            <a:r>
              <a:rPr lang="cs-CZ" sz="3600" u="sng" dirty="0"/>
              <a:t>Celková charakteristika středověké literatury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dirty="0"/>
              <a:t>Číst a psát umělo jen duchovenstvo, proto se literatura </a:t>
            </a:r>
            <a:r>
              <a:rPr lang="cs-CZ" sz="2800" dirty="0">
                <a:solidFill>
                  <a:srgbClr val="FFC000"/>
                </a:solidFill>
              </a:rPr>
              <a:t>zpočátku šířila jen ústně.</a:t>
            </a:r>
          </a:p>
          <a:p>
            <a:pPr marL="0" indent="0">
              <a:buNone/>
            </a:pPr>
            <a:r>
              <a:rPr lang="cs-CZ" sz="2800" dirty="0"/>
              <a:t>				Autoři čerpali z biblických nebo </a:t>
            </a:r>
          </a:p>
          <a:p>
            <a:pPr marL="0" indent="0">
              <a:buNone/>
            </a:pPr>
            <a:r>
              <a:rPr lang="cs-CZ" sz="2800" dirty="0"/>
              <a:t>   			 	antických textů.</a:t>
            </a:r>
          </a:p>
          <a:p>
            <a:pPr marL="0" indent="0">
              <a:buNone/>
            </a:pPr>
            <a:endParaRPr lang="cs-CZ" sz="2800" dirty="0"/>
          </a:p>
          <a:p>
            <a:pPr marL="0" indent="0">
              <a:buNone/>
            </a:pPr>
            <a:r>
              <a:rPr lang="cs-CZ" sz="2800" dirty="0"/>
              <a:t>Do literatury se dostává </a:t>
            </a:r>
            <a:r>
              <a:rPr lang="cs-CZ" sz="2800" dirty="0">
                <a:solidFill>
                  <a:srgbClr val="FFC000"/>
                </a:solidFill>
              </a:rPr>
              <a:t>dobrodružný prvek</a:t>
            </a:r>
            <a:r>
              <a:rPr lang="cs-CZ" sz="2800" dirty="0"/>
              <a:t>, </a:t>
            </a:r>
          </a:p>
          <a:p>
            <a:pPr marL="0" indent="0">
              <a:buNone/>
            </a:pPr>
            <a:r>
              <a:rPr lang="cs-CZ" sz="2800" dirty="0">
                <a:solidFill>
                  <a:srgbClr val="FFC000"/>
                </a:solidFill>
              </a:rPr>
              <a:t>hrdinou se stává král nebo rytíř.</a:t>
            </a:r>
          </a:p>
          <a:p>
            <a:endParaRPr lang="cs-CZ" sz="2800" dirty="0"/>
          </a:p>
          <a:p>
            <a:pPr marL="0" indent="0">
              <a:buNone/>
            </a:pPr>
            <a:r>
              <a:rPr lang="cs-CZ" sz="2800" dirty="0"/>
              <a:t>		Autoři se nepodepisují pod svá díla – myslí si, 		že skrze ně tvoří bůh – </a:t>
            </a:r>
            <a:r>
              <a:rPr lang="cs-CZ" sz="2800" dirty="0">
                <a:solidFill>
                  <a:srgbClr val="FFC000"/>
                </a:solidFill>
              </a:rPr>
              <a:t>jen velmi málo 			středověkých umělců známe jménem</a:t>
            </a:r>
          </a:p>
        </p:txBody>
      </p:sp>
      <p:pic>
        <p:nvPicPr>
          <p:cNvPr id="1026" name="Picture 2" descr="C:\Users\blazkova\AppData\Local\Microsoft\Windows\Temporary Internet Files\Content.IE5\5UKZ140X\MC900398699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3"/>
            <a:ext cx="1939252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lazkova\AppData\Local\Microsoft\Windows\Temporary Internet Files\Content.IE5\COJHIWE4\MC90023794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36" y="3212976"/>
            <a:ext cx="1536743" cy="108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blazkova\AppData\Local\Microsoft\Windows\Temporary Internet Files\Content.IE5\LY7VM7Y9\MC900336223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69160"/>
            <a:ext cx="1675661" cy="15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82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640960" cy="778098"/>
          </a:xfrm>
        </p:spPr>
        <p:txBody>
          <a:bodyPr>
            <a:noAutofit/>
          </a:bodyPr>
          <a:lstStyle/>
          <a:p>
            <a:r>
              <a:rPr lang="cs-CZ" sz="4800" u="sng" dirty="0"/>
              <a:t>Rytíř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472608"/>
          </a:xfrm>
        </p:spPr>
        <p:txBody>
          <a:bodyPr/>
          <a:lstStyle/>
          <a:p>
            <a:r>
              <a:rPr lang="cs-CZ" sz="2800" dirty="0"/>
              <a:t>ústřední postava středověku</a:t>
            </a:r>
          </a:p>
          <a:p>
            <a:r>
              <a:rPr lang="cs-CZ" sz="2800" dirty="0"/>
              <a:t>bojovník šlechtického původu, bojoval převážně na koni</a:t>
            </a:r>
          </a:p>
          <a:p>
            <a:r>
              <a:rPr lang="cs-CZ" sz="2800" dirty="0"/>
              <a:t>obdařen mimořádnými fyzickými schopnostmi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800" dirty="0"/>
              <a:t>			   </a:t>
            </a:r>
            <a:r>
              <a:rPr lang="cs-CZ" sz="2800" u="sng" dirty="0"/>
              <a:t>Rytířské hodnoty: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800" dirty="0"/>
          </a:p>
        </p:txBody>
      </p:sp>
      <p:pic>
        <p:nvPicPr>
          <p:cNvPr id="2052" name="Picture 4" descr="C:\Users\blazkova\AppData\Local\Microsoft\Windows\Temporary Internet Files\Content.IE5\SALL32DP\MC900415998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96952"/>
            <a:ext cx="2570342" cy="26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délník 3"/>
          <p:cNvSpPr/>
          <p:nvPr/>
        </p:nvSpPr>
        <p:spPr>
          <a:xfrm>
            <a:off x="2893870" y="3645024"/>
            <a:ext cx="6048672" cy="302433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90000"/>
                  <a:shade val="30000"/>
                  <a:satMod val="115000"/>
                </a:schemeClr>
              </a:gs>
              <a:gs pos="50000">
                <a:schemeClr val="tx2">
                  <a:lumMod val="90000"/>
                  <a:shade val="67500"/>
                  <a:satMod val="115000"/>
                </a:schemeClr>
              </a:gs>
              <a:gs pos="100000">
                <a:schemeClr val="tx2">
                  <a:lumMod val="9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cs-CZ" sz="2800" b="1" i="1" dirty="0">
                <a:solidFill>
                  <a:schemeClr val="bg1"/>
                </a:solidFill>
              </a:rPr>
              <a:t>Statečnost</a:t>
            </a:r>
          </a:p>
          <a:p>
            <a:pPr marL="285750" indent="-285750">
              <a:buFontTx/>
              <a:buChar char="-"/>
            </a:pPr>
            <a:endParaRPr lang="cs-CZ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cs-CZ" sz="2800" b="1" i="1" dirty="0">
                <a:solidFill>
                  <a:schemeClr val="bg1"/>
                </a:solidFill>
              </a:rPr>
              <a:t>Loajalita</a:t>
            </a:r>
            <a:r>
              <a:rPr lang="cs-CZ" sz="2800" dirty="0">
                <a:solidFill>
                  <a:schemeClr val="bg1"/>
                </a:solidFill>
              </a:rPr>
              <a:t> </a:t>
            </a:r>
            <a:r>
              <a:rPr lang="cs-CZ" sz="2400" dirty="0">
                <a:solidFill>
                  <a:schemeClr val="bg1"/>
                </a:solidFill>
              </a:rPr>
              <a:t>(věrnost pánovi, spolupráce)</a:t>
            </a:r>
          </a:p>
          <a:p>
            <a:pPr marL="285750" indent="-285750">
              <a:buFontTx/>
              <a:buChar char="-"/>
            </a:pPr>
            <a:endParaRPr lang="cs-CZ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cs-CZ" sz="2800" b="1" i="1" dirty="0">
                <a:solidFill>
                  <a:schemeClr val="bg1"/>
                </a:solidFill>
              </a:rPr>
              <a:t>Štědrost</a:t>
            </a:r>
            <a:r>
              <a:rPr lang="cs-CZ" sz="2400" dirty="0">
                <a:solidFill>
                  <a:schemeClr val="bg1"/>
                </a:solidFill>
              </a:rPr>
              <a:t> (opovrhování penězi)</a:t>
            </a:r>
          </a:p>
          <a:p>
            <a:pPr marL="285750" indent="-285750">
              <a:buFontTx/>
              <a:buChar char="-"/>
            </a:pPr>
            <a:endParaRPr lang="cs-CZ" sz="2400" dirty="0">
              <a:solidFill>
                <a:schemeClr val="bg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cs-CZ" sz="2800" b="1" i="1" dirty="0">
                <a:solidFill>
                  <a:schemeClr val="bg1"/>
                </a:solidFill>
              </a:rPr>
              <a:t>Zdvořilost</a:t>
            </a:r>
            <a:r>
              <a:rPr lang="cs-CZ" sz="2800" dirty="0">
                <a:solidFill>
                  <a:schemeClr val="bg1"/>
                </a:solidFill>
              </a:rPr>
              <a:t> </a:t>
            </a:r>
            <a:r>
              <a:rPr lang="cs-CZ" sz="2400" dirty="0">
                <a:solidFill>
                  <a:schemeClr val="bg1"/>
                </a:solidFill>
              </a:rPr>
              <a:t>(úcta a ohleduplnost k ženám)</a:t>
            </a:r>
          </a:p>
        </p:txBody>
      </p:sp>
    </p:spTree>
    <p:extLst>
      <p:ext uri="{BB962C8B-B14F-4D97-AF65-F5344CB8AC3E}">
        <p14:creationId xmlns:p14="http://schemas.microsoft.com/office/powerpoint/2010/main" val="207191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06090"/>
          </a:xfrm>
        </p:spPr>
        <p:txBody>
          <a:bodyPr>
            <a:noAutofit/>
          </a:bodyPr>
          <a:lstStyle/>
          <a:p>
            <a:r>
              <a:rPr lang="cs-CZ" u="sng" dirty="0"/>
              <a:t>Literární žánry středověku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832648"/>
          </a:xfrm>
        </p:spPr>
        <p:txBody>
          <a:bodyPr/>
          <a:lstStyle/>
          <a:p>
            <a:pPr marL="0" indent="0" algn="ctr">
              <a:buNone/>
            </a:pPr>
            <a:r>
              <a:rPr lang="cs-CZ" b="1" u="sng" dirty="0"/>
              <a:t>Literatura</a:t>
            </a:r>
          </a:p>
        </p:txBody>
      </p:sp>
      <p:cxnSp>
        <p:nvCxnSpPr>
          <p:cNvPr id="5" name="Přímá spojnice 4"/>
          <p:cNvCxnSpPr>
            <a:endCxn id="11" idx="0"/>
          </p:cNvCxnSpPr>
          <p:nvPr/>
        </p:nvCxnSpPr>
        <p:spPr>
          <a:xfrm>
            <a:off x="4572000" y="1340768"/>
            <a:ext cx="2022924" cy="576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Přímá spojnice 6"/>
          <p:cNvCxnSpPr>
            <a:endCxn id="10" idx="0"/>
          </p:cNvCxnSpPr>
          <p:nvPr/>
        </p:nvCxnSpPr>
        <p:spPr>
          <a:xfrm flipH="1">
            <a:off x="2303748" y="1340768"/>
            <a:ext cx="2268252" cy="576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bdélník 9"/>
          <p:cNvSpPr/>
          <p:nvPr/>
        </p:nvSpPr>
        <p:spPr>
          <a:xfrm>
            <a:off x="1115616" y="1916832"/>
            <a:ext cx="2376264" cy="5760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duchovní</a:t>
            </a:r>
          </a:p>
          <a:p>
            <a:pPr algn="ctr"/>
            <a:r>
              <a:rPr lang="cs-CZ" dirty="0"/>
              <a:t>(náboženská témata)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5658820" y="1916832"/>
            <a:ext cx="1872208" cy="5760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světská</a:t>
            </a:r>
          </a:p>
        </p:txBody>
      </p:sp>
      <p:cxnSp>
        <p:nvCxnSpPr>
          <p:cNvPr id="15" name="Přímá spojnice 14"/>
          <p:cNvCxnSpPr>
            <a:stCxn id="10" idx="2"/>
            <a:endCxn id="20" idx="0"/>
          </p:cNvCxnSpPr>
          <p:nvPr/>
        </p:nvCxnSpPr>
        <p:spPr>
          <a:xfrm flipH="1">
            <a:off x="755576" y="2492896"/>
            <a:ext cx="1548172" cy="610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Přímá spojnice 16"/>
          <p:cNvCxnSpPr>
            <a:stCxn id="10" idx="2"/>
            <a:endCxn id="21" idx="0"/>
          </p:cNvCxnSpPr>
          <p:nvPr/>
        </p:nvCxnSpPr>
        <p:spPr>
          <a:xfrm flipH="1">
            <a:off x="2267744" y="2492896"/>
            <a:ext cx="36004" cy="610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Přímá spojnice 18"/>
          <p:cNvCxnSpPr>
            <a:stCxn id="10" idx="2"/>
            <a:endCxn id="22" idx="0"/>
          </p:cNvCxnSpPr>
          <p:nvPr/>
        </p:nvCxnSpPr>
        <p:spPr>
          <a:xfrm>
            <a:off x="2303748" y="2492896"/>
            <a:ext cx="1466114" cy="612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bdélník 19"/>
          <p:cNvSpPr/>
          <p:nvPr/>
        </p:nvSpPr>
        <p:spPr>
          <a:xfrm>
            <a:off x="179512" y="3103467"/>
            <a:ext cx="1152128" cy="5040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lyrika</a:t>
            </a:r>
          </a:p>
        </p:txBody>
      </p:sp>
      <p:sp>
        <p:nvSpPr>
          <p:cNvPr id="21" name="Obdélník 20"/>
          <p:cNvSpPr/>
          <p:nvPr/>
        </p:nvSpPr>
        <p:spPr>
          <a:xfrm>
            <a:off x="1691680" y="3103467"/>
            <a:ext cx="1152128" cy="5040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epika</a:t>
            </a:r>
          </a:p>
        </p:txBody>
      </p:sp>
      <p:sp>
        <p:nvSpPr>
          <p:cNvPr id="22" name="Obdélník 21"/>
          <p:cNvSpPr/>
          <p:nvPr/>
        </p:nvSpPr>
        <p:spPr>
          <a:xfrm>
            <a:off x="3193798" y="3105603"/>
            <a:ext cx="1152128" cy="5040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drama</a:t>
            </a:r>
          </a:p>
        </p:txBody>
      </p:sp>
      <p:sp>
        <p:nvSpPr>
          <p:cNvPr id="26" name="Obdélník 25"/>
          <p:cNvSpPr/>
          <p:nvPr/>
        </p:nvSpPr>
        <p:spPr>
          <a:xfrm>
            <a:off x="7884368" y="3105603"/>
            <a:ext cx="1152128" cy="50405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drama</a:t>
            </a:r>
          </a:p>
        </p:txBody>
      </p:sp>
      <p:sp>
        <p:nvSpPr>
          <p:cNvPr id="27" name="Obdélník 26"/>
          <p:cNvSpPr/>
          <p:nvPr/>
        </p:nvSpPr>
        <p:spPr>
          <a:xfrm>
            <a:off x="6392109" y="3103467"/>
            <a:ext cx="1152128" cy="50405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epika</a:t>
            </a:r>
          </a:p>
        </p:txBody>
      </p:sp>
      <p:sp>
        <p:nvSpPr>
          <p:cNvPr id="28" name="Obdélník 27"/>
          <p:cNvSpPr/>
          <p:nvPr/>
        </p:nvSpPr>
        <p:spPr>
          <a:xfrm>
            <a:off x="4860032" y="3105603"/>
            <a:ext cx="1152128" cy="50405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lyrika</a:t>
            </a:r>
          </a:p>
        </p:txBody>
      </p:sp>
      <p:cxnSp>
        <p:nvCxnSpPr>
          <p:cNvPr id="30" name="Přímá spojnice 29"/>
          <p:cNvCxnSpPr>
            <a:stCxn id="11" idx="2"/>
            <a:endCxn id="28" idx="0"/>
          </p:cNvCxnSpPr>
          <p:nvPr/>
        </p:nvCxnSpPr>
        <p:spPr>
          <a:xfrm flipH="1">
            <a:off x="5436096" y="2492896"/>
            <a:ext cx="1158828" cy="612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Přímá spojnice 31"/>
          <p:cNvCxnSpPr>
            <a:stCxn id="11" idx="2"/>
            <a:endCxn id="27" idx="0"/>
          </p:cNvCxnSpPr>
          <p:nvPr/>
        </p:nvCxnSpPr>
        <p:spPr>
          <a:xfrm>
            <a:off x="6594924" y="2492896"/>
            <a:ext cx="373249" cy="610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Přímá spojnice 33"/>
          <p:cNvCxnSpPr>
            <a:stCxn id="11" idx="2"/>
            <a:endCxn id="26" idx="0"/>
          </p:cNvCxnSpPr>
          <p:nvPr/>
        </p:nvCxnSpPr>
        <p:spPr>
          <a:xfrm>
            <a:off x="6594924" y="2492896"/>
            <a:ext cx="1865508" cy="612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C:\Users\blazkova\AppData\Local\Microsoft\Windows\Temporary Internet Files\Content.IE5\SALL32DP\MC900281200[2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609" y="630343"/>
            <a:ext cx="1147877" cy="128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Obdélník 35"/>
          <p:cNvSpPr/>
          <p:nvPr/>
        </p:nvSpPr>
        <p:spPr>
          <a:xfrm>
            <a:off x="136335" y="4206070"/>
            <a:ext cx="1260140" cy="1112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dirty="0"/>
              <a:t>- modlitby</a:t>
            </a:r>
          </a:p>
          <a:p>
            <a:r>
              <a:rPr lang="cs-CZ" dirty="0"/>
              <a:t>- duchovní     písně</a:t>
            </a:r>
          </a:p>
        </p:txBody>
      </p:sp>
      <p:sp>
        <p:nvSpPr>
          <p:cNvPr id="37" name="Obdélník 36"/>
          <p:cNvSpPr/>
          <p:nvPr/>
        </p:nvSpPr>
        <p:spPr>
          <a:xfrm>
            <a:off x="4752020" y="4243142"/>
            <a:ext cx="1368152" cy="72008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dirty="0"/>
              <a:t>- dvorská</a:t>
            </a:r>
          </a:p>
          <a:p>
            <a:r>
              <a:rPr lang="cs-CZ" dirty="0"/>
              <a:t>- milostná</a:t>
            </a:r>
          </a:p>
        </p:txBody>
      </p:sp>
      <p:sp>
        <p:nvSpPr>
          <p:cNvPr id="38" name="Obdélník 37"/>
          <p:cNvSpPr/>
          <p:nvPr/>
        </p:nvSpPr>
        <p:spPr>
          <a:xfrm>
            <a:off x="3140848" y="4243142"/>
            <a:ext cx="1258027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biblické hry</a:t>
            </a:r>
          </a:p>
        </p:txBody>
      </p:sp>
      <p:sp>
        <p:nvSpPr>
          <p:cNvPr id="40" name="Obdélník 39"/>
          <p:cNvSpPr/>
          <p:nvPr/>
        </p:nvSpPr>
        <p:spPr>
          <a:xfrm>
            <a:off x="1763688" y="4216978"/>
            <a:ext cx="1152128" cy="9511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dirty="0"/>
              <a:t>- legendy</a:t>
            </a:r>
          </a:p>
          <a:p>
            <a:r>
              <a:rPr lang="cs-CZ" dirty="0"/>
              <a:t>- apokryfy</a:t>
            </a:r>
          </a:p>
        </p:txBody>
      </p:sp>
      <p:cxnSp>
        <p:nvCxnSpPr>
          <p:cNvPr id="41" name="Přímá spojnice 40"/>
          <p:cNvCxnSpPr>
            <a:stCxn id="20" idx="2"/>
            <a:endCxn id="36" idx="0"/>
          </p:cNvCxnSpPr>
          <p:nvPr/>
        </p:nvCxnSpPr>
        <p:spPr>
          <a:xfrm>
            <a:off x="755576" y="3607523"/>
            <a:ext cx="10829" cy="5985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Přímá spojnice 52"/>
          <p:cNvCxnSpPr>
            <a:stCxn id="21" idx="2"/>
          </p:cNvCxnSpPr>
          <p:nvPr/>
        </p:nvCxnSpPr>
        <p:spPr>
          <a:xfrm>
            <a:off x="2267744" y="3607523"/>
            <a:ext cx="0" cy="5985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Přímá spojnice 54"/>
          <p:cNvCxnSpPr>
            <a:stCxn id="22" idx="2"/>
            <a:endCxn id="38" idx="0"/>
          </p:cNvCxnSpPr>
          <p:nvPr/>
        </p:nvCxnSpPr>
        <p:spPr>
          <a:xfrm>
            <a:off x="3769862" y="3609659"/>
            <a:ext cx="0" cy="6334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Obdélník 55"/>
          <p:cNvSpPr/>
          <p:nvPr/>
        </p:nvSpPr>
        <p:spPr>
          <a:xfrm>
            <a:off x="6300192" y="4233294"/>
            <a:ext cx="1656184" cy="1228246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dirty="0"/>
              <a:t>- hrdinský epos</a:t>
            </a:r>
          </a:p>
          <a:p>
            <a:r>
              <a:rPr lang="cs-CZ" dirty="0"/>
              <a:t>- zvířecí epos</a:t>
            </a:r>
          </a:p>
          <a:p>
            <a:r>
              <a:rPr lang="cs-CZ" dirty="0"/>
              <a:t>- cestopis</a:t>
            </a:r>
          </a:p>
          <a:p>
            <a:r>
              <a:rPr lang="cs-CZ" dirty="0"/>
              <a:t>- kronika</a:t>
            </a:r>
          </a:p>
        </p:txBody>
      </p:sp>
      <p:sp>
        <p:nvSpPr>
          <p:cNvPr id="58" name="Obdélník 57"/>
          <p:cNvSpPr/>
          <p:nvPr/>
        </p:nvSpPr>
        <p:spPr>
          <a:xfrm>
            <a:off x="8100392" y="4243142"/>
            <a:ext cx="936104" cy="475561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fraška</a:t>
            </a:r>
          </a:p>
        </p:txBody>
      </p:sp>
      <p:cxnSp>
        <p:nvCxnSpPr>
          <p:cNvPr id="63" name="Přímá spojnice 62"/>
          <p:cNvCxnSpPr>
            <a:stCxn id="28" idx="2"/>
            <a:endCxn id="37" idx="0"/>
          </p:cNvCxnSpPr>
          <p:nvPr/>
        </p:nvCxnSpPr>
        <p:spPr>
          <a:xfrm>
            <a:off x="5436096" y="3609659"/>
            <a:ext cx="0" cy="6334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7" name="Přímá spojnice 3076"/>
          <p:cNvCxnSpPr>
            <a:stCxn id="27" idx="2"/>
          </p:cNvCxnSpPr>
          <p:nvPr/>
        </p:nvCxnSpPr>
        <p:spPr>
          <a:xfrm>
            <a:off x="6968173" y="3607523"/>
            <a:ext cx="0" cy="6356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4" name="Přímá spojnice 3083"/>
          <p:cNvCxnSpPr>
            <a:stCxn id="26" idx="2"/>
          </p:cNvCxnSpPr>
          <p:nvPr/>
        </p:nvCxnSpPr>
        <p:spPr>
          <a:xfrm>
            <a:off x="8460432" y="3609659"/>
            <a:ext cx="0" cy="6334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C:\Users\blazkova\AppData\Local\Microsoft\Windows\Temporary Internet Files\Content.IE5\LY7VM7Y9\MP900384909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64" y="853448"/>
            <a:ext cx="1040160" cy="103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93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36" grpId="0" animBg="1"/>
      <p:bldP spid="37" grpId="0" animBg="1"/>
      <p:bldP spid="38" grpId="0" animBg="1"/>
      <p:bldP spid="40" grpId="0" animBg="1"/>
      <p:bldP spid="56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"/>
          </a:xfrm>
        </p:spPr>
        <p:txBody>
          <a:bodyPr>
            <a:normAutofit/>
          </a:bodyPr>
          <a:lstStyle/>
          <a:p>
            <a:r>
              <a:rPr lang="cs-CZ" sz="3200" u="sng" dirty="0"/>
              <a:t>Dvorská milostná lyrika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760640"/>
          </a:xfrm>
        </p:spPr>
        <p:txBody>
          <a:bodyPr>
            <a:normAutofit/>
          </a:bodyPr>
          <a:lstStyle/>
          <a:p>
            <a:r>
              <a:rPr lang="cs-CZ" sz="2400" dirty="0"/>
              <a:t>počátky ve francouzské Provence v 11. stol.</a:t>
            </a:r>
          </a:p>
          <a:p>
            <a:r>
              <a:rPr lang="cs-CZ" sz="2400" dirty="0"/>
              <a:t>hlavním tématem – neopětovaná láska</a:t>
            </a:r>
          </a:p>
          <a:p>
            <a:r>
              <a:rPr lang="cs-CZ" sz="2400" dirty="0"/>
              <a:t>ženy vykreslovány jako bohyně, jako ztělesnění ideálu</a:t>
            </a:r>
          </a:p>
          <a:p>
            <a:r>
              <a:rPr lang="cs-CZ" sz="2400" dirty="0"/>
              <a:t>autoři a interpreti:</a:t>
            </a:r>
          </a:p>
          <a:p>
            <a:pPr>
              <a:buFontTx/>
              <a:buChar char="-"/>
            </a:pPr>
            <a:r>
              <a:rPr lang="cs-CZ" sz="2400" b="1" i="1" dirty="0">
                <a:solidFill>
                  <a:srgbClr val="FFC000"/>
                </a:solidFill>
              </a:rPr>
              <a:t>trubadúři a truvéři </a:t>
            </a:r>
            <a:r>
              <a:rPr lang="cs-CZ" sz="2400" dirty="0"/>
              <a:t>(ve Francii)</a:t>
            </a:r>
          </a:p>
          <a:p>
            <a:pPr>
              <a:buFontTx/>
              <a:buChar char="-"/>
            </a:pPr>
            <a:r>
              <a:rPr lang="cs-CZ" sz="2400" b="1" i="1" dirty="0">
                <a:solidFill>
                  <a:srgbClr val="FFC000"/>
                </a:solidFill>
              </a:rPr>
              <a:t>minnesängři</a:t>
            </a:r>
            <a:r>
              <a:rPr lang="cs-CZ" sz="2400" dirty="0"/>
              <a:t> (v Německu)</a:t>
            </a:r>
          </a:p>
          <a:p>
            <a:endParaRPr lang="cs-CZ" sz="2400" dirty="0"/>
          </a:p>
          <a:p>
            <a:pPr marL="0" indent="0" algn="ctr">
              <a:buNone/>
            </a:pPr>
            <a:r>
              <a:rPr lang="cs-CZ" u="sng" dirty="0"/>
              <a:t>Hrdinský a rytířský epos</a:t>
            </a:r>
          </a:p>
          <a:p>
            <a:r>
              <a:rPr lang="cs-CZ" sz="2400" dirty="0"/>
              <a:t>rozsáhlá básnická skladba s bohatým dějem</a:t>
            </a:r>
          </a:p>
          <a:p>
            <a:r>
              <a:rPr lang="cs-CZ" sz="2400" dirty="0"/>
              <a:t>idealizuje hrdinu, který je vzorem středověkého rytíře (statečný, obětavý, věrný, čestný) </a:t>
            </a:r>
          </a:p>
          <a:p>
            <a:r>
              <a:rPr lang="cs-CZ" sz="2400" dirty="0"/>
              <a:t>nebyla důležitá originalita, ale forma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2052" name="Picture 4" descr="C:\Users\blazkova\AppData\Local\Microsoft\Windows\Temporary Internet Files\Content.IE5\LY7VM7Y9\MC900354995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338" y="209389"/>
            <a:ext cx="2398644" cy="115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484784"/>
            <a:ext cx="1800200" cy="280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7202578" y="4315916"/>
            <a:ext cx="1840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Vilém IX., první známý </a:t>
            </a:r>
          </a:p>
          <a:p>
            <a:r>
              <a:rPr lang="cs-CZ" sz="1400" dirty="0"/>
              <a:t>trubadúr</a:t>
            </a:r>
          </a:p>
        </p:txBody>
      </p:sp>
    </p:spTree>
    <p:extLst>
      <p:ext uri="{BB962C8B-B14F-4D97-AF65-F5344CB8AC3E}">
        <p14:creationId xmlns:p14="http://schemas.microsoft.com/office/powerpoint/2010/main" val="81435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706090"/>
          </a:xfrm>
        </p:spPr>
        <p:txBody>
          <a:bodyPr>
            <a:normAutofit fontScale="90000"/>
          </a:bodyPr>
          <a:lstStyle/>
          <a:p>
            <a:r>
              <a:rPr lang="cs-CZ" u="sng" dirty="0"/>
              <a:t>Národní eposy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8326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cs-CZ" sz="4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Francie </a:t>
            </a:r>
          </a:p>
          <a:p>
            <a:pPr marL="0" indent="0">
              <a:buNone/>
            </a:pPr>
            <a:r>
              <a:rPr lang="cs-CZ" b="1" i="1" u="sng" dirty="0"/>
              <a:t>Píseň o Rolandovi </a:t>
            </a:r>
            <a:r>
              <a:rPr lang="cs-CZ" dirty="0"/>
              <a:t>(Roland – rytíř Karla Velikého)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u="sng" dirty="0"/>
              <a:t>Ukázka:</a:t>
            </a:r>
          </a:p>
          <a:p>
            <a:pPr marL="0" indent="0">
              <a:buNone/>
            </a:pPr>
            <a:r>
              <a:rPr lang="cs-CZ" sz="2000" i="1" dirty="0"/>
              <a:t>Již cítí Roland, kterak smrt se blíží,</a:t>
            </a:r>
            <a:br>
              <a:rPr lang="cs-CZ" sz="2000" i="1" dirty="0"/>
            </a:br>
            <a:r>
              <a:rPr lang="cs-CZ" sz="2000" i="1" dirty="0"/>
              <a:t>jak z hlavy k srdci sestupuje nyní.</a:t>
            </a:r>
            <a:br>
              <a:rPr lang="cs-CZ" sz="2000" i="1" dirty="0"/>
            </a:br>
            <a:r>
              <a:rPr lang="cs-CZ" sz="2000" i="1" dirty="0"/>
              <a:t>Hle, na návrší chvatným krokem míří:</a:t>
            </a:r>
            <a:br>
              <a:rPr lang="cs-CZ" sz="2000" i="1" dirty="0"/>
            </a:br>
            <a:r>
              <a:rPr lang="cs-CZ" sz="2000" i="1" dirty="0"/>
              <a:t>tam ulehne pod rudou borovici.</a:t>
            </a:r>
            <a:br>
              <a:rPr lang="cs-CZ" sz="2000" i="1" dirty="0"/>
            </a:br>
            <a:r>
              <a:rPr lang="cs-CZ" sz="2000" i="1" dirty="0"/>
              <a:t>Pod sebe meč, Olifant položí si,</a:t>
            </a:r>
            <a:br>
              <a:rPr lang="cs-CZ" sz="2000" i="1" dirty="0"/>
            </a:br>
            <a:r>
              <a:rPr lang="cs-CZ" sz="2000" i="1" dirty="0"/>
              <a:t>tvář obrátí pak k řadám nevěřících,</a:t>
            </a:r>
            <a:br>
              <a:rPr lang="cs-CZ" sz="2000" i="1" dirty="0"/>
            </a:br>
            <a:r>
              <a:rPr lang="cs-CZ" sz="2000" i="1" dirty="0"/>
              <a:t>aby až Karel stane na bojišti,</a:t>
            </a:r>
            <a:br>
              <a:rPr lang="cs-CZ" sz="2000" i="1" dirty="0"/>
            </a:br>
            <a:r>
              <a:rPr lang="cs-CZ" sz="2000" i="1" dirty="0"/>
              <a:t>povědět mohl s všemi bojovníky,</a:t>
            </a:r>
            <a:br>
              <a:rPr lang="cs-CZ" sz="2000" i="1" dirty="0"/>
            </a:br>
            <a:r>
              <a:rPr lang="cs-CZ" sz="2000" i="1" dirty="0"/>
              <a:t>že jako vítěz zemře pro Francii.</a:t>
            </a:r>
            <a:br>
              <a:rPr lang="cs-CZ" sz="2000" i="1" dirty="0"/>
            </a:br>
            <a:r>
              <a:rPr lang="cs-CZ" sz="2000" i="1" dirty="0"/>
              <a:t>Bije se v hruď a vyznává své hříchy,</a:t>
            </a:r>
            <a:br>
              <a:rPr lang="cs-CZ" sz="2000" i="1" dirty="0"/>
            </a:br>
            <a:r>
              <a:rPr lang="cs-CZ" sz="2000" i="1" dirty="0"/>
              <a:t>pak podá Bohu pravou rukavici.                 </a:t>
            </a:r>
            <a:r>
              <a:rPr lang="cs-CZ" sz="1800" dirty="0"/>
              <a:t>Rolandova smrt</a:t>
            </a:r>
            <a:endParaRPr lang="cs-CZ" sz="2000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2" y="2564904"/>
            <a:ext cx="4206553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88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cs-CZ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Německo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i="1" u="sng" dirty="0"/>
              <a:t>Píseň o Nibelunzích </a:t>
            </a:r>
          </a:p>
          <a:p>
            <a:pPr marL="0" indent="0">
              <a:buNone/>
            </a:pPr>
            <a:r>
              <a:rPr lang="cs-CZ" sz="2400" dirty="0"/>
              <a:t>(Nibelungové – bájní skřítci, kteří stráží poklady)</a:t>
            </a:r>
          </a:p>
          <a:p>
            <a:pPr marL="0" indent="0" algn="just">
              <a:buNone/>
            </a:pPr>
            <a:r>
              <a:rPr lang="cs-CZ" sz="1800" dirty="0"/>
              <a:t>        Hlavním hrdinou je kralevic Siegfried, který získává </a:t>
            </a:r>
          </a:p>
          <a:p>
            <a:pPr marL="0" indent="0" algn="just">
              <a:buNone/>
            </a:pPr>
            <a:r>
              <a:rPr lang="cs-CZ" sz="1800" dirty="0"/>
              <a:t>poklad. Siegfried se dává do služeb krále </a:t>
            </a:r>
            <a:r>
              <a:rPr lang="cs-CZ" sz="1800" dirty="0" err="1"/>
              <a:t>Gunthera</a:t>
            </a:r>
            <a:r>
              <a:rPr lang="cs-CZ" sz="1800" dirty="0"/>
              <a:t> a lstí pro </a:t>
            </a:r>
          </a:p>
          <a:p>
            <a:pPr marL="0" indent="0" algn="just">
              <a:buNone/>
            </a:pPr>
            <a:r>
              <a:rPr lang="cs-CZ" sz="1800" dirty="0"/>
              <a:t>něj získá islandskou královnu Brunhildu. Poté žádá od krále </a:t>
            </a:r>
          </a:p>
          <a:p>
            <a:pPr marL="0" indent="0" algn="just">
              <a:buNone/>
            </a:pPr>
            <a:r>
              <a:rPr lang="cs-CZ" sz="1800" dirty="0" err="1"/>
              <a:t>Gunthera</a:t>
            </a:r>
            <a:r>
              <a:rPr lang="cs-CZ" sz="1800" dirty="0"/>
              <a:t> za odměnu ruku jeho sestry </a:t>
            </a:r>
            <a:r>
              <a:rPr lang="cs-CZ" sz="1800" dirty="0" err="1"/>
              <a:t>Kremhildy</a:t>
            </a:r>
            <a:r>
              <a:rPr lang="cs-CZ" sz="1800" dirty="0"/>
              <a:t>. Po letech </a:t>
            </a:r>
          </a:p>
          <a:p>
            <a:pPr marL="0" indent="0" algn="just">
              <a:buNone/>
            </a:pPr>
            <a:r>
              <a:rPr lang="cs-CZ" sz="1800" dirty="0"/>
              <a:t>vyjde najevo lest, kterou Siegfried připravil a Brunhilda ho </a:t>
            </a:r>
          </a:p>
          <a:p>
            <a:pPr marL="0" indent="0" algn="just">
              <a:buNone/>
            </a:pPr>
            <a:r>
              <a:rPr lang="cs-CZ" sz="1800" dirty="0"/>
              <a:t>za to zavraždí. </a:t>
            </a:r>
            <a:r>
              <a:rPr lang="cs-CZ" sz="1800" dirty="0" err="1"/>
              <a:t>Kremhilda</a:t>
            </a:r>
            <a:r>
              <a:rPr lang="cs-CZ" sz="1800" dirty="0"/>
              <a:t> se mstí za </a:t>
            </a:r>
            <a:r>
              <a:rPr lang="cs-CZ" sz="1800" dirty="0" err="1"/>
              <a:t>Siegfriedovu</a:t>
            </a:r>
            <a:r>
              <a:rPr lang="cs-CZ" sz="1800" dirty="0"/>
              <a:t> smrt - vraha </a:t>
            </a:r>
          </a:p>
          <a:p>
            <a:pPr marL="0" indent="0" algn="just">
              <a:buNone/>
            </a:pPr>
            <a:r>
              <a:rPr lang="cs-CZ" sz="1800" dirty="0"/>
              <a:t>zabije, ale sama umírá. Tím zemřely všechny osoby, které </a:t>
            </a:r>
          </a:p>
          <a:p>
            <a:pPr marL="0" indent="0" algn="just">
              <a:buNone/>
            </a:pPr>
            <a:r>
              <a:rPr lang="cs-CZ" sz="1800" dirty="0"/>
              <a:t>věděly, kde je schovaný bájný poklad, a ten je proto</a:t>
            </a:r>
          </a:p>
          <a:p>
            <a:pPr marL="0" indent="0" algn="just">
              <a:buNone/>
            </a:pPr>
            <a:r>
              <a:rPr lang="cs-CZ" sz="1800" dirty="0"/>
              <a:t>nenávratně ztracen.</a:t>
            </a:r>
          </a:p>
          <a:p>
            <a:pPr marL="0" indent="0" algn="just">
              <a:buNone/>
            </a:pPr>
            <a:endParaRPr lang="cs-CZ" sz="1800" dirty="0"/>
          </a:p>
          <a:p>
            <a:pPr algn="just"/>
            <a:r>
              <a:rPr lang="cs-CZ" sz="2000" dirty="0"/>
              <a:t>Inspirace pro německého skladatele Richarda Wagnera – </a:t>
            </a:r>
          </a:p>
          <a:p>
            <a:pPr marL="0" indent="0" algn="just">
              <a:buNone/>
            </a:pPr>
            <a:r>
              <a:rPr lang="cs-CZ" sz="2000" dirty="0"/>
              <a:t>Opera </a:t>
            </a:r>
            <a:r>
              <a:rPr lang="cs-CZ" sz="2000" b="1" u="sng" dirty="0"/>
              <a:t>Prsten Nibelungův</a:t>
            </a:r>
          </a:p>
          <a:p>
            <a:pPr marL="0" indent="0" algn="just">
              <a:buNone/>
            </a:pPr>
            <a:endParaRPr lang="cs-CZ" sz="2000" b="1" u="sng" dirty="0"/>
          </a:p>
          <a:p>
            <a:pPr marL="0" indent="0" algn="just">
              <a:buNone/>
            </a:pPr>
            <a:r>
              <a:rPr lang="cs-CZ" sz="2000" b="1" u="sng" dirty="0">
                <a:hlinkClick r:id="rId2"/>
              </a:rPr>
              <a:t>http://www.youtube.com/watch?v=LW9Es1-IDc0</a:t>
            </a:r>
            <a:endParaRPr lang="cs-CZ" sz="2000" b="1" u="sng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429" y="188640"/>
            <a:ext cx="2154362" cy="3175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6471361" y="3374683"/>
            <a:ext cx="1861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První strana rukopisu C</a:t>
            </a:r>
          </a:p>
        </p:txBody>
      </p:sp>
      <p:pic>
        <p:nvPicPr>
          <p:cNvPr id="4100" name="Picture 4" descr="http://upload.wikimedia.org/wikipedia/commons/2/2b/Nibelungenlied_manuscript-k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61" y="3682460"/>
            <a:ext cx="1920690" cy="260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/>
          <p:cNvSpPr txBox="1"/>
          <p:nvPr/>
        </p:nvSpPr>
        <p:spPr>
          <a:xfrm>
            <a:off x="6475218" y="6296590"/>
            <a:ext cx="1462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 err="1"/>
              <a:t>Siegfriedova</a:t>
            </a:r>
            <a:r>
              <a:rPr lang="cs-CZ" sz="1400" dirty="0"/>
              <a:t> smrt</a:t>
            </a:r>
          </a:p>
        </p:txBody>
      </p:sp>
    </p:spTree>
    <p:extLst>
      <p:ext uri="{BB962C8B-B14F-4D97-AF65-F5344CB8AC3E}">
        <p14:creationId xmlns:p14="http://schemas.microsoft.com/office/powerpoint/2010/main" val="397704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34082"/>
          </a:xfrm>
        </p:spPr>
        <p:txBody>
          <a:bodyPr>
            <a:noAutofit/>
          </a:bodyPr>
          <a:lstStyle/>
          <a:p>
            <a:r>
              <a:rPr lang="cs-CZ" sz="4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Anglie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595214"/>
            <a:ext cx="8928992" cy="5832648"/>
          </a:xfrm>
        </p:spPr>
        <p:txBody>
          <a:bodyPr/>
          <a:lstStyle/>
          <a:p>
            <a:pPr marL="0" indent="0">
              <a:buNone/>
            </a:pPr>
            <a:r>
              <a:rPr lang="cs-CZ" b="1" i="1" u="sng" dirty="0" err="1"/>
              <a:t>Bëowulf</a:t>
            </a:r>
            <a:endParaRPr lang="cs-CZ" b="1" i="1" u="sng" dirty="0"/>
          </a:p>
          <a:p>
            <a:r>
              <a:rPr lang="cs-CZ" sz="2400" dirty="0"/>
              <a:t>Pravděpodobně nejstarší středověký hrdinský epos</a:t>
            </a:r>
          </a:p>
          <a:p>
            <a:r>
              <a:rPr lang="cs-CZ" sz="2000" dirty="0"/>
              <a:t>Hlavním hrdinou je rytíř </a:t>
            </a:r>
            <a:r>
              <a:rPr lang="cs-CZ" sz="2000" i="1" dirty="0" err="1"/>
              <a:t>Bëowulf</a:t>
            </a:r>
            <a:r>
              <a:rPr lang="cs-CZ" sz="2000" dirty="0"/>
              <a:t>, který pomáhá dánskému králi </a:t>
            </a:r>
            <a:r>
              <a:rPr lang="cs-CZ" sz="2000" dirty="0" err="1"/>
              <a:t>Hrotgarovi</a:t>
            </a:r>
            <a:r>
              <a:rPr lang="cs-CZ" sz="2000" dirty="0"/>
              <a:t> v boji s obludou. Nakonec se mu podaří obludu zabít. Dále svádí boj s vodní čarodějnicí a ohnivým drakem. Ve střetu s drakem oba zemřou.</a:t>
            </a:r>
          </a:p>
          <a:p>
            <a:r>
              <a:rPr lang="cs-CZ" sz="2400" dirty="0"/>
              <a:t>Inspirací pro mnoho literátů i filmařů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861" y="2680582"/>
            <a:ext cx="2259614" cy="3585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5634299" y="6244208"/>
            <a:ext cx="1724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První strana rukopisu</a:t>
            </a:r>
          </a:p>
        </p:txBody>
      </p:sp>
      <p:pic>
        <p:nvPicPr>
          <p:cNvPr id="5124" name="Picture 4" descr="File:Beowulf and the drag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123202"/>
            <a:ext cx="2395959" cy="311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/>
          <p:cNvSpPr txBox="1"/>
          <p:nvPr/>
        </p:nvSpPr>
        <p:spPr>
          <a:xfrm>
            <a:off x="1619672" y="6244208"/>
            <a:ext cx="22497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 err="1"/>
              <a:t>Bëowulf</a:t>
            </a:r>
            <a:r>
              <a:rPr lang="cs-CZ" sz="1400" dirty="0"/>
              <a:t> bojuje proti drakovi</a:t>
            </a:r>
          </a:p>
        </p:txBody>
      </p:sp>
    </p:spTree>
    <p:extLst>
      <p:ext uri="{BB962C8B-B14F-4D97-AF65-F5344CB8AC3E}">
        <p14:creationId xmlns:p14="http://schemas.microsoft.com/office/powerpoint/2010/main" val="112641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cs-CZ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Španělsko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217443"/>
          </a:xfrm>
        </p:spPr>
        <p:txBody>
          <a:bodyPr/>
          <a:lstStyle/>
          <a:p>
            <a:pPr marL="0" indent="0">
              <a:buNone/>
            </a:pPr>
            <a:r>
              <a:rPr lang="cs-CZ" b="1" i="1" u="sng" dirty="0"/>
              <a:t>Píseň o </a:t>
            </a:r>
            <a:r>
              <a:rPr lang="cs-CZ" b="1" i="1" u="sng" dirty="0" err="1"/>
              <a:t>Cidovi</a:t>
            </a:r>
            <a:endParaRPr lang="cs-CZ" b="1" i="1" u="sng" dirty="0"/>
          </a:p>
          <a:p>
            <a:pPr marL="0" indent="0">
              <a:buNone/>
            </a:pPr>
            <a:r>
              <a:rPr lang="cs-CZ" sz="2400" dirty="0"/>
              <a:t>Hlavním hrdinou je skutečná historická postava, rytíř </a:t>
            </a:r>
            <a:r>
              <a:rPr lang="cs-CZ" sz="2400" i="1" dirty="0" err="1"/>
              <a:t>Rodrigo</a:t>
            </a:r>
            <a:r>
              <a:rPr lang="cs-CZ" sz="2400" i="1" dirty="0"/>
              <a:t> </a:t>
            </a:r>
            <a:r>
              <a:rPr lang="cs-CZ" sz="2400" i="1" dirty="0" err="1"/>
              <a:t>Diaz</a:t>
            </a:r>
            <a:r>
              <a:rPr lang="cs-CZ" sz="2400" i="1" dirty="0"/>
              <a:t> de </a:t>
            </a:r>
            <a:r>
              <a:rPr lang="cs-CZ" sz="2400" i="1" dirty="0" err="1"/>
              <a:t>Vivar</a:t>
            </a:r>
            <a:r>
              <a:rPr lang="cs-CZ" sz="2400" dirty="0"/>
              <a:t>, který byl vykázán svým lenním pánem, španělským králem Alfonsem VI., do vyhnanství, válčil proti Maurům, dobyl Valencii a zemřel koncem 11. století. </a:t>
            </a:r>
            <a:r>
              <a:rPr lang="cs-CZ" sz="2400" dirty="0" err="1"/>
              <a:t>Cid</a:t>
            </a:r>
            <a:r>
              <a:rPr lang="cs-CZ" sz="2400" dirty="0"/>
              <a:t> je příkladem křesťanského rytíře, který, ač vyhnán svým pánem, mu zůstává věrný.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26" y="3441867"/>
            <a:ext cx="2051681" cy="280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 descr="File:Estatua del Cid en Burgo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486" y="3550152"/>
            <a:ext cx="3238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914213" y="6277661"/>
            <a:ext cx="2230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Stránka z původního kodexu</a:t>
            </a:r>
          </a:p>
        </p:txBody>
      </p:sp>
      <p:sp>
        <p:nvSpPr>
          <p:cNvPr id="5" name="TextovéPole 4"/>
          <p:cNvSpPr txBox="1"/>
          <p:nvPr/>
        </p:nvSpPr>
        <p:spPr>
          <a:xfrm>
            <a:off x="4805794" y="6242122"/>
            <a:ext cx="1734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Socha </a:t>
            </a:r>
            <a:r>
              <a:rPr lang="cs-CZ" sz="1400" dirty="0" err="1"/>
              <a:t>Cida</a:t>
            </a:r>
            <a:r>
              <a:rPr lang="cs-CZ" sz="1400" dirty="0"/>
              <a:t> v </a:t>
            </a:r>
            <a:r>
              <a:rPr lang="cs-CZ" sz="1400" dirty="0" err="1"/>
              <a:t>Burgosu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417381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"/>
          </a:xfrm>
        </p:spPr>
        <p:txBody>
          <a:bodyPr>
            <a:normAutofit fontScale="90000"/>
          </a:bodyPr>
          <a:lstStyle/>
          <a:p>
            <a:r>
              <a:rPr lang="cs-CZ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Rusko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760640"/>
          </a:xfrm>
        </p:spPr>
        <p:txBody>
          <a:bodyPr/>
          <a:lstStyle/>
          <a:p>
            <a:pPr marL="0" indent="0">
              <a:buNone/>
            </a:pPr>
            <a:r>
              <a:rPr lang="cs-CZ" b="1" i="1" u="sng" dirty="0"/>
              <a:t>Slovo o pluku Igorově</a:t>
            </a:r>
          </a:p>
          <a:p>
            <a:pPr marL="0" indent="0">
              <a:buNone/>
            </a:pPr>
            <a:r>
              <a:rPr lang="cs-CZ" sz="2400" dirty="0"/>
              <a:t>Hlavním hrdinou je kníže Igor, který bojuje proti Polovcům. Utrpí porážku a je zajat. Podaří se mu však uprchnout a vrátí se do Ruska. Jeho návrat symbolizuje naději na ruské vítězství</a:t>
            </a:r>
            <a:r>
              <a:rPr lang="cs-CZ" dirty="0"/>
              <a:t>.</a:t>
            </a:r>
          </a:p>
          <a:p>
            <a:pPr marL="0" indent="0">
              <a:buNone/>
            </a:pPr>
            <a:endParaRPr lang="cs-CZ" sz="2800" dirty="0"/>
          </a:p>
          <a:p>
            <a:pPr marL="0" indent="0">
              <a:buNone/>
            </a:pPr>
            <a:r>
              <a:rPr lang="cs-CZ" sz="2400" u="sng" dirty="0"/>
              <a:t>Ukázka</a:t>
            </a:r>
            <a:r>
              <a:rPr lang="cs-CZ" sz="2400" dirty="0"/>
              <a:t>:</a:t>
            </a:r>
          </a:p>
          <a:p>
            <a:pPr marL="0" indent="0">
              <a:buNone/>
            </a:pPr>
            <a:r>
              <a:rPr lang="cs-CZ" sz="2400" i="1" dirty="0"/>
              <a:t>Vyšlo jasné slunce, vyšlo na nebesa,</a:t>
            </a:r>
            <a:br>
              <a:rPr lang="cs-CZ" sz="2400" i="1" dirty="0"/>
            </a:br>
            <a:r>
              <a:rPr lang="cs-CZ" sz="2400" i="1" dirty="0"/>
              <a:t>Igor navrátil se, oživla Rus rázem,</a:t>
            </a:r>
            <a:br>
              <a:rPr lang="cs-CZ" sz="2400" i="1" dirty="0"/>
            </a:br>
            <a:r>
              <a:rPr lang="cs-CZ" sz="2400" i="1" dirty="0"/>
              <a:t>u Dunaje zástup lepých panen plesá,</a:t>
            </a:r>
            <a:br>
              <a:rPr lang="cs-CZ" sz="2400" i="1" dirty="0"/>
            </a:br>
            <a:r>
              <a:rPr lang="cs-CZ" sz="2400" i="1" dirty="0"/>
              <a:t>přes široké moře letí ke Kyjevu</a:t>
            </a:r>
            <a:br>
              <a:rPr lang="cs-CZ" sz="2400" i="1" dirty="0"/>
            </a:br>
            <a:r>
              <a:rPr lang="cs-CZ" sz="2400" i="1" dirty="0"/>
              <a:t>jejích šťastné hlasy, hlahol jejich zpěvu.</a:t>
            </a:r>
            <a:endParaRPr lang="cs-CZ" sz="2400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068960"/>
            <a:ext cx="38100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5220072" y="5107406"/>
            <a:ext cx="2429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Po bitvě knížete Igora a Polovci</a:t>
            </a:r>
          </a:p>
        </p:txBody>
      </p:sp>
    </p:spTree>
    <p:extLst>
      <p:ext uri="{BB962C8B-B14F-4D97-AF65-F5344CB8AC3E}">
        <p14:creationId xmlns:p14="http://schemas.microsoft.com/office/powerpoint/2010/main" val="29364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64096"/>
          </a:xfrm>
        </p:spPr>
        <p:txBody>
          <a:bodyPr/>
          <a:lstStyle/>
          <a:p>
            <a:r>
              <a:rPr lang="cs-CZ" u="sng" dirty="0"/>
              <a:t>Doplň tajenku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244474"/>
              </p:ext>
            </p:extLst>
          </p:nvPr>
        </p:nvGraphicFramePr>
        <p:xfrm>
          <a:off x="539552" y="1052736"/>
          <a:ext cx="6048000" cy="42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>
                          <a:solidFill>
                            <a:schemeClr val="bg1"/>
                          </a:solidFill>
                        </a:rPr>
                        <a:t>1.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chemeClr val="bg1"/>
                          </a:solidFill>
                        </a:rPr>
                        <a:t>2.</a:t>
                      </a:r>
                      <a:r>
                        <a:rPr lang="cs-CZ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ovéPole 2"/>
          <p:cNvSpPr txBox="1"/>
          <p:nvPr/>
        </p:nvSpPr>
        <p:spPr>
          <a:xfrm>
            <a:off x="6300192" y="1052736"/>
            <a:ext cx="264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cs-CZ" dirty="0"/>
              <a:t>Druh lyriky, pěstovaný </a:t>
            </a:r>
          </a:p>
          <a:p>
            <a:r>
              <a:rPr lang="cs-CZ" dirty="0"/>
              <a:t>na šlechtických dvorech</a:t>
            </a:r>
          </a:p>
        </p:txBody>
      </p:sp>
      <p:sp>
        <p:nvSpPr>
          <p:cNvPr id="5" name="TextovéPole 4"/>
          <p:cNvSpPr txBox="1"/>
          <p:nvPr/>
        </p:nvSpPr>
        <p:spPr>
          <a:xfrm>
            <a:off x="5436096" y="1650196"/>
            <a:ext cx="349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2. Francouzské označení skladatele </a:t>
            </a:r>
          </a:p>
          <a:p>
            <a:r>
              <a:rPr lang="cs-CZ" dirty="0"/>
              <a:t>středověké milostné lyriky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6732240" y="2265749"/>
            <a:ext cx="1879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3. Bájní skřítkové, </a:t>
            </a:r>
          </a:p>
          <a:p>
            <a:r>
              <a:rPr lang="cs-CZ" dirty="0"/>
              <a:t>střežící poklady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4572000" y="2932430"/>
            <a:ext cx="3558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4. Ve které zemi se tradice lyrických </a:t>
            </a:r>
          </a:p>
          <a:p>
            <a:r>
              <a:rPr lang="cs-CZ" dirty="0"/>
              <a:t>písní označuje jako minnesang?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4139952" y="3573016"/>
            <a:ext cx="3758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5. Píseň o Rolandovi je ……………. epos</a:t>
            </a:r>
            <a:r>
              <a:rPr lang="cs-CZ" sz="2000" dirty="0"/>
              <a:t>.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5365827" y="4063717"/>
            <a:ext cx="3335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6. Ruský národní epos je jmenuje </a:t>
            </a:r>
          </a:p>
          <a:p>
            <a:r>
              <a:rPr lang="cs-CZ" dirty="0"/>
              <a:t>Slovo o pluku …………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6246446" y="4725144"/>
            <a:ext cx="2424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7. </a:t>
            </a:r>
            <a:r>
              <a:rPr lang="cs-CZ" dirty="0" err="1"/>
              <a:t>Beowulf</a:t>
            </a:r>
            <a:r>
              <a:rPr lang="cs-CZ" dirty="0"/>
              <a:t> je národním </a:t>
            </a:r>
          </a:p>
          <a:p>
            <a:r>
              <a:rPr lang="cs-CZ" dirty="0"/>
              <a:t>eposem které země?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251520" y="351720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5.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3190555" y="112484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D</a:t>
            </a:r>
            <a:endParaRPr lang="cs-CZ" dirty="0"/>
          </a:p>
        </p:txBody>
      </p:sp>
      <p:sp>
        <p:nvSpPr>
          <p:cNvPr id="15" name="TextovéPole 14"/>
          <p:cNvSpPr txBox="1"/>
          <p:nvPr/>
        </p:nvSpPr>
        <p:spPr>
          <a:xfrm>
            <a:off x="4490880" y="114395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R</a:t>
            </a:r>
            <a:endParaRPr lang="cs-CZ" dirty="0"/>
          </a:p>
        </p:txBody>
      </p:sp>
      <p:sp>
        <p:nvSpPr>
          <p:cNvPr id="16" name="TextovéPole 15"/>
          <p:cNvSpPr txBox="1"/>
          <p:nvPr/>
        </p:nvSpPr>
        <p:spPr>
          <a:xfrm>
            <a:off x="4032560" y="1138262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O</a:t>
            </a:r>
            <a:endParaRPr lang="cs-CZ" dirty="0"/>
          </a:p>
        </p:txBody>
      </p:sp>
      <p:sp>
        <p:nvSpPr>
          <p:cNvPr id="17" name="TextovéPole 16"/>
          <p:cNvSpPr txBox="1"/>
          <p:nvPr/>
        </p:nvSpPr>
        <p:spPr>
          <a:xfrm>
            <a:off x="3613412" y="1122447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V</a:t>
            </a:r>
            <a:endParaRPr lang="cs-CZ" dirty="0"/>
          </a:p>
        </p:txBody>
      </p:sp>
      <p:sp>
        <p:nvSpPr>
          <p:cNvPr id="18" name="TextovéPole 17"/>
          <p:cNvSpPr txBox="1"/>
          <p:nvPr/>
        </p:nvSpPr>
        <p:spPr>
          <a:xfrm>
            <a:off x="5783287" y="112484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Á</a:t>
            </a:r>
            <a:endParaRPr lang="cs-CZ" dirty="0"/>
          </a:p>
        </p:txBody>
      </p:sp>
      <p:sp>
        <p:nvSpPr>
          <p:cNvPr id="19" name="TextovéPole 18"/>
          <p:cNvSpPr txBox="1"/>
          <p:nvPr/>
        </p:nvSpPr>
        <p:spPr>
          <a:xfrm>
            <a:off x="5369096" y="112231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K</a:t>
            </a:r>
            <a:endParaRPr lang="cs-CZ" dirty="0"/>
          </a:p>
        </p:txBody>
      </p:sp>
      <p:sp>
        <p:nvSpPr>
          <p:cNvPr id="20" name="TextovéPole 19"/>
          <p:cNvSpPr txBox="1"/>
          <p:nvPr/>
        </p:nvSpPr>
        <p:spPr>
          <a:xfrm>
            <a:off x="4932040" y="112244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S</a:t>
            </a:r>
            <a:endParaRPr lang="cs-CZ" dirty="0"/>
          </a:p>
        </p:txBody>
      </p:sp>
      <p:sp>
        <p:nvSpPr>
          <p:cNvPr id="27" name="TextovéPole 26"/>
          <p:cNvSpPr txBox="1"/>
          <p:nvPr/>
        </p:nvSpPr>
        <p:spPr>
          <a:xfrm>
            <a:off x="3190555" y="17383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B</a:t>
            </a:r>
            <a:endParaRPr lang="cs-CZ" dirty="0"/>
          </a:p>
        </p:txBody>
      </p:sp>
      <p:sp>
        <p:nvSpPr>
          <p:cNvPr id="28" name="TextovéPole 27"/>
          <p:cNvSpPr txBox="1"/>
          <p:nvPr/>
        </p:nvSpPr>
        <p:spPr>
          <a:xfrm>
            <a:off x="2726030" y="1733597"/>
            <a:ext cx="381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U</a:t>
            </a:r>
            <a:endParaRPr lang="cs-CZ" dirty="0"/>
          </a:p>
        </p:txBody>
      </p:sp>
      <p:sp>
        <p:nvSpPr>
          <p:cNvPr id="29" name="TextovéPole 28"/>
          <p:cNvSpPr txBox="1"/>
          <p:nvPr/>
        </p:nvSpPr>
        <p:spPr>
          <a:xfrm>
            <a:off x="2333627" y="172716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R</a:t>
            </a:r>
            <a:endParaRPr lang="cs-CZ" dirty="0"/>
          </a:p>
        </p:txBody>
      </p:sp>
      <p:sp>
        <p:nvSpPr>
          <p:cNvPr id="30" name="TextovéPole 29"/>
          <p:cNvSpPr txBox="1"/>
          <p:nvPr/>
        </p:nvSpPr>
        <p:spPr>
          <a:xfrm>
            <a:off x="1907704" y="173444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T</a:t>
            </a:r>
            <a:endParaRPr lang="cs-CZ" dirty="0"/>
          </a:p>
        </p:txBody>
      </p:sp>
      <p:sp>
        <p:nvSpPr>
          <p:cNvPr id="31" name="TextovéPole 30"/>
          <p:cNvSpPr txBox="1"/>
          <p:nvPr/>
        </p:nvSpPr>
        <p:spPr>
          <a:xfrm>
            <a:off x="4020917" y="1712139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D</a:t>
            </a:r>
            <a:endParaRPr lang="cs-CZ" dirty="0"/>
          </a:p>
        </p:txBody>
      </p:sp>
      <p:sp>
        <p:nvSpPr>
          <p:cNvPr id="32" name="TextovéPole 31"/>
          <p:cNvSpPr txBox="1"/>
          <p:nvPr/>
        </p:nvSpPr>
        <p:spPr>
          <a:xfrm>
            <a:off x="4460422" y="1727163"/>
            <a:ext cx="381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Ú</a:t>
            </a:r>
            <a:endParaRPr lang="cs-CZ" dirty="0"/>
          </a:p>
        </p:txBody>
      </p:sp>
      <p:sp>
        <p:nvSpPr>
          <p:cNvPr id="33" name="TextovéPole 32"/>
          <p:cNvSpPr txBox="1"/>
          <p:nvPr/>
        </p:nvSpPr>
        <p:spPr>
          <a:xfrm>
            <a:off x="4907995" y="173359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R</a:t>
            </a:r>
            <a:endParaRPr lang="cs-CZ" dirty="0"/>
          </a:p>
        </p:txBody>
      </p:sp>
      <p:sp>
        <p:nvSpPr>
          <p:cNvPr id="34" name="TextovéPole 33"/>
          <p:cNvSpPr txBox="1"/>
          <p:nvPr/>
        </p:nvSpPr>
        <p:spPr>
          <a:xfrm>
            <a:off x="3598986" y="173444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A</a:t>
            </a:r>
            <a:endParaRPr lang="cs-CZ" dirty="0"/>
          </a:p>
        </p:txBody>
      </p:sp>
      <p:sp>
        <p:nvSpPr>
          <p:cNvPr id="35" name="TextovéPole 34"/>
          <p:cNvSpPr txBox="1"/>
          <p:nvPr/>
        </p:nvSpPr>
        <p:spPr>
          <a:xfrm>
            <a:off x="5308769" y="2358192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O</a:t>
            </a:r>
            <a:endParaRPr lang="cs-CZ" dirty="0"/>
          </a:p>
        </p:txBody>
      </p:sp>
      <p:sp>
        <p:nvSpPr>
          <p:cNvPr id="36" name="TextovéPole 35"/>
          <p:cNvSpPr txBox="1"/>
          <p:nvPr/>
        </p:nvSpPr>
        <p:spPr>
          <a:xfrm>
            <a:off x="4883950" y="235428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G</a:t>
            </a:r>
            <a:endParaRPr lang="cs-CZ" dirty="0"/>
          </a:p>
        </p:txBody>
      </p:sp>
      <p:sp>
        <p:nvSpPr>
          <p:cNvPr id="37" name="TextovéPole 36"/>
          <p:cNvSpPr txBox="1"/>
          <p:nvPr/>
        </p:nvSpPr>
        <p:spPr>
          <a:xfrm>
            <a:off x="4460422" y="2347041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N</a:t>
            </a:r>
            <a:endParaRPr lang="cs-CZ" dirty="0"/>
          </a:p>
        </p:txBody>
      </p:sp>
      <p:sp>
        <p:nvSpPr>
          <p:cNvPr id="38" name="TextovéPole 37"/>
          <p:cNvSpPr txBox="1"/>
          <p:nvPr/>
        </p:nvSpPr>
        <p:spPr>
          <a:xfrm>
            <a:off x="4020917" y="2354281"/>
            <a:ext cx="381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U</a:t>
            </a:r>
            <a:endParaRPr lang="cs-CZ" dirty="0"/>
          </a:p>
        </p:txBody>
      </p:sp>
      <p:sp>
        <p:nvSpPr>
          <p:cNvPr id="39" name="TextovéPole 38"/>
          <p:cNvSpPr txBox="1"/>
          <p:nvPr/>
        </p:nvSpPr>
        <p:spPr>
          <a:xfrm>
            <a:off x="3611680" y="2358192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L</a:t>
            </a:r>
            <a:endParaRPr lang="cs-CZ" dirty="0"/>
          </a:p>
        </p:txBody>
      </p:sp>
      <p:sp>
        <p:nvSpPr>
          <p:cNvPr id="40" name="TextovéPole 39"/>
          <p:cNvSpPr txBox="1"/>
          <p:nvPr/>
        </p:nvSpPr>
        <p:spPr>
          <a:xfrm>
            <a:off x="3166609" y="2358192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E</a:t>
            </a:r>
            <a:endParaRPr lang="cs-CZ" dirty="0"/>
          </a:p>
        </p:txBody>
      </p:sp>
      <p:sp>
        <p:nvSpPr>
          <p:cNvPr id="41" name="TextovéPole 40"/>
          <p:cNvSpPr txBox="1"/>
          <p:nvPr/>
        </p:nvSpPr>
        <p:spPr>
          <a:xfrm>
            <a:off x="2741259" y="235041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B</a:t>
            </a:r>
            <a:endParaRPr lang="cs-CZ" dirty="0"/>
          </a:p>
        </p:txBody>
      </p:sp>
      <p:sp>
        <p:nvSpPr>
          <p:cNvPr id="42" name="TextovéPole 41"/>
          <p:cNvSpPr txBox="1"/>
          <p:nvPr/>
        </p:nvSpPr>
        <p:spPr>
          <a:xfrm>
            <a:off x="2333627" y="235819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I</a:t>
            </a:r>
            <a:endParaRPr lang="cs-CZ" dirty="0"/>
          </a:p>
        </p:txBody>
      </p:sp>
      <p:sp>
        <p:nvSpPr>
          <p:cNvPr id="43" name="TextovéPole 42"/>
          <p:cNvSpPr txBox="1"/>
          <p:nvPr/>
        </p:nvSpPr>
        <p:spPr>
          <a:xfrm>
            <a:off x="1883659" y="2343302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N</a:t>
            </a:r>
            <a:endParaRPr lang="cs-CZ" dirty="0"/>
          </a:p>
        </p:txBody>
      </p:sp>
      <p:sp>
        <p:nvSpPr>
          <p:cNvPr id="44" name="TextovéPole 43"/>
          <p:cNvSpPr txBox="1"/>
          <p:nvPr/>
        </p:nvSpPr>
        <p:spPr>
          <a:xfrm>
            <a:off x="6202790" y="2368332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É</a:t>
            </a:r>
            <a:endParaRPr lang="cs-CZ" dirty="0"/>
          </a:p>
        </p:txBody>
      </p:sp>
      <p:sp>
        <p:nvSpPr>
          <p:cNvPr id="45" name="TextovéPole 44"/>
          <p:cNvSpPr txBox="1"/>
          <p:nvPr/>
        </p:nvSpPr>
        <p:spPr>
          <a:xfrm>
            <a:off x="5773886" y="2366478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V</a:t>
            </a:r>
            <a:endParaRPr lang="cs-CZ" dirty="0"/>
          </a:p>
        </p:txBody>
      </p:sp>
      <p:sp>
        <p:nvSpPr>
          <p:cNvPr id="46" name="TextovéPole 45"/>
          <p:cNvSpPr txBox="1"/>
          <p:nvPr/>
        </p:nvSpPr>
        <p:spPr>
          <a:xfrm>
            <a:off x="3166609" y="299341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C</a:t>
            </a:r>
            <a:endParaRPr lang="cs-CZ" dirty="0"/>
          </a:p>
        </p:txBody>
      </p:sp>
      <p:sp>
        <p:nvSpPr>
          <p:cNvPr id="47" name="TextovéPole 46"/>
          <p:cNvSpPr txBox="1"/>
          <p:nvPr/>
        </p:nvSpPr>
        <p:spPr>
          <a:xfrm>
            <a:off x="2741259" y="2993984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E</a:t>
            </a:r>
            <a:endParaRPr lang="cs-CZ" dirty="0"/>
          </a:p>
        </p:txBody>
      </p:sp>
      <p:sp>
        <p:nvSpPr>
          <p:cNvPr id="48" name="TextovéPole 47"/>
          <p:cNvSpPr txBox="1"/>
          <p:nvPr/>
        </p:nvSpPr>
        <p:spPr>
          <a:xfrm>
            <a:off x="2254512" y="299341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M</a:t>
            </a:r>
            <a:endParaRPr lang="cs-CZ" dirty="0"/>
          </a:p>
        </p:txBody>
      </p:sp>
      <p:sp>
        <p:nvSpPr>
          <p:cNvPr id="49" name="TextovéPole 48"/>
          <p:cNvSpPr txBox="1"/>
          <p:nvPr/>
        </p:nvSpPr>
        <p:spPr>
          <a:xfrm>
            <a:off x="1869232" y="299398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Ě</a:t>
            </a:r>
            <a:endParaRPr lang="cs-CZ" dirty="0"/>
          </a:p>
        </p:txBody>
      </p:sp>
      <p:sp>
        <p:nvSpPr>
          <p:cNvPr id="50" name="TextovéPole 49"/>
          <p:cNvSpPr txBox="1"/>
          <p:nvPr/>
        </p:nvSpPr>
        <p:spPr>
          <a:xfrm>
            <a:off x="1439035" y="2984282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N</a:t>
            </a:r>
            <a:endParaRPr lang="cs-CZ" dirty="0"/>
          </a:p>
        </p:txBody>
      </p:sp>
      <p:sp>
        <p:nvSpPr>
          <p:cNvPr id="51" name="TextovéPole 50"/>
          <p:cNvSpPr txBox="1"/>
          <p:nvPr/>
        </p:nvSpPr>
        <p:spPr>
          <a:xfrm>
            <a:off x="4006489" y="2993242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O</a:t>
            </a:r>
            <a:endParaRPr lang="cs-CZ" dirty="0"/>
          </a:p>
        </p:txBody>
      </p:sp>
      <p:sp>
        <p:nvSpPr>
          <p:cNvPr id="52" name="TextovéPole 51"/>
          <p:cNvSpPr txBox="1"/>
          <p:nvPr/>
        </p:nvSpPr>
        <p:spPr>
          <a:xfrm>
            <a:off x="3596452" y="299800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K</a:t>
            </a:r>
            <a:endParaRPr lang="cs-CZ" dirty="0"/>
          </a:p>
        </p:txBody>
      </p:sp>
      <p:sp>
        <p:nvSpPr>
          <p:cNvPr id="53" name="TextovéPole 52"/>
          <p:cNvSpPr txBox="1"/>
          <p:nvPr/>
        </p:nvSpPr>
        <p:spPr>
          <a:xfrm>
            <a:off x="2353797" y="419893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I</a:t>
            </a:r>
            <a:endParaRPr lang="cs-CZ" dirty="0"/>
          </a:p>
        </p:txBody>
      </p:sp>
      <p:sp>
        <p:nvSpPr>
          <p:cNvPr id="54" name="TextovéPole 53"/>
          <p:cNvSpPr txBox="1"/>
          <p:nvPr/>
        </p:nvSpPr>
        <p:spPr>
          <a:xfrm>
            <a:off x="3622956" y="357301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Ý</a:t>
            </a:r>
            <a:endParaRPr lang="cs-CZ" dirty="0"/>
          </a:p>
        </p:txBody>
      </p:sp>
      <p:sp>
        <p:nvSpPr>
          <p:cNvPr id="55" name="TextovéPole 54"/>
          <p:cNvSpPr txBox="1"/>
          <p:nvPr/>
        </p:nvSpPr>
        <p:spPr>
          <a:xfrm>
            <a:off x="3169815" y="359019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K</a:t>
            </a:r>
            <a:endParaRPr lang="cs-CZ" dirty="0"/>
          </a:p>
        </p:txBody>
      </p:sp>
      <p:sp>
        <p:nvSpPr>
          <p:cNvPr id="56" name="TextovéPole 55"/>
          <p:cNvSpPr txBox="1"/>
          <p:nvPr/>
        </p:nvSpPr>
        <p:spPr>
          <a:xfrm>
            <a:off x="2746068" y="358003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S</a:t>
            </a:r>
            <a:endParaRPr lang="cs-CZ" dirty="0"/>
          </a:p>
        </p:txBody>
      </p:sp>
      <p:sp>
        <p:nvSpPr>
          <p:cNvPr id="57" name="TextovéPole 56"/>
          <p:cNvSpPr txBox="1"/>
          <p:nvPr/>
        </p:nvSpPr>
        <p:spPr>
          <a:xfrm>
            <a:off x="2291381" y="3582962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N</a:t>
            </a:r>
            <a:endParaRPr lang="cs-CZ" dirty="0"/>
          </a:p>
        </p:txBody>
      </p:sp>
      <p:sp>
        <p:nvSpPr>
          <p:cNvPr id="58" name="TextovéPole 57"/>
          <p:cNvSpPr txBox="1"/>
          <p:nvPr/>
        </p:nvSpPr>
        <p:spPr>
          <a:xfrm>
            <a:off x="1907574" y="3585894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I</a:t>
            </a:r>
            <a:endParaRPr lang="cs-CZ" dirty="0"/>
          </a:p>
        </p:txBody>
      </p:sp>
      <p:sp>
        <p:nvSpPr>
          <p:cNvPr id="59" name="TextovéPole 58"/>
          <p:cNvSpPr txBox="1"/>
          <p:nvPr/>
        </p:nvSpPr>
        <p:spPr>
          <a:xfrm>
            <a:off x="1463080" y="359019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D</a:t>
            </a:r>
            <a:endParaRPr lang="cs-CZ" dirty="0"/>
          </a:p>
        </p:txBody>
      </p:sp>
      <p:sp>
        <p:nvSpPr>
          <p:cNvPr id="60" name="TextovéPole 59"/>
          <p:cNvSpPr txBox="1"/>
          <p:nvPr/>
        </p:nvSpPr>
        <p:spPr>
          <a:xfrm>
            <a:off x="1023493" y="3573016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R</a:t>
            </a:r>
            <a:endParaRPr lang="cs-CZ" dirty="0"/>
          </a:p>
        </p:txBody>
      </p:sp>
      <p:sp>
        <p:nvSpPr>
          <p:cNvPr id="61" name="TextovéPole 60"/>
          <p:cNvSpPr txBox="1"/>
          <p:nvPr/>
        </p:nvSpPr>
        <p:spPr>
          <a:xfrm>
            <a:off x="610914" y="3573016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H</a:t>
            </a:r>
            <a:endParaRPr lang="cs-CZ" dirty="0"/>
          </a:p>
        </p:txBody>
      </p:sp>
      <p:sp>
        <p:nvSpPr>
          <p:cNvPr id="62" name="TextovéPole 61"/>
          <p:cNvSpPr txBox="1"/>
          <p:nvPr/>
        </p:nvSpPr>
        <p:spPr>
          <a:xfrm>
            <a:off x="4460422" y="4172562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V</a:t>
            </a:r>
            <a:endParaRPr lang="cs-CZ" dirty="0"/>
          </a:p>
        </p:txBody>
      </p:sp>
      <p:sp>
        <p:nvSpPr>
          <p:cNvPr id="63" name="TextovéPole 62"/>
          <p:cNvSpPr txBox="1"/>
          <p:nvPr/>
        </p:nvSpPr>
        <p:spPr>
          <a:xfrm>
            <a:off x="4020917" y="4172562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O</a:t>
            </a:r>
            <a:endParaRPr lang="cs-CZ" dirty="0"/>
          </a:p>
        </p:txBody>
      </p:sp>
      <p:sp>
        <p:nvSpPr>
          <p:cNvPr id="64" name="TextovéPole 63"/>
          <p:cNvSpPr txBox="1"/>
          <p:nvPr/>
        </p:nvSpPr>
        <p:spPr>
          <a:xfrm>
            <a:off x="3613412" y="418625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R</a:t>
            </a:r>
            <a:endParaRPr lang="cs-CZ" dirty="0"/>
          </a:p>
        </p:txBody>
      </p:sp>
      <p:sp>
        <p:nvSpPr>
          <p:cNvPr id="65" name="TextovéPole 64"/>
          <p:cNvSpPr txBox="1"/>
          <p:nvPr/>
        </p:nvSpPr>
        <p:spPr>
          <a:xfrm>
            <a:off x="3153685" y="4204675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O</a:t>
            </a:r>
            <a:endParaRPr lang="cs-CZ" dirty="0"/>
          </a:p>
        </p:txBody>
      </p:sp>
      <p:sp>
        <p:nvSpPr>
          <p:cNvPr id="66" name="TextovéPole 65"/>
          <p:cNvSpPr txBox="1"/>
          <p:nvPr/>
        </p:nvSpPr>
        <p:spPr>
          <a:xfrm>
            <a:off x="2729236" y="4203558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G</a:t>
            </a:r>
            <a:endParaRPr lang="cs-CZ" dirty="0"/>
          </a:p>
        </p:txBody>
      </p:sp>
      <p:sp>
        <p:nvSpPr>
          <p:cNvPr id="67" name="TextovéPole 66"/>
          <p:cNvSpPr txBox="1"/>
          <p:nvPr/>
        </p:nvSpPr>
        <p:spPr>
          <a:xfrm>
            <a:off x="4905591" y="4172561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Ě</a:t>
            </a:r>
            <a:endParaRPr lang="cs-CZ" dirty="0"/>
          </a:p>
        </p:txBody>
      </p:sp>
      <p:sp>
        <p:nvSpPr>
          <p:cNvPr id="68" name="TextovéPole 67"/>
          <p:cNvSpPr txBox="1"/>
          <p:nvPr/>
        </p:nvSpPr>
        <p:spPr>
          <a:xfrm>
            <a:off x="5348507" y="4788019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I</a:t>
            </a:r>
            <a:endParaRPr lang="cs-CZ" dirty="0"/>
          </a:p>
        </p:txBody>
      </p:sp>
      <p:sp>
        <p:nvSpPr>
          <p:cNvPr id="69" name="TextovéPole 68"/>
          <p:cNvSpPr txBox="1"/>
          <p:nvPr/>
        </p:nvSpPr>
        <p:spPr>
          <a:xfrm>
            <a:off x="4895432" y="4778653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L</a:t>
            </a:r>
            <a:endParaRPr lang="cs-CZ" dirty="0"/>
          </a:p>
        </p:txBody>
      </p:sp>
      <p:sp>
        <p:nvSpPr>
          <p:cNvPr id="70" name="TextovéPole 69"/>
          <p:cNvSpPr txBox="1"/>
          <p:nvPr/>
        </p:nvSpPr>
        <p:spPr>
          <a:xfrm>
            <a:off x="4465230" y="4778654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G</a:t>
            </a:r>
            <a:endParaRPr lang="cs-CZ" dirty="0"/>
          </a:p>
        </p:txBody>
      </p:sp>
      <p:sp>
        <p:nvSpPr>
          <p:cNvPr id="71" name="TextovéPole 70"/>
          <p:cNvSpPr txBox="1"/>
          <p:nvPr/>
        </p:nvSpPr>
        <p:spPr>
          <a:xfrm>
            <a:off x="4028933" y="4784337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N</a:t>
            </a:r>
            <a:endParaRPr lang="cs-CZ" dirty="0"/>
          </a:p>
        </p:txBody>
      </p:sp>
      <p:sp>
        <p:nvSpPr>
          <p:cNvPr id="72" name="TextovéPole 71"/>
          <p:cNvSpPr txBox="1"/>
          <p:nvPr/>
        </p:nvSpPr>
        <p:spPr>
          <a:xfrm>
            <a:off x="3622956" y="478669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A</a:t>
            </a:r>
            <a:endParaRPr lang="cs-CZ" dirty="0"/>
          </a:p>
        </p:txBody>
      </p:sp>
      <p:sp>
        <p:nvSpPr>
          <p:cNvPr id="73" name="TextovéPole 72"/>
          <p:cNvSpPr txBox="1"/>
          <p:nvPr/>
        </p:nvSpPr>
        <p:spPr>
          <a:xfrm>
            <a:off x="5738108" y="4784336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E</a:t>
            </a:r>
            <a:endParaRPr lang="cs-CZ" dirty="0"/>
          </a:p>
        </p:txBody>
      </p:sp>
      <p:sp>
        <p:nvSpPr>
          <p:cNvPr id="74" name="TextovéPole 73"/>
          <p:cNvSpPr txBox="1"/>
          <p:nvPr/>
        </p:nvSpPr>
        <p:spPr>
          <a:xfrm>
            <a:off x="610914" y="5805264"/>
            <a:ext cx="3911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i="1" dirty="0"/>
              <a:t>Kdo nebo co je </a:t>
            </a:r>
            <a:r>
              <a:rPr lang="cs-CZ" sz="2800" i="1" dirty="0">
                <a:solidFill>
                  <a:srgbClr val="FFC000"/>
                </a:solidFill>
              </a:rPr>
              <a:t>VALKÝRA</a:t>
            </a:r>
            <a:r>
              <a:rPr lang="cs-CZ" sz="2800" i="1" dirty="0"/>
              <a:t>? </a:t>
            </a:r>
          </a:p>
        </p:txBody>
      </p:sp>
      <p:sp>
        <p:nvSpPr>
          <p:cNvPr id="75" name="TextovéPole 74"/>
          <p:cNvSpPr txBox="1"/>
          <p:nvPr/>
        </p:nvSpPr>
        <p:spPr>
          <a:xfrm>
            <a:off x="4226684" y="5805264"/>
            <a:ext cx="4701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 </a:t>
            </a:r>
            <a:r>
              <a:rPr lang="cs-CZ" sz="2800" i="1" dirty="0"/>
              <a:t>- Severská mytologická bohyně</a:t>
            </a:r>
          </a:p>
        </p:txBody>
      </p:sp>
    </p:spTree>
    <p:extLst>
      <p:ext uri="{BB962C8B-B14F-4D97-AF65-F5344CB8AC3E}">
        <p14:creationId xmlns:p14="http://schemas.microsoft.com/office/powerpoint/2010/main" val="320517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562074"/>
          </a:xfrm>
        </p:spPr>
        <p:txBody>
          <a:bodyPr>
            <a:noAutofit/>
          </a:bodyPr>
          <a:lstStyle/>
          <a:p>
            <a:r>
              <a:rPr lang="cs-CZ" sz="3600" u="sng" dirty="0"/>
              <a:t>Použité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764704"/>
            <a:ext cx="8928992" cy="5361459"/>
          </a:xfrm>
        </p:spPr>
        <p:txBody>
          <a:bodyPr>
            <a:normAutofit/>
          </a:bodyPr>
          <a:lstStyle/>
          <a:p>
            <a:r>
              <a:rPr lang="cs-CZ" sz="1600" dirty="0"/>
              <a:t>AUTOR NEUVEDEN. </a:t>
            </a:r>
            <a:r>
              <a:rPr lang="cs-CZ" sz="1600" i="1" dirty="0"/>
              <a:t>Wikipedia.cz</a:t>
            </a:r>
            <a:r>
              <a:rPr lang="cs-CZ" sz="1600" dirty="0"/>
              <a:t> [online]. 4.10.2005 [cit. 16.11.2012]. Dostupný na WWW: http://cs.wikipedia.org/wiki/Soubor:William_IX_of_Aquitaine_-_BN_MS_fr_12473.jpg </a:t>
            </a:r>
          </a:p>
          <a:p>
            <a:r>
              <a:rPr lang="cs-CZ" sz="1600" dirty="0"/>
              <a:t>FOUQUET, Jean. </a:t>
            </a:r>
            <a:r>
              <a:rPr lang="cs-CZ" sz="1600" i="1" dirty="0"/>
              <a:t>Wikipedia.cz</a:t>
            </a:r>
            <a:r>
              <a:rPr lang="cs-CZ" sz="1600" dirty="0"/>
              <a:t> [online]. 28.6.2005 [cit. 16.11.2012]. Dostupný na WWW: http://cs.wikipedia.org/wiki/Soubor:Mort_de_Roland.jpg </a:t>
            </a:r>
          </a:p>
          <a:p>
            <a:r>
              <a:rPr lang="pt-BR" sz="1600" dirty="0"/>
              <a:t>AUTOR NEZNÁMÝ. </a:t>
            </a:r>
            <a:r>
              <a:rPr lang="pt-BR" sz="1600" i="1" dirty="0"/>
              <a:t>Wikipedia.cz</a:t>
            </a:r>
            <a:r>
              <a:rPr lang="pt-BR" sz="1600" dirty="0"/>
              <a:t> [online]. 3.5.2012 [cit. </a:t>
            </a:r>
            <a:r>
              <a:rPr lang="cs-CZ" sz="1600" dirty="0"/>
              <a:t>16</a:t>
            </a:r>
            <a:r>
              <a:rPr lang="pt-BR" sz="1600" dirty="0"/>
              <a:t>.11.2012]. Dostupný na WWW: http://cs.wikipedia.org/wiki/Soubor:Nibelungenlied_manuscript-c_f1r.jpg </a:t>
            </a:r>
            <a:endParaRPr lang="cs-CZ" sz="1600" dirty="0"/>
          </a:p>
          <a:p>
            <a:r>
              <a:rPr lang="pt-BR" sz="1600" dirty="0"/>
              <a:t>AUTOR NEZNÁMÝ. </a:t>
            </a:r>
            <a:r>
              <a:rPr lang="pt-BR" sz="1600" i="1" dirty="0"/>
              <a:t>Wikipedia.cz</a:t>
            </a:r>
            <a:r>
              <a:rPr lang="pt-BR" sz="1600" dirty="0"/>
              <a:t> [online]. 19.9.2005 [cit. </a:t>
            </a:r>
            <a:r>
              <a:rPr lang="cs-CZ" sz="1600" dirty="0"/>
              <a:t>16</a:t>
            </a:r>
            <a:r>
              <a:rPr lang="pt-BR" sz="1600" dirty="0"/>
              <a:t>.11.2012]. Dostupný na WWW: http://cs.wikipedia.org/wiki/Soubor:Nibelungenlied_manuscript-k.jpg </a:t>
            </a:r>
            <a:endParaRPr lang="cs-CZ" sz="1600" dirty="0"/>
          </a:p>
          <a:p>
            <a:r>
              <a:rPr lang="cs-CZ" sz="1600" dirty="0"/>
              <a:t>SKELTON, J. R.. </a:t>
            </a:r>
            <a:r>
              <a:rPr lang="cs-CZ" sz="1600" i="1" dirty="0" err="1"/>
              <a:t>Wikipedia.en</a:t>
            </a:r>
            <a:r>
              <a:rPr lang="cs-CZ" sz="1600" dirty="0"/>
              <a:t> [online]. 6.3.2012 [cit. 16.11.2012]. Dostupný na WWW: http://en.wikipedia.org/wiki/File:Beowulf_and_the_dragon.jpg </a:t>
            </a:r>
          </a:p>
          <a:p>
            <a:r>
              <a:rPr lang="pt-BR" sz="1600" dirty="0"/>
              <a:t>AUTOR NEZNÁMÝ. </a:t>
            </a:r>
            <a:r>
              <a:rPr lang="pt-BR" sz="1600" i="1" dirty="0"/>
              <a:t>Wikipedia.cz</a:t>
            </a:r>
            <a:r>
              <a:rPr lang="pt-BR" sz="1600" dirty="0"/>
              <a:t> [online]. 25.11.2004 [cit. </a:t>
            </a:r>
            <a:r>
              <a:rPr lang="cs-CZ" sz="1600" dirty="0"/>
              <a:t>16</a:t>
            </a:r>
            <a:r>
              <a:rPr lang="pt-BR" sz="1600" dirty="0"/>
              <a:t>.11.2012]. Dostupný na WWW: http://cs.wikipedia.org/wiki/Soubor:Beowulf.firstpage.jpeg </a:t>
            </a:r>
            <a:endParaRPr lang="cs-CZ" sz="1600" dirty="0"/>
          </a:p>
          <a:p>
            <a:r>
              <a:rPr lang="cs-CZ" sz="1600" dirty="0"/>
              <a:t>CHAMAELEON. </a:t>
            </a:r>
            <a:r>
              <a:rPr lang="cs-CZ" sz="1600" i="1" dirty="0"/>
              <a:t>Wikipedia.cz</a:t>
            </a:r>
            <a:r>
              <a:rPr lang="cs-CZ" sz="1600" dirty="0"/>
              <a:t> [online]. 31.5.2005 [cit. 16.11.2012]. Dostupný na WWW: http://cs.wikipedia.org/wiki/Soubor:Page_of_Lay_of_the_Cid.jpg </a:t>
            </a:r>
          </a:p>
          <a:p>
            <a:r>
              <a:rPr lang="cs-CZ" sz="1600" dirty="0"/>
              <a:t>CONSORCIO CAMINO DEL CID. </a:t>
            </a:r>
            <a:r>
              <a:rPr lang="cs-CZ" sz="1600" i="1" dirty="0" err="1"/>
              <a:t>Wikipedia.en</a:t>
            </a:r>
            <a:r>
              <a:rPr lang="cs-CZ" sz="1600" dirty="0"/>
              <a:t> [online]. 18.9.2009 [cit. 16.11.2012]. Dostupný na WWW: http://en.wikipedia.org/wiki/File:Estatua_del_Cid_en_Burgos.jpg </a:t>
            </a:r>
          </a:p>
          <a:p>
            <a:r>
              <a:rPr lang="cs-CZ" sz="1600" dirty="0"/>
              <a:t>VASNETSOV, Viktor M.. </a:t>
            </a:r>
            <a:r>
              <a:rPr lang="cs-CZ" sz="1600" i="1" dirty="0"/>
              <a:t>Wikipedia.cz</a:t>
            </a:r>
            <a:r>
              <a:rPr lang="cs-CZ" sz="1600" dirty="0"/>
              <a:t> [online]. 13.12.2006 [cit. </a:t>
            </a:r>
            <a:r>
              <a:rPr lang="cs-CZ" sz="1600"/>
              <a:t>16.11.2012</a:t>
            </a:r>
            <a:r>
              <a:rPr lang="cs-CZ" sz="1600" dirty="0"/>
              <a:t>]. Dostupný na WWW: http://cs.wikipedia.org/wiki/Soubor:Igorsvyat.jpg </a:t>
            </a:r>
          </a:p>
          <a:p>
            <a:r>
              <a:rPr lang="cs-CZ" sz="1600" dirty="0"/>
              <a:t>office.microsoft.com</a:t>
            </a:r>
          </a:p>
          <a:p>
            <a:endParaRPr lang="cs-CZ" sz="1600" dirty="0"/>
          </a:p>
          <a:p>
            <a:endParaRPr lang="cs-CZ" sz="1600" dirty="0"/>
          </a:p>
          <a:p>
            <a:endParaRPr lang="cs-CZ" sz="1600" dirty="0"/>
          </a:p>
          <a:p>
            <a:pPr marL="0" indent="0">
              <a:buNone/>
            </a:pPr>
            <a:endParaRPr lang="cs-CZ" sz="1600" dirty="0"/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35271292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1229</Words>
  <Application>Microsoft Office PowerPoint</Application>
  <PresentationFormat>Předvádění na obrazovce (4:3)</PresentationFormat>
  <Paragraphs>199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Old English Text MT</vt:lpstr>
      <vt:lpstr>Motiv systému Office</vt:lpstr>
      <vt:lpstr>Středověká literatura</vt:lpstr>
      <vt:lpstr>Celková charakteristika středověké literatury</vt:lpstr>
      <vt:lpstr>Rytíř</vt:lpstr>
      <vt:lpstr>Literární žánry středověku</vt:lpstr>
      <vt:lpstr>Dvorská milostná lyrika</vt:lpstr>
      <vt:lpstr>Národní eposy</vt:lpstr>
      <vt:lpstr>Německo</vt:lpstr>
      <vt:lpstr>Anglie</vt:lpstr>
      <vt:lpstr>Španělsko</vt:lpstr>
      <vt:lpstr>Rusko</vt:lpstr>
      <vt:lpstr>Doplň tajenku</vt:lpstr>
      <vt:lpstr>Použité zdroje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Středověká literatura</dc:title>
  <dc:creator>Michaela Blažková</dc:creator>
  <cp:lastModifiedBy>Věra Hanáková</cp:lastModifiedBy>
  <cp:revision>29</cp:revision>
  <dcterms:created xsi:type="dcterms:W3CDTF">2012-11-21T13:06:39Z</dcterms:created>
  <dcterms:modified xsi:type="dcterms:W3CDTF">2024-01-09T11:52:38Z</dcterms:modified>
</cp:coreProperties>
</file>