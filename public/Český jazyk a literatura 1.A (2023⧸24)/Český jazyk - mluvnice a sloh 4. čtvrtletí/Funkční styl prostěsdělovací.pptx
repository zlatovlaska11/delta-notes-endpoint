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86" r:id="rId3"/>
    <p:sldId id="287" r:id="rId4"/>
    <p:sldId id="281" r:id="rId5"/>
    <p:sldId id="289" r:id="rId6"/>
    <p:sldId id="290" r:id="rId7"/>
    <p:sldId id="288" r:id="rId8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1" d="100"/>
          <a:sy n="51" d="100"/>
        </p:scale>
        <p:origin x="1387" y="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D180F2-4C36-45A1-9965-A39C69028CB9}" type="datetimeFigureOut">
              <a:rPr lang="cs-CZ" smtClean="0"/>
              <a:pPr/>
              <a:t>15.02.2024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9EA364-DD19-4EA3-8506-C73E6D7ED211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92118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Klepnutím lze upravit styl předlohy podnadpisů.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FD7B6-3B63-4C96-AF1E-57D052A26F1B}" type="datetimeFigureOut">
              <a:rPr lang="cs-CZ" smtClean="0"/>
              <a:pPr/>
              <a:t>15.02.2024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81AA2-1B26-4F89-B9F9-30576F2FC279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FD7B6-3B63-4C96-AF1E-57D052A26F1B}" type="datetimeFigureOut">
              <a:rPr lang="cs-CZ" smtClean="0"/>
              <a:pPr/>
              <a:t>15.02.2024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81AA2-1B26-4F89-B9F9-30576F2FC279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FD7B6-3B63-4C96-AF1E-57D052A26F1B}" type="datetimeFigureOut">
              <a:rPr lang="cs-CZ" smtClean="0"/>
              <a:pPr/>
              <a:t>15.02.2024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81AA2-1B26-4F89-B9F9-30576F2FC279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FD7B6-3B63-4C96-AF1E-57D052A26F1B}" type="datetimeFigureOut">
              <a:rPr lang="cs-CZ" smtClean="0"/>
              <a:pPr/>
              <a:t>15.02.2024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81AA2-1B26-4F89-B9F9-30576F2FC279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FD7B6-3B63-4C96-AF1E-57D052A26F1B}" type="datetimeFigureOut">
              <a:rPr lang="cs-CZ" smtClean="0"/>
              <a:pPr/>
              <a:t>15.02.2024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81AA2-1B26-4F89-B9F9-30576F2FC279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FD7B6-3B63-4C96-AF1E-57D052A26F1B}" type="datetimeFigureOut">
              <a:rPr lang="cs-CZ" smtClean="0"/>
              <a:pPr/>
              <a:t>15.02.2024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81AA2-1B26-4F89-B9F9-30576F2FC279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FD7B6-3B63-4C96-AF1E-57D052A26F1B}" type="datetimeFigureOut">
              <a:rPr lang="cs-CZ" smtClean="0"/>
              <a:pPr/>
              <a:t>15.02.2024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81AA2-1B26-4F89-B9F9-30576F2FC279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FD7B6-3B63-4C96-AF1E-57D052A26F1B}" type="datetimeFigureOut">
              <a:rPr lang="cs-CZ" smtClean="0"/>
              <a:pPr/>
              <a:t>15.02.2024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81AA2-1B26-4F89-B9F9-30576F2FC279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FD7B6-3B63-4C96-AF1E-57D052A26F1B}" type="datetimeFigureOut">
              <a:rPr lang="cs-CZ" smtClean="0"/>
              <a:pPr/>
              <a:t>15.02.2024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81AA2-1B26-4F89-B9F9-30576F2FC279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FD7B6-3B63-4C96-AF1E-57D052A26F1B}" type="datetimeFigureOut">
              <a:rPr lang="cs-CZ" smtClean="0"/>
              <a:pPr/>
              <a:t>15.02.2024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81AA2-1B26-4F89-B9F9-30576F2FC279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FD7B6-3B63-4C96-AF1E-57D052A26F1B}" type="datetimeFigureOut">
              <a:rPr lang="cs-CZ" smtClean="0"/>
              <a:pPr/>
              <a:t>15.02.2024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81AA2-1B26-4F89-B9F9-30576F2FC279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D7B6-3B63-4C96-AF1E-57D052A26F1B}" type="datetimeFigureOut">
              <a:rPr lang="cs-CZ" smtClean="0"/>
              <a:pPr/>
              <a:t>15.02.2024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C81AA2-1B26-4F89-B9F9-30576F2FC279}" type="slidenum">
              <a:rPr lang="cs-CZ" smtClean="0"/>
              <a:pPr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Funkční styl prostě sdělovací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0486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2400" dirty="0">
                <a:solidFill>
                  <a:srgbClr val="FF0000"/>
                </a:solidFill>
              </a:rPr>
              <a:t>FS </a:t>
            </a:r>
            <a:r>
              <a:rPr lang="cs-CZ" sz="2400" dirty="0" err="1">
                <a:solidFill>
                  <a:srgbClr val="FF0000"/>
                </a:solidFill>
              </a:rPr>
              <a:t>prostěsdělovací</a:t>
            </a:r>
            <a:endParaRPr lang="cs-CZ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cs-CZ" sz="2400" dirty="0"/>
          </a:p>
          <a:p>
            <a:pPr>
              <a:buFontTx/>
              <a:buChar char="-"/>
            </a:pPr>
            <a:r>
              <a:rPr lang="cs-CZ" sz="2400" dirty="0"/>
              <a:t>styl každodenní komunikace</a:t>
            </a:r>
          </a:p>
          <a:p>
            <a:pPr>
              <a:buFontTx/>
              <a:buChar char="-"/>
            </a:pPr>
            <a:r>
              <a:rPr lang="cs-CZ" sz="2400" dirty="0"/>
              <a:t>vznikl na základě spisovného jazyka, ale dnes je z velké části nespisovný</a:t>
            </a:r>
          </a:p>
          <a:p>
            <a:pPr>
              <a:buFontTx/>
              <a:buChar char="-"/>
            </a:pPr>
            <a:r>
              <a:rPr lang="cs-CZ" sz="2400" dirty="0"/>
              <a:t>slovní zásoba je běžná</a:t>
            </a:r>
          </a:p>
          <a:p>
            <a:pPr>
              <a:buFontTx/>
              <a:buChar char="-"/>
            </a:pPr>
            <a:r>
              <a:rPr lang="cs-CZ" sz="2400" dirty="0"/>
              <a:t>kompozice nepromyšlená</a:t>
            </a:r>
          </a:p>
          <a:p>
            <a:pPr>
              <a:buFontTx/>
              <a:buChar char="-"/>
            </a:pPr>
            <a:r>
              <a:rPr lang="cs-CZ" sz="2400" dirty="0"/>
              <a:t>jednoduchá větná stavba</a:t>
            </a:r>
          </a:p>
          <a:p>
            <a:pPr>
              <a:buFontTx/>
              <a:buChar char="-"/>
            </a:pPr>
            <a:r>
              <a:rPr lang="cs-CZ" sz="2400" dirty="0"/>
              <a:t>projevy doprovázeny neverbálními prostředky</a:t>
            </a:r>
          </a:p>
          <a:p>
            <a:pPr marL="0" indent="0">
              <a:buNone/>
            </a:pPr>
            <a:endParaRPr lang="cs-CZ" sz="2400" dirty="0"/>
          </a:p>
        </p:txBody>
      </p:sp>
    </p:spTree>
    <p:extLst>
      <p:ext uri="{BB962C8B-B14F-4D97-AF65-F5344CB8AC3E}">
        <p14:creationId xmlns:p14="http://schemas.microsoft.com/office/powerpoint/2010/main" val="1254381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048672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cs-CZ" sz="2400" dirty="0">
                <a:solidFill>
                  <a:schemeClr val="accent6"/>
                </a:solidFill>
              </a:rPr>
              <a:t>hláskosloví a tvarosloví</a:t>
            </a:r>
          </a:p>
          <a:p>
            <a:pPr marL="0" indent="0">
              <a:buNone/>
            </a:pPr>
            <a:endParaRPr lang="cs-CZ" sz="2400" dirty="0"/>
          </a:p>
          <a:p>
            <a:pPr>
              <a:buFontTx/>
              <a:buChar char="-"/>
            </a:pPr>
            <a:r>
              <a:rPr lang="cs-CZ" sz="2400" dirty="0"/>
              <a:t>typické jsou obecně české hláskoslovné a tvaroslovné jevy:</a:t>
            </a:r>
          </a:p>
          <a:p>
            <a:pPr lvl="1">
              <a:buFontTx/>
              <a:buChar char="-"/>
            </a:pPr>
            <a:r>
              <a:rPr lang="cs-CZ" sz="2400" dirty="0"/>
              <a:t>protetické v- (</a:t>
            </a:r>
            <a:r>
              <a:rPr lang="cs-CZ" sz="2400" dirty="0" err="1"/>
              <a:t>vokno</a:t>
            </a:r>
            <a:r>
              <a:rPr lang="cs-CZ" sz="2400" dirty="0"/>
              <a:t>, </a:t>
            </a:r>
            <a:r>
              <a:rPr lang="cs-CZ" sz="2400" dirty="0" err="1"/>
              <a:t>voko</a:t>
            </a:r>
            <a:r>
              <a:rPr lang="cs-CZ" sz="2400" dirty="0"/>
              <a:t>, </a:t>
            </a:r>
            <a:r>
              <a:rPr lang="cs-CZ" sz="2400" dirty="0" err="1"/>
              <a:t>vodevřít</a:t>
            </a:r>
            <a:r>
              <a:rPr lang="cs-CZ" sz="2400" dirty="0"/>
              <a:t>)</a:t>
            </a:r>
          </a:p>
          <a:p>
            <a:pPr lvl="1">
              <a:buFontTx/>
              <a:buChar char="-"/>
            </a:pPr>
            <a:r>
              <a:rPr lang="cs-CZ" sz="2400" dirty="0"/>
              <a:t>diftongizace ý → ej (</a:t>
            </a:r>
            <a:r>
              <a:rPr lang="cs-CZ" sz="2400" dirty="0" err="1"/>
              <a:t>dobrej</a:t>
            </a:r>
            <a:r>
              <a:rPr lang="cs-CZ" sz="2400" dirty="0"/>
              <a:t>, </a:t>
            </a:r>
            <a:r>
              <a:rPr lang="cs-CZ" sz="2400" dirty="0" err="1"/>
              <a:t>bejk</a:t>
            </a:r>
            <a:r>
              <a:rPr lang="cs-CZ" sz="2400" dirty="0"/>
              <a:t>, </a:t>
            </a:r>
            <a:r>
              <a:rPr lang="cs-CZ" sz="2400" dirty="0" err="1"/>
              <a:t>vozejk</a:t>
            </a:r>
            <a:r>
              <a:rPr lang="cs-CZ" sz="2400" dirty="0"/>
              <a:t>)</a:t>
            </a:r>
          </a:p>
          <a:p>
            <a:pPr lvl="1">
              <a:buFontTx/>
              <a:buChar char="-"/>
            </a:pPr>
            <a:r>
              <a:rPr lang="cs-CZ" sz="2400" dirty="0"/>
              <a:t>úžení é → í (</a:t>
            </a:r>
            <a:r>
              <a:rPr lang="cs-CZ" sz="2400" dirty="0" err="1"/>
              <a:t>mlíko</a:t>
            </a:r>
            <a:r>
              <a:rPr lang="cs-CZ" sz="2400" dirty="0"/>
              <a:t>, líp)</a:t>
            </a:r>
          </a:p>
          <a:p>
            <a:pPr lvl="1">
              <a:buFontTx/>
              <a:buChar char="-"/>
            </a:pPr>
            <a:r>
              <a:rPr lang="cs-CZ" sz="2400" dirty="0"/>
              <a:t>v 7. p. mn. čísla koncovka –</a:t>
            </a:r>
            <a:r>
              <a:rPr lang="cs-CZ" sz="2400" dirty="0" err="1"/>
              <a:t>ama</a:t>
            </a:r>
            <a:r>
              <a:rPr lang="cs-CZ" sz="2400" dirty="0"/>
              <a:t> (</a:t>
            </a:r>
            <a:r>
              <a:rPr lang="cs-CZ" sz="2400" dirty="0" err="1"/>
              <a:t>psama</a:t>
            </a:r>
            <a:r>
              <a:rPr lang="cs-CZ" sz="2400" dirty="0"/>
              <a:t>, </a:t>
            </a:r>
            <a:r>
              <a:rPr lang="cs-CZ" sz="2400" dirty="0" err="1"/>
              <a:t>dveřma</a:t>
            </a:r>
            <a:r>
              <a:rPr lang="cs-CZ" sz="2400" dirty="0"/>
              <a:t>, </a:t>
            </a:r>
            <a:r>
              <a:rPr lang="cs-CZ" sz="2400" dirty="0" err="1"/>
              <a:t>holkama</a:t>
            </a:r>
            <a:r>
              <a:rPr lang="cs-CZ" sz="2400" dirty="0"/>
              <a:t>)</a:t>
            </a:r>
          </a:p>
          <a:p>
            <a:pPr lvl="1">
              <a:buFontTx/>
              <a:buChar char="-"/>
            </a:pPr>
            <a:r>
              <a:rPr lang="cs-CZ" sz="2400" dirty="0"/>
              <a:t>vypouštění koncovky –e u sloves v 1. os. mn. č. (</a:t>
            </a:r>
            <a:r>
              <a:rPr lang="cs-CZ" sz="2400" dirty="0" err="1"/>
              <a:t>nesem</a:t>
            </a:r>
            <a:r>
              <a:rPr lang="cs-CZ" sz="2400" dirty="0"/>
              <a:t>, </a:t>
            </a:r>
            <a:r>
              <a:rPr lang="cs-CZ" sz="2400" dirty="0" err="1"/>
              <a:t>vedem</a:t>
            </a:r>
            <a:r>
              <a:rPr lang="cs-CZ" sz="2400" dirty="0"/>
              <a:t>)</a:t>
            </a:r>
          </a:p>
          <a:p>
            <a:pPr lvl="1">
              <a:buFontTx/>
              <a:buChar char="-"/>
            </a:pPr>
            <a:r>
              <a:rPr lang="cs-CZ" sz="2400" dirty="0"/>
              <a:t>vypouštění koncovky –l u sloves v příčestí minulém 3. os. j. č. (tisk, nes)</a:t>
            </a:r>
          </a:p>
          <a:p>
            <a:pPr marL="457200" lvl="1" indent="0">
              <a:buNone/>
            </a:pPr>
            <a:endParaRPr lang="cs-CZ" sz="2000" dirty="0"/>
          </a:p>
          <a:p>
            <a:pPr marL="0" indent="0">
              <a:buNone/>
            </a:pPr>
            <a:endParaRPr lang="cs-CZ" sz="2400" dirty="0"/>
          </a:p>
        </p:txBody>
      </p:sp>
    </p:spTree>
    <p:extLst>
      <p:ext uri="{BB962C8B-B14F-4D97-AF65-F5344CB8AC3E}">
        <p14:creationId xmlns:p14="http://schemas.microsoft.com/office/powerpoint/2010/main" val="379999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0486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2400" dirty="0">
                <a:solidFill>
                  <a:schemeClr val="accent6"/>
                </a:solidFill>
              </a:rPr>
              <a:t>2. větná stavba</a:t>
            </a:r>
          </a:p>
          <a:p>
            <a:pPr marL="0" indent="0">
              <a:buNone/>
            </a:pPr>
            <a:endParaRPr lang="cs-CZ" sz="2400" dirty="0"/>
          </a:p>
          <a:p>
            <a:pPr>
              <a:buFontTx/>
              <a:buChar char="-"/>
            </a:pPr>
            <a:r>
              <a:rPr lang="cs-CZ" sz="2400" dirty="0"/>
              <a:t>převažují věty jednoduché</a:t>
            </a:r>
          </a:p>
          <a:p>
            <a:pPr>
              <a:buFontTx/>
              <a:buChar char="-"/>
            </a:pPr>
            <a:r>
              <a:rPr lang="cs-CZ" sz="2400" dirty="0"/>
              <a:t>časté jsou odchylky od spisovné větné stavby:</a:t>
            </a:r>
          </a:p>
          <a:p>
            <a:pPr lvl="1">
              <a:buFontTx/>
              <a:buChar char="-"/>
            </a:pPr>
            <a:r>
              <a:rPr lang="cs-CZ" sz="2400" dirty="0"/>
              <a:t>zeugma</a:t>
            </a:r>
          </a:p>
          <a:p>
            <a:pPr lvl="1">
              <a:buFontTx/>
              <a:buChar char="-"/>
            </a:pPr>
            <a:r>
              <a:rPr lang="cs-CZ" sz="2400" dirty="0"/>
              <a:t>anakolut</a:t>
            </a:r>
          </a:p>
          <a:p>
            <a:pPr lvl="1">
              <a:buFontTx/>
              <a:buChar char="-"/>
            </a:pPr>
            <a:r>
              <a:rPr lang="cs-CZ" sz="2400" dirty="0"/>
              <a:t>atrakce</a:t>
            </a:r>
          </a:p>
          <a:p>
            <a:pPr marL="0" indent="0">
              <a:buNone/>
            </a:pPr>
            <a:endParaRPr lang="cs-CZ" sz="2400" dirty="0"/>
          </a:p>
          <a:p>
            <a:pPr marL="0" indent="0">
              <a:buNone/>
            </a:pPr>
            <a:endParaRPr lang="cs-CZ" sz="2400" dirty="0"/>
          </a:p>
        </p:txBody>
      </p:sp>
    </p:spTree>
    <p:extLst>
      <p:ext uri="{BB962C8B-B14F-4D97-AF65-F5344CB8AC3E}">
        <p14:creationId xmlns:p14="http://schemas.microsoft.com/office/powerpoint/2010/main" val="3162437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0486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2400" dirty="0">
                <a:solidFill>
                  <a:schemeClr val="accent6"/>
                </a:solidFill>
              </a:rPr>
              <a:t>3. slovní zásoba</a:t>
            </a:r>
          </a:p>
          <a:p>
            <a:pPr marL="0" indent="0">
              <a:buNone/>
            </a:pPr>
            <a:endParaRPr lang="cs-CZ" sz="2400" dirty="0"/>
          </a:p>
          <a:p>
            <a:pPr>
              <a:buFontTx/>
              <a:buChar char="-"/>
            </a:pPr>
            <a:r>
              <a:rPr lang="cs-CZ" sz="2400" dirty="0"/>
              <a:t>užívají se běžná slova</a:t>
            </a:r>
          </a:p>
          <a:p>
            <a:pPr>
              <a:buFontTx/>
              <a:buChar char="-"/>
            </a:pPr>
            <a:r>
              <a:rPr lang="cs-CZ" sz="2400" dirty="0"/>
              <a:t>mohou být nespisovná i vulgární</a:t>
            </a:r>
          </a:p>
          <a:p>
            <a:pPr>
              <a:buFontTx/>
              <a:buChar char="-"/>
            </a:pPr>
            <a:r>
              <a:rPr lang="cs-CZ" sz="2400" dirty="0"/>
              <a:t>častý výskyt slangových výrazů, výrazů profesní mluvy</a:t>
            </a:r>
          </a:p>
          <a:p>
            <a:pPr>
              <a:buFontTx/>
              <a:buChar char="-"/>
            </a:pPr>
            <a:r>
              <a:rPr lang="cs-CZ" sz="2400" dirty="0"/>
              <a:t>naopak se obvykle neužívají slova archaická, odborná, knižní</a:t>
            </a:r>
          </a:p>
          <a:p>
            <a:pPr marL="0" indent="0">
              <a:buNone/>
            </a:pPr>
            <a:endParaRPr lang="cs-CZ" sz="2400" dirty="0"/>
          </a:p>
          <a:p>
            <a:pPr marL="0" indent="0">
              <a:buNone/>
            </a:pPr>
            <a:endParaRPr lang="cs-CZ" sz="2400" dirty="0"/>
          </a:p>
          <a:p>
            <a:pPr marL="0" indent="0">
              <a:buNone/>
            </a:pPr>
            <a:endParaRPr lang="cs-CZ" sz="2400" dirty="0"/>
          </a:p>
        </p:txBody>
      </p:sp>
    </p:spTree>
    <p:extLst>
      <p:ext uri="{BB962C8B-B14F-4D97-AF65-F5344CB8AC3E}">
        <p14:creationId xmlns:p14="http://schemas.microsoft.com/office/powerpoint/2010/main" val="3108794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0486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2400" dirty="0">
                <a:solidFill>
                  <a:schemeClr val="accent6"/>
                </a:solidFill>
              </a:rPr>
              <a:t>4. žánry</a:t>
            </a:r>
          </a:p>
          <a:p>
            <a:pPr marL="0" indent="0">
              <a:buNone/>
            </a:pPr>
            <a:endParaRPr lang="cs-CZ" sz="2400" dirty="0"/>
          </a:p>
          <a:p>
            <a:pPr marL="457200" indent="-457200">
              <a:buAutoNum type="alphaLcParenR"/>
            </a:pPr>
            <a:r>
              <a:rPr lang="cs-CZ" sz="2400" dirty="0"/>
              <a:t>žánry mluvené</a:t>
            </a:r>
          </a:p>
          <a:p>
            <a:pPr>
              <a:buFontTx/>
              <a:buChar char="-"/>
            </a:pPr>
            <a:r>
              <a:rPr lang="cs-CZ" sz="2400" dirty="0"/>
              <a:t>telefonní rozhovor</a:t>
            </a:r>
          </a:p>
          <a:p>
            <a:pPr>
              <a:buFontTx/>
              <a:buChar char="-"/>
            </a:pPr>
            <a:r>
              <a:rPr lang="cs-CZ" sz="2400" dirty="0"/>
              <a:t>diskuse</a:t>
            </a:r>
          </a:p>
          <a:p>
            <a:pPr>
              <a:buFontTx/>
              <a:buChar char="-"/>
            </a:pPr>
            <a:r>
              <a:rPr lang="cs-CZ" sz="2400" dirty="0"/>
              <a:t>kondolence</a:t>
            </a:r>
          </a:p>
          <a:p>
            <a:pPr>
              <a:buFontTx/>
              <a:buChar char="-"/>
            </a:pPr>
            <a:r>
              <a:rPr lang="cs-CZ" sz="2400" dirty="0"/>
              <a:t>blahopřání</a:t>
            </a:r>
          </a:p>
          <a:p>
            <a:pPr marL="0" indent="0">
              <a:buNone/>
            </a:pPr>
            <a:endParaRPr lang="cs-CZ" sz="2400" dirty="0"/>
          </a:p>
          <a:p>
            <a:pPr marL="0" indent="0">
              <a:buNone/>
            </a:pPr>
            <a:r>
              <a:rPr lang="cs-CZ" sz="2400" dirty="0"/>
              <a:t>b) žánry psané</a:t>
            </a:r>
          </a:p>
          <a:p>
            <a:pPr>
              <a:buFontTx/>
              <a:buChar char="-"/>
            </a:pPr>
            <a:r>
              <a:rPr lang="cs-CZ" sz="2400" dirty="0"/>
              <a:t>vypravování</a:t>
            </a:r>
          </a:p>
          <a:p>
            <a:pPr>
              <a:buFontTx/>
              <a:buChar char="-"/>
            </a:pPr>
            <a:r>
              <a:rPr lang="cs-CZ" sz="2400" dirty="0"/>
              <a:t>osobní dopis</a:t>
            </a:r>
          </a:p>
          <a:p>
            <a:pPr>
              <a:buFontTx/>
              <a:buChar char="-"/>
            </a:pPr>
            <a:r>
              <a:rPr lang="cs-CZ" sz="2400" dirty="0" err="1"/>
              <a:t>sms</a:t>
            </a:r>
            <a:endParaRPr lang="cs-CZ" sz="2400" dirty="0"/>
          </a:p>
          <a:p>
            <a:pPr>
              <a:buFontTx/>
              <a:buChar char="-"/>
            </a:pPr>
            <a:r>
              <a:rPr lang="cs-CZ" sz="2400" dirty="0"/>
              <a:t>email atd.</a:t>
            </a:r>
          </a:p>
          <a:p>
            <a:pPr marL="0" indent="0">
              <a:buNone/>
            </a:pPr>
            <a:endParaRPr lang="cs-CZ" sz="2400" dirty="0"/>
          </a:p>
          <a:p>
            <a:pPr marL="0" indent="0">
              <a:buNone/>
            </a:pPr>
            <a:endParaRPr lang="cs-CZ" sz="2400" dirty="0"/>
          </a:p>
        </p:txBody>
      </p:sp>
    </p:spTree>
    <p:extLst>
      <p:ext uri="{BB962C8B-B14F-4D97-AF65-F5344CB8AC3E}">
        <p14:creationId xmlns:p14="http://schemas.microsoft.com/office/powerpoint/2010/main" val="3734095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0486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sz="2400" dirty="0">
                <a:solidFill>
                  <a:srgbClr val="FF0000"/>
                </a:solidFill>
              </a:rPr>
              <a:t>Zdroje:</a:t>
            </a:r>
          </a:p>
          <a:p>
            <a:pPr marL="0" indent="0">
              <a:buNone/>
            </a:pPr>
            <a:endParaRPr lang="cs-CZ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cs-CZ" sz="2400" dirty="0"/>
              <a:t>MAŠKOVÁ, </a:t>
            </a:r>
            <a:r>
              <a:rPr lang="cs-CZ" sz="2400" dirty="0" err="1"/>
              <a:t>Drahuše</a:t>
            </a:r>
            <a:r>
              <a:rPr lang="cs-CZ" sz="2400" dirty="0"/>
              <a:t>. </a:t>
            </a:r>
            <a:r>
              <a:rPr lang="cs-CZ" sz="2400" i="1" dirty="0"/>
              <a:t>Český jazyk: přehled středoškolského učiva</a:t>
            </a:r>
            <a:r>
              <a:rPr lang="cs-CZ" sz="2400" dirty="0"/>
              <a:t>. 1. </a:t>
            </a:r>
            <a:r>
              <a:rPr lang="cs-CZ" sz="2400" dirty="0" err="1"/>
              <a:t>vyd</a:t>
            </a:r>
            <a:r>
              <a:rPr lang="cs-CZ" sz="2400" dirty="0"/>
              <a:t>. Třebíč: Petra </a:t>
            </a:r>
            <a:r>
              <a:rPr lang="cs-CZ" sz="2400" dirty="0" err="1"/>
              <a:t>Velanová</a:t>
            </a:r>
            <a:r>
              <a:rPr lang="cs-CZ" sz="2400" dirty="0"/>
              <a:t>, 2005, 175 s. Maturita. ISBN 80-902-5715-1. </a:t>
            </a:r>
          </a:p>
          <a:p>
            <a:pPr marL="0" indent="0">
              <a:buNone/>
            </a:pPr>
            <a:endParaRPr lang="cs-CZ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cs-CZ" sz="2400" dirty="0"/>
              <a:t>ADÁMKOVÁ, Petra a GREŠOVÁ, Šárka. </a:t>
            </a:r>
            <a:r>
              <a:rPr lang="cs-CZ" sz="2400" i="1" dirty="0"/>
              <a:t>Český jazyk a komunikace pro střední školy 3. - 4. díl</a:t>
            </a:r>
            <a:r>
              <a:rPr lang="cs-CZ" sz="2400" dirty="0"/>
              <a:t>. </a:t>
            </a:r>
            <a:r>
              <a:rPr lang="cs-CZ" sz="2400" i="1" dirty="0"/>
              <a:t>Průvodce pro učitele.</a:t>
            </a:r>
            <a:r>
              <a:rPr lang="cs-CZ" sz="2400" dirty="0"/>
              <a:t> 1. </a:t>
            </a:r>
            <a:r>
              <a:rPr lang="cs-CZ" sz="2400" dirty="0" err="1"/>
              <a:t>vyd</a:t>
            </a:r>
            <a:r>
              <a:rPr lang="cs-CZ" sz="2400" dirty="0"/>
              <a:t>. Brno: </a:t>
            </a:r>
            <a:r>
              <a:rPr lang="cs-CZ" sz="2400" dirty="0" err="1"/>
              <a:t>Didaktis</a:t>
            </a:r>
            <a:r>
              <a:rPr lang="cs-CZ" sz="2400" dirty="0"/>
              <a:t>, 2013, 175 s. ISBN 978-80-7358-202-9. </a:t>
            </a:r>
            <a:r>
              <a:rPr lang="cs-CZ" sz="2400" dirty="0">
                <a:solidFill>
                  <a:srgbClr val="FF0000"/>
                </a:solidFill>
              </a:rPr>
              <a:t> </a:t>
            </a:r>
          </a:p>
          <a:p>
            <a:pPr marL="0" indent="0">
              <a:buNone/>
            </a:pPr>
            <a:r>
              <a:rPr lang="cs-CZ" sz="2400" dirty="0"/>
              <a:t> </a:t>
            </a:r>
          </a:p>
          <a:p>
            <a:pPr marL="0" indent="0">
              <a:buNone/>
            </a:pPr>
            <a:endParaRPr lang="cs-CZ" sz="2400" dirty="0"/>
          </a:p>
          <a:p>
            <a:pPr marL="0" indent="0">
              <a:buNone/>
            </a:pPr>
            <a:endParaRPr lang="cs-CZ" sz="2400" dirty="0"/>
          </a:p>
        </p:txBody>
      </p:sp>
    </p:spTree>
    <p:extLst>
      <p:ext uri="{BB962C8B-B14F-4D97-AF65-F5344CB8AC3E}">
        <p14:creationId xmlns:p14="http://schemas.microsoft.com/office/powerpoint/2010/main" val="883324584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systému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965</TotalTime>
  <Words>281</Words>
  <Application>Microsoft Office PowerPoint</Application>
  <PresentationFormat>Předvádění na obrazovce (4:3)</PresentationFormat>
  <Paragraphs>51</Paragraphs>
  <Slides>7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7</vt:i4>
      </vt:variant>
    </vt:vector>
  </HeadingPairs>
  <TitlesOfParts>
    <vt:vector size="10" baseType="lpstr">
      <vt:lpstr>Arial</vt:lpstr>
      <vt:lpstr>Calibri</vt:lpstr>
      <vt:lpstr>Motiv sady Office</vt:lpstr>
      <vt:lpstr>Funkční styl prostě sdělovací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>SŠ a VOŠ cestovního ruchu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Ken Elton Kesey</dc:title>
  <dc:creator>pkriz</dc:creator>
  <cp:lastModifiedBy>Věra Hanáková</cp:lastModifiedBy>
  <cp:revision>52</cp:revision>
  <dcterms:created xsi:type="dcterms:W3CDTF">2013-01-04T10:43:36Z</dcterms:created>
  <dcterms:modified xsi:type="dcterms:W3CDTF">2024-02-15T08:19:18Z</dcterms:modified>
</cp:coreProperties>
</file>