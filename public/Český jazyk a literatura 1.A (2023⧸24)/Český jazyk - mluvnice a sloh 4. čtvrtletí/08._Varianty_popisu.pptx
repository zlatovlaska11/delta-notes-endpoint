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9" r:id="rId1"/>
  </p:sldMasterIdLst>
  <p:notesMasterIdLst>
    <p:notesMasterId r:id="rId12"/>
  </p:notesMasterIdLst>
  <p:sldIdLst>
    <p:sldId id="271" r:id="rId2"/>
    <p:sldId id="272" r:id="rId3"/>
    <p:sldId id="256" r:id="rId4"/>
    <p:sldId id="286" r:id="rId5"/>
    <p:sldId id="289" r:id="rId6"/>
    <p:sldId id="290" r:id="rId7"/>
    <p:sldId id="292" r:id="rId8"/>
    <p:sldId id="293" r:id="rId9"/>
    <p:sldId id="294" r:id="rId10"/>
    <p:sldId id="288" r:id="rId11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10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D180F2-4C36-45A1-9965-A39C69028CB9}" type="datetimeFigureOut">
              <a:rPr lang="cs-CZ" smtClean="0"/>
              <a:pPr/>
              <a:t>12.12.2013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9EA364-DD19-4EA3-8506-C73E6D7ED211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xmlns="" val="2492118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2DC54-DDA7-4A20-8A1B-9237F47FEBC3}" type="slidenum">
              <a:rPr lang="cs-CZ" smtClean="0"/>
              <a:pPr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xmlns="" val="5891449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2879" y="182879"/>
            <a:ext cx="8778240" cy="649224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2485" y="882376"/>
            <a:ext cx="747522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6000" b="1" cap="all" baseline="0">
                <a:solidFill>
                  <a:srgbClr val="FFFFFF"/>
                </a:solidFill>
              </a:defRPr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2148" y="3869635"/>
            <a:ext cx="6575895" cy="1388165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rgbClr val="FFFFFF"/>
                </a:solidFill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cs-CZ" smtClean="0"/>
              <a:t>Kliknutím lze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2FFD7B6-3B63-4C96-AF1E-57D052A26F1B}" type="datetimeFigureOut">
              <a:rPr lang="cs-CZ" smtClean="0"/>
              <a:pPr/>
              <a:t>12.12.2013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AC81AA2-1B26-4F89-B9F9-30576F2FC279}" type="slidenum">
              <a:rPr lang="cs-CZ" smtClean="0"/>
              <a:pPr/>
              <a:t>‹#›</a:t>
            </a:fld>
            <a:endParaRPr lang="cs-CZ"/>
          </a:p>
        </p:txBody>
      </p:sp>
      <p:cxnSp>
        <p:nvCxnSpPr>
          <p:cNvPr id="8" name="Straight Connector 7"/>
          <p:cNvCxnSpPr/>
          <p:nvPr/>
        </p:nvCxnSpPr>
        <p:spPr>
          <a:xfrm>
            <a:off x="1483995" y="3733800"/>
            <a:ext cx="61722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831413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000"/>
              </a:spcBef>
              <a:defRPr/>
            </a:lvl1pPr>
          </a:lstStyle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FD7B6-3B63-4C96-AF1E-57D052A26F1B}" type="datetimeFigureOut">
              <a:rPr lang="cs-CZ" smtClean="0"/>
              <a:pPr/>
              <a:t>12.12.2013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1AA2-1B26-4F89-B9F9-30576F2FC279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xmlns="" val="3355714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818" y="1173575"/>
            <a:ext cx="747522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6000" b="0" cap="all" baseline="0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2446" y="4154520"/>
            <a:ext cx="6576822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FD7B6-3B63-4C96-AF1E-57D052A26F1B}" type="datetimeFigureOut">
              <a:rPr lang="cs-CZ" smtClean="0"/>
              <a:pPr/>
              <a:t>12.12.2013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1AA2-1B26-4F89-B9F9-30576F2FC279}" type="slidenum">
              <a:rPr lang="cs-CZ" smtClean="0"/>
              <a:pPr/>
              <a:t>‹#›</a:t>
            </a:fld>
            <a:endParaRPr lang="cs-CZ"/>
          </a:p>
        </p:txBody>
      </p:sp>
      <p:cxnSp>
        <p:nvCxnSpPr>
          <p:cNvPr id="7" name="Straight Connector 6"/>
          <p:cNvCxnSpPr/>
          <p:nvPr/>
        </p:nvCxnSpPr>
        <p:spPr>
          <a:xfrm>
            <a:off x="1485900" y="4020408"/>
            <a:ext cx="61722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763037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7250" y="2057399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709" y="2057400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FD7B6-3B63-4C96-AF1E-57D052A26F1B}" type="datetimeFigureOut">
              <a:rPr lang="cs-CZ" smtClean="0"/>
              <a:pPr/>
              <a:t>12.12.2013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1AA2-1B26-4F89-B9F9-30576F2FC279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xmlns="" val="3977503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0" y="2001511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7250" y="2721483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1880" y="1999032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1880" y="2719322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FD7B6-3B63-4C96-AF1E-57D052A26F1B}" type="datetimeFigureOut">
              <a:rPr lang="cs-CZ" smtClean="0"/>
              <a:pPr/>
              <a:t>12.12.2013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1AA2-1B26-4F89-B9F9-30576F2FC279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xmlns="" val="3971890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FD7B6-3B63-4C96-AF1E-57D052A26F1B}" type="datetimeFigureOut">
              <a:rPr lang="cs-CZ" smtClean="0"/>
              <a:pPr/>
              <a:t>12.12.2013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1AA2-1B26-4F89-B9F9-30576F2FC279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xmlns="" val="3731020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FD7B6-3B63-4C96-AF1E-57D052A26F1B}" type="datetimeFigureOut">
              <a:rPr lang="cs-CZ" smtClean="0"/>
              <a:pPr/>
              <a:t>12.12.2013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1AA2-1B26-4F89-B9F9-30576F2FC279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xmlns="" val="1344164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8346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9314" y="1097280"/>
            <a:ext cx="4149638" cy="466344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834640" cy="29260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FD7B6-3B63-4C96-AF1E-57D052A26F1B}" type="datetimeFigureOut">
              <a:rPr lang="cs-CZ" smtClean="0"/>
              <a:pPr/>
              <a:t>12.12.2013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1AA2-1B26-4F89-B9F9-30576F2FC279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xmlns="" val="3700164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8346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19107" y="1069847"/>
            <a:ext cx="4257703" cy="4645153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cs-CZ" smtClean="0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83464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FD7B6-3B63-4C96-AF1E-57D052A26F1B}" type="datetimeFigureOut">
              <a:rPr lang="cs-CZ" smtClean="0"/>
              <a:pPr/>
              <a:t>12.12.2013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1AA2-1B26-4F89-B9F9-30576F2FC279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xmlns="" val="2429707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FD7B6-3B63-4C96-AF1E-57D052A26F1B}" type="datetimeFigureOut">
              <a:rPr lang="cs-CZ" smtClean="0"/>
              <a:pPr/>
              <a:t>12.12.2013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1AA2-1B26-4F89-B9F9-30576F2FC279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xmlns="" val="3640411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762000"/>
            <a:ext cx="1743075" cy="5410200"/>
          </a:xfrm>
        </p:spPr>
        <p:txBody>
          <a:bodyPr vert="eaVert"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7250" y="762000"/>
            <a:ext cx="5572125" cy="5410200"/>
          </a:xfrm>
        </p:spPr>
        <p:txBody>
          <a:bodyPr vert="eaVert"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FD7B6-3B63-4C96-AF1E-57D052A26F1B}" type="datetimeFigureOut">
              <a:rPr lang="cs-CZ" smtClean="0"/>
              <a:pPr/>
              <a:t>12.12.2013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1AA2-1B26-4F89-B9F9-30576F2FC279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xmlns="" val="591628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2880" y="182880"/>
            <a:ext cx="8778240" cy="64922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7250" y="609600"/>
            <a:ext cx="740664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1" y="2057400"/>
            <a:ext cx="7404653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7247" y="6223829"/>
            <a:ext cx="17468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/>
                </a:solidFill>
              </a:defRPr>
            </a:lvl1pPr>
          </a:lstStyle>
          <a:p>
            <a:fld id="{52FFD7B6-3B63-4C96-AF1E-57D052A26F1B}" type="datetimeFigureOut">
              <a:rPr lang="cs-CZ" smtClean="0"/>
              <a:pPr/>
              <a:t>12.12.2013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61861" y="6223829"/>
            <a:ext cx="35383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accent1"/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7148" y="6223829"/>
            <a:ext cx="1279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/>
                </a:solidFill>
              </a:defRPr>
            </a:lvl1pPr>
          </a:lstStyle>
          <a:p>
            <a:fld id="{4AC81AA2-1B26-4F89-B9F9-30576F2FC279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xmlns="" val="4061420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37160" algn="l" defTabSz="6858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92012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1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3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15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17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mi21.vsb.cz/sites/mi21.vsb.cz/files/img/OPVK_hor_zakladni_logolink_CB_cz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136702"/>
            <a:ext cx="9144000" cy="1967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827584" y="6356350"/>
            <a:ext cx="7632848" cy="365125"/>
          </a:xfrm>
        </p:spPr>
        <p:txBody>
          <a:bodyPr/>
          <a:lstStyle/>
          <a:p>
            <a:r>
              <a:rPr lang="cs-CZ" sz="1400" dirty="0" smtClean="0"/>
              <a:t>Střední škola  a Vyšší odborná škola cestovního ruchu, Senovážné náměstí 12, České Budějovice 370  01</a:t>
            </a:r>
            <a:endParaRPr lang="cs-CZ" sz="1400" dirty="0"/>
          </a:p>
        </p:txBody>
      </p:sp>
      <p:graphicFrame>
        <p:nvGraphicFramePr>
          <p:cNvPr id="7" name="Tabulk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035462676"/>
              </p:ext>
            </p:extLst>
          </p:nvPr>
        </p:nvGraphicFramePr>
        <p:xfrm>
          <a:off x="947519" y="2564904"/>
          <a:ext cx="7248961" cy="31638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28381"/>
                <a:gridCol w="5220580"/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cs-CZ" sz="2400" cap="small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Číslo projektu</a:t>
                      </a:r>
                      <a:endParaRPr lang="cs-CZ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cs-CZ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CZ.1.07/1.5.00/34.0423</a:t>
                      </a:r>
                      <a:endParaRPr lang="cs-CZ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cs-CZ" sz="2400" cap="small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Číslo materiálu</a:t>
                      </a:r>
                      <a:endParaRPr lang="cs-CZ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cs-CZ" dirty="0" smtClean="0"/>
                        <a:t>8.</a:t>
                      </a:r>
                      <a:endParaRPr lang="cs-CZ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cs-CZ" sz="2400" cap="small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název školy</a:t>
                      </a:r>
                      <a:endParaRPr lang="cs-CZ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cs-CZ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Střední škola a Vyšší odborná škola cestovního ruchu, Senovážné náměstí 12, České Budějovice 370 01</a:t>
                      </a:r>
                      <a:endParaRPr lang="cs-CZ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cs-CZ" sz="2400" cap="small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Autor</a:t>
                      </a:r>
                      <a:endParaRPr lang="cs-CZ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cs-CZ" dirty="0" smtClean="0"/>
                        <a:t>Mgr. Petr Kříž</a:t>
                      </a:r>
                      <a:endParaRPr lang="cs-CZ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cs-CZ" sz="2400" cap="small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Tematický </a:t>
                      </a:r>
                      <a:r>
                        <a:rPr lang="cs-CZ" sz="2400" cap="small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celek</a:t>
                      </a:r>
                      <a:endParaRPr lang="cs-CZ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cs-CZ" dirty="0" smtClean="0"/>
                        <a:t>Sloh</a:t>
                      </a:r>
                      <a:endParaRPr lang="cs-CZ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cs-CZ" sz="2400" cap="small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Ročník</a:t>
                      </a:r>
                      <a:endParaRPr lang="cs-CZ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cs-CZ" dirty="0" smtClean="0"/>
                        <a:t>2.</a:t>
                      </a:r>
                      <a:endParaRPr lang="cs-CZ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cs-CZ" sz="2400" cap="small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Datum tvorby</a:t>
                      </a:r>
                      <a:endParaRPr lang="cs-CZ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cs-CZ" dirty="0" smtClean="0"/>
                        <a:t>10.</a:t>
                      </a:r>
                      <a:r>
                        <a:rPr lang="cs-CZ" baseline="0" dirty="0" smtClean="0"/>
                        <a:t> 11. 2013</a:t>
                      </a:r>
                      <a:endParaRPr lang="cs-CZ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869337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95536" y="404665"/>
            <a:ext cx="8229600" cy="6192688"/>
          </a:xfrm>
          <a:prstGeom prst="rect">
            <a:avLst/>
          </a:prstGeom>
        </p:spPr>
        <p:txBody>
          <a:bodyPr/>
          <a:lstStyle/>
          <a:p>
            <a:r>
              <a:rPr lang="cs-CZ" dirty="0" smtClean="0"/>
              <a:t>Anotace:</a:t>
            </a:r>
          </a:p>
          <a:p>
            <a:pPr marL="0" indent="0">
              <a:buNone/>
            </a:pPr>
            <a:r>
              <a:rPr lang="cs-CZ" sz="2400" dirty="0" smtClean="0"/>
              <a:t>Tato prezentace přibližuje žánr popisu v různých jeho variantách v současné stylistice. Inovuje výuku využitím multimediálních pomůcek. Materiál je určen pro výuku ve 2. ročníku střední školy – stylistika.</a:t>
            </a:r>
            <a:endParaRPr lang="cs-CZ" sz="2400" dirty="0"/>
          </a:p>
          <a:p>
            <a:pPr marL="0" indent="0">
              <a:buNone/>
            </a:pPr>
            <a:endParaRPr lang="cs-CZ" dirty="0" smtClean="0"/>
          </a:p>
          <a:p>
            <a:r>
              <a:rPr lang="cs-CZ" dirty="0" smtClean="0"/>
              <a:t>Metodické pokyny:</a:t>
            </a:r>
          </a:p>
          <a:p>
            <a:pPr marL="0" indent="0">
              <a:buNone/>
            </a:pPr>
            <a:r>
              <a:rPr lang="cs-CZ" sz="2400" dirty="0" smtClean="0"/>
              <a:t>Materiál použije učitel při výkladu látky. Doba prezentace odpovídá zhruba 30 minutám. Prezentaci může učitel doplňovat svými otázkami. </a:t>
            </a:r>
            <a:endParaRPr lang="cs-CZ" sz="2400" dirty="0"/>
          </a:p>
        </p:txBody>
      </p:sp>
    </p:spTree>
    <p:extLst>
      <p:ext uri="{BB962C8B-B14F-4D97-AF65-F5344CB8AC3E}">
        <p14:creationId xmlns:p14="http://schemas.microsoft.com/office/powerpoint/2010/main" xmlns="" val="855587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 smtClean="0"/>
              <a:t>Varianty Popisu</a:t>
            </a:r>
            <a:endParaRPr lang="cs-CZ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048672"/>
          </a:xfrm>
        </p:spPr>
        <p:txBody>
          <a:bodyPr>
            <a:normAutofit/>
          </a:bodyPr>
          <a:lstStyle/>
          <a:p>
            <a:pPr marL="34290" indent="0">
              <a:buNone/>
            </a:pPr>
            <a:endParaRPr lang="cs-CZ" sz="2400" b="1" dirty="0" smtClean="0"/>
          </a:p>
          <a:p>
            <a:pPr marL="34290" indent="0">
              <a:buNone/>
            </a:pPr>
            <a:r>
              <a:rPr lang="cs-CZ" sz="2800" b="1" dirty="0">
                <a:solidFill>
                  <a:srgbClr val="FF0000"/>
                </a:solidFill>
              </a:rPr>
              <a:t>Cíl popisu</a:t>
            </a:r>
            <a:r>
              <a:rPr lang="cs-CZ" sz="2800" dirty="0">
                <a:solidFill>
                  <a:srgbClr val="FF0000"/>
                </a:solidFill>
              </a:rPr>
              <a:t>: vytvořit pro posluchače nebo čtenáře celkovou představu popisovaného předmětu, </a:t>
            </a:r>
            <a:r>
              <a:rPr lang="cs-CZ" sz="2800" dirty="0" smtClean="0">
                <a:solidFill>
                  <a:srgbClr val="FF0000"/>
                </a:solidFill>
              </a:rPr>
              <a:t>osoby</a:t>
            </a:r>
            <a:r>
              <a:rPr lang="cs-CZ" sz="2800" dirty="0">
                <a:solidFill>
                  <a:srgbClr val="FF0000"/>
                </a:solidFill>
              </a:rPr>
              <a:t>, zvířete, děje, přírody atd.</a:t>
            </a:r>
          </a:p>
          <a:p>
            <a:pPr marL="34290" lvl="0" indent="0">
              <a:buNone/>
            </a:pPr>
            <a:endParaRPr lang="cs-CZ" sz="2400" dirty="0"/>
          </a:p>
          <a:p>
            <a:pPr marL="34290" indent="0">
              <a:buNone/>
            </a:pPr>
            <a:r>
              <a:rPr lang="cs-CZ" sz="2400" b="1" dirty="0"/>
              <a:t>Popis může být</a:t>
            </a:r>
            <a:r>
              <a:rPr lang="cs-CZ" sz="2400" dirty="0"/>
              <a:t>: </a:t>
            </a:r>
          </a:p>
          <a:p>
            <a:pPr marL="34290" indent="0">
              <a:buNone/>
            </a:pPr>
            <a:r>
              <a:rPr lang="cs-CZ" sz="2400" dirty="0" smtClean="0"/>
              <a:t>a) - </a:t>
            </a:r>
            <a:r>
              <a:rPr lang="cs-CZ" sz="2400" b="1" dirty="0"/>
              <a:t>úplný</a:t>
            </a:r>
            <a:r>
              <a:rPr lang="cs-CZ" sz="2400" dirty="0"/>
              <a:t> – např. při popisu pracovního </a:t>
            </a:r>
            <a:r>
              <a:rPr lang="cs-CZ" sz="2400" dirty="0" smtClean="0"/>
              <a:t>postupu</a:t>
            </a:r>
          </a:p>
          <a:p>
            <a:pPr marL="34290" indent="0">
              <a:buNone/>
            </a:pPr>
            <a:r>
              <a:rPr lang="cs-CZ" sz="2400" dirty="0" smtClean="0"/>
              <a:t>     - </a:t>
            </a:r>
            <a:r>
              <a:rPr lang="cs-CZ" sz="2400" b="1" dirty="0" smtClean="0"/>
              <a:t>výběrový</a:t>
            </a:r>
            <a:r>
              <a:rPr lang="cs-CZ" sz="2400" dirty="0" smtClean="0"/>
              <a:t> (částečný) – zaměřujeme se na podstatné rysy (u </a:t>
            </a:r>
          </a:p>
          <a:p>
            <a:pPr marL="34290" indent="0">
              <a:buNone/>
            </a:pPr>
            <a:r>
              <a:rPr lang="cs-CZ" sz="2400" dirty="0" smtClean="0"/>
              <a:t>	člověka vzhled, u přírody barvy </a:t>
            </a:r>
            <a:r>
              <a:rPr lang="cs-CZ" sz="2400" dirty="0"/>
              <a:t>atd.</a:t>
            </a:r>
          </a:p>
          <a:p>
            <a:pPr marL="34290" indent="0">
              <a:buNone/>
            </a:pPr>
            <a:r>
              <a:rPr lang="cs-CZ" sz="2400" dirty="0"/>
              <a:t>b) - </a:t>
            </a:r>
            <a:r>
              <a:rPr lang="cs-CZ" sz="2400" b="1" dirty="0"/>
              <a:t>individuální</a:t>
            </a:r>
            <a:r>
              <a:rPr lang="cs-CZ" sz="2400" dirty="0"/>
              <a:t> – např. popis jednotlivce (= charakteristika) </a:t>
            </a:r>
            <a:endParaRPr lang="cs-CZ" sz="2400" dirty="0" smtClean="0"/>
          </a:p>
          <a:p>
            <a:pPr marL="34290" indent="0">
              <a:buNone/>
            </a:pPr>
            <a:r>
              <a:rPr lang="cs-CZ" sz="2400" dirty="0"/>
              <a:t>	</a:t>
            </a:r>
            <a:r>
              <a:rPr lang="cs-CZ" sz="2400" dirty="0" smtClean="0"/>
              <a:t>nebo </a:t>
            </a:r>
            <a:r>
              <a:rPr lang="cs-CZ" sz="2400" dirty="0"/>
              <a:t>jedné věci</a:t>
            </a:r>
          </a:p>
          <a:p>
            <a:pPr marL="34290" indent="0">
              <a:buNone/>
            </a:pPr>
            <a:r>
              <a:rPr lang="cs-CZ" sz="2400" dirty="0"/>
              <a:t> </a:t>
            </a:r>
            <a:r>
              <a:rPr lang="cs-CZ" sz="2400" dirty="0" smtClean="0"/>
              <a:t>    </a:t>
            </a:r>
            <a:r>
              <a:rPr lang="cs-CZ" sz="2400" dirty="0"/>
              <a:t>- </a:t>
            </a:r>
            <a:r>
              <a:rPr lang="cs-CZ" sz="2400" b="1" dirty="0"/>
              <a:t>skupinový</a:t>
            </a:r>
            <a:r>
              <a:rPr lang="cs-CZ" sz="2400" dirty="0"/>
              <a:t> – např. popisujeme rysy příznačné pro celou </a:t>
            </a:r>
            <a:endParaRPr lang="cs-CZ" sz="2400" dirty="0" smtClean="0"/>
          </a:p>
          <a:p>
            <a:pPr marL="34290" indent="0">
              <a:buNone/>
            </a:pPr>
            <a:r>
              <a:rPr lang="cs-CZ" sz="2400" dirty="0"/>
              <a:t>	</a:t>
            </a:r>
            <a:r>
              <a:rPr lang="cs-CZ" sz="2400" dirty="0" smtClean="0"/>
              <a:t>skupinu </a:t>
            </a:r>
            <a:r>
              <a:rPr lang="cs-CZ" sz="2400" dirty="0"/>
              <a:t>jevů svého druhu</a:t>
            </a:r>
          </a:p>
          <a:p>
            <a:pPr marL="34290" lvl="0" indent="0">
              <a:buNone/>
            </a:pPr>
            <a:endParaRPr lang="cs-CZ" sz="2400" dirty="0" smtClean="0"/>
          </a:p>
          <a:p>
            <a:pPr marL="0" indent="0">
              <a:buNone/>
            </a:pPr>
            <a:endParaRPr lang="cs-CZ" sz="2400" dirty="0"/>
          </a:p>
          <a:p>
            <a:pPr marL="0" indent="0">
              <a:buNone/>
            </a:pPr>
            <a:endParaRPr lang="cs-CZ" sz="2400" dirty="0" smtClean="0"/>
          </a:p>
        </p:txBody>
      </p:sp>
    </p:spTree>
    <p:extLst>
      <p:ext uri="{BB962C8B-B14F-4D97-AF65-F5344CB8AC3E}">
        <p14:creationId xmlns:p14="http://schemas.microsoft.com/office/powerpoint/2010/main" xmlns="" val="1254381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048672"/>
          </a:xfrm>
        </p:spPr>
        <p:txBody>
          <a:bodyPr>
            <a:normAutofit lnSpcReduction="10000"/>
          </a:bodyPr>
          <a:lstStyle/>
          <a:p>
            <a:pPr marL="34290" indent="0">
              <a:buNone/>
            </a:pPr>
            <a:r>
              <a:rPr lang="cs-CZ" sz="2400" dirty="0"/>
              <a:t>c) - </a:t>
            </a:r>
            <a:r>
              <a:rPr lang="cs-CZ" sz="2400" b="1" dirty="0"/>
              <a:t>objektivní</a:t>
            </a:r>
            <a:r>
              <a:rPr lang="cs-CZ" sz="2400" dirty="0"/>
              <a:t> – obsahuje nezávislé informace na vztahu </a:t>
            </a:r>
            <a:endParaRPr lang="cs-CZ" sz="2400" dirty="0" smtClean="0"/>
          </a:p>
          <a:p>
            <a:pPr marL="34290" indent="0">
              <a:buNone/>
            </a:pPr>
            <a:r>
              <a:rPr lang="cs-CZ" sz="2400" dirty="0"/>
              <a:t>	</a:t>
            </a:r>
            <a:r>
              <a:rPr lang="cs-CZ" sz="2400" dirty="0" smtClean="0"/>
              <a:t>pozorovatele </a:t>
            </a:r>
            <a:r>
              <a:rPr lang="cs-CZ" sz="2400" dirty="0"/>
              <a:t>k jevu</a:t>
            </a:r>
          </a:p>
          <a:p>
            <a:pPr marL="34290" indent="0">
              <a:buNone/>
            </a:pPr>
            <a:r>
              <a:rPr lang="cs-CZ" sz="2400" dirty="0"/>
              <a:t> </a:t>
            </a:r>
            <a:r>
              <a:rPr lang="cs-CZ" sz="2400" dirty="0" smtClean="0"/>
              <a:t>    - </a:t>
            </a:r>
            <a:r>
              <a:rPr lang="cs-CZ" sz="2400" b="1" dirty="0"/>
              <a:t>subjektivní</a:t>
            </a:r>
            <a:r>
              <a:rPr lang="cs-CZ" sz="2400" dirty="0"/>
              <a:t> – je výsledkem autorova postoje </a:t>
            </a:r>
            <a:endParaRPr lang="cs-CZ" sz="2400" dirty="0" smtClean="0"/>
          </a:p>
          <a:p>
            <a:pPr marL="34290" indent="0">
              <a:buNone/>
            </a:pPr>
            <a:r>
              <a:rPr lang="cs-CZ" sz="2400" dirty="0"/>
              <a:t>	</a:t>
            </a:r>
            <a:r>
              <a:rPr lang="cs-CZ" sz="2400" dirty="0" smtClean="0"/>
              <a:t>k</a:t>
            </a:r>
            <a:r>
              <a:rPr lang="cs-CZ" sz="2400" dirty="0"/>
              <a:t> popisovanému </a:t>
            </a:r>
            <a:r>
              <a:rPr lang="cs-CZ" sz="2400" dirty="0" smtClean="0"/>
              <a:t>jevu </a:t>
            </a:r>
            <a:r>
              <a:rPr lang="cs-CZ" sz="2400" dirty="0"/>
              <a:t>- může být: kladný, obdivný, </a:t>
            </a:r>
            <a:endParaRPr lang="cs-CZ" sz="2400" dirty="0" smtClean="0"/>
          </a:p>
          <a:p>
            <a:pPr marL="34290" indent="0">
              <a:buNone/>
            </a:pPr>
            <a:r>
              <a:rPr lang="cs-CZ" sz="2400" dirty="0"/>
              <a:t>	</a:t>
            </a:r>
            <a:r>
              <a:rPr lang="cs-CZ" sz="2400" dirty="0" smtClean="0"/>
              <a:t>láskyplný</a:t>
            </a:r>
            <a:r>
              <a:rPr lang="cs-CZ" sz="2400" dirty="0"/>
              <a:t>, záporný, </a:t>
            </a:r>
            <a:r>
              <a:rPr lang="cs-CZ" sz="2400" dirty="0" smtClean="0"/>
              <a:t>odmítavý; </a:t>
            </a:r>
            <a:r>
              <a:rPr lang="cs-CZ" sz="2400" dirty="0"/>
              <a:t>tento popis často vyjadřuje </a:t>
            </a:r>
            <a:endParaRPr lang="cs-CZ" sz="2400" dirty="0" smtClean="0"/>
          </a:p>
          <a:p>
            <a:pPr marL="34290" indent="0">
              <a:buNone/>
            </a:pPr>
            <a:r>
              <a:rPr lang="cs-CZ" sz="2400" dirty="0" smtClean="0"/>
              <a:t>	dojmy </a:t>
            </a:r>
            <a:r>
              <a:rPr lang="cs-CZ" sz="2400" dirty="0"/>
              <a:t>či nálady, kterými objekt na autora </a:t>
            </a:r>
            <a:r>
              <a:rPr lang="cs-CZ" sz="2400" dirty="0" smtClean="0"/>
              <a:t>působí</a:t>
            </a:r>
          </a:p>
          <a:p>
            <a:pPr marL="34290" indent="0">
              <a:buNone/>
            </a:pPr>
            <a:endParaRPr lang="cs-CZ" sz="2400" dirty="0" smtClean="0"/>
          </a:p>
          <a:p>
            <a:pPr marL="34290" indent="0">
              <a:buNone/>
            </a:pPr>
            <a:r>
              <a:rPr lang="cs-CZ" sz="2400" dirty="0" smtClean="0"/>
              <a:t>d) </a:t>
            </a:r>
            <a:r>
              <a:rPr lang="cs-CZ" sz="2400" b="1" dirty="0"/>
              <a:t>popis umělecký</a:t>
            </a:r>
            <a:r>
              <a:rPr lang="cs-CZ" sz="2400" dirty="0"/>
              <a:t> – bývá subjektivní, </a:t>
            </a:r>
            <a:r>
              <a:rPr lang="cs-CZ" sz="2400" dirty="0" smtClean="0"/>
              <a:t>nazývá se </a:t>
            </a:r>
            <a:r>
              <a:rPr lang="cs-CZ" sz="2400" b="1" dirty="0"/>
              <a:t>líčení</a:t>
            </a:r>
            <a:r>
              <a:rPr lang="cs-CZ" sz="2400" dirty="0"/>
              <a:t> (např. </a:t>
            </a:r>
            <a:endParaRPr lang="cs-CZ" sz="2400" dirty="0" smtClean="0"/>
          </a:p>
          <a:p>
            <a:pPr marL="34290" indent="0">
              <a:buNone/>
            </a:pPr>
            <a:r>
              <a:rPr lang="cs-CZ" sz="2400" dirty="0" smtClean="0"/>
              <a:t>	popis </a:t>
            </a:r>
            <a:r>
              <a:rPr lang="cs-CZ" sz="2400" dirty="0"/>
              <a:t>přírody, užití personifikací, přirovnání, metafor, </a:t>
            </a:r>
            <a:endParaRPr lang="cs-CZ" sz="2400" dirty="0" smtClean="0"/>
          </a:p>
          <a:p>
            <a:pPr marL="34290" indent="0">
              <a:buNone/>
            </a:pPr>
            <a:r>
              <a:rPr lang="cs-CZ" sz="2400" dirty="0" smtClean="0"/>
              <a:t>	protikladů</a:t>
            </a:r>
            <a:r>
              <a:rPr lang="cs-CZ" sz="2400" dirty="0"/>
              <a:t>, přívlastků, originálních vyjádření</a:t>
            </a:r>
            <a:r>
              <a:rPr lang="cs-CZ" sz="2400" dirty="0" smtClean="0"/>
              <a:t>)</a:t>
            </a:r>
            <a:endParaRPr lang="cs-CZ" sz="2400" dirty="0"/>
          </a:p>
          <a:p>
            <a:pPr marL="34290" indent="0">
              <a:buNone/>
            </a:pPr>
            <a:endParaRPr lang="cs-CZ" sz="2400" dirty="0" smtClean="0"/>
          </a:p>
          <a:p>
            <a:pPr marL="34290" indent="0">
              <a:buNone/>
            </a:pPr>
            <a:r>
              <a:rPr lang="cs-CZ" sz="2400" dirty="0" smtClean="0"/>
              <a:t>e) </a:t>
            </a:r>
            <a:r>
              <a:rPr lang="cs-CZ" sz="2400" b="1" dirty="0"/>
              <a:t>charakteristika</a:t>
            </a:r>
            <a:r>
              <a:rPr lang="cs-CZ" sz="2400" dirty="0"/>
              <a:t> – </a:t>
            </a:r>
            <a:r>
              <a:rPr lang="cs-CZ" sz="2400" dirty="0" smtClean="0"/>
              <a:t>hlavně popis </a:t>
            </a:r>
            <a:r>
              <a:rPr lang="cs-CZ" sz="2400" dirty="0"/>
              <a:t>člověka, zároveň i </a:t>
            </a:r>
            <a:r>
              <a:rPr lang="cs-CZ" sz="2400" dirty="0" smtClean="0"/>
              <a:t>hodnocení</a:t>
            </a:r>
            <a:endParaRPr lang="cs-CZ" sz="2400" dirty="0"/>
          </a:p>
          <a:p>
            <a:pPr marL="34290" indent="0">
              <a:buNone/>
            </a:pPr>
            <a:r>
              <a:rPr lang="cs-CZ" sz="2400" dirty="0"/>
              <a:t>	</a:t>
            </a:r>
            <a:r>
              <a:rPr lang="cs-CZ" sz="2400" dirty="0" smtClean="0"/>
              <a:t> </a:t>
            </a:r>
            <a:r>
              <a:rPr lang="cs-CZ" sz="2400" dirty="0"/>
              <a:t>- vnější – popis </a:t>
            </a:r>
            <a:r>
              <a:rPr lang="cs-CZ" sz="2400" dirty="0" smtClean="0"/>
              <a:t>zevnějšku</a:t>
            </a:r>
          </a:p>
          <a:p>
            <a:pPr marL="34290" indent="0">
              <a:buNone/>
            </a:pPr>
            <a:r>
              <a:rPr lang="cs-CZ" sz="2400" dirty="0"/>
              <a:t>	</a:t>
            </a:r>
            <a:r>
              <a:rPr lang="cs-CZ" sz="2400" dirty="0" smtClean="0"/>
              <a:t>- </a:t>
            </a:r>
            <a:r>
              <a:rPr lang="cs-CZ" sz="2400" dirty="0"/>
              <a:t>vnitřní – popis osobnosti, povahy</a:t>
            </a:r>
          </a:p>
          <a:p>
            <a:pPr marL="34290" lvl="0" indent="0">
              <a:buNone/>
            </a:pPr>
            <a:endParaRPr lang="cs-CZ" sz="2400" dirty="0" smtClean="0"/>
          </a:p>
          <a:p>
            <a:pPr marL="0" indent="0">
              <a:buNone/>
            </a:pPr>
            <a:endParaRPr lang="cs-CZ" sz="2400" dirty="0" smtClean="0"/>
          </a:p>
          <a:p>
            <a:pPr marL="0" indent="0">
              <a:buNone/>
            </a:pPr>
            <a:endParaRPr lang="cs-CZ" sz="2400" dirty="0" smtClean="0"/>
          </a:p>
        </p:txBody>
      </p:sp>
    </p:spTree>
    <p:extLst>
      <p:ext uri="{BB962C8B-B14F-4D97-AF65-F5344CB8AC3E}">
        <p14:creationId xmlns:p14="http://schemas.microsoft.com/office/powerpoint/2010/main" xmlns="" val="1790978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048672"/>
          </a:xfrm>
        </p:spPr>
        <p:txBody>
          <a:bodyPr>
            <a:normAutofit/>
          </a:bodyPr>
          <a:lstStyle/>
          <a:p>
            <a:pPr marL="34290" indent="0">
              <a:buNone/>
            </a:pPr>
            <a:r>
              <a:rPr lang="cs-CZ" sz="2400" dirty="0"/>
              <a:t>f</a:t>
            </a:r>
            <a:r>
              <a:rPr lang="cs-CZ" sz="2400" dirty="0" smtClean="0"/>
              <a:t>) </a:t>
            </a:r>
            <a:r>
              <a:rPr lang="cs-CZ" sz="2400" dirty="0"/>
              <a:t>- </a:t>
            </a:r>
            <a:r>
              <a:rPr lang="cs-CZ" sz="2400" b="1" dirty="0"/>
              <a:t>statický</a:t>
            </a:r>
            <a:r>
              <a:rPr lang="cs-CZ" sz="2400" dirty="0"/>
              <a:t> – popis předmětu, který se nehýbe</a:t>
            </a:r>
          </a:p>
          <a:p>
            <a:pPr marL="34290" indent="0">
              <a:buNone/>
            </a:pPr>
            <a:r>
              <a:rPr lang="cs-CZ" sz="2400" dirty="0" smtClean="0"/>
              <a:t>	- </a:t>
            </a:r>
            <a:r>
              <a:rPr lang="cs-CZ" sz="2400" dirty="0"/>
              <a:t>minimalizována dějovost</a:t>
            </a:r>
          </a:p>
          <a:p>
            <a:pPr marL="34290" indent="0">
              <a:buNone/>
            </a:pPr>
            <a:r>
              <a:rPr lang="cs-CZ" sz="2400" dirty="0" smtClean="0"/>
              <a:t>	- </a:t>
            </a:r>
            <a:r>
              <a:rPr lang="cs-CZ" sz="2400" dirty="0"/>
              <a:t>může být i heslovitý (např. u psa: výška:, váha:, délka:, </a:t>
            </a:r>
            <a:endParaRPr lang="cs-CZ" sz="2400" dirty="0" smtClean="0"/>
          </a:p>
          <a:p>
            <a:pPr marL="34290" indent="0">
              <a:buNone/>
            </a:pPr>
            <a:r>
              <a:rPr lang="cs-CZ" sz="2400" dirty="0" smtClean="0"/>
              <a:t>		způsob </a:t>
            </a:r>
            <a:r>
              <a:rPr lang="cs-CZ" sz="2400" dirty="0"/>
              <a:t>života, příbuzné </a:t>
            </a:r>
            <a:r>
              <a:rPr lang="cs-CZ" sz="2400" dirty="0" smtClean="0"/>
              <a:t>druhy</a:t>
            </a:r>
            <a:r>
              <a:rPr lang="cs-CZ" sz="2400" dirty="0"/>
              <a:t>: atd.</a:t>
            </a:r>
          </a:p>
          <a:p>
            <a:pPr marL="34290" indent="0">
              <a:buNone/>
            </a:pPr>
            <a:r>
              <a:rPr lang="cs-CZ" sz="2400" dirty="0" smtClean="0"/>
              <a:t>	- </a:t>
            </a:r>
            <a:r>
              <a:rPr lang="cs-CZ" sz="2400" dirty="0"/>
              <a:t>hrozí nebezpečí nezajímavosti; vyhneme se např. </a:t>
            </a:r>
            <a:endParaRPr lang="cs-CZ" sz="2400" dirty="0" smtClean="0"/>
          </a:p>
          <a:p>
            <a:pPr marL="34290" indent="0">
              <a:buNone/>
            </a:pPr>
            <a:r>
              <a:rPr lang="cs-CZ" sz="2400" dirty="0"/>
              <a:t>	</a:t>
            </a:r>
            <a:r>
              <a:rPr lang="cs-CZ" sz="2400" dirty="0" smtClean="0"/>
              <a:t>	obměnou </a:t>
            </a:r>
            <a:r>
              <a:rPr lang="cs-CZ" sz="2400" dirty="0"/>
              <a:t>pojmenování </a:t>
            </a:r>
            <a:r>
              <a:rPr lang="cs-CZ" sz="2400" dirty="0" smtClean="0"/>
              <a:t>(= synonymy)</a:t>
            </a:r>
            <a:endParaRPr lang="cs-CZ" sz="2400" dirty="0"/>
          </a:p>
          <a:p>
            <a:pPr marL="34290" indent="0">
              <a:buNone/>
            </a:pPr>
            <a:r>
              <a:rPr lang="cs-CZ" sz="2400" dirty="0" smtClean="0"/>
              <a:t>    - </a:t>
            </a:r>
            <a:r>
              <a:rPr lang="cs-CZ" sz="2400" b="1" dirty="0"/>
              <a:t>dynamický</a:t>
            </a:r>
            <a:r>
              <a:rPr lang="cs-CZ" sz="2400" dirty="0"/>
              <a:t> – popis: - předmětu v pohybu</a:t>
            </a:r>
          </a:p>
          <a:p>
            <a:pPr marL="34290" indent="0">
              <a:buNone/>
            </a:pPr>
            <a:r>
              <a:rPr lang="cs-CZ" sz="2400" dirty="0" smtClean="0"/>
              <a:t>	</a:t>
            </a:r>
            <a:r>
              <a:rPr lang="cs-CZ" sz="2400" dirty="0"/>
              <a:t>		</a:t>
            </a:r>
            <a:r>
              <a:rPr lang="cs-CZ" sz="2400" dirty="0" smtClean="0"/>
              <a:t>               - </a:t>
            </a:r>
            <a:r>
              <a:rPr lang="cs-CZ" sz="2400" dirty="0"/>
              <a:t>děje</a:t>
            </a:r>
          </a:p>
          <a:p>
            <a:pPr marL="34290" indent="0">
              <a:buNone/>
            </a:pPr>
            <a:r>
              <a:rPr lang="cs-CZ" sz="2400" dirty="0" smtClean="0"/>
              <a:t>	  </a:t>
            </a:r>
            <a:r>
              <a:rPr lang="cs-CZ" sz="2400" dirty="0"/>
              <a:t>			</a:t>
            </a:r>
            <a:r>
              <a:rPr lang="cs-CZ" sz="2400" dirty="0" smtClean="0"/>
              <a:t>    </a:t>
            </a:r>
            <a:r>
              <a:rPr lang="cs-CZ" sz="2400" dirty="0"/>
              <a:t>- popis objektu – uděláno tak, že se jím </a:t>
            </a:r>
            <a:r>
              <a:rPr lang="cs-CZ" sz="2400" dirty="0" smtClean="0"/>
              <a:t>					prochází </a:t>
            </a:r>
            <a:r>
              <a:rPr lang="cs-CZ" sz="2400" dirty="0"/>
              <a:t>– důležitý výběr </a:t>
            </a:r>
            <a:r>
              <a:rPr lang="cs-CZ" sz="2400" dirty="0" smtClean="0"/>
              <a:t>sloves</a:t>
            </a:r>
            <a:r>
              <a:rPr lang="cs-CZ" sz="2400" dirty="0"/>
              <a:t>, </a:t>
            </a:r>
            <a:r>
              <a:rPr lang="cs-CZ" sz="2400" dirty="0" smtClean="0"/>
              <a:t>						užívání </a:t>
            </a:r>
            <a:r>
              <a:rPr lang="cs-CZ" sz="2400" dirty="0"/>
              <a:t>sloves dějových (popojdeme, </a:t>
            </a:r>
            <a:r>
              <a:rPr lang="cs-CZ" sz="2400" dirty="0" smtClean="0"/>
              <a:t>					zahneme</a:t>
            </a:r>
            <a:r>
              <a:rPr lang="cs-CZ" sz="2400" dirty="0"/>
              <a:t>, </a:t>
            </a:r>
            <a:r>
              <a:rPr lang="cs-CZ" sz="2400" dirty="0" smtClean="0"/>
              <a:t>narazíme</a:t>
            </a:r>
            <a:r>
              <a:rPr lang="cs-CZ" sz="2400" dirty="0"/>
              <a:t>), omezení </a:t>
            </a:r>
            <a:r>
              <a:rPr lang="cs-CZ" sz="2400" dirty="0" smtClean="0"/>
              <a:t>						sloves </a:t>
            </a:r>
            <a:r>
              <a:rPr lang="cs-CZ" sz="2400" dirty="0"/>
              <a:t>být, mít</a:t>
            </a:r>
          </a:p>
          <a:p>
            <a:pPr marL="34290" lvl="0" indent="0">
              <a:buNone/>
            </a:pPr>
            <a:endParaRPr lang="cs-CZ" sz="2400" dirty="0" smtClean="0"/>
          </a:p>
          <a:p>
            <a:pPr marL="0" indent="0">
              <a:buNone/>
            </a:pPr>
            <a:endParaRPr lang="cs-CZ" sz="2400" dirty="0" smtClean="0"/>
          </a:p>
          <a:p>
            <a:pPr marL="0" indent="0">
              <a:buNone/>
            </a:pPr>
            <a:endParaRPr lang="cs-CZ" sz="2400" dirty="0" smtClean="0"/>
          </a:p>
        </p:txBody>
      </p:sp>
    </p:spTree>
    <p:extLst>
      <p:ext uri="{BB962C8B-B14F-4D97-AF65-F5344CB8AC3E}">
        <p14:creationId xmlns:p14="http://schemas.microsoft.com/office/powerpoint/2010/main" xmlns="" val="1074570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048672"/>
          </a:xfrm>
        </p:spPr>
        <p:txBody>
          <a:bodyPr>
            <a:normAutofit/>
          </a:bodyPr>
          <a:lstStyle/>
          <a:p>
            <a:pPr marL="34290" indent="0">
              <a:buNone/>
            </a:pPr>
            <a:r>
              <a:rPr lang="cs-CZ" sz="2400" b="1" dirty="0" smtClean="0"/>
              <a:t>g) popis </a:t>
            </a:r>
            <a:r>
              <a:rPr lang="cs-CZ" sz="2400" b="1" dirty="0"/>
              <a:t>odborný</a:t>
            </a:r>
            <a:endParaRPr lang="cs-CZ" sz="2400" dirty="0"/>
          </a:p>
          <a:p>
            <a:pPr>
              <a:buFontTx/>
              <a:buChar char="-"/>
            </a:pPr>
            <a:r>
              <a:rPr lang="cs-CZ" sz="2400" dirty="0" smtClean="0"/>
              <a:t>vyznačuje </a:t>
            </a:r>
            <a:r>
              <a:rPr lang="cs-CZ" sz="2400" dirty="0"/>
              <a:t>se úplností (zahrnuje všechny podstatné rysy </a:t>
            </a:r>
          </a:p>
          <a:p>
            <a:pPr marL="34290" indent="0">
              <a:buNone/>
            </a:pPr>
            <a:r>
              <a:rPr lang="cs-CZ" sz="2400" dirty="0" smtClean="0"/>
              <a:t>	popisovaného </a:t>
            </a:r>
            <a:r>
              <a:rPr lang="cs-CZ" sz="2400" dirty="0"/>
              <a:t>předmětu, jevu) a přesností</a:t>
            </a:r>
          </a:p>
          <a:p>
            <a:pPr>
              <a:buFontTx/>
              <a:buChar char="-"/>
            </a:pPr>
            <a:r>
              <a:rPr lang="cs-CZ" sz="2400" dirty="0" smtClean="0"/>
              <a:t>bývá </a:t>
            </a:r>
            <a:r>
              <a:rPr lang="cs-CZ" sz="2400" dirty="0"/>
              <a:t>obvykle statický (např. pes stojí před námi a my ho </a:t>
            </a:r>
            <a:endParaRPr lang="cs-CZ" sz="2400" dirty="0" smtClean="0"/>
          </a:p>
          <a:p>
            <a:pPr marL="34290" indent="0">
              <a:buNone/>
            </a:pPr>
            <a:r>
              <a:rPr lang="cs-CZ" sz="2400" dirty="0"/>
              <a:t>	</a:t>
            </a:r>
            <a:r>
              <a:rPr lang="cs-CZ" sz="2400" dirty="0" smtClean="0"/>
              <a:t>popisujeme</a:t>
            </a:r>
            <a:r>
              <a:rPr lang="cs-CZ" sz="2400" dirty="0"/>
              <a:t>)</a:t>
            </a:r>
          </a:p>
          <a:p>
            <a:pPr>
              <a:buFontTx/>
              <a:buChar char="-"/>
            </a:pPr>
            <a:r>
              <a:rPr lang="cs-CZ" sz="2400" dirty="0" smtClean="0"/>
              <a:t>ze </a:t>
            </a:r>
            <a:r>
              <a:rPr lang="cs-CZ" sz="2400" dirty="0"/>
              <a:t>slovních druhů převládají přídavná jména nad slovesy </a:t>
            </a:r>
            <a:endParaRPr lang="cs-CZ" sz="2400" dirty="0" smtClean="0"/>
          </a:p>
          <a:p>
            <a:pPr marL="34290" indent="0">
              <a:buNone/>
            </a:pPr>
            <a:r>
              <a:rPr lang="cs-CZ" sz="2400" dirty="0"/>
              <a:t>	</a:t>
            </a:r>
            <a:r>
              <a:rPr lang="cs-CZ" sz="2400" dirty="0" smtClean="0"/>
              <a:t>(</a:t>
            </a:r>
            <a:r>
              <a:rPr lang="cs-CZ" sz="2400" dirty="0"/>
              <a:t>veliký, mohutný, černý...)</a:t>
            </a:r>
          </a:p>
          <a:p>
            <a:pPr>
              <a:buFontTx/>
              <a:buChar char="-"/>
            </a:pPr>
            <a:r>
              <a:rPr lang="cs-CZ" sz="2400" dirty="0" smtClean="0"/>
              <a:t>slovesa </a:t>
            </a:r>
            <a:r>
              <a:rPr lang="cs-CZ" sz="2400" dirty="0"/>
              <a:t>bývají ta nejčastější – být, mít, nacházet se atd. – ale i </a:t>
            </a:r>
            <a:endParaRPr lang="cs-CZ" sz="2400" dirty="0" smtClean="0"/>
          </a:p>
          <a:p>
            <a:pPr marL="34290" indent="0">
              <a:buNone/>
            </a:pPr>
            <a:r>
              <a:rPr lang="cs-CZ" sz="2400" dirty="0"/>
              <a:t>	</a:t>
            </a:r>
            <a:r>
              <a:rPr lang="cs-CZ" sz="2400" dirty="0" smtClean="0"/>
              <a:t>s</a:t>
            </a:r>
            <a:r>
              <a:rPr lang="cs-CZ" sz="2400" dirty="0"/>
              <a:t> těmi je třeba šetřit</a:t>
            </a:r>
          </a:p>
          <a:p>
            <a:pPr>
              <a:buFontTx/>
              <a:buChar char="-"/>
            </a:pPr>
            <a:r>
              <a:rPr lang="cs-CZ" sz="2400" dirty="0" smtClean="0"/>
              <a:t>termíny - </a:t>
            </a:r>
            <a:r>
              <a:rPr lang="cs-CZ" sz="2400" dirty="0"/>
              <a:t>pokud jsou, jde o popis </a:t>
            </a:r>
            <a:r>
              <a:rPr lang="cs-CZ" sz="2400" dirty="0" smtClean="0"/>
              <a:t>vědecký</a:t>
            </a:r>
          </a:p>
          <a:p>
            <a:pPr marL="34290" indent="0">
              <a:buNone/>
            </a:pPr>
            <a:r>
              <a:rPr lang="cs-CZ" sz="2400" dirty="0"/>
              <a:t>	 </a:t>
            </a:r>
            <a:r>
              <a:rPr lang="cs-CZ" sz="2400" dirty="0" smtClean="0"/>
              <a:t>        - </a:t>
            </a:r>
            <a:r>
              <a:rPr lang="cs-CZ" sz="2400" dirty="0"/>
              <a:t>pokud </a:t>
            </a:r>
            <a:r>
              <a:rPr lang="cs-CZ" sz="2400" dirty="0" smtClean="0"/>
              <a:t>nejsou, </a:t>
            </a:r>
            <a:r>
              <a:rPr lang="cs-CZ" sz="2400" dirty="0"/>
              <a:t>jde o popis popularizační – je </a:t>
            </a:r>
            <a:endParaRPr lang="cs-CZ" sz="2400" dirty="0" smtClean="0"/>
          </a:p>
          <a:p>
            <a:pPr marL="34290" indent="0">
              <a:buNone/>
            </a:pPr>
            <a:r>
              <a:rPr lang="cs-CZ" sz="2400" dirty="0"/>
              <a:t>	</a:t>
            </a:r>
            <a:r>
              <a:rPr lang="cs-CZ" sz="2400" dirty="0" smtClean="0"/>
              <a:t>		subjektivnější</a:t>
            </a:r>
            <a:r>
              <a:rPr lang="cs-CZ" sz="2400" dirty="0"/>
              <a:t>, obsahuje i zajímavosti</a:t>
            </a:r>
          </a:p>
          <a:p>
            <a:pPr marL="34290" indent="0">
              <a:buNone/>
            </a:pPr>
            <a:r>
              <a:rPr lang="cs-CZ" sz="2400" dirty="0"/>
              <a:t>- dnes často bývá výčtový, heslovitý</a:t>
            </a:r>
          </a:p>
          <a:p>
            <a:pPr marL="0" indent="0">
              <a:buNone/>
            </a:pPr>
            <a:endParaRPr lang="cs-CZ" sz="2400" dirty="0" smtClean="0"/>
          </a:p>
        </p:txBody>
      </p:sp>
    </p:spTree>
    <p:extLst>
      <p:ext uri="{BB962C8B-B14F-4D97-AF65-F5344CB8AC3E}">
        <p14:creationId xmlns:p14="http://schemas.microsoft.com/office/powerpoint/2010/main" xmlns="" val="819153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048672"/>
          </a:xfrm>
        </p:spPr>
        <p:txBody>
          <a:bodyPr>
            <a:normAutofit/>
          </a:bodyPr>
          <a:lstStyle/>
          <a:p>
            <a:pPr marL="34290" indent="0">
              <a:buNone/>
            </a:pPr>
            <a:r>
              <a:rPr lang="cs-CZ" sz="2400" b="1" dirty="0" smtClean="0"/>
              <a:t>h) popis pracovního postupu</a:t>
            </a:r>
          </a:p>
          <a:p>
            <a:pPr marL="34290" indent="0">
              <a:buNone/>
            </a:pPr>
            <a:r>
              <a:rPr lang="cs-CZ" sz="2400" dirty="0"/>
              <a:t>= odborný popis pracovního postupu</a:t>
            </a:r>
          </a:p>
          <a:p>
            <a:pPr>
              <a:buFontTx/>
              <a:buChar char="-"/>
            </a:pPr>
            <a:r>
              <a:rPr lang="cs-CZ" sz="2400" dirty="0" smtClean="0"/>
              <a:t>tento </a:t>
            </a:r>
            <a:r>
              <a:rPr lang="cs-CZ" sz="2400" dirty="0"/>
              <a:t>popis vede osobu neznalou dané činnosti tak, aby ji byla </a:t>
            </a:r>
            <a:endParaRPr lang="cs-CZ" sz="2400" dirty="0" smtClean="0"/>
          </a:p>
          <a:p>
            <a:pPr marL="34290" indent="0">
              <a:buNone/>
            </a:pPr>
            <a:r>
              <a:rPr lang="cs-CZ" sz="2400" dirty="0"/>
              <a:t>	</a:t>
            </a:r>
            <a:r>
              <a:rPr lang="cs-CZ" sz="2400" dirty="0" smtClean="0"/>
              <a:t>schopna </a:t>
            </a:r>
            <a:r>
              <a:rPr lang="cs-CZ" sz="2400" dirty="0"/>
              <a:t>zvládnout</a:t>
            </a:r>
          </a:p>
          <a:p>
            <a:pPr marL="34290" indent="0">
              <a:buNone/>
            </a:pPr>
            <a:r>
              <a:rPr lang="cs-CZ" sz="2400" dirty="0"/>
              <a:t>- popis pracovního postupu může sloužit jako návod:</a:t>
            </a:r>
          </a:p>
          <a:p>
            <a:pPr marL="34290" indent="0">
              <a:buNone/>
            </a:pPr>
            <a:r>
              <a:rPr lang="cs-CZ" sz="2400" dirty="0"/>
              <a:t>	a) jak věc vyrobit – recepty na vaření, vyrobení ptačí budky</a:t>
            </a:r>
          </a:p>
          <a:p>
            <a:pPr marL="34290" indent="0">
              <a:buNone/>
            </a:pPr>
            <a:r>
              <a:rPr lang="cs-CZ" sz="2400" dirty="0"/>
              <a:t>	b) jak s věcí zacházet</a:t>
            </a:r>
          </a:p>
          <a:p>
            <a:pPr marL="34290" indent="0">
              <a:buNone/>
            </a:pPr>
            <a:r>
              <a:rPr lang="cs-CZ" sz="2400" dirty="0"/>
              <a:t>- záleží, jestli vysvětlujeme věc odborníkovi nebo laikovi</a:t>
            </a:r>
          </a:p>
          <a:p>
            <a:pPr marL="34290" indent="0">
              <a:buNone/>
            </a:pPr>
            <a:r>
              <a:rPr lang="cs-CZ" sz="2400" dirty="0"/>
              <a:t>	</a:t>
            </a:r>
            <a:r>
              <a:rPr lang="cs-CZ" sz="2400" dirty="0" smtClean="0"/>
              <a:t>- </a:t>
            </a:r>
            <a:r>
              <a:rPr lang="cs-CZ" sz="2400" dirty="0"/>
              <a:t>při vysvětlování odborníkovi lze užívat termíny a </a:t>
            </a:r>
            <a:endParaRPr lang="cs-CZ" sz="2400" dirty="0" smtClean="0"/>
          </a:p>
          <a:p>
            <a:pPr marL="34290" indent="0">
              <a:buNone/>
            </a:pPr>
            <a:r>
              <a:rPr lang="cs-CZ" sz="2400" dirty="0"/>
              <a:t>	</a:t>
            </a:r>
            <a:r>
              <a:rPr lang="cs-CZ" sz="2400" dirty="0" smtClean="0"/>
              <a:t>	postupovat </a:t>
            </a:r>
            <a:r>
              <a:rPr lang="cs-CZ" sz="2400" dirty="0"/>
              <a:t>rychle</a:t>
            </a:r>
          </a:p>
          <a:p>
            <a:pPr marL="34290" indent="0">
              <a:buNone/>
            </a:pPr>
            <a:r>
              <a:rPr lang="cs-CZ" sz="2400" dirty="0"/>
              <a:t>	</a:t>
            </a:r>
            <a:r>
              <a:rPr lang="cs-CZ" sz="2400" dirty="0" smtClean="0"/>
              <a:t>- </a:t>
            </a:r>
            <a:r>
              <a:rPr lang="cs-CZ" sz="2400" dirty="0"/>
              <a:t>při vysvětlování laikovi postupovat pomalu a termíny </a:t>
            </a:r>
            <a:endParaRPr lang="cs-CZ" sz="2400" dirty="0" smtClean="0"/>
          </a:p>
          <a:p>
            <a:pPr marL="34290" indent="0">
              <a:buNone/>
            </a:pPr>
            <a:r>
              <a:rPr lang="cs-CZ" sz="2400" dirty="0"/>
              <a:t>	</a:t>
            </a:r>
            <a:r>
              <a:rPr lang="cs-CZ" sz="2400" dirty="0" smtClean="0"/>
              <a:t>	vysvětlovat</a:t>
            </a:r>
            <a:endParaRPr lang="cs-CZ" sz="2400" dirty="0"/>
          </a:p>
          <a:p>
            <a:pPr marL="34290" indent="0">
              <a:buNone/>
            </a:pPr>
            <a:r>
              <a:rPr lang="cs-CZ" sz="2400" dirty="0"/>
              <a:t>- důležitá volba vhodných sloves</a:t>
            </a:r>
          </a:p>
          <a:p>
            <a:pPr marL="34290" indent="0">
              <a:buNone/>
            </a:pPr>
            <a:endParaRPr lang="cs-CZ" sz="2400" dirty="0"/>
          </a:p>
          <a:p>
            <a:pPr marL="0" indent="0">
              <a:buNone/>
            </a:pPr>
            <a:endParaRPr lang="cs-CZ" sz="2400" dirty="0" smtClean="0"/>
          </a:p>
        </p:txBody>
      </p:sp>
    </p:spTree>
    <p:extLst>
      <p:ext uri="{BB962C8B-B14F-4D97-AF65-F5344CB8AC3E}">
        <p14:creationId xmlns:p14="http://schemas.microsoft.com/office/powerpoint/2010/main" xmlns="" val="1398800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048672"/>
          </a:xfrm>
        </p:spPr>
        <p:txBody>
          <a:bodyPr>
            <a:normAutofit/>
          </a:bodyPr>
          <a:lstStyle/>
          <a:p>
            <a:pPr marL="34290" indent="0">
              <a:buNone/>
            </a:pPr>
            <a:r>
              <a:rPr lang="cs-CZ" sz="2400" b="1" dirty="0" smtClean="0"/>
              <a:t>Osnova popisu pracovního postupu</a:t>
            </a:r>
          </a:p>
          <a:p>
            <a:pPr marL="34290" indent="0">
              <a:buNone/>
            </a:pPr>
            <a:endParaRPr lang="cs-CZ" sz="2400" dirty="0" smtClean="0"/>
          </a:p>
          <a:p>
            <a:pPr marL="34290" indent="0">
              <a:buNone/>
            </a:pPr>
            <a:r>
              <a:rPr lang="cs-CZ" sz="2400" dirty="0" smtClean="0"/>
              <a:t>1. úvod </a:t>
            </a:r>
            <a:r>
              <a:rPr lang="cs-CZ" sz="2400" dirty="0"/>
              <a:t>– zde vysvětlíme, o jaký pracovní postup půjde a k čemu </a:t>
            </a:r>
            <a:endParaRPr lang="cs-CZ" sz="2400" dirty="0" smtClean="0"/>
          </a:p>
          <a:p>
            <a:pPr marL="34290" indent="0">
              <a:buNone/>
            </a:pPr>
            <a:r>
              <a:rPr lang="cs-CZ" sz="2400" dirty="0" smtClean="0"/>
              <a:t>	je </a:t>
            </a:r>
            <a:r>
              <a:rPr lang="cs-CZ" sz="2400" dirty="0"/>
              <a:t>určen</a:t>
            </a:r>
          </a:p>
          <a:p>
            <a:pPr marL="34290" indent="0">
              <a:buNone/>
            </a:pPr>
            <a:r>
              <a:rPr lang="cs-CZ" sz="2400" dirty="0" smtClean="0"/>
              <a:t>2</a:t>
            </a:r>
            <a:r>
              <a:rPr lang="cs-CZ" sz="2400" dirty="0"/>
              <a:t>. příprava k činnosti – co potřebujeme včetně množstevních </a:t>
            </a:r>
            <a:endParaRPr lang="cs-CZ" sz="2400" dirty="0" smtClean="0"/>
          </a:p>
          <a:p>
            <a:pPr marL="34290" indent="0">
              <a:buNone/>
            </a:pPr>
            <a:r>
              <a:rPr lang="cs-CZ" sz="2400" dirty="0" smtClean="0"/>
              <a:t>	údajů </a:t>
            </a:r>
            <a:r>
              <a:rPr lang="cs-CZ" sz="2400" dirty="0"/>
              <a:t>– materiál i nástroje</a:t>
            </a:r>
          </a:p>
          <a:p>
            <a:pPr marL="34290" indent="0">
              <a:buNone/>
            </a:pPr>
            <a:r>
              <a:rPr lang="cs-CZ" sz="2400" dirty="0" smtClean="0"/>
              <a:t>3</a:t>
            </a:r>
            <a:r>
              <a:rPr lang="cs-CZ" sz="2400" dirty="0"/>
              <a:t>. vlastní činnost</a:t>
            </a:r>
          </a:p>
          <a:p>
            <a:pPr marL="34290" indent="0">
              <a:buNone/>
            </a:pPr>
            <a:r>
              <a:rPr lang="cs-CZ" sz="2400" dirty="0"/>
              <a:t>	- průběžně informovat o výsledcích, abychom </a:t>
            </a:r>
            <a:r>
              <a:rPr lang="cs-CZ" sz="2400" dirty="0" smtClean="0"/>
              <a:t>měli 			kontrolu</a:t>
            </a:r>
            <a:endParaRPr lang="cs-CZ" sz="2400" dirty="0"/>
          </a:p>
          <a:p>
            <a:pPr marL="34290" indent="0">
              <a:buNone/>
            </a:pPr>
            <a:r>
              <a:rPr lang="cs-CZ" sz="2400" dirty="0"/>
              <a:t>	</a:t>
            </a:r>
            <a:r>
              <a:rPr lang="cs-CZ" sz="2400" dirty="0" smtClean="0"/>
              <a:t>- </a:t>
            </a:r>
            <a:r>
              <a:rPr lang="cs-CZ" sz="2400" dirty="0"/>
              <a:t>konečná úprava, vzhled</a:t>
            </a:r>
          </a:p>
          <a:p>
            <a:pPr marL="34290" indent="0">
              <a:buNone/>
            </a:pPr>
            <a:r>
              <a:rPr lang="cs-CZ" sz="2400" dirty="0" smtClean="0"/>
              <a:t>4</a:t>
            </a:r>
            <a:r>
              <a:rPr lang="cs-CZ" sz="2400" dirty="0"/>
              <a:t>. závěr – seznámit se závěrečným vzhledem, poukázat na </a:t>
            </a:r>
            <a:endParaRPr lang="cs-CZ" sz="2400" dirty="0" smtClean="0"/>
          </a:p>
          <a:p>
            <a:pPr marL="34290" indent="0">
              <a:buNone/>
            </a:pPr>
            <a:r>
              <a:rPr lang="cs-CZ" sz="2400" dirty="0"/>
              <a:t>	</a:t>
            </a:r>
            <a:r>
              <a:rPr lang="cs-CZ" sz="2400" dirty="0" smtClean="0"/>
              <a:t>využití</a:t>
            </a:r>
            <a:endParaRPr lang="cs-CZ" sz="2400" dirty="0"/>
          </a:p>
          <a:p>
            <a:pPr marL="34290" indent="0">
              <a:buNone/>
            </a:pPr>
            <a:endParaRPr lang="cs-CZ" sz="2400" dirty="0"/>
          </a:p>
          <a:p>
            <a:pPr marL="0" indent="0">
              <a:buNone/>
            </a:pPr>
            <a:endParaRPr lang="cs-CZ" sz="2400" dirty="0" smtClean="0"/>
          </a:p>
        </p:txBody>
      </p:sp>
    </p:spTree>
    <p:extLst>
      <p:ext uri="{BB962C8B-B14F-4D97-AF65-F5344CB8AC3E}">
        <p14:creationId xmlns:p14="http://schemas.microsoft.com/office/powerpoint/2010/main" xmlns="" val="2983879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0486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2400" dirty="0" smtClean="0">
                <a:solidFill>
                  <a:srgbClr val="FF0000"/>
                </a:solidFill>
              </a:rPr>
              <a:t>Zdroje</a:t>
            </a:r>
            <a:r>
              <a:rPr lang="cs-CZ" sz="2400" dirty="0" smtClean="0">
                <a:solidFill>
                  <a:srgbClr val="FF0000"/>
                </a:solidFill>
              </a:rPr>
              <a:t>:</a:t>
            </a:r>
          </a:p>
          <a:p>
            <a:pPr marL="0" indent="0">
              <a:buNone/>
            </a:pPr>
            <a:endParaRPr lang="cs-CZ" sz="2400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cs-CZ" sz="2400" dirty="0" smtClean="0"/>
              <a:t>MAŠKOVÁ, </a:t>
            </a:r>
            <a:r>
              <a:rPr lang="cs-CZ" sz="2400" dirty="0" err="1" smtClean="0"/>
              <a:t>Drahuše</a:t>
            </a:r>
            <a:r>
              <a:rPr lang="cs-CZ" sz="2400" dirty="0" smtClean="0"/>
              <a:t>. </a:t>
            </a:r>
            <a:r>
              <a:rPr lang="cs-CZ" sz="2400" i="1" dirty="0" smtClean="0"/>
              <a:t>Český jazyk: přehled středoškolského učiva</a:t>
            </a:r>
            <a:r>
              <a:rPr lang="cs-CZ" sz="2400" dirty="0" smtClean="0"/>
              <a:t>. 1. </a:t>
            </a:r>
            <a:r>
              <a:rPr lang="cs-CZ" sz="2400" dirty="0" err="1" smtClean="0"/>
              <a:t>vyd</a:t>
            </a:r>
            <a:r>
              <a:rPr lang="cs-CZ" sz="2400" dirty="0" smtClean="0"/>
              <a:t>. Třebíč: Petra </a:t>
            </a:r>
            <a:r>
              <a:rPr lang="cs-CZ" sz="2400" dirty="0" err="1" smtClean="0"/>
              <a:t>Velanová</a:t>
            </a:r>
            <a:r>
              <a:rPr lang="cs-CZ" sz="2400" dirty="0" smtClean="0"/>
              <a:t>, 2005, 175 s. Maturita. ISBN 80-902-5715-1. </a:t>
            </a:r>
          </a:p>
          <a:p>
            <a:pPr marL="0" indent="0">
              <a:buNone/>
            </a:pPr>
            <a:endParaRPr lang="cs-CZ" sz="2400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cs-CZ" sz="2400" dirty="0" smtClean="0"/>
              <a:t>ADÁMKOVÁ, Petra a GREŠOVÁ, Šárka. </a:t>
            </a:r>
            <a:r>
              <a:rPr lang="cs-CZ" sz="2400" i="1" dirty="0" smtClean="0"/>
              <a:t>Český jazyk a komunikace pro střední školy 3. - 4. díl</a:t>
            </a:r>
            <a:r>
              <a:rPr lang="cs-CZ" sz="2400" dirty="0" smtClean="0"/>
              <a:t>. </a:t>
            </a:r>
            <a:r>
              <a:rPr lang="cs-CZ" sz="2400" i="1" dirty="0" smtClean="0"/>
              <a:t>Průvodce pro učitele.</a:t>
            </a:r>
            <a:r>
              <a:rPr lang="cs-CZ" sz="2400" dirty="0" smtClean="0"/>
              <a:t> 1. </a:t>
            </a:r>
            <a:r>
              <a:rPr lang="cs-CZ" sz="2400" dirty="0" err="1" smtClean="0"/>
              <a:t>vyd</a:t>
            </a:r>
            <a:r>
              <a:rPr lang="cs-CZ" sz="2400" dirty="0" smtClean="0"/>
              <a:t>. Brno: </a:t>
            </a:r>
            <a:r>
              <a:rPr lang="cs-CZ" sz="2400" dirty="0" err="1" smtClean="0"/>
              <a:t>Didaktis</a:t>
            </a:r>
            <a:r>
              <a:rPr lang="cs-CZ" sz="2400" dirty="0" smtClean="0"/>
              <a:t>, 2013, 175 s. ISBN 978-80-7358-202-9. </a:t>
            </a:r>
            <a:r>
              <a:rPr lang="cs-CZ" sz="2400" dirty="0" smtClean="0">
                <a:solidFill>
                  <a:srgbClr val="FF0000"/>
                </a:solidFill>
              </a:rPr>
              <a:t> </a:t>
            </a:r>
            <a:endParaRPr lang="cs-CZ" sz="240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cs-CZ" sz="2400" smtClean="0">
                <a:solidFill>
                  <a:srgbClr val="FF0000"/>
                </a:solidFill>
              </a:rPr>
              <a:t> </a:t>
            </a:r>
            <a:endParaRPr lang="cs-CZ" sz="2400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cs-CZ" sz="2400" dirty="0"/>
          </a:p>
          <a:p>
            <a:pPr marL="0" indent="0">
              <a:buNone/>
            </a:pPr>
            <a:endParaRPr lang="cs-CZ" sz="2400" dirty="0" smtClean="0"/>
          </a:p>
        </p:txBody>
      </p:sp>
    </p:spTree>
    <p:extLst>
      <p:ext uri="{BB962C8B-B14F-4D97-AF65-F5344CB8AC3E}">
        <p14:creationId xmlns:p14="http://schemas.microsoft.com/office/powerpoint/2010/main" xmlns="" val="883324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Základ">
  <a:themeElements>
    <a:clrScheme name="Základ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Základ">
      <a:maj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Základ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Basis" id="{5665723A-49BA-4B57-8411-A56F8F207965}" vid="{90E45F77-AEFC-46EF-A7C1-5B338C297B02}"/>
    </a:ext>
  </a:extLst>
</a:theme>
</file>

<file path=ppt/theme/theme2.xml><?xml version="1.0" encoding="utf-8"?>
<a:theme xmlns:a="http://schemas.openxmlformats.org/drawingml/2006/main" name="Motiv systému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TC103457444[[fn=Základna]]</Template>
  <TotalTime>1012</TotalTime>
  <Words>322</Words>
  <Application>Microsoft Office PowerPoint</Application>
  <PresentationFormat>Předvádění na obrazovce (4:3)</PresentationFormat>
  <Paragraphs>102</Paragraphs>
  <Slides>10</Slides>
  <Notes>1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1" baseType="lpstr">
      <vt:lpstr>Základ</vt:lpstr>
      <vt:lpstr>Snímek 1</vt:lpstr>
      <vt:lpstr>Snímek 2</vt:lpstr>
      <vt:lpstr>Varianty Popisu</vt:lpstr>
      <vt:lpstr>Snímek 4</vt:lpstr>
      <vt:lpstr>Snímek 5</vt:lpstr>
      <vt:lpstr>Snímek 6</vt:lpstr>
      <vt:lpstr>Snímek 7</vt:lpstr>
      <vt:lpstr>Snímek 8</vt:lpstr>
      <vt:lpstr>Snímek 9</vt:lpstr>
      <vt:lpstr>Snímek 10</vt:lpstr>
    </vt:vector>
  </TitlesOfParts>
  <Company>SŠ a VOŠ cestovního ruchu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Ken Elton Kesey</dc:title>
  <dc:creator>pkriz</dc:creator>
  <cp:lastModifiedBy>pkriz</cp:lastModifiedBy>
  <cp:revision>58</cp:revision>
  <dcterms:created xsi:type="dcterms:W3CDTF">2013-01-04T10:43:36Z</dcterms:created>
  <dcterms:modified xsi:type="dcterms:W3CDTF">2013-12-12T12:16:21Z</dcterms:modified>
</cp:coreProperties>
</file>