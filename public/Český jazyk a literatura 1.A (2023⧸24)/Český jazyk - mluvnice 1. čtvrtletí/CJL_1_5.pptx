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3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4121" autoAdjust="0"/>
  </p:normalViewPr>
  <p:slideViewPr>
    <p:cSldViewPr snapToGrid="0">
      <p:cViewPr varScale="1">
        <p:scale>
          <a:sx n="63" d="100"/>
          <a:sy n="63" d="100"/>
        </p:scale>
        <p:origin x="14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D3D38-66B8-40C1-B809-80204AB727CE}" type="datetimeFigureOut">
              <a:rPr lang="cs-CZ" smtClean="0"/>
              <a:t>14.09.2023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8141E-3FFE-41E2-9761-0571FD81FF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26230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err="1"/>
              <a:t>Hádačka</a:t>
            </a:r>
            <a:r>
              <a:rPr lang="cs-CZ" dirty="0"/>
              <a:t> -&gt; </a:t>
            </a:r>
            <a:r>
              <a:rPr lang="cs-CZ" dirty="0" err="1"/>
              <a:t>poznávačka</a:t>
            </a:r>
            <a:r>
              <a:rPr lang="cs-CZ" dirty="0"/>
              <a:t> jazyků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141E-3FFE-41E2-9761-0571FD81FFB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080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CF4B81-521A-A674-8213-920214E1EB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Norma, kodifikace, jazykové rodiny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E82CC8F-BA85-4AB9-BB3A-60AF8436B8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3608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61DEDF-0545-33F9-A14D-9A1EAF500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Úzus</a:t>
            </a:r>
            <a:br>
              <a:rPr lang="cs-CZ" dirty="0"/>
            </a:br>
            <a:r>
              <a:rPr lang="cs-CZ" dirty="0"/>
              <a:t>Norma</a:t>
            </a:r>
            <a:br>
              <a:rPr lang="cs-CZ" dirty="0"/>
            </a:br>
            <a:r>
              <a:rPr lang="cs-CZ" dirty="0"/>
              <a:t>Kodifikace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ADDD6A7-FED9-1037-D868-C8A21AADC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Úzus: </a:t>
            </a:r>
            <a:r>
              <a:rPr lang="cs-CZ" b="1" i="0" dirty="0">
                <a:solidFill>
                  <a:srgbClr val="3F3F3F"/>
                </a:solidFill>
                <a:effectLst/>
                <a:latin typeface="Nunito" pitchFamily="2" charset="-18"/>
              </a:rPr>
              <a:t> obvyklý </a:t>
            </a:r>
            <a:r>
              <a:rPr lang="cs-CZ" b="1" i="0" u="sng" dirty="0">
                <a:solidFill>
                  <a:srgbClr val="3F3F3F"/>
                </a:solidFill>
                <a:effectLst/>
                <a:latin typeface="Nunito" pitchFamily="2" charset="-18"/>
              </a:rPr>
              <a:t>výskyt</a:t>
            </a:r>
            <a:r>
              <a:rPr lang="cs-CZ" b="1" i="0" dirty="0">
                <a:solidFill>
                  <a:srgbClr val="3F3F3F"/>
                </a:solidFill>
                <a:effectLst/>
                <a:latin typeface="Nunito" pitchFamily="2" charset="-18"/>
              </a:rPr>
              <a:t> jazykového jevu (obecně přijímaný v určité oblasti) =&gt; užívání jazyka</a:t>
            </a:r>
          </a:p>
          <a:p>
            <a:pPr lvl="1"/>
            <a:r>
              <a:rPr lang="cs-CZ" dirty="0"/>
              <a:t>Př.: </a:t>
            </a:r>
            <a:r>
              <a:rPr lang="cs-CZ" dirty="0" err="1"/>
              <a:t>šáší</a:t>
            </a:r>
            <a:endParaRPr lang="cs-CZ" dirty="0"/>
          </a:p>
          <a:p>
            <a:r>
              <a:rPr lang="cs-CZ" dirty="0"/>
              <a:t>Norma: </a:t>
            </a:r>
            <a:r>
              <a:rPr lang="cs-CZ" b="1" i="0" dirty="0">
                <a:solidFill>
                  <a:srgbClr val="3F3F3F"/>
                </a:solidFill>
                <a:effectLst/>
                <a:latin typeface="Nunito" pitchFamily="2" charset="-18"/>
              </a:rPr>
              <a:t>kolektivní, ustálené a závažné </a:t>
            </a:r>
            <a:r>
              <a:rPr lang="cs-CZ" b="1" i="0" u="sng" dirty="0">
                <a:solidFill>
                  <a:srgbClr val="3F3F3F"/>
                </a:solidFill>
                <a:effectLst/>
                <a:latin typeface="Nunito" pitchFamily="2" charset="-18"/>
              </a:rPr>
              <a:t>užívání</a:t>
            </a:r>
            <a:r>
              <a:rPr lang="cs-CZ" b="1" i="0" dirty="0">
                <a:solidFill>
                  <a:srgbClr val="3F3F3F"/>
                </a:solidFill>
                <a:effectLst/>
                <a:latin typeface="Nunito" pitchFamily="2" charset="-18"/>
              </a:rPr>
              <a:t> jazyka</a:t>
            </a:r>
            <a:r>
              <a:rPr lang="cs-CZ" b="0" i="0" dirty="0">
                <a:solidFill>
                  <a:srgbClr val="3F3F3F"/>
                </a:solidFill>
                <a:effectLst/>
                <a:latin typeface="Nunito" pitchFamily="2" charset="-18"/>
              </a:rPr>
              <a:t> </a:t>
            </a:r>
            <a:r>
              <a:rPr lang="cs-CZ" b="1" i="0" dirty="0">
                <a:solidFill>
                  <a:srgbClr val="3F3F3F"/>
                </a:solidFill>
                <a:effectLst/>
                <a:latin typeface="Nunito" pitchFamily="2" charset="-18"/>
              </a:rPr>
              <a:t>v duchu jeho systému (pouze spisovné)</a:t>
            </a:r>
          </a:p>
          <a:p>
            <a:pPr lvl="1"/>
            <a:r>
              <a:rPr lang="cs-CZ" dirty="0"/>
              <a:t>Př.: skloňování, časování</a:t>
            </a:r>
          </a:p>
          <a:p>
            <a:r>
              <a:rPr lang="cs-CZ" dirty="0"/>
              <a:t>Kodifikace: </a:t>
            </a:r>
            <a:r>
              <a:rPr lang="cs-CZ" b="1" i="0" dirty="0">
                <a:solidFill>
                  <a:srgbClr val="3F3F3F"/>
                </a:solidFill>
                <a:effectLst/>
                <a:latin typeface="Nunito" pitchFamily="2" charset="-18"/>
              </a:rPr>
              <a:t>zjišťování, </a:t>
            </a:r>
            <a:r>
              <a:rPr lang="cs-CZ" b="1" i="0" u="sng" dirty="0">
                <a:solidFill>
                  <a:srgbClr val="3F3F3F"/>
                </a:solidFill>
                <a:effectLst/>
                <a:latin typeface="Nunito" pitchFamily="2" charset="-18"/>
              </a:rPr>
              <a:t>zachycení</a:t>
            </a:r>
            <a:r>
              <a:rPr lang="cs-CZ" b="1" i="0" dirty="0">
                <a:solidFill>
                  <a:srgbClr val="3F3F3F"/>
                </a:solidFill>
                <a:effectLst/>
                <a:latin typeface="Nunito" pitchFamily="2" charset="-18"/>
              </a:rPr>
              <a:t> a uzákonění spisovné normy v příručkách</a:t>
            </a:r>
          </a:p>
          <a:p>
            <a:pPr lvl="1"/>
            <a:r>
              <a:rPr lang="cs-CZ" b="1" dirty="0">
                <a:solidFill>
                  <a:srgbClr val="3F3F3F"/>
                </a:solidFill>
                <a:latin typeface="Nunito" pitchFamily="2" charset="-18"/>
              </a:rPr>
              <a:t>Pravidla českého pravopisu</a:t>
            </a:r>
          </a:p>
          <a:p>
            <a:pPr lvl="1"/>
            <a:r>
              <a:rPr lang="cs-CZ" dirty="0"/>
              <a:t>https://prirucka.ujc.cas.cz/</a:t>
            </a:r>
          </a:p>
        </p:txBody>
      </p:sp>
    </p:spTree>
    <p:extLst>
      <p:ext uri="{BB962C8B-B14F-4D97-AF65-F5344CB8AC3E}">
        <p14:creationId xmlns:p14="http://schemas.microsoft.com/office/powerpoint/2010/main" val="1826594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107702-7253-A9D4-6FF1-DC6590E73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Práce s https://prirucka.ujc.cas.cz/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B2ACD5-53E0-99B0-15F7-8CF913A94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Najděte a zapište si, jak se správně skloňuje/časuje slovo:</a:t>
            </a:r>
          </a:p>
          <a:p>
            <a:endParaRPr lang="cs-CZ" dirty="0"/>
          </a:p>
          <a:p>
            <a:pPr lvl="1"/>
            <a:r>
              <a:rPr lang="cs-CZ" dirty="0"/>
              <a:t>KOSMAS</a:t>
            </a:r>
          </a:p>
          <a:p>
            <a:pPr lvl="1"/>
            <a:r>
              <a:rPr lang="cs-CZ" dirty="0"/>
              <a:t>3. osoba množného čísla: PÍT</a:t>
            </a:r>
          </a:p>
          <a:p>
            <a:pPr lvl="1"/>
            <a:r>
              <a:rPr lang="cs-CZ" dirty="0"/>
              <a:t>3. a 6. pád jednotného čísla: ALBERT</a:t>
            </a:r>
          </a:p>
        </p:txBody>
      </p:sp>
    </p:spTree>
    <p:extLst>
      <p:ext uri="{BB962C8B-B14F-4D97-AF65-F5344CB8AC3E}">
        <p14:creationId xmlns:p14="http://schemas.microsoft.com/office/powerpoint/2010/main" val="1982476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653117-82C2-80D0-0A61-213570056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C2C78D3-A757-4EE7-869A-D8702DBE9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48405035-C48D-8AB9-99B4-797C3E05B1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31" t="7639" b="74861"/>
          <a:stretch/>
        </p:blipFill>
        <p:spPr>
          <a:xfrm>
            <a:off x="-365365" y="1495424"/>
            <a:ext cx="13094984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562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D25008-0286-6443-294D-ED375DA64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Jazykové rodiny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1A2F587-E624-E0D1-B09E-071B73F99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4647" y="1393696"/>
            <a:ext cx="6281873" cy="4070608"/>
          </a:xfrm>
        </p:spPr>
        <p:txBody>
          <a:bodyPr/>
          <a:lstStyle/>
          <a:p>
            <a:r>
              <a:rPr lang="cs-CZ" dirty="0"/>
              <a:t>INDOEVROPSKÁ (čeština, němčina, ruština, francouzština)</a:t>
            </a:r>
          </a:p>
          <a:p>
            <a:r>
              <a:rPr lang="cs-CZ" dirty="0"/>
              <a:t>URALSKÁ (maďarština, estonština)</a:t>
            </a:r>
          </a:p>
          <a:p>
            <a:r>
              <a:rPr lang="cs-CZ" dirty="0"/>
              <a:t>AFROASIJSKÁ (arabština)</a:t>
            </a:r>
          </a:p>
          <a:p>
            <a:r>
              <a:rPr lang="cs-CZ" dirty="0"/>
              <a:t>AUSTROASIJSKÁ (vietnamština)</a:t>
            </a:r>
          </a:p>
          <a:p>
            <a:r>
              <a:rPr lang="cs-CZ" dirty="0"/>
              <a:t>ALTAJSKÁ (turečtina)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F72AE81-E2B8-EC47-D3F7-C1CD1B4D648C}"/>
              </a:ext>
            </a:extLst>
          </p:cNvPr>
          <p:cNvSpPr txBox="1"/>
          <p:nvPr/>
        </p:nvSpPr>
        <p:spPr>
          <a:xfrm>
            <a:off x="5059680" y="116286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cs-CZ" sz="2400" dirty="0"/>
              <a:t>= každá rodina má svůj společný prajazyk</a:t>
            </a:r>
          </a:p>
        </p:txBody>
      </p:sp>
    </p:spTree>
    <p:extLst>
      <p:ext uri="{BB962C8B-B14F-4D97-AF65-F5344CB8AC3E}">
        <p14:creationId xmlns:p14="http://schemas.microsoft.com/office/powerpoint/2010/main" val="785451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91C6E2A-4DA3-04ED-5ED3-FBC4F51CE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0ADED93-1440-5D9A-58EC-E253C3B26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13EAF6A2-3BCB-FAE4-E6BC-68240BF47C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40" t="33868" b="40555"/>
          <a:stretch/>
        </p:blipFill>
        <p:spPr>
          <a:xfrm>
            <a:off x="130693" y="803186"/>
            <a:ext cx="11832089" cy="473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738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891FE5-BECB-AA7A-CF23-7E5422A4F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Najděte, kde se používá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717704-C71B-96D0-153B-94A18D37C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Sanskrt</a:t>
            </a:r>
          </a:p>
          <a:p>
            <a:r>
              <a:rPr lang="cs-CZ" dirty="0"/>
              <a:t>Kašubština</a:t>
            </a:r>
          </a:p>
          <a:p>
            <a:r>
              <a:rPr lang="cs-CZ" dirty="0"/>
              <a:t>Rétorománština</a:t>
            </a:r>
          </a:p>
          <a:p>
            <a:r>
              <a:rPr lang="cs-CZ" dirty="0"/>
              <a:t>Rusínština</a:t>
            </a:r>
          </a:p>
          <a:p>
            <a:r>
              <a:rPr lang="cs-CZ" dirty="0"/>
              <a:t>Jidiš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93323408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34</TotalTime>
  <Words>171</Words>
  <Application>Microsoft Office PowerPoint</Application>
  <PresentationFormat>Širokoúhlá obrazovka</PresentationFormat>
  <Paragraphs>30</Paragraphs>
  <Slides>7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Nunito</vt:lpstr>
      <vt:lpstr>Rockwell</vt:lpstr>
      <vt:lpstr>Wingdings</vt:lpstr>
      <vt:lpstr>Atlas</vt:lpstr>
      <vt:lpstr>Norma, kodifikace, jazykové rodiny</vt:lpstr>
      <vt:lpstr>Úzus Norma Kodifikace</vt:lpstr>
      <vt:lpstr>Práce s https://prirucka.ujc.cas.cz/</vt:lpstr>
      <vt:lpstr>Prezentace aplikace PowerPoint</vt:lpstr>
      <vt:lpstr>Jazykové rodiny</vt:lpstr>
      <vt:lpstr>Prezentace aplikace PowerPoint</vt:lpstr>
      <vt:lpstr>Najděte, kde se používá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Norma, kodifikace, jazykové rodiny</dc:title>
  <dc:creator>Dana Brandejská</dc:creator>
  <cp:lastModifiedBy>Dana Brandejská</cp:lastModifiedBy>
  <cp:revision>17</cp:revision>
  <dcterms:created xsi:type="dcterms:W3CDTF">2023-09-14T07:00:48Z</dcterms:created>
  <dcterms:modified xsi:type="dcterms:W3CDTF">2023-09-14T07:35:06Z</dcterms:modified>
</cp:coreProperties>
</file>