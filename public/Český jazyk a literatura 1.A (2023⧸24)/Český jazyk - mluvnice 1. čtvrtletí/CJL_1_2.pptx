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74" r:id="rId3"/>
    <p:sldId id="271" r:id="rId4"/>
    <p:sldId id="272" r:id="rId5"/>
    <p:sldId id="273" r:id="rId6"/>
    <p:sldId id="270" r:id="rId7"/>
    <p:sldId id="268" r:id="rId8"/>
    <p:sldId id="269" r:id="rId9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5503" autoAdjust="0"/>
  </p:normalViewPr>
  <p:slideViewPr>
    <p:cSldViewPr snapToGrid="0">
      <p:cViewPr>
        <p:scale>
          <a:sx n="33" d="100"/>
          <a:sy n="33" d="100"/>
        </p:scale>
        <p:origin x="1882" y="7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8206CA-B581-4C32-8517-496D1E6A7AFF}" type="datetimeFigureOut">
              <a:rPr lang="cs-CZ" smtClean="0"/>
              <a:t>13.09.2023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BEBAA5-D6E4-4CD4-AF55-C510607F5B3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12069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Dorozumívací, cizí jazyk, část těla, programovací, ohnivé jazyky, sněhové jazyky</a:t>
            </a:r>
          </a:p>
          <a:p>
            <a:endParaRPr lang="cs-CZ" dirty="0"/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BEBAA5-D6E4-4CD4-AF55-C510607F5B3B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2554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cs-CZ" sz="1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funkce dorozumívací</a:t>
            </a:r>
            <a:r>
              <a:rPr lang="cs-CZ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(komunikativní) - základní funkce každého jazyka,</a:t>
            </a:r>
            <a:endParaRPr lang="cs-CZ" b="0" i="0" dirty="0">
              <a:solidFill>
                <a:srgbClr val="444444"/>
              </a:solidFill>
              <a:effectLst/>
              <a:latin typeface="Poppins" panose="020B0502040204020203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cs-CZ" sz="1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funkce myšlenková</a:t>
            </a:r>
            <a:r>
              <a:rPr lang="cs-CZ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(mentální) - jazyk je nástrojem myšlení,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cs-CZ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kontaktová</a:t>
            </a:r>
            <a:endParaRPr lang="cs-CZ" b="0" i="0" dirty="0">
              <a:solidFill>
                <a:srgbClr val="444444"/>
              </a:solidFill>
              <a:effectLst/>
              <a:latin typeface="Poppins" panose="020B0502040204020203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cs-CZ" sz="1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národně reprezentativní</a:t>
            </a:r>
            <a:r>
              <a:rPr lang="cs-CZ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- jazyk je hlavním znakem národní příslušnosti,</a:t>
            </a:r>
            <a:endParaRPr lang="cs-CZ" b="0" i="0" dirty="0">
              <a:solidFill>
                <a:srgbClr val="444444"/>
              </a:solidFill>
              <a:effectLst/>
              <a:latin typeface="Poppins" panose="020B0502040204020203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cs-CZ" sz="1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Citová/výrazová</a:t>
            </a:r>
            <a:r>
              <a:rPr lang="cs-CZ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(expresivní) - jazyk slouží k vyjadřování citů a přání,</a:t>
            </a:r>
            <a:endParaRPr lang="cs-CZ" b="0" i="0" dirty="0">
              <a:solidFill>
                <a:srgbClr val="444444"/>
              </a:solidFill>
              <a:effectLst/>
              <a:latin typeface="Poppins" panose="020B0502040204020203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cs-CZ" sz="1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výzvová</a:t>
            </a:r>
            <a:r>
              <a:rPr lang="cs-CZ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(apelová) - jazykem můžeme působit na ostatní, přesvědčovat je,</a:t>
            </a:r>
            <a:endParaRPr lang="cs-CZ" b="0" i="0" dirty="0">
              <a:solidFill>
                <a:srgbClr val="444444"/>
              </a:solidFill>
              <a:effectLst/>
              <a:latin typeface="Poppins" panose="020B0502040204020203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cs-CZ" sz="1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estetická</a:t>
            </a:r>
            <a:r>
              <a:rPr lang="cs-CZ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- krása řeči působí esteticky a umělecky se využívá.</a:t>
            </a:r>
            <a:endParaRPr lang="cs-CZ" b="0" i="0" dirty="0">
              <a:solidFill>
                <a:srgbClr val="444444"/>
              </a:solidFill>
              <a:effectLst/>
              <a:latin typeface="Poppins" panose="020B0502040204020203" pitchFamily="2" charset="-18"/>
            </a:endParaRP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BEBAA5-D6E4-4CD4-AF55-C510607F5B3B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705888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obce Březová nad Svitavou</a:t>
            </a:r>
          </a:p>
          <a:p>
            <a:r>
              <a:rPr lang="cs-CZ" dirty="0"/>
              <a:t>přijely stovky</a:t>
            </a:r>
            <a:br>
              <a:rPr lang="cs-CZ" dirty="0"/>
            </a:br>
            <a:r>
              <a:rPr lang="cs-CZ" dirty="0"/>
              <a:t>chystaly tisíce do Rokytnice v Orlických horách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0AA7-4545-4B7A-B965-F731F2AFDF1C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1322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C585B1E-3AC4-BE12-BBD6-6432205421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A44280A9-E68B-9735-0682-483826A07E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B62C014-1E29-1B2E-92A5-78CF2E4DB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F935C-AABF-4146-A49D-8A3121A9CE93}" type="datetimeFigureOut">
              <a:rPr lang="cs-CZ" smtClean="0"/>
              <a:t>13.09.2023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B0696CE-90BD-41D1-29D5-DC1A2CF9A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CC85A8E-46D0-11DE-87F2-F183A1AA5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D927-8F63-4D9E-B14E-73D9873E2A6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51747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4A9C287-C146-18A3-6A89-9C137C3AA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4DB2D63-CEE7-86EA-DE37-23A6F713B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693F074-F370-DDD0-9AFF-1C69EDF1F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F935C-AABF-4146-A49D-8A3121A9CE93}" type="datetimeFigureOut">
              <a:rPr lang="cs-CZ" smtClean="0"/>
              <a:t>13.09.2023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31AFD4F-607B-3D60-EEE2-523711CA1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3CE09B3-5E21-0956-8820-8DD58F36E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D927-8F63-4D9E-B14E-73D9873E2A6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29241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A354DC3-9A5E-E1E4-36CD-B075AFA21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E8E9444-A98E-58FE-6537-C16C534A07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3065BE8-59CD-4681-0770-C0A5A7BC1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F935C-AABF-4146-A49D-8A3121A9CE93}" type="datetimeFigureOut">
              <a:rPr lang="cs-CZ" smtClean="0"/>
              <a:t>13.09.2023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B110057-304D-FC65-F110-948E75DF6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90029DE-488B-6711-2322-D6CCB8E8B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D927-8F63-4D9E-B14E-73D9873E2A6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5051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CA79786-1BF2-A415-3CF9-5C116C4BC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3BE4626-9684-F05B-0CDE-84A6FDD90C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F11991CD-CF0C-411F-7426-26F1F1FAAC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574B163-1B45-2F17-F5F0-33310D6D1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F935C-AABF-4146-A49D-8A3121A9CE93}" type="datetimeFigureOut">
              <a:rPr lang="cs-CZ" smtClean="0"/>
              <a:t>13.09.2023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700F3CF3-16B3-26C9-97B5-6BD4463AC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CA7137F-AC54-4DE4-D9AB-6D5DB6FE1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D927-8F63-4D9E-B14E-73D9873E2A6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482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1258021-4D72-FDD2-767E-A1CBC5F27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95DE227-0807-ED64-AEC9-217C13CCE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0950B20E-8078-48DB-DFE8-94F438A1CA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29C92F0E-0F3F-D942-6CA8-0842EB6347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2CCD2F91-56E8-7838-49EF-67E2B70389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A8861089-7235-226B-6B01-411B37906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F935C-AABF-4146-A49D-8A3121A9CE93}" type="datetimeFigureOut">
              <a:rPr lang="cs-CZ" smtClean="0"/>
              <a:t>13.09.2023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CF18125E-250D-FBA5-5BF4-5895FA676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CAE264A-42DC-6216-4A18-A9ACE588F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D927-8F63-4D9E-B14E-73D9873E2A6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83473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A1FAA04-B402-E072-F283-D6CF11923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0C27AEF4-375D-AE02-04A3-B84C0AF4E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F935C-AABF-4146-A49D-8A3121A9CE93}" type="datetimeFigureOut">
              <a:rPr lang="cs-CZ" smtClean="0"/>
              <a:t>13.09.2023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839DB15A-9156-3195-56DF-5FD54B59A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0D0621DD-02B4-5A8B-9F68-9A5371D02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D927-8F63-4D9E-B14E-73D9873E2A6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40772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88861A38-9906-3731-5033-357AB9B99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F935C-AABF-4146-A49D-8A3121A9CE93}" type="datetimeFigureOut">
              <a:rPr lang="cs-CZ" smtClean="0"/>
              <a:t>13.09.2023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F9A0E502-2E78-EBDC-924F-3367748F6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7C7BBAE-3AD8-6FB3-BD78-07CA43661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D927-8F63-4D9E-B14E-73D9873E2A6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49487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3B11CAD-2549-74B5-19E2-A561B8E50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53B1A9C-B555-09D3-8176-3ED315072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9A11DE1D-08D9-2DC0-6F5E-1FF3BE841B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1B3003C-FA57-9368-C181-E8459A3C0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F935C-AABF-4146-A49D-8A3121A9CE93}" type="datetimeFigureOut">
              <a:rPr lang="cs-CZ" smtClean="0"/>
              <a:t>13.09.2023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6E7B2312-514C-5EA0-7205-A192AEEE2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682456D-C14B-BC68-B250-B5E4D1688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D927-8F63-4D9E-B14E-73D9873E2A6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01672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4A2B0BD-B72E-DA9C-1615-3B12B58C5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E48B8631-CF22-FB74-A30F-CE1561862D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746CFF46-686C-4DA0-50D7-B7A284DA7B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1067FD5-C120-DDD9-956D-5173EBBCC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F935C-AABF-4146-A49D-8A3121A9CE93}" type="datetimeFigureOut">
              <a:rPr lang="cs-CZ" smtClean="0"/>
              <a:t>13.09.2023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99523BD4-6E75-B6C1-817D-B45B4C7B2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EFC93552-B59C-2CBA-7879-11F35AF0B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D927-8F63-4D9E-B14E-73D9873E2A6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98059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DA26EF7-E32C-E819-450A-C59C57033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5EB2CA7-39B6-6B02-112B-B26FF2B91B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FFA56F3-729F-8B5F-254A-D6B374669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F935C-AABF-4146-A49D-8A3121A9CE93}" type="datetimeFigureOut">
              <a:rPr lang="cs-CZ" smtClean="0"/>
              <a:t>13.09.2023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0143D31-F6C3-3F71-DF28-154218BBA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FB32E25-5796-AB59-ADA4-C97BAAA03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D927-8F63-4D9E-B14E-73D9873E2A6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68551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1C5A0483-8B3C-7B86-399D-B9B394430D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1F622889-AA4D-F88E-E4EE-B8CABB6F1A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13664DB-197D-5DF0-5CF7-C75F8EAD1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F935C-AABF-4146-A49D-8A3121A9CE93}" type="datetimeFigureOut">
              <a:rPr lang="cs-CZ" smtClean="0"/>
              <a:t>13.09.2023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7CF72E0-5C12-1FEF-0C9A-0CB51882F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50719A9-BFF3-A6CF-4B9B-016C4BFD9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D927-8F63-4D9E-B14E-73D9873E2A6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22813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05B94FAD-85C7-64A0-31F6-040BE7343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7D37C8E-4595-117B-3123-85B64A8B7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4E4A4DE-19D8-206C-901D-A22D1A465D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1F935C-AABF-4146-A49D-8A3121A9CE93}" type="datetimeFigureOut">
              <a:rPr lang="cs-CZ" smtClean="0"/>
              <a:t>13.09.2023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AF6E110-D0E0-3846-8D8F-7C541BD756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E9CCFA6-3AAB-53AD-B1C7-E1403149AE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ACD927-8F63-4D9E-B14E-73D9873E2A6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97753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3" name="Rectangle 2054">
            <a:extLst>
              <a:ext uri="{FF2B5EF4-FFF2-40B4-BE49-F238E27FC236}">
                <a16:creationId xmlns:a16="http://schemas.microsoft.com/office/drawing/2014/main" id="{BEBFA723-5A7B-472D-ABD7-1526B8D3A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33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4" name="Rectangle 2056">
            <a:extLst>
              <a:ext uri="{FF2B5EF4-FFF2-40B4-BE49-F238E27FC236}">
                <a16:creationId xmlns:a16="http://schemas.microsoft.com/office/drawing/2014/main" id="{A6B27065-399A-4CF7-BF70-CF79B9848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33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59" name="Group 2058">
            <a:extLst>
              <a:ext uri="{FF2B5EF4-FFF2-40B4-BE49-F238E27FC236}">
                <a16:creationId xmlns:a16="http://schemas.microsoft.com/office/drawing/2014/main" id="{CF22986C-DDF7-4109-9D6A-006800D6B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6" y="52996"/>
            <a:ext cx="6093363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2060" name="Freeform: Shape 2059">
              <a:extLst>
                <a:ext uri="{FF2B5EF4-FFF2-40B4-BE49-F238E27FC236}">
                  <a16:creationId xmlns:a16="http://schemas.microsoft.com/office/drawing/2014/main" id="{4C025298-F835-4B83-A3A3-6555157E0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1" name="Freeform: Shape 2060">
              <a:extLst>
                <a:ext uri="{FF2B5EF4-FFF2-40B4-BE49-F238E27FC236}">
                  <a16:creationId xmlns:a16="http://schemas.microsoft.com/office/drawing/2014/main" id="{17106C81-A3F0-4DA0-9368-6BBCDB9648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2" name="Freeform: Shape 2061">
              <a:extLst>
                <a:ext uri="{FF2B5EF4-FFF2-40B4-BE49-F238E27FC236}">
                  <a16:creationId xmlns:a16="http://schemas.microsoft.com/office/drawing/2014/main" id="{4B3B35E8-1AF4-4D76-93A5-B0B088408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53C13E79-93F2-E4A4-52CC-4235EFEDB4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3121701"/>
            <a:ext cx="3658053" cy="1786515"/>
          </a:xfrm>
        </p:spPr>
        <p:txBody>
          <a:bodyPr anchor="t">
            <a:normAutofit/>
          </a:bodyPr>
          <a:lstStyle/>
          <a:p>
            <a:pPr algn="l"/>
            <a:r>
              <a:rPr lang="pl-PL" sz="4000">
                <a:solidFill>
                  <a:schemeClr val="tx2"/>
                </a:solidFill>
              </a:rPr>
              <a:t>Řeč a jazyk, obory jazykovědy</a:t>
            </a:r>
            <a:endParaRPr lang="cs-CZ" sz="4000">
              <a:solidFill>
                <a:schemeClr val="tx2"/>
              </a:solidFill>
            </a:endParaRP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E266B665-93D5-F7FA-9158-67320A614E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2032347"/>
            <a:ext cx="3658053" cy="955111"/>
          </a:xfrm>
        </p:spPr>
        <p:txBody>
          <a:bodyPr anchor="b">
            <a:normAutofit/>
          </a:bodyPr>
          <a:lstStyle/>
          <a:p>
            <a:pPr algn="l"/>
            <a:r>
              <a:rPr lang="cs-CZ" sz="2000">
                <a:solidFill>
                  <a:schemeClr val="tx2"/>
                </a:solidFill>
              </a:rPr>
              <a:t>1. A</a:t>
            </a:r>
          </a:p>
        </p:txBody>
      </p:sp>
      <p:pic>
        <p:nvPicPr>
          <p:cNvPr id="2050" name="Picture 2" descr="Pin on Česká Znaková Řeč">
            <a:extLst>
              <a:ext uri="{FF2B5EF4-FFF2-40B4-BE49-F238E27FC236}">
                <a16:creationId xmlns:a16="http://schemas.microsoft.com/office/drawing/2014/main" id="{B8E6D1E2-2892-5830-7428-372DA3638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79341" y="1646038"/>
            <a:ext cx="5029200" cy="3558159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49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0128A4-43DA-DD45-0ACE-2D64B9B1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A73C220-0CED-CC76-D4E3-F5CDEF75D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90DC9DEC-E9F2-9732-86F8-77EF2751E11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049" t="7448" r="16194" b="69826"/>
          <a:stretch/>
        </p:blipFill>
        <p:spPr>
          <a:xfrm>
            <a:off x="151147" y="681037"/>
            <a:ext cx="12040853" cy="5392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464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E778DBC-84CE-A712-78C9-FAC11EAF9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Jazyk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4F4895C-B6F4-F0CF-8F59-E6C9FA2DA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= komunikační kód</a:t>
            </a:r>
          </a:p>
          <a:p>
            <a:pPr marL="0" indent="0">
              <a:buNone/>
            </a:pPr>
            <a:r>
              <a:rPr lang="cs-CZ" dirty="0"/>
              <a:t>= základní prostředek lidské konverzace</a:t>
            </a:r>
          </a:p>
          <a:p>
            <a:pPr marL="0" indent="0">
              <a:buNone/>
            </a:pPr>
            <a:r>
              <a:rPr lang="cs-CZ" dirty="0"/>
              <a:t>- systém znaků a pravidel jejich užívání</a:t>
            </a:r>
          </a:p>
          <a:p>
            <a:pPr marL="0" indent="0">
              <a:buNone/>
            </a:pPr>
            <a:r>
              <a:rPr lang="cs-CZ" dirty="0"/>
              <a:t>- slouží k dorozumívání</a:t>
            </a:r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r>
              <a:rPr lang="cs-CZ" dirty="0"/>
              <a:t>Umělé (C++, esperanto, </a:t>
            </a:r>
            <a:r>
              <a:rPr lang="cs-CZ" dirty="0" err="1"/>
              <a:t>slovio</a:t>
            </a:r>
            <a:r>
              <a:rPr lang="cs-CZ" dirty="0"/>
              <a:t>, </a:t>
            </a:r>
            <a:r>
              <a:rPr lang="cs-CZ" dirty="0" err="1"/>
              <a:t>interlingua</a:t>
            </a:r>
            <a:r>
              <a:rPr lang="cs-CZ" dirty="0"/>
              <a:t>)</a:t>
            </a:r>
          </a:p>
          <a:p>
            <a:pPr marL="0" indent="0">
              <a:buNone/>
            </a:pPr>
            <a:r>
              <a:rPr lang="cs-CZ" dirty="0"/>
              <a:t>Přirozené</a:t>
            </a:r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endParaRPr lang="cs-CZ" dirty="0"/>
          </a:p>
        </p:txBody>
      </p:sp>
      <p:cxnSp>
        <p:nvCxnSpPr>
          <p:cNvPr id="5" name="Přímá spojnice 4">
            <a:extLst>
              <a:ext uri="{FF2B5EF4-FFF2-40B4-BE49-F238E27FC236}">
                <a16:creationId xmlns:a16="http://schemas.microsoft.com/office/drawing/2014/main" id="{C0C144DE-AD31-192C-A13D-7B5E3C088D52}"/>
              </a:ext>
            </a:extLst>
          </p:cNvPr>
          <p:cNvCxnSpPr>
            <a:cxnSpLocks/>
          </p:cNvCxnSpPr>
          <p:nvPr/>
        </p:nvCxnSpPr>
        <p:spPr>
          <a:xfrm flipH="1">
            <a:off x="313308" y="5140171"/>
            <a:ext cx="524892" cy="33735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Přímá spojnice 5">
            <a:extLst>
              <a:ext uri="{FF2B5EF4-FFF2-40B4-BE49-F238E27FC236}">
                <a16:creationId xmlns:a16="http://schemas.microsoft.com/office/drawing/2014/main" id="{475E1AEB-8BFF-609D-333A-68F4128948BD}"/>
              </a:ext>
            </a:extLst>
          </p:cNvPr>
          <p:cNvCxnSpPr>
            <a:cxnSpLocks/>
          </p:cNvCxnSpPr>
          <p:nvPr/>
        </p:nvCxnSpPr>
        <p:spPr>
          <a:xfrm flipH="1" flipV="1">
            <a:off x="313308" y="5477522"/>
            <a:ext cx="528591" cy="19382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4132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0AD5A6A-5980-60C2-C567-240BD7D5F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605474"/>
            <a:ext cx="10515600" cy="1325563"/>
          </a:xfrm>
        </p:spPr>
        <p:txBody>
          <a:bodyPr/>
          <a:lstStyle/>
          <a:p>
            <a:r>
              <a:rPr lang="cs-CZ" dirty="0"/>
              <a:t>Komunikace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F346F7F-2AEE-EF56-A346-A5A6CC9C4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cs-CZ" dirty="0"/>
              <a:t>= realizace jazyka</a:t>
            </a:r>
          </a:p>
          <a:p>
            <a:r>
              <a:rPr lang="cs-CZ" dirty="0"/>
              <a:t>Vnitřní (pro sebe =&gt; myšlení)</a:t>
            </a:r>
          </a:p>
          <a:p>
            <a:r>
              <a:rPr lang="cs-CZ" dirty="0"/>
              <a:t>Vnější</a:t>
            </a:r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pPr marL="0" indent="0">
              <a:buNone/>
            </a:pPr>
            <a:r>
              <a:rPr lang="cs-CZ" dirty="0"/>
              <a:t>= proces předávání informace přes komunikační kanál (=jazyk)</a:t>
            </a:r>
          </a:p>
          <a:p>
            <a:pPr marL="0" indent="0">
              <a:buNone/>
            </a:pPr>
            <a:r>
              <a:rPr lang="cs-CZ" dirty="0"/>
              <a:t>- probíhá mezi mluvčím a příjemcem</a:t>
            </a:r>
          </a:p>
          <a:p>
            <a:pPr marL="0" indent="0">
              <a:buNone/>
            </a:pPr>
            <a:r>
              <a:rPr lang="cs-CZ" dirty="0"/>
              <a:t>- verbální X neverbální</a:t>
            </a:r>
          </a:p>
        </p:txBody>
      </p:sp>
      <p:sp>
        <p:nvSpPr>
          <p:cNvPr id="4" name="Nadpis 1">
            <a:extLst>
              <a:ext uri="{FF2B5EF4-FFF2-40B4-BE49-F238E27FC236}">
                <a16:creationId xmlns:a16="http://schemas.microsoft.com/office/drawing/2014/main" id="{7C6FA1DD-BD4A-F2F1-AA01-382C47C5989D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/>
              <a:t>Řeč</a:t>
            </a:r>
            <a:endParaRPr lang="cs-CZ" dirty="0"/>
          </a:p>
        </p:txBody>
      </p:sp>
      <p:pic>
        <p:nvPicPr>
          <p:cNvPr id="1026" name="Picture 2" descr="Komunikace">
            <a:extLst>
              <a:ext uri="{FF2B5EF4-FFF2-40B4-BE49-F238E27FC236}">
                <a16:creationId xmlns:a16="http://schemas.microsoft.com/office/drawing/2014/main" id="{FE4AA963-9E89-D071-CAB1-427E93C9A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2568" y="925489"/>
            <a:ext cx="3184746" cy="3597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2928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510E9F4-6852-9AFC-BBB8-1EC7B7BF2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Funkce jazyka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7E1EDDF-67D1-600E-E22B-FC3603308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 dirty="0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61713D81-05A6-E738-9A15-6857210E2F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826" t="35000" r="8859" b="51508"/>
          <a:stretch/>
        </p:blipFill>
        <p:spPr>
          <a:xfrm rot="10800000">
            <a:off x="342898" y="2134394"/>
            <a:ext cx="11655424" cy="2913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957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36B1B53-9ECE-4D61-AD41-4E84A5C10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Jazykové disciplíny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F7B2A93-E8C4-1011-04A9-9A08112A9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75175"/>
          </a:xfrm>
        </p:spPr>
        <p:txBody>
          <a:bodyPr numCol="2">
            <a:normAutofit fontScale="55000" lnSpcReduction="20000"/>
          </a:bodyPr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cs-CZ" sz="3300" b="1" i="0" dirty="0">
                <a:solidFill>
                  <a:srgbClr val="3F3F3F"/>
                </a:solidFill>
                <a:effectLst/>
                <a:latin typeface="Nunito" pitchFamily="2" charset="-18"/>
              </a:rPr>
              <a:t>Bohemistika</a:t>
            </a:r>
            <a:r>
              <a:rPr lang="cs-CZ" sz="3300" b="0" i="0" dirty="0">
                <a:solidFill>
                  <a:srgbClr val="3F3F3F"/>
                </a:solidFill>
                <a:effectLst/>
                <a:latin typeface="Nunito" pitchFamily="2" charset="-18"/>
              </a:rPr>
              <a:t> – nauka o českém jazyce a literatuře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cs-CZ" sz="3300" b="1" i="0" dirty="0">
                <a:solidFill>
                  <a:srgbClr val="3F3F3F"/>
                </a:solidFill>
                <a:effectLst/>
                <a:latin typeface="Nunito" pitchFamily="2" charset="-18"/>
              </a:rPr>
              <a:t>Dialektologie</a:t>
            </a:r>
            <a:r>
              <a:rPr lang="cs-CZ" sz="3300" b="0" i="0" dirty="0">
                <a:solidFill>
                  <a:srgbClr val="3F3F3F"/>
                </a:solidFill>
                <a:effectLst/>
                <a:latin typeface="Nunito" pitchFamily="2" charset="-18"/>
              </a:rPr>
              <a:t> – nauka o nářečích jazyka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cs-CZ" sz="3300" b="1" i="0" dirty="0">
                <a:solidFill>
                  <a:srgbClr val="3F3F3F"/>
                </a:solidFill>
                <a:effectLst/>
                <a:latin typeface="Nunito" pitchFamily="2" charset="-18"/>
              </a:rPr>
              <a:t>Etymologie</a:t>
            </a:r>
            <a:r>
              <a:rPr lang="cs-CZ" sz="3300" b="0" i="0" dirty="0">
                <a:solidFill>
                  <a:srgbClr val="3F3F3F"/>
                </a:solidFill>
                <a:effectLst/>
                <a:latin typeface="Nunito" pitchFamily="2" charset="-18"/>
              </a:rPr>
              <a:t> – nauka o původu slov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cs-CZ" sz="3300" b="1" i="0" dirty="0">
                <a:solidFill>
                  <a:srgbClr val="3F3F3F"/>
                </a:solidFill>
                <a:effectLst/>
                <a:latin typeface="Nunito" pitchFamily="2" charset="-18"/>
              </a:rPr>
              <a:t>Filologie</a:t>
            </a:r>
            <a:r>
              <a:rPr lang="cs-CZ" sz="3300" b="0" i="0" dirty="0">
                <a:solidFill>
                  <a:srgbClr val="3F3F3F"/>
                </a:solidFill>
                <a:effectLst/>
                <a:latin typeface="Nunito" pitchFamily="2" charset="-18"/>
              </a:rPr>
              <a:t> – věda zabývající se studiem jazyka a literatury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cs-CZ" sz="3300" b="1" i="0" dirty="0">
                <a:solidFill>
                  <a:srgbClr val="3F3F3F"/>
                </a:solidFill>
                <a:effectLst/>
                <a:latin typeface="Nunito" pitchFamily="2" charset="-18"/>
              </a:rPr>
              <a:t>Fonetika</a:t>
            </a:r>
            <a:r>
              <a:rPr lang="cs-CZ" sz="3300" b="0" i="0" dirty="0">
                <a:solidFill>
                  <a:srgbClr val="3F3F3F"/>
                </a:solidFill>
                <a:effectLst/>
                <a:latin typeface="Nunito" pitchFamily="2" charset="-18"/>
              </a:rPr>
              <a:t> – zabývá se studiem a popisem hlásek (nauka o zvukové stránce řeči)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cs-CZ" sz="3300" b="1" i="0" dirty="0">
                <a:solidFill>
                  <a:srgbClr val="3F3F3F"/>
                </a:solidFill>
                <a:effectLst/>
                <a:latin typeface="Nunito" pitchFamily="2" charset="-18"/>
              </a:rPr>
              <a:t>Fonologie</a:t>
            </a:r>
            <a:r>
              <a:rPr lang="cs-CZ" sz="3300" b="0" i="0" dirty="0">
                <a:solidFill>
                  <a:srgbClr val="3F3F3F"/>
                </a:solidFill>
                <a:effectLst/>
                <a:latin typeface="Nunito" pitchFamily="2" charset="-18"/>
              </a:rPr>
              <a:t> – studuje zvukové jednotky jazyka z hlediska jejich funkce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cs-CZ" sz="3300" b="1" i="0" dirty="0">
                <a:solidFill>
                  <a:srgbClr val="3F3F3F"/>
                </a:solidFill>
                <a:effectLst/>
                <a:latin typeface="Nunito" pitchFamily="2" charset="-18"/>
              </a:rPr>
              <a:t>Frazeologie</a:t>
            </a:r>
            <a:r>
              <a:rPr lang="cs-CZ" sz="3300" b="0" i="0" dirty="0">
                <a:solidFill>
                  <a:srgbClr val="3F3F3F"/>
                </a:solidFill>
                <a:effectLst/>
                <a:latin typeface="Nunito" pitchFamily="2" charset="-18"/>
              </a:rPr>
              <a:t> – nauka o ustálených slovních spojeních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cs-CZ" sz="3300" b="1" i="0" dirty="0">
                <a:solidFill>
                  <a:srgbClr val="3F3F3F"/>
                </a:solidFill>
                <a:effectLst/>
                <a:latin typeface="Nunito" pitchFamily="2" charset="-18"/>
              </a:rPr>
              <a:t>Lexikografie</a:t>
            </a:r>
            <a:r>
              <a:rPr lang="cs-CZ" sz="3300" b="0" i="0" dirty="0">
                <a:solidFill>
                  <a:srgbClr val="3F3F3F"/>
                </a:solidFill>
                <a:effectLst/>
                <a:latin typeface="Nunito" pitchFamily="2" charset="-18"/>
              </a:rPr>
              <a:t> – nauka o slovnících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cs-CZ" sz="3300" b="1" i="0" dirty="0">
                <a:solidFill>
                  <a:srgbClr val="3F3F3F"/>
                </a:solidFill>
                <a:effectLst/>
                <a:latin typeface="Nunito" pitchFamily="2" charset="-18"/>
              </a:rPr>
              <a:t>Lexikologie</a:t>
            </a:r>
            <a:r>
              <a:rPr lang="cs-CZ" sz="3300" b="0" i="0" dirty="0">
                <a:solidFill>
                  <a:srgbClr val="3F3F3F"/>
                </a:solidFill>
                <a:effectLst/>
                <a:latin typeface="Nunito" pitchFamily="2" charset="-18"/>
              </a:rPr>
              <a:t> – nauka o slovní zásobě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cs-CZ" sz="3300" b="1" i="0" dirty="0">
                <a:solidFill>
                  <a:srgbClr val="3F3F3F"/>
                </a:solidFill>
                <a:effectLst/>
                <a:latin typeface="Nunito" pitchFamily="2" charset="-18"/>
              </a:rPr>
              <a:t>Lingvistika</a:t>
            </a:r>
            <a:r>
              <a:rPr lang="cs-CZ" sz="3300" b="0" i="0" dirty="0">
                <a:solidFill>
                  <a:srgbClr val="3F3F3F"/>
                </a:solidFill>
                <a:effectLst/>
                <a:latin typeface="Nunito" pitchFamily="2" charset="-18"/>
              </a:rPr>
              <a:t> – jazykověda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cs-CZ" sz="3300" b="1" i="0" dirty="0">
                <a:solidFill>
                  <a:srgbClr val="3F3F3F"/>
                </a:solidFill>
                <a:effectLst/>
                <a:latin typeface="Nunito" pitchFamily="2" charset="-18"/>
              </a:rPr>
              <a:t>Logopedie</a:t>
            </a:r>
            <a:r>
              <a:rPr lang="cs-CZ" sz="3300" b="0" i="0" dirty="0">
                <a:solidFill>
                  <a:srgbClr val="3F3F3F"/>
                </a:solidFill>
                <a:effectLst/>
                <a:latin typeface="Nunito" pitchFamily="2" charset="-18"/>
              </a:rPr>
              <a:t> – nauka o správné výslovnosti a náprava vad řeči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cs-CZ" sz="3300" b="1" i="0" dirty="0">
                <a:solidFill>
                  <a:srgbClr val="3F3F3F"/>
                </a:solidFill>
                <a:effectLst/>
                <a:latin typeface="Nunito" pitchFamily="2" charset="-18"/>
              </a:rPr>
              <a:t>Morfologie</a:t>
            </a:r>
            <a:r>
              <a:rPr lang="cs-CZ" sz="3300" b="0" i="0" dirty="0">
                <a:solidFill>
                  <a:srgbClr val="3F3F3F"/>
                </a:solidFill>
                <a:effectLst/>
                <a:latin typeface="Nunito" pitchFamily="2" charset="-18"/>
              </a:rPr>
              <a:t> – popisuje stavbu slova a slovních tvarů, jejich význam a funkci. Zabývá se slovními druhy a jejich klasifikací.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cs-CZ" sz="3300" b="1" i="0" dirty="0">
                <a:solidFill>
                  <a:srgbClr val="3F3F3F"/>
                </a:solidFill>
                <a:effectLst/>
                <a:latin typeface="Nunito" pitchFamily="2" charset="-18"/>
              </a:rPr>
              <a:t>Onomastika</a:t>
            </a:r>
            <a:r>
              <a:rPr lang="cs-CZ" sz="3300" b="0" i="0" dirty="0">
                <a:solidFill>
                  <a:srgbClr val="3F3F3F"/>
                </a:solidFill>
                <a:effectLst/>
                <a:latin typeface="Nunito" pitchFamily="2" charset="-18"/>
              </a:rPr>
              <a:t> – nauka o vlastních jménech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cs-CZ" sz="3300" b="1" i="0" dirty="0">
                <a:solidFill>
                  <a:srgbClr val="3F3F3F"/>
                </a:solidFill>
                <a:effectLst/>
                <a:latin typeface="Nunito" pitchFamily="2" charset="-18"/>
              </a:rPr>
              <a:t>Ortoepie</a:t>
            </a:r>
            <a:r>
              <a:rPr lang="cs-CZ" sz="3300" b="0" i="0" dirty="0">
                <a:solidFill>
                  <a:srgbClr val="3F3F3F"/>
                </a:solidFill>
                <a:effectLst/>
                <a:latin typeface="Nunito" pitchFamily="2" charset="-18"/>
              </a:rPr>
              <a:t> – popisuje pravidla správné výslovnosti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cs-CZ" sz="3300" b="1" i="0" dirty="0">
                <a:solidFill>
                  <a:srgbClr val="3F3F3F"/>
                </a:solidFill>
                <a:effectLst/>
                <a:latin typeface="Nunito" pitchFamily="2" charset="-18"/>
              </a:rPr>
              <a:t>Ortografie</a:t>
            </a:r>
            <a:r>
              <a:rPr lang="cs-CZ" sz="3300" b="0" i="0" dirty="0">
                <a:solidFill>
                  <a:srgbClr val="3F3F3F"/>
                </a:solidFill>
                <a:effectLst/>
                <a:latin typeface="Nunito" pitchFamily="2" charset="-18"/>
              </a:rPr>
              <a:t> – určuje pravidla pravopisu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cs-CZ" sz="3300" b="1" i="0" dirty="0">
                <a:solidFill>
                  <a:srgbClr val="3F3F3F"/>
                </a:solidFill>
                <a:effectLst/>
                <a:latin typeface="Nunito" pitchFamily="2" charset="-18"/>
              </a:rPr>
              <a:t>Sémantika</a:t>
            </a:r>
            <a:r>
              <a:rPr lang="cs-CZ" sz="3300" b="0" i="0" dirty="0">
                <a:solidFill>
                  <a:srgbClr val="3F3F3F"/>
                </a:solidFill>
                <a:effectLst/>
                <a:latin typeface="Nunito" pitchFamily="2" charset="-18"/>
              </a:rPr>
              <a:t> – nauka o významu slov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cs-CZ" sz="3300" b="1" i="0" dirty="0">
                <a:solidFill>
                  <a:srgbClr val="3F3F3F"/>
                </a:solidFill>
                <a:effectLst/>
                <a:latin typeface="Nunito" pitchFamily="2" charset="-18"/>
              </a:rPr>
              <a:t>Slavistika</a:t>
            </a:r>
            <a:r>
              <a:rPr lang="cs-CZ" sz="3300" b="0" i="0" dirty="0">
                <a:solidFill>
                  <a:srgbClr val="3F3F3F"/>
                </a:solidFill>
                <a:effectLst/>
                <a:latin typeface="Nunito" pitchFamily="2" charset="-18"/>
              </a:rPr>
              <a:t> – nauka o slovanských jazycích a kultuře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cs-CZ" sz="3300" b="1" i="0" dirty="0">
                <a:solidFill>
                  <a:srgbClr val="3F3F3F"/>
                </a:solidFill>
                <a:effectLst/>
                <a:latin typeface="Nunito" pitchFamily="2" charset="-18"/>
              </a:rPr>
              <a:t>Stylistika</a:t>
            </a:r>
            <a:r>
              <a:rPr lang="cs-CZ" sz="3300" b="0" i="0" dirty="0">
                <a:solidFill>
                  <a:srgbClr val="3F3F3F"/>
                </a:solidFill>
                <a:effectLst/>
                <a:latin typeface="Nunito" pitchFamily="2" charset="-18"/>
              </a:rPr>
              <a:t> – zabývá se výběrem a způsobem uspořádání jazykových prostředků (nauka o slohu)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cs-CZ" sz="3300" b="1" i="0" dirty="0">
                <a:solidFill>
                  <a:srgbClr val="3F3F3F"/>
                </a:solidFill>
                <a:effectLst/>
                <a:latin typeface="Nunito" pitchFamily="2" charset="-18"/>
              </a:rPr>
              <a:t>Syntax</a:t>
            </a:r>
            <a:r>
              <a:rPr lang="cs-CZ" sz="3300" b="0" i="0" dirty="0">
                <a:solidFill>
                  <a:srgbClr val="3F3F3F"/>
                </a:solidFill>
                <a:effectLst/>
                <a:latin typeface="Nunito" pitchFamily="2" charset="-18"/>
              </a:rPr>
              <a:t> – zkoumá stavbu vět a souvětí, jejich tvoření a vzájemné vztahy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169412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4744076-E22B-9B98-7BAA-66869FD0F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Pravopis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654F4C6-447F-BA09-6B09-2F2CD609B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400" b="1" dirty="0">
                <a:latin typeface="Arial Nova Cond Light" panose="020B0306020202020204" pitchFamily="34" charset="0"/>
              </a:rPr>
              <a:t>Názvy měst: </a:t>
            </a:r>
            <a:r>
              <a:rPr lang="cs-CZ" sz="2400" dirty="0">
                <a:latin typeface="Arial Nova Cond Light" panose="020B0306020202020204" pitchFamily="34" charset="0"/>
              </a:rPr>
              <a:t>Josefov, Sokolov, Kostelec nad Černými lesy, Ústí nad Labem, Praha, Hradec Králové, Frýdek‑Místek</a:t>
            </a:r>
          </a:p>
          <a:p>
            <a:pPr lvl="1"/>
            <a:r>
              <a:rPr lang="cs-CZ" sz="2400" dirty="0">
                <a:latin typeface="Arial Nova Cond Light" panose="020B0306020202020204" pitchFamily="34" charset="0"/>
              </a:rPr>
              <a:t>Černé lesy = „pomístní jméno“</a:t>
            </a:r>
          </a:p>
          <a:p>
            <a:r>
              <a:rPr lang="cs-CZ" sz="2400" dirty="0">
                <a:latin typeface="Arial Nova Cond Light" panose="020B0306020202020204" pitchFamily="34" charset="0"/>
              </a:rPr>
              <a:t>Obce: (obec) Prosečnice, (obec) Číhošť </a:t>
            </a:r>
          </a:p>
          <a:p>
            <a:pPr lvl="1"/>
            <a:endParaRPr lang="cs-CZ" sz="2400" dirty="0">
              <a:latin typeface="Arial Nova Cond Light" panose="020B0306020202020204" pitchFamily="34" charset="0"/>
            </a:endParaRPr>
          </a:p>
          <a:p>
            <a:r>
              <a:rPr lang="cs-CZ" sz="2400" dirty="0">
                <a:latin typeface="Arial Nova Cond Light" panose="020B0306020202020204" pitchFamily="34" charset="0"/>
              </a:rPr>
              <a:t>Miliony, tisíce, stovky (PO) =&gt; přišl</a:t>
            </a:r>
            <a:r>
              <a:rPr lang="cs-CZ" sz="2400" b="1" u="sng" dirty="0">
                <a:latin typeface="Arial Nova Cond Light" panose="020B0306020202020204" pitchFamily="34" charset="0"/>
              </a:rPr>
              <a:t>y</a:t>
            </a:r>
          </a:p>
          <a:p>
            <a:pPr lvl="1"/>
            <a:r>
              <a:rPr lang="cs-CZ" sz="2400" dirty="0">
                <a:latin typeface="Arial Nova Cond Light" panose="020B0306020202020204" pitchFamily="34" charset="0"/>
              </a:rPr>
              <a:t>Příklad: O práci již </a:t>
            </a:r>
            <a:r>
              <a:rPr lang="cs-CZ" sz="2400" b="1" u="sng" dirty="0">
                <a:latin typeface="Arial Nova Cond Light" panose="020B0306020202020204" pitchFamily="34" charset="0"/>
              </a:rPr>
              <a:t>přišly stovky </a:t>
            </a:r>
            <a:r>
              <a:rPr lang="cs-CZ" sz="2400" dirty="0">
                <a:latin typeface="Arial Nova Cond Light" panose="020B0306020202020204" pitchFamily="34" charset="0"/>
              </a:rPr>
              <a:t>lidí</a:t>
            </a:r>
          </a:p>
        </p:txBody>
      </p:sp>
    </p:spTree>
    <p:extLst>
      <p:ext uri="{BB962C8B-B14F-4D97-AF65-F5344CB8AC3E}">
        <p14:creationId xmlns:p14="http://schemas.microsoft.com/office/powerpoint/2010/main" val="1645021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C3858BC-C612-4E74-16FE-1D3055893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Cvičení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1E6484E-52B1-557D-E3F9-73EC5A26C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799" y="2750126"/>
            <a:ext cx="10930092" cy="3261789"/>
          </a:xfrm>
        </p:spPr>
        <p:txBody>
          <a:bodyPr/>
          <a:lstStyle/>
          <a:p>
            <a:r>
              <a:rPr lang="cs-CZ" sz="2400" dirty="0">
                <a:latin typeface="Arial Nova Cond Light" panose="020B0306020202020204" pitchFamily="34" charset="0"/>
              </a:rPr>
              <a:t>Přijeli jsme do líbezné _</a:t>
            </a:r>
            <a:r>
              <a:rPr lang="cs-CZ" sz="2400" dirty="0" err="1">
                <a:latin typeface="Arial Nova Cond Light" panose="020B0306020202020204" pitchFamily="34" charset="0"/>
              </a:rPr>
              <a:t>bce</a:t>
            </a:r>
            <a:r>
              <a:rPr lang="cs-CZ" sz="2400" dirty="0">
                <a:latin typeface="Arial Nova Cond Light" panose="020B0306020202020204" pitchFamily="34" charset="0"/>
              </a:rPr>
              <a:t> _řezová _ad _</a:t>
            </a:r>
            <a:r>
              <a:rPr lang="cs-CZ" sz="2400" dirty="0" err="1">
                <a:latin typeface="Arial Nova Cond Light" panose="020B0306020202020204" pitchFamily="34" charset="0"/>
              </a:rPr>
              <a:t>vitavou</a:t>
            </a:r>
            <a:r>
              <a:rPr lang="cs-CZ" sz="2400" dirty="0">
                <a:latin typeface="Arial Nova Cond Light" panose="020B0306020202020204" pitchFamily="34" charset="0"/>
              </a:rPr>
              <a:t>.</a:t>
            </a:r>
          </a:p>
          <a:p>
            <a:r>
              <a:rPr lang="cs-CZ" sz="2400" dirty="0">
                <a:latin typeface="Arial Nova Cond Light" panose="020B0306020202020204" pitchFamily="34" charset="0"/>
              </a:rPr>
              <a:t>Společně s námi sem přijel_ stovky návštěvníků festivalu.</a:t>
            </a:r>
          </a:p>
          <a:p>
            <a:r>
              <a:rPr lang="cs-CZ" sz="2400" dirty="0">
                <a:latin typeface="Arial Nova Cond Light" panose="020B0306020202020204" pitchFamily="34" charset="0"/>
              </a:rPr>
              <a:t>Na další festival se chystal_ tisíce fanoušků skupiny Rammstein do _</a:t>
            </a:r>
            <a:r>
              <a:rPr lang="cs-CZ" sz="2400" dirty="0" err="1">
                <a:latin typeface="Arial Nova Cond Light" panose="020B0306020202020204" pitchFamily="34" charset="0"/>
              </a:rPr>
              <a:t>okytnice</a:t>
            </a:r>
            <a:r>
              <a:rPr lang="cs-CZ" sz="2400" dirty="0">
                <a:latin typeface="Arial Nova Cond Light" panose="020B0306020202020204" pitchFamily="34" charset="0"/>
              </a:rPr>
              <a:t> _ _</a:t>
            </a:r>
            <a:r>
              <a:rPr lang="cs-CZ" sz="2400" dirty="0" err="1">
                <a:latin typeface="Arial Nova Cond Light" panose="020B0306020202020204" pitchFamily="34" charset="0"/>
              </a:rPr>
              <a:t>rlických</a:t>
            </a:r>
            <a:r>
              <a:rPr lang="cs-CZ" sz="2400" dirty="0">
                <a:latin typeface="Arial Nova Cond Light" panose="020B0306020202020204" pitchFamily="34" charset="0"/>
              </a:rPr>
              <a:t> _</a:t>
            </a:r>
            <a:r>
              <a:rPr lang="cs-CZ" sz="2400" dirty="0" err="1">
                <a:latin typeface="Arial Nova Cond Light" panose="020B0306020202020204" pitchFamily="34" charset="0"/>
              </a:rPr>
              <a:t>orách</a:t>
            </a:r>
            <a:r>
              <a:rPr lang="cs-CZ" sz="2400" dirty="0">
                <a:latin typeface="Arial Nova Cond Light" panose="020B0306020202020204" pitchFamily="34" charset="0"/>
              </a:rPr>
              <a:t>.</a:t>
            </a:r>
          </a:p>
          <a:p>
            <a:endParaRPr lang="cs-CZ" dirty="0">
              <a:latin typeface="Arial Nova Cond Light" panose="020B0306020202020204" pitchFamily="34" charset="0"/>
            </a:endParaRPr>
          </a:p>
          <a:p>
            <a:endParaRPr lang="cs-CZ" dirty="0">
              <a:latin typeface="Arial Nova Cond Light" panose="020B03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804531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452</Words>
  <Application>Microsoft Office PowerPoint</Application>
  <PresentationFormat>Širokoúhlá obrazovka</PresentationFormat>
  <Paragraphs>67</Paragraphs>
  <Slides>8</Slides>
  <Notes>3</Notes>
  <HiddenSlides>0</HiddenSlides>
  <MMClips>0</MMClips>
  <ScaleCrop>false</ScaleCrop>
  <HeadingPairs>
    <vt:vector size="6" baseType="variant">
      <vt:variant>
        <vt:lpstr>Použitá písma</vt:lpstr>
      </vt:variant>
      <vt:variant>
        <vt:i4>7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8</vt:i4>
      </vt:variant>
    </vt:vector>
  </HeadingPairs>
  <TitlesOfParts>
    <vt:vector size="16" baseType="lpstr">
      <vt:lpstr>Arial</vt:lpstr>
      <vt:lpstr>Arial</vt:lpstr>
      <vt:lpstr>Arial Nova Cond Light</vt:lpstr>
      <vt:lpstr>Calibri</vt:lpstr>
      <vt:lpstr>Calibri Light</vt:lpstr>
      <vt:lpstr>Nunito</vt:lpstr>
      <vt:lpstr>Poppins</vt:lpstr>
      <vt:lpstr>Motiv Office</vt:lpstr>
      <vt:lpstr>Řeč a jazyk, obory jazykovědy</vt:lpstr>
      <vt:lpstr>Prezentace aplikace PowerPoint</vt:lpstr>
      <vt:lpstr>Jazyk</vt:lpstr>
      <vt:lpstr>Komunikace</vt:lpstr>
      <vt:lpstr>Funkce jazyka</vt:lpstr>
      <vt:lpstr>Jazykové disciplíny</vt:lpstr>
      <vt:lpstr>Pravopis</vt:lpstr>
      <vt:lpstr>Cvičení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Řeč a jazyk, obory jazykovědy</dc:title>
  <dc:creator>Dana Brandejská</dc:creator>
  <cp:lastModifiedBy>Dana Brandejská</cp:lastModifiedBy>
  <cp:revision>30</cp:revision>
  <dcterms:created xsi:type="dcterms:W3CDTF">2023-09-13T11:21:33Z</dcterms:created>
  <dcterms:modified xsi:type="dcterms:W3CDTF">2023-09-13T12:21:25Z</dcterms:modified>
</cp:coreProperties>
</file>