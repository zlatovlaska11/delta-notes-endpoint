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7" r:id="rId7"/>
    <p:sldId id="262" r:id="rId8"/>
    <p:sldId id="263" r:id="rId9"/>
    <p:sldId id="264" r:id="rId10"/>
    <p:sldId id="265" r:id="rId11"/>
    <p:sldId id="266" r:id="rId12"/>
    <p:sldId id="272" r:id="rId13"/>
    <p:sldId id="278" r:id="rId14"/>
    <p:sldId id="273" r:id="rId15"/>
    <p:sldId id="274" r:id="rId16"/>
    <p:sldId id="268" r:id="rId17"/>
    <p:sldId id="270" r:id="rId18"/>
    <p:sldId id="269" r:id="rId19"/>
    <p:sldId id="271" r:id="rId20"/>
    <p:sldId id="281" r:id="rId21"/>
    <p:sldId id="257" r:id="rId22"/>
    <p:sldId id="280" r:id="rId23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59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54641-1FDA-419F-880F-0B7AFD324807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15F1B7-78B6-4E8D-9A85-C929E4E9E20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4075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15F1B7-78B6-4E8D-9A85-C929E4E9E204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54077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CFB9-5629-4609-95FC-09680D24F4F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1A06-6FE0-4264-9A98-26D1DC2E39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65908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CFB9-5629-4609-95FC-09680D24F4F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1A06-6FE0-4264-9A98-26D1DC2E39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10095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CFB9-5629-4609-95FC-09680D24F4F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1A06-6FE0-4264-9A98-26D1DC2E39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66766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CFB9-5629-4609-95FC-09680D24F4F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1A06-6FE0-4264-9A98-26D1DC2E39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4033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CFB9-5629-4609-95FC-09680D24F4F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1A06-6FE0-4264-9A98-26D1DC2E39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4835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CFB9-5629-4609-95FC-09680D24F4F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1A06-6FE0-4264-9A98-26D1DC2E39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71144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CFB9-5629-4609-95FC-09680D24F4F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1A06-6FE0-4264-9A98-26D1DC2E39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60633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CFB9-5629-4609-95FC-09680D24F4F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1A06-6FE0-4264-9A98-26D1DC2E39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5112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CFB9-5629-4609-95FC-09680D24F4F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1A06-6FE0-4264-9A98-26D1DC2E39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5344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CFB9-5629-4609-95FC-09680D24F4F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1A06-6FE0-4264-9A98-26D1DC2E39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9856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CFB9-5629-4609-95FC-09680D24F4F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1A06-6FE0-4264-9A98-26D1DC2E39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941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8CFB9-5629-4609-95FC-09680D24F4F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C1A06-6FE0-4264-9A98-26D1DC2E39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10101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cs.wikipedia.org/wiki/Soubor:Johan_amos_comenius_1592-1671.jp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cs.wikipedia.org/wiki/Soubor:Pavel_Stransky.png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//upload.wikimedia.org/wikipedia/commons/f/fd/BirthplaceOfJAKUherskyBrod.JPG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České baroko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Exilová protestantská literatura</a:t>
            </a:r>
          </a:p>
          <a:p>
            <a:endParaRPr lang="cs-CZ" dirty="0"/>
          </a:p>
        </p:txBody>
      </p:sp>
      <p:pic>
        <p:nvPicPr>
          <p:cNvPr id="2050" name="Picture 2" descr="Komenský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532858"/>
            <a:ext cx="2143125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10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395536" y="404664"/>
            <a:ext cx="6048672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800" b="1" dirty="0">
                <a:solidFill>
                  <a:srgbClr val="C00000"/>
                </a:solidFill>
              </a:rPr>
              <a:t>Pavel Stránský </a:t>
            </a:r>
            <a:endParaRPr lang="cs-CZ" b="1" dirty="0"/>
          </a:p>
          <a:p>
            <a:pPr marL="457200" indent="-457200">
              <a:buFont typeface="Arial" pitchFamily="34" charset="0"/>
              <a:buChar char="•"/>
            </a:pPr>
            <a:r>
              <a:rPr lang="cs-CZ" sz="2400" b="1" i="1" dirty="0">
                <a:solidFill>
                  <a:srgbClr val="006600"/>
                </a:solidFill>
              </a:rPr>
              <a:t>O státě českém </a:t>
            </a:r>
            <a:endParaRPr lang="cs-CZ" sz="2400" dirty="0"/>
          </a:p>
          <a:p>
            <a:r>
              <a:rPr lang="cs-CZ" dirty="0"/>
              <a:t>- latinský spis vychvalující předbělohorské poměry v Čechách</a:t>
            </a:r>
            <a:endParaRPr lang="cs-CZ" b="1" dirty="0"/>
          </a:p>
          <a:p>
            <a:endParaRPr lang="cs-CZ" b="1" dirty="0"/>
          </a:p>
          <a:p>
            <a:endParaRPr lang="cs-CZ" b="1" dirty="0"/>
          </a:p>
          <a:p>
            <a:endParaRPr lang="cs-CZ" b="1" dirty="0"/>
          </a:p>
          <a:p>
            <a:r>
              <a:rPr lang="cs-CZ" sz="2800" b="1" dirty="0">
                <a:solidFill>
                  <a:srgbClr val="C00000"/>
                </a:solidFill>
              </a:rPr>
              <a:t>Pavel Skála ze Zhoře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cs-CZ" sz="2400" b="1" i="1" dirty="0">
                <a:solidFill>
                  <a:srgbClr val="006600"/>
                </a:solidFill>
              </a:rPr>
              <a:t>Historie církevní</a:t>
            </a:r>
            <a:r>
              <a:rPr lang="cs-CZ" b="1" u="sng" dirty="0"/>
              <a:t> </a:t>
            </a:r>
          </a:p>
          <a:p>
            <a:r>
              <a:rPr lang="cs-CZ" dirty="0"/>
              <a:t>- </a:t>
            </a:r>
            <a:r>
              <a:rPr lang="cs-CZ" dirty="0">
                <a:effectLst/>
              </a:rPr>
              <a:t>záměrem bylo sepsat dějiny křesťanství od počátku do současnosti. Rukopis díla obsahuje deset svazků, poslední dovedl do roku 1623. Celkem obsahuje rukopis 16 000 stran. Z tohoto důvodu Skálova práce nebyla nikdy vydána celá. Na dějiny nahlíží Skála jako na výsledek boje pravé, tedy reformované církve, s Antikristem, kterého ztělesňuje katolická církev včele s papežem.</a:t>
            </a:r>
            <a:endParaRPr lang="cs-CZ" dirty="0"/>
          </a:p>
        </p:txBody>
      </p:sp>
      <p:pic>
        <p:nvPicPr>
          <p:cNvPr id="1026" name="Picture 2" descr="http://upload.wikimedia.org/wikipedia/commons/thumb/4/4a/Pavel_Stransky.png/220px-Pavel_Stransky.pn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8913" y="1700808"/>
            <a:ext cx="209550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délník 2"/>
          <p:cNvSpPr/>
          <p:nvPr/>
        </p:nvSpPr>
        <p:spPr>
          <a:xfrm>
            <a:off x="6676614" y="4846858"/>
            <a:ext cx="228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b="1" dirty="0">
                <a:effectLst/>
              </a:rPr>
              <a:t>Pavel Stránský </a:t>
            </a:r>
            <a:r>
              <a:rPr lang="cs-CZ" i="1" dirty="0">
                <a:effectLst/>
              </a:rPr>
              <a:t>(reprodukce z r. 1890 dle staré rytiny)</a:t>
            </a:r>
            <a:endParaRPr lang="cs-CZ" i="1" dirty="0"/>
          </a:p>
        </p:txBody>
      </p:sp>
    </p:spTree>
    <p:extLst>
      <p:ext uri="{BB962C8B-B14F-4D97-AF65-F5344CB8AC3E}">
        <p14:creationId xmlns:p14="http://schemas.microsoft.com/office/powerpoint/2010/main" val="72523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C00000"/>
                </a:solidFill>
              </a:rPr>
              <a:t>Jan Amos Komenský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dirty="0"/>
              <a:t>1592-1670</a:t>
            </a:r>
          </a:p>
          <a:p>
            <a:r>
              <a:rPr lang="cs-CZ" dirty="0">
                <a:effectLst/>
              </a:rPr>
              <a:t>jeden z největších českých myslitelů, filosofů a spisovatelů</a:t>
            </a:r>
            <a:endParaRPr lang="cs-CZ" baseline="30000" dirty="0"/>
          </a:p>
          <a:p>
            <a:r>
              <a:rPr lang="cs-CZ" dirty="0">
                <a:effectLst/>
              </a:rPr>
              <a:t>Už za Komenského života si získaly mimořádnou oblibu jeho jazykové příručky </a:t>
            </a:r>
            <a:r>
              <a:rPr lang="cs-CZ" b="1" i="1" dirty="0">
                <a:solidFill>
                  <a:srgbClr val="006600"/>
                </a:solidFill>
                <a:effectLst/>
              </a:rPr>
              <a:t>Brána jazyků otevřená</a:t>
            </a:r>
            <a:r>
              <a:rPr lang="cs-CZ" dirty="0">
                <a:effectLst/>
              </a:rPr>
              <a:t> a </a:t>
            </a:r>
            <a:r>
              <a:rPr lang="cs-CZ" b="1" i="1" dirty="0">
                <a:solidFill>
                  <a:srgbClr val="006600"/>
                </a:solidFill>
                <a:effectLst/>
              </a:rPr>
              <a:t>Svět v obrazech</a:t>
            </a:r>
            <a:r>
              <a:rPr lang="cs-CZ" dirty="0">
                <a:effectLst/>
              </a:rPr>
              <a:t>. </a:t>
            </a:r>
          </a:p>
          <a:p>
            <a:r>
              <a:rPr lang="cs-CZ" dirty="0">
                <a:effectLst/>
              </a:rPr>
              <a:t>Komenský je považován za zakladatele moderní pedagogiky a vysloužil si přízvisko Učitel národů.</a:t>
            </a:r>
          </a:p>
          <a:p>
            <a:r>
              <a:rPr lang="cs-CZ" dirty="0">
                <a:effectLst/>
              </a:rPr>
              <a:t>Tvořil spisy encyklopedické a jeho ideálem byla pansofie (vševěda).</a:t>
            </a:r>
            <a:endParaRPr lang="cs-CZ" dirty="0"/>
          </a:p>
          <a:p>
            <a:r>
              <a:rPr lang="cs-CZ" b="1" dirty="0"/>
              <a:t>byl posledním biskupem jednoty bratrské</a:t>
            </a:r>
          </a:p>
        </p:txBody>
      </p:sp>
    </p:spTree>
    <p:extLst>
      <p:ext uri="{BB962C8B-B14F-4D97-AF65-F5344CB8AC3E}">
        <p14:creationId xmlns:p14="http://schemas.microsoft.com/office/powerpoint/2010/main" val="3667633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oubor:BirthplaceOfJAKUherskyBrod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60648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4822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Polsko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>
                <a:effectLst/>
              </a:rPr>
              <a:t>V roce 1628 odešel do exilu do polského </a:t>
            </a:r>
            <a:r>
              <a:rPr lang="cs-CZ" b="1" u="sng" dirty="0">
                <a:solidFill>
                  <a:srgbClr val="7030A0"/>
                </a:solidFill>
                <a:effectLst/>
              </a:rPr>
              <a:t>Lešna</a:t>
            </a:r>
            <a:r>
              <a:rPr lang="cs-CZ" dirty="0">
                <a:effectLst/>
              </a:rPr>
              <a:t>, které se stalo </a:t>
            </a:r>
            <a:r>
              <a:rPr lang="cs-CZ" b="1" dirty="0">
                <a:solidFill>
                  <a:srgbClr val="7030A0"/>
                </a:solidFill>
                <a:effectLst/>
              </a:rPr>
              <a:t>centrem bratrské víry</a:t>
            </a:r>
            <a:r>
              <a:rPr lang="cs-CZ" dirty="0">
                <a:effectLst/>
              </a:rPr>
              <a:t>. </a:t>
            </a:r>
          </a:p>
          <a:p>
            <a:r>
              <a:rPr lang="cs-CZ" dirty="0">
                <a:effectLst/>
              </a:rPr>
              <a:t>Začal psát učebnice a připravoval plán na zlepšení organizace školství.</a:t>
            </a:r>
          </a:p>
          <a:p>
            <a:r>
              <a:rPr lang="cs-CZ" dirty="0">
                <a:effectLst/>
              </a:rPr>
              <a:t>V tomto období </a:t>
            </a:r>
            <a:r>
              <a:rPr lang="cs-CZ" b="1" dirty="0">
                <a:solidFill>
                  <a:srgbClr val="7030A0"/>
                </a:solidFill>
                <a:effectLst/>
              </a:rPr>
              <a:t>vznikla velká část jeho děl</a:t>
            </a:r>
            <a:r>
              <a:rPr lang="cs-CZ" dirty="0">
                <a:effectLst/>
              </a:rPr>
              <a:t>, především pak z oblasti pedagogiky. </a:t>
            </a:r>
          </a:p>
          <a:p>
            <a:r>
              <a:rPr lang="cs-CZ" dirty="0">
                <a:effectLst/>
              </a:rPr>
              <a:t>Komenskému jeho díla jako </a:t>
            </a:r>
            <a:r>
              <a:rPr lang="cs-CZ" b="1" i="1" dirty="0">
                <a:solidFill>
                  <a:srgbClr val="006600"/>
                </a:solidFill>
                <a:effectLst/>
              </a:rPr>
              <a:t>Brána jazyků otevřená </a:t>
            </a:r>
            <a:r>
              <a:rPr lang="cs-CZ" dirty="0">
                <a:effectLst/>
              </a:rPr>
              <a:t>a </a:t>
            </a:r>
            <a:r>
              <a:rPr lang="cs-CZ" b="1" i="1" dirty="0">
                <a:solidFill>
                  <a:srgbClr val="006600"/>
                </a:solidFill>
                <a:effectLst/>
              </a:rPr>
              <a:t>Informatorium školy mateřské</a:t>
            </a:r>
            <a:r>
              <a:rPr lang="cs-CZ" dirty="0">
                <a:effectLst/>
              </a:rPr>
              <a:t> zajistila věhlas po celé nekatolické Evropě. </a:t>
            </a:r>
          </a:p>
          <a:p>
            <a:r>
              <a:rPr lang="cs-CZ" dirty="0">
                <a:effectLst/>
              </a:rPr>
              <a:t>Byl zván na univerzity několika zemí, nabídky však odmítal. </a:t>
            </a:r>
          </a:p>
        </p:txBody>
      </p:sp>
    </p:spTree>
    <p:extLst>
      <p:ext uri="{BB962C8B-B14F-4D97-AF65-F5344CB8AC3E}">
        <p14:creationId xmlns:p14="http://schemas.microsoft.com/office/powerpoint/2010/main" val="4177927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Anglie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effectLst/>
              </a:rPr>
              <a:t>Roku </a:t>
            </a:r>
            <a:r>
              <a:rPr lang="cs-CZ" b="1" dirty="0">
                <a:effectLst/>
              </a:rPr>
              <a:t>1641</a:t>
            </a:r>
            <a:r>
              <a:rPr lang="cs-CZ" dirty="0">
                <a:effectLst/>
              </a:rPr>
              <a:t> se rozhodl vyhovět </a:t>
            </a:r>
            <a:r>
              <a:rPr lang="cs-CZ" b="1" dirty="0">
                <a:solidFill>
                  <a:srgbClr val="C00000"/>
                </a:solidFill>
                <a:effectLst/>
              </a:rPr>
              <a:t>pozvání anglického parlamentu</a:t>
            </a:r>
            <a:r>
              <a:rPr lang="cs-CZ" dirty="0">
                <a:effectLst/>
              </a:rPr>
              <a:t> na přednáškové turné, během něhož vystoupil i před </a:t>
            </a:r>
            <a:r>
              <a:rPr lang="cs-CZ" b="1" dirty="0">
                <a:solidFill>
                  <a:srgbClr val="C00000"/>
                </a:solidFill>
                <a:effectLst/>
              </a:rPr>
              <a:t>Královskou akademií věd</a:t>
            </a:r>
            <a:r>
              <a:rPr lang="cs-CZ" dirty="0">
                <a:effectLst/>
              </a:rPr>
              <a:t>. </a:t>
            </a:r>
          </a:p>
          <a:p>
            <a:r>
              <a:rPr lang="cs-CZ" dirty="0">
                <a:effectLst/>
              </a:rPr>
              <a:t>Kvůli zvyšujícímu se tlaku občanské války Komenský Anglii opustil.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77354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Švédsko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>
                <a:effectLst/>
              </a:rPr>
              <a:t>Roku </a:t>
            </a:r>
            <a:r>
              <a:rPr lang="cs-CZ" b="1" dirty="0">
                <a:effectLst/>
              </a:rPr>
              <a:t>1642</a:t>
            </a:r>
            <a:r>
              <a:rPr lang="cs-CZ" dirty="0">
                <a:effectLst/>
              </a:rPr>
              <a:t> odešel přes Amsterdam do Švédska, kam byl pozván, aby vedl reformu tamního školství a </a:t>
            </a:r>
            <a:r>
              <a:rPr lang="cs-CZ" b="1" dirty="0">
                <a:solidFill>
                  <a:srgbClr val="C00000"/>
                </a:solidFill>
                <a:effectLst/>
              </a:rPr>
              <a:t>napsal</a:t>
            </a:r>
            <a:r>
              <a:rPr lang="cs-CZ" dirty="0">
                <a:effectLst/>
              </a:rPr>
              <a:t> pro ni </a:t>
            </a:r>
            <a:r>
              <a:rPr lang="cs-CZ" b="1" dirty="0">
                <a:solidFill>
                  <a:srgbClr val="C00000"/>
                </a:solidFill>
                <a:effectLst/>
              </a:rPr>
              <a:t>učebnice</a:t>
            </a:r>
            <a:r>
              <a:rPr lang="cs-CZ" dirty="0">
                <a:effectLst/>
              </a:rPr>
              <a:t>. </a:t>
            </a:r>
          </a:p>
          <a:p>
            <a:r>
              <a:rPr lang="cs-CZ" dirty="0">
                <a:effectLst/>
              </a:rPr>
              <a:t>Učebnice požadované švédským kancléřem Komenský nevytvořil. </a:t>
            </a:r>
          </a:p>
          <a:p>
            <a:r>
              <a:rPr lang="cs-CZ" dirty="0">
                <a:effectLst/>
              </a:rPr>
              <a:t>Vznikla zde část </a:t>
            </a:r>
            <a:r>
              <a:rPr lang="cs-CZ" b="1" i="1" dirty="0">
                <a:solidFill>
                  <a:srgbClr val="006600"/>
                </a:solidFill>
                <a:effectLst/>
              </a:rPr>
              <a:t>Obecné porady o nápravě věcí lidských</a:t>
            </a:r>
            <a:r>
              <a:rPr lang="cs-CZ" dirty="0">
                <a:effectLst/>
              </a:rPr>
              <a:t>.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87539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Lešno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cs-CZ" dirty="0">
                <a:effectLst/>
              </a:rPr>
              <a:t>Roku </a:t>
            </a:r>
            <a:r>
              <a:rPr lang="cs-CZ" b="1" dirty="0">
                <a:effectLst/>
              </a:rPr>
              <a:t>1648</a:t>
            </a:r>
            <a:r>
              <a:rPr lang="cs-CZ" dirty="0">
                <a:effectLst/>
              </a:rPr>
              <a:t> se společně s těžce nemocnou manželkou vrátil zpět do Lešna, kde působil jako biskup. </a:t>
            </a:r>
          </a:p>
          <a:p>
            <a:r>
              <a:rPr lang="cs-CZ" dirty="0">
                <a:effectLst/>
              </a:rPr>
              <a:t>V Lešně jeho druhá žena zemřela a již o rok později se v oženil potřetí, tentokrát s o více než třicet let mladší Janou </a:t>
            </a:r>
            <a:r>
              <a:rPr lang="cs-CZ" dirty="0" err="1">
                <a:effectLst/>
              </a:rPr>
              <a:t>Gajusovou</a:t>
            </a:r>
            <a:r>
              <a:rPr lang="cs-CZ" dirty="0">
                <a:effectLst/>
              </a:rPr>
              <a:t> pocházející z Týna nad Vltavou. </a:t>
            </a:r>
          </a:p>
          <a:p>
            <a:r>
              <a:rPr lang="cs-CZ" dirty="0">
                <a:effectLst/>
              </a:rPr>
              <a:t>Když byl v roce </a:t>
            </a:r>
            <a:r>
              <a:rPr lang="cs-CZ" b="1" dirty="0">
                <a:solidFill>
                  <a:srgbClr val="C00000"/>
                </a:solidFill>
                <a:effectLst/>
              </a:rPr>
              <a:t>1648 uzavřen vestfálský mír </a:t>
            </a:r>
            <a:r>
              <a:rPr lang="cs-CZ" dirty="0">
                <a:effectLst/>
              </a:rPr>
              <a:t>(skončila třicetiletá válka), </a:t>
            </a:r>
            <a:r>
              <a:rPr lang="cs-CZ" b="1" dirty="0">
                <a:solidFill>
                  <a:srgbClr val="C00000"/>
                </a:solidFill>
                <a:effectLst/>
              </a:rPr>
              <a:t>skončily též naděje českých exulantů na návrat do vlasti. </a:t>
            </a:r>
          </a:p>
          <a:p>
            <a:r>
              <a:rPr lang="cs-CZ" dirty="0">
                <a:effectLst/>
              </a:rPr>
              <a:t>Komenský se loučil s vlastí a církví spisem </a:t>
            </a:r>
            <a:r>
              <a:rPr lang="cs-CZ" b="1" i="1" dirty="0">
                <a:solidFill>
                  <a:srgbClr val="006600"/>
                </a:solidFill>
                <a:effectLst/>
              </a:rPr>
              <a:t>Kšaft umírající matky jednoty bratrské</a:t>
            </a:r>
            <a:r>
              <a:rPr lang="cs-CZ" b="1" dirty="0">
                <a:solidFill>
                  <a:srgbClr val="006600"/>
                </a:solidFill>
                <a:effectLst/>
              </a:rPr>
              <a:t>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73583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Uhry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>
                <a:effectLst/>
              </a:rPr>
              <a:t>Roku </a:t>
            </a:r>
            <a:r>
              <a:rPr lang="cs-CZ" b="1" dirty="0">
                <a:effectLst/>
              </a:rPr>
              <a:t>1651</a:t>
            </a:r>
            <a:r>
              <a:rPr lang="cs-CZ" dirty="0">
                <a:effectLst/>
              </a:rPr>
              <a:t> přijal pozvání uherského knížete </a:t>
            </a:r>
            <a:r>
              <a:rPr lang="cs-CZ" b="1" dirty="0">
                <a:solidFill>
                  <a:srgbClr val="C00000"/>
                </a:solidFill>
                <a:effectLst/>
              </a:rPr>
              <a:t>Zikmunda </a:t>
            </a:r>
            <a:r>
              <a:rPr lang="cs-CZ" b="1" dirty="0" err="1">
                <a:solidFill>
                  <a:srgbClr val="C00000"/>
                </a:solidFill>
                <a:effectLst/>
              </a:rPr>
              <a:t>Rákocziho</a:t>
            </a:r>
            <a:r>
              <a:rPr lang="cs-CZ" b="1" dirty="0">
                <a:solidFill>
                  <a:srgbClr val="C00000"/>
                </a:solidFill>
                <a:effectLst/>
              </a:rPr>
              <a:t> </a:t>
            </a:r>
            <a:r>
              <a:rPr lang="cs-CZ" dirty="0">
                <a:effectLst/>
              </a:rPr>
              <a:t>do </a:t>
            </a:r>
            <a:r>
              <a:rPr lang="cs-CZ" b="1" u="sng" dirty="0" err="1">
                <a:solidFill>
                  <a:srgbClr val="7030A0"/>
                </a:solidFill>
                <a:effectLst/>
              </a:rPr>
              <a:t>Sárospataku</a:t>
            </a:r>
            <a:r>
              <a:rPr lang="cs-CZ" dirty="0">
                <a:effectLst/>
              </a:rPr>
              <a:t>, kde měl u jeho dvora organizovat reformu školství a pansofickou sedmiletou školu. </a:t>
            </a:r>
          </a:p>
          <a:p>
            <a:r>
              <a:rPr lang="cs-CZ" dirty="0">
                <a:effectLst/>
              </a:rPr>
              <a:t>Poprvé měl tedy možnost ověřit si své názory v praxi.</a:t>
            </a:r>
          </a:p>
          <a:p>
            <a:r>
              <a:rPr lang="cs-CZ" dirty="0">
                <a:effectLst/>
              </a:rPr>
              <a:t>učebnice </a:t>
            </a:r>
            <a:r>
              <a:rPr lang="cs-CZ" b="1" i="1" dirty="0">
                <a:solidFill>
                  <a:srgbClr val="006600"/>
                </a:solidFill>
                <a:effectLst/>
              </a:rPr>
              <a:t>Svět v obrazech</a:t>
            </a:r>
            <a:r>
              <a:rPr lang="cs-CZ" b="1" dirty="0">
                <a:solidFill>
                  <a:srgbClr val="006600"/>
                </a:solidFill>
                <a:effectLst/>
              </a:rPr>
              <a:t> </a:t>
            </a:r>
            <a:r>
              <a:rPr lang="cs-CZ" dirty="0">
                <a:effectLst/>
              </a:rPr>
              <a:t>a </a:t>
            </a:r>
            <a:r>
              <a:rPr lang="cs-CZ" b="1" i="1" dirty="0">
                <a:solidFill>
                  <a:srgbClr val="006600"/>
                </a:solidFill>
                <a:effectLst/>
              </a:rPr>
              <a:t>Škola hrou</a:t>
            </a:r>
            <a:r>
              <a:rPr lang="cs-CZ" dirty="0">
                <a:effectLst/>
              </a:rPr>
              <a:t>. 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90072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Lešno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>
                <a:effectLst/>
              </a:rPr>
              <a:t>V letech </a:t>
            </a:r>
            <a:r>
              <a:rPr lang="cs-CZ" b="1" dirty="0">
                <a:effectLst/>
              </a:rPr>
              <a:t>1654–1656</a:t>
            </a:r>
            <a:r>
              <a:rPr lang="cs-CZ" dirty="0">
                <a:effectLst/>
              </a:rPr>
              <a:t> opět pobýval v Lešně, </a:t>
            </a:r>
          </a:p>
          <a:p>
            <a:r>
              <a:rPr lang="cs-CZ" dirty="0">
                <a:effectLst/>
              </a:rPr>
              <a:t>pracoval na </a:t>
            </a:r>
            <a:r>
              <a:rPr lang="cs-CZ" b="1" i="1" dirty="0">
                <a:solidFill>
                  <a:srgbClr val="006600"/>
                </a:solidFill>
                <a:effectLst/>
              </a:rPr>
              <a:t>Pansofii</a:t>
            </a:r>
          </a:p>
          <a:p>
            <a:r>
              <a:rPr lang="cs-CZ" dirty="0">
                <a:effectLst/>
              </a:rPr>
              <a:t>Roku </a:t>
            </a:r>
            <a:r>
              <a:rPr lang="cs-CZ" b="1" dirty="0">
                <a:solidFill>
                  <a:srgbClr val="C00000"/>
                </a:solidFill>
                <a:effectLst/>
              </a:rPr>
              <a:t>1656 </a:t>
            </a:r>
            <a:r>
              <a:rPr lang="cs-CZ" dirty="0">
                <a:effectLst/>
              </a:rPr>
              <a:t>při </a:t>
            </a:r>
            <a:r>
              <a:rPr lang="cs-CZ" b="1" u="sng" dirty="0">
                <a:solidFill>
                  <a:srgbClr val="C00000"/>
                </a:solidFill>
                <a:effectLst/>
              </a:rPr>
              <a:t>požáru</a:t>
            </a:r>
            <a:r>
              <a:rPr lang="cs-CZ" dirty="0">
                <a:effectLst/>
              </a:rPr>
              <a:t> Lešna </a:t>
            </a:r>
            <a:r>
              <a:rPr lang="cs-CZ" b="1" dirty="0">
                <a:solidFill>
                  <a:srgbClr val="C00000"/>
                </a:solidFill>
                <a:effectLst/>
              </a:rPr>
              <a:t>přišel téměř o všechen majetek i cenné rukopisy </a:t>
            </a:r>
            <a:r>
              <a:rPr lang="cs-CZ" dirty="0">
                <a:effectLst/>
              </a:rPr>
              <a:t>jako </a:t>
            </a:r>
            <a:r>
              <a:rPr lang="cs-CZ" i="1" dirty="0">
                <a:effectLst/>
              </a:rPr>
              <a:t>Česko-latinský slovník</a:t>
            </a:r>
            <a:r>
              <a:rPr lang="cs-CZ" dirty="0">
                <a:effectLst/>
              </a:rPr>
              <a:t>, na kterém pracoval prakticky celý život a který považoval za stěžejní dílo. </a:t>
            </a:r>
          </a:p>
        </p:txBody>
      </p:sp>
    </p:spTree>
    <p:extLst>
      <p:ext uri="{BB962C8B-B14F-4D97-AF65-F5344CB8AC3E}">
        <p14:creationId xmlns:p14="http://schemas.microsoft.com/office/powerpoint/2010/main" val="2559991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Nizozemí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>
                <a:effectLst/>
              </a:rPr>
              <a:t>Na pozvání svého přítele </a:t>
            </a:r>
            <a:r>
              <a:rPr lang="cs-CZ" b="1" dirty="0">
                <a:solidFill>
                  <a:srgbClr val="C00000"/>
                </a:solidFill>
                <a:effectLst/>
              </a:rPr>
              <a:t>Louise De </a:t>
            </a:r>
            <a:r>
              <a:rPr lang="cs-CZ" b="1" dirty="0" err="1">
                <a:solidFill>
                  <a:srgbClr val="C00000"/>
                </a:solidFill>
                <a:effectLst/>
              </a:rPr>
              <a:t>Geera</a:t>
            </a:r>
            <a:r>
              <a:rPr lang="cs-CZ" b="1" dirty="0">
                <a:solidFill>
                  <a:srgbClr val="C00000"/>
                </a:solidFill>
                <a:effectLst/>
              </a:rPr>
              <a:t> </a:t>
            </a:r>
            <a:r>
              <a:rPr lang="cs-CZ" dirty="0">
                <a:effectLst/>
              </a:rPr>
              <a:t>se v roce </a:t>
            </a:r>
            <a:r>
              <a:rPr lang="cs-CZ" b="1" dirty="0">
                <a:effectLst/>
              </a:rPr>
              <a:t>1656</a:t>
            </a:r>
            <a:r>
              <a:rPr lang="cs-CZ" dirty="0">
                <a:effectLst/>
              </a:rPr>
              <a:t> uchýlil </a:t>
            </a:r>
            <a:r>
              <a:rPr lang="cs-CZ" b="1" dirty="0">
                <a:solidFill>
                  <a:srgbClr val="7030A0"/>
                </a:solidFill>
                <a:effectLst/>
              </a:rPr>
              <a:t>do Amsterdamu</a:t>
            </a:r>
            <a:r>
              <a:rPr lang="cs-CZ" dirty="0">
                <a:effectLst/>
              </a:rPr>
              <a:t>, kde strávil posledních 14 let svého života, kde se mohl v klidu věnovat pracím všenápravným. </a:t>
            </a:r>
          </a:p>
          <a:p>
            <a:r>
              <a:rPr lang="cs-CZ" dirty="0">
                <a:effectLst/>
              </a:rPr>
              <a:t>V Amsterdamu byla vydána polovina z celého Komenského díla, například soubor 43 spisů pod názvem </a:t>
            </a:r>
            <a:r>
              <a:rPr lang="cs-CZ" b="1" i="1" dirty="0">
                <a:solidFill>
                  <a:srgbClr val="006600"/>
                </a:solidFill>
                <a:effectLst/>
              </a:rPr>
              <a:t>Veškeré spisy didaktické</a:t>
            </a:r>
            <a:r>
              <a:rPr lang="cs-CZ" i="1" dirty="0">
                <a:effectLst/>
              </a:rPr>
              <a:t>.</a:t>
            </a:r>
            <a:endParaRPr lang="cs-CZ" dirty="0">
              <a:effectLst/>
            </a:endParaRPr>
          </a:p>
          <a:p>
            <a:r>
              <a:rPr lang="cs-CZ" dirty="0">
                <a:effectLst/>
              </a:rPr>
              <a:t>Zemřel po dlouhodobých zdravotních problémech </a:t>
            </a:r>
            <a:r>
              <a:rPr lang="cs-CZ" b="1" dirty="0">
                <a:solidFill>
                  <a:schemeClr val="accent1">
                    <a:lumMod val="50000"/>
                  </a:schemeClr>
                </a:solidFill>
                <a:effectLst/>
              </a:rPr>
              <a:t>15. listopadu 1670</a:t>
            </a:r>
            <a:r>
              <a:rPr lang="cs-CZ" dirty="0">
                <a:effectLst/>
              </a:rPr>
              <a:t>. </a:t>
            </a:r>
            <a:r>
              <a:rPr lang="cs-CZ" dirty="0"/>
              <a:t>Pohřben je v Holandsku </a:t>
            </a:r>
            <a:r>
              <a:rPr lang="cs-CZ" b="1" dirty="0">
                <a:solidFill>
                  <a:schemeClr val="accent1">
                    <a:lumMod val="50000"/>
                  </a:schemeClr>
                </a:solidFill>
              </a:rPr>
              <a:t>v Naardenu</a:t>
            </a:r>
            <a:r>
              <a:rPr lang="cs-CZ" dirty="0"/>
              <a:t>, jeho hrob je majetkem ČR, která za něj platí symbolickou částku nizozemské vládě.</a:t>
            </a:r>
          </a:p>
          <a:p>
            <a:pPr marL="0" indent="0">
              <a:buNone/>
            </a:pPr>
            <a:endParaRPr lang="cs-CZ" dirty="0">
              <a:effectLst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57901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b="1" dirty="0">
                <a:solidFill>
                  <a:srgbClr val="7030A0"/>
                </a:solidFill>
              </a:rPr>
              <a:t>Filozoficko-náboženská díla</a:t>
            </a:r>
            <a:br>
              <a:rPr lang="cs-CZ" b="1" dirty="0">
                <a:solidFill>
                  <a:srgbClr val="7030A0"/>
                </a:solidFill>
              </a:rPr>
            </a:br>
            <a:endParaRPr lang="cs-CZ" b="1" dirty="0">
              <a:solidFill>
                <a:srgbClr val="7030A0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cs-CZ" b="1" i="1" dirty="0">
                <a:solidFill>
                  <a:srgbClr val="006600"/>
                </a:solidFill>
              </a:rPr>
              <a:t>Listové do nebe </a:t>
            </a:r>
            <a:r>
              <a:rPr lang="cs-CZ" dirty="0"/>
              <a:t>– fiktivní list s nářkem chudých Kristovi a list Krista chudým, </a:t>
            </a:r>
            <a:r>
              <a:rPr lang="cs-CZ" dirty="0" err="1"/>
              <a:t>nabádajicí</a:t>
            </a:r>
            <a:r>
              <a:rPr lang="cs-CZ" dirty="0"/>
              <a:t> k smíru, životu podle bible</a:t>
            </a:r>
          </a:p>
          <a:p>
            <a:r>
              <a:rPr lang="cs-CZ" b="1" i="1" dirty="0">
                <a:solidFill>
                  <a:srgbClr val="006600"/>
                </a:solidFill>
              </a:rPr>
              <a:t>Hlubina bezpečnosti</a:t>
            </a:r>
            <a:r>
              <a:rPr lang="cs-CZ" i="1" dirty="0">
                <a:solidFill>
                  <a:srgbClr val="006600"/>
                </a:solidFill>
              </a:rPr>
              <a:t> </a:t>
            </a:r>
            <a:r>
              <a:rPr lang="cs-CZ" dirty="0"/>
              <a:t>– hlubinou je víra v Boha, čím více se člověk Bohu vzdaluje, tím více bloudí a zmatkuje</a:t>
            </a:r>
          </a:p>
          <a:p>
            <a:r>
              <a:rPr lang="cs-CZ" b="1" i="1" dirty="0">
                <a:solidFill>
                  <a:srgbClr val="006600"/>
                </a:solidFill>
              </a:rPr>
              <a:t>Kšaft umírající matky jednoty bratrské</a:t>
            </a:r>
            <a:r>
              <a:rPr lang="cs-CZ" i="1" dirty="0">
                <a:solidFill>
                  <a:srgbClr val="006600"/>
                </a:solidFill>
              </a:rPr>
              <a:t> </a:t>
            </a:r>
            <a:r>
              <a:rPr lang="cs-CZ" dirty="0"/>
              <a:t>– kšaft = závěť; 1648 v Čechách vestfálský mír ... konec jednoty bratrské; JB 					    nechává promlouvat jako umírající matku, jakoby dopis na rozloučenou</a:t>
            </a:r>
          </a:p>
          <a:p>
            <a:r>
              <a:rPr lang="cs-CZ" b="1" i="1" dirty="0">
                <a:solidFill>
                  <a:srgbClr val="006600"/>
                </a:solidFill>
              </a:rPr>
              <a:t>Kancionál</a:t>
            </a:r>
            <a:r>
              <a:rPr lang="cs-CZ" dirty="0"/>
              <a:t> – soubor duchovních písní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77261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1" dirty="0">
                <a:solidFill>
                  <a:srgbClr val="006600"/>
                </a:solidFill>
              </a:rPr>
              <a:t>Labyrint světa a ráj srdce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dirty="0"/>
              <a:t>typická barokní </a:t>
            </a:r>
            <a:r>
              <a:rPr lang="cs-CZ" b="1" dirty="0"/>
              <a:t>alegorie kritizující soudobou společnost</a:t>
            </a:r>
            <a:r>
              <a:rPr lang="cs-CZ" dirty="0"/>
              <a:t>, motiv poutníka; </a:t>
            </a:r>
          </a:p>
          <a:p>
            <a:r>
              <a:rPr lang="cs-CZ" b="1" dirty="0"/>
              <a:t>poutník</a:t>
            </a:r>
            <a:r>
              <a:rPr lang="cs-CZ" dirty="0"/>
              <a:t> toužící po poznání světa prochází </a:t>
            </a:r>
            <a:r>
              <a:rPr lang="cs-CZ" b="1" dirty="0"/>
              <a:t>městem-labyrintem</a:t>
            </a:r>
            <a:r>
              <a:rPr lang="cs-CZ" dirty="0"/>
              <a:t> (světem); jeho </a:t>
            </a:r>
            <a:r>
              <a:rPr lang="cs-CZ" b="1" dirty="0"/>
              <a:t>průvodci </a:t>
            </a:r>
            <a:r>
              <a:rPr lang="cs-CZ" b="1" dirty="0" err="1">
                <a:solidFill>
                  <a:srgbClr val="7030A0"/>
                </a:solidFill>
              </a:rPr>
              <a:t>Všezvěd</a:t>
            </a:r>
            <a:r>
              <a:rPr lang="cs-CZ" b="1" dirty="0">
                <a:solidFill>
                  <a:srgbClr val="7030A0"/>
                </a:solidFill>
              </a:rPr>
              <a:t> </a:t>
            </a:r>
            <a:r>
              <a:rPr lang="cs-CZ" b="1" dirty="0" err="1">
                <a:solidFill>
                  <a:srgbClr val="7030A0"/>
                </a:solidFill>
              </a:rPr>
              <a:t>Všudybud</a:t>
            </a:r>
            <a:r>
              <a:rPr lang="cs-CZ" dirty="0">
                <a:solidFill>
                  <a:srgbClr val="7030A0"/>
                </a:solidFill>
              </a:rPr>
              <a:t> </a:t>
            </a:r>
            <a:r>
              <a:rPr lang="cs-CZ" dirty="0"/>
              <a:t>(zosobnění zvídavosti, umožňuje poutníkovi být, kde chce) a </a:t>
            </a:r>
            <a:r>
              <a:rPr lang="cs-CZ" b="1" dirty="0">
                <a:solidFill>
                  <a:srgbClr val="7030A0"/>
                </a:solidFill>
              </a:rPr>
              <a:t>Mámení</a:t>
            </a:r>
            <a:r>
              <a:rPr lang="cs-CZ" dirty="0"/>
              <a:t> (vykládá poutníkovi, jak čemu ve světě rozumět) mu nasazují pravdu zkreslující růžové brýle a uzdu žádostivosti (ta ho žene k dalšímu poznání), on ale zašilhá přes brýle a spatří pravdu. Všude rozpoznává jen podvod a klam, </a:t>
            </a:r>
            <a:r>
              <a:rPr lang="cs-CZ" b="1" dirty="0"/>
              <a:t>pravda je fiktivní</a:t>
            </a:r>
            <a:r>
              <a:rPr lang="cs-CZ" dirty="0"/>
              <a:t>, vidí všude jen marnost lidského pachtění. V druhé části nalézá </a:t>
            </a:r>
            <a:r>
              <a:rPr lang="cs-CZ" b="1" dirty="0"/>
              <a:t>východ z labyrintu – je to cesta do vlastního nitra (ráje svého srdce – cesta k Bohu).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07298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b="1" dirty="0">
                <a:solidFill>
                  <a:srgbClr val="7030A0"/>
                </a:solidFill>
              </a:rPr>
              <a:t>Pedagogická díla</a:t>
            </a:r>
            <a:br>
              <a:rPr lang="cs-CZ" b="1" dirty="0">
                <a:solidFill>
                  <a:srgbClr val="7030A0"/>
                </a:solidFill>
              </a:rPr>
            </a:br>
            <a:endParaRPr lang="cs-CZ" b="1" dirty="0">
              <a:solidFill>
                <a:srgbClr val="7030A0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b="1" i="1" dirty="0">
                <a:solidFill>
                  <a:srgbClr val="006600"/>
                </a:solidFill>
              </a:rPr>
              <a:t>Didaktika česká </a:t>
            </a:r>
            <a:endParaRPr lang="cs-CZ" i="1" dirty="0">
              <a:solidFill>
                <a:srgbClr val="006600"/>
              </a:solidFill>
            </a:endParaRPr>
          </a:p>
          <a:p>
            <a:pPr lvl="0">
              <a:buFontTx/>
              <a:buChar char="-"/>
            </a:pPr>
            <a:r>
              <a:rPr lang="cs-CZ" dirty="0"/>
              <a:t>obsahuje </a:t>
            </a:r>
            <a:r>
              <a:rPr lang="cs-CZ" b="1" dirty="0"/>
              <a:t>všechny zásady moderní pedagogiky.</a:t>
            </a:r>
          </a:p>
          <a:p>
            <a:r>
              <a:rPr lang="cs-CZ" b="1" i="1" dirty="0">
                <a:solidFill>
                  <a:srgbClr val="006600"/>
                </a:solidFill>
              </a:rPr>
              <a:t>Orbis pictus (Svět v obrazech)</a:t>
            </a:r>
            <a:r>
              <a:rPr lang="cs-CZ" dirty="0"/>
              <a:t> – první </a:t>
            </a:r>
            <a:r>
              <a:rPr lang="cs-CZ" b="1" dirty="0"/>
              <a:t>ilustrovaná učebnice cizích jazyků</a:t>
            </a:r>
            <a:endParaRPr lang="cs-CZ" dirty="0"/>
          </a:p>
          <a:p>
            <a:r>
              <a:rPr lang="cs-CZ" b="1" i="1" dirty="0">
                <a:solidFill>
                  <a:srgbClr val="006600"/>
                </a:solidFill>
              </a:rPr>
              <a:t>Škola hrou</a:t>
            </a:r>
            <a:r>
              <a:rPr lang="cs-CZ" i="1" dirty="0">
                <a:solidFill>
                  <a:srgbClr val="006600"/>
                </a:solidFill>
              </a:rPr>
              <a:t> </a:t>
            </a:r>
            <a:r>
              <a:rPr lang="cs-CZ" dirty="0"/>
              <a:t>– netradiční učebnice latiny dramatickou formou</a:t>
            </a:r>
          </a:p>
          <a:p>
            <a:r>
              <a:rPr lang="cs-CZ" b="1" i="1" dirty="0">
                <a:solidFill>
                  <a:srgbClr val="006600"/>
                </a:solidFill>
              </a:rPr>
              <a:t>Brána jazyků otevřená</a:t>
            </a:r>
            <a:r>
              <a:rPr lang="cs-CZ" i="1" dirty="0">
                <a:solidFill>
                  <a:srgbClr val="006600"/>
                </a:solidFill>
              </a:rPr>
              <a:t>  </a:t>
            </a:r>
            <a:r>
              <a:rPr lang="cs-CZ" dirty="0"/>
              <a:t>- první moderní učebnice latiny</a:t>
            </a:r>
          </a:p>
          <a:p>
            <a:r>
              <a:rPr lang="cs-CZ" b="1" i="1" dirty="0">
                <a:solidFill>
                  <a:srgbClr val="006600"/>
                </a:solidFill>
              </a:rPr>
              <a:t>Informatorium školy mateřské</a:t>
            </a:r>
            <a:r>
              <a:rPr lang="cs-CZ" i="1" dirty="0">
                <a:solidFill>
                  <a:srgbClr val="006600"/>
                </a:solidFill>
              </a:rPr>
              <a:t> </a:t>
            </a:r>
            <a:r>
              <a:rPr lang="cs-CZ" dirty="0"/>
              <a:t>– upozorňuje na význam předškolní výchovy.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87824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i="1" dirty="0"/>
              <a:t> </a:t>
            </a:r>
            <a:r>
              <a:rPr lang="cs-CZ" b="1" dirty="0">
                <a:solidFill>
                  <a:srgbClr val="7030A0"/>
                </a:solidFill>
              </a:rPr>
              <a:t>Rozvoj českého jazyka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i="1" dirty="0">
                <a:solidFill>
                  <a:srgbClr val="006600"/>
                </a:solidFill>
              </a:rPr>
              <a:t>O poezii české</a:t>
            </a:r>
            <a:r>
              <a:rPr lang="cs-CZ" i="1" dirty="0">
                <a:solidFill>
                  <a:srgbClr val="006600"/>
                </a:solidFill>
              </a:rPr>
              <a:t> </a:t>
            </a:r>
            <a:r>
              <a:rPr lang="cs-CZ" dirty="0"/>
              <a:t>– mimo jiné propaguje časomíru, českou poezii chtěl povznést, uvádí zde </a:t>
            </a:r>
            <a:r>
              <a:rPr lang="cs-CZ" b="1" dirty="0"/>
              <a:t>překlad Žalmů.</a:t>
            </a:r>
            <a:endParaRPr lang="cs-CZ" dirty="0"/>
          </a:p>
          <a:p>
            <a:r>
              <a:rPr lang="cs-CZ" b="1" i="1" dirty="0">
                <a:solidFill>
                  <a:srgbClr val="006600"/>
                </a:solidFill>
              </a:rPr>
              <a:t>Poklad jazyka českého</a:t>
            </a:r>
            <a:r>
              <a:rPr lang="cs-CZ" i="1" dirty="0">
                <a:solidFill>
                  <a:srgbClr val="006600"/>
                </a:solidFill>
              </a:rPr>
              <a:t> </a:t>
            </a:r>
            <a:r>
              <a:rPr lang="cs-CZ" dirty="0"/>
              <a:t>– plánovaný slovník vědních oborů, ale </a:t>
            </a:r>
            <a:r>
              <a:rPr lang="cs-CZ" b="1" dirty="0"/>
              <a:t>shořel v Lešně.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7820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  <a:effectLst/>
              </a:rPr>
              <a:t>Hlavní pedagogické názory</a:t>
            </a:r>
            <a:endParaRPr lang="cs-CZ" dirty="0">
              <a:solidFill>
                <a:srgbClr val="7030A0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b="1" dirty="0">
                <a:solidFill>
                  <a:srgbClr val="FF0000"/>
                </a:solidFill>
              </a:rPr>
              <a:t>Ž</a:t>
            </a:r>
            <a:r>
              <a:rPr lang="cs-CZ" b="1" dirty="0">
                <a:solidFill>
                  <a:srgbClr val="FF0000"/>
                </a:solidFill>
                <a:effectLst/>
              </a:rPr>
              <a:t>ádné dítě nemělo být vyloučeno z výchovy</a:t>
            </a:r>
            <a:r>
              <a:rPr lang="cs-CZ" dirty="0">
                <a:effectLst/>
              </a:rPr>
              <a:t>, protože i to nejméně nadané dítě lze alespoň poněkud vychovat.</a:t>
            </a:r>
          </a:p>
          <a:p>
            <a:r>
              <a:rPr lang="cs-CZ" b="1" u="sng" dirty="0">
                <a:solidFill>
                  <a:srgbClr val="7030A0"/>
                </a:solidFill>
                <a:effectLst/>
              </a:rPr>
              <a:t>Výchova dítěte má podle něj tři hlavní cíle</a:t>
            </a:r>
            <a:r>
              <a:rPr lang="cs-CZ" dirty="0">
                <a:effectLst/>
              </a:rPr>
              <a:t>:</a:t>
            </a:r>
          </a:p>
          <a:p>
            <a:pPr marL="0" indent="0">
              <a:buNone/>
            </a:pPr>
            <a:r>
              <a:rPr lang="cs-CZ" dirty="0">
                <a:effectLst/>
              </a:rPr>
              <a:t>1. </a:t>
            </a:r>
            <a:r>
              <a:rPr lang="cs-CZ" b="1" dirty="0">
                <a:solidFill>
                  <a:srgbClr val="7030A0"/>
                </a:solidFill>
                <a:effectLst/>
              </a:rPr>
              <a:t>poznat sebe a svět </a:t>
            </a:r>
            <a:r>
              <a:rPr lang="cs-CZ" dirty="0">
                <a:effectLst/>
              </a:rPr>
              <a:t>– vzdělání ve vědách, uměních a řemeslech</a:t>
            </a:r>
          </a:p>
          <a:p>
            <a:pPr marL="0" indent="0">
              <a:buNone/>
            </a:pPr>
            <a:r>
              <a:rPr lang="cs-CZ" dirty="0">
                <a:effectLst/>
              </a:rPr>
              <a:t>2. </a:t>
            </a:r>
            <a:r>
              <a:rPr lang="cs-CZ" b="1" dirty="0">
                <a:solidFill>
                  <a:srgbClr val="7030A0"/>
                </a:solidFill>
                <a:effectLst/>
              </a:rPr>
              <a:t>ovládnout sebe </a:t>
            </a:r>
            <a:r>
              <a:rPr lang="cs-CZ" dirty="0">
                <a:effectLst/>
              </a:rPr>
              <a:t>– výchova mravní</a:t>
            </a:r>
          </a:p>
          <a:p>
            <a:pPr marL="0" indent="0">
              <a:buNone/>
            </a:pPr>
            <a:r>
              <a:rPr lang="cs-CZ" dirty="0">
                <a:effectLst/>
              </a:rPr>
              <a:t>3. </a:t>
            </a:r>
            <a:r>
              <a:rPr lang="cs-CZ" b="1" dirty="0">
                <a:solidFill>
                  <a:srgbClr val="7030A0"/>
                </a:solidFill>
                <a:effectLst/>
              </a:rPr>
              <a:t>povznést se k Bohu </a:t>
            </a:r>
            <a:r>
              <a:rPr lang="cs-CZ" dirty="0">
                <a:effectLst/>
              </a:rPr>
              <a:t>– výchova náboženská</a:t>
            </a:r>
          </a:p>
          <a:p>
            <a:r>
              <a:rPr lang="cs-CZ" dirty="0">
                <a:effectLst/>
              </a:rPr>
              <a:t>Klade důraz na význam kázně. Odmítá tělesné tresty za neznalost, ale za porušení kázně je v určitých případech připouští.</a:t>
            </a:r>
          </a:p>
        </p:txBody>
      </p:sp>
    </p:spTree>
    <p:extLst>
      <p:ext uri="{BB962C8B-B14F-4D97-AF65-F5344CB8AC3E}">
        <p14:creationId xmlns:p14="http://schemas.microsoft.com/office/powerpoint/2010/main" val="2050566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  <a:effectLst/>
              </a:rPr>
              <a:t>Hlavní pedagogické názory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47500" lnSpcReduction="20000"/>
          </a:bodyPr>
          <a:lstStyle/>
          <a:p>
            <a:r>
              <a:rPr lang="cs-CZ" sz="4200" b="1" dirty="0">
                <a:solidFill>
                  <a:srgbClr val="7030A0"/>
                </a:solidFill>
                <a:effectLst/>
              </a:rPr>
              <a:t>Ve svých spisech navrhoval Komenský tuto školskou organizaci</a:t>
            </a:r>
            <a:r>
              <a:rPr lang="cs-CZ" sz="4200" dirty="0">
                <a:effectLst/>
              </a:rPr>
              <a:t>:</a:t>
            </a:r>
          </a:p>
          <a:p>
            <a:pPr marL="0" indent="0">
              <a:buNone/>
            </a:pPr>
            <a:r>
              <a:rPr lang="cs-CZ" sz="4200" b="1" dirty="0">
                <a:effectLst/>
              </a:rPr>
              <a:t>- </a:t>
            </a:r>
            <a:r>
              <a:rPr lang="cs-CZ" sz="4200" b="1" dirty="0">
                <a:solidFill>
                  <a:schemeClr val="tx2">
                    <a:lumMod val="75000"/>
                  </a:schemeClr>
                </a:solidFill>
                <a:effectLst/>
              </a:rPr>
              <a:t>od narození do 6 let </a:t>
            </a:r>
            <a:r>
              <a:rPr lang="cs-CZ" sz="4200" dirty="0">
                <a:effectLst/>
              </a:rPr>
              <a:t>má být dítě vychováváno doma. Obsah výuky stanovil v příručce pro rodiče </a:t>
            </a:r>
            <a:r>
              <a:rPr lang="cs-CZ" sz="4200" b="1" i="1" dirty="0">
                <a:solidFill>
                  <a:srgbClr val="006600"/>
                </a:solidFill>
                <a:effectLst/>
              </a:rPr>
              <a:t>Informatorium školy mateřské</a:t>
            </a:r>
            <a:endParaRPr lang="cs-CZ" sz="4200" b="1" dirty="0">
              <a:solidFill>
                <a:srgbClr val="006600"/>
              </a:solidFill>
              <a:effectLst/>
            </a:endParaRPr>
          </a:p>
          <a:p>
            <a:pPr marL="0" indent="0">
              <a:buNone/>
            </a:pPr>
            <a:r>
              <a:rPr lang="cs-CZ" sz="4200" b="1" dirty="0">
                <a:solidFill>
                  <a:schemeClr val="tx2">
                    <a:lumMod val="75000"/>
                  </a:schemeClr>
                </a:solidFill>
                <a:effectLst/>
              </a:rPr>
              <a:t>- od 6 do 12 let </a:t>
            </a:r>
            <a:r>
              <a:rPr lang="cs-CZ" sz="4200" dirty="0">
                <a:effectLst/>
              </a:rPr>
              <a:t>navštěvují děti </a:t>
            </a:r>
            <a:r>
              <a:rPr lang="cs-CZ" sz="4200" b="1" dirty="0">
                <a:solidFill>
                  <a:schemeClr val="tx2">
                    <a:lumMod val="75000"/>
                  </a:schemeClr>
                </a:solidFill>
                <a:effectLst/>
              </a:rPr>
              <a:t>školu obecnou</a:t>
            </a:r>
            <a:r>
              <a:rPr lang="cs-CZ" sz="4200" dirty="0">
                <a:effectLst/>
              </a:rPr>
              <a:t>, která by měla být v každém městě i vesnici. Škola je </a:t>
            </a:r>
            <a:r>
              <a:rPr lang="cs-CZ" sz="4200" b="1" dirty="0">
                <a:solidFill>
                  <a:schemeClr val="tx2">
                    <a:lumMod val="75000"/>
                  </a:schemeClr>
                </a:solidFill>
                <a:effectLst/>
              </a:rPr>
              <a:t>pro chlapce i dívky</a:t>
            </a:r>
            <a:r>
              <a:rPr lang="cs-CZ" sz="4200" dirty="0">
                <a:effectLst/>
              </a:rPr>
              <a:t>. Vyučuje se čtení, psaní, počítání, náboženství, reálie (učení o přírodě a společnosti), zpěv, ruční práce. Vyučování probíhá dvě hodiny dopoledne a dvě hodiny odpoledne.</a:t>
            </a:r>
          </a:p>
          <a:p>
            <a:pPr marL="0" indent="0">
              <a:buNone/>
            </a:pPr>
            <a:r>
              <a:rPr lang="cs-CZ" sz="4200" b="1" dirty="0">
                <a:solidFill>
                  <a:schemeClr val="tx2">
                    <a:lumMod val="75000"/>
                  </a:schemeClr>
                </a:solidFill>
                <a:effectLst/>
              </a:rPr>
              <a:t>- od 12 do 18 </a:t>
            </a:r>
            <a:r>
              <a:rPr lang="cs-CZ" sz="4200" dirty="0">
                <a:effectLst/>
              </a:rPr>
              <a:t>má mládež navštěvovat </a:t>
            </a:r>
            <a:r>
              <a:rPr lang="cs-CZ" sz="4200" b="1" dirty="0">
                <a:solidFill>
                  <a:schemeClr val="tx2">
                    <a:lumMod val="75000"/>
                  </a:schemeClr>
                </a:solidFill>
                <a:effectLst/>
              </a:rPr>
              <a:t>školu latinskou</a:t>
            </a:r>
            <a:r>
              <a:rPr lang="cs-CZ" sz="4200" dirty="0">
                <a:effectLst/>
              </a:rPr>
              <a:t>, která by měla být v každém městě. Základem vzdělání je </a:t>
            </a:r>
            <a:r>
              <a:rPr lang="cs-CZ" sz="4200" b="1" dirty="0">
                <a:solidFill>
                  <a:schemeClr val="tx2">
                    <a:lumMod val="75000"/>
                  </a:schemeClr>
                </a:solidFill>
                <a:effectLst/>
              </a:rPr>
              <a:t>sedmero svobodných učení </a:t>
            </a:r>
            <a:r>
              <a:rPr lang="cs-CZ" sz="4200" dirty="0">
                <a:effectLst/>
              </a:rPr>
              <a:t>(gramatika, rétorika, dialektika, aritmetika, geometrie, astronomie a </a:t>
            </a:r>
            <a:r>
              <a:rPr lang="cs-CZ" sz="4200" dirty="0" err="1">
                <a:effectLst/>
              </a:rPr>
              <a:t>múzika</a:t>
            </a:r>
            <a:r>
              <a:rPr lang="cs-CZ" sz="4200" dirty="0">
                <a:effectLst/>
              </a:rPr>
              <a:t>), přírodní vědy, zeměpis, dějepis, matematika a jazyky jako latina a řečtina. Komenský ovšem doporučuje i jiný jazyk, aby se každý dorozuměl se svými sousedy (němčina).</a:t>
            </a:r>
          </a:p>
          <a:p>
            <a:pPr marL="0" indent="0">
              <a:buNone/>
            </a:pPr>
            <a:r>
              <a:rPr lang="cs-CZ" sz="4200" b="1" dirty="0">
                <a:effectLst/>
              </a:rPr>
              <a:t>- </a:t>
            </a:r>
            <a:r>
              <a:rPr lang="cs-CZ" sz="4200" b="1" dirty="0">
                <a:solidFill>
                  <a:schemeClr val="tx2">
                    <a:lumMod val="75000"/>
                  </a:schemeClr>
                </a:solidFill>
                <a:effectLst/>
              </a:rPr>
              <a:t>od 18 do 24 let</a:t>
            </a:r>
            <a:r>
              <a:rPr lang="cs-CZ" sz="4200" dirty="0">
                <a:solidFill>
                  <a:schemeClr val="tx2">
                    <a:lumMod val="75000"/>
                  </a:schemeClr>
                </a:solidFill>
                <a:effectLst/>
              </a:rPr>
              <a:t> </a:t>
            </a:r>
            <a:r>
              <a:rPr lang="cs-CZ" sz="4200" dirty="0">
                <a:effectLst/>
              </a:rPr>
              <a:t>slouží ke vzdělávání </a:t>
            </a:r>
            <a:r>
              <a:rPr lang="cs-CZ" sz="4200" b="1" dirty="0">
                <a:solidFill>
                  <a:schemeClr val="tx2">
                    <a:lumMod val="75000"/>
                  </a:schemeClr>
                </a:solidFill>
                <a:effectLst/>
              </a:rPr>
              <a:t>akademie</a:t>
            </a:r>
            <a:r>
              <a:rPr lang="cs-CZ" sz="4200" dirty="0">
                <a:effectLst/>
              </a:rPr>
              <a:t>, která by měla být v každé zemi. Jde o vysokou školu, kde by se studovalo bohosloví, práva nebo medicína. Důležité je i vzdělání náboženské a filosofické. Vysokou školu nazývá akademie, protože univerzity byly katolické, chtěl je tedy odlišit od protestantských.</a:t>
            </a:r>
          </a:p>
          <a:p>
            <a:endParaRPr lang="cs-CZ" sz="4200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58512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  <a:effectLst/>
              </a:rPr>
              <a:t>Hlavní pedagogické názory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>
                <a:effectLst/>
              </a:rPr>
              <a:t>Po ukončení vzdělávání by měl člověk cestovat. Zdůrazňoval ale, že </a:t>
            </a:r>
            <a:r>
              <a:rPr lang="cs-CZ" b="1" dirty="0">
                <a:solidFill>
                  <a:srgbClr val="7030A0"/>
                </a:solidFill>
                <a:effectLst/>
              </a:rPr>
              <a:t>vzdělávání nikdy nekončí, že je neustálé.</a:t>
            </a:r>
          </a:p>
          <a:p>
            <a:r>
              <a:rPr lang="cs-CZ" dirty="0">
                <a:effectLst/>
              </a:rPr>
              <a:t>Poprvé definoval pojem školní rok, školní prázdniny a školní týden. </a:t>
            </a:r>
          </a:p>
          <a:p>
            <a:r>
              <a:rPr lang="cs-CZ" dirty="0">
                <a:effectLst/>
              </a:rPr>
              <a:t>Ve třídách by měli být žáci stejného věku a stejné úrovně znalostí.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03190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b="1" dirty="0">
                <a:solidFill>
                  <a:srgbClr val="7030A0"/>
                </a:solidFill>
                <a:effectLst/>
              </a:rPr>
              <a:t>Při výuce aplikoval Komenský zásady</a:t>
            </a:r>
            <a:endParaRPr lang="cs-CZ" b="1" dirty="0">
              <a:solidFill>
                <a:srgbClr val="7030A0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cs-CZ" sz="2800" b="1" dirty="0">
                <a:solidFill>
                  <a:srgbClr val="7030A0"/>
                </a:solidFill>
              </a:rPr>
              <a:t>Z</a:t>
            </a:r>
            <a:r>
              <a:rPr lang="cs-CZ" sz="2800" b="1" dirty="0">
                <a:solidFill>
                  <a:srgbClr val="7030A0"/>
                </a:solidFill>
                <a:effectLst/>
              </a:rPr>
              <a:t>ásada názornosti </a:t>
            </a:r>
            <a:r>
              <a:rPr lang="cs-CZ" sz="2800" dirty="0">
                <a:effectLst/>
              </a:rPr>
              <a:t>– přímá žákova zkušenost.</a:t>
            </a:r>
          </a:p>
          <a:p>
            <a:r>
              <a:rPr lang="cs-CZ" sz="2800" b="1" dirty="0">
                <a:solidFill>
                  <a:srgbClr val="7030A0"/>
                </a:solidFill>
              </a:rPr>
              <a:t>Z</a:t>
            </a:r>
            <a:r>
              <a:rPr lang="cs-CZ" sz="2800" b="1" dirty="0">
                <a:solidFill>
                  <a:srgbClr val="7030A0"/>
                </a:solidFill>
                <a:effectLst/>
              </a:rPr>
              <a:t>ásada systematičnosti a soustavnosti </a:t>
            </a:r>
            <a:r>
              <a:rPr lang="cs-CZ" sz="2800" dirty="0">
                <a:effectLst/>
              </a:rPr>
              <a:t>– učivo by na sebe mělo navazovat, nejen v jednotlivých předmětech, ale i mezi nimi. </a:t>
            </a:r>
          </a:p>
          <a:p>
            <a:r>
              <a:rPr lang="cs-CZ" sz="2800" b="1" dirty="0">
                <a:solidFill>
                  <a:srgbClr val="7030A0"/>
                </a:solidFill>
              </a:rPr>
              <a:t>Z</a:t>
            </a:r>
            <a:r>
              <a:rPr lang="cs-CZ" sz="2800" b="1" dirty="0">
                <a:solidFill>
                  <a:srgbClr val="7030A0"/>
                </a:solidFill>
                <a:effectLst/>
              </a:rPr>
              <a:t>ásada aktivnosti </a:t>
            </a:r>
            <a:r>
              <a:rPr lang="cs-CZ" sz="2800" dirty="0">
                <a:effectLst/>
              </a:rPr>
              <a:t>– žáci by měli své poznatky získávat vlastní zkušeností, využívat je v praxi.</a:t>
            </a:r>
          </a:p>
          <a:p>
            <a:r>
              <a:rPr lang="cs-CZ" sz="2800" b="1" dirty="0">
                <a:solidFill>
                  <a:srgbClr val="7030A0"/>
                </a:solidFill>
              </a:rPr>
              <a:t>Z</a:t>
            </a:r>
            <a:r>
              <a:rPr lang="cs-CZ" sz="2800" b="1" dirty="0">
                <a:solidFill>
                  <a:srgbClr val="7030A0"/>
                </a:solidFill>
                <a:effectLst/>
              </a:rPr>
              <a:t>ásada trvalosti </a:t>
            </a:r>
            <a:r>
              <a:rPr lang="cs-CZ" sz="2800" dirty="0">
                <a:effectLst/>
              </a:rPr>
              <a:t>– je třeba soustavně učivo opakovat.</a:t>
            </a:r>
          </a:p>
          <a:p>
            <a:r>
              <a:rPr lang="cs-CZ" sz="2800" b="1" dirty="0">
                <a:solidFill>
                  <a:srgbClr val="7030A0"/>
                </a:solidFill>
              </a:rPr>
              <a:t>Z</a:t>
            </a:r>
            <a:r>
              <a:rPr lang="cs-CZ" sz="2800" b="1" dirty="0">
                <a:solidFill>
                  <a:srgbClr val="7030A0"/>
                </a:solidFill>
                <a:effectLst/>
              </a:rPr>
              <a:t>ásada přiměřenosti </a:t>
            </a:r>
            <a:r>
              <a:rPr lang="cs-CZ" sz="2800" dirty="0">
                <a:effectLst/>
              </a:rPr>
              <a:t>– učitel by měl vycházet z věkových a individuálních schopností dětí.</a:t>
            </a:r>
          </a:p>
        </p:txBody>
      </p:sp>
    </p:spTree>
    <p:extLst>
      <p:ext uri="{BB962C8B-B14F-4D97-AF65-F5344CB8AC3E}">
        <p14:creationId xmlns:p14="http://schemas.microsoft.com/office/powerpoint/2010/main" val="1980531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Kontrolní otázky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Které pedagogické zásady Komenský navrhoval používat při výuce?</a:t>
            </a:r>
          </a:p>
          <a:p>
            <a:r>
              <a:rPr lang="cs-CZ" dirty="0"/>
              <a:t>Které lexikografické dílo se nedochovalo?</a:t>
            </a:r>
          </a:p>
          <a:p>
            <a:r>
              <a:rPr lang="cs-CZ" dirty="0"/>
              <a:t>Ve kterém alegorickém díle Komenský  kritizuje soudobou společnost (objevuje se zde motiv poutníka)?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22800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Seznam obrázků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effectLst/>
              </a:rPr>
              <a:t>NICKE L. </a:t>
            </a:r>
            <a:r>
              <a:rPr lang="en-US" sz="1600" i="1" dirty="0">
                <a:effectLst/>
              </a:rPr>
              <a:t>Wikimedia Commons</a:t>
            </a:r>
            <a:r>
              <a:rPr lang="en-US" sz="1600" dirty="0">
                <a:effectLst/>
              </a:rPr>
              <a:t> [online]. [cit. 10.2.2013]. </a:t>
            </a:r>
            <a:r>
              <a:rPr lang="en-US" sz="1600" dirty="0" err="1">
                <a:effectLst/>
              </a:rPr>
              <a:t>Dostupný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na</a:t>
            </a:r>
            <a:r>
              <a:rPr lang="en-US" sz="1600" dirty="0">
                <a:effectLst/>
              </a:rPr>
              <a:t> WWW: http://cs.wikipedia.org/wiki/Soubor:Johan_amos_comenius_1592-1671.jpg </a:t>
            </a:r>
            <a:endParaRPr lang="cs-CZ" sz="1600" dirty="0">
              <a:effectLst/>
            </a:endParaRPr>
          </a:p>
          <a:p>
            <a:r>
              <a:rPr lang="cs-CZ" sz="1600" dirty="0">
                <a:effectLst/>
              </a:rPr>
              <a:t>SAPFAN. </a:t>
            </a:r>
            <a:r>
              <a:rPr lang="cs-CZ" sz="1600" i="1" dirty="0" err="1">
                <a:effectLst/>
              </a:rPr>
              <a:t>Wikimedia</a:t>
            </a:r>
            <a:r>
              <a:rPr lang="cs-CZ" sz="1600" i="1" dirty="0">
                <a:effectLst/>
              </a:rPr>
              <a:t> </a:t>
            </a:r>
            <a:r>
              <a:rPr lang="cs-CZ" sz="1600" i="1" dirty="0" err="1">
                <a:effectLst/>
              </a:rPr>
              <a:t>Commons</a:t>
            </a:r>
            <a:r>
              <a:rPr lang="cs-CZ" sz="1600" dirty="0">
                <a:effectLst/>
              </a:rPr>
              <a:t> [online]. [cit. 10.2.2013]. Dostupný na WWW: http://cs.wikipedia.org/wiki/Soubor:Pavel_Stransky.png </a:t>
            </a:r>
          </a:p>
          <a:p>
            <a:r>
              <a:rPr lang="cs-CZ" sz="1600" dirty="0">
                <a:effectLst/>
              </a:rPr>
              <a:t>ZIVNER, Adam. </a:t>
            </a:r>
            <a:r>
              <a:rPr lang="cs-CZ" sz="1600" i="1" dirty="0" err="1">
                <a:effectLst/>
              </a:rPr>
              <a:t>Wikimedia</a:t>
            </a:r>
            <a:r>
              <a:rPr lang="cs-CZ" sz="1600" i="1" dirty="0">
                <a:effectLst/>
              </a:rPr>
              <a:t> </a:t>
            </a:r>
            <a:r>
              <a:rPr lang="cs-CZ" sz="1600" i="1" dirty="0" err="1">
                <a:effectLst/>
              </a:rPr>
              <a:t>Commons</a:t>
            </a:r>
            <a:r>
              <a:rPr lang="cs-CZ" sz="1600" dirty="0">
                <a:effectLst/>
              </a:rPr>
              <a:t> [online]. [cit. 10.2.2013]. Dostupný na WWW: http://cs.wikipedia.org/wiki/Soubor:BirthplaceOfJAKUherskyBrod.JPG </a:t>
            </a:r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4226142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Seznam zdrojů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i="1" dirty="0"/>
              <a:t>Česká literatura od počátků k dnešku</a:t>
            </a:r>
            <a:r>
              <a:rPr lang="cs-CZ" dirty="0"/>
              <a:t>. 1. vyd. Praha: Lidové noviny, 1998, 1048 s. ISBN 80-710-6308-8.</a:t>
            </a:r>
          </a:p>
          <a:p>
            <a:r>
              <a:rPr lang="cs-CZ" dirty="0"/>
              <a:t>NEZKUSIL, Vladimír. </a:t>
            </a:r>
            <a:r>
              <a:rPr lang="cs-CZ" i="1" dirty="0"/>
              <a:t>Česká a světová literatura pro 1. ročník středních škol: nejstarší literární památky : počátky českého národního obrození</a:t>
            </a:r>
            <a:r>
              <a:rPr lang="cs-CZ" dirty="0"/>
              <a:t>. 2. vyd. Praha: Fortuna, 2002, 149 s. ISBN 80-716-8653-0.</a:t>
            </a:r>
          </a:p>
        </p:txBody>
      </p:sp>
    </p:spTree>
    <p:extLst>
      <p:ext uri="{BB962C8B-B14F-4D97-AF65-F5344CB8AC3E}">
        <p14:creationId xmlns:p14="http://schemas.microsoft.com/office/powerpoint/2010/main" val="198505947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1498</Words>
  <Application>Microsoft Office PowerPoint</Application>
  <PresentationFormat>Předvádění na obrazovce (4:3)</PresentationFormat>
  <Paragraphs>102</Paragraphs>
  <Slides>22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22</vt:i4>
      </vt:variant>
    </vt:vector>
  </HeadingPairs>
  <TitlesOfParts>
    <vt:vector size="25" baseType="lpstr">
      <vt:lpstr>Arial</vt:lpstr>
      <vt:lpstr>Calibri</vt:lpstr>
      <vt:lpstr>Motiv systému Office</vt:lpstr>
      <vt:lpstr>České baroko</vt:lpstr>
      <vt:lpstr>Prezentace aplikace PowerPoint</vt:lpstr>
      <vt:lpstr>Jan Amos Komenský</vt:lpstr>
      <vt:lpstr>Prezentace aplikace PowerPoint</vt:lpstr>
      <vt:lpstr>Polsko</vt:lpstr>
      <vt:lpstr>Anglie</vt:lpstr>
      <vt:lpstr>Švédsko</vt:lpstr>
      <vt:lpstr>Lešno</vt:lpstr>
      <vt:lpstr>Uhry</vt:lpstr>
      <vt:lpstr>Lešno</vt:lpstr>
      <vt:lpstr>Nizozemí</vt:lpstr>
      <vt:lpstr>Filozoficko-náboženská díla </vt:lpstr>
      <vt:lpstr>Labyrint světa a ráj srdce</vt:lpstr>
      <vt:lpstr>Pedagogická díla </vt:lpstr>
      <vt:lpstr> Rozvoj českého jazyka</vt:lpstr>
      <vt:lpstr>Hlavní pedagogické názory</vt:lpstr>
      <vt:lpstr>Hlavní pedagogické názory</vt:lpstr>
      <vt:lpstr>Hlavní pedagogické názory</vt:lpstr>
      <vt:lpstr>Při výuce aplikoval Komenský zásady</vt:lpstr>
      <vt:lpstr>Kontrolní otázky</vt:lpstr>
      <vt:lpstr>Seznam obrázků</vt:lpstr>
      <vt:lpstr>Seznam zdrojů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Barokní literatura</dc:title>
  <dc:creator>uzivatel</dc:creator>
  <cp:lastModifiedBy>Věra Hanáková</cp:lastModifiedBy>
  <cp:revision>16</cp:revision>
  <dcterms:created xsi:type="dcterms:W3CDTF">2013-02-10T18:39:48Z</dcterms:created>
  <dcterms:modified xsi:type="dcterms:W3CDTF">2024-03-13T21:30:00Z</dcterms:modified>
</cp:coreProperties>
</file>