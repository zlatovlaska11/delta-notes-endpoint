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4" r:id="rId4"/>
    <p:sldId id="257" r:id="rId5"/>
    <p:sldId id="258" r:id="rId6"/>
    <p:sldId id="260" r:id="rId7"/>
    <p:sldId id="267" r:id="rId8"/>
    <p:sldId id="261" r:id="rId9"/>
    <p:sldId id="262" r:id="rId10"/>
    <p:sldId id="263" r:id="rId11"/>
    <p:sldId id="265" r:id="rId12"/>
    <p:sldId id="273" r:id="rId13"/>
    <p:sldId id="266" r:id="rId14"/>
    <p:sldId id="272" r:id="rId15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59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D524D-4267-4BC2-8B6D-EF425B999B2A}" type="datetimeFigureOut">
              <a:rPr lang="cs-CZ" smtClean="0"/>
              <a:t>13.03.2024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86A40-75BA-4F5E-8149-399EC7A42FF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30113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D524D-4267-4BC2-8B6D-EF425B999B2A}" type="datetimeFigureOut">
              <a:rPr lang="cs-CZ" smtClean="0"/>
              <a:t>13.03.2024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86A40-75BA-4F5E-8149-399EC7A42FF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0854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D524D-4267-4BC2-8B6D-EF425B999B2A}" type="datetimeFigureOut">
              <a:rPr lang="cs-CZ" smtClean="0"/>
              <a:t>13.03.2024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86A40-75BA-4F5E-8149-399EC7A42FF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13738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D524D-4267-4BC2-8B6D-EF425B999B2A}" type="datetimeFigureOut">
              <a:rPr lang="cs-CZ" smtClean="0"/>
              <a:t>13.03.2024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86A40-75BA-4F5E-8149-399EC7A42FF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721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D524D-4267-4BC2-8B6D-EF425B999B2A}" type="datetimeFigureOut">
              <a:rPr lang="cs-CZ" smtClean="0"/>
              <a:t>13.03.2024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86A40-75BA-4F5E-8149-399EC7A42FF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96065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D524D-4267-4BC2-8B6D-EF425B999B2A}" type="datetimeFigureOut">
              <a:rPr lang="cs-CZ" smtClean="0"/>
              <a:t>13.03.2024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86A40-75BA-4F5E-8149-399EC7A42FF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99291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D524D-4267-4BC2-8B6D-EF425B999B2A}" type="datetimeFigureOut">
              <a:rPr lang="cs-CZ" smtClean="0"/>
              <a:t>13.03.2024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86A40-75BA-4F5E-8149-399EC7A42FF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5639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D524D-4267-4BC2-8B6D-EF425B999B2A}" type="datetimeFigureOut">
              <a:rPr lang="cs-CZ" smtClean="0"/>
              <a:t>13.03.2024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86A40-75BA-4F5E-8149-399EC7A42FF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19311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D524D-4267-4BC2-8B6D-EF425B999B2A}" type="datetimeFigureOut">
              <a:rPr lang="cs-CZ" smtClean="0"/>
              <a:t>13.03.2024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86A40-75BA-4F5E-8149-399EC7A42FF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4922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D524D-4267-4BC2-8B6D-EF425B999B2A}" type="datetimeFigureOut">
              <a:rPr lang="cs-CZ" smtClean="0"/>
              <a:t>13.03.2024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86A40-75BA-4F5E-8149-399EC7A42FF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95139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D524D-4267-4BC2-8B6D-EF425B999B2A}" type="datetimeFigureOut">
              <a:rPr lang="cs-CZ" smtClean="0"/>
              <a:t>13.03.2024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86A40-75BA-4F5E-8149-399EC7A42FF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5604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BD524D-4267-4BC2-8B6D-EF425B999B2A}" type="datetimeFigureOut">
              <a:rPr lang="cs-CZ" smtClean="0"/>
              <a:t>13.03.2024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86A40-75BA-4F5E-8149-399EC7A42FF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96553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7030A0"/>
                </a:solidFill>
              </a:rPr>
              <a:t>České baroko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b="1" dirty="0">
                <a:solidFill>
                  <a:srgbClr val="7030A0"/>
                </a:solidFill>
              </a:rPr>
              <a:t>Oficiální katolická literatura</a:t>
            </a:r>
          </a:p>
        </p:txBody>
      </p:sp>
    </p:spTree>
    <p:extLst>
      <p:ext uri="{BB962C8B-B14F-4D97-AF65-F5344CB8AC3E}">
        <p14:creationId xmlns:p14="http://schemas.microsoft.com/office/powerpoint/2010/main" val="3814042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295874" y="188640"/>
            <a:ext cx="8280920" cy="6063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buFont typeface="Arial" pitchFamily="34" charset="0"/>
              <a:buChar char="•"/>
            </a:pPr>
            <a:r>
              <a:rPr lang="cs-CZ" sz="2000" b="1" dirty="0">
                <a:solidFill>
                  <a:srgbClr val="FF0000"/>
                </a:solidFill>
              </a:rPr>
              <a:t>1620 – 1770</a:t>
            </a:r>
            <a:endParaRPr lang="cs-CZ" sz="2000" dirty="0">
              <a:solidFill>
                <a:srgbClr val="FF0000"/>
              </a:solidFill>
            </a:endParaRPr>
          </a:p>
          <a:p>
            <a:pPr marL="342900" lvl="0" indent="-342900" algn="just">
              <a:buFont typeface="Arial" pitchFamily="34" charset="0"/>
              <a:buChar char="•"/>
            </a:pPr>
            <a:r>
              <a:rPr lang="cs-CZ" sz="2000" dirty="0"/>
              <a:t>ovlivněno bitvou na Bílé hoře 1620 (česká protestantská šlechta, král Fridrich Falcký vs. česká katolická šlechta, katolická liga - vyhráli katolíci), po níž byli </a:t>
            </a:r>
            <a:r>
              <a:rPr lang="cs-CZ" sz="2000" b="1" dirty="0"/>
              <a:t>protestanti pronásledováni - odchod vzdělanců, evangelické šlechty a měšťanstva</a:t>
            </a:r>
            <a:r>
              <a:rPr lang="cs-CZ" sz="2000" dirty="0"/>
              <a:t> 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cs-CZ" sz="2000" dirty="0"/>
              <a:t>poznamenáno válkou, nadvládou Habsburků, </a:t>
            </a:r>
            <a:r>
              <a:rPr lang="cs-CZ" sz="2000" dirty="0">
                <a:solidFill>
                  <a:srgbClr val="C00000"/>
                </a:solidFill>
              </a:rPr>
              <a:t>násilnou </a:t>
            </a:r>
            <a:r>
              <a:rPr lang="cs-CZ" sz="2000" b="1" dirty="0">
                <a:solidFill>
                  <a:srgbClr val="C00000"/>
                </a:solidFill>
              </a:rPr>
              <a:t>rekatolizací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cs-CZ" sz="2000" b="1" dirty="0"/>
              <a:t>nedůvěra v rozum, absolutizace víry, vysvobozením z pozemských strastí je Bůh</a:t>
            </a:r>
            <a:endParaRPr lang="cs-CZ" sz="2000" dirty="0"/>
          </a:p>
          <a:p>
            <a:pPr marL="342900" indent="-342900" algn="just">
              <a:buFont typeface="Arial" pitchFamily="34" charset="0"/>
              <a:buChar char="•"/>
            </a:pPr>
            <a:r>
              <a:rPr lang="cs-CZ" sz="2000" dirty="0"/>
              <a:t>nositeli vzdělanosti a kultury se stali </a:t>
            </a:r>
            <a:r>
              <a:rPr lang="cs-CZ" sz="2000" b="1" dirty="0">
                <a:solidFill>
                  <a:srgbClr val="C00000"/>
                </a:solidFill>
              </a:rPr>
              <a:t>jezuité</a:t>
            </a:r>
            <a:r>
              <a:rPr lang="cs-CZ" sz="2000" dirty="0"/>
              <a:t> (tzn. církevní řád zaměřený na výchovu mládeže a badatelskou činnost, v Čechách od 1556, svou kazatelskou a pedagogickou činností posilovali katolicismus, byla jim svěřena </a:t>
            </a:r>
            <a:r>
              <a:rPr lang="cs-CZ" sz="2000" b="1" dirty="0"/>
              <a:t>cenzura knih</a:t>
            </a:r>
            <a:r>
              <a:rPr lang="cs-CZ" sz="2000" dirty="0"/>
              <a:t>, rekatolizace)</a:t>
            </a:r>
          </a:p>
          <a:p>
            <a:pPr algn="just"/>
            <a:endParaRPr lang="cs-CZ" sz="2000" dirty="0"/>
          </a:p>
          <a:p>
            <a:r>
              <a:rPr lang="cs-CZ" sz="2800" b="1" dirty="0">
                <a:solidFill>
                  <a:srgbClr val="C00000"/>
                </a:solidFill>
              </a:rPr>
              <a:t>Antonín Koniáš</a:t>
            </a:r>
            <a:endParaRPr lang="cs-CZ" sz="2800" dirty="0">
              <a:solidFill>
                <a:srgbClr val="C00000"/>
              </a:solidFill>
            </a:endParaRPr>
          </a:p>
          <a:p>
            <a:r>
              <a:rPr lang="cs-CZ" sz="2000" dirty="0"/>
              <a:t>- jezuita proslulý pálením zejména českých protestantských knih; psal i české gramatiky</a:t>
            </a:r>
          </a:p>
          <a:p>
            <a:r>
              <a:rPr lang="cs-CZ" sz="2000" b="1" i="1" dirty="0">
                <a:solidFill>
                  <a:srgbClr val="006600"/>
                </a:solidFill>
              </a:rPr>
              <a:t>Klíč kacířské bludy k rozeznání otvírající</a:t>
            </a:r>
            <a:r>
              <a:rPr lang="cs-CZ" sz="2000" dirty="0"/>
              <a:t> – seznam zakázaných knih</a:t>
            </a:r>
          </a:p>
          <a:p>
            <a:pPr marL="342900" indent="-342900" algn="just">
              <a:buFontTx/>
              <a:buChar char="-"/>
            </a:pPr>
            <a:endParaRPr lang="cs-CZ" sz="2000" dirty="0"/>
          </a:p>
          <a:p>
            <a:pPr algn="just"/>
            <a:endParaRPr lang="cs-CZ" sz="2000" dirty="0"/>
          </a:p>
        </p:txBody>
      </p:sp>
    </p:spTree>
    <p:extLst>
      <p:ext uri="{BB962C8B-B14F-4D97-AF65-F5344CB8AC3E}">
        <p14:creationId xmlns:p14="http://schemas.microsoft.com/office/powerpoint/2010/main" val="2758831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298376" y="332656"/>
            <a:ext cx="864096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cs-CZ" sz="4000" b="1" dirty="0">
                <a:solidFill>
                  <a:srgbClr val="FF0000"/>
                </a:solidFill>
              </a:rPr>
              <a:t>Literatura se dělí</a:t>
            </a:r>
            <a:r>
              <a:rPr lang="cs-CZ" sz="4000" b="1" dirty="0">
                <a:solidFill>
                  <a:srgbClr val="C00000"/>
                </a:solidFill>
              </a:rPr>
              <a:t>:</a:t>
            </a:r>
            <a:r>
              <a:rPr lang="cs-CZ" sz="4000" b="1" dirty="0"/>
              <a:t> </a:t>
            </a:r>
          </a:p>
          <a:p>
            <a:pPr marL="342900" lvl="0" indent="-342900">
              <a:buAutoNum type="arabicPeriod"/>
            </a:pPr>
            <a:r>
              <a:rPr lang="cs-CZ" sz="4000" b="1" dirty="0">
                <a:solidFill>
                  <a:srgbClr val="7030A0"/>
                </a:solidFill>
              </a:rPr>
              <a:t>exulantská literatura </a:t>
            </a:r>
            <a:r>
              <a:rPr lang="cs-CZ" sz="4000" dirty="0"/>
              <a:t>(psaná z protihabsburských a protikatolických pozic)</a:t>
            </a:r>
          </a:p>
          <a:p>
            <a:pPr lvl="0"/>
            <a:endParaRPr lang="cs-CZ" sz="4000" dirty="0">
              <a:solidFill>
                <a:srgbClr val="7030A0"/>
              </a:solidFill>
            </a:endParaRPr>
          </a:p>
          <a:p>
            <a:r>
              <a:rPr lang="cs-CZ" sz="4000" b="1" dirty="0">
                <a:solidFill>
                  <a:srgbClr val="FF0000"/>
                </a:solidFill>
              </a:rPr>
              <a:t>2. oficiální domácí literatura </a:t>
            </a:r>
            <a:r>
              <a:rPr lang="cs-CZ" sz="4000" dirty="0"/>
              <a:t>– katolická</a:t>
            </a:r>
          </a:p>
          <a:p>
            <a:endParaRPr lang="cs-CZ" sz="4000" b="1" dirty="0">
              <a:solidFill>
                <a:srgbClr val="00B050"/>
              </a:solidFill>
            </a:endParaRPr>
          </a:p>
          <a:p>
            <a:r>
              <a:rPr lang="cs-CZ" sz="4000" b="1" dirty="0">
                <a:solidFill>
                  <a:srgbClr val="00B050"/>
                </a:solidFill>
              </a:rPr>
              <a:t>3. neoficiální literatura </a:t>
            </a:r>
            <a:r>
              <a:rPr lang="cs-CZ" sz="4000" dirty="0"/>
              <a:t>(lidová, protestantské stanovisko)</a:t>
            </a:r>
          </a:p>
        </p:txBody>
      </p:sp>
    </p:spTree>
    <p:extLst>
      <p:ext uri="{BB962C8B-B14F-4D97-AF65-F5344CB8AC3E}">
        <p14:creationId xmlns:p14="http://schemas.microsoft.com/office/powerpoint/2010/main" val="1967530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7030A0"/>
                </a:solidFill>
              </a:rPr>
              <a:t>Poezie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cs-CZ" b="1" i="1" u="sng" dirty="0">
                <a:solidFill>
                  <a:srgbClr val="7030A0"/>
                </a:solidFill>
              </a:rPr>
              <a:t>a/ duchovní</a:t>
            </a:r>
            <a:endParaRPr lang="cs-CZ" b="1" u="sng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cs-CZ" b="1" dirty="0">
                <a:solidFill>
                  <a:srgbClr val="C00000"/>
                </a:solidFill>
              </a:rPr>
              <a:t>Adam Michna z Otradovic</a:t>
            </a:r>
            <a:endParaRPr lang="cs-CZ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cs-CZ" b="1" dirty="0"/>
              <a:t>- </a:t>
            </a:r>
            <a:r>
              <a:rPr lang="cs-CZ" b="1" i="1" dirty="0">
                <a:solidFill>
                  <a:srgbClr val="006600"/>
                </a:solidFill>
              </a:rPr>
              <a:t>Česká mariánská muzika </a:t>
            </a:r>
            <a:endParaRPr lang="cs-CZ" dirty="0"/>
          </a:p>
          <a:p>
            <a:pPr marL="0" indent="0">
              <a:buNone/>
            </a:pPr>
            <a:r>
              <a:rPr lang="cs-CZ" b="1" dirty="0">
                <a:solidFill>
                  <a:srgbClr val="C00000"/>
                </a:solidFill>
              </a:rPr>
              <a:t>Bedřich </a:t>
            </a:r>
            <a:r>
              <a:rPr lang="cs-CZ" b="1" dirty="0" err="1">
                <a:solidFill>
                  <a:srgbClr val="C00000"/>
                </a:solidFill>
              </a:rPr>
              <a:t>Bridel</a:t>
            </a:r>
            <a:r>
              <a:rPr lang="cs-CZ" b="1" dirty="0">
                <a:solidFill>
                  <a:srgbClr val="C00000"/>
                </a:solidFill>
              </a:rPr>
              <a:t>: </a:t>
            </a:r>
            <a:r>
              <a:rPr lang="cs-CZ" dirty="0"/>
              <a:t> jezuita, psal česky, řídil </a:t>
            </a:r>
          </a:p>
          <a:p>
            <a:pPr marL="0" indent="0">
              <a:buNone/>
            </a:pPr>
            <a:r>
              <a:rPr lang="cs-CZ" dirty="0"/>
              <a:t>tiskárnu v Klementinu</a:t>
            </a:r>
          </a:p>
          <a:p>
            <a:pPr marL="0" indent="0">
              <a:buNone/>
            </a:pPr>
            <a:r>
              <a:rPr lang="cs-CZ" b="1" dirty="0"/>
              <a:t>- </a:t>
            </a:r>
            <a:r>
              <a:rPr lang="cs-CZ" b="1" i="1" dirty="0">
                <a:solidFill>
                  <a:srgbClr val="006600"/>
                </a:solidFill>
              </a:rPr>
              <a:t>Co Bůh? Člověk?</a:t>
            </a:r>
            <a:endParaRPr lang="cs-CZ" i="1" dirty="0">
              <a:solidFill>
                <a:srgbClr val="006600"/>
              </a:solidFill>
            </a:endParaRPr>
          </a:p>
          <a:p>
            <a:pPr lvl="0"/>
            <a:r>
              <a:rPr lang="cs-CZ" dirty="0"/>
              <a:t>v metaforách </a:t>
            </a:r>
            <a:r>
              <a:rPr lang="cs-CZ" b="1" dirty="0"/>
              <a:t>klade do protikladu božskou dokonalost a lidskou nicotu</a:t>
            </a:r>
            <a:r>
              <a:rPr lang="cs-CZ" dirty="0"/>
              <a:t>, hnus, špínu (typické pro celé baroko) </a:t>
            </a:r>
          </a:p>
          <a:p>
            <a:pPr marL="0" indent="0">
              <a:buNone/>
            </a:pPr>
            <a:r>
              <a:rPr lang="cs-CZ" b="1" dirty="0">
                <a:solidFill>
                  <a:srgbClr val="C00000"/>
                </a:solidFill>
              </a:rPr>
              <a:t>Felix </a:t>
            </a:r>
            <a:r>
              <a:rPr lang="cs-CZ" b="1" dirty="0" err="1">
                <a:solidFill>
                  <a:srgbClr val="C00000"/>
                </a:solidFill>
              </a:rPr>
              <a:t>Kadlinský</a:t>
            </a:r>
            <a:endParaRPr lang="cs-CZ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cs-CZ" b="1" dirty="0"/>
              <a:t>- </a:t>
            </a:r>
            <a:r>
              <a:rPr lang="cs-CZ" b="1" i="1" dirty="0" err="1">
                <a:solidFill>
                  <a:srgbClr val="006600"/>
                </a:solidFill>
              </a:rPr>
              <a:t>Zdoroslavíček</a:t>
            </a:r>
            <a:r>
              <a:rPr lang="cs-CZ" dirty="0"/>
              <a:t> –opěvuje Boha pomocí přírody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260648"/>
            <a:ext cx="2381250" cy="314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4205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7030A0"/>
                </a:solidFill>
              </a:rPr>
              <a:t>Poezie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i="1" u="sng" dirty="0">
                <a:solidFill>
                  <a:srgbClr val="7030A0"/>
                </a:solidFill>
              </a:rPr>
              <a:t>b/ světská</a:t>
            </a:r>
            <a:endParaRPr lang="cs-CZ" u="sng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cs-CZ" b="1" dirty="0">
                <a:solidFill>
                  <a:srgbClr val="C00000"/>
                </a:solidFill>
              </a:rPr>
              <a:t>Václav Jan Rosa </a:t>
            </a:r>
            <a:endParaRPr lang="cs-CZ" dirty="0">
              <a:solidFill>
                <a:srgbClr val="C00000"/>
              </a:solidFill>
            </a:endParaRPr>
          </a:p>
          <a:p>
            <a:r>
              <a:rPr lang="cs-CZ" dirty="0"/>
              <a:t>jazykový </a:t>
            </a:r>
            <a:r>
              <a:rPr lang="cs-CZ" b="1" dirty="0"/>
              <a:t>purista</a:t>
            </a:r>
          </a:p>
          <a:p>
            <a:r>
              <a:rPr lang="cs-CZ" b="1" i="1" dirty="0" err="1">
                <a:solidFill>
                  <a:srgbClr val="006600"/>
                </a:solidFill>
              </a:rPr>
              <a:t>Discursus</a:t>
            </a:r>
            <a:r>
              <a:rPr lang="cs-CZ" b="1" i="1" dirty="0">
                <a:solidFill>
                  <a:srgbClr val="006600"/>
                </a:solidFill>
              </a:rPr>
              <a:t> </a:t>
            </a:r>
            <a:r>
              <a:rPr lang="cs-CZ" b="1" i="1" dirty="0" err="1">
                <a:solidFill>
                  <a:srgbClr val="006600"/>
                </a:solidFill>
              </a:rPr>
              <a:t>Lypirona</a:t>
            </a:r>
            <a:r>
              <a:rPr lang="cs-CZ" b="1" i="1" dirty="0">
                <a:solidFill>
                  <a:srgbClr val="006600"/>
                </a:solidFill>
              </a:rPr>
              <a:t> </a:t>
            </a:r>
            <a:r>
              <a:rPr lang="cs-CZ" dirty="0"/>
              <a:t>– rozsáhlá milostná báseň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417046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7030A0"/>
                </a:solidFill>
              </a:rPr>
              <a:t>Drama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dirty="0"/>
              <a:t>vznikalo velké množství </a:t>
            </a:r>
            <a:r>
              <a:rPr lang="cs-CZ" b="1" dirty="0"/>
              <a:t>anonymních her</a:t>
            </a:r>
            <a:r>
              <a:rPr lang="cs-CZ" dirty="0"/>
              <a:t>: </a:t>
            </a:r>
            <a:r>
              <a:rPr lang="cs-CZ" b="1" i="1" dirty="0">
                <a:solidFill>
                  <a:srgbClr val="006600"/>
                </a:solidFill>
              </a:rPr>
              <a:t>Hra o sv. Dorotě</a:t>
            </a:r>
            <a:r>
              <a:rPr lang="cs-CZ" i="1" dirty="0">
                <a:solidFill>
                  <a:srgbClr val="006600"/>
                </a:solidFill>
              </a:rPr>
              <a:t>, </a:t>
            </a:r>
            <a:r>
              <a:rPr lang="cs-CZ" b="1" i="1" dirty="0">
                <a:solidFill>
                  <a:srgbClr val="006600"/>
                </a:solidFill>
              </a:rPr>
              <a:t>Komedie o turecký vojně</a:t>
            </a:r>
            <a:endParaRPr lang="cs-CZ" dirty="0"/>
          </a:p>
          <a:p>
            <a:r>
              <a:rPr lang="cs-CZ" b="1" dirty="0">
                <a:solidFill>
                  <a:srgbClr val="C00000"/>
                </a:solidFill>
              </a:rPr>
              <a:t>Bohuslav Balbín </a:t>
            </a:r>
            <a:r>
              <a:rPr lang="cs-CZ" dirty="0"/>
              <a:t>- jezuita, hlavně teoretik divadla, psal výhradně latinsky</a:t>
            </a:r>
          </a:p>
          <a:p>
            <a:r>
              <a:rPr lang="cs-CZ" b="1" dirty="0">
                <a:solidFill>
                  <a:srgbClr val="C00000"/>
                </a:solidFill>
              </a:rPr>
              <a:t>Václav František Kocmánek</a:t>
            </a:r>
          </a:p>
          <a:p>
            <a:r>
              <a:rPr lang="cs-CZ" b="1" dirty="0">
                <a:solidFill>
                  <a:srgbClr val="7030A0"/>
                </a:solidFill>
              </a:rPr>
              <a:t>interludia</a:t>
            </a:r>
            <a:r>
              <a:rPr lang="cs-CZ" dirty="0"/>
              <a:t> (= kratičký dramatický útvar, ve kterém Kocmánek parodoval tehdejší venkovany; plné frašky, satiry, parodie, vulgarismů)</a:t>
            </a:r>
          </a:p>
          <a:p>
            <a:r>
              <a:rPr lang="cs-CZ" b="1" i="1" dirty="0">
                <a:solidFill>
                  <a:srgbClr val="006600"/>
                </a:solidFill>
              </a:rPr>
              <a:t>Lamentace venkovanů</a:t>
            </a:r>
            <a:endParaRPr lang="cs-CZ" i="1" dirty="0">
              <a:solidFill>
                <a:srgbClr val="006600"/>
              </a:solidFill>
            </a:endParaRP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9996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1140" y="162204"/>
            <a:ext cx="3609052" cy="4994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Obdélník 1"/>
          <p:cNvSpPr/>
          <p:nvPr/>
        </p:nvSpPr>
        <p:spPr>
          <a:xfrm>
            <a:off x="510343" y="5382508"/>
            <a:ext cx="73448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dirty="0">
                <a:effectLst/>
              </a:rPr>
              <a:t> 	</a:t>
            </a:r>
            <a:r>
              <a:rPr lang="cs-CZ" b="1" dirty="0">
                <a:effectLst/>
              </a:rPr>
              <a:t>Bohuslav Balbín – barokní portrét ze Zlatokorunské klášterní školy</a:t>
            </a:r>
          </a:p>
        </p:txBody>
      </p:sp>
    </p:spTree>
    <p:extLst>
      <p:ext uri="{BB962C8B-B14F-4D97-AF65-F5344CB8AC3E}">
        <p14:creationId xmlns:p14="http://schemas.microsoft.com/office/powerpoint/2010/main" val="2839625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b="1" cap="small" dirty="0">
                <a:solidFill>
                  <a:srgbClr val="7030A0"/>
                </a:solidFill>
              </a:rPr>
              <a:t>Historiografická tvorba</a:t>
            </a:r>
            <a:br>
              <a:rPr lang="cs-CZ" dirty="0"/>
            </a:b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b="1" dirty="0">
                <a:solidFill>
                  <a:srgbClr val="C00000"/>
                </a:solidFill>
              </a:rPr>
              <a:t>Bohuslav Balbín</a:t>
            </a:r>
            <a:endParaRPr lang="cs-CZ" dirty="0">
              <a:solidFill>
                <a:srgbClr val="C00000"/>
              </a:solidFill>
            </a:endParaRPr>
          </a:p>
          <a:p>
            <a:r>
              <a:rPr lang="cs-CZ" b="1" i="1" dirty="0">
                <a:solidFill>
                  <a:srgbClr val="006600"/>
                </a:solidFill>
              </a:rPr>
              <a:t>Rozmanitosti z historie království českého:</a:t>
            </a:r>
            <a:r>
              <a:rPr lang="cs-CZ" dirty="0"/>
              <a:t> encyklopedické dílo shromažďuje rozsáhlý vlastivědný materiál</a:t>
            </a:r>
          </a:p>
        </p:txBody>
      </p:sp>
    </p:spTree>
    <p:extLst>
      <p:ext uri="{BB962C8B-B14F-4D97-AF65-F5344CB8AC3E}">
        <p14:creationId xmlns:p14="http://schemas.microsoft.com/office/powerpoint/2010/main" val="551804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b="1" cap="small" dirty="0">
                <a:solidFill>
                  <a:srgbClr val="7030A0"/>
                </a:solidFill>
              </a:rPr>
              <a:t>Filologická tvorba</a:t>
            </a:r>
            <a:br>
              <a:rPr lang="cs-CZ" dirty="0">
                <a:solidFill>
                  <a:srgbClr val="7030A0"/>
                </a:solidFill>
              </a:rPr>
            </a:br>
            <a:endParaRPr lang="cs-CZ" dirty="0">
              <a:solidFill>
                <a:srgbClr val="7030A0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dirty="0">
                <a:solidFill>
                  <a:srgbClr val="7030A0"/>
                </a:solidFill>
              </a:rPr>
              <a:t>puristická</a:t>
            </a:r>
            <a:r>
              <a:rPr lang="cs-CZ" dirty="0"/>
              <a:t> = snaha očistit jazyk, tvořili nová slova </a:t>
            </a:r>
            <a:r>
              <a:rPr lang="cs-CZ" b="1" dirty="0"/>
              <a:t>skládáním</a:t>
            </a:r>
            <a:r>
              <a:rPr lang="cs-CZ" dirty="0"/>
              <a:t> (</a:t>
            </a:r>
            <a:r>
              <a:rPr lang="cs-CZ" dirty="0" err="1"/>
              <a:t>čistonosoplena</a:t>
            </a:r>
            <a:r>
              <a:rPr lang="cs-CZ" dirty="0"/>
              <a:t>), nedocenili </a:t>
            </a:r>
            <a:r>
              <a:rPr lang="cs-CZ" b="1" dirty="0"/>
              <a:t>lepší způsob odvozování</a:t>
            </a:r>
            <a:endParaRPr lang="cs-CZ" dirty="0"/>
          </a:p>
          <a:p>
            <a:r>
              <a:rPr lang="cs-CZ" b="1" dirty="0">
                <a:solidFill>
                  <a:srgbClr val="C00000"/>
                </a:solidFill>
              </a:rPr>
              <a:t>Václav Jan Rosa </a:t>
            </a:r>
          </a:p>
          <a:p>
            <a:pPr marL="0" indent="0">
              <a:buNone/>
            </a:pPr>
            <a:r>
              <a:rPr lang="cs-CZ" b="1" dirty="0"/>
              <a:t>- </a:t>
            </a:r>
            <a:r>
              <a:rPr lang="cs-CZ" b="1" i="1" dirty="0" err="1">
                <a:solidFill>
                  <a:srgbClr val="006600"/>
                </a:solidFill>
              </a:rPr>
              <a:t>Čechořečnost</a:t>
            </a:r>
            <a:r>
              <a:rPr lang="cs-CZ" b="1" i="1" dirty="0">
                <a:solidFill>
                  <a:srgbClr val="006600"/>
                </a:solidFill>
              </a:rPr>
              <a:t> aneb mluvnice jazyka českého</a:t>
            </a:r>
            <a:endParaRPr lang="cs-CZ" i="1" dirty="0">
              <a:solidFill>
                <a:srgbClr val="006600"/>
              </a:solidFill>
            </a:endParaRPr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79304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b="1" cap="small" dirty="0">
                <a:solidFill>
                  <a:srgbClr val="7030A0"/>
                </a:solidFill>
              </a:rPr>
              <a:t>Obranná tvorba</a:t>
            </a:r>
            <a:br>
              <a:rPr lang="cs-CZ" dirty="0">
                <a:solidFill>
                  <a:srgbClr val="7030A0"/>
                </a:solidFill>
              </a:rPr>
            </a:br>
            <a:endParaRPr lang="cs-CZ" dirty="0">
              <a:solidFill>
                <a:srgbClr val="7030A0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dirty="0">
                <a:solidFill>
                  <a:srgbClr val="C00000"/>
                </a:solidFill>
              </a:rPr>
              <a:t>Bohuslav Balbín</a:t>
            </a:r>
            <a:endParaRPr lang="cs-CZ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cs-CZ" b="1" dirty="0"/>
              <a:t>- </a:t>
            </a:r>
            <a:r>
              <a:rPr lang="cs-CZ" b="1" i="1" dirty="0">
                <a:solidFill>
                  <a:srgbClr val="006600"/>
                </a:solidFill>
              </a:rPr>
              <a:t>Rozprava na obranu jazyka slovanského,     zvláště českého</a:t>
            </a:r>
            <a:endParaRPr lang="cs-CZ" i="1" dirty="0">
              <a:solidFill>
                <a:srgbClr val="006600"/>
              </a:solidFill>
            </a:endParaRPr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80736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b="1" cap="small" dirty="0">
                <a:solidFill>
                  <a:srgbClr val="7030A0"/>
                </a:solidFill>
              </a:rPr>
              <a:t>Lidová slovesnost</a:t>
            </a:r>
            <a:br>
              <a:rPr lang="cs-CZ" dirty="0">
                <a:solidFill>
                  <a:srgbClr val="7030A0"/>
                </a:solidFill>
              </a:rPr>
            </a:br>
            <a:endParaRPr lang="cs-CZ" dirty="0">
              <a:solidFill>
                <a:srgbClr val="7030A0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dirty="0">
                <a:solidFill>
                  <a:srgbClr val="7030A0"/>
                </a:solidFill>
              </a:rPr>
              <a:t>písmáci</a:t>
            </a:r>
            <a:r>
              <a:rPr lang="cs-CZ" dirty="0"/>
              <a:t> (= vzdělanější lidé na venkově, venkovští učitelé, ovčáci, rychtáři; psali své paměti, pověsti, lidové písně)</a:t>
            </a:r>
          </a:p>
          <a:p>
            <a:r>
              <a:rPr lang="cs-CZ" b="1" dirty="0">
                <a:solidFill>
                  <a:srgbClr val="C00000"/>
                </a:solidFill>
              </a:rPr>
              <a:t>František Jan Vavák</a:t>
            </a:r>
            <a:r>
              <a:rPr lang="cs-CZ" dirty="0">
                <a:solidFill>
                  <a:srgbClr val="C00000"/>
                </a:solidFill>
              </a:rPr>
              <a:t> </a:t>
            </a:r>
            <a:r>
              <a:rPr lang="cs-CZ" b="1" dirty="0"/>
              <a:t>- </a:t>
            </a:r>
            <a:r>
              <a:rPr lang="cs-CZ" b="1" i="1" dirty="0">
                <a:solidFill>
                  <a:srgbClr val="006600"/>
                </a:solidFill>
              </a:rPr>
              <a:t>Paměti</a:t>
            </a:r>
            <a:endParaRPr lang="cs-CZ" i="1" dirty="0">
              <a:solidFill>
                <a:srgbClr val="006600"/>
              </a:solidFill>
            </a:endParaRP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08702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Kontrolní otázky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Jak se projevovala rekatolizace?</a:t>
            </a:r>
          </a:p>
          <a:p>
            <a:r>
              <a:rPr lang="cs-CZ" dirty="0"/>
              <a:t>Jak se jmenoval jezuita, který proslul pálením zejména českých protestantských knih?</a:t>
            </a:r>
          </a:p>
          <a:p>
            <a:r>
              <a:rPr lang="cs-CZ" dirty="0"/>
              <a:t>Kdo to byl purista?</a:t>
            </a:r>
          </a:p>
          <a:p>
            <a:r>
              <a:rPr lang="cs-CZ" dirty="0"/>
              <a:t>Kdo napsal </a:t>
            </a:r>
            <a:r>
              <a:rPr lang="cs-CZ" i="1" dirty="0"/>
              <a:t>Rozpravu na obranu jazyka slovanského, zvláště českého?</a:t>
            </a:r>
            <a:endParaRPr lang="cs-CZ" dirty="0"/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46410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Seznam obrázků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1600" dirty="0">
                <a:effectLst/>
              </a:rPr>
              <a:t>PRAGENSIS, </a:t>
            </a:r>
            <a:r>
              <a:rPr lang="cs-CZ" sz="1600" dirty="0" err="1">
                <a:effectLst/>
              </a:rPr>
              <a:t>Ioannes</a:t>
            </a:r>
            <a:r>
              <a:rPr lang="cs-CZ" sz="1600" dirty="0">
                <a:effectLst/>
              </a:rPr>
              <a:t>. </a:t>
            </a:r>
            <a:r>
              <a:rPr lang="cs-CZ" sz="1600" i="1" dirty="0" err="1">
                <a:effectLst/>
              </a:rPr>
              <a:t>Wikimedia</a:t>
            </a:r>
            <a:r>
              <a:rPr lang="cs-CZ" sz="1600" i="1" dirty="0">
                <a:effectLst/>
              </a:rPr>
              <a:t> </a:t>
            </a:r>
            <a:r>
              <a:rPr lang="cs-CZ" sz="1600" i="1" dirty="0" err="1">
                <a:effectLst/>
              </a:rPr>
              <a:t>Commons</a:t>
            </a:r>
            <a:r>
              <a:rPr lang="cs-CZ" sz="1600" dirty="0">
                <a:effectLst/>
              </a:rPr>
              <a:t> [online]. [cit. 10.2.2013]. Dostupný na WWW: http://cs.wikipedia.org/wiki/Soubor:Michna_Ceska_maryanska_muzyka.jpg </a:t>
            </a:r>
          </a:p>
          <a:p>
            <a:r>
              <a:rPr lang="cs-CZ" sz="1600" dirty="0">
                <a:effectLst/>
              </a:rPr>
              <a:t>SANDIK. </a:t>
            </a:r>
            <a:r>
              <a:rPr lang="cs-CZ" sz="1600" i="1" dirty="0" err="1">
                <a:effectLst/>
              </a:rPr>
              <a:t>Wikimedia</a:t>
            </a:r>
            <a:r>
              <a:rPr lang="cs-CZ" sz="1600" i="1" dirty="0">
                <a:effectLst/>
              </a:rPr>
              <a:t> </a:t>
            </a:r>
            <a:r>
              <a:rPr lang="cs-CZ" sz="1600" i="1" dirty="0" err="1">
                <a:effectLst/>
              </a:rPr>
              <a:t>Commons</a:t>
            </a:r>
            <a:r>
              <a:rPr lang="cs-CZ" sz="1600" dirty="0">
                <a:effectLst/>
              </a:rPr>
              <a:t> [online]. [cit. 10.2.2013]. Dostupný na WWW: http://cs.wikipedia.org/wiki/Soubor:Balb%C3%ADn.jpg </a:t>
            </a:r>
            <a:endParaRPr lang="cs-CZ" sz="1600" dirty="0"/>
          </a:p>
        </p:txBody>
      </p:sp>
    </p:spTree>
    <p:extLst>
      <p:ext uri="{BB962C8B-B14F-4D97-AF65-F5344CB8AC3E}">
        <p14:creationId xmlns:p14="http://schemas.microsoft.com/office/powerpoint/2010/main" val="436446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Seznam zdrojů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i="1" dirty="0"/>
              <a:t>Česká literatura od počátků k dnešku</a:t>
            </a:r>
            <a:r>
              <a:rPr lang="cs-CZ" dirty="0"/>
              <a:t>. 1. vyd. Praha: Lidové noviny, 1998, 1048 s. ISBN 80-710-6308-8.</a:t>
            </a:r>
          </a:p>
          <a:p>
            <a:r>
              <a:rPr lang="cs-CZ" dirty="0"/>
              <a:t>NEZKUSIL, Vladimír. </a:t>
            </a:r>
            <a:r>
              <a:rPr lang="cs-CZ" i="1" dirty="0"/>
              <a:t>Česká a světová literatura pro 1. ročník středních škol: nejstarší literární památky : počátky českého národního obrození</a:t>
            </a:r>
            <a:r>
              <a:rPr lang="cs-CZ" dirty="0"/>
              <a:t>. 2. vyd. Praha: Fortuna, 2002, 149 s. ISBN 80-716-8653-0.</a:t>
            </a:r>
          </a:p>
        </p:txBody>
      </p:sp>
    </p:spTree>
    <p:extLst>
      <p:ext uri="{BB962C8B-B14F-4D97-AF65-F5344CB8AC3E}">
        <p14:creationId xmlns:p14="http://schemas.microsoft.com/office/powerpoint/2010/main" val="55562277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575</Words>
  <Application>Microsoft Office PowerPoint</Application>
  <PresentationFormat>Předvádění na obrazovce (4:3)</PresentationFormat>
  <Paragraphs>63</Paragraphs>
  <Slides>14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17" baseType="lpstr">
      <vt:lpstr>Arial</vt:lpstr>
      <vt:lpstr>Calibri</vt:lpstr>
      <vt:lpstr>Motiv systému Office</vt:lpstr>
      <vt:lpstr>České baroko</vt:lpstr>
      <vt:lpstr>Prezentace aplikace PowerPoint</vt:lpstr>
      <vt:lpstr>Prezentace aplikace PowerPoint</vt:lpstr>
      <vt:lpstr>Poezie</vt:lpstr>
      <vt:lpstr>Poezie</vt:lpstr>
      <vt:lpstr>Drama</vt:lpstr>
      <vt:lpstr>Prezentace aplikace PowerPoint</vt:lpstr>
      <vt:lpstr>Historiografická tvorba </vt:lpstr>
      <vt:lpstr>Filologická tvorba </vt:lpstr>
      <vt:lpstr>Obranná tvorba </vt:lpstr>
      <vt:lpstr>Lidová slovesnost </vt:lpstr>
      <vt:lpstr>Kontrolní otázky</vt:lpstr>
      <vt:lpstr>Seznam obrázků</vt:lpstr>
      <vt:lpstr>Seznam zdrojů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České baroko</dc:title>
  <dc:creator>uzivatel</dc:creator>
  <cp:lastModifiedBy>Věra Hanáková</cp:lastModifiedBy>
  <cp:revision>9</cp:revision>
  <dcterms:created xsi:type="dcterms:W3CDTF">2013-02-10T17:43:15Z</dcterms:created>
  <dcterms:modified xsi:type="dcterms:W3CDTF">2024-03-13T21:34:24Z</dcterms:modified>
</cp:coreProperties>
</file>