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</p:sldMasterIdLst>
  <p:sldIdLst>
    <p:sldId id="274" r:id="rId3"/>
    <p:sldId id="256" r:id="rId4"/>
    <p:sldId id="267" r:id="rId5"/>
    <p:sldId id="265" r:id="rId6"/>
    <p:sldId id="291" r:id="rId7"/>
    <p:sldId id="277" r:id="rId8"/>
    <p:sldId id="266" r:id="rId9"/>
    <p:sldId id="292" r:id="rId10"/>
    <p:sldId id="282" r:id="rId11"/>
    <p:sldId id="293" r:id="rId12"/>
    <p:sldId id="268" r:id="rId13"/>
    <p:sldId id="294" r:id="rId14"/>
    <p:sldId id="271" r:id="rId15"/>
    <p:sldId id="287" r:id="rId16"/>
    <p:sldId id="289" r:id="rId17"/>
    <p:sldId id="290" r:id="rId18"/>
    <p:sldId id="269" r:id="rId19"/>
    <p:sldId id="278" r:id="rId20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AD296F7A-DF30-47EA-8252-94E32B9D6162}">
          <p14:sldIdLst>
            <p14:sldId id="274"/>
            <p14:sldId id="256"/>
          </p14:sldIdLst>
        </p14:section>
        <p14:section name="Oddíl bez názvu" id="{5F4D1450-347F-4E69-B69C-00CD6BB513F4}">
          <p14:sldIdLst>
            <p14:sldId id="267"/>
            <p14:sldId id="265"/>
            <p14:sldId id="291"/>
            <p14:sldId id="277"/>
            <p14:sldId id="266"/>
            <p14:sldId id="292"/>
            <p14:sldId id="282"/>
            <p14:sldId id="293"/>
            <p14:sldId id="268"/>
            <p14:sldId id="294"/>
            <p14:sldId id="271"/>
            <p14:sldId id="287"/>
            <p14:sldId id="289"/>
            <p14:sldId id="290"/>
            <p14:sldId id="269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559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016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93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827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218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633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319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581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120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264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3950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cs-CZ" smtClean="0"/>
              <a:t>Kliknutím lze upravit styl předlohy.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Obdélník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Obdélník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  <p:sp>
        <p:nvSpPr>
          <p:cNvPr id="12" name="Obdélník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cs-CZ" smtClean="0"/>
              <a:t>Kliknutím na ikonu přidáte obrázek.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11" name="Obdélník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465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Obdélník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B0C87BE-032E-460F-94F4-89FC16D128E4}" type="datetimeFigureOut">
              <a:rPr lang="cs-CZ" smtClean="0"/>
              <a:t>6.1.2014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8A5BD8B-7AAB-4E98-BA97-1F47200CF801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cs.wikipedia.org/wiki/Soubor:Lord_Rama_with_arrows.jpg" TargetMode="External"/><Relationship Id="rId7" Type="http://schemas.openxmlformats.org/officeDocument/2006/relationships/hyperlink" Target="http://cs.wikipedia.org/wiki/Soubor:Representation_of_Laozi.PNG" TargetMode="External"/><Relationship Id="rId2" Type="http://schemas.openxmlformats.org/officeDocument/2006/relationships/hyperlink" Target="http://cs.wikipedia.org/wiki/Soubor:Kurukshetra.jpg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cs.wikipedia.org/wiki/Soubor:Konfuzius.jpg" TargetMode="External"/><Relationship Id="rId5" Type="http://schemas.openxmlformats.org/officeDocument/2006/relationships/hyperlink" Target="http://cs.wikipedia.org/wiki/Soubor:Shi_Jing.jpg" TargetMode="External"/><Relationship Id="rId4" Type="http://schemas.openxmlformats.org/officeDocument/2006/relationships/hyperlink" Target="http://cs.wikipedia.org/wiki/Soubor:Hanuman_taking_Sita's_ring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/>
          <p:cNvPicPr>
            <a:picLocks noGrp="1" noChangeAspect="1" noChangeArrowheads="1"/>
          </p:cNvPicPr>
          <p:nvPr>
            <p:ph type="ctrTitle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24750" y="549275"/>
            <a:ext cx="503238" cy="488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35596" y="1844824"/>
            <a:ext cx="7272808" cy="4392637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ŠKOLA:		Gymnázium, Tanvald, Školní 305, příspěvková 		organizace</a:t>
            </a: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ČÍSLO PROJEKTU:	CZ.1.07/1.5.00/34.0434</a:t>
            </a: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NÁZEV PROJEKTU:	Šablony – Gymnázium Tanvald</a:t>
            </a: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ČÍSLO ŠABLONY:	III/2 Inovace a zkvalitnění výuky prostřednictvím </a:t>
            </a:r>
            <a:r>
              <a:rPr lang="cs-CZ" sz="1400" dirty="0" smtClean="0">
                <a:solidFill>
                  <a:schemeClr val="tx1"/>
                </a:solidFill>
              </a:rPr>
              <a:t>ICT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AUTOR</a:t>
            </a:r>
            <a:r>
              <a:rPr lang="cs-CZ" sz="1400" dirty="0" smtClean="0">
                <a:solidFill>
                  <a:schemeClr val="tx1"/>
                </a:solidFill>
              </a:rPr>
              <a:t>:                                Mgr. Hana KEPROVÁ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TEMATICKÁ OBLAST</a:t>
            </a:r>
            <a:r>
              <a:rPr lang="cs-CZ" sz="1400" dirty="0" smtClean="0">
                <a:solidFill>
                  <a:schemeClr val="tx1"/>
                </a:solidFill>
              </a:rPr>
              <a:t>:        </a:t>
            </a:r>
            <a:r>
              <a:rPr lang="cs-CZ" sz="1400" dirty="0">
                <a:solidFill>
                  <a:schemeClr val="tx1"/>
                </a:solidFill>
              </a:rPr>
              <a:t>ČESKÝ JAZYK</a:t>
            </a:r>
          </a:p>
          <a:p>
            <a:pPr algn="l">
              <a:lnSpc>
                <a:spcPct val="80000"/>
              </a:lnSpc>
            </a:pPr>
            <a:r>
              <a:rPr lang="cs-CZ" sz="1400" dirty="0" smtClean="0">
                <a:solidFill>
                  <a:schemeClr val="tx1"/>
                </a:solidFill>
              </a:rPr>
              <a:t>NÁZEV </a:t>
            </a:r>
            <a:r>
              <a:rPr lang="cs-CZ" sz="1400" dirty="0" err="1">
                <a:solidFill>
                  <a:schemeClr val="tx1"/>
                </a:solidFill>
              </a:rPr>
              <a:t>DUMu</a:t>
            </a:r>
            <a:r>
              <a:rPr lang="cs-CZ" sz="1400" dirty="0" smtClean="0">
                <a:solidFill>
                  <a:schemeClr val="tx1"/>
                </a:solidFill>
              </a:rPr>
              <a:t>:                   Nejstarší památky světa – INDIE, ČÍNA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POŘADOVÉ ČÍSLO </a:t>
            </a:r>
            <a:r>
              <a:rPr lang="cs-CZ" sz="1400" dirty="0" err="1">
                <a:solidFill>
                  <a:schemeClr val="tx1"/>
                </a:solidFill>
              </a:rPr>
              <a:t>DUMu</a:t>
            </a:r>
            <a:r>
              <a:rPr lang="cs-CZ" sz="1400" dirty="0" smtClean="0">
                <a:solidFill>
                  <a:schemeClr val="tx1"/>
                </a:solidFill>
              </a:rPr>
              <a:t>:   7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KÓD </a:t>
            </a:r>
            <a:r>
              <a:rPr lang="cs-CZ" sz="1400" dirty="0" err="1">
                <a:solidFill>
                  <a:schemeClr val="tx1"/>
                </a:solidFill>
              </a:rPr>
              <a:t>DUMu</a:t>
            </a:r>
            <a:r>
              <a:rPr lang="cs-CZ" sz="1400" dirty="0" smtClean="0">
                <a:solidFill>
                  <a:schemeClr val="tx1"/>
                </a:solidFill>
              </a:rPr>
              <a:t>:                        HK_CJ1R_07</a:t>
            </a:r>
          </a:p>
          <a:p>
            <a:pPr algn="l">
              <a:lnSpc>
                <a:spcPct val="80000"/>
              </a:lnSpc>
            </a:pPr>
            <a:r>
              <a:rPr lang="cs-CZ" sz="1400" dirty="0" smtClean="0">
                <a:solidFill>
                  <a:schemeClr val="tx1"/>
                </a:solidFill>
              </a:rPr>
              <a:t>DATUM </a:t>
            </a:r>
            <a:r>
              <a:rPr lang="cs-CZ" sz="1400" dirty="0">
                <a:solidFill>
                  <a:schemeClr val="tx1"/>
                </a:solidFill>
              </a:rPr>
              <a:t>TVORBY</a:t>
            </a:r>
            <a:r>
              <a:rPr lang="cs-CZ" sz="1400" dirty="0" smtClean="0">
                <a:solidFill>
                  <a:schemeClr val="tx1"/>
                </a:solidFill>
              </a:rPr>
              <a:t>:               22.9.2013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ANOTACE (ROČNÍK</a:t>
            </a:r>
            <a:r>
              <a:rPr lang="cs-CZ" sz="1400" dirty="0" smtClean="0">
                <a:solidFill>
                  <a:schemeClr val="tx1"/>
                </a:solidFill>
              </a:rPr>
              <a:t>):         1.ročník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 smtClean="0">
                <a:solidFill>
                  <a:schemeClr val="tx1"/>
                </a:solidFill>
              </a:rPr>
              <a:t>                                              Cílem prezentace je seznámit žáky s nejstaršími památkami staré Indie</a:t>
            </a: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                                              jako jsou Védy</a:t>
            </a:r>
            <a:r>
              <a:rPr lang="cs-CZ" sz="1400" dirty="0" smtClean="0">
                <a:solidFill>
                  <a:schemeClr val="tx1"/>
                </a:solidFill>
              </a:rPr>
              <a:t>, </a:t>
            </a:r>
            <a:r>
              <a:rPr lang="cs-CZ" sz="1400" dirty="0" err="1" smtClean="0">
                <a:solidFill>
                  <a:schemeClr val="tx1"/>
                </a:solidFill>
              </a:rPr>
              <a:t>Rámajána</a:t>
            </a:r>
            <a:r>
              <a:rPr lang="cs-CZ" sz="1400" dirty="0" smtClean="0">
                <a:solidFill>
                  <a:schemeClr val="tx1"/>
                </a:solidFill>
              </a:rPr>
              <a:t>, Mahábhárata či  Bhagavadgíta, s památkami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                                              </a:t>
            </a:r>
            <a:r>
              <a:rPr lang="cs-CZ" sz="1400" dirty="0" smtClean="0">
                <a:solidFill>
                  <a:schemeClr val="tx1"/>
                </a:solidFill>
              </a:rPr>
              <a:t>a osobnostmi staré Číny – Konfucius, </a:t>
            </a:r>
            <a:r>
              <a:rPr lang="cs-CZ" sz="1400" dirty="0" err="1" smtClean="0">
                <a:solidFill>
                  <a:schemeClr val="tx1"/>
                </a:solidFill>
              </a:rPr>
              <a:t>Lao</a:t>
            </a:r>
            <a:r>
              <a:rPr lang="cs-CZ" sz="1400" dirty="0" smtClean="0">
                <a:solidFill>
                  <a:schemeClr val="tx1"/>
                </a:solidFill>
              </a:rPr>
              <a:t>-ć, Kniha proměn.   </a:t>
            </a: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endParaRPr lang="cs-CZ" sz="1400" dirty="0">
              <a:solidFill>
                <a:schemeClr val="tx1"/>
              </a:solidFill>
            </a:endParaRPr>
          </a:p>
          <a:p>
            <a:pPr algn="l">
              <a:lnSpc>
                <a:spcPct val="80000"/>
              </a:lnSpc>
            </a:pPr>
            <a:r>
              <a:rPr lang="cs-CZ" sz="1400" dirty="0">
                <a:solidFill>
                  <a:schemeClr val="tx1"/>
                </a:solidFill>
              </a:rPr>
              <a:t>METODICKÝ </a:t>
            </a:r>
            <a:r>
              <a:rPr lang="cs-CZ" sz="1400">
                <a:solidFill>
                  <a:schemeClr val="tx1"/>
                </a:solidFill>
              </a:rPr>
              <a:t>POKYN</a:t>
            </a:r>
            <a:r>
              <a:rPr lang="cs-CZ" sz="1400" smtClean="0">
                <a:solidFill>
                  <a:schemeClr val="tx1"/>
                </a:solidFill>
              </a:rPr>
              <a:t>:         ---</a:t>
            </a:r>
            <a:endParaRPr lang="cs-CZ" sz="1400" dirty="0">
              <a:solidFill>
                <a:schemeClr val="tx1"/>
              </a:solidFill>
            </a:endParaRPr>
          </a:p>
        </p:txBody>
      </p:sp>
      <p:pic>
        <p:nvPicPr>
          <p:cNvPr id="2052" name="obrázek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60350"/>
            <a:ext cx="5256212" cy="13255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372100" y="319088"/>
            <a:ext cx="544513" cy="596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cs-CZ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cs-CZ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352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20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INDIE A ČÍNA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NEJSTARŠÍ PAMÁTKY SVĚTA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419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INDICKÁ LITERATURA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267944"/>
          </a:xfrm>
        </p:spPr>
        <p:txBody>
          <a:bodyPr>
            <a:normAutofit/>
          </a:bodyPr>
          <a:lstStyle/>
          <a:p>
            <a:r>
              <a:rPr lang="cs-CZ" sz="2400" dirty="0"/>
              <a:t>p</a:t>
            </a:r>
            <a:r>
              <a:rPr lang="cs-CZ" sz="2400" dirty="0" smtClean="0"/>
              <a:t>ovodí řek Indus a Ganga</a:t>
            </a:r>
          </a:p>
          <a:p>
            <a:r>
              <a:rPr lang="cs-CZ" sz="2400" dirty="0" smtClean="0"/>
              <a:t>3000 – 2000 př.n.l.</a:t>
            </a:r>
          </a:p>
          <a:p>
            <a:endParaRPr lang="cs-CZ" sz="2400" dirty="0" smtClean="0"/>
          </a:p>
          <a:p>
            <a:r>
              <a:rPr lang="cs-CZ" sz="2400" b="1" dirty="0" smtClean="0"/>
              <a:t>literatura spojena s náboženstvím</a:t>
            </a:r>
            <a:r>
              <a:rPr lang="cs-CZ" sz="2400" dirty="0" smtClean="0"/>
              <a:t>:</a:t>
            </a:r>
          </a:p>
          <a:p>
            <a:r>
              <a:rPr lang="cs-CZ" sz="2400" dirty="0" smtClean="0"/>
              <a:t>zpočátku: primitivní náboženství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později: bráhmanismus, </a:t>
            </a:r>
            <a:r>
              <a:rPr lang="cs-CZ" sz="2400" dirty="0"/>
              <a:t>hinduismus</a:t>
            </a:r>
            <a:endParaRPr lang="cs-CZ" sz="2400" dirty="0" smtClean="0"/>
          </a:p>
          <a:p>
            <a:pPr marL="118872" indent="0">
              <a:buNone/>
            </a:pPr>
            <a:r>
              <a:rPr lang="cs-CZ" sz="2400" dirty="0" smtClean="0"/>
              <a:t>                      buddhismus, džinismus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           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401838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  INDICKÉ PAMÁTKY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9592" y="1628801"/>
            <a:ext cx="7787208" cy="4772000"/>
          </a:xfrm>
        </p:spPr>
        <p:txBody>
          <a:bodyPr/>
          <a:lstStyle/>
          <a:p>
            <a:pPr marL="118872" indent="0">
              <a:buNone/>
            </a:pPr>
            <a:r>
              <a:rPr lang="cs-CZ" sz="2800" b="1" u="sng" dirty="0" smtClean="0">
                <a:solidFill>
                  <a:schemeClr val="tx2">
                    <a:lumMod val="75000"/>
                  </a:schemeClr>
                </a:solidFill>
              </a:rPr>
              <a:t>VÉDY</a:t>
            </a:r>
          </a:p>
          <a:p>
            <a:pPr marL="118872" indent="0">
              <a:buNone/>
            </a:pPr>
            <a:endParaRPr lang="cs-CZ" sz="2800" b="1" u="sng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cs-CZ" sz="2400" dirty="0" smtClean="0"/>
              <a:t>posvátné knihy vědění</a:t>
            </a:r>
          </a:p>
          <a:p>
            <a:r>
              <a:rPr lang="cs-CZ" sz="2400" dirty="0" smtClean="0"/>
              <a:t>určené původně pro kněží</a:t>
            </a:r>
          </a:p>
          <a:p>
            <a:r>
              <a:rPr lang="cs-CZ" sz="2400" dirty="0" smtClean="0"/>
              <a:t>neznámí autoři</a:t>
            </a:r>
          </a:p>
          <a:p>
            <a:r>
              <a:rPr lang="cs-CZ" sz="2400" dirty="0" smtClean="0"/>
              <a:t>védský jazyk &gt; sanskrt</a:t>
            </a:r>
          </a:p>
          <a:p>
            <a:endParaRPr lang="cs-CZ" sz="2400" dirty="0" smtClean="0"/>
          </a:p>
          <a:p>
            <a:pPr marL="118872" indent="0">
              <a:buNone/>
            </a:pPr>
            <a:r>
              <a:rPr lang="cs-CZ" sz="2400" b="1" dirty="0" smtClean="0"/>
              <a:t>části</a:t>
            </a:r>
            <a:r>
              <a:rPr lang="cs-CZ" sz="2400" dirty="0" smtClean="0"/>
              <a:t>:</a:t>
            </a:r>
          </a:p>
          <a:p>
            <a:r>
              <a:rPr lang="cs-CZ" sz="2400" b="1" dirty="0" smtClean="0">
                <a:solidFill>
                  <a:schemeClr val="tx2">
                    <a:lumMod val="75000"/>
                  </a:schemeClr>
                </a:solidFill>
              </a:rPr>
              <a:t>Bráhmany</a:t>
            </a:r>
          </a:p>
          <a:p>
            <a:r>
              <a:rPr lang="cs-CZ" sz="2400" b="1" dirty="0" smtClean="0">
                <a:solidFill>
                  <a:schemeClr val="tx2">
                    <a:lumMod val="75000"/>
                  </a:schemeClr>
                </a:solidFill>
              </a:rPr>
              <a:t>Upanišady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87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INDICKÉ </a:t>
            </a:r>
            <a:r>
              <a:rPr lang="cs-CZ" dirty="0"/>
              <a:t>PAMÁTKY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988840"/>
            <a:ext cx="7859216" cy="4411960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cs-CZ" sz="2800" b="1" u="sng" dirty="0">
                <a:solidFill>
                  <a:schemeClr val="tx2">
                    <a:lumMod val="75000"/>
                  </a:schemeClr>
                </a:solidFill>
              </a:rPr>
              <a:t>MAHÁBHÁRATA </a:t>
            </a:r>
            <a:r>
              <a:rPr lang="cs-CZ" sz="2800" dirty="0"/>
              <a:t>(4.st.př.n.l.-4.st.n.l</a:t>
            </a:r>
            <a:r>
              <a:rPr lang="cs-CZ" sz="2800" dirty="0" smtClean="0"/>
              <a:t>.)</a:t>
            </a:r>
          </a:p>
          <a:p>
            <a:pPr marL="118872" indent="0">
              <a:buNone/>
            </a:pPr>
            <a:endParaRPr lang="cs-CZ" sz="2800" dirty="0"/>
          </a:p>
          <a:p>
            <a:r>
              <a:rPr lang="cs-CZ" sz="2400" dirty="0" smtClean="0"/>
              <a:t>hrdinský epos</a:t>
            </a:r>
          </a:p>
          <a:p>
            <a:r>
              <a:rPr lang="cs-CZ" sz="2400" dirty="0"/>
              <a:t>110 000 dvojverší</a:t>
            </a:r>
          </a:p>
          <a:p>
            <a:pPr marL="118872" indent="0">
              <a:buNone/>
            </a:pPr>
            <a:endParaRPr lang="cs-CZ" sz="2400" dirty="0"/>
          </a:p>
          <a:p>
            <a:r>
              <a:rPr lang="cs-CZ" sz="2400" dirty="0"/>
              <a:t>boje mezi indickými rody, pohádkové legendy, </a:t>
            </a:r>
            <a:r>
              <a:rPr lang="cs-CZ" sz="2400" dirty="0" smtClean="0"/>
              <a:t>mýty, bajky</a:t>
            </a:r>
            <a:r>
              <a:rPr lang="cs-CZ" sz="2400" dirty="0"/>
              <a:t>, náboženské </a:t>
            </a:r>
            <a:r>
              <a:rPr lang="cs-CZ" sz="2400" dirty="0" smtClean="0"/>
              <a:t>výklady</a:t>
            </a:r>
          </a:p>
          <a:p>
            <a:pPr marL="118872" indent="0">
              <a:buNone/>
            </a:pPr>
            <a:endParaRPr lang="cs-CZ" sz="2800" dirty="0"/>
          </a:p>
          <a:p>
            <a:pPr marL="118872" indent="0">
              <a:buNone/>
            </a:pP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336286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Mahábhárata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800" i="1" dirty="0"/>
              <a:t>Rukodělná ilustrace zachycující bitvu na </a:t>
            </a:r>
            <a:r>
              <a:rPr lang="cs-CZ" sz="1800" i="1" dirty="0" err="1"/>
              <a:t>Kuruovském</a:t>
            </a:r>
            <a:r>
              <a:rPr lang="cs-CZ" sz="1800" i="1" dirty="0"/>
              <a:t> poli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2348880"/>
            <a:ext cx="584835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037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  INDICKÉ PAMÁTKY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775191"/>
            <a:ext cx="7859216" cy="4625609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cs-CZ" sz="2800" b="1" u="sng" dirty="0" smtClean="0">
                <a:solidFill>
                  <a:schemeClr val="tx2">
                    <a:lumMod val="75000"/>
                  </a:schemeClr>
                </a:solidFill>
              </a:rPr>
              <a:t>BHAGAVADGÍTA</a:t>
            </a:r>
            <a:r>
              <a:rPr lang="cs-CZ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marL="118872" indent="0">
              <a:buNone/>
            </a:pPr>
            <a:endParaRPr lang="cs-CZ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cs-CZ" sz="2400" dirty="0" smtClean="0"/>
              <a:t>slavná nábožensko-filosofická píseň</a:t>
            </a:r>
          </a:p>
          <a:p>
            <a:r>
              <a:rPr lang="cs-CZ" sz="2400" dirty="0" smtClean="0"/>
              <a:t>součást Mahábháraty</a:t>
            </a:r>
          </a:p>
          <a:p>
            <a:r>
              <a:rPr lang="cs-CZ" sz="2400" dirty="0" smtClean="0"/>
              <a:t>18 zpěvů z 2.stol.př.n.l.</a:t>
            </a:r>
          </a:p>
          <a:p>
            <a:r>
              <a:rPr lang="cs-CZ" sz="2400" dirty="0" smtClean="0"/>
              <a:t>= jádro hinduismu</a:t>
            </a:r>
          </a:p>
          <a:p>
            <a:r>
              <a:rPr lang="cs-CZ" sz="2400" dirty="0" smtClean="0"/>
              <a:t>poučení o mravnosti</a:t>
            </a:r>
          </a:p>
          <a:p>
            <a:endParaRPr lang="cs-CZ" sz="2400" dirty="0"/>
          </a:p>
          <a:p>
            <a:r>
              <a:rPr lang="cs-CZ" sz="2400" u="sng" dirty="0" smtClean="0"/>
              <a:t>ukázka</a:t>
            </a:r>
            <a:r>
              <a:rPr lang="cs-CZ" sz="2400" dirty="0" smtClean="0"/>
              <a:t>: čítanka s. </a:t>
            </a:r>
            <a:r>
              <a:rPr lang="cs-CZ" sz="2400" smtClean="0"/>
              <a:t>3</a:t>
            </a:r>
            <a:endParaRPr lang="cs-CZ" sz="2400" dirty="0" smtClean="0"/>
          </a:p>
          <a:p>
            <a:endParaRPr lang="cs-CZ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401838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INDICKÉ </a:t>
            </a:r>
            <a:r>
              <a:rPr lang="cs-CZ" dirty="0"/>
              <a:t>PAMÁTKY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1775191"/>
            <a:ext cx="7931224" cy="4625609"/>
          </a:xfrm>
        </p:spPr>
        <p:txBody>
          <a:bodyPr/>
          <a:lstStyle/>
          <a:p>
            <a:pPr marL="118872" indent="0">
              <a:buNone/>
            </a:pPr>
            <a:r>
              <a:rPr lang="cs-CZ" sz="2800" b="1" u="sng" dirty="0">
                <a:solidFill>
                  <a:schemeClr val="tx2">
                    <a:lumMod val="75000"/>
                  </a:schemeClr>
                </a:solidFill>
              </a:rPr>
              <a:t>RÁMAJÁNA</a:t>
            </a:r>
            <a:r>
              <a:rPr lang="cs-CZ" sz="2800" dirty="0"/>
              <a:t> (3.-2.st.př.n.l</a:t>
            </a:r>
            <a:r>
              <a:rPr lang="cs-CZ" sz="2800" dirty="0" smtClean="0"/>
              <a:t>.)</a:t>
            </a:r>
          </a:p>
          <a:p>
            <a:pPr marL="118872" indent="0">
              <a:buNone/>
            </a:pPr>
            <a:endParaRPr lang="cs-CZ" sz="2800" dirty="0"/>
          </a:p>
          <a:p>
            <a:r>
              <a:rPr lang="cs-CZ" sz="2400" dirty="0" err="1"/>
              <a:t>pův</a:t>
            </a:r>
            <a:r>
              <a:rPr lang="cs-CZ" sz="2400" dirty="0"/>
              <a:t>. ústní </a:t>
            </a:r>
            <a:r>
              <a:rPr lang="cs-CZ" sz="2400" dirty="0" smtClean="0"/>
              <a:t>podání</a:t>
            </a:r>
          </a:p>
          <a:p>
            <a:r>
              <a:rPr lang="cs-CZ" sz="2400" dirty="0" smtClean="0"/>
              <a:t>indický národní epos</a:t>
            </a:r>
          </a:p>
          <a:p>
            <a:r>
              <a:rPr lang="cs-CZ" sz="2400" dirty="0" smtClean="0"/>
              <a:t>24 000 dvojverší, 7 dílů chronologicky řazených</a:t>
            </a:r>
            <a:endParaRPr lang="cs-CZ" sz="2400" dirty="0"/>
          </a:p>
          <a:p>
            <a:r>
              <a:rPr lang="cs-CZ" sz="2400" dirty="0"/>
              <a:t>život prince Rámy a věrné </a:t>
            </a:r>
            <a:r>
              <a:rPr lang="cs-CZ" sz="2400" dirty="0" smtClean="0"/>
              <a:t>Síty</a:t>
            </a:r>
          </a:p>
          <a:p>
            <a:r>
              <a:rPr lang="cs-CZ" sz="2400" dirty="0" smtClean="0"/>
              <a:t>(14 let ve vyhnanství → bájná dobrodružství, 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boje s temnými silami)</a:t>
            </a:r>
          </a:p>
          <a:p>
            <a:r>
              <a:rPr lang="cs-CZ" sz="2400" dirty="0" smtClean="0"/>
              <a:t>Síta – vzor věrnosti, ctnosti a bezúhonnosti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000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RÁMA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556792"/>
            <a:ext cx="4038600" cy="4840959"/>
          </a:xfrm>
        </p:spPr>
        <p:txBody>
          <a:bodyPr>
            <a:noAutofit/>
          </a:bodyPr>
          <a:lstStyle/>
          <a:p>
            <a:r>
              <a:rPr lang="cs-CZ" sz="1800" dirty="0" smtClean="0"/>
              <a:t>král, ideální </a:t>
            </a:r>
            <a:r>
              <a:rPr lang="cs-CZ" sz="1800" dirty="0"/>
              <a:t>muž a dokonalý </a:t>
            </a:r>
            <a:r>
              <a:rPr lang="cs-CZ" sz="1800" dirty="0" smtClean="0"/>
              <a:t>člověk</a:t>
            </a:r>
          </a:p>
          <a:p>
            <a:pPr marL="118872" indent="0">
              <a:buNone/>
            </a:pPr>
            <a:endParaRPr lang="cs-CZ" sz="1600" dirty="0" smtClean="0"/>
          </a:p>
          <a:p>
            <a:r>
              <a:rPr lang="cs-CZ" sz="1800" dirty="0" smtClean="0"/>
              <a:t>opičí </a:t>
            </a:r>
            <a:r>
              <a:rPr lang="cs-CZ" sz="1800" dirty="0"/>
              <a:t>přítel </a:t>
            </a:r>
            <a:r>
              <a:rPr lang="cs-CZ" sz="1800" dirty="0" err="1" smtClean="0"/>
              <a:t>Hanumán</a:t>
            </a:r>
            <a:r>
              <a:rPr lang="cs-CZ" sz="1800" dirty="0" smtClean="0"/>
              <a:t> </a:t>
            </a:r>
            <a:r>
              <a:rPr lang="cs-CZ" sz="1800" dirty="0"/>
              <a:t>obdařený mnoha nadpřirozenými </a:t>
            </a:r>
            <a:r>
              <a:rPr lang="cs-CZ" sz="1800" dirty="0" smtClean="0"/>
              <a:t>schopnostmi</a:t>
            </a:r>
          </a:p>
          <a:p>
            <a:pPr marL="118872" indent="0">
              <a:buNone/>
            </a:pPr>
            <a:endParaRPr lang="cs-CZ" sz="1600" dirty="0" smtClean="0"/>
          </a:p>
          <a:p>
            <a:pPr marL="118872" indent="0">
              <a:buNone/>
            </a:pPr>
            <a:r>
              <a:rPr lang="cs-CZ" sz="1600" dirty="0" err="1">
                <a:solidFill>
                  <a:srgbClr val="FF0000"/>
                </a:solidFill>
              </a:rPr>
              <a:t>Hanumán</a:t>
            </a:r>
            <a:r>
              <a:rPr lang="cs-CZ" sz="1600" dirty="0">
                <a:solidFill>
                  <a:srgbClr val="FF0000"/>
                </a:solidFill>
              </a:rPr>
              <a:t> podává Sítě </a:t>
            </a:r>
            <a:r>
              <a:rPr lang="cs-CZ" sz="1600" dirty="0" err="1">
                <a:solidFill>
                  <a:srgbClr val="FF0000"/>
                </a:solidFill>
              </a:rPr>
              <a:t>Rámův</a:t>
            </a:r>
            <a:r>
              <a:rPr lang="cs-CZ" sz="1600" dirty="0">
                <a:solidFill>
                  <a:srgbClr val="FF0000"/>
                </a:solidFill>
              </a:rPr>
              <a:t> prsten  (kamenný reliéf)</a:t>
            </a:r>
          </a:p>
          <a:p>
            <a:endParaRPr lang="cs-CZ" sz="1600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24439"/>
            <a:ext cx="3718690" cy="5341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32480"/>
            <a:ext cx="4311566" cy="32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903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INDICKÉ </a:t>
            </a:r>
            <a:r>
              <a:rPr lang="cs-CZ" dirty="0"/>
              <a:t>PAMÁTKY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1775191"/>
            <a:ext cx="7931224" cy="4625609"/>
          </a:xfrm>
        </p:spPr>
        <p:txBody>
          <a:bodyPr/>
          <a:lstStyle/>
          <a:p>
            <a:pPr marL="118872" indent="0">
              <a:buNone/>
            </a:pPr>
            <a:r>
              <a:rPr lang="cs-CZ" sz="2800" b="1" u="sng" dirty="0">
                <a:solidFill>
                  <a:schemeClr val="tx2">
                    <a:lumMod val="75000"/>
                  </a:schemeClr>
                </a:solidFill>
              </a:rPr>
              <a:t>KÁMASÚTRA (Umění milovat</a:t>
            </a:r>
            <a:r>
              <a:rPr lang="cs-CZ" sz="2800" b="1" u="sng" dirty="0" smtClean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cs-CZ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cs-CZ" sz="2800" dirty="0" smtClean="0"/>
              <a:t>(</a:t>
            </a:r>
            <a:r>
              <a:rPr lang="cs-CZ" sz="2800" dirty="0" err="1" smtClean="0"/>
              <a:t>poč.n.l</a:t>
            </a:r>
            <a:r>
              <a:rPr lang="cs-CZ" sz="2800" dirty="0" smtClean="0"/>
              <a:t>.)</a:t>
            </a:r>
            <a:endParaRPr lang="cs-CZ" sz="2800" u="sng" dirty="0" smtClean="0"/>
          </a:p>
          <a:p>
            <a:pPr marL="118872" indent="0">
              <a:buNone/>
            </a:pPr>
            <a:endParaRPr lang="cs-CZ" sz="2800" b="1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cs-CZ" sz="2400" dirty="0"/>
              <a:t>světské </a:t>
            </a:r>
            <a:r>
              <a:rPr lang="cs-CZ" sz="2400" dirty="0" smtClean="0"/>
              <a:t>dílo</a:t>
            </a:r>
          </a:p>
          <a:p>
            <a:r>
              <a:rPr lang="cs-CZ" sz="2400" dirty="0" smtClean="0"/>
              <a:t>„kniha o rozkoši“</a:t>
            </a:r>
            <a:endParaRPr lang="cs-CZ" sz="2400" dirty="0"/>
          </a:p>
          <a:p>
            <a:r>
              <a:rPr lang="cs-CZ" sz="2400" dirty="0"/>
              <a:t>příručka sexuálního </a:t>
            </a:r>
            <a:r>
              <a:rPr lang="cs-CZ" sz="2400" dirty="0" smtClean="0"/>
              <a:t>života</a:t>
            </a:r>
          </a:p>
          <a:p>
            <a:pPr marL="118872" indent="0">
              <a:buNone/>
            </a:pPr>
            <a:r>
              <a:rPr lang="cs-CZ" sz="2400" dirty="0" smtClean="0"/>
              <a:t>    - vedení domu, hygiena, společenské chování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- milování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- manželství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- prostitutky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- rady (nápoje lásky, …)</a:t>
            </a:r>
            <a:endParaRPr lang="cs-CZ" sz="24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5931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ČÍNSKÁ LITERATURA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2060848"/>
            <a:ext cx="7931224" cy="4339952"/>
          </a:xfrm>
        </p:spPr>
        <p:txBody>
          <a:bodyPr/>
          <a:lstStyle/>
          <a:p>
            <a:r>
              <a:rPr lang="cs-CZ" sz="2400" dirty="0" smtClean="0"/>
              <a:t>povodí Velké a Žluté řeky</a:t>
            </a:r>
          </a:p>
          <a:p>
            <a:r>
              <a:rPr lang="cs-CZ" sz="2400" dirty="0" smtClean="0"/>
              <a:t>vývoj kultury: samostatně, i jazyk a písmo</a:t>
            </a:r>
          </a:p>
          <a:p>
            <a:endParaRPr lang="cs-CZ" sz="2400" dirty="0" smtClean="0"/>
          </a:p>
          <a:p>
            <a:r>
              <a:rPr lang="cs-CZ" sz="2400" dirty="0" smtClean="0"/>
              <a:t>náboženství: konfuciánství</a:t>
            </a:r>
          </a:p>
          <a:p>
            <a:pPr marL="118872" indent="0">
              <a:buNone/>
            </a:pPr>
            <a:r>
              <a:rPr lang="cs-CZ" sz="2400" dirty="0" smtClean="0"/>
              <a:t>                              taoismus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                         ⇓</a:t>
            </a:r>
          </a:p>
          <a:p>
            <a:r>
              <a:rPr lang="cs-CZ" sz="2400" dirty="0" smtClean="0"/>
              <a:t>úcta k autoritám, tradici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421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 ČÍNSKÁ </a:t>
            </a:r>
            <a:r>
              <a:rPr lang="cs-CZ" dirty="0"/>
              <a:t>LITERATURA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988840"/>
            <a:ext cx="7859216" cy="4411960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cs-CZ" sz="2400" b="1" u="sng" dirty="0" smtClean="0">
                <a:solidFill>
                  <a:srgbClr val="C00000"/>
                </a:solidFill>
              </a:rPr>
              <a:t>„PĚT KNIH“</a:t>
            </a:r>
          </a:p>
          <a:p>
            <a:pPr marL="118872" indent="0">
              <a:buNone/>
            </a:pPr>
            <a:endParaRPr lang="cs-CZ" sz="2400" b="1" u="sng" dirty="0" smtClean="0">
              <a:solidFill>
                <a:srgbClr val="C00000"/>
              </a:solidFill>
            </a:endParaRPr>
          </a:p>
          <a:p>
            <a:r>
              <a:rPr lang="cs-CZ" sz="2400" dirty="0" smtClean="0"/>
              <a:t>5 kanonických knih </a:t>
            </a:r>
          </a:p>
          <a:p>
            <a:r>
              <a:rPr lang="cs-CZ" sz="2400" dirty="0" smtClean="0"/>
              <a:t>4 napsal Konfucius</a:t>
            </a:r>
          </a:p>
          <a:p>
            <a:pPr marL="118872" indent="0">
              <a:buNone/>
            </a:pPr>
            <a:endParaRPr lang="cs-CZ" sz="2400" dirty="0" smtClean="0"/>
          </a:p>
          <a:p>
            <a:pPr marL="118872" indent="0">
              <a:buNone/>
            </a:pPr>
            <a:r>
              <a:rPr lang="cs-CZ" sz="2400" dirty="0" smtClean="0"/>
              <a:t>další je </a:t>
            </a:r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KNIHA PROMĚN </a:t>
            </a:r>
            <a:r>
              <a:rPr lang="cs-CZ" sz="2400" dirty="0" smtClean="0">
                <a:solidFill>
                  <a:schemeClr val="tx2">
                    <a:lumMod val="75000"/>
                  </a:schemeClr>
                </a:solidFill>
              </a:rPr>
              <a:t>(3 000 př.n.l.)</a:t>
            </a:r>
          </a:p>
          <a:p>
            <a:pPr marL="118872" indent="0">
              <a:buNone/>
            </a:pPr>
            <a:r>
              <a:rPr lang="cs-CZ" sz="2400" dirty="0" smtClean="0">
                <a:solidFill>
                  <a:schemeClr val="tx2">
                    <a:lumMod val="75000"/>
                  </a:schemeClr>
                </a:solidFill>
              </a:rPr>
              <a:t>              - </a:t>
            </a:r>
            <a:r>
              <a:rPr lang="cs-CZ" sz="2400" dirty="0" smtClean="0"/>
              <a:t>filozofické a věštecké dílo</a:t>
            </a:r>
            <a:endParaRPr lang="cs-CZ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cs-CZ" sz="2800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cs-CZ" sz="2800" b="1" u="sng" dirty="0">
              <a:solidFill>
                <a:schemeClr val="tx2">
                  <a:lumMod val="75000"/>
                </a:schemeClr>
              </a:solidFill>
            </a:endParaRPr>
          </a:p>
          <a:p>
            <a:endParaRPr lang="cs-CZ" sz="2800" dirty="0" smtClean="0"/>
          </a:p>
          <a:p>
            <a:endParaRPr lang="cs-CZ" sz="28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14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  ČÍNSKÁ LITERATURA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2060848"/>
            <a:ext cx="7859216" cy="4339952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KNIHA PÍSNÍ </a:t>
            </a:r>
            <a:r>
              <a:rPr lang="cs-CZ" sz="2400" dirty="0" smtClean="0"/>
              <a:t>(11.-6.st.př.n.l.)</a:t>
            </a:r>
            <a:endParaRPr lang="cs-CZ" sz="2400" b="1" u="sng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cs-CZ" sz="2400" dirty="0" smtClean="0"/>
          </a:p>
          <a:p>
            <a:r>
              <a:rPr lang="cs-CZ" sz="2400" dirty="0" smtClean="0"/>
              <a:t>306 lidových písní a básní</a:t>
            </a:r>
          </a:p>
          <a:p>
            <a:r>
              <a:rPr lang="cs-CZ" sz="2400" dirty="0" smtClean="0"/>
              <a:t>nejstarší sbírka čínské poezie</a:t>
            </a:r>
          </a:p>
          <a:p>
            <a:r>
              <a:rPr lang="cs-CZ" sz="2400" dirty="0" smtClean="0"/>
              <a:t>sestavil ji Konfucius</a:t>
            </a:r>
          </a:p>
          <a:p>
            <a:pPr marL="118872" indent="0">
              <a:buNone/>
            </a:pPr>
            <a:endParaRPr lang="cs-CZ" sz="2400" dirty="0" smtClean="0"/>
          </a:p>
          <a:p>
            <a:r>
              <a:rPr lang="cs-CZ" sz="2400" dirty="0" smtClean="0"/>
              <a:t>písně milostné, svatební, pracovní, písně s mytologickými a náboženskými náměty)</a:t>
            </a:r>
          </a:p>
          <a:p>
            <a:endParaRPr lang="cs-CZ" sz="2400" dirty="0" smtClean="0"/>
          </a:p>
          <a:p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val="314306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Kniha písní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16831"/>
            <a:ext cx="8229600" cy="4483969"/>
          </a:xfrm>
        </p:spPr>
        <p:txBody>
          <a:bodyPr>
            <a:normAutofit/>
          </a:bodyPr>
          <a:lstStyle/>
          <a:p>
            <a:r>
              <a:rPr lang="cs-CZ" sz="1800" i="1" dirty="0" smtClean="0"/>
              <a:t>strana </a:t>
            </a:r>
            <a:r>
              <a:rPr lang="cs-CZ" sz="1800" i="1" dirty="0"/>
              <a:t>z </a:t>
            </a:r>
            <a:r>
              <a:rPr lang="cs-CZ" sz="1800" b="1" i="1" dirty="0"/>
              <a:t>Knihy písní</a:t>
            </a:r>
            <a:r>
              <a:rPr lang="cs-CZ" sz="1800" i="1" dirty="0"/>
              <a:t>, autorem </a:t>
            </a:r>
            <a:r>
              <a:rPr lang="cs-CZ" sz="1800" i="1" dirty="0" smtClean="0"/>
              <a:t>kaligrafie </a:t>
            </a:r>
            <a:r>
              <a:rPr lang="cs-CZ" sz="1800" i="1" dirty="0"/>
              <a:t>je císař </a:t>
            </a:r>
            <a:r>
              <a:rPr lang="cs-CZ" sz="1800" i="1" dirty="0" smtClean="0"/>
              <a:t> </a:t>
            </a:r>
            <a:r>
              <a:rPr lang="cs-CZ" sz="1800" i="1" dirty="0" err="1" smtClean="0"/>
              <a:t>Čchien-lung</a:t>
            </a:r>
            <a:r>
              <a:rPr lang="cs-CZ" sz="1800" i="1" dirty="0" smtClean="0"/>
              <a:t> (1711-1796</a:t>
            </a:r>
            <a:r>
              <a:rPr lang="cs-CZ" sz="1800" i="1" dirty="0"/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920"/>
            <a:ext cx="9144000" cy="369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9671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Konfucius (6.-5.st.př.n.l.)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132856"/>
            <a:ext cx="8003232" cy="4267944"/>
          </a:xfrm>
        </p:spPr>
        <p:txBody>
          <a:bodyPr>
            <a:normAutofit/>
          </a:bodyPr>
          <a:lstStyle/>
          <a:p>
            <a:r>
              <a:rPr lang="cs-CZ" sz="2400" dirty="0" smtClean="0"/>
              <a:t>jeden z nejvlivnějších filosofů</a:t>
            </a:r>
          </a:p>
          <a:p>
            <a:r>
              <a:rPr lang="cs-CZ" sz="2400" dirty="0" smtClean="0"/>
              <a:t>učil: vzdělanosti</a:t>
            </a:r>
          </a:p>
          <a:p>
            <a:pPr marL="118872" indent="0">
              <a:buNone/>
            </a:pPr>
            <a:r>
              <a:rPr lang="cs-CZ" sz="2400" dirty="0" smtClean="0"/>
              <a:t>              písmu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         oddanosti trůnu</a:t>
            </a:r>
          </a:p>
          <a:p>
            <a:pPr marL="118872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         mravnému chování</a:t>
            </a:r>
          </a:p>
          <a:p>
            <a:pPr marL="118872" indent="0">
              <a:buNone/>
            </a:pPr>
            <a:endParaRPr lang="cs-CZ" sz="2400" dirty="0" smtClean="0"/>
          </a:p>
          <a:p>
            <a:pPr marL="118872" indent="0">
              <a:buNone/>
            </a:pPr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HOVORY</a:t>
            </a:r>
            <a:endParaRPr lang="cs-CZ" sz="2400" b="1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cs-CZ" sz="2400" dirty="0" smtClean="0"/>
              <a:t>dialogy Konfucia s jeho žáky</a:t>
            </a:r>
            <a:endParaRPr lang="cs-CZ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964" y="1484784"/>
            <a:ext cx="3192913" cy="537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58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  </a:t>
            </a:r>
            <a:r>
              <a:rPr lang="cs-CZ" dirty="0" err="1" smtClean="0"/>
              <a:t>Lao</a:t>
            </a:r>
            <a:r>
              <a:rPr lang="cs-CZ" dirty="0" smtClean="0"/>
              <a:t>-c´(6.st.př.n.l.)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411960"/>
          </a:xfrm>
        </p:spPr>
        <p:txBody>
          <a:bodyPr>
            <a:normAutofit/>
          </a:bodyPr>
          <a:lstStyle/>
          <a:p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KNIHA O CESTĚ A TAU</a:t>
            </a:r>
          </a:p>
          <a:p>
            <a:endParaRPr lang="cs-CZ" sz="2400" b="1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cs-CZ" sz="2400" dirty="0" smtClean="0"/>
              <a:t>harmonie člověka a přírody</a:t>
            </a:r>
          </a:p>
          <a:p>
            <a:pPr marL="118872" indent="0">
              <a:buNone/>
            </a:pPr>
            <a:endParaRPr lang="cs-CZ" sz="2400" dirty="0" smtClean="0"/>
          </a:p>
          <a:p>
            <a:r>
              <a:rPr lang="cs-CZ" sz="2400" dirty="0" smtClean="0"/>
              <a:t>„nedělání“</a:t>
            </a:r>
          </a:p>
          <a:p>
            <a:r>
              <a:rPr lang="cs-CZ" sz="2400" dirty="0" smtClean="0"/>
              <a:t>proti civilizaci</a:t>
            </a:r>
            <a:endParaRPr lang="cs-CZ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414288"/>
            <a:ext cx="3707904" cy="544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224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  ČÍNSKÁ LITERATURA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9592" y="2132856"/>
            <a:ext cx="7787208" cy="4267944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cs-CZ" sz="2400" b="1" dirty="0" smtClean="0"/>
              <a:t>Básnictví</a:t>
            </a:r>
            <a:r>
              <a:rPr lang="cs-CZ" sz="2400" dirty="0" smtClean="0"/>
              <a:t>:</a:t>
            </a:r>
          </a:p>
          <a:p>
            <a:pPr marL="118872" indent="0">
              <a:buNone/>
            </a:pPr>
            <a:endParaRPr lang="cs-CZ" sz="2400" dirty="0" smtClean="0"/>
          </a:p>
          <a:p>
            <a:r>
              <a:rPr lang="cs-CZ" sz="2400" dirty="0" smtClean="0"/>
              <a:t>vrchol v 7.-10.stol.n.l.</a:t>
            </a:r>
          </a:p>
          <a:p>
            <a:endParaRPr lang="cs-CZ" sz="2400" dirty="0" smtClean="0"/>
          </a:p>
          <a:p>
            <a:pPr marL="118872" indent="0">
              <a:buNone/>
            </a:pPr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LI-PO</a:t>
            </a:r>
            <a:r>
              <a:rPr lang="cs-CZ" sz="2400" dirty="0" smtClean="0"/>
              <a:t> – příroda, volnost, přátelství, víno, …</a:t>
            </a:r>
          </a:p>
          <a:p>
            <a:endParaRPr lang="cs-CZ" sz="2400" dirty="0" smtClean="0"/>
          </a:p>
          <a:p>
            <a:pPr marL="118872" indent="0">
              <a:buNone/>
            </a:pPr>
            <a:r>
              <a:rPr lang="cs-CZ" sz="2400" b="1" u="sng" dirty="0" smtClean="0">
                <a:solidFill>
                  <a:schemeClr val="tx2">
                    <a:lumMod val="75000"/>
                  </a:schemeClr>
                </a:solidFill>
              </a:rPr>
              <a:t>TU-FU</a:t>
            </a:r>
            <a:r>
              <a:rPr lang="cs-CZ" sz="2400" dirty="0" smtClean="0"/>
              <a:t> – krize lidí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267572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ZDROJE: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1600" dirty="0"/>
              <a:t>Sochorová Marie: </a:t>
            </a:r>
            <a:r>
              <a:rPr lang="cs-CZ" sz="1600" i="1" dirty="0"/>
              <a:t>Literatura v kostce pro SŠ</a:t>
            </a:r>
            <a:r>
              <a:rPr lang="cs-CZ" sz="1600" dirty="0"/>
              <a:t>, Fragment, 2007, ISBN </a:t>
            </a:r>
            <a:r>
              <a:rPr lang="cs-CZ" sz="1600" dirty="0" smtClean="0"/>
              <a:t>978-80-253-0652-9</a:t>
            </a:r>
          </a:p>
          <a:p>
            <a:r>
              <a:rPr lang="cs-CZ" sz="1600"/>
              <a:t>Prokop Vladimír: </a:t>
            </a:r>
            <a:r>
              <a:rPr lang="cs-CZ" sz="1600" i="1"/>
              <a:t>Dějiny literatury od starověku do počátku 19.století</a:t>
            </a:r>
            <a:r>
              <a:rPr lang="cs-CZ" sz="1600"/>
              <a:t>, O.K.-Soft, 2003</a:t>
            </a:r>
          </a:p>
          <a:p>
            <a:pPr marL="118872" indent="0">
              <a:buNone/>
            </a:pPr>
            <a:endParaRPr lang="cs-CZ" sz="1600" dirty="0"/>
          </a:p>
          <a:p>
            <a:pPr marL="118872" indent="0">
              <a:buNone/>
            </a:pPr>
            <a:endParaRPr lang="cs-CZ" sz="1600" dirty="0" smtClean="0"/>
          </a:p>
          <a:p>
            <a:endParaRPr lang="cs-CZ" sz="1600" dirty="0"/>
          </a:p>
          <a:p>
            <a:r>
              <a:rPr lang="cs-CZ" sz="1600" dirty="0" smtClean="0"/>
              <a:t>VOLNÉ </a:t>
            </a:r>
            <a:r>
              <a:rPr lang="cs-CZ" sz="1600" dirty="0"/>
              <a:t>DÍLO.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2"/>
              </a:rPr>
              <a:t>http://</a:t>
            </a:r>
            <a:r>
              <a:rPr lang="cs-CZ" sz="1600" dirty="0" smtClean="0">
                <a:hlinkClick r:id="rId2"/>
              </a:rPr>
              <a:t>cs.wikipedia.org/wiki/Soubor:Kurukshetra.jpg</a:t>
            </a:r>
            <a:endParaRPr lang="cs-CZ" sz="1600" dirty="0" smtClean="0"/>
          </a:p>
          <a:p>
            <a:r>
              <a:rPr lang="cs-CZ" sz="1600" dirty="0"/>
              <a:t>VOLNÉ DÍLO.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3"/>
              </a:rPr>
              <a:t>http://</a:t>
            </a:r>
            <a:r>
              <a:rPr lang="cs-CZ" sz="1600" dirty="0" smtClean="0">
                <a:hlinkClick r:id="rId3"/>
              </a:rPr>
              <a:t>cs.wikipedia.org/wiki/Soubor:Lord_Rama_with_arrows.jpg</a:t>
            </a:r>
            <a:endParaRPr lang="cs-CZ" sz="1600" dirty="0" smtClean="0"/>
          </a:p>
          <a:p>
            <a:r>
              <a:rPr lang="cs-CZ" sz="1600" dirty="0" smtClean="0"/>
              <a:t> </a:t>
            </a:r>
            <a:r>
              <a:rPr lang="cs-CZ" sz="1600" dirty="0"/>
              <a:t>BANERJEE, </a:t>
            </a:r>
            <a:r>
              <a:rPr lang="cs-CZ" sz="1600" dirty="0" err="1"/>
              <a:t>Soham</a:t>
            </a:r>
            <a:r>
              <a:rPr lang="cs-CZ" sz="1600" dirty="0"/>
              <a:t>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4"/>
              </a:rPr>
              <a:t>http://</a:t>
            </a:r>
            <a:r>
              <a:rPr lang="cs-CZ" sz="1600" dirty="0" smtClean="0">
                <a:hlinkClick r:id="rId4"/>
              </a:rPr>
              <a:t>cs.wikipedia.org/wiki/Soubor:Hanuman_taking_Sita%27s_ring.jpg</a:t>
            </a:r>
            <a:endParaRPr lang="cs-CZ" sz="1600" dirty="0" smtClean="0"/>
          </a:p>
          <a:p>
            <a:r>
              <a:rPr lang="cs-CZ" sz="1600" dirty="0" smtClean="0"/>
              <a:t>VOLNÉ </a:t>
            </a:r>
            <a:r>
              <a:rPr lang="cs-CZ" sz="1600" dirty="0"/>
              <a:t>DÍLO.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5"/>
              </a:rPr>
              <a:t>http://</a:t>
            </a:r>
            <a:r>
              <a:rPr lang="cs-CZ" sz="1600" dirty="0" smtClean="0">
                <a:hlinkClick r:id="rId5"/>
              </a:rPr>
              <a:t>cs.wikipedia.org/wiki/Soubor:Shi_Jing.jpg</a:t>
            </a:r>
            <a:endParaRPr lang="cs-CZ" sz="1600" dirty="0" smtClean="0"/>
          </a:p>
          <a:p>
            <a:r>
              <a:rPr lang="cs-CZ" sz="1600" dirty="0"/>
              <a:t>VOLNÉ DÍLO.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6"/>
              </a:rPr>
              <a:t>http://</a:t>
            </a:r>
            <a:r>
              <a:rPr lang="cs-CZ" sz="1600" dirty="0" smtClean="0">
                <a:hlinkClick r:id="rId6"/>
              </a:rPr>
              <a:t>cs.wikipedia.org/wiki/Soubor:Konfuzius.jpg</a:t>
            </a:r>
            <a:endParaRPr lang="cs-CZ" sz="1600" dirty="0" smtClean="0"/>
          </a:p>
          <a:p>
            <a:r>
              <a:rPr lang="cs-CZ" sz="1600" dirty="0" smtClean="0"/>
              <a:t> </a:t>
            </a:r>
            <a:r>
              <a:rPr lang="cs-CZ" sz="1600" dirty="0"/>
              <a:t>VOLNÉ DÍLO. </a:t>
            </a:r>
            <a:r>
              <a:rPr lang="cs-CZ" sz="1600" i="1" dirty="0"/>
              <a:t>Wikipedia.cz</a:t>
            </a:r>
            <a:r>
              <a:rPr lang="cs-CZ" sz="1600" dirty="0"/>
              <a:t> [online]. [cit. 3.10.2013]. Dostupný na WWW: </a:t>
            </a:r>
            <a:r>
              <a:rPr lang="cs-CZ" sz="1600" dirty="0">
                <a:hlinkClick r:id="rId7"/>
              </a:rPr>
              <a:t>http://</a:t>
            </a:r>
            <a:r>
              <a:rPr lang="cs-CZ" sz="1600" dirty="0" smtClean="0">
                <a:hlinkClick r:id="rId7"/>
              </a:rPr>
              <a:t>cs.wikipedia.org/wiki/Soubor:Representation_of_Laozi.PNG</a:t>
            </a:r>
            <a:endParaRPr lang="cs-CZ" sz="1600" dirty="0" smtClean="0"/>
          </a:p>
          <a:p>
            <a:endParaRPr lang="cs-CZ" sz="1800" dirty="0" smtClean="0"/>
          </a:p>
          <a:p>
            <a:endParaRPr lang="cs-CZ" sz="1800" dirty="0" smtClean="0"/>
          </a:p>
          <a:p>
            <a:endParaRPr lang="cs-CZ" sz="1800" dirty="0" smtClean="0"/>
          </a:p>
          <a:p>
            <a:endParaRPr lang="cs-CZ" sz="1800" dirty="0" smtClean="0"/>
          </a:p>
          <a:p>
            <a:endParaRPr lang="cs-CZ" dirty="0"/>
          </a:p>
          <a:p>
            <a:pPr marL="118872" indent="0">
              <a:buNone/>
            </a:pPr>
            <a:endParaRPr lang="cs-CZ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1557437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">
  <a:themeElements>
    <a:clrScheme name="Exekutivní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581</Words>
  <Application>Microsoft Office PowerPoint</Application>
  <PresentationFormat>Předvádění na obrazovce (4:3)</PresentationFormat>
  <Paragraphs>154</Paragraphs>
  <Slides>18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0" baseType="lpstr">
      <vt:lpstr>Motiv systému Office</vt:lpstr>
      <vt:lpstr>Modul</vt:lpstr>
      <vt:lpstr>Prezentace aplikace PowerPoint</vt:lpstr>
      <vt:lpstr>INDIE A ČÍNA</vt:lpstr>
      <vt:lpstr> INDICKÁ LITERATURA</vt:lpstr>
      <vt:lpstr>  INDICKÉ PAMÁTKY</vt:lpstr>
      <vt:lpstr>  INDICKÉ PAMÁTKY</vt:lpstr>
      <vt:lpstr>  Mahábhárata</vt:lpstr>
      <vt:lpstr>  INDICKÉ PAMÁTKY</vt:lpstr>
      <vt:lpstr>  INDICKÉ PAMÁTKY</vt:lpstr>
      <vt:lpstr>  RÁMA</vt:lpstr>
      <vt:lpstr>  INDICKÉ PAMÁTKY</vt:lpstr>
      <vt:lpstr>  ČÍNSKÁ LITERATURA</vt:lpstr>
      <vt:lpstr>   ČÍNSKÁ LITERATURA</vt:lpstr>
      <vt:lpstr>  ČÍNSKÁ LITERATURA</vt:lpstr>
      <vt:lpstr>Kniha písní</vt:lpstr>
      <vt:lpstr>  Konfucius (6.-5.st.př.n.l.)</vt:lpstr>
      <vt:lpstr>  Lao-c´(6.st.př.n.l.)</vt:lpstr>
      <vt:lpstr>  ČÍNSKÁ LITERATURA</vt:lpstr>
      <vt:lpstr>ZDROJE: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UZIVATEL</dc:creator>
  <cp:lastModifiedBy>Hana Keprová</cp:lastModifiedBy>
  <cp:revision>49</cp:revision>
  <dcterms:created xsi:type="dcterms:W3CDTF">2013-08-16T12:49:52Z</dcterms:created>
  <dcterms:modified xsi:type="dcterms:W3CDTF">2014-01-06T14:11:05Z</dcterms:modified>
</cp:coreProperties>
</file>