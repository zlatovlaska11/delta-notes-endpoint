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417" autoAdjust="0"/>
  </p:normalViewPr>
  <p:slideViewPr>
    <p:cSldViewPr snapToGrid="0">
      <p:cViewPr>
        <p:scale>
          <a:sx n="70" d="100"/>
          <a:sy n="70" d="100"/>
        </p:scale>
        <p:origin x="11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814B0-97C0-4B78-9F95-CAFDCA507A54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66973-9B54-4F14-ADE3-1F41CA5AF1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9459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1: přirovnání		5: metonymie</a:t>
            </a:r>
          </a:p>
          <a:p>
            <a:r>
              <a:rPr lang="cs-CZ" dirty="0"/>
              <a:t>2: metafora		6: epiteton</a:t>
            </a:r>
          </a:p>
          <a:p>
            <a:r>
              <a:rPr lang="cs-CZ" dirty="0"/>
              <a:t>3: anafora		7: elipsa </a:t>
            </a:r>
          </a:p>
          <a:p>
            <a:r>
              <a:rPr lang="cs-CZ" dirty="0"/>
              <a:t>4: inverze		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66973-9B54-4F14-ADE3-1F41CA5AF12A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9041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1: přirovnání		5: personifikace</a:t>
            </a:r>
          </a:p>
          <a:p>
            <a:r>
              <a:rPr lang="cs-CZ" dirty="0"/>
              <a:t>2: anafora		6: inverze, nebo apostrofa (oslovení </a:t>
            </a:r>
            <a:r>
              <a:rPr lang="cs-CZ"/>
              <a:t>neživé věci)</a:t>
            </a:r>
            <a:endParaRPr lang="cs-CZ" dirty="0"/>
          </a:p>
          <a:p>
            <a:r>
              <a:rPr lang="cs-CZ" dirty="0"/>
              <a:t>3: refrén		7: elipsa </a:t>
            </a:r>
            <a:r>
              <a:rPr lang="cs-CZ" dirty="0" err="1"/>
              <a:t>konstans</a:t>
            </a:r>
            <a:br>
              <a:rPr lang="cs-CZ" dirty="0"/>
            </a:br>
            <a:r>
              <a:rPr lang="cs-CZ" dirty="0"/>
              <a:t>4: (elipsa)		8: rým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66973-9B54-4F14-ADE3-1F41CA5AF12A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8991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AED8E5B-0D98-4FE1-9B26-D1041E3A89F9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C2DCB-466C-4061-8D51-D3254DD77FA1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642357F-39F6-401C-9FF8-3072724998F3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B09B-D413-414E-B13F-B1984CD8FF65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F992-55E7-4B2D-A6F1-8C9243CBFE1B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8110-BAA6-4256-A2E5-BB66A47D261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3892-3343-4E4E-B81B-70A099359AD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2F85-D33A-46AF-9088-5A7400C1018E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EB3A624-F501-46A9-B8CA-4949E24E27C8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59CD-DA3A-463F-AFEF-A68838A6859B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A925-E007-46C2-84AB-35EE10DCAD39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C4D3C1-679D-44D8-8A9C-D402CE4EF569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1C60C6-3E5A-D12A-3FC8-59EAFF4BC2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Básnické prostředky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4F9BD5-90F3-8E9D-9682-FC0C3E0B3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2. A, B</a:t>
            </a:r>
          </a:p>
        </p:txBody>
      </p:sp>
    </p:spTree>
    <p:extLst>
      <p:ext uri="{BB962C8B-B14F-4D97-AF65-F5344CB8AC3E}">
        <p14:creationId xmlns:p14="http://schemas.microsoft.com/office/powerpoint/2010/main" val="289119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584331-8BC3-C61A-C883-599AA1E5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Tropy a figury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62033-BC3D-9CF1-1CBD-9E110B44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textu mají estetickou </a:t>
            </a:r>
            <a:r>
              <a:rPr lang="cs-CZ" dirty="0" err="1"/>
              <a:t>fci</a:t>
            </a:r>
            <a:endParaRPr lang="cs-CZ" dirty="0"/>
          </a:p>
          <a:p>
            <a:r>
              <a:rPr lang="cs-CZ" b="1" dirty="0"/>
              <a:t>Tropy</a:t>
            </a:r>
            <a:r>
              <a:rPr lang="cs-CZ" dirty="0"/>
              <a:t> = „zástupky“, obrat</a:t>
            </a:r>
          </a:p>
          <a:p>
            <a:pPr lvl="1"/>
            <a:r>
              <a:rPr lang="cs-CZ" dirty="0"/>
              <a:t>Založeny na přenášení významu slov</a:t>
            </a:r>
          </a:p>
          <a:p>
            <a:pPr lvl="1"/>
            <a:r>
              <a:rPr lang="cs-CZ" dirty="0"/>
              <a:t>Přenos pojmenování směrem k neobvyklému, objevnému použití</a:t>
            </a:r>
          </a:p>
          <a:p>
            <a:pPr lvl="1"/>
            <a:endParaRPr lang="cs-CZ" dirty="0"/>
          </a:p>
          <a:p>
            <a:r>
              <a:rPr lang="cs-CZ" b="1" dirty="0"/>
              <a:t>Figury</a:t>
            </a:r>
          </a:p>
          <a:p>
            <a:pPr lvl="1"/>
            <a:r>
              <a:rPr lang="cs-CZ" dirty="0"/>
              <a:t>= ornamentální odchylky od obvyklé podoby vět</a:t>
            </a:r>
          </a:p>
        </p:txBody>
      </p:sp>
    </p:spTree>
    <p:extLst>
      <p:ext uri="{BB962C8B-B14F-4D97-AF65-F5344CB8AC3E}">
        <p14:creationId xmlns:p14="http://schemas.microsoft.com/office/powerpoint/2010/main" val="1963254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B54EA-9D6A-85FD-E59F-33A14432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152737"/>
            <a:ext cx="10058400" cy="1371600"/>
          </a:xfrm>
        </p:spPr>
        <p:txBody>
          <a:bodyPr/>
          <a:lstStyle/>
          <a:p>
            <a:r>
              <a:rPr lang="cs-CZ" dirty="0"/>
              <a:t>TROPY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2F04DD-527D-052E-4CED-748E984DB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251857"/>
            <a:ext cx="10559143" cy="5312229"/>
          </a:xfrm>
        </p:spPr>
        <p:txBody>
          <a:bodyPr>
            <a:normAutofit lnSpcReduction="10000"/>
          </a:bodyPr>
          <a:lstStyle/>
          <a:p>
            <a:r>
              <a:rPr lang="cs-CZ" sz="2400" b="1" dirty="0"/>
              <a:t>Metafora</a:t>
            </a:r>
            <a:r>
              <a:rPr lang="cs-CZ" sz="2400" dirty="0"/>
              <a:t> = přenesení pojmenování/významu na základě vnější podobnosti („hlava rodiny“)</a:t>
            </a:r>
          </a:p>
          <a:p>
            <a:pPr lvl="1"/>
            <a:r>
              <a:rPr lang="cs-CZ" sz="2000" b="1" dirty="0"/>
              <a:t>Personifikace</a:t>
            </a:r>
            <a:r>
              <a:rPr lang="cs-CZ" sz="2000" dirty="0"/>
              <a:t> = zosobnění; neživým a abstraktním věcem dává lidské vlastnosti a schopnosti ("přichází jaro")</a:t>
            </a:r>
          </a:p>
          <a:p>
            <a:pPr lvl="1"/>
            <a:r>
              <a:rPr lang="cs-CZ" sz="2000" b="1" dirty="0"/>
              <a:t>Přirovnání</a:t>
            </a:r>
            <a:r>
              <a:rPr lang="cs-CZ" sz="2000" dirty="0"/>
              <a:t>  = vlastnost se vyjadřuje zmíněním něčeho, co má také tuto vlastnost ("je starý jako Metuzalém")</a:t>
            </a:r>
          </a:p>
          <a:p>
            <a:pPr lvl="1"/>
            <a:r>
              <a:rPr lang="cs-CZ" sz="2000" b="1" dirty="0"/>
              <a:t>Epiteton</a:t>
            </a:r>
            <a:r>
              <a:rPr lang="cs-CZ" sz="2000" dirty="0"/>
              <a:t> - umělecký přívlastek, který zdůrazňuje vlastnost, emoci nebo autorův názor</a:t>
            </a:r>
          </a:p>
          <a:p>
            <a:pPr lvl="2"/>
            <a:r>
              <a:rPr lang="cs-CZ" sz="1800" b="1" dirty="0"/>
              <a:t>Epiteton </a:t>
            </a:r>
            <a:r>
              <a:rPr lang="cs-CZ" sz="1800" b="1" dirty="0" err="1"/>
              <a:t>ornans</a:t>
            </a:r>
            <a:r>
              <a:rPr lang="cs-CZ" sz="1800" b="1" dirty="0"/>
              <a:t> </a:t>
            </a:r>
            <a:r>
              <a:rPr lang="cs-CZ" sz="1800" dirty="0"/>
              <a:t>= netypický umělecký přívlastek („stříbrné ticho“)</a:t>
            </a:r>
          </a:p>
          <a:p>
            <a:pPr lvl="2"/>
            <a:r>
              <a:rPr lang="cs-CZ" sz="1800" b="1" dirty="0"/>
              <a:t>Epiteton </a:t>
            </a:r>
            <a:r>
              <a:rPr lang="cs-CZ" sz="1800" b="1" dirty="0" err="1"/>
              <a:t>konstans</a:t>
            </a:r>
            <a:r>
              <a:rPr lang="cs-CZ" sz="1800" b="1" dirty="0"/>
              <a:t> </a:t>
            </a:r>
            <a:r>
              <a:rPr lang="cs-CZ" sz="1800" dirty="0"/>
              <a:t>= typický přívlastek („automatická pračka“)</a:t>
            </a:r>
          </a:p>
          <a:p>
            <a:pPr lvl="1"/>
            <a:r>
              <a:rPr lang="cs-CZ" sz="2000" b="1" dirty="0"/>
              <a:t>Oxymóron</a:t>
            </a:r>
            <a:r>
              <a:rPr lang="cs-CZ" sz="2000" dirty="0"/>
              <a:t> = nelogické spojení dvou protikladných slov ("Svítání na západě")</a:t>
            </a:r>
          </a:p>
          <a:p>
            <a:r>
              <a:rPr lang="cs-CZ" sz="2400" b="1" dirty="0"/>
              <a:t>Metonymie</a:t>
            </a:r>
            <a:r>
              <a:rPr lang="cs-CZ" sz="2400" dirty="0"/>
              <a:t> = přenesení pojmenování/významu na základě vnitřní podobnosti ("posloucháme Beethovena")</a:t>
            </a:r>
          </a:p>
          <a:p>
            <a:pPr lvl="1"/>
            <a:r>
              <a:rPr lang="cs-CZ" sz="2000" b="1" dirty="0"/>
              <a:t>Hyperbola</a:t>
            </a:r>
            <a:r>
              <a:rPr lang="cs-CZ" sz="2000" dirty="0"/>
              <a:t> = záměrné přehánění pro zdůraznění ("sto roků kopal jsem uhlí")</a:t>
            </a:r>
          </a:p>
          <a:p>
            <a:r>
              <a:rPr lang="cs-CZ" sz="2400" b="1" dirty="0"/>
              <a:t>Ironie</a:t>
            </a:r>
            <a:r>
              <a:rPr lang="cs-CZ" sz="2400" dirty="0"/>
              <a:t> = hodnotící pojmenování s použitím slov opačného významu</a:t>
            </a:r>
          </a:p>
        </p:txBody>
      </p:sp>
    </p:spTree>
    <p:extLst>
      <p:ext uri="{BB962C8B-B14F-4D97-AF65-F5344CB8AC3E}">
        <p14:creationId xmlns:p14="http://schemas.microsoft.com/office/powerpoint/2010/main" val="203796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C46DFE-9B77-C347-C008-6CDC7791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Figury opakovací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749529-D033-6993-30E1-A2AF2B900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cs-CZ" sz="2400" b="1" dirty="0"/>
              <a:t>Anafora</a:t>
            </a:r>
            <a:r>
              <a:rPr lang="cs-CZ" sz="2400" dirty="0"/>
              <a:t>: opakování téhož slova/sousloví na začátku sousledných veršů </a:t>
            </a:r>
          </a:p>
          <a:p>
            <a:pPr lvl="1"/>
            <a:r>
              <a:rPr lang="cs-CZ" sz="2400" b="1" dirty="0"/>
              <a:t>Epifora</a:t>
            </a:r>
            <a:r>
              <a:rPr lang="cs-CZ" sz="2400" dirty="0"/>
              <a:t>: opakování téhož slova/sousloví na konci veršů</a:t>
            </a:r>
          </a:p>
          <a:p>
            <a:pPr lvl="1"/>
            <a:r>
              <a:rPr lang="cs-CZ" sz="2400" b="1" dirty="0"/>
              <a:t>Epizeuxis</a:t>
            </a:r>
            <a:r>
              <a:rPr lang="cs-CZ" sz="2400" dirty="0"/>
              <a:t>: opakování téhož slova/sousloví v jednom verši či větě</a:t>
            </a:r>
          </a:p>
          <a:p>
            <a:pPr lvl="1"/>
            <a:r>
              <a:rPr lang="cs-CZ" sz="2400" b="1" dirty="0"/>
              <a:t>Epanastrofa</a:t>
            </a:r>
            <a:r>
              <a:rPr lang="cs-CZ" sz="2400" dirty="0"/>
              <a:t>: opakování slova/sousloví na konci a současně na začátku následujícího verše</a:t>
            </a:r>
          </a:p>
          <a:p>
            <a:pPr lvl="1"/>
            <a:r>
              <a:rPr lang="cs-CZ" sz="2400" b="1" dirty="0"/>
              <a:t>Refrén: </a:t>
            </a:r>
            <a:r>
              <a:rPr lang="cs-CZ" sz="2400" dirty="0"/>
              <a:t>opakování delší části textu nebo celého verše, většinou v pravidelných intervalech (např. po každé sloce)</a:t>
            </a:r>
          </a:p>
          <a:p>
            <a:pPr lvl="1"/>
            <a:r>
              <a:rPr lang="cs-CZ" sz="2400" b="1" dirty="0"/>
              <a:t>Aliterace:</a:t>
            </a:r>
            <a:r>
              <a:rPr lang="cs-CZ" sz="2400" dirty="0"/>
              <a:t> opakování hlásky nebo skupiny hlásek na začátku slov ve verši </a:t>
            </a:r>
            <a:br>
              <a:rPr lang="cs-CZ" sz="2400" dirty="0"/>
            </a:br>
            <a:r>
              <a:rPr lang="cs-CZ" sz="2400" dirty="0"/>
              <a:t>("Pepa papá papriku")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22646418-9676-3483-3657-8F0BF9B91A04}"/>
              </a:ext>
            </a:extLst>
          </p:cNvPr>
          <p:cNvSpPr txBox="1"/>
          <p:nvPr/>
        </p:nvSpPr>
        <p:spPr>
          <a:xfrm>
            <a:off x="8311343" y="992596"/>
            <a:ext cx="297036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lvl="1" indent="0">
              <a:buNone/>
            </a:pPr>
            <a:r>
              <a:rPr lang="cs-CZ" sz="1400" dirty="0"/>
              <a:t>("Smutná odpoledne nedělní</a:t>
            </a:r>
          </a:p>
          <a:p>
            <a:pPr marL="274320" lvl="1" indent="0">
              <a:buNone/>
            </a:pPr>
            <a:r>
              <a:rPr lang="cs-CZ" sz="1400" dirty="0"/>
              <a:t> smutná starými paními")</a:t>
            </a:r>
          </a:p>
          <a:p>
            <a:endParaRPr lang="cs-CZ" dirty="0"/>
          </a:p>
        </p:txBody>
      </p:sp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338134AE-927D-E860-ADA2-955682F71F43}"/>
              </a:ext>
            </a:extLst>
          </p:cNvPr>
          <p:cNvCxnSpPr/>
          <p:nvPr/>
        </p:nvCxnSpPr>
        <p:spPr>
          <a:xfrm flipV="1">
            <a:off x="7794595" y="1740725"/>
            <a:ext cx="843378" cy="2308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ovéPole 7">
            <a:extLst>
              <a:ext uri="{FF2B5EF4-FFF2-40B4-BE49-F238E27FC236}">
                <a16:creationId xmlns:a16="http://schemas.microsoft.com/office/drawing/2014/main" id="{E5D9122A-8745-A8F7-2627-C43E2A0EF320}"/>
              </a:ext>
            </a:extLst>
          </p:cNvPr>
          <p:cNvSpPr txBox="1"/>
          <p:nvPr/>
        </p:nvSpPr>
        <p:spPr>
          <a:xfrm>
            <a:off x="9359653" y="2507428"/>
            <a:ext cx="3531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0" i="0" dirty="0">
                <a:effectLst/>
                <a:latin typeface="Fira Sans" panose="020B0503050000020004" pitchFamily="34" charset="0"/>
              </a:rPr>
              <a:t>("Co to máš na té tkaničce?</a:t>
            </a:r>
          </a:p>
          <a:p>
            <a:r>
              <a:rPr lang="pl-PL" sz="1400" b="0" i="0" dirty="0">
                <a:effectLst/>
                <a:latin typeface="Fira Sans" panose="020B0503050000020004" pitchFamily="34" charset="0"/>
              </a:rPr>
              <a:t> Na krku na té tkaničce!")</a:t>
            </a:r>
            <a:endParaRPr lang="cs-CZ" sz="1400" dirty="0"/>
          </a:p>
        </p:txBody>
      </p:sp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A52F7697-9AD0-8D1D-6824-42F02F568F6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615483" y="2769038"/>
            <a:ext cx="1744170" cy="264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55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91CECB-D94D-0028-150E-9097057A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Figury syntaktické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8422D2-2E92-6DE2-E4D7-9071AD105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2400" b="1" dirty="0"/>
              <a:t>Inverze:</a:t>
            </a:r>
            <a:r>
              <a:rPr lang="cs-CZ" sz="2400" dirty="0"/>
              <a:t> přehození slovosledu</a:t>
            </a:r>
            <a:endParaRPr lang="cs-CZ" sz="2400" b="1" dirty="0"/>
          </a:p>
          <a:p>
            <a:r>
              <a:rPr lang="cs-CZ" sz="2400" b="1" dirty="0"/>
              <a:t>Řečnická otázka</a:t>
            </a:r>
            <a:r>
              <a:rPr lang="cs-CZ" sz="2400" dirty="0"/>
              <a:t>: otázka, na kterou tazatel neočekává odpověď anebo kterou hned sám zodpoví ("Víš, co se mi dnes stalo?")</a:t>
            </a:r>
          </a:p>
          <a:p>
            <a:r>
              <a:rPr lang="cs-CZ" sz="2400" b="1" dirty="0"/>
              <a:t>Elipsa</a:t>
            </a:r>
            <a:r>
              <a:rPr lang="cs-CZ" sz="2400" dirty="0"/>
              <a:t>: vypuštění části věty tak, že si vynechaná slova lze domyslet ("Bude devět, takže jsem pro!")</a:t>
            </a:r>
          </a:p>
          <a:p>
            <a:r>
              <a:rPr lang="cs-CZ" sz="2400" b="1" dirty="0" err="1"/>
              <a:t>Aposiopeze</a:t>
            </a:r>
            <a:r>
              <a:rPr lang="cs-CZ" sz="2400" dirty="0"/>
              <a:t> - nedokončená nebo přerušená výpověď, často značená třemi tečkami ("Proč a proč jsem..., jak to jen říci... Jsou snad muži loupežníci?")</a:t>
            </a:r>
          </a:p>
          <a:p>
            <a:r>
              <a:rPr lang="cs-CZ" sz="2400" b="1" dirty="0"/>
              <a:t>Apostrofa</a:t>
            </a:r>
            <a:r>
              <a:rPr lang="cs-CZ" sz="2400" dirty="0"/>
              <a:t> - oslovení neživé věci nebo nepřítomné osoby ("Hynku! Viléme!! Jarmilo!!!")</a:t>
            </a:r>
          </a:p>
        </p:txBody>
      </p:sp>
    </p:spTree>
    <p:extLst>
      <p:ext uri="{BB962C8B-B14F-4D97-AF65-F5344CB8AC3E}">
        <p14:creationId xmlns:p14="http://schemas.microsoft.com/office/powerpoint/2010/main" val="163840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4FF873-9535-3B6C-965D-96460C11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B3E377-54C7-8344-1A3C-655D61C9E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E5A0351-7F64-F916-E977-A6BF782C2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51" r="52017" b="8373"/>
          <a:stretch/>
        </p:blipFill>
        <p:spPr>
          <a:xfrm rot="10800000">
            <a:off x="-2" y="0"/>
            <a:ext cx="4936028" cy="6935375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EA48DF20-0225-F820-A94F-96BDE605D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340" r="51821" b="55077"/>
          <a:stretch/>
        </p:blipFill>
        <p:spPr>
          <a:xfrm rot="10800000">
            <a:off x="5172074" y="1328394"/>
            <a:ext cx="5457826" cy="5540046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E22DC613-AE0A-8309-BC3A-DA9E1C23AF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39" t="91307" r="57430" b="3620"/>
          <a:stretch/>
        </p:blipFill>
        <p:spPr>
          <a:xfrm rot="10800000">
            <a:off x="5019674" y="0"/>
            <a:ext cx="5610226" cy="145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4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2FC943-33FE-1501-A126-3BFF13CA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3F173E-EA30-BE92-6CC8-7392C0816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0E5EC118-55B2-CD8A-17AA-D622A3DA53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36" t="14167" r="7430" b="63889"/>
          <a:stretch/>
        </p:blipFill>
        <p:spPr>
          <a:xfrm>
            <a:off x="561975" y="911886"/>
            <a:ext cx="11238194" cy="402084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67967F7-8C14-E10C-F1E3-0F2A4490E854}"/>
              </a:ext>
            </a:extLst>
          </p:cNvPr>
          <p:cNvSpPr txBox="1"/>
          <p:nvPr/>
        </p:nvSpPr>
        <p:spPr>
          <a:xfrm>
            <a:off x="78925" y="12477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1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065CC7B-53D3-35BD-5461-392FA16E2688}"/>
              </a:ext>
            </a:extLst>
          </p:cNvPr>
          <p:cNvSpPr txBox="1"/>
          <p:nvPr/>
        </p:nvSpPr>
        <p:spPr>
          <a:xfrm>
            <a:off x="78925" y="2247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2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546CFA2E-5FDC-F280-09C1-754AB52189DA}"/>
              </a:ext>
            </a:extLst>
          </p:cNvPr>
          <p:cNvSpPr txBox="1"/>
          <p:nvPr/>
        </p:nvSpPr>
        <p:spPr>
          <a:xfrm>
            <a:off x="78925" y="30787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3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BA1CB78D-0097-98BC-2499-A9A8FE0F1FBD}"/>
              </a:ext>
            </a:extLst>
          </p:cNvPr>
          <p:cNvSpPr txBox="1"/>
          <p:nvPr/>
        </p:nvSpPr>
        <p:spPr>
          <a:xfrm>
            <a:off x="46950" y="405610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4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22B16A83-C3B2-1FEA-AD63-CAA9BE41B2DC}"/>
              </a:ext>
            </a:extLst>
          </p:cNvPr>
          <p:cNvSpPr txBox="1"/>
          <p:nvPr/>
        </p:nvSpPr>
        <p:spPr>
          <a:xfrm>
            <a:off x="11487263" y="12477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A2A62869-0F7E-07FC-FE1D-4AC24A73B793}"/>
              </a:ext>
            </a:extLst>
          </p:cNvPr>
          <p:cNvSpPr txBox="1"/>
          <p:nvPr/>
        </p:nvSpPr>
        <p:spPr>
          <a:xfrm>
            <a:off x="11487263" y="214935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0807AE8B-B446-2599-5C14-E3158B1BCE3C}"/>
              </a:ext>
            </a:extLst>
          </p:cNvPr>
          <p:cNvSpPr txBox="1"/>
          <p:nvPr/>
        </p:nvSpPr>
        <p:spPr>
          <a:xfrm>
            <a:off x="11473572" y="304895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F961AE6D-D439-8DE7-D107-399A2898D468}"/>
              </a:ext>
            </a:extLst>
          </p:cNvPr>
          <p:cNvSpPr txBox="1"/>
          <p:nvPr/>
        </p:nvSpPr>
        <p:spPr>
          <a:xfrm>
            <a:off x="11497137" y="396997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8</a:t>
            </a:r>
          </a:p>
        </p:txBody>
      </p:sp>
      <p:cxnSp>
        <p:nvCxnSpPr>
          <p:cNvPr id="15" name="Přímá spojnice 14">
            <a:extLst>
              <a:ext uri="{FF2B5EF4-FFF2-40B4-BE49-F238E27FC236}">
                <a16:creationId xmlns:a16="http://schemas.microsoft.com/office/drawing/2014/main" id="{08ECB4C4-22E7-173D-6F9A-F19DD223DFE1}"/>
              </a:ext>
            </a:extLst>
          </p:cNvPr>
          <p:cNvCxnSpPr/>
          <p:nvPr/>
        </p:nvCxnSpPr>
        <p:spPr>
          <a:xfrm>
            <a:off x="729343" y="3969979"/>
            <a:ext cx="1948543" cy="4554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899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46</TotalTime>
  <Words>461</Words>
  <Application>Microsoft Office PowerPoint</Application>
  <PresentationFormat>Širokoúhlá obrazovka</PresentationFormat>
  <Paragraphs>55</Paragraphs>
  <Slides>7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Fira Sans</vt:lpstr>
      <vt:lpstr>Savon</vt:lpstr>
      <vt:lpstr>Básnické prostředky</vt:lpstr>
      <vt:lpstr>Tropy a figury</vt:lpstr>
      <vt:lpstr>TROPY</vt:lpstr>
      <vt:lpstr>Figury opakovací</vt:lpstr>
      <vt:lpstr>Figury syntaktické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Básnické prostředky</dc:title>
  <dc:creator>Dana Brandejská</dc:creator>
  <cp:lastModifiedBy>Dana Brandejská</cp:lastModifiedBy>
  <cp:revision>50</cp:revision>
  <dcterms:created xsi:type="dcterms:W3CDTF">2023-09-18T09:37:15Z</dcterms:created>
  <dcterms:modified xsi:type="dcterms:W3CDTF">2023-09-18T10:41:25Z</dcterms:modified>
</cp:coreProperties>
</file>