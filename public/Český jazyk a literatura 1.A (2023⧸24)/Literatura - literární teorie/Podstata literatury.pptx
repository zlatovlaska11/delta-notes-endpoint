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73241" autoAdjust="0"/>
  </p:normalViewPr>
  <p:slideViewPr>
    <p:cSldViewPr snapToGrid="0">
      <p:cViewPr varScale="1">
        <p:scale>
          <a:sx n="63" d="100"/>
          <a:sy n="63" d="100"/>
        </p:scale>
        <p:origin x="14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804C88-BB1C-4D38-B10E-CFCE9F4FC1BE}" type="datetimeFigureOut">
              <a:rPr lang="cs-CZ" smtClean="0"/>
              <a:t>13.09.2023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ABEC27-731F-48BF-9996-22FA5EACDAA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44097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ever.rozhlas.cz/frantisek-xaver-salda-zakladatel-ceske-literarni-kritiky-se-narodil-v-liberci-9065636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cs-CZ" dirty="0">
                <a:hlinkClick r:id="rId3"/>
              </a:rPr>
              <a:t>https://sever.rozhlas.cz/frantisek-xaver-salda-zakladatel-ceske-literarni-kritiky-se-narodil-v-liberci-9065636</a:t>
            </a:r>
            <a:endParaRPr lang="cs-CZ" dirty="0"/>
          </a:p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ABEC27-731F-48BF-9996-22FA5EACDAAE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084610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D284A420-F50C-4C2C-B88E-E6F4EF504B6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93A6D2E-5228-4998-9E24-EFCCA024675E}"/>
              </a:ext>
            </a:extLst>
          </p:cNvPr>
          <p:cNvSpPr/>
          <p:nvPr/>
        </p:nvSpPr>
        <p:spPr>
          <a:xfrm>
            <a:off x="0" y="-2"/>
            <a:ext cx="12188952" cy="3567547"/>
          </a:xfrm>
          <a:prstGeom prst="rect">
            <a:avLst/>
          </a:prstGeom>
          <a:ln>
            <a:noFill/>
          </a:ln>
          <a:effectLst>
            <a:outerShdw blurRad="228600" dist="152400" dir="5460000" sx="95000" sy="95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9D878C-9930-44AF-AE18-FCA0DAE10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1802" y="852055"/>
            <a:ext cx="10380572" cy="2581463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2D608-1F8D-47BB-B595-43B7BEACA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802" y="3754582"/>
            <a:ext cx="10380572" cy="2244436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D3C1DA-DAC9-422B-9450-54A7E03B3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1EE12-F28E-4B03-A404-A8FCAE0F6316}" type="datetime1">
              <a:rPr lang="en-US" smtClean="0"/>
              <a:t>9/13/2023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39A2B9-3E23-4C08-A5CE-698861210A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2E61E-26F7-4369-8F2F-6D3CDF644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ADB48DB-8E25-4F2F-8C02-5B793937255F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32BA7E3-7313-49C8-A245-A85BDEB13EB3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97669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62CCA-8D32-44C3-809A-54D0245B8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689041-349C-49F8-B155-6F5862873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750126"/>
            <a:ext cx="10381205" cy="32617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5E088-72B1-425B-B53B-81B134826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2799E-EB8E-4038-8063-81BB57C732D4}" type="datetime1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180451-8BF9-48B2-8E6A-9E15C8335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8196E-3A76-4417-BFD8-4400D16E0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6238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CFB183B-99B9-4420-AB2D-07056851052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6DF62B9-1876-4EEB-929D-B46F98265E34}"/>
              </a:ext>
            </a:extLst>
          </p:cNvPr>
          <p:cNvSpPr/>
          <p:nvPr/>
        </p:nvSpPr>
        <p:spPr>
          <a:xfrm>
            <a:off x="0" y="-2"/>
            <a:ext cx="12192000" cy="3862064"/>
          </a:xfrm>
          <a:prstGeom prst="rect">
            <a:avLst/>
          </a:prstGeom>
          <a:ln>
            <a:noFill/>
          </a:ln>
          <a:effectLst>
            <a:outerShdw blurRad="203200" dist="127000" dir="5460000" sx="96000" sy="96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5F0E4DD-839A-4BD2-B5FA-FF319E87D037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7692C2FB-E558-4132-AAF5-EFCED014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2056"/>
            <a:ext cx="10380572" cy="257694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A20424-DA4E-467F-AC0A-D44192A54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7" y="4202832"/>
            <a:ext cx="10395116" cy="178926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39F9C-ADA9-4225-9D74-193A8894ED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217A73C3-B243-44D3-809D-EF8FDFBD85D4}" type="datetime1">
              <a:rPr lang="en-US" smtClean="0"/>
              <a:t>9/13/2023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57DEC-B96B-4D69-8B62-5156FDA6D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F4AC1-9934-43DC-B9AC-322612A74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BDA60A-39CD-41D4-8AE5-0FB7FD78559C}"/>
              </a:ext>
            </a:extLst>
          </p:cNvPr>
          <p:cNvCxnSpPr>
            <a:cxnSpLocks/>
          </p:cNvCxnSpPr>
          <p:nvPr/>
        </p:nvCxnSpPr>
        <p:spPr>
          <a:xfrm>
            <a:off x="11668155" y="852056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487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CAF84-4A19-4D9A-9B82-46BCBED4F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A373DD-26AC-4E69-A17C-538D9C7C68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61800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D30C23-A75F-45DF-BCCF-760C533AC7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7092" y="2833255"/>
            <a:ext cx="5045281" cy="3165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2C3974-73EC-4F1B-9E92-0E279ABEE5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C9B6D3E3-28E2-4380-A113-67698215C5F8}" type="datetime1">
              <a:rPr lang="en-US" smtClean="0"/>
              <a:t>9/13/2023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70B3F2-3F28-42A3-9701-A6F01F1B1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E7A2FC-50E7-4972-9F28-E3AC4EF93D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4178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65F85-77E6-4F6D-9FFA-5D76201B1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2" y="872836"/>
            <a:ext cx="10380572" cy="14270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C0DAE-58D1-45D9-9FC4-B0864E332C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801" y="2713326"/>
            <a:ext cx="5023424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1E63D7-9812-4EA1-A0A2-14D974311F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1801" y="3706091"/>
            <a:ext cx="5023424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C5055B-04A0-47D3-90ED-135025F857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94211" y="2713326"/>
            <a:ext cx="5048163" cy="823912"/>
          </a:xfrm>
        </p:spPr>
        <p:txBody>
          <a:bodyPr anchor="b">
            <a:normAutofit/>
          </a:bodyPr>
          <a:lstStyle>
            <a:lvl1pPr marL="0" indent="0">
              <a:buNone/>
              <a:defRPr sz="2400" b="0" i="1" u="none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936E6E-8F64-49E6-B57C-86CF92D168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94211" y="3706091"/>
            <a:ext cx="5048163" cy="2334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FFBEAD-2827-40DA-8338-2D691325F1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32481" y="6236208"/>
            <a:ext cx="3037459" cy="365125"/>
          </a:xfrm>
        </p:spPr>
        <p:txBody>
          <a:bodyPr/>
          <a:lstStyle/>
          <a:p>
            <a:fld id="{A9EFCB61-04AD-47C9-BF79-2BD8B9CEC07A}" type="datetime1">
              <a:rPr lang="en-US" smtClean="0"/>
              <a:t>9/13/2023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F34B88D-9C6E-4A88-985C-3ED5057A1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2481" y="237744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0B6A32-2D15-425F-B6A9-146AFB5C1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9782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24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1B7C-9BD5-4CF8-BAEB-A6CB78DA2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85F1D3-3353-4FC6-8854-51B0BFFD6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35E0C-D585-492F-8146-7493F4086301}" type="datetime1">
              <a:rPr lang="en-US" smtClean="0"/>
              <a:t>9/13/2023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226CE6-6BEB-46DB-BD4B-9B8AE89A1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81BCCC-8B3F-40B3-91D5-52E53B2AA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9959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2C0FBB6-4CCA-4358-9DD5-CDF2173E63C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02559A-671A-4FDE-82C3-1CF8CFCF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E48390-48B5-49AB-B019-A7C8FB8C31F6}" type="datetime1">
              <a:rPr lang="en-US" smtClean="0"/>
              <a:t>9/13/2023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8A14275-250D-437E-BAF1-5BB3CDE64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D93BDE-2A52-4AA7-B222-0F25570EB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E6B771E-DDF7-430C-9462-BA1D3742C84E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438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DF9A0B00-F6ED-4C3A-97DC-C2AF9D62EE8B}"/>
              </a:ext>
            </a:extLst>
          </p:cNvPr>
          <p:cNvSpPr/>
          <p:nvPr/>
        </p:nvSpPr>
        <p:spPr>
          <a:xfrm>
            <a:off x="79067" y="0"/>
            <a:ext cx="4998624" cy="6858000"/>
          </a:xfrm>
          <a:prstGeom prst="rect">
            <a:avLst/>
          </a:prstGeom>
          <a:ln>
            <a:noFill/>
          </a:ln>
          <a:effectLst>
            <a:outerShdw blurRad="228600" dist="1143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3" name="Rectangle 122">
            <a:extLst>
              <a:ext uri="{FF2B5EF4-FFF2-40B4-BE49-F238E27FC236}">
                <a16:creationId xmlns:a16="http://schemas.microsoft.com/office/drawing/2014/main" id="{3B025FD9-B9EF-4F5C-B67D-3485253B7A6A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7F545CD-A200-4C66-BF9A-9B839D0CE648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110916-EEE9-418C-B24A-EC09A6D22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537" y="872836"/>
            <a:ext cx="4560525" cy="2281050"/>
          </a:xfrm>
        </p:spPr>
        <p:txBody>
          <a:bodyPr anchor="b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3A0F4-FD98-409E-B41A-5F4352C6A8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1781" y="872837"/>
            <a:ext cx="4520593" cy="5140036"/>
          </a:xfrm>
        </p:spPr>
        <p:txBody>
          <a:bodyPr>
            <a:normAutofit/>
          </a:bodyPr>
          <a:lstStyle>
            <a:lvl1pPr algn="l">
              <a:defRPr sz="2800"/>
            </a:lvl1pPr>
            <a:lvl2pPr algn="l">
              <a:defRPr sz="2400"/>
            </a:lvl2pPr>
            <a:lvl3pPr algn="l">
              <a:defRPr sz="2000"/>
            </a:lvl3pPr>
            <a:lvl4pPr algn="l">
              <a:defRPr sz="1800"/>
            </a:lvl4pPr>
            <a:lvl5pPr algn="l"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FABF6F-6E7C-4B3F-B205-09361DA589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70537" y="3442854"/>
            <a:ext cx="4560525" cy="257694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25198D-8500-4277-AA5D-3C3D8FDDC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962E767E-8A14-4E70-91B9-2101CBC4D7BD}" type="datetime1">
              <a:rPr lang="en-US" smtClean="0"/>
              <a:t>9/13/2023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8D219F-027A-4632-9FB0-BD098D569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792532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30C82B-C7DC-434D-8768-DE9D11767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A8CCC603-9605-46C8-9034-8DAE6AC40DD9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CBBF1D9-8F8F-45A3-BDB4-952D0FB20A4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9753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2" name="Rectangle 71">
            <a:extLst>
              <a:ext uri="{FF2B5EF4-FFF2-40B4-BE49-F238E27FC236}">
                <a16:creationId xmlns:a16="http://schemas.microsoft.com/office/drawing/2014/main" id="{CBEB8797-B080-41A6-B14E-8DC7F0F27E4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0C6C7272-A552-46B3-992F-F5ADD5AA2443}"/>
              </a:ext>
            </a:extLst>
          </p:cNvPr>
          <p:cNvSpPr/>
          <p:nvPr/>
        </p:nvSpPr>
        <p:spPr>
          <a:xfrm>
            <a:off x="-1" y="0"/>
            <a:ext cx="6087677" cy="68580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dist="152400" dir="21540000" sx="96000" sy="96000" algn="t" rotWithShape="0">
              <a:srgbClr val="000000">
                <a:alpha val="1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5F6AD1-1E6C-46AF-8431-6627180FFD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733" y="858981"/>
            <a:ext cx="4556749" cy="2281052"/>
          </a:xfrm>
        </p:spPr>
        <p:txBody>
          <a:bodyPr anchor="b"/>
          <a:lstStyle>
            <a:lvl1pPr>
              <a:def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8A91F9-760E-4CF4-8A03-FA1482C35E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59826" y="865909"/>
            <a:ext cx="4582548" cy="512618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9A9D5-BA6E-4C4A-88A0-5BB86958B8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733" y="3429000"/>
            <a:ext cx="4556749" cy="2590800"/>
          </a:xfrm>
        </p:spPr>
        <p:txBody>
          <a:bodyPr/>
          <a:lstStyle>
            <a:lvl1pPr marL="0" indent="0">
              <a:buNone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6899E-70A1-4EFB-87EC-6C4F3BC036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01AF0C4B-5A4A-45CA-ABEC-10F107160D33}" type="datetime1">
              <a:rPr lang="en-US" smtClean="0"/>
              <a:t>9/13/2023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C34B05-4931-4BC8-BD43-9E6B944B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ABE5D-7EA4-4D33-B23E-52E640CBF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DF0DB5EA-94EC-4DB5-B8E5-B454005C1552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99FF82-B951-46E6-AEA7-0993C867FB6D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38990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4F69F7-12D5-40F0-88F0-33D60AEB0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65BB511-E79D-41D8-AF91-14A5C803FC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705DFA-4DAF-4B30-8032-503081AEA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8B8189-0D9C-48A6-9FA3-862227B094CE}" type="datetime1">
              <a:rPr lang="en-US" smtClean="0"/>
              <a:t>9/13/2023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34FBF5-16C0-46A0-916A-4910C1B61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626EA6-7E48-454C-887A-0EF3356F9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676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312BAB-A07B-4FEA-8EB5-A7BD8B24C6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45A432-7E52-48B5-A8BB-13EED592E35A}"/>
              </a:ext>
            </a:extLst>
          </p:cNvPr>
          <p:cNvSpPr/>
          <p:nvPr/>
        </p:nvSpPr>
        <p:spPr>
          <a:xfrm>
            <a:off x="7813964" y="0"/>
            <a:ext cx="4378036" cy="6858000"/>
          </a:xfrm>
          <a:prstGeom prst="rect">
            <a:avLst/>
          </a:prstGeom>
          <a:ln>
            <a:noFill/>
          </a:ln>
          <a:effectLst>
            <a:outerShdw blurRad="254000" dist="152400" dir="10680000" sx="95000" sy="95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56288B6-16BD-4DEE-9187-C78963ED1D8A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F9259F7B-ED77-4251-A424-93712C6F57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139544" y="872836"/>
            <a:ext cx="2521527" cy="5119256"/>
          </a:xfrm>
        </p:spPr>
        <p:txBody>
          <a:bodyPr vert="eaVert"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295692-9BD0-4EB9-B344-9A6945DB0B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6746" y="872836"/>
            <a:ext cx="6634169" cy="51192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128527-7CED-4CF3-A260-649685D2E6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29184" y="6236208"/>
            <a:ext cx="3037459" cy="365125"/>
          </a:xfrm>
        </p:spPr>
        <p:txBody>
          <a:bodyPr/>
          <a:lstStyle/>
          <a:p>
            <a:fld id="{26ADDCAE-6443-42C3-9C19-F95985500186}" type="datetime1">
              <a:rPr lang="en-US" smtClean="0"/>
              <a:t>9/13/2023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17F65-E517-4B50-B559-FD7D59F3E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9184" y="237744"/>
            <a:ext cx="35814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ED40B7-46EE-49D9-BE89-7E101F80A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92840" y="237744"/>
            <a:ext cx="756746" cy="365760"/>
          </a:xfrm>
        </p:spPr>
        <p:txBody>
          <a:bodyPr/>
          <a:lstStyle/>
          <a:p>
            <a:fld id="{B4A918BC-4D43-4B42-B3C0-E7EBE25E6AF0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05031BF-2EA5-4128-B6AF-2D0F5A101095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361537" y="12077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81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38E7D36-B1C9-463C-983F-AEA5810A60D0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B9A221-B33F-47C2-85FF-2C8F363D797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D0E0EF1-7626-4514-9337-271DD661B1E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5F0B1492-9A00-4F80-8771-0BB2C2C4353C}"/>
              </a:ext>
            </a:extLst>
          </p:cNvPr>
          <p:cNvSpPr/>
          <p:nvPr/>
        </p:nvSpPr>
        <p:spPr>
          <a:xfrm>
            <a:off x="0" y="-2"/>
            <a:ext cx="12188952" cy="2544415"/>
          </a:xfrm>
          <a:prstGeom prst="rect">
            <a:avLst/>
          </a:prstGeom>
          <a:ln>
            <a:noFill/>
          </a:ln>
          <a:effectLst>
            <a:outerShdw blurRad="190500" dist="127000" dir="5460000" sx="94000" sy="94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462805-4F8E-44FE-905C-2C3F1A2B3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1" y="858982"/>
            <a:ext cx="10380573" cy="14322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45021C-0380-49AA-ADA1-A8B473FBF5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1799" y="2750126"/>
            <a:ext cx="10381205" cy="32617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7A2409-F298-40BF-BFAC-65A3E71D29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32481" y="624007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989806E-8E94-473C-AEE7-BE6F15F85533}" type="datetime1">
              <a:rPr lang="en-US" smtClean="0"/>
              <a:t>9/13/2023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799D8-4DBF-4BB2-8D2B-65592ADC90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2481" y="23619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F99666-11C3-48A1-966C-439EBF9D9A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9782" y="235881"/>
            <a:ext cx="756746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400" b="1" kern="1200" smtClean="0">
                <a:solidFill>
                  <a:schemeClr val="tx1"/>
                </a:solidFill>
                <a:latin typeface="Bierstadt" panose="020B0504020202020204" pitchFamily="34" charset="0"/>
                <a:ea typeface="+mn-ea"/>
                <a:cs typeface="+mn-cs"/>
              </a:defRPr>
            </a:lvl1pPr>
          </a:lstStyle>
          <a:p>
            <a:fld id="{B4A918BC-4D43-4B42-B3C0-E7EBE25E6AF0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FAC7B62-8ACC-41ED-80AB-8D1CDF38B9E4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45FF525-9A83-4625-99D9-B267BDE077E7}"/>
              </a:ext>
            </a:extLst>
          </p:cNvPr>
          <p:cNvCxnSpPr>
            <a:cxnSpLocks/>
          </p:cNvCxnSpPr>
          <p:nvPr/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00764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eskatelevize.cz/porady/1056122606-petr-bezruc-bez-zaruky/" TargetMode="External"/><Relationship Id="rId2" Type="http://schemas.openxmlformats.org/officeDocument/2006/relationships/hyperlink" Target="https://edu.ceskatelevize.cz/video/1851-rukopisy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9E0238D-E295-49BE-9BFE-E9189D69E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85E9A4A-0183-4A3C-B68E-A229278915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6095999" cy="6858000"/>
          </a:xfrm>
          <a:prstGeom prst="rect">
            <a:avLst/>
          </a:prstGeom>
          <a:solidFill>
            <a:schemeClr val="bg2">
              <a:lumMod val="9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13A48C6C-3CC4-4EE5-A773-EC1EB7F59C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6000" y="0"/>
            <a:ext cx="6096000" cy="6858000"/>
          </a:xfrm>
          <a:prstGeom prst="rect">
            <a:avLst/>
          </a:prstGeom>
          <a:ln>
            <a:noFill/>
          </a:ln>
          <a:effectLst>
            <a:outerShdw blurRad="596900" dist="330200" dir="8820000" sx="87000" sy="87000" algn="t" rotWithShape="0">
              <a:srgbClr val="000000">
                <a:alpha val="26667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B31F5F7-3E73-AFA0-EFC7-3A885BD158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80233" y="2579129"/>
            <a:ext cx="4709550" cy="3433149"/>
          </a:xfrm>
        </p:spPr>
        <p:txBody>
          <a:bodyPr anchor="ctr">
            <a:normAutofit/>
          </a:bodyPr>
          <a:lstStyle/>
          <a:p>
            <a:r>
              <a:rPr lang="pl-PL" dirty="0"/>
              <a:t>Podstata a funkce literatury, věda o literatuře</a:t>
            </a:r>
            <a:endParaRPr lang="cs-CZ" dirty="0"/>
          </a:p>
        </p:txBody>
      </p: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0"/>
            <a:ext cx="6096000" cy="1874237"/>
          </a:xfrm>
          <a:prstGeom prst="rect">
            <a:avLst/>
          </a:prstGeom>
          <a:ln>
            <a:noFill/>
          </a:ln>
          <a:effectLst>
            <a:outerShdw blurRad="254000" dist="127000" dir="5460000" sx="90000" sy="90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C5D59A72-955B-87EE-DAF0-8DB9FBDBDA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84796" y="293427"/>
            <a:ext cx="4452371" cy="1392072"/>
          </a:xfrm>
        </p:spPr>
        <p:txBody>
          <a:bodyPr anchor="b">
            <a:normAutofit/>
          </a:bodyPr>
          <a:lstStyle/>
          <a:p>
            <a:endParaRPr lang="cs-CZ"/>
          </a:p>
        </p:txBody>
      </p:sp>
      <p:pic>
        <p:nvPicPr>
          <p:cNvPr id="4" name="Picture 3" descr="Modrý abstraktní vzor vodových barev na bílém pozadí">
            <a:extLst>
              <a:ext uri="{FF2B5EF4-FFF2-40B4-BE49-F238E27FC236}">
                <a16:creationId xmlns:a16="http://schemas.microsoft.com/office/drawing/2014/main" id="{6D5B3C9E-2CE0-F455-7D55-0A04D11FB0A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16" r="23950" b="-2"/>
          <a:stretch/>
        </p:blipFill>
        <p:spPr>
          <a:xfrm>
            <a:off x="20" y="-1"/>
            <a:ext cx="6095978" cy="6857999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2DAFA4-5D2E-4391-AD38-B26F579F40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985882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6368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34E7460-9F7D-1274-D987-17A4796D8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Literatura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86F3D05-A1C6-50AA-6B65-3438886C51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750126"/>
            <a:ext cx="10381205" cy="3766082"/>
          </a:xfrm>
        </p:spPr>
        <p:txBody>
          <a:bodyPr>
            <a:normAutofit/>
          </a:bodyPr>
          <a:lstStyle/>
          <a:p>
            <a:r>
              <a:rPr lang="cs-CZ" dirty="0"/>
              <a:t>= písemnictví</a:t>
            </a:r>
          </a:p>
          <a:p>
            <a:r>
              <a:rPr lang="cs-CZ" altLang="cs-CZ" dirty="0"/>
              <a:t>= soubor jazykových projevů zaznamenaných písmem</a:t>
            </a:r>
            <a:endParaRPr lang="cs-CZ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/>
              <a:t>Společensky významné texty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/>
              <a:t>Odborná literatura (historická, o programování)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/>
              <a:t>Umělecká literatura (Němcová, Jirásek)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/>
              <a:t>Jednací písemnictví (žádosti a protokoly)</a:t>
            </a:r>
          </a:p>
        </p:txBody>
      </p:sp>
      <p:cxnSp>
        <p:nvCxnSpPr>
          <p:cNvPr id="5" name="Přímá spojnice 4">
            <a:extLst>
              <a:ext uri="{FF2B5EF4-FFF2-40B4-BE49-F238E27FC236}">
                <a16:creationId xmlns:a16="http://schemas.microsoft.com/office/drawing/2014/main" id="{ACF4D96F-0E03-AF33-C800-FFB3D52EC540}"/>
              </a:ext>
            </a:extLst>
          </p:cNvPr>
          <p:cNvCxnSpPr/>
          <p:nvPr/>
        </p:nvCxnSpPr>
        <p:spPr>
          <a:xfrm flipH="1">
            <a:off x="582076" y="4951450"/>
            <a:ext cx="328473" cy="488272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Přímá spojnice 5">
            <a:extLst>
              <a:ext uri="{FF2B5EF4-FFF2-40B4-BE49-F238E27FC236}">
                <a16:creationId xmlns:a16="http://schemas.microsoft.com/office/drawing/2014/main" id="{1DBA9F3E-7660-2179-0826-D64510D1E025}"/>
              </a:ext>
            </a:extLst>
          </p:cNvPr>
          <p:cNvCxnSpPr>
            <a:cxnSpLocks/>
          </p:cNvCxnSpPr>
          <p:nvPr/>
        </p:nvCxnSpPr>
        <p:spPr>
          <a:xfrm flipH="1">
            <a:off x="582076" y="5439722"/>
            <a:ext cx="390617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Přímá spojnice 7">
            <a:extLst>
              <a:ext uri="{FF2B5EF4-FFF2-40B4-BE49-F238E27FC236}">
                <a16:creationId xmlns:a16="http://schemas.microsoft.com/office/drawing/2014/main" id="{2DDEBC08-89A6-1C9C-D9E7-B1B2C66EE94F}"/>
              </a:ext>
            </a:extLst>
          </p:cNvPr>
          <p:cNvCxnSpPr>
            <a:cxnSpLocks/>
          </p:cNvCxnSpPr>
          <p:nvPr/>
        </p:nvCxnSpPr>
        <p:spPr>
          <a:xfrm flipH="1" flipV="1">
            <a:off x="613048" y="5439722"/>
            <a:ext cx="297501" cy="49715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bdélník 10">
            <a:extLst>
              <a:ext uri="{FF2B5EF4-FFF2-40B4-BE49-F238E27FC236}">
                <a16:creationId xmlns:a16="http://schemas.microsoft.com/office/drawing/2014/main" id="{47D0C2F4-491B-5900-551E-90D750C6CF78}"/>
              </a:ext>
            </a:extLst>
          </p:cNvPr>
          <p:cNvSpPr/>
          <p:nvPr/>
        </p:nvSpPr>
        <p:spPr>
          <a:xfrm>
            <a:off x="7954392" y="4456590"/>
            <a:ext cx="3098307" cy="143818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Jde o </a:t>
            </a:r>
            <a:r>
              <a:rPr lang="cs-CZ" b="1" dirty="0"/>
              <a:t>způsob zpracování</a:t>
            </a:r>
            <a:r>
              <a:rPr lang="cs-CZ" dirty="0"/>
              <a:t>,</a:t>
            </a:r>
          </a:p>
          <a:p>
            <a:pPr algn="ctr"/>
            <a:r>
              <a:rPr lang="cs-CZ" dirty="0"/>
              <a:t>nikoli o obsah!</a:t>
            </a: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A9D607F4-0174-240E-47B8-A17252234E53}"/>
              </a:ext>
            </a:extLst>
          </p:cNvPr>
          <p:cNvSpPr txBox="1"/>
          <p:nvPr/>
        </p:nvSpPr>
        <p:spPr>
          <a:xfrm>
            <a:off x="248575" y="4230969"/>
            <a:ext cx="4696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u="sng" dirty="0">
                <a:highlight>
                  <a:srgbClr val="FFFF00"/>
                </a:highlight>
              </a:rPr>
              <a:t>Podstata literatury</a:t>
            </a:r>
          </a:p>
        </p:txBody>
      </p:sp>
    </p:spTree>
    <p:extLst>
      <p:ext uri="{BB962C8B-B14F-4D97-AF65-F5344CB8AC3E}">
        <p14:creationId xmlns:p14="http://schemas.microsoft.com/office/powerpoint/2010/main" val="29913549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985014-24EF-0809-B1B1-E1A0F8FFE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Funkce = význam literatury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DEC65DC-F36F-86B4-E7AD-557D0514F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823098"/>
            <a:ext cx="11089890" cy="3710867"/>
          </a:xfrm>
        </p:spPr>
        <p:txBody>
          <a:bodyPr>
            <a:normAutofit/>
          </a:bodyPr>
          <a:lstStyle/>
          <a:p>
            <a:r>
              <a:rPr lang="cs-CZ" sz="2000" b="1" dirty="0"/>
              <a:t>1. poznávací </a:t>
            </a:r>
            <a:r>
              <a:rPr lang="cs-CZ" sz="2000" b="1" dirty="0" err="1"/>
              <a:t>fce</a:t>
            </a:r>
            <a:r>
              <a:rPr lang="cs-CZ" sz="2000" b="1" dirty="0"/>
              <a:t> </a:t>
            </a:r>
          </a:p>
          <a:p>
            <a:r>
              <a:rPr lang="cs-CZ" sz="2000" dirty="0"/>
              <a:t>- člověk prostřednictvím literatury poznává </a:t>
            </a:r>
          </a:p>
          <a:p>
            <a:r>
              <a:rPr lang="cs-CZ" sz="2000" dirty="0"/>
              <a:t>/autor velmi věrně reprodukuje jednotlivé jevy ve společnosti nebo se zabývá jen některými vlastnostmi, které zvýrazňuje/</a:t>
            </a:r>
          </a:p>
          <a:p>
            <a:r>
              <a:rPr lang="cs-CZ" sz="2000" b="1" dirty="0"/>
              <a:t>2. vyjadřovací </a:t>
            </a:r>
            <a:r>
              <a:rPr lang="cs-CZ" sz="2000" b="1" dirty="0" err="1"/>
              <a:t>fce</a:t>
            </a:r>
            <a:endParaRPr lang="cs-CZ" sz="2000" b="1" dirty="0"/>
          </a:p>
          <a:p>
            <a:r>
              <a:rPr lang="cs-CZ" sz="2000" dirty="0"/>
              <a:t>- člověk si čtením obohacuje slovní zásobu, učí se lépe vyjadřovat</a:t>
            </a:r>
          </a:p>
          <a:p>
            <a:r>
              <a:rPr lang="cs-CZ" sz="2000" b="1" dirty="0"/>
              <a:t>3. hodnotící </a:t>
            </a:r>
            <a:r>
              <a:rPr lang="cs-CZ" sz="2000" b="1" dirty="0" err="1"/>
              <a:t>fce</a:t>
            </a:r>
            <a:r>
              <a:rPr lang="cs-CZ" sz="2000" b="1" dirty="0"/>
              <a:t>  </a:t>
            </a:r>
          </a:p>
          <a:p>
            <a:r>
              <a:rPr lang="cs-CZ" sz="2000" dirty="0"/>
              <a:t> - literatura pomáhá vytvářet hodnotový systém člověka</a:t>
            </a:r>
          </a:p>
        </p:txBody>
      </p:sp>
    </p:spTree>
    <p:extLst>
      <p:ext uri="{BB962C8B-B14F-4D97-AF65-F5344CB8AC3E}">
        <p14:creationId xmlns:p14="http://schemas.microsoft.com/office/powerpoint/2010/main" val="37032975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EE70F9-1415-CBA7-8652-EF12419DA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Umělecká literatura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8520B7-50DE-557E-7939-6B80722718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9253" y="2935851"/>
            <a:ext cx="10381205" cy="3261789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/>
              <a:t>ÚLS (ústní lidová slovesnost)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cs-CZ" dirty="0"/>
              <a:t>Písně, pověsti, přísloví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/>
              <a:t>Texty umělé literatury </a:t>
            </a:r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cs-CZ" dirty="0"/>
              <a:t>Próza, poezie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cs-CZ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/>
              <a:t>Výrazovým prostředkem je JAZYK!</a:t>
            </a:r>
          </a:p>
        </p:txBody>
      </p:sp>
      <p:cxnSp>
        <p:nvCxnSpPr>
          <p:cNvPr id="5" name="Přímá spojnice 4">
            <a:extLst>
              <a:ext uri="{FF2B5EF4-FFF2-40B4-BE49-F238E27FC236}">
                <a16:creationId xmlns:a16="http://schemas.microsoft.com/office/drawing/2014/main" id="{4EB8EC6D-4069-C9B6-888F-EEE302CF7623}"/>
              </a:ext>
            </a:extLst>
          </p:cNvPr>
          <p:cNvCxnSpPr>
            <a:cxnSpLocks/>
          </p:cNvCxnSpPr>
          <p:nvPr/>
        </p:nvCxnSpPr>
        <p:spPr>
          <a:xfrm flipV="1">
            <a:off x="408373" y="3129368"/>
            <a:ext cx="790112" cy="599253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Přímá spojnice 5">
            <a:extLst>
              <a:ext uri="{FF2B5EF4-FFF2-40B4-BE49-F238E27FC236}">
                <a16:creationId xmlns:a16="http://schemas.microsoft.com/office/drawing/2014/main" id="{1E657F77-385F-1034-075A-C2360BB741D0}"/>
              </a:ext>
            </a:extLst>
          </p:cNvPr>
          <p:cNvCxnSpPr>
            <a:cxnSpLocks/>
          </p:cNvCxnSpPr>
          <p:nvPr/>
        </p:nvCxnSpPr>
        <p:spPr>
          <a:xfrm>
            <a:off x="408373" y="3753506"/>
            <a:ext cx="790112" cy="80880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521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1EC1A7-F2DB-3484-C79C-581A6281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Věda o literatuře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5D6A15-FB30-10D7-21F3-C98C27563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/>
              <a:t>Literární teorie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/>
              <a:t>Literární historie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dirty="0"/>
              <a:t>Literární kritika</a:t>
            </a:r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ECBCA23B-BC03-F352-C04C-4C2518646AAB}"/>
              </a:ext>
            </a:extLst>
          </p:cNvPr>
          <p:cNvSpPr/>
          <p:nvPr/>
        </p:nvSpPr>
        <p:spPr>
          <a:xfrm>
            <a:off x="1615736" y="4509856"/>
            <a:ext cx="9152878" cy="80786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ÚKOL: Ve dvojicích a trojicích vytvořit definice k těmto slovům</a:t>
            </a:r>
          </a:p>
        </p:txBody>
      </p:sp>
    </p:spTree>
    <p:extLst>
      <p:ext uri="{BB962C8B-B14F-4D97-AF65-F5344CB8AC3E}">
        <p14:creationId xmlns:p14="http://schemas.microsoft.com/office/powerpoint/2010/main" val="286491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91EC1A7-F2DB-3484-C79C-581A62818B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Věda o literatuře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F5D6A15-FB30-10D7-21F3-C98C275632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b="1" dirty="0"/>
              <a:t>Literární teorie </a:t>
            </a:r>
            <a:r>
              <a:rPr lang="cs-CZ" dirty="0"/>
              <a:t>=&gt; zkoumá podstatu literatury, její funkci estetickou, druhové formy, umělecké prostředky.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b="1" dirty="0"/>
              <a:t>Literární historie </a:t>
            </a:r>
            <a:r>
              <a:rPr lang="cs-CZ" dirty="0"/>
              <a:t>=&gt; 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zabývá se dějinami literatury, vývojem národních literatur, literárních epoch, směrů, spisovatelů.</a:t>
            </a:r>
            <a:endParaRPr lang="cs-CZ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cs-CZ" b="1" dirty="0"/>
              <a:t>Literární kritika </a:t>
            </a:r>
            <a:r>
              <a:rPr lang="cs-CZ" dirty="0"/>
              <a:t>=&gt; </a:t>
            </a:r>
            <a:r>
              <a:rPr lang="cs-CZ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analyzuje literární dílo a hodnotí ho</a:t>
            </a: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6119676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František Xaver Šalda | Literary landscape">
            <a:extLst>
              <a:ext uri="{FF2B5EF4-FFF2-40B4-BE49-F238E27FC236}">
                <a16:creationId xmlns:a16="http://schemas.microsoft.com/office/drawing/2014/main" id="{E6954F9C-9403-284E-09DA-49C480D2C6F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8"/>
          <a:stretch/>
        </p:blipFill>
        <p:spPr bwMode="auto">
          <a:xfrm>
            <a:off x="20" y="-2"/>
            <a:ext cx="4845848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4750" y="-2"/>
            <a:ext cx="7347249" cy="3239337"/>
          </a:xfrm>
          <a:prstGeom prst="rect">
            <a:avLst/>
          </a:prstGeom>
          <a:ln>
            <a:noFill/>
          </a:ln>
          <a:effectLst>
            <a:outerShdw blurRad="139700" dist="88900" dir="5460000" sx="97000" sy="97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F2A84CB-55E7-68F5-8316-4A7A15D2E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6552" y="858982"/>
            <a:ext cx="4369757" cy="2129878"/>
          </a:xfrm>
        </p:spPr>
        <p:txBody>
          <a:bodyPr>
            <a:normAutofit/>
          </a:bodyPr>
          <a:lstStyle/>
          <a:p>
            <a:r>
              <a:rPr lang="cs-CZ" dirty="0"/>
              <a:t>Literární kritika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FF7005C-4775-E2DE-199C-F308749ED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5029" y="3467499"/>
            <a:ext cx="6656826" cy="2544416"/>
          </a:xfrm>
        </p:spPr>
        <p:txBody>
          <a:bodyPr>
            <a:normAutofit/>
          </a:bodyPr>
          <a:lstStyle/>
          <a:p>
            <a:r>
              <a:rPr lang="cs-CZ" sz="2800" dirty="0"/>
              <a:t>ÚKOL: Kdo byl František Xaver Šalda?</a:t>
            </a:r>
          </a:p>
          <a:p>
            <a:r>
              <a:rPr lang="cs-CZ" sz="2800" dirty="0"/>
              <a:t>- poslouchej a zapiš alespoň 5 informací </a:t>
            </a:r>
            <a:br>
              <a:rPr lang="cs-CZ" sz="2800" dirty="0"/>
            </a:br>
            <a:r>
              <a:rPr lang="cs-CZ" sz="2800" dirty="0"/>
              <a:t>o Šaldovi</a:t>
            </a:r>
          </a:p>
          <a:p>
            <a:endParaRPr lang="cs-CZ" dirty="0"/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61FF92BA-874E-408A-BFAD-416A7FFE59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668155" y="5641010"/>
            <a:ext cx="0" cy="59906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64993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653EC5-D814-18AF-29B5-E1D00AD9E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Atributy literární kritiky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0D29102-C6BB-196A-38AB-F0B5848F2F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799" y="2750126"/>
            <a:ext cx="10381205" cy="3748210"/>
          </a:xfrm>
        </p:spPr>
        <p:txBody>
          <a:bodyPr>
            <a:normAutofit/>
          </a:bodyPr>
          <a:lstStyle/>
          <a:p>
            <a:pPr algn="l" fontAlgn="base">
              <a:buFont typeface="+mj-lt"/>
              <a:buAutoNum type="arabicPeriod"/>
            </a:pPr>
            <a:r>
              <a:rPr lang="cs-CZ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objektivnost</a:t>
            </a:r>
            <a:r>
              <a:rPr lang="cs-CZ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= kritik by měl být nezaujatý, ničím neovlivněn</a:t>
            </a:r>
          </a:p>
          <a:p>
            <a:pPr algn="l" fontAlgn="base"/>
            <a:r>
              <a:rPr lang="cs-CZ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	= vše by měl mít doloženo ke kritice díla</a:t>
            </a:r>
          </a:p>
          <a:p>
            <a:pPr algn="l" fontAlgn="base"/>
            <a:r>
              <a:rPr lang="cs-CZ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2. </a:t>
            </a:r>
            <a:r>
              <a:rPr lang="cs-CZ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ohled na dobu </a:t>
            </a:r>
            <a:r>
              <a:rPr lang="cs-CZ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= měl by se vcítit do doby, kdy dílo vzniklo</a:t>
            </a:r>
          </a:p>
          <a:p>
            <a:pPr algn="l" fontAlgn="base"/>
            <a:r>
              <a:rPr lang="cs-CZ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3. </a:t>
            </a:r>
            <a:r>
              <a:rPr lang="cs-CZ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osobní nezaujatost </a:t>
            </a:r>
            <a:r>
              <a:rPr lang="cs-CZ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= kritik ničím neovlivněn</a:t>
            </a:r>
          </a:p>
          <a:p>
            <a:pPr algn="l" fontAlgn="base"/>
            <a:r>
              <a:rPr lang="cs-CZ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4. </a:t>
            </a:r>
            <a:r>
              <a:rPr lang="cs-CZ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kritik nemusí být spisovatel</a:t>
            </a:r>
          </a:p>
          <a:p>
            <a:pPr algn="l" fontAlgn="base"/>
            <a:r>
              <a:rPr lang="cs-CZ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5. kritika </a:t>
            </a:r>
            <a:r>
              <a:rPr lang="cs-CZ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konstruktivní</a:t>
            </a:r>
            <a:r>
              <a:rPr lang="cs-CZ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 = nejenom zápory ale i klady</a:t>
            </a:r>
          </a:p>
          <a:p>
            <a:pPr algn="l" fontAlgn="base"/>
            <a:r>
              <a:rPr lang="cs-CZ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6. kritika je výsledkem </a:t>
            </a:r>
            <a:r>
              <a:rPr lang="cs-CZ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bystrého rozumu, lehkého pera a širokého vzdělání</a:t>
            </a:r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903890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7C4DE5-85FC-1CDF-AF2E-153AA82CD3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Smysl kritiky 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4080FD-7E64-1B1D-9B4D-E37E5E903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fontAlgn="base"/>
            <a:r>
              <a:rPr lang="cs-CZ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	a) sloužit k orientaci čtenáře</a:t>
            </a:r>
          </a:p>
          <a:p>
            <a:pPr algn="l" fontAlgn="base"/>
            <a:r>
              <a:rPr lang="cs-CZ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	b) sloužit pro samotného autora, aby zjistil úroveň svých děl</a:t>
            </a:r>
          </a:p>
          <a:p>
            <a:pPr algn="l" fontAlgn="base"/>
            <a:r>
              <a:rPr lang="cs-CZ" b="0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	c) sloužit pro celou společnost</a:t>
            </a:r>
          </a:p>
          <a:p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36779191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2E9782B-F0BB-6EA4-6E8B-640C3EA29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Co řeší literární kritici?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6EFAA83-6620-4169-E888-A65504A7E1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>
                <a:hlinkClick r:id="rId2"/>
              </a:rPr>
              <a:t>https://edu.ceskatelevize.cz/video/1851-rukopisy</a:t>
            </a:r>
            <a:endParaRPr lang="cs-CZ" dirty="0"/>
          </a:p>
          <a:p>
            <a:endParaRPr lang="cs-CZ" dirty="0"/>
          </a:p>
          <a:p>
            <a:r>
              <a:rPr lang="cs-CZ" dirty="0">
                <a:hlinkClick r:id="rId3"/>
              </a:rPr>
              <a:t>https://www.ceskatelevize.cz/porady/1056122606-petr-bezruc-bez-zaruky/</a:t>
            </a:r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107355298"/>
      </p:ext>
    </p:extLst>
  </p:cSld>
  <p:clrMapOvr>
    <a:masterClrMapping/>
  </p:clrMapOvr>
</p:sld>
</file>

<file path=ppt/theme/theme1.xml><?xml version="1.0" encoding="utf-8"?>
<a:theme xmlns:a="http://schemas.openxmlformats.org/drawingml/2006/main" name="BevelVTI">
  <a:themeElements>
    <a:clrScheme name="AnalogousFromDarkSeedLeftStep">
      <a:dk1>
        <a:srgbClr val="000000"/>
      </a:dk1>
      <a:lt1>
        <a:srgbClr val="FFFFFF"/>
      </a:lt1>
      <a:dk2>
        <a:srgbClr val="1B2830"/>
      </a:dk2>
      <a:lt2>
        <a:srgbClr val="F1F3F0"/>
      </a:lt2>
      <a:accent1>
        <a:srgbClr val="A629E7"/>
      </a:accent1>
      <a:accent2>
        <a:srgbClr val="592FD9"/>
      </a:accent2>
      <a:accent3>
        <a:srgbClr val="294AE7"/>
      </a:accent3>
      <a:accent4>
        <a:srgbClr val="1787D5"/>
      </a:accent4>
      <a:accent5>
        <a:srgbClr val="22BFBE"/>
      </a:accent5>
      <a:accent6>
        <a:srgbClr val="16C67B"/>
      </a:accent6>
      <a:hlink>
        <a:srgbClr val="3897A9"/>
      </a:hlink>
      <a:folHlink>
        <a:srgbClr val="7F7F7F"/>
      </a:folHlink>
    </a:clrScheme>
    <a:fontScheme name="Custom 53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velVTI" id="{C9E5F598-602B-46C1-AA16-073CEB959654}" vid="{2AE1FD39-65AD-4D34-93E9-C7019D0ECBAC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368</Words>
  <Application>Microsoft Office PowerPoint</Application>
  <PresentationFormat>Širokoúhlá obrazovka</PresentationFormat>
  <Paragraphs>58</Paragraphs>
  <Slides>10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5" baseType="lpstr">
      <vt:lpstr>Arial</vt:lpstr>
      <vt:lpstr>Bierstadt</vt:lpstr>
      <vt:lpstr>Calibri</vt:lpstr>
      <vt:lpstr>Open Sans</vt:lpstr>
      <vt:lpstr>BevelVTI</vt:lpstr>
      <vt:lpstr>Podstata a funkce literatury, věda o literatuře</vt:lpstr>
      <vt:lpstr>Literatura</vt:lpstr>
      <vt:lpstr>Funkce = význam literatury</vt:lpstr>
      <vt:lpstr>Umělecká literatura</vt:lpstr>
      <vt:lpstr>Věda o literatuře</vt:lpstr>
      <vt:lpstr>Věda o literatuře</vt:lpstr>
      <vt:lpstr>Literární kritika</vt:lpstr>
      <vt:lpstr>Atributy literární kritiky</vt:lpstr>
      <vt:lpstr>Smysl kritiky </vt:lpstr>
      <vt:lpstr>Co řeší literární kritici?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Podstata a funkce literatury, věda o literatuře</dc:title>
  <dc:creator>Dana Brandejská</dc:creator>
  <cp:lastModifiedBy>Dana Brandejská</cp:lastModifiedBy>
  <cp:revision>36</cp:revision>
  <dcterms:created xsi:type="dcterms:W3CDTF">2023-09-13T10:53:27Z</dcterms:created>
  <dcterms:modified xsi:type="dcterms:W3CDTF">2023-09-13T11:48:49Z</dcterms:modified>
</cp:coreProperties>
</file>