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58" r:id="rId6"/>
    <p:sldId id="259" r:id="rId7"/>
    <p:sldId id="260" r:id="rId8"/>
    <p:sldId id="261" r:id="rId9"/>
    <p:sldId id="271" r:id="rId10"/>
    <p:sldId id="268" r:id="rId11"/>
    <p:sldId id="267" r:id="rId1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505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262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725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830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534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602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524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124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786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543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578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32E91-082F-440A-9770-3B0F39BD03E4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51E08-DE8C-4854-A3AE-312F13E434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474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cs.wikipedia.org/wiki/Soubor:Don_Pedro_Calderon_de_la_Barca.jpg" TargetMode="External"/><Relationship Id="rId2" Type="http://schemas.openxmlformats.org/officeDocument/2006/relationships/hyperlink" Target="http://cs.wikipedia.org/wiki/Soubor:The_Three_Graces,_by_Peter_Paul_Rubens,_from_Prado_in_Google_Earth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s.wikipedia.org/wiki/Soubor:Torquato_Tasso.jpg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49795" y="1412776"/>
            <a:ext cx="7772400" cy="1470025"/>
          </a:xfrm>
        </p:spPr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Baroko v evropské literatuře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89040"/>
            <a:ext cx="6840759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12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611560" y="692696"/>
            <a:ext cx="828092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cs-CZ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2. pol. 16. stol.-pol. </a:t>
            </a:r>
            <a:r>
              <a:rPr lang="cs-CZ" sz="2400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18.stol</a:t>
            </a:r>
            <a:r>
              <a:rPr lang="cs-CZ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- z portugalského </a:t>
            </a:r>
            <a:r>
              <a:rPr lang="cs-CZ" sz="2400" b="1" i="1" dirty="0" err="1">
                <a:latin typeface="Times New Roman" pitchFamily="18" charset="0"/>
                <a:cs typeface="Times New Roman" pitchFamily="18" charset="0"/>
              </a:rPr>
              <a:t>barroco</a:t>
            </a:r>
            <a:r>
              <a:rPr lang="cs-CZ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cs-CZ" sz="2400" b="1" dirty="0">
                <a:latin typeface="Times New Roman" pitchFamily="18" charset="0"/>
                <a:cs typeface="Times New Roman" pitchFamily="18" charset="0"/>
              </a:rPr>
              <a:t>= nepravidelná perla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, ale též význam „přetížený“</a:t>
            </a:r>
          </a:p>
          <a:p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- motivy nicoty, skepse (pochyby) k pozemskému životu </a:t>
            </a:r>
          </a:p>
          <a:p>
            <a:r>
              <a:rPr lang="cs-CZ" sz="2400" b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cs-CZ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barokní člověk je zmítán nejistotou, válkami, upíná se tudíž k věčným nadpozemským jistotám – k BOHU</a:t>
            </a:r>
            <a:endParaRPr lang="cs-CZ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cs-CZ" sz="2400" b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hlavním principem barokní literatury se stává </a:t>
            </a:r>
            <a:r>
              <a:rPr lang="cs-CZ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kontrast (ANTITEZE)</a:t>
            </a:r>
            <a:r>
              <a:rPr lang="cs-CZ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světa pozemského (lidského) a světa duchovního (božího)</a:t>
            </a:r>
          </a:p>
          <a:p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- používají se </a:t>
            </a:r>
            <a:r>
              <a:rPr lang="cs-CZ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alegorie, symboly a hyperboly</a:t>
            </a:r>
            <a:endParaRPr lang="cs-CZ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cs-CZ" sz="2400" b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frekventovaným tématem je </a:t>
            </a:r>
            <a:r>
              <a:rPr lang="cs-CZ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smrt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 (vytoužený cíl duše), typické je </a:t>
            </a:r>
            <a:r>
              <a:rPr lang="cs-CZ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líčení pozemských hrůz a pekel</a:t>
            </a:r>
            <a:endParaRPr lang="cs-CZ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- dochází k oživení typických středověkých žánrů: legenda, duchovní píseň, epos, traktát, reflexivní lyrika</a:t>
            </a:r>
          </a:p>
          <a:p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- malířství: </a:t>
            </a:r>
            <a:r>
              <a:rPr lang="cs-CZ" sz="2400" dirty="0" err="1">
                <a:latin typeface="Times New Roman" pitchFamily="18" charset="0"/>
                <a:cs typeface="Times New Roman" pitchFamily="18" charset="0"/>
              </a:rPr>
              <a:t>Rubens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, Rembrandt, </a:t>
            </a:r>
            <a:r>
              <a:rPr lang="cs-CZ" sz="2400" dirty="0" err="1">
                <a:latin typeface="Times New Roman" pitchFamily="18" charset="0"/>
                <a:cs typeface="Times New Roman" pitchFamily="18" charset="0"/>
              </a:rPr>
              <a:t>Caravaggio</a:t>
            </a:r>
            <a:endParaRPr lang="cs-CZ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- sochařství: </a:t>
            </a:r>
            <a:r>
              <a:rPr lang="cs-CZ" sz="2400" dirty="0" err="1">
                <a:latin typeface="Times New Roman" pitchFamily="18" charset="0"/>
                <a:cs typeface="Times New Roman" pitchFamily="18" charset="0"/>
              </a:rPr>
              <a:t>Bernini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, Braun, </a:t>
            </a:r>
            <a:r>
              <a:rPr lang="cs-CZ" sz="2400" dirty="0" err="1">
                <a:latin typeface="Times New Roman" pitchFamily="18" charset="0"/>
                <a:cs typeface="Times New Roman" pitchFamily="18" charset="0"/>
              </a:rPr>
              <a:t>Brokof</a:t>
            </a:r>
            <a:r>
              <a:rPr lang="cs-CZ" sz="2400" dirty="0">
                <a:latin typeface="Times New Roman" pitchFamily="18" charset="0"/>
                <a:cs typeface="Times New Roman" pitchFamily="18" charset="0"/>
              </a:rPr>
              <a:t> – sochy na Karlově mostě </a:t>
            </a:r>
          </a:p>
        </p:txBody>
      </p:sp>
    </p:spTree>
    <p:extLst>
      <p:ext uri="{BB962C8B-B14F-4D97-AF65-F5344CB8AC3E}">
        <p14:creationId xmlns:p14="http://schemas.microsoft.com/office/powerpoint/2010/main" val="373854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388772"/>
            <a:ext cx="2592288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bdélník 1"/>
          <p:cNvSpPr/>
          <p:nvPr/>
        </p:nvSpPr>
        <p:spPr>
          <a:xfrm>
            <a:off x="467544" y="5805264"/>
            <a:ext cx="3240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i="1" dirty="0"/>
              <a:t>        Tři Grácie</a:t>
            </a:r>
            <a:r>
              <a:rPr lang="cs-CZ" sz="2400" b="1" dirty="0"/>
              <a:t> </a:t>
            </a:r>
            <a:r>
              <a:rPr lang="cs-CZ" dirty="0"/>
              <a:t>(1636-1638)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388772"/>
            <a:ext cx="2664296" cy="318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bdélník 2"/>
          <p:cNvSpPr/>
          <p:nvPr/>
        </p:nvSpPr>
        <p:spPr>
          <a:xfrm>
            <a:off x="6115693" y="5851430"/>
            <a:ext cx="17181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2400" b="1" dirty="0"/>
              <a:t>Autoportrét</a:t>
            </a:r>
          </a:p>
        </p:txBody>
      </p:sp>
      <p:sp>
        <p:nvSpPr>
          <p:cNvPr id="4" name="Obdélník 3"/>
          <p:cNvSpPr/>
          <p:nvPr/>
        </p:nvSpPr>
        <p:spPr>
          <a:xfrm>
            <a:off x="1115616" y="548680"/>
            <a:ext cx="69847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200" b="1" dirty="0"/>
              <a:t>Peter Paul </a:t>
            </a:r>
            <a:r>
              <a:rPr lang="cs-CZ" sz="3200" b="1" dirty="0" err="1"/>
              <a:t>Rubens</a:t>
            </a:r>
            <a:r>
              <a:rPr lang="cs-CZ" sz="3200" dirty="0"/>
              <a:t> (1577 – 1640) byl vlámský malíř, mistr barokního stylu</a:t>
            </a:r>
          </a:p>
        </p:txBody>
      </p:sp>
    </p:spTree>
    <p:extLst>
      <p:ext uri="{BB962C8B-B14F-4D97-AF65-F5344CB8AC3E}">
        <p14:creationId xmlns:p14="http://schemas.microsoft.com/office/powerpoint/2010/main" val="171669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683568" y="398515"/>
            <a:ext cx="770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b="1" u="sng" dirty="0">
                <a:solidFill>
                  <a:srgbClr val="7030A0"/>
                </a:solidFill>
              </a:rPr>
              <a:t>Matyáš Bernard Braun </a:t>
            </a:r>
            <a:r>
              <a:rPr lang="cs-CZ" sz="2400" dirty="0"/>
              <a:t>(1684-1738) byl rakouský sochař a řezbář působící převážně v Čechách. Je zařazován mezi nejvýznamnější představitele českého vrcholně barokního sochařství.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03748"/>
            <a:ext cx="2520280" cy="3285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bdélník 2"/>
          <p:cNvSpPr/>
          <p:nvPr/>
        </p:nvSpPr>
        <p:spPr>
          <a:xfrm>
            <a:off x="1549508" y="5949280"/>
            <a:ext cx="2291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b="1" dirty="0"/>
              <a:t>Svatý Ivo, Karlův most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773" y="2636912"/>
            <a:ext cx="259228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bdélník 3"/>
          <p:cNvSpPr/>
          <p:nvPr/>
        </p:nvSpPr>
        <p:spPr>
          <a:xfrm>
            <a:off x="4860032" y="5499054"/>
            <a:ext cx="39604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b="1" dirty="0"/>
              <a:t>Velký křesťanský bojovník v zahradě </a:t>
            </a:r>
            <a:r>
              <a:rPr lang="cs-CZ" b="1" dirty="0" err="1"/>
              <a:t>hospitalu</a:t>
            </a:r>
            <a:r>
              <a:rPr lang="cs-CZ" b="1" dirty="0"/>
              <a:t>, Kuks</a:t>
            </a:r>
          </a:p>
        </p:txBody>
      </p:sp>
    </p:spTree>
    <p:extLst>
      <p:ext uri="{BB962C8B-B14F-4D97-AF65-F5344CB8AC3E}">
        <p14:creationId xmlns:p14="http://schemas.microsoft.com/office/powerpoint/2010/main" val="423773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Španělsko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28800"/>
            <a:ext cx="5987008" cy="4497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600" b="1" dirty="0">
                <a:solidFill>
                  <a:srgbClr val="7030A0"/>
                </a:solidFill>
              </a:rPr>
              <a:t>	Pedro </a:t>
            </a:r>
            <a:r>
              <a:rPr lang="cs-CZ" sz="3600" b="1" dirty="0" err="1">
                <a:solidFill>
                  <a:srgbClr val="7030A0"/>
                </a:solidFill>
              </a:rPr>
              <a:t>Calderón</a:t>
            </a:r>
            <a:r>
              <a:rPr lang="cs-CZ" sz="3600" b="1" dirty="0">
                <a:solidFill>
                  <a:srgbClr val="7030A0"/>
                </a:solidFill>
              </a:rPr>
              <a:t> de la </a:t>
            </a:r>
            <a:r>
              <a:rPr lang="cs-CZ" sz="3600" b="1" dirty="0" err="1">
                <a:solidFill>
                  <a:srgbClr val="7030A0"/>
                </a:solidFill>
              </a:rPr>
              <a:t>B</a:t>
            </a:r>
            <a:r>
              <a:rPr lang="cs-CZ" b="1" dirty="0" err="1">
                <a:solidFill>
                  <a:srgbClr val="7030A0"/>
                </a:solidFill>
              </a:rPr>
              <a:t>arca</a:t>
            </a:r>
            <a:r>
              <a:rPr lang="cs-CZ" dirty="0">
                <a:solidFill>
                  <a:srgbClr val="7030A0"/>
                </a:solidFill>
              </a:rPr>
              <a:t> </a:t>
            </a:r>
            <a:r>
              <a:rPr lang="en-US" dirty="0"/>
              <a:t>[ </a:t>
            </a:r>
            <a:r>
              <a:rPr lang="en-US" dirty="0" err="1"/>
              <a:t>kalderon</a:t>
            </a:r>
            <a:r>
              <a:rPr lang="en-US" dirty="0"/>
              <a:t> de la </a:t>
            </a:r>
            <a:r>
              <a:rPr lang="en-US" dirty="0" err="1"/>
              <a:t>barka</a:t>
            </a:r>
            <a:r>
              <a:rPr lang="en-US" dirty="0"/>
              <a:t>]</a:t>
            </a:r>
            <a:endParaRPr lang="cs-CZ" dirty="0"/>
          </a:p>
          <a:p>
            <a:pPr lvl="0"/>
            <a:r>
              <a:rPr lang="en-US" dirty="0" err="1"/>
              <a:t>napsal</a:t>
            </a:r>
            <a:r>
              <a:rPr lang="en-US" dirty="0"/>
              <a:t> </a:t>
            </a:r>
            <a:r>
              <a:rPr lang="en-US" dirty="0" err="1"/>
              <a:t>přes</a:t>
            </a:r>
            <a:r>
              <a:rPr lang="en-US" dirty="0"/>
              <a:t> 200 her – </a:t>
            </a:r>
            <a:r>
              <a:rPr lang="en-US" i="1" dirty="0" err="1"/>
              <a:t>tzv</a:t>
            </a:r>
            <a:r>
              <a:rPr lang="en-US" i="1" dirty="0"/>
              <a:t>. </a:t>
            </a:r>
            <a:r>
              <a:rPr lang="en-US" i="1" dirty="0" err="1"/>
              <a:t>komedie</a:t>
            </a:r>
            <a:r>
              <a:rPr lang="en-US" i="1" dirty="0"/>
              <a:t> </a:t>
            </a:r>
            <a:r>
              <a:rPr lang="en-US" i="1" dirty="0" err="1"/>
              <a:t>pláště</a:t>
            </a:r>
            <a:r>
              <a:rPr lang="en-US" i="1" dirty="0"/>
              <a:t> a </a:t>
            </a:r>
            <a:r>
              <a:rPr lang="en-US" i="1" dirty="0" err="1"/>
              <a:t>meče</a:t>
            </a:r>
            <a:endParaRPr lang="cs-CZ" dirty="0"/>
          </a:p>
          <a:p>
            <a:pPr marL="0" indent="0">
              <a:buNone/>
            </a:pPr>
            <a:r>
              <a:rPr lang="cs-CZ" b="1" dirty="0"/>
              <a:t>	</a:t>
            </a:r>
            <a:r>
              <a:rPr lang="cs-CZ" b="1" i="1" dirty="0">
                <a:solidFill>
                  <a:srgbClr val="006600"/>
                </a:solidFill>
              </a:rPr>
              <a:t>Život je sen</a:t>
            </a:r>
            <a:r>
              <a:rPr lang="cs-CZ" i="1" dirty="0">
                <a:solidFill>
                  <a:srgbClr val="006600"/>
                </a:solidFill>
              </a:rPr>
              <a:t> </a:t>
            </a:r>
          </a:p>
          <a:p>
            <a:pPr lvl="0"/>
            <a:r>
              <a:rPr lang="cs-CZ" b="1" dirty="0"/>
              <a:t>drama</a:t>
            </a:r>
            <a:r>
              <a:rPr lang="cs-CZ" dirty="0"/>
              <a:t>, nastoluje základní otázky smyslu a obsahu života, lidské existence a svobody lidské vůle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772816"/>
            <a:ext cx="2261678" cy="2683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2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Itálie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sz="4200" b="1" dirty="0">
                <a:solidFill>
                  <a:srgbClr val="7030A0"/>
                </a:solidFill>
              </a:rPr>
              <a:t>	</a:t>
            </a:r>
            <a:r>
              <a:rPr lang="cs-CZ" sz="4200" b="1" dirty="0" err="1">
                <a:solidFill>
                  <a:srgbClr val="7030A0"/>
                </a:solidFill>
              </a:rPr>
              <a:t>Torquato</a:t>
            </a:r>
            <a:r>
              <a:rPr lang="cs-CZ" sz="4200" b="1" dirty="0">
                <a:solidFill>
                  <a:srgbClr val="7030A0"/>
                </a:solidFill>
              </a:rPr>
              <a:t> </a:t>
            </a:r>
            <a:r>
              <a:rPr lang="cs-CZ" sz="4200" b="1" dirty="0" err="1">
                <a:solidFill>
                  <a:srgbClr val="7030A0"/>
                </a:solidFill>
              </a:rPr>
              <a:t>Tasso</a:t>
            </a:r>
            <a:r>
              <a:rPr lang="cs-CZ" sz="4200" b="1" dirty="0">
                <a:solidFill>
                  <a:srgbClr val="7030A0"/>
                </a:solidFill>
              </a:rPr>
              <a:t> </a:t>
            </a:r>
            <a:r>
              <a:rPr lang="cs-CZ" dirty="0"/>
              <a:t>[</a:t>
            </a:r>
            <a:r>
              <a:rPr lang="cs-CZ" dirty="0" err="1"/>
              <a:t>torkváto</a:t>
            </a:r>
            <a:r>
              <a:rPr lang="cs-CZ" dirty="0"/>
              <a:t> </a:t>
            </a:r>
            <a:r>
              <a:rPr lang="cs-CZ" dirty="0" err="1"/>
              <a:t>taso</a:t>
            </a:r>
            <a:r>
              <a:rPr lang="cs-CZ" dirty="0"/>
              <a:t>]</a:t>
            </a:r>
          </a:p>
          <a:p>
            <a:pPr lvl="0"/>
            <a:r>
              <a:rPr lang="cs-CZ" dirty="0"/>
              <a:t>veršovaný duchovní epos – </a:t>
            </a:r>
            <a:r>
              <a:rPr lang="cs-CZ" b="1" i="1" dirty="0">
                <a:solidFill>
                  <a:srgbClr val="006600"/>
                </a:solidFill>
              </a:rPr>
              <a:t>Osvobozený Jeruzalém </a:t>
            </a:r>
            <a:r>
              <a:rPr lang="cs-CZ" dirty="0"/>
              <a:t>– dobytí „svatého města“ vojskem křesťanů. Barokní je pojetí nepřátel (muslimů) jako nástroje ďábla.</a:t>
            </a:r>
          </a:p>
          <a:p>
            <a:pPr lvl="0"/>
            <a:r>
              <a:rPr lang="cs-CZ" dirty="0" err="1"/>
              <a:t>Tassa</a:t>
            </a:r>
            <a:r>
              <a:rPr lang="cs-CZ" dirty="0"/>
              <a:t> pronásledovaly obavy, zda se </a:t>
            </a:r>
            <a:r>
              <a:rPr lang="cs-CZ" i="1" dirty="0">
                <a:solidFill>
                  <a:srgbClr val="006600"/>
                </a:solidFill>
              </a:rPr>
              <a:t>Osvobozeným Jeruzalémem</a:t>
            </a:r>
            <a:r>
              <a:rPr lang="cs-CZ" dirty="0"/>
              <a:t> neprohřešil proti katolické víře. Sám se šel udal inkvizici. Přestože nebyl ovlivněn, propadl pocitům ohrožení, které vyústily v duševní chorobu. Té podlehl těsně před konáním slavnosti, na níž měl být z papežova podnětu prohlášen knížetem básníků.</a:t>
            </a:r>
          </a:p>
          <a:p>
            <a:pPr lvl="0"/>
            <a:r>
              <a:rPr lang="cs-CZ" dirty="0"/>
              <a:t>Jeho život inspiroval </a:t>
            </a:r>
            <a:r>
              <a:rPr lang="cs-CZ" b="1" dirty="0">
                <a:solidFill>
                  <a:srgbClr val="FF0000"/>
                </a:solidFill>
              </a:rPr>
              <a:t>J. W. Goetha </a:t>
            </a:r>
            <a:r>
              <a:rPr lang="cs-CZ" dirty="0"/>
              <a:t>k napsání dramatu </a:t>
            </a:r>
            <a:r>
              <a:rPr lang="cs-CZ" i="1" dirty="0" err="1">
                <a:solidFill>
                  <a:srgbClr val="006600"/>
                </a:solidFill>
              </a:rPr>
              <a:t>Torquato</a:t>
            </a:r>
            <a:r>
              <a:rPr lang="cs-CZ" i="1" dirty="0">
                <a:solidFill>
                  <a:srgbClr val="006600"/>
                </a:solidFill>
              </a:rPr>
              <a:t> </a:t>
            </a:r>
            <a:r>
              <a:rPr lang="cs-CZ" i="1" dirty="0" err="1">
                <a:solidFill>
                  <a:srgbClr val="006600"/>
                </a:solidFill>
              </a:rPr>
              <a:t>Tasso</a:t>
            </a:r>
            <a:r>
              <a:rPr lang="cs-CZ" dirty="0"/>
              <a:t>.</a:t>
            </a:r>
          </a:p>
          <a:p>
            <a:endParaRPr lang="cs-CZ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42757"/>
            <a:ext cx="1656184" cy="1969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383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Německo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1628800"/>
            <a:ext cx="8496944" cy="44973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sz="4500" b="1" dirty="0">
                <a:solidFill>
                  <a:srgbClr val="7030A0"/>
                </a:solidFill>
              </a:rPr>
              <a:t>Hans Jakob </a:t>
            </a:r>
            <a:r>
              <a:rPr lang="cs-CZ" sz="4500" b="1" dirty="0" err="1">
                <a:solidFill>
                  <a:srgbClr val="7030A0"/>
                </a:solidFill>
              </a:rPr>
              <a:t>Christoffel</a:t>
            </a:r>
            <a:r>
              <a:rPr lang="cs-CZ" sz="4500" b="1" dirty="0">
                <a:solidFill>
                  <a:srgbClr val="7030A0"/>
                </a:solidFill>
              </a:rPr>
              <a:t> von </a:t>
            </a:r>
            <a:r>
              <a:rPr lang="cs-CZ" sz="4500" b="1" dirty="0" err="1">
                <a:solidFill>
                  <a:srgbClr val="7030A0"/>
                </a:solidFill>
              </a:rPr>
              <a:t>Grimmelshausen</a:t>
            </a:r>
            <a:endParaRPr lang="cs-CZ" sz="45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cs-CZ" sz="3800" dirty="0"/>
              <a:t>účastnil se třicetileté války, psal </a:t>
            </a:r>
            <a:r>
              <a:rPr lang="cs-CZ" sz="3800" b="1" dirty="0"/>
              <a:t>pikareskní prózy</a:t>
            </a:r>
            <a:r>
              <a:rPr lang="cs-CZ" sz="3800" dirty="0"/>
              <a:t> </a:t>
            </a:r>
          </a:p>
          <a:p>
            <a:pPr marL="0" indent="0">
              <a:buNone/>
            </a:pPr>
            <a:r>
              <a:rPr lang="cs-CZ" sz="3800" dirty="0"/>
              <a:t>(= hrdinou je </a:t>
            </a:r>
            <a:r>
              <a:rPr lang="cs-CZ" sz="3800" dirty="0" err="1"/>
              <a:t>pikaro</a:t>
            </a:r>
            <a:r>
              <a:rPr lang="cs-CZ" sz="3800" dirty="0"/>
              <a:t> nebo </a:t>
            </a:r>
            <a:r>
              <a:rPr lang="cs-CZ" sz="3800" dirty="0" err="1"/>
              <a:t>pikara</a:t>
            </a:r>
            <a:r>
              <a:rPr lang="cs-CZ" sz="3800" dirty="0"/>
              <a:t>, tzn. darebák, šejdíř,</a:t>
            </a:r>
          </a:p>
          <a:p>
            <a:pPr marL="0" indent="0">
              <a:buNone/>
            </a:pPr>
            <a:r>
              <a:rPr lang="cs-CZ" sz="3800" dirty="0"/>
              <a:t>filuta – protlouká se životem pomocí různých fint)</a:t>
            </a:r>
          </a:p>
          <a:p>
            <a:r>
              <a:rPr lang="cs-CZ" sz="4000" b="1" i="1" u="sng" dirty="0">
                <a:solidFill>
                  <a:srgbClr val="006600"/>
                </a:solidFill>
              </a:rPr>
              <a:t>Dobrodružství </a:t>
            </a:r>
            <a:r>
              <a:rPr lang="cs-CZ" sz="4000" b="1" i="1" u="sng" dirty="0" err="1">
                <a:solidFill>
                  <a:srgbClr val="006600"/>
                </a:solidFill>
              </a:rPr>
              <a:t>Simplicia</a:t>
            </a:r>
            <a:r>
              <a:rPr lang="cs-CZ" sz="4000" b="1" i="1" u="sng" dirty="0">
                <a:solidFill>
                  <a:srgbClr val="006600"/>
                </a:solidFill>
              </a:rPr>
              <a:t> </a:t>
            </a:r>
            <a:r>
              <a:rPr lang="cs-CZ" sz="4000" b="1" i="1" u="sng" dirty="0" err="1">
                <a:solidFill>
                  <a:srgbClr val="006600"/>
                </a:solidFill>
              </a:rPr>
              <a:t>Simplicissima</a:t>
            </a:r>
            <a:r>
              <a:rPr lang="cs-CZ" sz="4000" b="1" i="1" dirty="0">
                <a:solidFill>
                  <a:srgbClr val="006600"/>
                </a:solidFill>
              </a:rPr>
              <a:t> </a:t>
            </a:r>
          </a:p>
          <a:p>
            <a:pPr marL="0" lvl="0" indent="0">
              <a:buNone/>
            </a:pPr>
            <a:r>
              <a:rPr lang="cs-CZ" dirty="0"/>
              <a:t>	</a:t>
            </a:r>
            <a:r>
              <a:rPr lang="cs-CZ" sz="3800" dirty="0"/>
              <a:t>„prosťáčka nejprostšího“; zčásti autobiografický </a:t>
            </a:r>
            <a:r>
              <a:rPr lang="cs-CZ" sz="3800" b="1" dirty="0"/>
              <a:t>pikareskní román </a:t>
            </a:r>
            <a:endParaRPr lang="cs-CZ" sz="3800" dirty="0"/>
          </a:p>
          <a:p>
            <a:pPr lvl="0"/>
            <a:r>
              <a:rPr lang="cs-CZ" sz="3800" dirty="0"/>
              <a:t>Do románu se promítnul </a:t>
            </a:r>
            <a:r>
              <a:rPr lang="cs-CZ" sz="3800" dirty="0" err="1"/>
              <a:t>Grimmelshausenův</a:t>
            </a:r>
            <a:r>
              <a:rPr lang="cs-CZ" sz="3800" dirty="0"/>
              <a:t> život (hrozil mu únos). </a:t>
            </a:r>
          </a:p>
          <a:p>
            <a:pPr lvl="0"/>
            <a:r>
              <a:rPr lang="cs-CZ" sz="3800" dirty="0"/>
              <a:t>Prosťáček je unesen, domov je vypleněn, je vychován poustevníkem, ale netuší, že je to přestrojený bohatý šlechtic           a zároveň jeho vlastní otec, prosťáček se pikareskně protlouká válečnou Evropou, válečné hrůzy jsou líčeny s nadhledem.</a:t>
            </a:r>
          </a:p>
          <a:p>
            <a:endParaRPr lang="cs-CZ" sz="3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0"/>
            <a:ext cx="2095500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9671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Anglie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00808"/>
            <a:ext cx="8363272" cy="442535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sz="5100" b="1" dirty="0">
                <a:solidFill>
                  <a:srgbClr val="7030A0"/>
                </a:solidFill>
              </a:rPr>
              <a:t>	John </a:t>
            </a:r>
            <a:r>
              <a:rPr lang="cs-CZ" sz="5100" b="1" dirty="0" err="1">
                <a:solidFill>
                  <a:srgbClr val="7030A0"/>
                </a:solidFill>
              </a:rPr>
              <a:t>Milton</a:t>
            </a:r>
            <a:endParaRPr lang="cs-CZ" sz="5100" dirty="0">
              <a:solidFill>
                <a:srgbClr val="7030A0"/>
              </a:solidFill>
            </a:endParaRPr>
          </a:p>
          <a:p>
            <a:r>
              <a:rPr lang="cs-CZ" dirty="0"/>
              <a:t>- sledoval politiku, byl tajemníkem Cromwella; psal</a:t>
            </a:r>
          </a:p>
          <a:p>
            <a:pPr marL="0" indent="0">
              <a:buNone/>
            </a:pPr>
            <a:r>
              <a:rPr lang="cs-CZ" dirty="0"/>
              <a:t>     poezii (</a:t>
            </a:r>
            <a:r>
              <a:rPr lang="cs-CZ" b="1" dirty="0"/>
              <a:t>sonety, elegie</a:t>
            </a:r>
            <a:r>
              <a:rPr lang="cs-CZ" dirty="0"/>
              <a:t>) i prózu (</a:t>
            </a:r>
            <a:r>
              <a:rPr lang="cs-CZ" b="1" dirty="0"/>
              <a:t>pamflety</a:t>
            </a:r>
            <a:r>
              <a:rPr lang="cs-CZ" dirty="0"/>
              <a:t> = útočný hanlivý</a:t>
            </a:r>
          </a:p>
          <a:p>
            <a:pPr marL="0" indent="0">
              <a:buNone/>
            </a:pPr>
            <a:r>
              <a:rPr lang="cs-CZ" dirty="0"/>
              <a:t>     leták)</a:t>
            </a:r>
          </a:p>
          <a:p>
            <a:r>
              <a:rPr lang="cs-CZ" sz="4000" b="1" i="1" dirty="0">
                <a:solidFill>
                  <a:srgbClr val="006600"/>
                </a:solidFill>
              </a:rPr>
              <a:t>Ztracený ráj</a:t>
            </a:r>
            <a:endParaRPr lang="cs-CZ" sz="4000" i="1" dirty="0">
              <a:solidFill>
                <a:srgbClr val="006600"/>
              </a:solidFill>
            </a:endParaRPr>
          </a:p>
          <a:p>
            <a:pPr lvl="0"/>
            <a:r>
              <a:rPr lang="cs-CZ" b="1" dirty="0"/>
              <a:t>duchovní epos</a:t>
            </a:r>
            <a:r>
              <a:rPr lang="cs-CZ" dirty="0"/>
              <a:t>, interpretováno i jako </a:t>
            </a:r>
            <a:r>
              <a:rPr lang="cs-CZ" b="1" dirty="0"/>
              <a:t>oslava revoluce</a:t>
            </a:r>
            <a:r>
              <a:rPr lang="cs-CZ" dirty="0"/>
              <a:t> (Satan = Cromwell, puritáni = vzbouření andělé, Bůh = král Karel I.); zabývá se svárem dobra a zla v lidském nitru (vychází z biblického námětu vyhnání Adama a Evy z ráje, Satanovou vzpourou proti Bohu, a jeho porážkou - revoluce poražena) . Zdůrazňuje význam práce pro smysluplné žití, díky ní se lidé mohou k dobru vyvíjet a odvrátit svůj osud).</a:t>
            </a:r>
          </a:p>
          <a:p>
            <a:pPr lvl="0"/>
            <a:r>
              <a:rPr lang="cs-CZ" dirty="0"/>
              <a:t>zdůrazňuje </a:t>
            </a:r>
            <a:r>
              <a:rPr lang="cs-CZ" b="1" dirty="0"/>
              <a:t>svobodu lidského rozhodování</a:t>
            </a:r>
            <a:r>
              <a:rPr lang="cs-CZ" dirty="0"/>
              <a:t> proti zásahům osudu a boží vůle</a:t>
            </a:r>
          </a:p>
          <a:p>
            <a:pPr lvl="0"/>
            <a:r>
              <a:rPr lang="cs-CZ" dirty="0"/>
              <a:t>do češtiny přeložil Josef Jungmann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32656"/>
            <a:ext cx="20955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4335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Kontrolní otázky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Které motivy se objevují v barokní literatuře?</a:t>
            </a:r>
          </a:p>
          <a:p>
            <a:r>
              <a:rPr lang="cs-CZ" dirty="0"/>
              <a:t>Kdo je autorem </a:t>
            </a:r>
            <a:r>
              <a:rPr lang="cs-CZ" i="1" dirty="0"/>
              <a:t>Ztraceného ráje</a:t>
            </a:r>
            <a:r>
              <a:rPr lang="cs-CZ" dirty="0"/>
              <a:t>? </a:t>
            </a:r>
          </a:p>
          <a:p>
            <a:r>
              <a:rPr lang="cs-CZ" dirty="0"/>
              <a:t>Kdo přeložil </a:t>
            </a:r>
            <a:r>
              <a:rPr lang="cs-CZ" i="1" dirty="0"/>
              <a:t>Ztracený ráj </a:t>
            </a:r>
            <a:r>
              <a:rPr lang="cs-CZ" dirty="0"/>
              <a:t>do češtiny?</a:t>
            </a:r>
          </a:p>
          <a:p>
            <a:r>
              <a:rPr lang="cs-CZ" dirty="0"/>
              <a:t>Který barokní autor se stal inspirací </a:t>
            </a:r>
            <a:r>
              <a:rPr lang="cs-CZ"/>
              <a:t>pro Goetha?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1752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Seznam obrázků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1600" dirty="0" err="1"/>
              <a:t>DEZIDOR</a:t>
            </a:r>
            <a:r>
              <a:rPr lang="cs-CZ" sz="1600" dirty="0"/>
              <a:t>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http://</a:t>
            </a:r>
            <a:r>
              <a:rPr lang="cs-CZ" sz="1600" dirty="0" err="1"/>
              <a:t>cs.wikipedia.org</a:t>
            </a:r>
            <a:r>
              <a:rPr lang="cs-CZ" sz="1600" dirty="0"/>
              <a:t>/wiki/</a:t>
            </a:r>
            <a:r>
              <a:rPr lang="cs-CZ" sz="1600" dirty="0" err="1"/>
              <a:t>Soubor:Brno</a:t>
            </a:r>
            <a:r>
              <a:rPr lang="cs-CZ" sz="1600" dirty="0"/>
              <a:t>,_kostel_%</a:t>
            </a:r>
            <a:r>
              <a:rPr lang="cs-CZ" sz="1600" dirty="0" err="1"/>
              <a:t>2810%29.jpg</a:t>
            </a:r>
            <a:r>
              <a:rPr lang="cs-CZ" sz="1600" dirty="0"/>
              <a:t> </a:t>
            </a:r>
          </a:p>
          <a:p>
            <a:r>
              <a:rPr lang="cs-CZ" sz="1600" dirty="0" err="1"/>
              <a:t>DCOETZEE</a:t>
            </a:r>
            <a:r>
              <a:rPr lang="cs-CZ" sz="1600" dirty="0"/>
              <a:t>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</a:t>
            </a:r>
            <a:r>
              <a:rPr lang="cs-CZ" sz="1600" dirty="0">
                <a:hlinkClick r:id="rId2"/>
              </a:rPr>
              <a:t>http://</a:t>
            </a:r>
            <a:r>
              <a:rPr lang="cs-CZ" sz="1600" dirty="0" err="1">
                <a:hlinkClick r:id="rId2"/>
              </a:rPr>
              <a:t>cs.wikipedia.org</a:t>
            </a:r>
            <a:r>
              <a:rPr lang="cs-CZ" sz="1600" dirty="0">
                <a:hlinkClick r:id="rId2"/>
              </a:rPr>
              <a:t>/wiki/Soubor:The_Three_Graces,_by_Peter_Paul_Rubens,_from_Prado_in_Google_Earth.jpg</a:t>
            </a:r>
            <a:endParaRPr lang="cs-CZ" sz="1600" dirty="0"/>
          </a:p>
          <a:p>
            <a:r>
              <a:rPr lang="cs-CZ" sz="1600" dirty="0"/>
              <a:t>NIKITA.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http://</a:t>
            </a:r>
            <a:r>
              <a:rPr lang="cs-CZ" sz="1600" dirty="0" err="1"/>
              <a:t>cs.wikipedia.org</a:t>
            </a:r>
            <a:r>
              <a:rPr lang="cs-CZ" sz="1600" dirty="0"/>
              <a:t>/wiki/</a:t>
            </a:r>
            <a:r>
              <a:rPr lang="cs-CZ" sz="1600" dirty="0" err="1"/>
              <a:t>Soubor:Rubens_self_portrait.jpg</a:t>
            </a:r>
            <a:r>
              <a:rPr lang="cs-CZ" sz="1600" dirty="0"/>
              <a:t> </a:t>
            </a:r>
          </a:p>
          <a:p>
            <a:r>
              <a:rPr lang="cs-CZ" sz="1600" dirty="0" err="1"/>
              <a:t>KARELJ</a:t>
            </a:r>
            <a:r>
              <a:rPr lang="cs-CZ" sz="1600" dirty="0"/>
              <a:t>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http://</a:t>
            </a:r>
            <a:r>
              <a:rPr lang="cs-CZ" sz="1600" dirty="0" err="1"/>
              <a:t>cs.wikipedia.org</a:t>
            </a:r>
            <a:r>
              <a:rPr lang="cs-CZ" sz="1600" dirty="0"/>
              <a:t>/wiki/</a:t>
            </a:r>
            <a:r>
              <a:rPr lang="cs-CZ" sz="1600" dirty="0" err="1"/>
              <a:t>Soubor:Sv</a:t>
            </a:r>
            <a:r>
              <a:rPr lang="cs-CZ" sz="1600" dirty="0"/>
              <a:t>._</a:t>
            </a:r>
            <a:r>
              <a:rPr lang="cs-CZ" sz="1600" dirty="0" err="1"/>
              <a:t>Ivo.jpg</a:t>
            </a:r>
            <a:r>
              <a:rPr lang="cs-CZ" sz="1600" dirty="0"/>
              <a:t> </a:t>
            </a:r>
          </a:p>
          <a:p>
            <a:r>
              <a:rPr lang="cs-CZ" sz="1600" dirty="0"/>
              <a:t>POSTRACH.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http://</a:t>
            </a:r>
            <a:r>
              <a:rPr lang="cs-CZ" sz="1600" dirty="0" err="1"/>
              <a:t>cs.wikipedia.org</a:t>
            </a:r>
            <a:r>
              <a:rPr lang="cs-CZ" sz="1600" dirty="0"/>
              <a:t>/wiki/</a:t>
            </a:r>
            <a:r>
              <a:rPr lang="cs-CZ" sz="1600" dirty="0" err="1"/>
              <a:t>Soubor:Kuks_Big_Christian_Warior.jpg</a:t>
            </a:r>
            <a:r>
              <a:rPr lang="cs-CZ" sz="1600" dirty="0"/>
              <a:t> </a:t>
            </a:r>
          </a:p>
          <a:p>
            <a:r>
              <a:rPr lang="en-US" sz="1600" dirty="0" err="1"/>
              <a:t>KL833X9</a:t>
            </a:r>
            <a:r>
              <a:rPr lang="en-US" sz="1600" dirty="0"/>
              <a:t>. </a:t>
            </a:r>
            <a:r>
              <a:rPr lang="en-US" sz="1600" i="1" dirty="0"/>
              <a:t>Wikimedia Commons</a:t>
            </a:r>
            <a:r>
              <a:rPr lang="en-US" sz="1600" dirty="0"/>
              <a:t> [online]. [cit. 29.1.2013]. </a:t>
            </a:r>
            <a:r>
              <a:rPr lang="en-US" sz="1600" dirty="0" err="1"/>
              <a:t>Dostupný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WWW: </a:t>
            </a:r>
            <a:r>
              <a:rPr lang="en-US" sz="1600" dirty="0">
                <a:hlinkClick r:id="rId3"/>
              </a:rPr>
              <a:t>http://</a:t>
            </a:r>
            <a:r>
              <a:rPr lang="en-US" sz="1600" dirty="0" err="1">
                <a:hlinkClick r:id="rId3"/>
              </a:rPr>
              <a:t>cs.wikipedia.org</a:t>
            </a:r>
            <a:r>
              <a:rPr lang="en-US" sz="1600" dirty="0">
                <a:hlinkClick r:id="rId3"/>
              </a:rPr>
              <a:t>/wiki/</a:t>
            </a:r>
            <a:r>
              <a:rPr lang="en-US" sz="1600" dirty="0" err="1">
                <a:hlinkClick r:id="rId3"/>
              </a:rPr>
              <a:t>Soubor:Don_Pedro_Calderon_de_la_Barca.jpg</a:t>
            </a:r>
            <a:endParaRPr lang="cs-CZ" sz="1600" dirty="0"/>
          </a:p>
          <a:p>
            <a:r>
              <a:rPr lang="cs-CZ" sz="1600" dirty="0" err="1"/>
              <a:t>GABOR</a:t>
            </a:r>
            <a:r>
              <a:rPr lang="cs-CZ" sz="1600" dirty="0"/>
              <a:t>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</a:t>
            </a:r>
            <a:r>
              <a:rPr lang="cs-CZ" sz="1600" dirty="0">
                <a:hlinkClick r:id="rId4"/>
              </a:rPr>
              <a:t>http://</a:t>
            </a:r>
            <a:r>
              <a:rPr lang="cs-CZ" sz="1600" dirty="0" err="1">
                <a:hlinkClick r:id="rId4"/>
              </a:rPr>
              <a:t>cs.wikipedia.org</a:t>
            </a:r>
            <a:r>
              <a:rPr lang="cs-CZ" sz="1600" dirty="0">
                <a:hlinkClick r:id="rId4"/>
              </a:rPr>
              <a:t>/wiki/</a:t>
            </a:r>
            <a:r>
              <a:rPr lang="cs-CZ" sz="1600" dirty="0" err="1">
                <a:hlinkClick r:id="rId4"/>
              </a:rPr>
              <a:t>Soubor:Torquato_Tasso.jpg</a:t>
            </a:r>
            <a:endParaRPr lang="cs-CZ" sz="1600" dirty="0"/>
          </a:p>
          <a:p>
            <a:r>
              <a:rPr lang="cs-CZ" sz="1600" dirty="0" err="1"/>
              <a:t>SVENCB</a:t>
            </a:r>
            <a:r>
              <a:rPr lang="cs-CZ" sz="1600" dirty="0"/>
              <a:t>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http://</a:t>
            </a:r>
            <a:r>
              <a:rPr lang="cs-CZ" sz="1600" dirty="0" err="1"/>
              <a:t>cs.wikipedia.org</a:t>
            </a:r>
            <a:r>
              <a:rPr lang="cs-CZ" sz="1600" dirty="0"/>
              <a:t>/wiki/</a:t>
            </a:r>
            <a:r>
              <a:rPr lang="cs-CZ" sz="1600" dirty="0" err="1"/>
              <a:t>Soubor:Hans_Jakob_Christoffel_von_Grimmelshausen.jpeg</a:t>
            </a:r>
            <a:r>
              <a:rPr lang="cs-CZ" sz="1600" dirty="0"/>
              <a:t> </a:t>
            </a:r>
          </a:p>
          <a:p>
            <a:r>
              <a:rPr lang="cs-CZ" sz="1600" dirty="0" err="1"/>
              <a:t>AIRUNP</a:t>
            </a:r>
            <a:r>
              <a:rPr lang="cs-CZ" sz="1600" dirty="0"/>
              <a:t>. </a:t>
            </a:r>
            <a:r>
              <a:rPr lang="cs-CZ" sz="1600" i="1" dirty="0" err="1"/>
              <a:t>Wikimedia</a:t>
            </a:r>
            <a:r>
              <a:rPr lang="cs-CZ" sz="1600" i="1" dirty="0"/>
              <a:t> </a:t>
            </a:r>
            <a:r>
              <a:rPr lang="cs-CZ" sz="1600" i="1" dirty="0" err="1"/>
              <a:t>Commons</a:t>
            </a:r>
            <a:r>
              <a:rPr lang="cs-CZ" sz="1600" dirty="0"/>
              <a:t> [online]. [cit. 29.1.2013]. Dostupný na WWW: http://</a:t>
            </a:r>
            <a:r>
              <a:rPr lang="cs-CZ" sz="1600" dirty="0" err="1"/>
              <a:t>cs.wikipedia.org</a:t>
            </a:r>
            <a:r>
              <a:rPr lang="cs-CZ" sz="1600" dirty="0"/>
              <a:t>/wiki/Soubor:John_</a:t>
            </a:r>
            <a:r>
              <a:rPr lang="cs-CZ" sz="1600" dirty="0" err="1"/>
              <a:t>Milton</a:t>
            </a:r>
            <a:r>
              <a:rPr lang="cs-CZ" sz="1600" dirty="0"/>
              <a:t>_-_</a:t>
            </a:r>
            <a:r>
              <a:rPr lang="cs-CZ" sz="1600" dirty="0" err="1"/>
              <a:t>Project_Gutenberg_eText_13619.jpg</a:t>
            </a:r>
            <a:r>
              <a:rPr lang="cs-CZ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223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Seznam zdrojů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/>
              <a:t>Česká literatura od počátků k dnešku</a:t>
            </a:r>
            <a:r>
              <a:rPr lang="cs-CZ" dirty="0"/>
              <a:t>. 1. vyd. Praha: Lidové noviny, 1998, 1048 s. ISBN 80-710-6308-8.</a:t>
            </a:r>
          </a:p>
          <a:p>
            <a:r>
              <a:rPr lang="cs-CZ" dirty="0"/>
              <a:t>NEZKUSIL, Vladimír. </a:t>
            </a:r>
            <a:r>
              <a:rPr lang="cs-CZ" i="1" dirty="0"/>
              <a:t>Česká a světová literatura pro 1. ročník středních škol: nejstarší literární památky : počátky českého národního obrození</a:t>
            </a:r>
            <a:r>
              <a:rPr lang="cs-CZ" dirty="0"/>
              <a:t>. 2. vyd. Praha: Fortuna, 2002, 149 s. ISBN 80-716-8653-0.</a:t>
            </a:r>
          </a:p>
        </p:txBody>
      </p:sp>
    </p:spTree>
    <p:extLst>
      <p:ext uri="{BB962C8B-B14F-4D97-AF65-F5344CB8AC3E}">
        <p14:creationId xmlns:p14="http://schemas.microsoft.com/office/powerpoint/2010/main" val="113071366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1026</Words>
  <Application>Microsoft Office PowerPoint</Application>
  <PresentationFormat>Předvádění na obrazovce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Motiv systému Office</vt:lpstr>
      <vt:lpstr>Baroko v evropské literatuře</vt:lpstr>
      <vt:lpstr>Prezentace aplikace PowerPoint</vt:lpstr>
      <vt:lpstr>Prezentace aplikace PowerPoint</vt:lpstr>
      <vt:lpstr>Prezentace aplikace PowerPoint</vt:lpstr>
      <vt:lpstr>Španělsko</vt:lpstr>
      <vt:lpstr>Itálie</vt:lpstr>
      <vt:lpstr>Německo</vt:lpstr>
      <vt:lpstr>Anglie</vt:lpstr>
      <vt:lpstr>Kontrolní otázky</vt:lpstr>
      <vt:lpstr>Seznam obrázků</vt:lpstr>
      <vt:lpstr>Seznam zdrojů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Baroko v evropské literatuře</dc:title>
  <dc:creator>uzivatel</dc:creator>
  <cp:lastModifiedBy>Věra Hanáková</cp:lastModifiedBy>
  <cp:revision>10</cp:revision>
  <dcterms:created xsi:type="dcterms:W3CDTF">2013-01-29T15:05:05Z</dcterms:created>
  <dcterms:modified xsi:type="dcterms:W3CDTF">2024-03-13T21:13:02Z</dcterms:modified>
</cp:coreProperties>
</file>