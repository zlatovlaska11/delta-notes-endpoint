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80" r:id="rId3"/>
    <p:sldId id="282" r:id="rId4"/>
    <p:sldId id="283" r:id="rId5"/>
    <p:sldId id="284" r:id="rId6"/>
    <p:sldId id="285" r:id="rId7"/>
    <p:sldId id="281" r:id="rId8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1387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D180F2-4C36-45A1-9965-A39C69028CB9}" type="datetimeFigureOut">
              <a:rPr lang="cs-CZ" smtClean="0"/>
              <a:pPr/>
              <a:t>15.02.2024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9EA364-DD19-4EA3-8506-C73E6D7ED211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92118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Klepnutím lze upravit styl předlohy podnadpisů.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D7B6-3B63-4C96-AF1E-57D052A26F1B}" type="datetimeFigureOut">
              <a:rPr lang="cs-CZ" smtClean="0"/>
              <a:pPr/>
              <a:t>15.02.2024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AA2-1B26-4F89-B9F9-30576F2FC279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D7B6-3B63-4C96-AF1E-57D052A26F1B}" type="datetimeFigureOut">
              <a:rPr lang="cs-CZ" smtClean="0"/>
              <a:pPr/>
              <a:t>15.02.2024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AA2-1B26-4F89-B9F9-30576F2FC279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D7B6-3B63-4C96-AF1E-57D052A26F1B}" type="datetimeFigureOut">
              <a:rPr lang="cs-CZ" smtClean="0"/>
              <a:pPr/>
              <a:t>15.02.2024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AA2-1B26-4F89-B9F9-30576F2FC279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D7B6-3B63-4C96-AF1E-57D052A26F1B}" type="datetimeFigureOut">
              <a:rPr lang="cs-CZ" smtClean="0"/>
              <a:pPr/>
              <a:t>15.02.2024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AA2-1B26-4F89-B9F9-30576F2FC279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D7B6-3B63-4C96-AF1E-57D052A26F1B}" type="datetimeFigureOut">
              <a:rPr lang="cs-CZ" smtClean="0"/>
              <a:pPr/>
              <a:t>15.02.2024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AA2-1B26-4F89-B9F9-30576F2FC279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D7B6-3B63-4C96-AF1E-57D052A26F1B}" type="datetimeFigureOut">
              <a:rPr lang="cs-CZ" smtClean="0"/>
              <a:pPr/>
              <a:t>15.02.2024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AA2-1B26-4F89-B9F9-30576F2FC279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D7B6-3B63-4C96-AF1E-57D052A26F1B}" type="datetimeFigureOut">
              <a:rPr lang="cs-CZ" smtClean="0"/>
              <a:pPr/>
              <a:t>15.02.2024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AA2-1B26-4F89-B9F9-30576F2FC279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D7B6-3B63-4C96-AF1E-57D052A26F1B}" type="datetimeFigureOut">
              <a:rPr lang="cs-CZ" smtClean="0"/>
              <a:pPr/>
              <a:t>15.02.2024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AA2-1B26-4F89-B9F9-30576F2FC279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D7B6-3B63-4C96-AF1E-57D052A26F1B}" type="datetimeFigureOut">
              <a:rPr lang="cs-CZ" smtClean="0"/>
              <a:pPr/>
              <a:t>15.02.2024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AA2-1B26-4F89-B9F9-30576F2FC279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D7B6-3B63-4C96-AF1E-57D052A26F1B}" type="datetimeFigureOut">
              <a:rPr lang="cs-CZ" smtClean="0"/>
              <a:pPr/>
              <a:t>15.02.2024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AA2-1B26-4F89-B9F9-30576F2FC279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D7B6-3B63-4C96-AF1E-57D052A26F1B}" type="datetimeFigureOut">
              <a:rPr lang="cs-CZ" smtClean="0"/>
              <a:pPr/>
              <a:t>15.02.2024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AA2-1B26-4F89-B9F9-30576F2FC279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D7B6-3B63-4C96-AF1E-57D052A26F1B}" type="datetimeFigureOut">
              <a:rPr lang="cs-CZ" smtClean="0"/>
              <a:pPr/>
              <a:t>15.02.2024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C81AA2-1B26-4F89-B9F9-30576F2FC279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Funkční styly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0486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400" b="1" dirty="0"/>
              <a:t>1. funkční styl prostě sdělovací</a:t>
            </a:r>
            <a:endParaRPr lang="cs-CZ" sz="2400" dirty="0"/>
          </a:p>
          <a:p>
            <a:pPr marL="0" indent="0">
              <a:buNone/>
            </a:pPr>
            <a:r>
              <a:rPr lang="cs-CZ" sz="2400" dirty="0"/>
              <a:t>- vznikl na bázi spisovného jazyka, ale z 95 % nespisovný</a:t>
            </a:r>
          </a:p>
          <a:p>
            <a:pPr marL="0" indent="0">
              <a:buNone/>
            </a:pPr>
            <a:r>
              <a:rPr lang="cs-CZ" sz="2400" dirty="0"/>
              <a:t>a) hláskosloví a tvarosloví </a:t>
            </a:r>
          </a:p>
          <a:p>
            <a:pPr marL="0" indent="0">
              <a:buNone/>
            </a:pPr>
            <a:r>
              <a:rPr lang="cs-CZ" sz="2400" dirty="0"/>
              <a:t>	- obecně české jevy</a:t>
            </a:r>
          </a:p>
          <a:p>
            <a:pPr marL="0" indent="0">
              <a:buNone/>
            </a:pPr>
            <a:r>
              <a:rPr lang="cs-CZ" sz="2400" dirty="0"/>
              <a:t>	- tvaroslovné: tisk x tiskl, </a:t>
            </a:r>
            <a:r>
              <a:rPr lang="cs-CZ" sz="2400" dirty="0" err="1"/>
              <a:t>nesem</a:t>
            </a:r>
            <a:r>
              <a:rPr lang="cs-CZ" sz="2400" dirty="0"/>
              <a:t> x neseme, v 7. p. </a:t>
            </a:r>
            <a:r>
              <a:rPr lang="cs-CZ" sz="2400" dirty="0" err="1"/>
              <a:t>pl</a:t>
            </a:r>
            <a:r>
              <a:rPr lang="cs-CZ" sz="2400" dirty="0"/>
              <a:t>. 		koncovka – </a:t>
            </a:r>
            <a:r>
              <a:rPr lang="cs-CZ" sz="2400" dirty="0" err="1"/>
              <a:t>ama</a:t>
            </a:r>
            <a:endParaRPr lang="cs-CZ" sz="2400" dirty="0"/>
          </a:p>
          <a:p>
            <a:pPr marL="0" indent="0">
              <a:buNone/>
            </a:pPr>
            <a:r>
              <a:rPr lang="cs-CZ" sz="2400" dirty="0"/>
              <a:t>	- slovesa v činném rodě</a:t>
            </a:r>
          </a:p>
          <a:p>
            <a:pPr marL="0" indent="0">
              <a:buNone/>
            </a:pPr>
            <a:r>
              <a:rPr lang="cs-CZ" sz="2400" dirty="0"/>
              <a:t>b) větná stavba</a:t>
            </a:r>
          </a:p>
          <a:p>
            <a:pPr marL="0" indent="0">
              <a:buNone/>
            </a:pPr>
            <a:r>
              <a:rPr lang="cs-CZ" sz="2400" dirty="0"/>
              <a:t>	- jednoduchá souvětí, časté výchylky z větné vazby</a:t>
            </a:r>
          </a:p>
          <a:p>
            <a:pPr marL="0" indent="0">
              <a:buNone/>
            </a:pPr>
            <a:r>
              <a:rPr lang="cs-CZ" sz="2400" dirty="0"/>
              <a:t>c) slovní zásoba</a:t>
            </a:r>
          </a:p>
          <a:p>
            <a:pPr marL="0" indent="0">
              <a:buNone/>
            </a:pPr>
            <a:r>
              <a:rPr lang="cs-CZ" sz="2400" dirty="0"/>
              <a:t>- užívají se běžná slova, naopak neužívají slova knižní a zastaralá, 	odborné názvy atd.</a:t>
            </a:r>
          </a:p>
          <a:p>
            <a:pPr marL="0" indent="0">
              <a:buNone/>
            </a:pPr>
            <a:r>
              <a:rPr lang="cs-CZ" sz="2400" dirty="0"/>
              <a:t>d) žánry: vypravování, telefonát, </a:t>
            </a:r>
            <a:r>
              <a:rPr lang="cs-CZ" sz="2400" dirty="0" err="1"/>
              <a:t>sms</a:t>
            </a:r>
            <a:r>
              <a:rPr lang="cs-CZ" sz="2400" dirty="0"/>
              <a:t>, email, dopis</a:t>
            </a:r>
          </a:p>
        </p:txBody>
      </p:sp>
    </p:spTree>
    <p:extLst>
      <p:ext uri="{BB962C8B-B14F-4D97-AF65-F5344CB8AC3E}">
        <p14:creationId xmlns:p14="http://schemas.microsoft.com/office/powerpoint/2010/main" val="1089042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0486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400" b="1" dirty="0"/>
              <a:t>2. funkční styl odborný</a:t>
            </a:r>
            <a:endParaRPr lang="cs-CZ" sz="2400" dirty="0"/>
          </a:p>
          <a:p>
            <a:pPr marL="0" indent="0">
              <a:buNone/>
            </a:pPr>
            <a:r>
              <a:rPr lang="cs-CZ" sz="2400" dirty="0"/>
              <a:t>- v technice, vědě = všude tam, kde je potřeba se vyjadřovat 	přesně, o složitých věcech</a:t>
            </a:r>
          </a:p>
          <a:p>
            <a:pPr marL="0" indent="0">
              <a:buNone/>
            </a:pPr>
            <a:r>
              <a:rPr lang="cs-CZ" sz="2400" dirty="0"/>
              <a:t>a) hláskosloví a tvarosloví</a:t>
            </a:r>
          </a:p>
          <a:p>
            <a:pPr marL="0" indent="0">
              <a:buNone/>
            </a:pPr>
            <a:r>
              <a:rPr lang="cs-CZ" sz="2400" dirty="0"/>
              <a:t>	- spisovné, časté jsou i knižní výrazy</a:t>
            </a:r>
          </a:p>
          <a:p>
            <a:pPr marL="0" indent="0">
              <a:buNone/>
            </a:pPr>
            <a:r>
              <a:rPr lang="cs-CZ" sz="2400" dirty="0"/>
              <a:t>	- častý výskyt trpného rodu</a:t>
            </a:r>
          </a:p>
          <a:p>
            <a:pPr marL="0" indent="0">
              <a:buNone/>
            </a:pPr>
            <a:r>
              <a:rPr lang="cs-CZ" sz="2400" dirty="0"/>
              <a:t>	- užití přechodníků</a:t>
            </a:r>
          </a:p>
          <a:p>
            <a:pPr marL="0" indent="0">
              <a:buNone/>
            </a:pPr>
            <a:r>
              <a:rPr lang="cs-CZ" sz="2400" dirty="0"/>
              <a:t>b) syntax</a:t>
            </a:r>
          </a:p>
          <a:p>
            <a:pPr marL="0" indent="0">
              <a:buNone/>
            </a:pPr>
            <a:r>
              <a:rPr lang="cs-CZ" sz="2400" dirty="0"/>
              <a:t>	- častá složitá souvětí, bohatě rozvité věty jednoduché</a:t>
            </a:r>
          </a:p>
          <a:p>
            <a:pPr marL="0" indent="0">
              <a:buNone/>
            </a:pPr>
            <a:r>
              <a:rPr lang="cs-CZ" sz="2400" dirty="0"/>
              <a:t>c) lexikum</a:t>
            </a:r>
          </a:p>
          <a:p>
            <a:pPr marL="0" indent="0">
              <a:buNone/>
            </a:pPr>
            <a:r>
              <a:rPr lang="cs-CZ" sz="2400" dirty="0"/>
              <a:t>	- užití odborného názvosloví, např. molekula, tepelný 		šum, syntax, lexikum</a:t>
            </a:r>
          </a:p>
          <a:p>
            <a:pPr marL="0" indent="0">
              <a:buNone/>
            </a:pPr>
            <a:r>
              <a:rPr lang="cs-CZ" sz="2400" dirty="0"/>
              <a:t>	- užity výrazy profesní mluvy</a:t>
            </a:r>
          </a:p>
          <a:p>
            <a:pPr marL="0" indent="0">
              <a:buNone/>
            </a:pPr>
            <a:r>
              <a:rPr lang="cs-CZ" sz="2400" dirty="0"/>
              <a:t>d) nejčastější žánry: přednáška, výklad, úvaha, referát, výpisky</a:t>
            </a:r>
          </a:p>
          <a:p>
            <a:pPr marL="0" indent="0">
              <a:buNone/>
            </a:pPr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3924362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04867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cs-CZ" sz="2600" b="1" dirty="0"/>
              <a:t>3. styl publicistický</a:t>
            </a:r>
            <a:endParaRPr lang="cs-CZ" sz="2600" dirty="0"/>
          </a:p>
          <a:p>
            <a:pPr marL="0" indent="0">
              <a:buNone/>
            </a:pPr>
            <a:r>
              <a:rPr lang="cs-CZ" sz="2400" dirty="0"/>
              <a:t>- v novinách, časopisech, řečnických projevech, na internetu	</a:t>
            </a:r>
          </a:p>
          <a:p>
            <a:pPr marL="0" indent="0">
              <a:buNone/>
            </a:pPr>
            <a:r>
              <a:rPr lang="cs-CZ" sz="2400" dirty="0"/>
              <a:t>- snaží se navodit kontakt s adresátem – např. oslovením, dojmem dialogu </a:t>
            </a:r>
          </a:p>
          <a:p>
            <a:pPr marL="0" indent="0">
              <a:buNone/>
            </a:pPr>
            <a:r>
              <a:rPr lang="cs-CZ" sz="2400" dirty="0"/>
              <a:t>	(zkuste se podívat, zamysleme se)</a:t>
            </a:r>
          </a:p>
          <a:p>
            <a:pPr marL="0" indent="0">
              <a:buNone/>
            </a:pPr>
            <a:r>
              <a:rPr lang="cs-CZ" sz="2400" dirty="0"/>
              <a:t>a) hláskosloví a tvarosloví</a:t>
            </a:r>
          </a:p>
          <a:p>
            <a:pPr marL="0" indent="0">
              <a:buNone/>
            </a:pPr>
            <a:r>
              <a:rPr lang="cs-CZ" sz="2400" dirty="0"/>
              <a:t>	- spisovné s drobnými odchylkami </a:t>
            </a:r>
          </a:p>
          <a:p>
            <a:pPr marL="0" indent="0">
              <a:buNone/>
            </a:pPr>
            <a:r>
              <a:rPr lang="cs-CZ" sz="2400" dirty="0"/>
              <a:t>b) syntax</a:t>
            </a:r>
          </a:p>
          <a:p>
            <a:pPr marL="0" indent="0">
              <a:buNone/>
            </a:pPr>
            <a:r>
              <a:rPr lang="cs-CZ" sz="2400" dirty="0"/>
              <a:t>	- dvoučlenné vět oznamovací </a:t>
            </a:r>
          </a:p>
          <a:p>
            <a:pPr marL="0" indent="0">
              <a:buNone/>
            </a:pPr>
            <a:r>
              <a:rPr lang="cs-CZ" sz="2400" dirty="0"/>
              <a:t>	- věty zvolací, rozkazovací, tázací – mířeny na adresáta</a:t>
            </a:r>
          </a:p>
          <a:p>
            <a:pPr marL="0" indent="0">
              <a:buNone/>
            </a:pPr>
            <a:r>
              <a:rPr lang="cs-CZ" sz="2400" dirty="0"/>
              <a:t>c) lexikum</a:t>
            </a:r>
          </a:p>
          <a:p>
            <a:pPr marL="0" indent="0">
              <a:buNone/>
            </a:pPr>
            <a:r>
              <a:rPr lang="cs-CZ" sz="2400" dirty="0"/>
              <a:t>	- kontaktové prostředky – učiňme, podívejme se</a:t>
            </a:r>
          </a:p>
          <a:p>
            <a:pPr marL="0" indent="0">
              <a:buNone/>
            </a:pPr>
            <a:r>
              <a:rPr lang="cs-CZ" sz="2400" dirty="0"/>
              <a:t>	- obrazná pojmenování – metafory, metonymie, přirovnání atd.</a:t>
            </a:r>
          </a:p>
          <a:p>
            <a:pPr marL="0" indent="0">
              <a:buNone/>
            </a:pPr>
            <a:r>
              <a:rPr lang="cs-CZ" sz="2400" dirty="0"/>
              <a:t>	- módní slova – mapovat, transformovat, časový horizont</a:t>
            </a:r>
          </a:p>
          <a:p>
            <a:pPr marL="0" indent="0">
              <a:buNone/>
            </a:pPr>
            <a:r>
              <a:rPr lang="cs-CZ" sz="2400" dirty="0"/>
              <a:t>	- frazémy – přísloví, pořekadla</a:t>
            </a:r>
          </a:p>
          <a:p>
            <a:pPr marL="0" indent="0">
              <a:buNone/>
            </a:pPr>
            <a:r>
              <a:rPr lang="cs-CZ" sz="2400" dirty="0"/>
              <a:t>	- klišé</a:t>
            </a:r>
          </a:p>
          <a:p>
            <a:pPr marL="0" indent="0">
              <a:buNone/>
            </a:pPr>
            <a:r>
              <a:rPr lang="cs-CZ" sz="2400" dirty="0"/>
              <a:t>d) žánry: zpráva, oznámení, interview, kritika, recenze, reklama, 	fejeton, sloupek</a:t>
            </a:r>
          </a:p>
          <a:p>
            <a:pPr marL="0" indent="0">
              <a:buNone/>
            </a:pPr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2809659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0486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400" b="1" dirty="0"/>
              <a:t>4. styl administrativní</a:t>
            </a:r>
            <a:endParaRPr lang="cs-CZ" sz="2400" dirty="0"/>
          </a:p>
          <a:p>
            <a:pPr marL="0" indent="0">
              <a:buNone/>
            </a:pPr>
            <a:r>
              <a:rPr lang="cs-CZ" sz="2400" dirty="0"/>
              <a:t>a) hláskosloví, tvarosloví –  spisovné</a:t>
            </a:r>
          </a:p>
          <a:p>
            <a:pPr marL="0" indent="0">
              <a:buNone/>
            </a:pPr>
            <a:endParaRPr lang="cs-CZ" sz="2400" dirty="0"/>
          </a:p>
          <a:p>
            <a:pPr marL="0" indent="0">
              <a:buNone/>
            </a:pPr>
            <a:r>
              <a:rPr lang="cs-CZ" sz="2400" dirty="0"/>
              <a:t>b) syntax – snaha po jednoznačném vyjadřování, 			vypouštění slovesa</a:t>
            </a:r>
          </a:p>
          <a:p>
            <a:pPr marL="0" indent="0">
              <a:buNone/>
            </a:pPr>
            <a:endParaRPr lang="cs-CZ" sz="2400" dirty="0"/>
          </a:p>
          <a:p>
            <a:pPr marL="0" indent="0">
              <a:buNone/>
            </a:pPr>
            <a:r>
              <a:rPr lang="cs-CZ" sz="2400" dirty="0"/>
              <a:t>c) lexikum – administrativní výrazy (účtujeme, 			fakturujeme, daň, splátka) + výrazy daného oboru 		(ze stavitelství, zemědělství atd.)</a:t>
            </a:r>
          </a:p>
          <a:p>
            <a:pPr marL="0" indent="0">
              <a:buNone/>
            </a:pPr>
            <a:endParaRPr lang="cs-CZ" sz="2400" dirty="0"/>
          </a:p>
          <a:p>
            <a:pPr marL="0" indent="0">
              <a:buNone/>
            </a:pPr>
            <a:r>
              <a:rPr lang="cs-CZ" sz="2400" dirty="0"/>
              <a:t>d) útvary: strukturovaný životopis (jak se liší), dotazník, 		školní vysvědčení, inventární seznamy, úřední 		dopis</a:t>
            </a:r>
          </a:p>
          <a:p>
            <a:pPr marL="0" indent="0">
              <a:buNone/>
            </a:pPr>
            <a:endParaRPr lang="cs-CZ" sz="2000" dirty="0"/>
          </a:p>
        </p:txBody>
      </p:sp>
    </p:spTree>
    <p:extLst>
      <p:ext uri="{BB962C8B-B14F-4D97-AF65-F5344CB8AC3E}">
        <p14:creationId xmlns:p14="http://schemas.microsoft.com/office/powerpoint/2010/main" val="1990814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0486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400" b="1" dirty="0"/>
              <a:t>5. styl umělecký</a:t>
            </a:r>
            <a:endParaRPr lang="cs-CZ" sz="2400" dirty="0"/>
          </a:p>
          <a:p>
            <a:pPr marL="0" indent="0">
              <a:buNone/>
            </a:pPr>
            <a:r>
              <a:rPr lang="cs-CZ" sz="2400" b="1" dirty="0"/>
              <a:t>	- </a:t>
            </a:r>
            <a:r>
              <a:rPr lang="cs-CZ" sz="2400" dirty="0"/>
              <a:t>určený pro uměleckou literaturu</a:t>
            </a:r>
          </a:p>
          <a:p>
            <a:pPr marL="0" indent="0">
              <a:buNone/>
            </a:pPr>
            <a:endParaRPr lang="cs-CZ" sz="2400" dirty="0"/>
          </a:p>
          <a:p>
            <a:pPr marL="0" indent="0">
              <a:buNone/>
            </a:pPr>
            <a:r>
              <a:rPr lang="cs-CZ" sz="2400" dirty="0"/>
              <a:t>a) hláskosloví a tvarosloví - záleží na autorovi – může být 	spisovné i nespisovné</a:t>
            </a:r>
          </a:p>
          <a:p>
            <a:pPr marL="0" indent="0">
              <a:buNone/>
            </a:pPr>
            <a:r>
              <a:rPr lang="cs-CZ" sz="2400" dirty="0"/>
              <a:t>b) syntax - záleží na autorovi a na tom, jestli jde o lyriku, epiku 	nebo drama</a:t>
            </a:r>
          </a:p>
          <a:p>
            <a:pPr marL="0" indent="0">
              <a:buNone/>
            </a:pPr>
            <a:r>
              <a:rPr lang="cs-CZ" sz="2400" dirty="0"/>
              <a:t>c) lexikum - záleží na autorovi, mohou být slova nářeční, 	spisovná, nespisovná, termíny, archaismy...</a:t>
            </a:r>
          </a:p>
          <a:p>
            <a:pPr marL="0" indent="0">
              <a:buNone/>
            </a:pPr>
            <a:r>
              <a:rPr lang="cs-CZ" sz="2400" dirty="0"/>
              <a:t>d) žánry: fejeton, esej, literatura faktu, reportáž</a:t>
            </a:r>
          </a:p>
          <a:p>
            <a:pPr marL="0" indent="0">
              <a:buNone/>
            </a:pPr>
            <a:endParaRPr lang="cs-CZ" sz="2000" dirty="0"/>
          </a:p>
        </p:txBody>
      </p:sp>
    </p:spTree>
    <p:extLst>
      <p:ext uri="{BB962C8B-B14F-4D97-AF65-F5344CB8AC3E}">
        <p14:creationId xmlns:p14="http://schemas.microsoft.com/office/powerpoint/2010/main" val="43290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0486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400" dirty="0"/>
              <a:t>Zdroje: </a:t>
            </a:r>
          </a:p>
          <a:p>
            <a:pPr marL="0" indent="0">
              <a:buNone/>
            </a:pPr>
            <a:endParaRPr lang="cs-CZ" sz="2400" dirty="0"/>
          </a:p>
          <a:p>
            <a:pPr marL="0" indent="0">
              <a:buNone/>
            </a:pPr>
            <a:r>
              <a:rPr lang="cs-CZ" sz="2800" dirty="0"/>
              <a:t>VLAŠÍN, Štěpán a kol. Slovník literární teorie. 2. rozšířené vyd. Praha: Československý spisovatel, 1984.</a:t>
            </a:r>
          </a:p>
          <a:p>
            <a:pPr marL="0" indent="0">
              <a:buNone/>
            </a:pPr>
            <a:endParaRPr lang="cs-CZ" sz="2800" dirty="0"/>
          </a:p>
          <a:p>
            <a:pPr marL="0" indent="0">
              <a:buNone/>
            </a:pPr>
            <a:r>
              <a:rPr lang="cs-CZ" sz="2800" dirty="0"/>
              <a:t>MAŠKOVÁ, </a:t>
            </a:r>
            <a:r>
              <a:rPr lang="cs-CZ" sz="2800" dirty="0" err="1"/>
              <a:t>Drahuše</a:t>
            </a:r>
            <a:r>
              <a:rPr lang="cs-CZ" sz="2800" dirty="0"/>
              <a:t>. </a:t>
            </a:r>
            <a:r>
              <a:rPr lang="cs-CZ" sz="2800" i="1" dirty="0"/>
              <a:t>Český jazyk: přehled středoškolského učiva</a:t>
            </a:r>
            <a:r>
              <a:rPr lang="cs-CZ" sz="2800" dirty="0"/>
              <a:t>. 1. </a:t>
            </a:r>
            <a:r>
              <a:rPr lang="cs-CZ" sz="2800" dirty="0" err="1"/>
              <a:t>vyd</a:t>
            </a:r>
            <a:r>
              <a:rPr lang="cs-CZ" sz="2800" dirty="0"/>
              <a:t>. Třebíč: Petra </a:t>
            </a:r>
            <a:r>
              <a:rPr lang="cs-CZ" sz="2800" dirty="0" err="1"/>
              <a:t>Velanová</a:t>
            </a:r>
            <a:r>
              <a:rPr lang="cs-CZ" sz="2800" dirty="0"/>
              <a:t>, 2005, 175 s. Maturita. ISBN 80-902-5715-1. </a:t>
            </a:r>
          </a:p>
          <a:p>
            <a:pPr marL="0" indent="0">
              <a:buNone/>
            </a:pPr>
            <a:endParaRPr lang="cs-CZ" sz="28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cs-CZ" sz="2800" dirty="0"/>
              <a:t>ADÁMKOVÁ, Petra a GREŠOVÁ, Šárka. </a:t>
            </a:r>
            <a:r>
              <a:rPr lang="cs-CZ" sz="2800" i="1" dirty="0"/>
              <a:t>Český jazyk a komunikace pro střední školy 3. - 4. díl</a:t>
            </a:r>
            <a:r>
              <a:rPr lang="cs-CZ" sz="2800" dirty="0"/>
              <a:t>. </a:t>
            </a:r>
            <a:r>
              <a:rPr lang="cs-CZ" sz="2800" i="1" dirty="0"/>
              <a:t>Průvodce pro učitele.</a:t>
            </a:r>
            <a:r>
              <a:rPr lang="cs-CZ" sz="2800" dirty="0"/>
              <a:t> 1. </a:t>
            </a:r>
            <a:r>
              <a:rPr lang="cs-CZ" sz="2800" dirty="0" err="1"/>
              <a:t>vyd</a:t>
            </a:r>
            <a:r>
              <a:rPr lang="cs-CZ" sz="2800" dirty="0"/>
              <a:t>. Brno: </a:t>
            </a:r>
            <a:r>
              <a:rPr lang="cs-CZ" sz="2800" dirty="0" err="1"/>
              <a:t>Didaktis</a:t>
            </a:r>
            <a:r>
              <a:rPr lang="cs-CZ" sz="2800" dirty="0"/>
              <a:t>, 2013, 175 s. ISBN 978-80-7358-202-9. </a:t>
            </a:r>
            <a:r>
              <a:rPr lang="cs-CZ" sz="2800" dirty="0">
                <a:solidFill>
                  <a:srgbClr val="FF0000"/>
                </a:solidFill>
              </a:rPr>
              <a:t> </a:t>
            </a:r>
          </a:p>
          <a:p>
            <a:pPr marL="0" indent="0">
              <a:buNone/>
            </a:pPr>
            <a:endParaRPr lang="cs-CZ" sz="2800" dirty="0"/>
          </a:p>
          <a:p>
            <a:pPr marL="0" indent="0">
              <a:buNone/>
            </a:pPr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3162437313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924</TotalTime>
  <Words>604</Words>
  <Application>Microsoft Office PowerPoint</Application>
  <PresentationFormat>Předvádění na obrazovce (4:3)</PresentationFormat>
  <Paragraphs>62</Paragraphs>
  <Slides>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10" baseType="lpstr">
      <vt:lpstr>Arial</vt:lpstr>
      <vt:lpstr>Calibri</vt:lpstr>
      <vt:lpstr>Motiv sady Office</vt:lpstr>
      <vt:lpstr>Funkční styly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>SŠ a VOŠ cestovního ruchu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Ken Elton Kesey</dc:title>
  <dc:creator>pkriz</dc:creator>
  <cp:lastModifiedBy>Věra Hanáková</cp:lastModifiedBy>
  <cp:revision>41</cp:revision>
  <dcterms:created xsi:type="dcterms:W3CDTF">2013-01-04T10:43:36Z</dcterms:created>
  <dcterms:modified xsi:type="dcterms:W3CDTF">2024-02-15T08:13:52Z</dcterms:modified>
</cp:coreProperties>
</file>