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sldIdLst>
    <p:sldId id="277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76" r:id="rId11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cs-CZ" altLang="cs-CZ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cs-CZ" altLang="cs-CZ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cs-CZ" altLang="cs-CZ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cs-CZ" altLang="cs-CZ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cs-CZ" altLang="cs-CZ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cs-CZ" altLang="cs-CZ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cs-CZ" altLang="cs-CZ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cs-CZ" altLang="cs-CZ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cs-CZ" altLang="cs-CZ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cs-CZ" altLang="cs-CZ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cs-CZ" altLang="cs-CZ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152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cs-CZ" altLang="cs-CZ" noProof="0"/>
              <a:t>Klepnutím lze upravit styl předlohy nadpisů.</a:t>
            </a:r>
          </a:p>
        </p:txBody>
      </p:sp>
      <p:sp>
        <p:nvSpPr>
          <p:cNvPr id="215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cs-CZ" altLang="cs-CZ" noProof="0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4CE96-4910-4FD4-B2F6-C2F3044A8A52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85363-BAC1-4D3F-9F17-3D9EA0BA7AB3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DE491F-2882-4A3A-B4F7-1E1857734696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97DDBA-D404-4766-92A4-0F503D68B4D5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2F670-E690-4D70-B047-8919E2E03D93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29D00-1C50-4B17-9688-B307CC16CCCD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1E312-27C1-4C41-9D2D-245E2F607DF7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AB1752-7CAC-4DB9-AC29-5D07FF4463D2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FD8E97-7053-4831-AD8A-7F01E586E7C3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F6951-2F38-493F-B42A-E522F4E5A4E6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CA32A-14F0-4985-8BA2-6A409677A816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CEAF4CEA-C620-4BFC-AA54-F7034654B31B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cs-CZ" altLang="cs-CZ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cs-CZ" altLang="cs-CZ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cs-CZ" altLang="cs-CZ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cs-CZ" altLang="cs-CZ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cs-CZ" altLang="cs-CZ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cs-CZ" altLang="cs-CZ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cs-CZ" altLang="cs-CZ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cs-CZ" altLang="cs-CZ">
                <a:solidFill>
                  <a:schemeClr val="accent2"/>
                </a:solidFill>
              </a:endParaRPr>
            </a:p>
          </p:txBody>
        </p:sp>
      </p:grpSp>
      <p:sp>
        <p:nvSpPr>
          <p:cNvPr id="20494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 předlohy nadpisů.</a:t>
            </a:r>
          </a:p>
        </p:txBody>
      </p:sp>
      <p:sp>
        <p:nvSpPr>
          <p:cNvPr id="2049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204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0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0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0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0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4" grpId="0"/>
      <p:bldP spid="2049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2049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2049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2049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2049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2049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Nadpis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Úvod do stylistiky</a:t>
            </a:r>
          </a:p>
        </p:txBody>
      </p:sp>
      <p:sp>
        <p:nvSpPr>
          <p:cNvPr id="4099" name="Podnadpis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Slohotvorní činitelé, slohové postupy a útvary</a:t>
            </a:r>
          </a:p>
          <a:p>
            <a:pPr eaLnBrk="1" hangingPunct="1"/>
            <a:endParaRPr lang="cs-CZ" altLang="cs-CZ"/>
          </a:p>
          <a:p>
            <a:pPr eaLnBrk="1" hangingPunct="1"/>
            <a:endParaRPr lang="cs-CZ" alt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813"/>
            <a:ext cx="8229600" cy="966787"/>
          </a:xfrm>
        </p:spPr>
        <p:txBody>
          <a:bodyPr/>
          <a:lstStyle/>
          <a:p>
            <a:pPr eaLnBrk="1" hangingPunct="1"/>
            <a:r>
              <a:rPr lang="cs-CZ" altLang="cs-CZ"/>
              <a:t>Stylistika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3830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cs-CZ" altLang="cs-CZ" sz="2800"/>
              <a:t>Co je to </a:t>
            </a:r>
            <a:r>
              <a:rPr lang="cs-CZ" altLang="cs-CZ" sz="2800" i="1"/>
              <a:t>styl</a:t>
            </a:r>
            <a:r>
              <a:rPr lang="cs-CZ" altLang="cs-CZ" sz="2800"/>
              <a:t>?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 sz="2800" b="1"/>
              <a:t>sloh (styl)</a:t>
            </a:r>
            <a:r>
              <a:rPr lang="cs-CZ" altLang="cs-CZ" sz="2800"/>
              <a:t> – způsob výstavby jazykových projevů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sz="2400"/>
              <a:t> způsob zpracování obsahu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sz="2400"/>
              <a:t> výběr a uspořádání jazykových prostředků (slov, slovních spojení, ustálených obratů, …)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cs-CZ" altLang="cs-CZ" sz="2400"/>
          </a:p>
          <a:p>
            <a:pPr eaLnBrk="1" hangingPunct="1">
              <a:lnSpc>
                <a:spcPct val="90000"/>
              </a:lnSpc>
            </a:pPr>
            <a:r>
              <a:rPr lang="cs-CZ" altLang="cs-CZ" sz="2800" b="1"/>
              <a:t>stylistika</a:t>
            </a:r>
            <a:r>
              <a:rPr lang="cs-CZ" altLang="cs-CZ" sz="2800"/>
              <a:t> – nauka o slohu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sz="2400"/>
              <a:t> zkoumá výstavbu a způsoby tvorby jazykových projevů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243013"/>
          </a:xfrm>
        </p:spPr>
        <p:txBody>
          <a:bodyPr/>
          <a:lstStyle/>
          <a:p>
            <a:pPr eaLnBrk="1" hangingPunct="1"/>
            <a:r>
              <a:rPr lang="cs-CZ" altLang="cs-CZ"/>
              <a:t>Slohotvorní činitelé I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cs-CZ" altLang="cs-CZ"/>
              <a:t>= </a:t>
            </a:r>
            <a:r>
              <a:rPr lang="cs-CZ" altLang="cs-CZ" sz="2800"/>
              <a:t>podmínky a okolnosti, které ovlivňují výstavbu textu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sz="3200"/>
              <a:t> </a:t>
            </a:r>
            <a:r>
              <a:rPr lang="cs-CZ" altLang="cs-CZ" sz="2400"/>
              <a:t>př. odborná přednáška před publikem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cs-CZ" altLang="cs-CZ">
                <a:cs typeface="Arial" charset="0"/>
              </a:rPr>
              <a:t>    </a:t>
            </a:r>
            <a:r>
              <a:rPr lang="en-US" altLang="cs-CZ">
                <a:cs typeface="Arial" charset="0"/>
              </a:rPr>
              <a:t>×</a:t>
            </a:r>
            <a:r>
              <a:rPr lang="cs-CZ" altLang="cs-CZ">
                <a:cs typeface="Arial" charset="0"/>
              </a:rPr>
              <a:t> </a:t>
            </a:r>
            <a:r>
              <a:rPr lang="cs-CZ" altLang="cs-CZ"/>
              <a:t>vyprávění dědečka vnoučatům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cs-CZ" altLang="cs-CZ">
                <a:cs typeface="Arial" charset="0"/>
              </a:rPr>
              <a:t>→ </a:t>
            </a:r>
            <a:r>
              <a:rPr lang="cs-CZ" altLang="cs-CZ"/>
              <a:t>tyto projevy vznikají za jiných okolností, s jiným účelem</a:t>
            </a:r>
            <a:endParaRPr lang="cs-CZ" altLang="cs-CZ">
              <a:sym typeface="Symbol" pitchFamily="18" charset="2"/>
            </a:endParaRPr>
          </a:p>
          <a:p>
            <a:pPr lvl="2" eaLnBrk="1" hangingPunct="1">
              <a:lnSpc>
                <a:spcPct val="90000"/>
              </a:lnSpc>
              <a:buFont typeface="Symbol" pitchFamily="18" charset="2"/>
              <a:buChar char="Þ"/>
            </a:pPr>
            <a:r>
              <a:rPr lang="cs-CZ" altLang="cs-CZ"/>
              <a:t>každý z těchto projevů bude jinak vystavěn, pomocí jiných prostředků</a:t>
            </a:r>
          </a:p>
          <a:p>
            <a:pPr lvl="2" eaLnBrk="1" hangingPunct="1">
              <a:lnSpc>
                <a:spcPct val="90000"/>
              </a:lnSpc>
              <a:buFont typeface="Symbol" pitchFamily="18" charset="2"/>
              <a:buNone/>
            </a:pPr>
            <a:endParaRPr lang="cs-CZ" altLang="cs-CZ" sz="1000"/>
          </a:p>
          <a:p>
            <a:pPr eaLnBrk="1" hangingPunct="1">
              <a:lnSpc>
                <a:spcPct val="90000"/>
              </a:lnSpc>
            </a:pPr>
            <a:r>
              <a:rPr lang="cs-CZ" altLang="cs-CZ" sz="2800"/>
              <a:t>rozlišujeme dvě skupiny slohotvorných činitelů: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sz="2400"/>
              <a:t>subjektivní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sz="2400"/>
              <a:t>objektivní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Slohotvorní činitelé II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9138"/>
            <a:ext cx="8229600" cy="46085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cs-CZ" altLang="cs-CZ" sz="2800" b="1"/>
              <a:t>subjektivní</a:t>
            </a:r>
            <a:r>
              <a:rPr lang="cs-CZ" altLang="cs-CZ" sz="2800"/>
              <a:t> – souvisí s autorem textu:</a:t>
            </a:r>
          </a:p>
          <a:p>
            <a:pPr eaLnBrk="1" hangingPunct="1">
              <a:lnSpc>
                <a:spcPct val="80000"/>
              </a:lnSpc>
            </a:pPr>
            <a:r>
              <a:rPr lang="cs-CZ" altLang="cs-CZ" sz="2800"/>
              <a:t>př. věk, vzdělání, zájmy, profese, jeho slovní zásoba, …</a:t>
            </a:r>
          </a:p>
          <a:p>
            <a:pPr eaLnBrk="1" hangingPunct="1">
              <a:lnSpc>
                <a:spcPct val="80000"/>
              </a:lnSpc>
            </a:pPr>
            <a:endParaRPr lang="cs-CZ" altLang="cs-CZ" sz="2800" b="1"/>
          </a:p>
          <a:p>
            <a:pPr eaLnBrk="1" hangingPunct="1">
              <a:lnSpc>
                <a:spcPct val="80000"/>
              </a:lnSpc>
            </a:pPr>
            <a:r>
              <a:rPr lang="cs-CZ" altLang="cs-CZ" sz="2800" b="1"/>
              <a:t>objektivní</a:t>
            </a:r>
            <a:r>
              <a:rPr lang="cs-CZ" altLang="cs-CZ" sz="2800"/>
              <a:t> – nesouvisí s autorem textu:</a:t>
            </a:r>
          </a:p>
          <a:p>
            <a:pPr eaLnBrk="1" hangingPunct="1">
              <a:lnSpc>
                <a:spcPct val="80000"/>
              </a:lnSpc>
            </a:pPr>
            <a:r>
              <a:rPr lang="cs-CZ" altLang="cs-CZ" sz="2800"/>
              <a:t> funkce projevu (záměr, smysl)</a:t>
            </a:r>
          </a:p>
          <a:p>
            <a:pPr eaLnBrk="1" hangingPunct="1">
              <a:lnSpc>
                <a:spcPct val="80000"/>
              </a:lnSpc>
            </a:pPr>
            <a:r>
              <a:rPr lang="cs-CZ" altLang="cs-CZ" sz="2800"/>
              <a:t> forma projevu (mluvený, psaný)</a:t>
            </a:r>
          </a:p>
          <a:p>
            <a:pPr eaLnBrk="1" hangingPunct="1">
              <a:lnSpc>
                <a:spcPct val="80000"/>
              </a:lnSpc>
            </a:pPr>
            <a:r>
              <a:rPr lang="cs-CZ" altLang="cs-CZ" sz="2800"/>
              <a:t> adresát (známý, neznámý)</a:t>
            </a:r>
          </a:p>
          <a:p>
            <a:pPr eaLnBrk="1" hangingPunct="1">
              <a:lnSpc>
                <a:spcPct val="80000"/>
              </a:lnSpc>
            </a:pPr>
            <a:r>
              <a:rPr lang="cs-CZ" altLang="cs-CZ" sz="2800"/>
              <a:t> komunikační situace a prostředí</a:t>
            </a:r>
          </a:p>
          <a:p>
            <a:pPr eaLnBrk="1" hangingPunct="1">
              <a:lnSpc>
                <a:spcPct val="80000"/>
              </a:lnSpc>
            </a:pPr>
            <a:r>
              <a:rPr lang="cs-CZ" altLang="cs-CZ" sz="2800"/>
              <a:t> připravenost projevu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27113"/>
          </a:xfrm>
        </p:spPr>
        <p:txBody>
          <a:bodyPr/>
          <a:lstStyle/>
          <a:p>
            <a:pPr eaLnBrk="1" hangingPunct="1"/>
            <a:r>
              <a:rPr lang="cs-CZ" altLang="cs-CZ"/>
              <a:t>Co je slohový postup?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5040313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cs-CZ" altLang="cs-CZ"/>
              <a:t>= postup uplatněný při psaní textu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cs-CZ" altLang="cs-CZ"/>
              <a:t>1) </a:t>
            </a:r>
            <a:r>
              <a:rPr lang="cs-CZ" altLang="cs-CZ" u="sng"/>
              <a:t>S jakým cílem píšu text?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cs-CZ" altLang="cs-CZ"/>
              <a:t>	informovat / vyprávět / popisovat / vykládat / uvažovat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cs-CZ" altLang="cs-CZ"/>
              <a:t>2) </a:t>
            </a:r>
            <a:r>
              <a:rPr lang="cs-CZ" altLang="cs-CZ" u="sng"/>
              <a:t>Vyberu si </a:t>
            </a:r>
            <a:r>
              <a:rPr lang="cs-CZ" altLang="cs-CZ" b="1" u="sng"/>
              <a:t>slohový postup</a:t>
            </a:r>
            <a:r>
              <a:rPr lang="cs-CZ" altLang="cs-CZ"/>
              <a:t>:</a:t>
            </a:r>
          </a:p>
          <a:p>
            <a:pPr marL="990600" lvl="1" indent="-533400" eaLnBrk="1" hangingPunct="1"/>
            <a:r>
              <a:rPr lang="cs-CZ" altLang="cs-CZ"/>
              <a:t>informační / vyprávěcí / popisný / výkladový / úvahový</a:t>
            </a:r>
          </a:p>
          <a:p>
            <a:pPr marL="990600" lvl="1" indent="-533400" eaLnBrk="1" hangingPunct="1"/>
            <a:r>
              <a:rPr lang="cs-CZ" altLang="cs-CZ"/>
              <a:t>většinou se slohové postupy doplňují a prolínají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Slohové postupy I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cs-CZ" altLang="cs-CZ" b="1"/>
              <a:t>informační</a:t>
            </a:r>
            <a:r>
              <a:rPr lang="cs-CZ" altLang="cs-CZ"/>
              <a:t> – nejjednodušší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/>
              <a:t> pouze </a:t>
            </a:r>
            <a:r>
              <a:rPr lang="cs-CZ" altLang="cs-CZ" u="sng"/>
              <a:t>konstatuje fakta</a:t>
            </a:r>
            <a:r>
              <a:rPr lang="cs-CZ" altLang="cs-CZ"/>
              <a:t>, často formou výčtu</a:t>
            </a:r>
            <a:r>
              <a:rPr lang="cs-CZ" altLang="cs-CZ" u="sng"/>
              <a:t> </a:t>
            </a:r>
            <a:r>
              <a:rPr lang="cs-CZ" altLang="cs-CZ"/>
              <a:t> (nevysvětluje, neuvádí souvislosti)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/>
              <a:t> v běžné komunikaci, publicistice a administrativě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 b="1"/>
              <a:t>vyprávěcí</a:t>
            </a:r>
            <a:r>
              <a:rPr lang="cs-CZ" altLang="cs-CZ"/>
              <a:t> – podává </a:t>
            </a:r>
            <a:r>
              <a:rPr lang="cs-CZ" altLang="cs-CZ" u="sng"/>
              <a:t>průběh jedinečného děje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/>
              <a:t> dějová linie směřuje od </a:t>
            </a:r>
            <a:r>
              <a:rPr lang="cs-CZ" altLang="cs-CZ" u="sng"/>
              <a:t>zápletky</a:t>
            </a:r>
            <a:r>
              <a:rPr lang="cs-CZ" altLang="cs-CZ"/>
              <a:t>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cs-CZ" altLang="cs-CZ"/>
              <a:t>	k vyvrcholení a rozuzlení děje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/>
              <a:t> v běžné komunikaci, publicistice, v umělecké literatuře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Slohové postupy II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cs-CZ" altLang="cs-CZ" b="1"/>
              <a:t>popisný</a:t>
            </a:r>
            <a:r>
              <a:rPr lang="cs-CZ" altLang="cs-CZ"/>
              <a:t> – podává </a:t>
            </a:r>
            <a:r>
              <a:rPr lang="cs-CZ" altLang="cs-CZ" u="sng"/>
              <a:t>výčet vlastností a znaků</a:t>
            </a:r>
            <a:r>
              <a:rPr lang="cs-CZ" altLang="cs-CZ"/>
              <a:t> tak, aby si čtenář mohl vytvořit představu o daném předmětu, člověku, …</a:t>
            </a:r>
          </a:p>
          <a:p>
            <a:pPr lvl="1" eaLnBrk="1" hangingPunct="1"/>
            <a:r>
              <a:rPr lang="cs-CZ" altLang="cs-CZ"/>
              <a:t> </a:t>
            </a:r>
            <a:r>
              <a:rPr lang="cs-CZ" altLang="cs-CZ" u="sng"/>
              <a:t>charakteristika</a:t>
            </a:r>
            <a:r>
              <a:rPr lang="cs-CZ" altLang="cs-CZ"/>
              <a:t> – zahrnuje popis vnějších i vnitřních znaků osoby</a:t>
            </a:r>
          </a:p>
          <a:p>
            <a:pPr lvl="1" eaLnBrk="1" hangingPunct="1"/>
            <a:r>
              <a:rPr lang="cs-CZ" altLang="cs-CZ"/>
              <a:t> vyskytuje se </a:t>
            </a:r>
            <a:r>
              <a:rPr lang="cs-CZ" altLang="cs-CZ" u="sng"/>
              <a:t>ve všech typech textů</a:t>
            </a:r>
            <a:r>
              <a:rPr lang="cs-CZ" altLang="cs-CZ"/>
              <a:t> (popis prostý, odborný, umělecký)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Slohové postupy III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50403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cs-CZ" altLang="cs-CZ" b="1"/>
              <a:t>výkladový</a:t>
            </a:r>
            <a:r>
              <a:rPr lang="cs-CZ" altLang="cs-CZ"/>
              <a:t> – </a:t>
            </a:r>
            <a:r>
              <a:rPr lang="cs-CZ" altLang="cs-CZ" u="sng"/>
              <a:t>vykládá fakta a jevy</a:t>
            </a:r>
            <a:r>
              <a:rPr lang="cs-CZ" altLang="cs-CZ"/>
              <a:t>, vysvětluje jejich podstatu, vznik, průběh, souvislosti, … 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/>
              <a:t> je objektivní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/>
              <a:t> v odborných textech, v publicistice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 b="1"/>
              <a:t>úvahový</a:t>
            </a:r>
            <a:r>
              <a:rPr lang="cs-CZ" altLang="cs-CZ"/>
              <a:t> – vyjadřuje </a:t>
            </a:r>
            <a:r>
              <a:rPr lang="cs-CZ" altLang="cs-CZ" u="sng"/>
              <a:t>vlastní postoj autora</a:t>
            </a:r>
            <a:r>
              <a:rPr lang="cs-CZ" altLang="cs-CZ"/>
              <a:t> k danému problému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/>
              <a:t> je subjektivní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/>
              <a:t> v odborných textech, v publicistice,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cs-CZ" altLang="cs-CZ"/>
              <a:t>	 v uměleckých textech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Slohový útvar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konkrétní výsledek použití jednoho nebo více slohových postupů</a:t>
            </a:r>
          </a:p>
          <a:p>
            <a:pPr eaLnBrk="1" hangingPunct="1"/>
            <a:r>
              <a:rPr lang="cs-CZ" altLang="cs-CZ"/>
              <a:t>je ucelený, obsahově i formálně uzavřený</a:t>
            </a:r>
          </a:p>
          <a:p>
            <a:pPr eaLnBrk="1" hangingPunct="1"/>
            <a:r>
              <a:rPr lang="cs-CZ" altLang="cs-CZ"/>
              <a:t>každý útvar má svá pravidla</a:t>
            </a:r>
          </a:p>
          <a:p>
            <a:pPr eaLnBrk="1" hangingPunct="1"/>
            <a:r>
              <a:rPr lang="cs-CZ" altLang="cs-CZ"/>
              <a:t>př. zpráva, oznámení, popis, vyprávění, výklad, úvaha, esej, atd.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Použitá literatura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cs-CZ" altLang="cs-CZ" sz="2800"/>
              <a:t>Čechová, Marie a kol. </a:t>
            </a:r>
            <a:r>
              <a:rPr lang="cs-CZ" altLang="cs-CZ" sz="2800" i="1"/>
              <a:t>Stylistika současné češtiny.</a:t>
            </a:r>
            <a:r>
              <a:rPr lang="cs-CZ" altLang="cs-CZ" sz="2800"/>
              <a:t> ISV nakladatelství: Praha, 1997.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 sz="2800"/>
              <a:t>Čechová, Marie a kol. </a:t>
            </a:r>
            <a:r>
              <a:rPr lang="cs-CZ" altLang="cs-CZ" sz="2800" i="1"/>
              <a:t>Český jazyk pro 1. ročník středních odborných škol.</a:t>
            </a:r>
            <a:r>
              <a:rPr lang="cs-CZ" altLang="cs-CZ" sz="2800"/>
              <a:t> SPN: Praha, 2005.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 sz="2800"/>
              <a:t>Hanzová, Marie, Schneiderová, Eva. </a:t>
            </a:r>
            <a:r>
              <a:rPr lang="cs-CZ" altLang="cs-CZ" sz="2800" i="1"/>
              <a:t>Klíč ke slohu aneb Nerudou snadno a rychle?!</a:t>
            </a:r>
            <a:r>
              <a:rPr lang="cs-CZ" altLang="cs-CZ" sz="2800"/>
              <a:t> Albatros: Praha, 2007.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 sz="2800"/>
              <a:t>Mužíková, Olga a kol. </a:t>
            </a:r>
            <a:r>
              <a:rPr lang="cs-CZ" altLang="cs-CZ" sz="2800" i="1"/>
              <a:t>Odmaturuj z českého jazyka</a:t>
            </a:r>
            <a:r>
              <a:rPr lang="cs-CZ" altLang="cs-CZ" sz="2800"/>
              <a:t>. Didaktis: Brno, 2002.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8">
      <a:dk1>
        <a:srgbClr val="003300"/>
      </a:dk1>
      <a:lt1>
        <a:srgbClr val="FFFFFF"/>
      </a:lt1>
      <a:dk2>
        <a:srgbClr val="000000"/>
      </a:dk2>
      <a:lt2>
        <a:srgbClr val="336600"/>
      </a:lt2>
      <a:accent1>
        <a:srgbClr val="CCCC00"/>
      </a:accent1>
      <a:accent2>
        <a:srgbClr val="669900"/>
      </a:accent2>
      <a:accent3>
        <a:srgbClr val="FFFFFF"/>
      </a:accent3>
      <a:accent4>
        <a:srgbClr val="002A00"/>
      </a:accent4>
      <a:accent5>
        <a:srgbClr val="E2E2AA"/>
      </a:accent5>
      <a:accent6>
        <a:srgbClr val="5C8A00"/>
      </a:accent6>
      <a:hlink>
        <a:srgbClr val="333300"/>
      </a:hlink>
      <a:folHlink>
        <a:srgbClr val="99CC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510</Words>
  <Application>Microsoft Office PowerPoint</Application>
  <PresentationFormat>Předvádění na obrazovce (4:3)</PresentationFormat>
  <Paragraphs>67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Symbol</vt:lpstr>
      <vt:lpstr>Times New Roman</vt:lpstr>
      <vt:lpstr>Wingdings</vt:lpstr>
      <vt:lpstr>Pixel</vt:lpstr>
      <vt:lpstr>Úvod do stylistiky</vt:lpstr>
      <vt:lpstr>Stylistika</vt:lpstr>
      <vt:lpstr>Slohotvorní činitelé I</vt:lpstr>
      <vt:lpstr>Slohotvorní činitelé II</vt:lpstr>
      <vt:lpstr>Co je slohový postup?</vt:lpstr>
      <vt:lpstr>Slohové postupy I</vt:lpstr>
      <vt:lpstr>Slohové postupy II</vt:lpstr>
      <vt:lpstr>Slohové postupy III</vt:lpstr>
      <vt:lpstr>Slohový útvar</vt:lpstr>
      <vt:lpstr>Použitá literatura</vt:lpstr>
    </vt:vector>
  </TitlesOfParts>
  <Company>GOPAS, 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Stylistika</dc:title>
  <dc:creator>Administrator</dc:creator>
  <cp:lastModifiedBy>Věra Hanáková</cp:lastModifiedBy>
  <cp:revision>29</cp:revision>
  <dcterms:created xsi:type="dcterms:W3CDTF">2013-02-03T15:21:37Z</dcterms:created>
  <dcterms:modified xsi:type="dcterms:W3CDTF">2024-01-25T21:48:03Z</dcterms:modified>
</cp:coreProperties>
</file>