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2" r:id="rId1"/>
  </p:sldMasterIdLst>
  <p:sldIdLst>
    <p:sldId id="268" r:id="rId2"/>
    <p:sldId id="256" r:id="rId3"/>
    <p:sldId id="279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80" r:id="rId12"/>
    <p:sldId id="266" r:id="rId13"/>
    <p:sldId id="269" r:id="rId1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136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093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230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066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709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494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591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744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47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912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3042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0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3441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224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5935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3231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652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2481B-5154-415F-B752-558547769AA3}" type="datetimeFigureOut">
              <a:rPr lang="cs-CZ" smtClean="0"/>
              <a:pPr/>
              <a:t>18. 12. 2013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1339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23" r:id="rId1"/>
    <p:sldLayoutId id="2147484324" r:id="rId2"/>
    <p:sldLayoutId id="2147484325" r:id="rId3"/>
    <p:sldLayoutId id="2147484326" r:id="rId4"/>
    <p:sldLayoutId id="2147484327" r:id="rId5"/>
    <p:sldLayoutId id="2147484328" r:id="rId6"/>
    <p:sldLayoutId id="2147484329" r:id="rId7"/>
    <p:sldLayoutId id="2147484330" r:id="rId8"/>
    <p:sldLayoutId id="2147484331" r:id="rId9"/>
    <p:sldLayoutId id="2147484332" r:id="rId10"/>
    <p:sldLayoutId id="2147484333" r:id="rId11"/>
    <p:sldLayoutId id="2147484334" r:id="rId12"/>
    <p:sldLayoutId id="2147484335" r:id="rId13"/>
    <p:sldLayoutId id="2147484336" r:id="rId14"/>
    <p:sldLayoutId id="2147484337" r:id="rId15"/>
    <p:sldLayoutId id="2147484338" r:id="rId16"/>
    <p:sldLayoutId id="214748433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kr-karlovarsky.cz/NR/rdonlyres/55A062E8-6A73-480F-A23D-6CE5B15DF1A2/0/logo_c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589240"/>
            <a:ext cx="4536504" cy="99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ulk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053542"/>
              </p:ext>
            </p:extLst>
          </p:nvPr>
        </p:nvGraphicFramePr>
        <p:xfrm>
          <a:off x="1043608" y="1124744"/>
          <a:ext cx="6792416" cy="3312368"/>
        </p:xfrm>
        <a:graphic>
          <a:graphicData uri="http://schemas.openxmlformats.org/drawingml/2006/table">
            <a:tbl>
              <a:tblPr firstRow="1">
                <a:effectLst/>
                <a:tableStyleId>{5940675A-B579-460E-94D1-54222C63F5DA}</a:tableStyleId>
              </a:tblPr>
              <a:tblGrid>
                <a:gridCol w="1584176"/>
                <a:gridCol w="5208240"/>
              </a:tblGrid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Číslo projektu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CZ.1.07/1.5.00/34.0479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Číslo materiálu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VY_32_INOVACE_KRISTINA_EPPICHOVA_LITERATURA_STAROVEKU_ANTICKA_LITERATURA_10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Název školy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Střední škola služeb, obchodu a gastronomie Hradec Králové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Ročník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Vzdělávací oblast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Jazyk a jazyková komunikace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Vzdělávací obor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Český jazyk</a:t>
                      </a:r>
                      <a:r>
                        <a:rPr lang="cs-CZ" sz="1000" i="1" baseline="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 literatura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Tematický okruh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Literatura starověku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Téma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Antická </a:t>
                      </a:r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kultura a literatura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Jméno autora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Mgr. Kristina Eppichová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59173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Vytvořeno dne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10. </a:t>
                      </a:r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11. 2013</a:t>
                      </a:r>
                      <a:endParaRPr lang="cs-CZ" sz="1000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98904">
                <a:tc>
                  <a:txBody>
                    <a:bodyPr/>
                    <a:lstStyle/>
                    <a:p>
                      <a:r>
                        <a:rPr lang="cs-CZ" sz="1000" b="1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Metodický popis (anotace)</a:t>
                      </a:r>
                      <a:endParaRPr lang="cs-CZ" sz="1000" b="1" i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Prezentace vytvořená </a:t>
                      </a:r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 programu MS </a:t>
                      </a:r>
                      <a:r>
                        <a:rPr lang="cs-CZ" sz="1000" i="1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PowerPoint</a:t>
                      </a:r>
                      <a:r>
                        <a:rPr lang="cs-CZ" sz="1000" i="1" baseline="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předkládá žákům základní informace o antické literatuře.</a:t>
                      </a:r>
                      <a:endParaRPr lang="cs-CZ" sz="1000" i="1" baseline="0" dirty="0" smtClean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95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6400" dirty="0" smtClean="0"/>
              <a:t>Antická literatura</a:t>
            </a:r>
            <a:endParaRPr lang="cs-CZ" sz="640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3200" dirty="0" smtClean="0"/>
              <a:t>Literatura starověku</a:t>
            </a:r>
            <a:endParaRPr lang="cs-CZ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 smtClean="0"/>
              <a:t>Antika</a:t>
            </a:r>
            <a:endParaRPr lang="cs-CZ" sz="4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effectLst/>
              </a:rPr>
              <a:t>počátek 1. tisíciletí př. n. l</a:t>
            </a:r>
            <a:r>
              <a:rPr lang="cs-CZ" sz="3200" dirty="0" smtClean="0">
                <a:effectLst/>
              </a:rPr>
              <a:t>.</a:t>
            </a:r>
          </a:p>
          <a:p>
            <a:r>
              <a:rPr lang="cs-CZ" sz="3200" dirty="0" smtClean="0">
                <a:effectLst/>
              </a:rPr>
              <a:t>polovina </a:t>
            </a:r>
            <a:r>
              <a:rPr lang="cs-CZ" sz="3200" dirty="0">
                <a:effectLst/>
              </a:rPr>
              <a:t>1. tisíciletí n. l. </a:t>
            </a:r>
          </a:p>
          <a:p>
            <a:pPr lvl="1"/>
            <a:r>
              <a:rPr lang="cs-CZ" sz="3000" dirty="0">
                <a:effectLst/>
              </a:rPr>
              <a:t>zánik západořímské říše</a:t>
            </a:r>
          </a:p>
          <a:p>
            <a:pPr lvl="2"/>
            <a:r>
              <a:rPr lang="cs-CZ" sz="2800" dirty="0">
                <a:effectLst/>
              </a:rPr>
              <a:t>rok 476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377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Území</a:t>
            </a:r>
            <a:endParaRPr lang="cs-CZ" i="1" dirty="0"/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45" y="2088321"/>
            <a:ext cx="3348923" cy="3722536"/>
          </a:xfrm>
        </p:spPr>
      </p:pic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effectLst/>
              </a:rPr>
              <a:t>pobřeží Středozemního </a:t>
            </a:r>
            <a:r>
              <a:rPr lang="cs-CZ" sz="3200" dirty="0" smtClean="0">
                <a:effectLst/>
              </a:rPr>
              <a:t>moře</a:t>
            </a:r>
          </a:p>
        </p:txBody>
      </p:sp>
      <p:sp>
        <p:nvSpPr>
          <p:cNvPr id="3" name="TextovéPole 2"/>
          <p:cNvSpPr txBox="1"/>
          <p:nvPr/>
        </p:nvSpPr>
        <p:spPr>
          <a:xfrm>
            <a:off x="935045" y="5805264"/>
            <a:ext cx="78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</a:t>
            </a:r>
            <a:r>
              <a:rPr lang="cs-CZ" dirty="0" smtClean="0"/>
              <a:t>br. 1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18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Centra kultury</a:t>
            </a:r>
            <a:endParaRPr lang="cs-CZ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Athény</a:t>
            </a:r>
          </a:p>
          <a:p>
            <a:r>
              <a:rPr lang="cs-CZ" sz="3200" dirty="0"/>
              <a:t>Řím</a:t>
            </a:r>
          </a:p>
          <a:p>
            <a:r>
              <a:rPr lang="cs-CZ" sz="3200" dirty="0"/>
              <a:t>Pergamon</a:t>
            </a:r>
          </a:p>
          <a:p>
            <a:r>
              <a:rPr lang="cs-CZ" sz="3200" dirty="0" err="1"/>
              <a:t>Milétos</a:t>
            </a:r>
            <a:endParaRPr lang="cs-CZ" sz="3200" dirty="0"/>
          </a:p>
          <a:p>
            <a:r>
              <a:rPr lang="cs-CZ" sz="3200" dirty="0"/>
              <a:t>Alexandrie</a:t>
            </a:r>
          </a:p>
          <a:p>
            <a:endParaRPr lang="cs-CZ" dirty="0"/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38" y="2666206"/>
            <a:ext cx="3819525" cy="2546350"/>
          </a:xfrm>
        </p:spPr>
      </p:pic>
      <p:sp>
        <p:nvSpPr>
          <p:cNvPr id="6" name="TextovéPole 5"/>
          <p:cNvSpPr txBox="1"/>
          <p:nvPr/>
        </p:nvSpPr>
        <p:spPr>
          <a:xfrm>
            <a:off x="4634776" y="5212556"/>
            <a:ext cx="78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</a:t>
            </a:r>
            <a:r>
              <a:rPr lang="cs-CZ" dirty="0" smtClean="0"/>
              <a:t>br. 2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88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Myšlenkové sjednocení</a:t>
            </a:r>
            <a:endParaRPr lang="cs-CZ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effectLst/>
              </a:rPr>
              <a:t>mytologie</a:t>
            </a:r>
          </a:p>
          <a:p>
            <a:r>
              <a:rPr lang="cs-CZ" sz="3200" dirty="0">
                <a:effectLst/>
              </a:rPr>
              <a:t>bozi Olympu zlidšťováni</a:t>
            </a:r>
          </a:p>
          <a:p>
            <a:pPr lvl="1"/>
            <a:r>
              <a:rPr lang="cs-CZ" sz="3000" dirty="0">
                <a:effectLst/>
              </a:rPr>
              <a:t>hierarchie odrážela řeckou společnost</a:t>
            </a:r>
          </a:p>
          <a:p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effectLst/>
              </a:rPr>
              <a:t>ř</a:t>
            </a:r>
            <a:r>
              <a:rPr lang="cs-CZ" sz="3200" dirty="0" smtClean="0">
                <a:effectLst/>
              </a:rPr>
              <a:t>ecké </a:t>
            </a:r>
            <a:r>
              <a:rPr lang="cs-CZ" sz="3200" dirty="0">
                <a:effectLst/>
              </a:rPr>
              <a:t>bájesloví převzala římská </a:t>
            </a:r>
            <a:r>
              <a:rPr lang="cs-CZ" sz="3200" dirty="0" smtClean="0">
                <a:effectLst/>
              </a:rPr>
              <a:t>společnost</a:t>
            </a:r>
          </a:p>
          <a:p>
            <a:pPr lvl="1"/>
            <a:r>
              <a:rPr lang="cs-CZ" sz="3000" dirty="0" smtClean="0">
                <a:effectLst/>
              </a:rPr>
              <a:t>antická </a:t>
            </a:r>
            <a:r>
              <a:rPr lang="cs-CZ" sz="3000" dirty="0">
                <a:effectLst/>
              </a:rPr>
              <a:t>kultura </a:t>
            </a:r>
            <a:r>
              <a:rPr lang="cs-CZ" sz="3000" dirty="0" smtClean="0">
                <a:effectLst/>
              </a:rPr>
              <a:t>dále do Evropy</a:t>
            </a:r>
            <a:endParaRPr lang="cs-CZ" sz="3000" dirty="0">
              <a:effectLst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3603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 dirty="0" smtClean="0"/>
              <a:t>Antická literatura</a:t>
            </a:r>
            <a:endParaRPr lang="cs-CZ" sz="40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sz="3200" dirty="0">
                <a:effectLst/>
              </a:rPr>
              <a:t>v Evropě </a:t>
            </a:r>
            <a:r>
              <a:rPr lang="cs-CZ" sz="3200" dirty="0" smtClean="0">
                <a:effectLst/>
              </a:rPr>
              <a:t>nejstarší </a:t>
            </a:r>
            <a:r>
              <a:rPr lang="cs-CZ" sz="3200" dirty="0">
                <a:effectLst/>
              </a:rPr>
              <a:t>slovesná kultura fixovaná písmem </a:t>
            </a:r>
            <a:endParaRPr lang="cs-CZ" sz="3200" dirty="0" smtClean="0">
              <a:effectLst/>
            </a:endParaRPr>
          </a:p>
          <a:p>
            <a:r>
              <a:rPr lang="cs-CZ" sz="3200" dirty="0" smtClean="0">
                <a:effectLst/>
              </a:rPr>
              <a:t>literatura </a:t>
            </a:r>
            <a:r>
              <a:rPr lang="cs-CZ" sz="3200" dirty="0">
                <a:effectLst/>
              </a:rPr>
              <a:t>starověkého Řecka </a:t>
            </a:r>
            <a:endParaRPr lang="cs-CZ" sz="3200" dirty="0" smtClean="0">
              <a:effectLst/>
            </a:endParaRPr>
          </a:p>
          <a:p>
            <a:r>
              <a:rPr lang="cs-CZ" sz="3200" dirty="0" smtClean="0">
                <a:effectLst/>
              </a:rPr>
              <a:t>literatura starověkého </a:t>
            </a:r>
            <a:r>
              <a:rPr lang="cs-CZ" sz="3200" dirty="0">
                <a:effectLst/>
              </a:rPr>
              <a:t>Ř</a:t>
            </a:r>
            <a:r>
              <a:rPr lang="cs-CZ" sz="3200" dirty="0" smtClean="0">
                <a:effectLst/>
              </a:rPr>
              <a:t>íma</a:t>
            </a:r>
            <a:endParaRPr lang="cs-CZ" sz="3200" dirty="0">
              <a:effectLst/>
            </a:endParaRPr>
          </a:p>
          <a:p>
            <a:endParaRPr lang="cs-CZ" dirty="0"/>
          </a:p>
        </p:txBody>
      </p:sp>
      <p:pic>
        <p:nvPicPr>
          <p:cNvPr id="8" name="Zástupný symbol pro obsah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995754"/>
            <a:ext cx="2654127" cy="1768312"/>
          </a:xfrm>
          <a:effectLst>
            <a:outerShdw blurRad="50800" dist="50800" dir="5400000" algn="ctr" rotWithShape="0">
              <a:schemeClr val="tx1">
                <a:lumMod val="95000"/>
              </a:schemeClr>
            </a:outerShdw>
          </a:effectLst>
        </p:spPr>
      </p:pic>
      <p:pic>
        <p:nvPicPr>
          <p:cNvPr id="7" name="Zástupný symbol pro obsah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019" y="2038248"/>
            <a:ext cx="2925937" cy="1953063"/>
          </a:xfrm>
          <a:prstGeom prst="rect">
            <a:avLst/>
          </a:prstGeom>
          <a:effectLst>
            <a:outerShdw blurRad="50800" dist="50800" dir="5400000" algn="ctr" rotWithShape="0">
              <a:schemeClr val="tx1">
                <a:lumMod val="85000"/>
              </a:schemeClr>
            </a:outerShdw>
          </a:effectLst>
        </p:spPr>
      </p:pic>
      <p:sp>
        <p:nvSpPr>
          <p:cNvPr id="6" name="TextovéPole 5"/>
          <p:cNvSpPr txBox="1"/>
          <p:nvPr/>
        </p:nvSpPr>
        <p:spPr>
          <a:xfrm>
            <a:off x="4871393" y="3991311"/>
            <a:ext cx="78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</a:t>
            </a:r>
            <a:r>
              <a:rPr lang="cs-CZ" dirty="0" smtClean="0"/>
              <a:t>br. 3</a:t>
            </a:r>
            <a:endParaRPr lang="cs-CZ" dirty="0"/>
          </a:p>
        </p:txBody>
      </p:sp>
      <p:sp>
        <p:nvSpPr>
          <p:cNvPr id="9" name="TextovéPole 8"/>
          <p:cNvSpPr txBox="1"/>
          <p:nvPr/>
        </p:nvSpPr>
        <p:spPr>
          <a:xfrm>
            <a:off x="6228184" y="5774230"/>
            <a:ext cx="78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</a:t>
            </a:r>
            <a:r>
              <a:rPr lang="cs-CZ" dirty="0" smtClean="0"/>
              <a:t>br. 4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144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Rozvoj literatury a umění</a:t>
            </a:r>
            <a:endParaRPr lang="cs-CZ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cs-CZ" sz="2800" dirty="0">
                <a:effectLst/>
              </a:rPr>
              <a:t>příznivé </a:t>
            </a:r>
            <a:r>
              <a:rPr lang="cs-CZ" sz="2800" dirty="0" smtClean="0">
                <a:effectLst/>
              </a:rPr>
              <a:t>podmínky</a:t>
            </a:r>
          </a:p>
          <a:p>
            <a:pPr lvl="1"/>
            <a:r>
              <a:rPr lang="cs-CZ" sz="2600" dirty="0" smtClean="0">
                <a:effectLst/>
              </a:rPr>
              <a:t>mírné klima</a:t>
            </a:r>
          </a:p>
          <a:p>
            <a:pPr lvl="1"/>
            <a:r>
              <a:rPr lang="cs-CZ" sz="2600" dirty="0" smtClean="0">
                <a:effectLst/>
              </a:rPr>
              <a:t>zeměpisná poloha</a:t>
            </a:r>
          </a:p>
          <a:p>
            <a:pPr lvl="2"/>
            <a:r>
              <a:rPr lang="cs-CZ" sz="2400" dirty="0" smtClean="0">
                <a:effectLst/>
              </a:rPr>
              <a:t>Středozemní moře </a:t>
            </a:r>
          </a:p>
          <a:p>
            <a:r>
              <a:rPr lang="cs-CZ" sz="2800" dirty="0" smtClean="0">
                <a:effectLst/>
              </a:rPr>
              <a:t>rychlý </a:t>
            </a:r>
            <a:r>
              <a:rPr lang="cs-CZ" sz="2800" dirty="0">
                <a:effectLst/>
              </a:rPr>
              <a:t>hospodářský a společenský rozvoj</a:t>
            </a:r>
            <a:endParaRPr lang="cs-CZ" sz="2800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sz="3300" dirty="0" smtClean="0">
                <a:effectLst/>
              </a:rPr>
              <a:t>kontakty </a:t>
            </a:r>
            <a:r>
              <a:rPr lang="cs-CZ" sz="3300" dirty="0">
                <a:effectLst/>
              </a:rPr>
              <a:t>s vyspělými starověkými civilizacemi </a:t>
            </a:r>
            <a:endParaRPr lang="cs-CZ" sz="3300" dirty="0" smtClean="0">
              <a:effectLst/>
            </a:endParaRPr>
          </a:p>
          <a:p>
            <a:pPr lvl="1"/>
            <a:r>
              <a:rPr lang="cs-CZ" sz="3100" dirty="0" smtClean="0">
                <a:effectLst/>
              </a:rPr>
              <a:t>Asie </a:t>
            </a:r>
            <a:endParaRPr lang="cs-CZ" sz="3100" dirty="0">
              <a:effectLst/>
            </a:endParaRPr>
          </a:p>
          <a:p>
            <a:pPr lvl="1"/>
            <a:r>
              <a:rPr lang="cs-CZ" sz="3100" dirty="0" smtClean="0">
                <a:effectLst/>
              </a:rPr>
              <a:t>Afrika</a:t>
            </a:r>
            <a:r>
              <a:rPr lang="cs-CZ" sz="2600" dirty="0" smtClean="0">
                <a:effectLst/>
              </a:rPr>
              <a:t> </a:t>
            </a:r>
            <a:endParaRPr lang="cs-CZ" sz="2600" dirty="0">
              <a:effectLst/>
            </a:endParaRPr>
          </a:p>
          <a:p>
            <a:r>
              <a:rPr lang="cs-CZ" sz="3300" dirty="0" smtClean="0">
                <a:effectLst/>
              </a:rPr>
              <a:t>bohatý </a:t>
            </a:r>
            <a:r>
              <a:rPr lang="cs-CZ" sz="3300" dirty="0">
                <a:effectLst/>
              </a:rPr>
              <a:t>kulturní </a:t>
            </a:r>
            <a:r>
              <a:rPr lang="cs-CZ" sz="3300" dirty="0" smtClean="0">
                <a:effectLst/>
              </a:rPr>
              <a:t>život</a:t>
            </a:r>
            <a:endParaRPr lang="cs-CZ" sz="3300" dirty="0">
              <a:effectLst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942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Kulturní památky</a:t>
            </a:r>
            <a:endParaRPr lang="cs-CZ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sz="3500" dirty="0" smtClean="0">
                <a:effectLst/>
              </a:rPr>
              <a:t>památky zachovány</a:t>
            </a:r>
            <a:r>
              <a:rPr lang="cs-CZ" sz="3200" dirty="0" smtClean="0">
                <a:effectLst/>
              </a:rPr>
              <a:t> </a:t>
            </a:r>
          </a:p>
          <a:p>
            <a:pPr lvl="1"/>
            <a:r>
              <a:rPr lang="cs-CZ" sz="2800" dirty="0" smtClean="0">
                <a:effectLst/>
              </a:rPr>
              <a:t>ve </a:t>
            </a:r>
            <a:r>
              <a:rPr lang="cs-CZ" sz="2800" dirty="0">
                <a:effectLst/>
              </a:rPr>
              <a:t>větší </a:t>
            </a:r>
            <a:r>
              <a:rPr lang="cs-CZ" sz="2800" dirty="0" smtClean="0">
                <a:effectLst/>
              </a:rPr>
              <a:t>míře</a:t>
            </a:r>
          </a:p>
          <a:p>
            <a:pPr lvl="1"/>
            <a:r>
              <a:rPr lang="cs-CZ" sz="2800" dirty="0" smtClean="0">
                <a:effectLst/>
              </a:rPr>
              <a:t>v</a:t>
            </a:r>
            <a:r>
              <a:rPr lang="cs-CZ" sz="2800" dirty="0">
                <a:effectLst/>
              </a:rPr>
              <a:t> jazykově dostupnější </a:t>
            </a:r>
            <a:r>
              <a:rPr lang="cs-CZ" sz="2800" dirty="0" smtClean="0">
                <a:effectLst/>
              </a:rPr>
              <a:t>podobě</a:t>
            </a:r>
          </a:p>
          <a:p>
            <a:r>
              <a:rPr lang="cs-CZ" sz="3500" dirty="0">
                <a:effectLst/>
              </a:rPr>
              <a:t>v</a:t>
            </a:r>
            <a:r>
              <a:rPr lang="cs-CZ" sz="3500" dirty="0" smtClean="0">
                <a:effectLst/>
              </a:rPr>
              <a:t>liv na </a:t>
            </a:r>
            <a:r>
              <a:rPr lang="cs-CZ" sz="3500" dirty="0">
                <a:effectLst/>
              </a:rPr>
              <a:t>další vývoj evropské </a:t>
            </a:r>
            <a:r>
              <a:rPr lang="cs-CZ" sz="3500" dirty="0" smtClean="0">
                <a:effectLst/>
              </a:rPr>
              <a:t>kultury</a:t>
            </a:r>
            <a:endParaRPr lang="cs-CZ" sz="3500" dirty="0">
              <a:effectLst/>
            </a:endParaRPr>
          </a:p>
          <a:p>
            <a:endParaRPr lang="cs-CZ" dirty="0"/>
          </a:p>
        </p:txBody>
      </p:sp>
      <p:pic>
        <p:nvPicPr>
          <p:cNvPr id="5" name="Zástupný symbol pro obsah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183" y="2708919"/>
            <a:ext cx="3760485" cy="2500723"/>
          </a:xfrm>
        </p:spPr>
      </p:pic>
      <p:sp>
        <p:nvSpPr>
          <p:cNvPr id="6" name="TextovéPole 5"/>
          <p:cNvSpPr txBox="1"/>
          <p:nvPr/>
        </p:nvSpPr>
        <p:spPr>
          <a:xfrm>
            <a:off x="4690183" y="5209642"/>
            <a:ext cx="780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</a:t>
            </a:r>
            <a:r>
              <a:rPr lang="cs-CZ" dirty="0" smtClean="0"/>
              <a:t>br. 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391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 smtClean="0"/>
              <a:t>Slovesnost a další vědy</a:t>
            </a:r>
            <a:endParaRPr lang="cs-CZ" i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sz="3200" dirty="0">
                <a:effectLst/>
              </a:rPr>
              <a:t>u</a:t>
            </a:r>
            <a:r>
              <a:rPr lang="cs-CZ" sz="3200" dirty="0" smtClean="0">
                <a:effectLst/>
              </a:rPr>
              <a:t>mělecká </a:t>
            </a:r>
            <a:r>
              <a:rPr lang="cs-CZ" sz="3200" dirty="0">
                <a:effectLst/>
              </a:rPr>
              <a:t>slovesnost </a:t>
            </a:r>
          </a:p>
          <a:p>
            <a:pPr lvl="1"/>
            <a:r>
              <a:rPr lang="cs-CZ" sz="3000" dirty="0">
                <a:effectLst/>
              </a:rPr>
              <a:t>p</a:t>
            </a:r>
            <a:r>
              <a:rPr lang="cs-CZ" sz="3000" dirty="0" smtClean="0">
                <a:effectLst/>
              </a:rPr>
              <a:t>ostupně se </a:t>
            </a:r>
            <a:r>
              <a:rPr lang="cs-CZ" sz="3000" dirty="0">
                <a:effectLst/>
              </a:rPr>
              <a:t>bohatě člení a vrství </a:t>
            </a:r>
            <a:endParaRPr lang="cs-CZ" sz="3000" dirty="0" smtClean="0">
              <a:effectLst/>
            </a:endParaRPr>
          </a:p>
          <a:p>
            <a:pPr lvl="2"/>
            <a:r>
              <a:rPr lang="cs-CZ" sz="2800" dirty="0" smtClean="0">
                <a:effectLst/>
              </a:rPr>
              <a:t>druhy </a:t>
            </a:r>
          </a:p>
          <a:p>
            <a:pPr lvl="2"/>
            <a:r>
              <a:rPr lang="cs-CZ" sz="2800" dirty="0" smtClean="0">
                <a:effectLst/>
              </a:rPr>
              <a:t>žánry</a:t>
            </a:r>
          </a:p>
          <a:p>
            <a:r>
              <a:rPr lang="cs-CZ" sz="3200" dirty="0" smtClean="0">
                <a:effectLst/>
              </a:rPr>
              <a:t>objev jednoho umělce další umělec</a:t>
            </a:r>
          </a:p>
          <a:p>
            <a:pPr lvl="1"/>
            <a:r>
              <a:rPr lang="cs-CZ" sz="3000" dirty="0" smtClean="0">
                <a:effectLst/>
              </a:rPr>
              <a:t>přebírá</a:t>
            </a:r>
          </a:p>
          <a:p>
            <a:pPr lvl="1"/>
            <a:r>
              <a:rPr lang="cs-CZ" sz="3000" dirty="0" smtClean="0">
                <a:effectLst/>
              </a:rPr>
              <a:t>postupně rozvíjí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040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i="1" dirty="0"/>
              <a:t>Slovesnost a další vědy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sz="3500" dirty="0" smtClean="0">
                <a:effectLst/>
              </a:rPr>
              <a:t>vznik</a:t>
            </a:r>
            <a:r>
              <a:rPr lang="cs-CZ" sz="3600" dirty="0" smtClean="0">
                <a:effectLst/>
              </a:rPr>
              <a:t> </a:t>
            </a:r>
          </a:p>
          <a:p>
            <a:pPr lvl="1"/>
            <a:r>
              <a:rPr lang="cs-CZ" sz="3200" dirty="0" smtClean="0">
                <a:effectLst/>
              </a:rPr>
              <a:t>literární </a:t>
            </a:r>
            <a:r>
              <a:rPr lang="cs-CZ" sz="3200" dirty="0">
                <a:effectLst/>
              </a:rPr>
              <a:t>teorie </a:t>
            </a:r>
          </a:p>
          <a:p>
            <a:pPr lvl="1"/>
            <a:r>
              <a:rPr lang="cs-CZ" sz="3200" dirty="0">
                <a:effectLst/>
              </a:rPr>
              <a:t>l</a:t>
            </a:r>
            <a:r>
              <a:rPr lang="cs-CZ" sz="3200" dirty="0" smtClean="0">
                <a:effectLst/>
              </a:rPr>
              <a:t>iterární kritika</a:t>
            </a:r>
            <a:endParaRPr lang="cs-CZ" sz="3200" dirty="0">
              <a:effectLst/>
            </a:endParaRPr>
          </a:p>
          <a:p>
            <a:pPr lvl="1"/>
            <a:r>
              <a:rPr lang="cs-CZ" sz="3200" dirty="0" smtClean="0">
                <a:effectLst/>
              </a:rPr>
              <a:t>další </a:t>
            </a:r>
            <a:r>
              <a:rPr lang="cs-CZ" sz="3200" dirty="0">
                <a:effectLst/>
              </a:rPr>
              <a:t>vědecké oblasti </a:t>
            </a:r>
          </a:p>
          <a:p>
            <a:pPr lvl="2"/>
            <a:r>
              <a:rPr lang="cs-CZ" sz="3000" dirty="0" smtClean="0">
                <a:effectLst/>
              </a:rPr>
              <a:t>fyzika</a:t>
            </a:r>
          </a:p>
          <a:p>
            <a:pPr lvl="2"/>
            <a:r>
              <a:rPr lang="cs-CZ" sz="3000" dirty="0" smtClean="0">
                <a:effectLst/>
              </a:rPr>
              <a:t>matematika</a:t>
            </a:r>
          </a:p>
          <a:p>
            <a:pPr lvl="2"/>
            <a:r>
              <a:rPr lang="cs-CZ" sz="3000" dirty="0" smtClean="0">
                <a:effectLst/>
              </a:rPr>
              <a:t>filosofie</a:t>
            </a:r>
            <a:endParaRPr lang="cs-CZ" sz="3000" dirty="0">
              <a:effectLst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2541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Použité zdroje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POLÁŠKOVÁ, Taťána; MILOTOVÁ, Dagmar; DVOŘÁKOVÁ, Zuzana. </a:t>
            </a:r>
            <a:r>
              <a:rPr lang="cs-CZ" i="1" dirty="0"/>
              <a:t>Literatura - přehled středoškolského učiva</a:t>
            </a:r>
            <a:r>
              <a:rPr lang="cs-CZ" dirty="0"/>
              <a:t>. Třebíč: Petra </a:t>
            </a:r>
            <a:r>
              <a:rPr lang="cs-CZ" dirty="0" err="1"/>
              <a:t>Velanová</a:t>
            </a:r>
            <a:r>
              <a:rPr lang="cs-CZ" dirty="0"/>
              <a:t>, 2006. Maturita. ISBN 80-902571-6-X.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Pokud není uvedeno jinak, použitý </a:t>
            </a:r>
            <a:r>
              <a:rPr lang="cs-CZ"/>
              <a:t>materiál </a:t>
            </a:r>
            <a:r>
              <a:rPr lang="cs-CZ" smtClean="0"/>
              <a:t>je </a:t>
            </a:r>
            <a:r>
              <a:rPr lang="cs-CZ" dirty="0"/>
              <a:t>z vlastních zdrojů autora</a:t>
            </a:r>
          </a:p>
          <a:p>
            <a:pPr marL="0" indent="0">
              <a:buNone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Použité obrázky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o</a:t>
            </a:r>
            <a:r>
              <a:rPr lang="cs-CZ" dirty="0" smtClean="0"/>
              <a:t>br. 1: </a:t>
            </a:r>
            <a:r>
              <a:rPr lang="en-US" dirty="0" smtClean="0"/>
              <a:t>AUTOR </a:t>
            </a:r>
            <a:r>
              <a:rPr lang="en-US" dirty="0"/>
              <a:t>NEUVEDEN. </a:t>
            </a:r>
            <a:r>
              <a:rPr lang="en-US" i="1" dirty="0"/>
              <a:t>commons.wikimedia.org</a:t>
            </a:r>
            <a:r>
              <a:rPr lang="en-US" dirty="0"/>
              <a:t> [online]. [cit. 10.11.2013]. </a:t>
            </a:r>
            <a:r>
              <a:rPr lang="en-US" dirty="0" err="1"/>
              <a:t>Dostupný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WWW: http://cs.wikipedia.org/wiki/Soubor:Extent_of_Western_Roman_Empire_395.png </a:t>
            </a:r>
            <a:endParaRPr lang="cs-CZ" dirty="0" smtClean="0"/>
          </a:p>
          <a:p>
            <a:r>
              <a:rPr lang="cs-CZ" dirty="0"/>
              <a:t>o</a:t>
            </a:r>
            <a:r>
              <a:rPr lang="cs-CZ" dirty="0" smtClean="0"/>
              <a:t>br. 2: LOGAN</a:t>
            </a:r>
            <a:r>
              <a:rPr lang="cs-CZ" dirty="0"/>
              <a:t>, Aaron. </a:t>
            </a:r>
            <a:r>
              <a:rPr lang="cs-CZ" i="1" dirty="0"/>
              <a:t>commons.wikimedia.org</a:t>
            </a:r>
            <a:r>
              <a:rPr lang="cs-CZ" dirty="0"/>
              <a:t> [online]. [cit. 10.11.2013]. Dostupný na WWW: http://cs.wikipedia.org/wiki/Soubor:Lightmatter_acropolis.jpg </a:t>
            </a:r>
            <a:endParaRPr lang="cs-CZ" dirty="0" smtClean="0"/>
          </a:p>
          <a:p>
            <a:r>
              <a:rPr lang="cs-CZ" dirty="0"/>
              <a:t>o</a:t>
            </a:r>
            <a:r>
              <a:rPr lang="cs-CZ" dirty="0" smtClean="0"/>
              <a:t>br. 3: </a:t>
            </a:r>
            <a:r>
              <a:rPr lang="en-US" dirty="0" smtClean="0"/>
              <a:t>AUTOR </a:t>
            </a:r>
            <a:r>
              <a:rPr lang="en-US" dirty="0"/>
              <a:t>NEUVEDEN. </a:t>
            </a:r>
            <a:r>
              <a:rPr lang="en-US" i="1" dirty="0"/>
              <a:t>commons.wikimedia.org</a:t>
            </a:r>
            <a:r>
              <a:rPr lang="en-US" dirty="0"/>
              <a:t> [online]. [cit. 10.11.2013]. </a:t>
            </a:r>
            <a:r>
              <a:rPr lang="en-US" dirty="0" err="1" smtClean="0"/>
              <a:t>Dostupný</a:t>
            </a:r>
            <a:r>
              <a:rPr lang="cs-CZ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/>
              <a:t>WWW: http://cs.wikipedia.org/wiki/Soubor:Greek_alpha.png </a:t>
            </a:r>
            <a:endParaRPr lang="cs-CZ" dirty="0" smtClean="0"/>
          </a:p>
          <a:p>
            <a:r>
              <a:rPr lang="cs-CZ" dirty="0"/>
              <a:t>o</a:t>
            </a:r>
            <a:r>
              <a:rPr lang="cs-CZ" dirty="0" smtClean="0"/>
              <a:t>br. 4: COETZEE</a:t>
            </a:r>
            <a:r>
              <a:rPr lang="cs-CZ" dirty="0"/>
              <a:t>, </a:t>
            </a:r>
            <a:r>
              <a:rPr lang="cs-CZ" dirty="0" err="1"/>
              <a:t>Derrick</a:t>
            </a:r>
            <a:r>
              <a:rPr lang="cs-CZ" dirty="0"/>
              <a:t>. </a:t>
            </a:r>
            <a:r>
              <a:rPr lang="cs-CZ" i="1" dirty="0"/>
              <a:t>commons.wikimedia.org</a:t>
            </a:r>
            <a:r>
              <a:rPr lang="cs-CZ" dirty="0"/>
              <a:t> [online]. [cit. 10.11.2013]. Dostupný na WWW: http://</a:t>
            </a:r>
            <a:r>
              <a:rPr lang="cs-CZ" dirty="0" smtClean="0"/>
              <a:t>cs.wikipedia.org/wiki/Soubor:Beta_uc_lc.svg</a:t>
            </a:r>
          </a:p>
          <a:p>
            <a:r>
              <a:rPr lang="cs-CZ" dirty="0"/>
              <a:t>o</a:t>
            </a:r>
            <a:r>
              <a:rPr lang="cs-CZ" dirty="0" smtClean="0"/>
              <a:t>br. 5: VAN </a:t>
            </a:r>
            <a:r>
              <a:rPr lang="cs-CZ" dirty="0"/>
              <a:t>DER SLUIJS, Peter. </a:t>
            </a:r>
            <a:r>
              <a:rPr lang="cs-CZ" i="1" dirty="0"/>
              <a:t>commons.wikimedia.org</a:t>
            </a:r>
            <a:r>
              <a:rPr lang="cs-CZ" dirty="0"/>
              <a:t> [online]. [cit. 10.11.2013]. Dostupný na WWW: http://commons.wikimedia.org/wiki/File:Statue_Greece_Greek_mytologie.jpg?uselang=cs</a:t>
            </a:r>
          </a:p>
          <a:p>
            <a:endParaRPr lang="cs-C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30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1920</TotalTime>
  <Words>380</Words>
  <Application>Microsoft Office PowerPoint</Application>
  <PresentationFormat>Předvádění na obrazovce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Rockwell</vt:lpstr>
      <vt:lpstr>Times New Roman</vt:lpstr>
      <vt:lpstr>Damask</vt:lpstr>
      <vt:lpstr>Prezentace aplikace PowerPoint</vt:lpstr>
      <vt:lpstr>Antická literatura</vt:lpstr>
      <vt:lpstr>Antika</vt:lpstr>
      <vt:lpstr>Území</vt:lpstr>
      <vt:lpstr>Centra kultury</vt:lpstr>
      <vt:lpstr>Myšlenkové sjednocení</vt:lpstr>
      <vt:lpstr>Antická literatura</vt:lpstr>
      <vt:lpstr>Rozvoj literatury a umění</vt:lpstr>
      <vt:lpstr>Kulturní památky</vt:lpstr>
      <vt:lpstr>Slovesnost a další vědy</vt:lpstr>
      <vt:lpstr>Slovesnost a další vědy</vt:lpstr>
      <vt:lpstr>Použité zdroje</vt:lpstr>
      <vt:lpstr>Použité obrázky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Reklamace</dc:title>
  <cp:lastModifiedBy>Kristina Eppichová</cp:lastModifiedBy>
  <cp:revision>24</cp:revision>
  <dcterms:modified xsi:type="dcterms:W3CDTF">2013-12-18T19:19:02Z</dcterms:modified>
</cp:coreProperties>
</file>