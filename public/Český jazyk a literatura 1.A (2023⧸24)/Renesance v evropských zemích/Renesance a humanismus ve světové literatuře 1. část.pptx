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75" r:id="rId9"/>
    <p:sldId id="265" r:id="rId10"/>
    <p:sldId id="266" r:id="rId11"/>
    <p:sldId id="269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6" r:id="rId20"/>
    <p:sldId id="264" r:id="rId21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6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17" name="Podnadpis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30" name="Zástupný symbol pro datum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7F794-3130-49D2-95F4-846FD6810EC1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19" name="Zástupný symbol pro zápatí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27" name="Zástupný symbol pro číslo snímku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F8F12-8875-4AEB-ABBF-6A54133B754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7F794-3130-49D2-95F4-846FD6810EC1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F8F12-8875-4AEB-ABBF-6A54133B754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7F794-3130-49D2-95F4-846FD6810EC1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F8F12-8875-4AEB-ABBF-6A54133B754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7F794-3130-49D2-95F4-846FD6810EC1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F8F12-8875-4AEB-ABBF-6A54133B754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7F794-3130-49D2-95F4-846FD6810EC1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F8F12-8875-4AEB-ABBF-6A54133B754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7F794-3130-49D2-95F4-846FD6810EC1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F8F12-8875-4AEB-ABBF-6A54133B754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7F794-3130-49D2-95F4-846FD6810EC1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F8F12-8875-4AEB-ABBF-6A54133B754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7F794-3130-49D2-95F4-846FD6810EC1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F8F12-8875-4AEB-ABBF-6A54133B754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s odříznutým a zakulaceným jedním rohem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Pravoúhlý trojúhelník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7F794-3130-49D2-95F4-846FD6810EC1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B3F8F12-8875-4AEB-ABBF-6A54133B754C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cs-CZ"/>
              <a:t>Klepnutím na ikonu přidáte obrázek.</a:t>
            </a:r>
            <a:endParaRPr kumimoji="0" lang="en-US" dirty="0"/>
          </a:p>
        </p:txBody>
      </p:sp>
      <p:sp>
        <p:nvSpPr>
          <p:cNvPr id="10" name="Volný tvar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Volný tvar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7F794-3130-49D2-95F4-846FD6810EC1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F8F12-8875-4AEB-ABBF-6A54133B754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7F794-3130-49D2-95F4-846FD6810EC1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F8F12-8875-4AEB-ABBF-6A54133B754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olný tvar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Volný tvar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Zástupný symbol pro nadpis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0" name="Zástupný symbol pro text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/>
              <a:t>Klepnutím lze upravit styly předlohy textu.</a:t>
            </a:r>
          </a:p>
          <a:p>
            <a:pPr lvl="1" eaLnBrk="1" latinLnBrk="0" hangingPunct="1"/>
            <a:r>
              <a:rPr kumimoji="0" lang="cs-CZ"/>
              <a:t>Druhá úroveň</a:t>
            </a:r>
          </a:p>
          <a:p>
            <a:pPr lvl="2" eaLnBrk="1" latinLnBrk="0" hangingPunct="1"/>
            <a:r>
              <a:rPr kumimoji="0" lang="cs-CZ"/>
              <a:t>Třetí úroveň</a:t>
            </a:r>
          </a:p>
          <a:p>
            <a:pPr lvl="3" eaLnBrk="1" latinLnBrk="0" hangingPunct="1"/>
            <a:r>
              <a:rPr kumimoji="0" lang="cs-CZ"/>
              <a:t>Čtvrtá úroveň</a:t>
            </a:r>
          </a:p>
          <a:p>
            <a:pPr lvl="4" eaLnBrk="1" latinLnBrk="0" hangingPunct="1"/>
            <a:r>
              <a:rPr kumimoji="0" lang="cs-CZ"/>
              <a:t>Pátá úroveň</a:t>
            </a:r>
            <a:endParaRPr kumimoji="0" lang="en-US"/>
          </a:p>
        </p:txBody>
      </p:sp>
      <p:sp>
        <p:nvSpPr>
          <p:cNvPr id="10" name="Zástupný symbol pro datum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C07F794-3130-49D2-95F4-846FD6810EC1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22" name="Zástupný symbol pro zápatí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8" name="Zástupný symbol pro číslo snímku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3F8F12-8875-4AEB-ABBF-6A54133B754C}" type="slidenum">
              <a:rPr lang="cs-CZ" smtClean="0"/>
              <a:pPr/>
              <a:t>‹#›</a:t>
            </a:fld>
            <a:endParaRPr lang="cs-CZ"/>
          </a:p>
        </p:txBody>
      </p:sp>
      <p:grpSp>
        <p:nvGrpSpPr>
          <p:cNvPr id="2" name="Skupina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Volný tvar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Volný tvar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39552" y="908720"/>
            <a:ext cx="7851648" cy="1152128"/>
          </a:xfrm>
        </p:spPr>
        <p:txBody>
          <a:bodyPr/>
          <a:lstStyle/>
          <a:p>
            <a:r>
              <a:rPr lang="cs-CZ" dirty="0">
                <a:solidFill>
                  <a:srgbClr val="FFFF00"/>
                </a:solidFill>
              </a:rPr>
              <a:t>Renesance a humanismus 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39552" y="2420888"/>
            <a:ext cx="6558880" cy="2560248"/>
          </a:xfrm>
        </p:spPr>
        <p:txBody>
          <a:bodyPr>
            <a:normAutofit/>
          </a:bodyPr>
          <a:lstStyle/>
          <a:p>
            <a:pPr algn="ctr"/>
            <a:r>
              <a:rPr lang="cs-CZ" sz="4800" dirty="0">
                <a:latin typeface="+mj-lt"/>
              </a:rPr>
              <a:t>          ve světové literatuře</a:t>
            </a:r>
          </a:p>
          <a:p>
            <a:pPr algn="ctr"/>
            <a:r>
              <a:rPr lang="cs-CZ" sz="4800" dirty="0">
                <a:latin typeface="+mj-lt"/>
              </a:rPr>
              <a:t>       1. část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3528" y="764704"/>
            <a:ext cx="8136904" cy="2304256"/>
          </a:xfrm>
        </p:spPr>
        <p:txBody>
          <a:bodyPr>
            <a:normAutofit fontScale="90000"/>
          </a:bodyPr>
          <a:lstStyle/>
          <a:p>
            <a:r>
              <a:rPr lang="cs-CZ" sz="3600" dirty="0">
                <a:solidFill>
                  <a:srgbClr val="C00000"/>
                </a:solidFill>
              </a:rPr>
              <a:t>Renesance</a:t>
            </a:r>
            <a:r>
              <a:rPr lang="cs-CZ" sz="3600" dirty="0"/>
              <a:t> je epocha ve vývoji společenského, politického a kulturního života v Evropě 14. – 16. století (období historické, umělecký směr)</a:t>
            </a:r>
            <a:br>
              <a:rPr lang="cs-CZ" sz="3600" dirty="0"/>
            </a:br>
            <a:br>
              <a:rPr lang="cs-CZ" sz="2800" dirty="0"/>
            </a:br>
            <a:r>
              <a:rPr lang="cs-CZ" sz="2800" dirty="0"/>
              <a:t>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79512" y="2420888"/>
            <a:ext cx="8229600" cy="4437112"/>
          </a:xfrm>
        </p:spPr>
        <p:txBody>
          <a:bodyPr>
            <a:normAutofit fontScale="25000" lnSpcReduction="20000"/>
          </a:bodyPr>
          <a:lstStyle/>
          <a:p>
            <a:r>
              <a:rPr lang="cs-CZ" sz="11200" u="sng" dirty="0">
                <a:latin typeface="+mj-lt"/>
              </a:rPr>
              <a:t>renesance</a:t>
            </a:r>
            <a:r>
              <a:rPr lang="cs-CZ" sz="11200" dirty="0">
                <a:latin typeface="+mj-lt"/>
              </a:rPr>
              <a:t> - z latiny, francouzštiny : znovuzrození</a:t>
            </a:r>
          </a:p>
          <a:p>
            <a:r>
              <a:rPr lang="cs-CZ" sz="11200" u="sng" dirty="0">
                <a:latin typeface="+mj-lt"/>
              </a:rPr>
              <a:t>historické souvislosti renesance </a:t>
            </a:r>
            <a:r>
              <a:rPr lang="cs-CZ" sz="11200" dirty="0">
                <a:latin typeface="+mj-lt"/>
              </a:rPr>
              <a:t>: * </a:t>
            </a:r>
            <a:r>
              <a:rPr lang="cs-CZ" sz="11200" u="sng" dirty="0">
                <a:latin typeface="+mj-lt"/>
              </a:rPr>
              <a:t>vznik</a:t>
            </a:r>
            <a:r>
              <a:rPr lang="cs-CZ" sz="11200" dirty="0">
                <a:latin typeface="+mj-lt"/>
              </a:rPr>
              <a:t> v bohatých </a:t>
            </a:r>
          </a:p>
          <a:p>
            <a:pPr>
              <a:buNone/>
            </a:pPr>
            <a:r>
              <a:rPr lang="cs-CZ" sz="11200" dirty="0">
                <a:latin typeface="+mj-lt"/>
              </a:rPr>
              <a:t>             městech severní </a:t>
            </a:r>
            <a:r>
              <a:rPr lang="cs-CZ" sz="11200" u="sng" dirty="0">
                <a:latin typeface="+mj-lt"/>
              </a:rPr>
              <a:t>Itálie</a:t>
            </a:r>
            <a:r>
              <a:rPr lang="cs-CZ" sz="11200" dirty="0">
                <a:latin typeface="+mj-lt"/>
              </a:rPr>
              <a:t> a šíření dále do Anglie,</a:t>
            </a:r>
          </a:p>
          <a:p>
            <a:pPr>
              <a:buNone/>
            </a:pPr>
            <a:r>
              <a:rPr lang="cs-CZ" sz="11200" dirty="0">
                <a:latin typeface="+mj-lt"/>
              </a:rPr>
              <a:t>             Španělska, Německa, Francie a střední Evropy</a:t>
            </a:r>
          </a:p>
          <a:p>
            <a:pPr>
              <a:buNone/>
            </a:pPr>
            <a:r>
              <a:rPr lang="cs-CZ" sz="11200" dirty="0">
                <a:latin typeface="+mj-lt"/>
              </a:rPr>
              <a:t>             (v Čechách: od 70. let 15. stol. do 70. let 18.stol)</a:t>
            </a:r>
          </a:p>
          <a:p>
            <a:pPr>
              <a:buNone/>
            </a:pPr>
            <a:r>
              <a:rPr lang="cs-CZ" sz="11200" dirty="0">
                <a:latin typeface="+mj-lt"/>
              </a:rPr>
              <a:t> </a:t>
            </a:r>
          </a:p>
          <a:p>
            <a:pPr>
              <a:buNone/>
            </a:pPr>
            <a:r>
              <a:rPr lang="cs-CZ" sz="11200" dirty="0">
                <a:latin typeface="+mj-lt"/>
              </a:rPr>
              <a:t>                                                            * vzestup </a:t>
            </a:r>
            <a:r>
              <a:rPr lang="cs-CZ" sz="11200" u="sng" dirty="0">
                <a:latin typeface="+mj-lt"/>
              </a:rPr>
              <a:t>měšťanstva</a:t>
            </a:r>
            <a:r>
              <a:rPr lang="cs-CZ" sz="11200" dirty="0">
                <a:latin typeface="+mj-lt"/>
              </a:rPr>
              <a:t>,</a:t>
            </a:r>
          </a:p>
          <a:p>
            <a:pPr>
              <a:buNone/>
            </a:pPr>
            <a:r>
              <a:rPr lang="cs-CZ" sz="11200" dirty="0">
                <a:latin typeface="+mj-lt"/>
              </a:rPr>
              <a:t>            skupiny movitých obchodníků a bankéřů </a:t>
            </a:r>
            <a:r>
              <a:rPr lang="cs-CZ" sz="11200" dirty="0" err="1">
                <a:latin typeface="+mj-lt"/>
              </a:rPr>
              <a:t>podpo</a:t>
            </a:r>
            <a:r>
              <a:rPr lang="cs-CZ" sz="11200" dirty="0">
                <a:latin typeface="+mj-lt"/>
              </a:rPr>
              <a:t>-</a:t>
            </a:r>
          </a:p>
          <a:p>
            <a:pPr>
              <a:buNone/>
            </a:pPr>
            <a:r>
              <a:rPr lang="cs-CZ" sz="11200" dirty="0">
                <a:latin typeface="+mj-lt"/>
              </a:rPr>
              <a:t>            rují a financují nové umění (např. </a:t>
            </a:r>
            <a:r>
              <a:rPr lang="cs-CZ" sz="11200" dirty="0" err="1">
                <a:latin typeface="+mj-lt"/>
              </a:rPr>
              <a:t>Mediceové</a:t>
            </a:r>
            <a:r>
              <a:rPr lang="cs-CZ" sz="11200">
                <a:latin typeface="+mj-lt"/>
              </a:rPr>
              <a:t>), </a:t>
            </a:r>
            <a:r>
              <a:rPr lang="cs-CZ" sz="11200" dirty="0">
                <a:latin typeface="+mj-lt"/>
              </a:rPr>
              <a:t>=</a:t>
            </a:r>
          </a:p>
          <a:p>
            <a:pPr>
              <a:buNone/>
            </a:pPr>
            <a:r>
              <a:rPr lang="cs-CZ" sz="11200" dirty="0">
                <a:latin typeface="+mj-lt"/>
              </a:rPr>
              <a:t>            </a:t>
            </a:r>
            <a:r>
              <a:rPr lang="cs-CZ" sz="11200" u="sng" dirty="0">
                <a:latin typeface="+mj-lt"/>
              </a:rPr>
              <a:t>nositel nového umění</a:t>
            </a:r>
          </a:p>
          <a:p>
            <a:pPr>
              <a:buNone/>
            </a:pPr>
            <a:r>
              <a:rPr lang="cs-CZ" sz="11200" dirty="0">
                <a:latin typeface="+mj-lt"/>
              </a:rPr>
              <a:t>            </a:t>
            </a:r>
          </a:p>
          <a:p>
            <a:pPr>
              <a:buNone/>
            </a:pPr>
            <a:r>
              <a:rPr lang="cs-CZ" sz="11200" dirty="0">
                <a:latin typeface="+mj-lt"/>
              </a:rPr>
              <a:t>            </a:t>
            </a:r>
          </a:p>
          <a:p>
            <a:pPr>
              <a:buNone/>
            </a:pPr>
            <a:endParaRPr lang="cs-CZ" sz="9600" dirty="0"/>
          </a:p>
          <a:p>
            <a:pPr>
              <a:buNone/>
            </a:pPr>
            <a:endParaRPr lang="cs-CZ" sz="9600" dirty="0"/>
          </a:p>
          <a:p>
            <a:pPr>
              <a:buNone/>
            </a:pPr>
            <a:r>
              <a:rPr lang="cs-CZ" sz="9600" dirty="0"/>
              <a:t> </a:t>
            </a:r>
          </a:p>
          <a:p>
            <a:pPr>
              <a:buNone/>
            </a:pPr>
            <a:endParaRPr lang="cs-CZ" dirty="0"/>
          </a:p>
          <a:p>
            <a:pPr>
              <a:buNone/>
            </a:pPr>
            <a:endParaRPr lang="cs-CZ" dirty="0"/>
          </a:p>
          <a:p>
            <a:pPr>
              <a:buNone/>
            </a:pPr>
            <a:r>
              <a:rPr lang="cs-CZ" dirty="0"/>
              <a:t>       </a:t>
            </a:r>
          </a:p>
          <a:p>
            <a:pPr>
              <a:buNone/>
            </a:pPr>
            <a:r>
              <a:rPr lang="cs-CZ" dirty="0"/>
              <a:t>                                                         </a:t>
            </a:r>
          </a:p>
          <a:p>
            <a:pPr>
              <a:buNone/>
            </a:pPr>
            <a:r>
              <a:rPr lang="cs-CZ" dirty="0"/>
              <a:t>    </a:t>
            </a:r>
          </a:p>
          <a:p>
            <a:endParaRPr lang="cs-CZ" dirty="0"/>
          </a:p>
          <a:p>
            <a:endParaRPr lang="cs-CZ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/>
          <p:cNvSpPr txBox="1"/>
          <p:nvPr/>
        </p:nvSpPr>
        <p:spPr>
          <a:xfrm>
            <a:off x="251520" y="620688"/>
            <a:ext cx="8496944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                                                                       </a:t>
            </a:r>
            <a:r>
              <a:rPr lang="cs-CZ" sz="2800" dirty="0">
                <a:latin typeface="+mj-lt"/>
              </a:rPr>
              <a:t>*</a:t>
            </a:r>
            <a:r>
              <a:rPr lang="cs-CZ" sz="2800" u="sng" dirty="0">
                <a:latin typeface="+mj-lt"/>
              </a:rPr>
              <a:t> přírodní a astronomické</a:t>
            </a:r>
          </a:p>
          <a:p>
            <a:r>
              <a:rPr lang="cs-CZ" sz="2800" dirty="0">
                <a:latin typeface="+mj-lt"/>
              </a:rPr>
              <a:t> </a:t>
            </a:r>
            <a:r>
              <a:rPr lang="cs-CZ" sz="2800" u="sng" dirty="0">
                <a:latin typeface="+mj-lt"/>
              </a:rPr>
              <a:t>objevy</a:t>
            </a:r>
            <a:r>
              <a:rPr lang="cs-CZ" sz="2800" dirty="0">
                <a:latin typeface="+mj-lt"/>
              </a:rPr>
              <a:t>(M. </a:t>
            </a:r>
            <a:r>
              <a:rPr lang="cs-CZ" sz="2800" dirty="0" err="1">
                <a:latin typeface="+mj-lt"/>
              </a:rPr>
              <a:t>Koperník</a:t>
            </a:r>
            <a:r>
              <a:rPr lang="cs-CZ" sz="2800" dirty="0">
                <a:latin typeface="+mj-lt"/>
              </a:rPr>
              <a:t>, </a:t>
            </a:r>
            <a:r>
              <a:rPr lang="cs-CZ" sz="2800" dirty="0" err="1">
                <a:latin typeface="+mj-lt"/>
              </a:rPr>
              <a:t>G</a:t>
            </a:r>
            <a:r>
              <a:rPr lang="cs-CZ" sz="2800" dirty="0">
                <a:latin typeface="+mj-lt"/>
              </a:rPr>
              <a:t>.Galilei, G. Bruno), heliocentrismus</a:t>
            </a:r>
          </a:p>
          <a:p>
            <a:r>
              <a:rPr lang="cs-CZ" sz="2800" dirty="0">
                <a:latin typeface="+mj-lt"/>
              </a:rPr>
              <a:t> a názory o nekonečnosti vesmíru otřásly autoritou církve</a:t>
            </a:r>
          </a:p>
          <a:p>
            <a:endParaRPr lang="cs-CZ" sz="2800" dirty="0">
              <a:latin typeface="+mj-lt"/>
            </a:endParaRPr>
          </a:p>
          <a:p>
            <a:r>
              <a:rPr lang="cs-CZ" sz="2800" dirty="0">
                <a:latin typeface="+mj-lt"/>
              </a:rPr>
              <a:t>                                                  * </a:t>
            </a:r>
            <a:r>
              <a:rPr lang="cs-CZ" sz="2800" u="sng" dirty="0">
                <a:latin typeface="+mj-lt"/>
              </a:rPr>
              <a:t>důvěra</a:t>
            </a:r>
            <a:r>
              <a:rPr lang="cs-CZ" sz="2800" dirty="0">
                <a:latin typeface="+mj-lt"/>
              </a:rPr>
              <a:t> ve vědecké </a:t>
            </a:r>
            <a:r>
              <a:rPr lang="cs-CZ" sz="2800" dirty="0" err="1">
                <a:latin typeface="+mj-lt"/>
              </a:rPr>
              <a:t>zkou</a:t>
            </a:r>
            <a:r>
              <a:rPr lang="cs-CZ" sz="2800" dirty="0">
                <a:latin typeface="+mj-lt"/>
              </a:rPr>
              <a:t>-</a:t>
            </a:r>
          </a:p>
          <a:p>
            <a:r>
              <a:rPr lang="cs-CZ" sz="2800" dirty="0">
                <a:latin typeface="+mj-lt"/>
              </a:rPr>
              <a:t> mání a </a:t>
            </a:r>
            <a:r>
              <a:rPr lang="cs-CZ" sz="2800" u="sng" dirty="0">
                <a:latin typeface="+mj-lt"/>
              </a:rPr>
              <a:t>v lidský rozum </a:t>
            </a:r>
            <a:r>
              <a:rPr lang="cs-CZ" sz="2800" dirty="0">
                <a:latin typeface="+mj-lt"/>
              </a:rPr>
              <a:t>posílily sebevědomí člověka (s tím</a:t>
            </a:r>
          </a:p>
          <a:p>
            <a:r>
              <a:rPr lang="cs-CZ" sz="2800" dirty="0">
                <a:latin typeface="+mj-lt"/>
              </a:rPr>
              <a:t> souvisí i slavné zámořské objevy -</a:t>
            </a:r>
            <a:r>
              <a:rPr lang="cs-CZ" sz="2800" dirty="0" err="1">
                <a:latin typeface="+mj-lt"/>
              </a:rPr>
              <a:t>např.objevení</a:t>
            </a:r>
            <a:r>
              <a:rPr lang="cs-CZ" sz="2800" dirty="0">
                <a:latin typeface="+mj-lt"/>
              </a:rPr>
              <a:t> Ameriky)</a:t>
            </a:r>
          </a:p>
          <a:p>
            <a:r>
              <a:rPr lang="cs-CZ" sz="2800" dirty="0">
                <a:latin typeface="+mj-lt"/>
              </a:rPr>
              <a:t> </a:t>
            </a:r>
          </a:p>
          <a:p>
            <a:r>
              <a:rPr lang="cs-CZ" sz="2800" dirty="0">
                <a:latin typeface="+mj-lt"/>
              </a:rPr>
              <a:t>                                                  * objev knihtisku (poznatky</a:t>
            </a:r>
          </a:p>
          <a:p>
            <a:r>
              <a:rPr lang="cs-CZ" sz="2800" dirty="0">
                <a:latin typeface="+mj-lt"/>
              </a:rPr>
              <a:t> se šíří rychleji) - Jan </a:t>
            </a:r>
            <a:r>
              <a:rPr lang="cs-CZ" sz="2800" dirty="0" err="1">
                <a:latin typeface="+mj-lt"/>
              </a:rPr>
              <a:t>Gutenberg</a:t>
            </a:r>
            <a:endParaRPr lang="cs-CZ" sz="2800" dirty="0">
              <a:latin typeface="+mj-lt"/>
            </a:endParaRPr>
          </a:p>
          <a:p>
            <a:r>
              <a:rPr lang="cs-CZ" sz="2800" dirty="0">
                <a:latin typeface="+mj-lt"/>
              </a:rPr>
              <a:t>                                                  * </a:t>
            </a:r>
            <a:r>
              <a:rPr lang="cs-CZ" sz="2800" u="sng" dirty="0">
                <a:latin typeface="+mj-lt"/>
              </a:rPr>
              <a:t>snahy o reformaci církve</a:t>
            </a:r>
            <a:r>
              <a:rPr lang="cs-CZ" sz="2800" dirty="0">
                <a:latin typeface="+mj-lt"/>
              </a:rPr>
              <a:t>,</a:t>
            </a:r>
          </a:p>
          <a:p>
            <a:r>
              <a:rPr lang="cs-CZ" sz="2800" dirty="0">
                <a:latin typeface="+mj-lt"/>
              </a:rPr>
              <a:t> důraz na mravní kázeň a čistotu víry, omezení její moci</a:t>
            </a:r>
          </a:p>
          <a:p>
            <a:r>
              <a:rPr lang="cs-CZ" sz="2800" dirty="0">
                <a:latin typeface="+mj-lt"/>
              </a:rPr>
              <a:t> (př. Německá reformace)</a:t>
            </a:r>
          </a:p>
          <a:p>
            <a:endParaRPr lang="cs-CZ" sz="2800" dirty="0">
              <a:latin typeface="+mj-lt"/>
            </a:endParaRPr>
          </a:p>
          <a:p>
            <a:r>
              <a:rPr lang="cs-CZ" sz="2800" dirty="0">
                <a:latin typeface="+mj-lt"/>
              </a:rPr>
              <a:t>                                                  </a:t>
            </a:r>
            <a:endParaRPr lang="cs-CZ" sz="2800" u="sng" dirty="0">
              <a:latin typeface="+mj-lt"/>
            </a:endParaRPr>
          </a:p>
          <a:p>
            <a:r>
              <a:rPr lang="cs-CZ" sz="2800" dirty="0">
                <a:latin typeface="+mj-lt"/>
              </a:rPr>
              <a:t> </a:t>
            </a:r>
          </a:p>
          <a:p>
            <a:r>
              <a:rPr lang="cs-CZ" sz="2800" dirty="0">
                <a:latin typeface="+mj-lt"/>
              </a:rPr>
              <a:t>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/>
          <p:cNvSpPr txBox="1"/>
          <p:nvPr/>
        </p:nvSpPr>
        <p:spPr>
          <a:xfrm>
            <a:off x="539552" y="620688"/>
            <a:ext cx="842493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                                                              </a:t>
            </a:r>
            <a:r>
              <a:rPr lang="cs-CZ" sz="2800" dirty="0">
                <a:latin typeface="+mj-lt"/>
              </a:rPr>
              <a:t>* </a:t>
            </a:r>
            <a:r>
              <a:rPr lang="cs-CZ" sz="2800" u="sng" dirty="0">
                <a:latin typeface="+mj-lt"/>
              </a:rPr>
              <a:t>inspirace antickou kulturou</a:t>
            </a:r>
            <a:endParaRPr lang="cs-CZ" u="sng" dirty="0"/>
          </a:p>
          <a:p>
            <a:endParaRPr lang="cs-CZ" sz="2800" dirty="0">
              <a:latin typeface="+mj-lt"/>
            </a:endParaRPr>
          </a:p>
          <a:p>
            <a:r>
              <a:rPr lang="cs-CZ" sz="2800" dirty="0">
                <a:latin typeface="+mj-lt"/>
              </a:rPr>
              <a:t>v centru pozornosti musí být člověk a jeho schopnosti, ne Bůh a lidská pokora (sílí pocit sebevědomí jedince,</a:t>
            </a:r>
          </a:p>
          <a:p>
            <a:r>
              <a:rPr lang="cs-CZ" sz="2800" dirty="0">
                <a:latin typeface="+mj-lt"/>
              </a:rPr>
              <a:t> víra ve vlastní síly)        </a:t>
            </a:r>
          </a:p>
          <a:p>
            <a:endParaRPr lang="cs-CZ" sz="2800" dirty="0">
              <a:latin typeface="+mj-lt"/>
            </a:endParaRPr>
          </a:p>
          <a:p>
            <a:r>
              <a:rPr lang="cs-CZ" sz="2800" dirty="0">
                <a:latin typeface="+mj-lt"/>
              </a:rPr>
              <a:t>                                           * </a:t>
            </a:r>
            <a:r>
              <a:rPr lang="cs-CZ" sz="2800" u="sng" dirty="0">
                <a:latin typeface="+mj-lt"/>
              </a:rPr>
              <a:t>rozvoj literatury v národních </a:t>
            </a:r>
          </a:p>
          <a:p>
            <a:r>
              <a:rPr lang="cs-CZ" sz="2800" dirty="0">
                <a:latin typeface="+mj-lt"/>
              </a:rPr>
              <a:t> </a:t>
            </a:r>
            <a:r>
              <a:rPr lang="cs-CZ" sz="2800" u="sng" dirty="0">
                <a:latin typeface="+mj-lt"/>
              </a:rPr>
              <a:t>jazycích</a:t>
            </a:r>
            <a:r>
              <a:rPr lang="cs-CZ" sz="2800" dirty="0">
                <a:latin typeface="+mj-lt"/>
              </a:rPr>
              <a:t> ( dříve hl. latina)</a:t>
            </a:r>
          </a:p>
          <a:p>
            <a:endParaRPr lang="cs-CZ" sz="2800" dirty="0">
              <a:latin typeface="+mj-lt"/>
            </a:endParaRPr>
          </a:p>
          <a:p>
            <a:r>
              <a:rPr lang="cs-CZ" sz="2800" dirty="0">
                <a:latin typeface="+mj-lt"/>
              </a:rPr>
              <a:t>                                           * do popředí se dostává litera- </a:t>
            </a:r>
          </a:p>
          <a:p>
            <a:r>
              <a:rPr lang="cs-CZ" sz="2800" dirty="0">
                <a:latin typeface="+mj-lt"/>
              </a:rPr>
              <a:t> tura nauková, životopisná, cestopisná, pedagogická</a:t>
            </a:r>
          </a:p>
          <a:p>
            <a:endParaRPr lang="cs-CZ" sz="2800" dirty="0">
              <a:latin typeface="+mj-lt"/>
            </a:endParaRPr>
          </a:p>
          <a:p>
            <a:r>
              <a:rPr lang="cs-CZ" sz="2800" dirty="0">
                <a:latin typeface="+mj-lt"/>
              </a:rPr>
              <a:t>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3528" y="1196752"/>
            <a:ext cx="8229600" cy="1143000"/>
          </a:xfrm>
        </p:spPr>
        <p:txBody>
          <a:bodyPr>
            <a:noAutofit/>
          </a:bodyPr>
          <a:lstStyle/>
          <a:p>
            <a:r>
              <a:rPr lang="cs-CZ" sz="3200" dirty="0">
                <a:solidFill>
                  <a:srgbClr val="C00000"/>
                </a:solidFill>
              </a:rPr>
              <a:t>Humanismus</a:t>
            </a:r>
            <a:r>
              <a:rPr lang="cs-CZ" sz="3200" dirty="0"/>
              <a:t> je soustava názorů, životní program,</a:t>
            </a:r>
            <a:br>
              <a:rPr lang="cs-CZ" sz="3200" dirty="0"/>
            </a:br>
            <a:r>
              <a:rPr lang="cs-CZ" sz="3200" dirty="0"/>
              <a:t>který představuje ideový proud renesančního </a:t>
            </a:r>
            <a:br>
              <a:rPr lang="cs-CZ" sz="3200" dirty="0"/>
            </a:br>
            <a:r>
              <a:rPr lang="cs-CZ" sz="3200" dirty="0"/>
              <a:t>období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23528" y="2636912"/>
            <a:ext cx="8229600" cy="4389120"/>
          </a:xfrm>
        </p:spPr>
        <p:txBody>
          <a:bodyPr/>
          <a:lstStyle/>
          <a:p>
            <a:r>
              <a:rPr lang="cs-CZ" sz="2800" u="sng" dirty="0">
                <a:latin typeface="+mj-lt"/>
              </a:rPr>
              <a:t>humanismus </a:t>
            </a:r>
            <a:r>
              <a:rPr lang="cs-CZ" sz="2800" dirty="0">
                <a:latin typeface="+mj-lt"/>
              </a:rPr>
              <a:t>- z latiny : lidský</a:t>
            </a:r>
          </a:p>
          <a:p>
            <a:r>
              <a:rPr lang="cs-CZ" sz="2800" u="sng" dirty="0">
                <a:latin typeface="+mj-lt"/>
              </a:rPr>
              <a:t>základní rysy humanismu</a:t>
            </a:r>
            <a:r>
              <a:rPr lang="cs-CZ" sz="2800" dirty="0">
                <a:latin typeface="+mj-lt"/>
              </a:rPr>
              <a:t>: * </a:t>
            </a:r>
            <a:r>
              <a:rPr lang="cs-CZ" sz="2800" u="sng" dirty="0">
                <a:latin typeface="+mj-lt"/>
              </a:rPr>
              <a:t>zájem </a:t>
            </a:r>
            <a:r>
              <a:rPr lang="cs-CZ" sz="2800" dirty="0">
                <a:latin typeface="+mj-lt"/>
              </a:rPr>
              <a:t>obrácen od Boha</a:t>
            </a:r>
          </a:p>
          <a:p>
            <a:pPr>
              <a:buNone/>
            </a:pPr>
            <a:r>
              <a:rPr lang="cs-CZ" sz="2800" dirty="0">
                <a:latin typeface="+mj-lt"/>
              </a:rPr>
              <a:t>           </a:t>
            </a:r>
            <a:r>
              <a:rPr lang="cs-CZ" sz="2800" u="sng" dirty="0">
                <a:latin typeface="+mj-lt"/>
              </a:rPr>
              <a:t> k člověku</a:t>
            </a:r>
            <a:r>
              <a:rPr lang="cs-CZ" sz="2800" dirty="0">
                <a:latin typeface="+mj-lt"/>
              </a:rPr>
              <a:t>, jakožto individualitě, která má právo</a:t>
            </a:r>
          </a:p>
          <a:p>
            <a:pPr>
              <a:buNone/>
            </a:pPr>
            <a:r>
              <a:rPr lang="cs-CZ" sz="2800" dirty="0">
                <a:latin typeface="+mj-lt"/>
              </a:rPr>
              <a:t>           na svobodné myšlení a jednání, ale současně je</a:t>
            </a:r>
          </a:p>
          <a:p>
            <a:pPr>
              <a:buNone/>
            </a:pPr>
            <a:r>
              <a:rPr lang="cs-CZ" sz="2800" dirty="0">
                <a:latin typeface="+mj-lt"/>
              </a:rPr>
              <a:t>           za své konání zodpovědná</a:t>
            </a:r>
          </a:p>
          <a:p>
            <a:pPr>
              <a:buNone/>
            </a:pPr>
            <a:r>
              <a:rPr lang="cs-CZ" sz="2800" dirty="0">
                <a:latin typeface="+mj-lt"/>
              </a:rPr>
              <a:t>                                                   * důraz na přirozenou </a:t>
            </a:r>
          </a:p>
          <a:p>
            <a:pPr>
              <a:buNone/>
            </a:pPr>
            <a:r>
              <a:rPr lang="cs-CZ" sz="2800" dirty="0">
                <a:latin typeface="+mj-lt"/>
              </a:rPr>
              <a:t>           rovnost všech lidí před Bohem</a:t>
            </a:r>
          </a:p>
          <a:p>
            <a:pPr>
              <a:buNone/>
            </a:pPr>
            <a:r>
              <a:rPr lang="cs-CZ" sz="2800" dirty="0">
                <a:latin typeface="+mj-lt"/>
              </a:rPr>
              <a:t>                                           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/>
          <p:cNvSpPr txBox="1"/>
          <p:nvPr/>
        </p:nvSpPr>
        <p:spPr>
          <a:xfrm>
            <a:off x="323528" y="1124744"/>
            <a:ext cx="849694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>
                <a:latin typeface="+mj-lt"/>
              </a:rPr>
              <a:t>                                             * upřednostňována </a:t>
            </a:r>
            <a:r>
              <a:rPr lang="cs-CZ" sz="2800" u="sng" dirty="0">
                <a:latin typeface="+mj-lt"/>
              </a:rPr>
              <a:t>individuální</a:t>
            </a:r>
          </a:p>
          <a:p>
            <a:r>
              <a:rPr lang="cs-CZ" sz="2800" dirty="0">
                <a:latin typeface="+mj-lt"/>
              </a:rPr>
              <a:t>    </a:t>
            </a:r>
            <a:r>
              <a:rPr lang="cs-CZ" sz="2800" u="sng" dirty="0">
                <a:latin typeface="+mj-lt"/>
              </a:rPr>
              <a:t>zkušenost</a:t>
            </a:r>
            <a:r>
              <a:rPr lang="cs-CZ" sz="2800" dirty="0">
                <a:latin typeface="+mj-lt"/>
              </a:rPr>
              <a:t>, která pramení z praktického jednání člověka</a:t>
            </a:r>
          </a:p>
          <a:p>
            <a:r>
              <a:rPr lang="cs-CZ" sz="2800" dirty="0">
                <a:latin typeface="+mj-lt"/>
              </a:rPr>
              <a:t> </a:t>
            </a:r>
          </a:p>
          <a:p>
            <a:r>
              <a:rPr lang="cs-CZ" sz="2800" dirty="0">
                <a:latin typeface="+mj-lt"/>
              </a:rPr>
              <a:t>                                             * </a:t>
            </a:r>
            <a:r>
              <a:rPr lang="cs-CZ" sz="2800" u="sng" dirty="0">
                <a:latin typeface="+mj-lt"/>
              </a:rPr>
              <a:t>důraz na moc a sílu rozumu</a:t>
            </a:r>
          </a:p>
          <a:p>
            <a:r>
              <a:rPr lang="cs-CZ" sz="2800" dirty="0">
                <a:latin typeface="+mj-lt"/>
              </a:rPr>
              <a:t>    v poznávání okolního světa (racionalismus nade vše!)</a:t>
            </a:r>
          </a:p>
          <a:p>
            <a:endParaRPr lang="cs-CZ" sz="2800" dirty="0">
              <a:latin typeface="+mj-lt"/>
            </a:endParaRPr>
          </a:p>
          <a:p>
            <a:r>
              <a:rPr lang="cs-CZ" sz="2800" dirty="0">
                <a:latin typeface="+mj-lt"/>
              </a:rPr>
              <a:t>                                              * v užším slova smyslu: hledání,</a:t>
            </a:r>
          </a:p>
          <a:p>
            <a:r>
              <a:rPr lang="cs-CZ" sz="2800" dirty="0">
                <a:latin typeface="+mj-lt"/>
              </a:rPr>
              <a:t>    opisování a kritické hodnocení starých rukopisů a </a:t>
            </a:r>
          </a:p>
          <a:p>
            <a:r>
              <a:rPr lang="cs-CZ" sz="2800" dirty="0">
                <a:latin typeface="+mj-lt"/>
              </a:rPr>
              <a:t>    potom i jejich napodobování</a:t>
            </a:r>
          </a:p>
          <a:p>
            <a:r>
              <a:rPr lang="cs-CZ" sz="2800" dirty="0">
                <a:latin typeface="+mj-lt"/>
              </a:rPr>
              <a:t>    </a:t>
            </a:r>
          </a:p>
          <a:p>
            <a:endParaRPr lang="cs-CZ" sz="2800" dirty="0">
              <a:latin typeface="+mj-lt"/>
            </a:endParaRPr>
          </a:p>
          <a:p>
            <a:endParaRPr lang="cs-CZ" sz="2800" dirty="0">
              <a:latin typeface="+mj-lt"/>
            </a:endParaRPr>
          </a:p>
          <a:p>
            <a:r>
              <a:rPr lang="cs-CZ" sz="2800" dirty="0">
                <a:latin typeface="+mj-lt"/>
              </a:rPr>
              <a:t>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/>
          <p:cNvSpPr txBox="1"/>
          <p:nvPr/>
        </p:nvSpPr>
        <p:spPr>
          <a:xfrm>
            <a:off x="395536" y="1196752"/>
            <a:ext cx="8352928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rgbClr val="FF0000"/>
                </a:solidFill>
                <a:latin typeface="+mj-lt"/>
              </a:rPr>
              <a:t>Umění renesance  </a:t>
            </a:r>
            <a:r>
              <a:rPr lang="cs-CZ" sz="2800" dirty="0">
                <a:latin typeface="+mj-lt"/>
              </a:rPr>
              <a:t>(charakteristická mnohostrannost</a:t>
            </a:r>
          </a:p>
          <a:p>
            <a:r>
              <a:rPr lang="cs-CZ" sz="2800" dirty="0">
                <a:latin typeface="+mj-lt"/>
              </a:rPr>
              <a:t>                                         umělců)  </a:t>
            </a:r>
          </a:p>
          <a:p>
            <a:r>
              <a:rPr lang="cs-CZ" sz="320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výběr : </a:t>
            </a:r>
          </a:p>
          <a:p>
            <a:r>
              <a:rPr lang="cs-CZ" sz="2800" u="sng" dirty="0">
                <a:latin typeface="+mj-lt"/>
              </a:rPr>
              <a:t>architektura </a:t>
            </a:r>
            <a:r>
              <a:rPr lang="cs-CZ" sz="2800" dirty="0">
                <a:latin typeface="+mj-lt"/>
              </a:rPr>
              <a:t>:</a:t>
            </a:r>
          </a:p>
          <a:p>
            <a:r>
              <a:rPr lang="cs-CZ" sz="2800" dirty="0" err="1">
                <a:latin typeface="+mj-lt"/>
              </a:rPr>
              <a:t>Filippo</a:t>
            </a:r>
            <a:r>
              <a:rPr lang="cs-CZ" sz="2800" dirty="0">
                <a:latin typeface="+mj-lt"/>
              </a:rPr>
              <a:t> </a:t>
            </a:r>
            <a:r>
              <a:rPr lang="cs-CZ" sz="2800" dirty="0" err="1">
                <a:latin typeface="+mj-lt"/>
              </a:rPr>
              <a:t>Brunelleschi</a:t>
            </a:r>
            <a:r>
              <a:rPr lang="cs-CZ" sz="2800" dirty="0">
                <a:latin typeface="+mj-lt"/>
              </a:rPr>
              <a:t> - kupole dómu ve Florencii</a:t>
            </a:r>
          </a:p>
          <a:p>
            <a:r>
              <a:rPr lang="cs-CZ" sz="2800" dirty="0" err="1">
                <a:latin typeface="+mj-lt"/>
              </a:rPr>
              <a:t>Michelangelo</a:t>
            </a:r>
            <a:r>
              <a:rPr lang="cs-CZ" sz="2800" dirty="0">
                <a:latin typeface="+mj-lt"/>
              </a:rPr>
              <a:t> </a:t>
            </a:r>
            <a:r>
              <a:rPr lang="cs-CZ" sz="2800" dirty="0" err="1">
                <a:latin typeface="+mj-lt"/>
              </a:rPr>
              <a:t>Buonarroti</a:t>
            </a:r>
            <a:r>
              <a:rPr lang="cs-CZ" sz="2800" dirty="0">
                <a:latin typeface="+mj-lt"/>
              </a:rPr>
              <a:t> - kupole chrámu sv. Petra</a:t>
            </a:r>
          </a:p>
          <a:p>
            <a:r>
              <a:rPr lang="cs-CZ" sz="2800" u="sng" dirty="0">
                <a:latin typeface="+mj-lt"/>
              </a:rPr>
              <a:t>malířství </a:t>
            </a:r>
            <a:r>
              <a:rPr lang="cs-CZ" sz="2800" dirty="0">
                <a:latin typeface="+mj-lt"/>
              </a:rPr>
              <a:t>:</a:t>
            </a:r>
          </a:p>
          <a:p>
            <a:r>
              <a:rPr lang="cs-CZ" sz="2800" dirty="0" err="1">
                <a:latin typeface="+mj-lt"/>
              </a:rPr>
              <a:t>Masaccio</a:t>
            </a:r>
            <a:r>
              <a:rPr lang="cs-CZ" sz="2800" dirty="0">
                <a:latin typeface="+mj-lt"/>
              </a:rPr>
              <a:t> - zakladatel renesančního malířství ve Florencii</a:t>
            </a:r>
          </a:p>
          <a:p>
            <a:r>
              <a:rPr lang="cs-CZ" sz="2800" dirty="0">
                <a:latin typeface="+mj-lt"/>
              </a:rPr>
              <a:t>Sandro Botticelli - Zrození Venuše</a:t>
            </a:r>
          </a:p>
          <a:p>
            <a:r>
              <a:rPr lang="cs-CZ" sz="2800" dirty="0" err="1">
                <a:latin typeface="+mj-lt"/>
              </a:rPr>
              <a:t>Leonardo</a:t>
            </a:r>
            <a:r>
              <a:rPr lang="cs-CZ" sz="2800" dirty="0">
                <a:latin typeface="+mj-lt"/>
              </a:rPr>
              <a:t> </a:t>
            </a:r>
            <a:r>
              <a:rPr lang="cs-CZ" sz="2800" dirty="0" err="1">
                <a:latin typeface="+mj-lt"/>
              </a:rPr>
              <a:t>da</a:t>
            </a:r>
            <a:r>
              <a:rPr lang="cs-CZ" sz="2800" dirty="0">
                <a:latin typeface="+mj-lt"/>
              </a:rPr>
              <a:t> Vinci - Poslední večeře (všestranný génius)</a:t>
            </a:r>
          </a:p>
          <a:p>
            <a:r>
              <a:rPr lang="cs-CZ" sz="2800" dirty="0">
                <a:latin typeface="+mj-lt"/>
              </a:rPr>
              <a:t>Rafael </a:t>
            </a:r>
            <a:r>
              <a:rPr lang="cs-CZ" sz="2800" dirty="0" err="1">
                <a:latin typeface="+mj-lt"/>
              </a:rPr>
              <a:t>Santi</a:t>
            </a:r>
            <a:r>
              <a:rPr lang="cs-CZ" sz="2800" dirty="0">
                <a:latin typeface="+mj-lt"/>
              </a:rPr>
              <a:t> - Madona sixtinská </a:t>
            </a:r>
          </a:p>
          <a:p>
            <a:r>
              <a:rPr lang="cs-CZ" sz="2800" dirty="0" err="1">
                <a:latin typeface="+mj-lt"/>
              </a:rPr>
              <a:t>Michelangelo</a:t>
            </a:r>
            <a:r>
              <a:rPr lang="cs-CZ" sz="2800" dirty="0">
                <a:latin typeface="+mj-lt"/>
              </a:rPr>
              <a:t> - fresky v Sixtinské kapli ve Vatikánu</a:t>
            </a:r>
          </a:p>
          <a:p>
            <a:endParaRPr lang="cs-CZ" sz="2800" dirty="0">
              <a:latin typeface="+mj-lt"/>
            </a:endParaRPr>
          </a:p>
          <a:p>
            <a:r>
              <a:rPr lang="cs-CZ" sz="2800" dirty="0">
                <a:latin typeface="+mj-lt"/>
              </a:rPr>
              <a:t> </a:t>
            </a:r>
          </a:p>
          <a:p>
            <a:r>
              <a:rPr lang="cs-CZ" sz="2800" dirty="0">
                <a:latin typeface="+mj-lt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ovéPole 4"/>
          <p:cNvSpPr txBox="1"/>
          <p:nvPr/>
        </p:nvSpPr>
        <p:spPr>
          <a:xfrm>
            <a:off x="395536" y="1124744"/>
            <a:ext cx="84249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u="sng" dirty="0">
                <a:latin typeface="+mj-lt"/>
              </a:rPr>
              <a:t>sochařství :</a:t>
            </a:r>
          </a:p>
          <a:p>
            <a:r>
              <a:rPr lang="cs-CZ" sz="2800" dirty="0" err="1">
                <a:latin typeface="+mj-lt"/>
              </a:rPr>
              <a:t>Michelangelo</a:t>
            </a:r>
            <a:r>
              <a:rPr lang="cs-CZ" sz="2800" dirty="0">
                <a:latin typeface="+mj-lt"/>
              </a:rPr>
              <a:t> - pravděpodobně nejgeniálnější sochař</a:t>
            </a:r>
          </a:p>
          <a:p>
            <a:r>
              <a:rPr lang="cs-CZ" sz="2800" dirty="0">
                <a:latin typeface="+mj-lt"/>
              </a:rPr>
              <a:t>                            vůbec - David, Mojžíš</a:t>
            </a:r>
          </a:p>
          <a:p>
            <a:endParaRPr lang="cs-CZ" sz="2800" u="sng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://classconnection.s3.amazonaws.com/805/flashcards/2472805/png/filippo_brunellschi_dome_of_florence_cathedral1328374497399136076689398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57022" y="1052736"/>
            <a:ext cx="9201022" cy="49685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://www.vsacantour.cz/images/big/54000170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60648"/>
            <a:ext cx="8424936" cy="63081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http://www.casasantapia.com/images/art/masaccio/trinity7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-2403648"/>
            <a:ext cx="5746850" cy="125856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http://www.puzzleshop.cz/img/katalog/3143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8684382" cy="57606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http://files.leonardo-davinci.webnode.cz/200000085-50e1a51db5/Posledn%C3%AD%20ve%C4%8De%C5%99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http://3.bp.blogspot.com/-f9NMtiqHnAU/UaRqIPEKTnI/AAAAAAAAgfc/cBpPR1t82cY/s1600/1505c+Anatomical+Studies+ink+on+paper+25.3+x+19.7+c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052736"/>
            <a:ext cx="4824536" cy="4684167"/>
          </a:xfrm>
          <a:prstGeom prst="rect">
            <a:avLst/>
          </a:prstGeom>
          <a:noFill/>
        </p:spPr>
      </p:pic>
      <p:pic>
        <p:nvPicPr>
          <p:cNvPr id="27654" name="Picture 6" descr="http://3.bp.blogspot.com/-iwfSxG9oEIk/UaRqG3LdH9I/AAAAAAAAgfE/q-aisMhtWpE/s640/1504-05+Head+Studies+metal+point,+black+&amp;+red+chalk+on+paper+19.1+x+18.8+cm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39" y="1052736"/>
            <a:ext cx="4483059" cy="46805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http://www.travelguide.cz/facilities/tg/full/2184-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16632"/>
            <a:ext cx="5040560" cy="3666541"/>
          </a:xfrm>
          <a:prstGeom prst="rect">
            <a:avLst/>
          </a:prstGeom>
          <a:noFill/>
        </p:spPr>
      </p:pic>
      <p:pic>
        <p:nvPicPr>
          <p:cNvPr id="28676" name="Picture 4" descr="http://img.cz.prg.cmestatic.com/media/images/original/Nov2008/440658.jpg?d41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05250" y="2838450"/>
            <a:ext cx="5238750" cy="4019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http://nd03.jxs.cz/054/498/d7ffec38fa_55265730_o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16632"/>
            <a:ext cx="8784976" cy="65887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http://i.ck.cz/f/67234/9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33264"/>
            <a:ext cx="8832981" cy="6624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8" name="Picture 4" descr="http://artmodel.files.wordpress.com/2013/03/david_statu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6672"/>
            <a:ext cx="4871620" cy="5688632"/>
          </a:xfrm>
          <a:prstGeom prst="rect">
            <a:avLst/>
          </a:prstGeom>
          <a:noFill/>
        </p:spPr>
      </p:pic>
      <p:pic>
        <p:nvPicPr>
          <p:cNvPr id="31750" name="Picture 6" descr="http://upload.wikimedia.org/wikipedia/commons/thumb/3/37/Michelangelo_Mose_2007.jpg/768px-Michelangelo_Mose_200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476672"/>
            <a:ext cx="4266474" cy="56886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Zdroje: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cs-CZ" dirty="0"/>
              <a:t>Prokop, Vladimír: Dějiny literatury od starověku do počátku 19. století. O.K. – Soft, Karlovy Vary 2006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/>
          <p:cNvSpPr/>
          <p:nvPr/>
        </p:nvSpPr>
        <p:spPr>
          <a:xfrm>
            <a:off x="611560" y="692696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studyblue.com</a:t>
            </a:r>
            <a:r>
              <a:rPr lang="cs-CZ" sz="1100" dirty="0"/>
              <a:t> [online]. [cit. 17.11.2013]. Dostupný na WWW: http://www.</a:t>
            </a:r>
            <a:r>
              <a:rPr lang="cs-CZ" sz="1100" dirty="0" err="1"/>
              <a:t>studyblue.com</a:t>
            </a:r>
            <a:r>
              <a:rPr lang="cs-CZ" sz="1100" dirty="0"/>
              <a:t>/notes/</a:t>
            </a:r>
            <a:r>
              <a:rPr lang="cs-CZ" sz="1100" dirty="0" err="1"/>
              <a:t>note</a:t>
            </a:r>
            <a:r>
              <a:rPr lang="cs-CZ" sz="1100" dirty="0"/>
              <a:t>/n/</a:t>
            </a:r>
            <a:r>
              <a:rPr lang="cs-CZ" sz="1100" dirty="0" err="1"/>
              <a:t>monuments</a:t>
            </a:r>
            <a:r>
              <a:rPr lang="cs-CZ" sz="1100" dirty="0"/>
              <a:t>-list-1/</a:t>
            </a:r>
            <a:r>
              <a:rPr lang="cs-CZ" sz="1100" dirty="0" err="1"/>
              <a:t>deck</a:t>
            </a:r>
            <a:r>
              <a:rPr lang="cs-CZ" sz="1100" dirty="0"/>
              <a:t>/5536565</a:t>
            </a:r>
          </a:p>
        </p:txBody>
      </p:sp>
      <p:sp>
        <p:nvSpPr>
          <p:cNvPr id="6" name="Obdélník 5"/>
          <p:cNvSpPr/>
          <p:nvPr/>
        </p:nvSpPr>
        <p:spPr>
          <a:xfrm>
            <a:off x="611560" y="1268760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vsacantour.cz</a:t>
            </a:r>
            <a:r>
              <a:rPr lang="cs-CZ" sz="1100" dirty="0"/>
              <a:t> [online]. [cit. 17.11.2013]. Dostupný na WWW: http://www.</a:t>
            </a:r>
            <a:r>
              <a:rPr lang="cs-CZ" sz="1100" dirty="0" err="1"/>
              <a:t>vsacantour.cz</a:t>
            </a:r>
            <a:r>
              <a:rPr lang="cs-CZ" sz="1100" dirty="0"/>
              <a:t>/kategorie/</a:t>
            </a:r>
            <a:r>
              <a:rPr lang="cs-CZ" sz="1100" dirty="0" err="1"/>
              <a:t>poznavaci</a:t>
            </a:r>
            <a:r>
              <a:rPr lang="cs-CZ" sz="1100" dirty="0"/>
              <a:t>-</a:t>
            </a:r>
            <a:r>
              <a:rPr lang="cs-CZ" sz="1100" dirty="0" err="1"/>
              <a:t>zajezd</a:t>
            </a:r>
            <a:r>
              <a:rPr lang="cs-CZ" sz="1100" dirty="0"/>
              <a:t>-</a:t>
            </a:r>
            <a:r>
              <a:rPr lang="cs-CZ" sz="1100" dirty="0" err="1"/>
              <a:t>rim</a:t>
            </a:r>
            <a:r>
              <a:rPr lang="cs-CZ" sz="1100" dirty="0"/>
              <a:t>--letecky.</a:t>
            </a:r>
            <a:r>
              <a:rPr lang="cs-CZ" sz="1100" dirty="0" err="1"/>
              <a:t>aspx</a:t>
            </a:r>
            <a:endParaRPr lang="cs-CZ" sz="1100" dirty="0"/>
          </a:p>
        </p:txBody>
      </p:sp>
      <p:sp>
        <p:nvSpPr>
          <p:cNvPr id="7" name="Obdélník 6"/>
          <p:cNvSpPr/>
          <p:nvPr/>
        </p:nvSpPr>
        <p:spPr>
          <a:xfrm>
            <a:off x="611560" y="2276872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puzzleshop.cz</a:t>
            </a:r>
            <a:r>
              <a:rPr lang="cs-CZ" sz="1100" dirty="0"/>
              <a:t> [online]. [cit. 17.11.2013]. Dostupný na WWW: http://www.</a:t>
            </a:r>
            <a:r>
              <a:rPr lang="cs-CZ" sz="1100" dirty="0" err="1"/>
              <a:t>puzzleshop.cz</a:t>
            </a:r>
            <a:r>
              <a:rPr lang="cs-CZ" sz="1100" dirty="0"/>
              <a:t>/d-4390-puzzle-1500-</a:t>
            </a:r>
            <a:r>
              <a:rPr lang="cs-CZ" sz="1100" dirty="0" err="1"/>
              <a:t>botticelli</a:t>
            </a:r>
            <a:r>
              <a:rPr lang="cs-CZ" sz="1100" dirty="0"/>
              <a:t>-zrozeni-</a:t>
            </a:r>
            <a:r>
              <a:rPr lang="cs-CZ" sz="1100" dirty="0" err="1"/>
              <a:t>venuse</a:t>
            </a:r>
            <a:r>
              <a:rPr lang="cs-CZ" sz="1100" dirty="0"/>
              <a:t>-</a:t>
            </a:r>
            <a:r>
              <a:rPr lang="cs-CZ" sz="1100" dirty="0" err="1"/>
              <a:t>gold</a:t>
            </a:r>
            <a:r>
              <a:rPr lang="cs-CZ" sz="1100" dirty="0"/>
              <a:t>-edice-</a:t>
            </a:r>
            <a:r>
              <a:rPr lang="cs-CZ" sz="1100" dirty="0" err="1"/>
              <a:t>editions</a:t>
            </a:r>
            <a:r>
              <a:rPr lang="cs-CZ" sz="1100" dirty="0"/>
              <a:t>-</a:t>
            </a:r>
            <a:r>
              <a:rPr lang="cs-CZ" sz="1100" dirty="0" err="1"/>
              <a:t>ricordi.html</a:t>
            </a:r>
            <a:endParaRPr lang="cs-CZ" sz="1100" dirty="0"/>
          </a:p>
        </p:txBody>
      </p:sp>
      <p:sp>
        <p:nvSpPr>
          <p:cNvPr id="8" name="Obdélník 7"/>
          <p:cNvSpPr/>
          <p:nvPr/>
        </p:nvSpPr>
        <p:spPr>
          <a:xfrm>
            <a:off x="611560" y="1844824"/>
            <a:ext cx="4572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casasantapia.com</a:t>
            </a:r>
            <a:r>
              <a:rPr lang="cs-CZ" sz="1100" dirty="0"/>
              <a:t> [online]. [cit. 17.11.2013]. Dostupný na WWW: http://www.</a:t>
            </a:r>
            <a:r>
              <a:rPr lang="cs-CZ" sz="1100" dirty="0" err="1"/>
              <a:t>casasantapia.com</a:t>
            </a:r>
            <a:r>
              <a:rPr lang="cs-CZ" sz="1100" dirty="0"/>
              <a:t>/</a:t>
            </a:r>
            <a:r>
              <a:rPr lang="cs-CZ" sz="1100" dirty="0" err="1"/>
              <a:t>art</a:t>
            </a:r>
            <a:r>
              <a:rPr lang="cs-CZ" sz="1100" dirty="0"/>
              <a:t>/</a:t>
            </a:r>
            <a:r>
              <a:rPr lang="cs-CZ" sz="1100" dirty="0" err="1"/>
              <a:t>masaccio.htm</a:t>
            </a:r>
            <a:endParaRPr lang="cs-CZ" sz="1100" dirty="0"/>
          </a:p>
        </p:txBody>
      </p:sp>
      <p:sp>
        <p:nvSpPr>
          <p:cNvPr id="9" name="Obdélník 8"/>
          <p:cNvSpPr/>
          <p:nvPr/>
        </p:nvSpPr>
        <p:spPr>
          <a:xfrm>
            <a:off x="611560" y="2852936"/>
            <a:ext cx="4572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leonardo</a:t>
            </a:r>
            <a:r>
              <a:rPr lang="cs-CZ" sz="1100" i="1" dirty="0"/>
              <a:t>-</a:t>
            </a:r>
            <a:r>
              <a:rPr lang="cs-CZ" sz="1100" i="1" dirty="0" err="1"/>
              <a:t>davinci.webnode.cz</a:t>
            </a:r>
            <a:r>
              <a:rPr lang="cs-CZ" sz="1100" dirty="0"/>
              <a:t> [online]. [cit. 17.11.2013]. Dostupný na WWW: http://leonardo-davinci.webnode.cz/leonardo/jak-moc-vsestranny-byl/malirstvi/posledni-vecere/</a:t>
            </a:r>
          </a:p>
        </p:txBody>
      </p:sp>
      <p:sp>
        <p:nvSpPr>
          <p:cNvPr id="10" name="Obdélník 9"/>
          <p:cNvSpPr/>
          <p:nvPr/>
        </p:nvSpPr>
        <p:spPr>
          <a:xfrm>
            <a:off x="611560" y="3645024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poulwebb.blogspot.cz</a:t>
            </a:r>
            <a:r>
              <a:rPr lang="cs-CZ" sz="1100" dirty="0"/>
              <a:t> [online]. [cit. 17.11.2013]. Dostupný na WWW: http://poulwebb.blogspot.cz/2013/06/leonardo-da-vinci-part-3.html</a:t>
            </a:r>
          </a:p>
        </p:txBody>
      </p:sp>
      <p:sp>
        <p:nvSpPr>
          <p:cNvPr id="11" name="Obdélník 10"/>
          <p:cNvSpPr/>
          <p:nvPr/>
        </p:nvSpPr>
        <p:spPr>
          <a:xfrm>
            <a:off x="611560" y="4221088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travelguide.cz</a:t>
            </a:r>
            <a:r>
              <a:rPr lang="cs-CZ" sz="1100" dirty="0"/>
              <a:t> [online]. [cit. 17.11.2013]. Dostupný na WWW: http://www.</a:t>
            </a:r>
            <a:r>
              <a:rPr lang="cs-CZ" sz="1100" dirty="0" err="1"/>
              <a:t>travelguide.cz</a:t>
            </a:r>
            <a:r>
              <a:rPr lang="cs-CZ" sz="1100" dirty="0"/>
              <a:t>/</a:t>
            </a:r>
            <a:r>
              <a:rPr lang="cs-CZ" sz="1100" dirty="0" err="1"/>
              <a:t>cz</a:t>
            </a:r>
            <a:r>
              <a:rPr lang="cs-CZ" sz="1100" dirty="0"/>
              <a:t>/turistika/akce/</a:t>
            </a:r>
            <a:r>
              <a:rPr lang="cs-CZ" sz="1100" dirty="0" err="1"/>
              <a:t>vystava</a:t>
            </a:r>
            <a:r>
              <a:rPr lang="cs-CZ" sz="1100" dirty="0"/>
              <a:t>-vynalezu-a-reprodukci-obrazu-</a:t>
            </a:r>
            <a:r>
              <a:rPr lang="cs-CZ" sz="1100" dirty="0" err="1"/>
              <a:t>leonardo</a:t>
            </a:r>
            <a:r>
              <a:rPr lang="cs-CZ" sz="1100" dirty="0"/>
              <a:t>-</a:t>
            </a:r>
            <a:r>
              <a:rPr lang="cs-CZ" sz="1100" dirty="0" err="1"/>
              <a:t>da</a:t>
            </a:r>
            <a:r>
              <a:rPr lang="cs-CZ" sz="1100" dirty="0"/>
              <a:t>-</a:t>
            </a:r>
            <a:r>
              <a:rPr lang="cs-CZ" sz="1100" dirty="0" err="1"/>
              <a:t>vinci</a:t>
            </a:r>
            <a:endParaRPr lang="cs-CZ" sz="1100" dirty="0"/>
          </a:p>
        </p:txBody>
      </p:sp>
      <p:sp>
        <p:nvSpPr>
          <p:cNvPr id="12" name="Obdélník 11"/>
          <p:cNvSpPr/>
          <p:nvPr/>
        </p:nvSpPr>
        <p:spPr>
          <a:xfrm>
            <a:off x="611560" y="4797152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100" dirty="0"/>
              <a:t>AUTOR NEUVEDEN. </a:t>
            </a:r>
            <a:r>
              <a:rPr lang="pt-BR" sz="1100" i="1" dirty="0"/>
              <a:t>tn.nova.cz</a:t>
            </a:r>
            <a:r>
              <a:rPr lang="pt-BR" sz="1100" dirty="0"/>
              <a:t> [online]. [cit. 17.11.2013]. Dostupný na WWW: http://tn.nova.cz/magazin/cestovani/tipy-na-cestu/kdy-jste-byli-naposledy-na-vystave.html</a:t>
            </a:r>
            <a:endParaRPr lang="cs-CZ" sz="1100" dirty="0"/>
          </a:p>
        </p:txBody>
      </p:sp>
      <p:sp>
        <p:nvSpPr>
          <p:cNvPr id="13" name="Obdélník 12"/>
          <p:cNvSpPr/>
          <p:nvPr/>
        </p:nvSpPr>
        <p:spPr>
          <a:xfrm>
            <a:off x="611560" y="5373216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rampik.bloh.cz</a:t>
            </a:r>
            <a:r>
              <a:rPr lang="cs-CZ" sz="1100" dirty="0"/>
              <a:t> [online]. [cit. 17.11.2013]. Dostupný na WWW: http://rampik.blog.cz/galerie/tapety/umeni/obrazek/55265730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611560" y="5949280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/>
              <a:t>plavby.</a:t>
            </a:r>
            <a:r>
              <a:rPr lang="cs-CZ" sz="1100" i="1" dirty="0" err="1"/>
              <a:t>info</a:t>
            </a:r>
            <a:r>
              <a:rPr lang="cs-CZ" sz="1100" dirty="0"/>
              <a:t> [online]. [cit. 17.11.2013]. Dostupný na WWW: http://www.plavby.</a:t>
            </a:r>
            <a:r>
              <a:rPr lang="cs-CZ" sz="1100" dirty="0" err="1"/>
              <a:t>info</a:t>
            </a:r>
            <a:r>
              <a:rPr lang="cs-CZ" sz="1100" dirty="0"/>
              <a:t>/plavby/</a:t>
            </a:r>
            <a:r>
              <a:rPr lang="cs-CZ" sz="1100" dirty="0" err="1"/>
              <a:t>setkani</a:t>
            </a:r>
            <a:r>
              <a:rPr lang="cs-CZ" sz="1100" dirty="0"/>
              <a:t>-s-</a:t>
            </a:r>
            <a:r>
              <a:rPr lang="cs-CZ" sz="1100" dirty="0" err="1"/>
              <a:t>mallorkou</a:t>
            </a:r>
            <a:r>
              <a:rPr lang="cs-CZ" sz="1100" dirty="0"/>
              <a:t>-a-</a:t>
            </a:r>
            <a:r>
              <a:rPr lang="cs-CZ" sz="1100" dirty="0" err="1"/>
              <a:t>ibizou</a:t>
            </a:r>
            <a:r>
              <a:rPr lang="cs-CZ" sz="1100" dirty="0"/>
              <a:t>-</a:t>
            </a:r>
            <a:r>
              <a:rPr lang="cs-CZ" sz="1100" dirty="0" err="1"/>
              <a:t>msc</a:t>
            </a:r>
            <a:r>
              <a:rPr lang="cs-CZ" sz="1100" dirty="0"/>
              <a:t>-sinfonia-s-289862/</a:t>
            </a:r>
          </a:p>
        </p:txBody>
      </p:sp>
      <p:sp>
        <p:nvSpPr>
          <p:cNvPr id="15" name="Obdélník 14"/>
          <p:cNvSpPr/>
          <p:nvPr/>
        </p:nvSpPr>
        <p:spPr>
          <a:xfrm>
            <a:off x="5148064" y="692696"/>
            <a:ext cx="388843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artmodel.wordpress.com</a:t>
            </a:r>
            <a:r>
              <a:rPr lang="cs-CZ" sz="1100" dirty="0"/>
              <a:t> [online]. [cit. 17.11.2013]. Dostupný na WWW: http://artmodel.wordpress.com/2013/03/06/david-times-three/</a:t>
            </a:r>
          </a:p>
        </p:txBody>
      </p:sp>
      <p:sp>
        <p:nvSpPr>
          <p:cNvPr id="16" name="Obdélník 15"/>
          <p:cNvSpPr/>
          <p:nvPr/>
        </p:nvSpPr>
        <p:spPr>
          <a:xfrm>
            <a:off x="5148064" y="1484784"/>
            <a:ext cx="38529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1100" dirty="0"/>
              <a:t>ULRICH MAYRING. </a:t>
            </a:r>
            <a:r>
              <a:rPr lang="cs-CZ" sz="1100" i="1" dirty="0" err="1"/>
              <a:t>wikimedia.org</a:t>
            </a:r>
            <a:r>
              <a:rPr lang="cs-CZ" sz="1100" dirty="0"/>
              <a:t> [online]. [cit. 17.11.2013]. Dostupný na WWW: http://commons.wikimedia.org/wiki/File:Michelangelo_Mose_2007.jpg</a:t>
            </a:r>
          </a:p>
        </p:txBody>
      </p:sp>
      <p:sp>
        <p:nvSpPr>
          <p:cNvPr id="17" name="TextovéPole 16"/>
          <p:cNvSpPr txBox="1"/>
          <p:nvPr/>
        </p:nvSpPr>
        <p:spPr>
          <a:xfrm>
            <a:off x="2699792" y="188640"/>
            <a:ext cx="3816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1" u="sng" dirty="0"/>
              <a:t>Obrázky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ok">
  <a:themeElements>
    <a:clrScheme name="Tok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Tok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ok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332</TotalTime>
  <Words>933</Words>
  <Application>Microsoft Office PowerPoint</Application>
  <PresentationFormat>Předvádění na obrazovce (4:3)</PresentationFormat>
  <Paragraphs>108</Paragraphs>
  <Slides>20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20</vt:i4>
      </vt:variant>
    </vt:vector>
  </HeadingPairs>
  <TitlesOfParts>
    <vt:vector size="24" baseType="lpstr">
      <vt:lpstr>Calibri</vt:lpstr>
      <vt:lpstr>Constantia</vt:lpstr>
      <vt:lpstr>Wingdings 2</vt:lpstr>
      <vt:lpstr>Tok</vt:lpstr>
      <vt:lpstr>Renesance a humanismus </vt:lpstr>
      <vt:lpstr>Renesance je epocha ve vývoji společenského, politického a kulturního života v Evropě 14. – 16. století (období historické, umělecký směr)   </vt:lpstr>
      <vt:lpstr>Prezentace aplikace PowerPoint</vt:lpstr>
      <vt:lpstr>Prezentace aplikace PowerPoint</vt:lpstr>
      <vt:lpstr>Humanismus je soustava názorů, životní program, který představuje ideový proud renesančního  období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Zdroje: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Renesance a humanismus</dc:title>
  <dc:creator>pracovna</dc:creator>
  <cp:lastModifiedBy>Věra Hanáková</cp:lastModifiedBy>
  <cp:revision>36</cp:revision>
  <dcterms:created xsi:type="dcterms:W3CDTF">2013-11-16T20:47:20Z</dcterms:created>
  <dcterms:modified xsi:type="dcterms:W3CDTF">2024-02-11T17:05:55Z</dcterms:modified>
</cp:coreProperties>
</file>