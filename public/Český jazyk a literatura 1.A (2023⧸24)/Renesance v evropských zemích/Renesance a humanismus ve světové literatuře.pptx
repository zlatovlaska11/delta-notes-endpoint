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2" r:id="rId11"/>
    <p:sldId id="266" r:id="rId12"/>
    <p:sldId id="267" r:id="rId13"/>
    <p:sldId id="274" r:id="rId14"/>
    <p:sldId id="275" r:id="rId15"/>
    <p:sldId id="276" r:id="rId16"/>
    <p:sldId id="277" r:id="rId17"/>
    <p:sldId id="278" r:id="rId18"/>
    <p:sldId id="268" r:id="rId19"/>
    <p:sldId id="269" r:id="rId20"/>
    <p:sldId id="281" r:id="rId21"/>
    <p:sldId id="270" r:id="rId22"/>
    <p:sldId id="271" r:id="rId23"/>
    <p:sldId id="280" r:id="rId24"/>
    <p:sldId id="260" r:id="rId25"/>
    <p:sldId id="273" r:id="rId2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5EF3-0068-4AC2-A658-275C33C2915E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45D59-1FF4-4A34-8379-28F41E74849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4232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745D59-1FF4-4A34-8379-28F41E748496}" type="slidenum">
              <a:rPr lang="cs-CZ" smtClean="0"/>
              <a:pPr/>
              <a:t>3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17" name="Podnadpis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cs-CZ"/>
              <a:t>Klepnutím lze upravit styl předlohy podnadpisů.</a:t>
            </a:r>
            <a:endParaRPr kumimoji="0" lang="en-US"/>
          </a:p>
        </p:txBody>
      </p:sp>
      <p:sp>
        <p:nvSpPr>
          <p:cNvPr id="30" name="Zástupný symbol pro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19" name="Zástupný symbol pro zápatí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7" name="Zástupný symbol pro číslo snímku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s odříznutým a zakulaceným jedním rohem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Pravoúhlý trojúhelní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cs-CZ"/>
              <a:t>Klepnutím na ikonu přidáte obrázek.</a:t>
            </a:r>
            <a:endParaRPr kumimoji="0" lang="en-US" dirty="0"/>
          </a:p>
        </p:txBody>
      </p:sp>
      <p:sp>
        <p:nvSpPr>
          <p:cNvPr id="10" name="Volný tvar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olný tvar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cs-CZ"/>
              <a:t>Klepnutím lze upravit styly předlohy textu.</a:t>
            </a:r>
          </a:p>
          <a:p>
            <a:pPr lvl="1" eaLnBrk="1" latinLnBrk="0" hangingPunct="1"/>
            <a:r>
              <a:rPr lang="cs-CZ"/>
              <a:t>Druhá úroveň</a:t>
            </a:r>
          </a:p>
          <a:p>
            <a:pPr lvl="2" eaLnBrk="1" latinLnBrk="0" hangingPunct="1"/>
            <a:r>
              <a:rPr lang="cs-CZ"/>
              <a:t>Třetí úroveň</a:t>
            </a:r>
          </a:p>
          <a:p>
            <a:pPr lvl="3" eaLnBrk="1" latinLnBrk="0" hangingPunct="1"/>
            <a:r>
              <a:rPr lang="cs-CZ"/>
              <a:t>Čtvrtá úroveň</a:t>
            </a:r>
          </a:p>
          <a:p>
            <a:pPr lvl="4" eaLnBrk="1" latinLnBrk="0" hangingPunct="1"/>
            <a:r>
              <a:rPr lang="cs-CZ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olný tvar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olný tvar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Zástupný symbol pro nadpis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cs-CZ"/>
              <a:t>Klepnutím lze upravit styl předlohy nadpisů.</a:t>
            </a:r>
            <a:endParaRPr kumimoji="0" lang="en-US"/>
          </a:p>
        </p:txBody>
      </p:sp>
      <p:sp>
        <p:nvSpPr>
          <p:cNvPr id="30" name="Zástupný symbol pro tex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cs-CZ"/>
              <a:t>Klepnutím lze upravit styly předlohy textu.</a:t>
            </a:r>
          </a:p>
          <a:p>
            <a:pPr lvl="1" eaLnBrk="1" latinLnBrk="0" hangingPunct="1"/>
            <a:r>
              <a:rPr kumimoji="0" lang="cs-CZ"/>
              <a:t>Druhá úroveň</a:t>
            </a:r>
          </a:p>
          <a:p>
            <a:pPr lvl="2" eaLnBrk="1" latinLnBrk="0" hangingPunct="1"/>
            <a:r>
              <a:rPr kumimoji="0" lang="cs-CZ"/>
              <a:t>Třetí úroveň</a:t>
            </a:r>
          </a:p>
          <a:p>
            <a:pPr lvl="3" eaLnBrk="1" latinLnBrk="0" hangingPunct="1"/>
            <a:r>
              <a:rPr kumimoji="0" lang="cs-CZ"/>
              <a:t>Čtvrtá úroveň</a:t>
            </a:r>
          </a:p>
          <a:p>
            <a:pPr lvl="4" eaLnBrk="1" latinLnBrk="0" hangingPunct="1"/>
            <a:r>
              <a:rPr kumimoji="0" lang="cs-CZ"/>
              <a:t>Pátá úroveň</a:t>
            </a:r>
            <a:endParaRPr kumimoji="0" lang="en-US"/>
          </a:p>
        </p:txBody>
      </p:sp>
      <p:sp>
        <p:nvSpPr>
          <p:cNvPr id="10" name="Zástupný symbol pro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9B49E16-8EA8-461F-B257-15F706EC4B4A}" type="datetimeFigureOut">
              <a:rPr lang="cs-CZ" smtClean="0"/>
              <a:pPr/>
              <a:t>11.02.2024</a:t>
            </a:fld>
            <a:endParaRPr lang="cs-CZ"/>
          </a:p>
        </p:txBody>
      </p:sp>
      <p:sp>
        <p:nvSpPr>
          <p:cNvPr id="22" name="Zástupný symbol pro zápatí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18" name="Zástupný symbol pro číslo snímku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80C14DC-E2C7-4FA7-8503-CAF0416D240E}" type="slidenum">
              <a:rPr lang="cs-CZ" smtClean="0"/>
              <a:pPr/>
              <a:t>‹#›</a:t>
            </a:fld>
            <a:endParaRPr lang="cs-CZ"/>
          </a:p>
        </p:txBody>
      </p:sp>
      <p:grpSp>
        <p:nvGrpSpPr>
          <p:cNvPr id="2" name="Skupina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olný tvar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olný tvar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39552" y="404664"/>
            <a:ext cx="7851648" cy="1859632"/>
          </a:xfrm>
        </p:spPr>
        <p:txBody>
          <a:bodyPr/>
          <a:lstStyle/>
          <a:p>
            <a:r>
              <a:rPr lang="cs-CZ" dirty="0">
                <a:solidFill>
                  <a:srgbClr val="FFC000"/>
                </a:solidFill>
              </a:rPr>
              <a:t>Humanismus a renesance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2051720" y="2420888"/>
            <a:ext cx="76328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4800" dirty="0">
                <a:latin typeface="+mj-lt"/>
              </a:rPr>
              <a:t> ve světové literatuře</a:t>
            </a:r>
          </a:p>
          <a:p>
            <a:endParaRPr lang="cs-CZ" sz="4800" dirty="0">
              <a:latin typeface="+mj-lt"/>
            </a:endParaRPr>
          </a:p>
          <a:p>
            <a:r>
              <a:rPr lang="cs-CZ" sz="4800" dirty="0">
                <a:latin typeface="+mj-lt"/>
              </a:rPr>
              <a:t>              2. část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/>
          <a:lstStyle/>
          <a:p>
            <a:r>
              <a:rPr lang="cs-CZ" dirty="0"/>
              <a:t>Renesanční literatura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cs-CZ" sz="3600" dirty="0">
                <a:solidFill>
                  <a:srgbClr val="FF0000"/>
                </a:solidFill>
                <a:latin typeface="+mj-lt"/>
              </a:rPr>
              <a:t>Italská renesance </a:t>
            </a:r>
            <a:r>
              <a:rPr lang="cs-CZ" sz="3600" dirty="0">
                <a:latin typeface="+mj-lt"/>
              </a:rPr>
              <a:t>a její předchůdci</a:t>
            </a:r>
          </a:p>
          <a:p>
            <a:pPr>
              <a:buNone/>
            </a:pPr>
            <a:r>
              <a:rPr lang="cs-CZ" sz="2800" b="1" dirty="0">
                <a:latin typeface="+mj-lt"/>
              </a:rPr>
              <a:t>Dante </a:t>
            </a:r>
            <a:r>
              <a:rPr lang="cs-CZ" sz="2800" b="1" dirty="0" err="1">
                <a:latin typeface="+mj-lt"/>
              </a:rPr>
              <a:t>Alighieri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dirty="0">
                <a:latin typeface="+mj-lt"/>
              </a:rPr>
              <a:t>- Florenťan, první představitel literatury,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ve které se rodí nové, renesanční 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myšlenky, za protipapežský postoj byl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vypovězen do vyhnanství (20 let), jeho 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tvorbu osudově poznamenala láska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k Beatrici, studoval stará antická díla,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všechny životní zkušenosti se promítly</a:t>
            </a:r>
          </a:p>
          <a:p>
            <a:pPr>
              <a:buNone/>
            </a:pPr>
            <a:r>
              <a:rPr lang="cs-CZ" sz="2800" dirty="0">
                <a:latin typeface="+mj-lt"/>
              </a:rPr>
              <a:t>                                jako vlivy do jeho nejvýznamnějšího  </a:t>
            </a:r>
            <a:endParaRPr lang="cs-CZ" sz="2800" b="1" dirty="0">
              <a:latin typeface="+mj-lt"/>
            </a:endParaRPr>
          </a:p>
        </p:txBody>
      </p:sp>
      <p:pic>
        <p:nvPicPr>
          <p:cNvPr id="4098" name="Picture 2" descr="http://upload.wikimedia.org/wikipedia/commons/thumb/6/6f/Portrait_de_Dante.jpg/230px-Portrait_de_Dant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068960"/>
            <a:ext cx="2190750" cy="33432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467544" y="1124744"/>
            <a:ext cx="842493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díla  </a:t>
            </a:r>
            <a:r>
              <a:rPr lang="cs-CZ" sz="2800" b="1" u="sng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Božská komedie </a:t>
            </a:r>
            <a:r>
              <a:rPr lang="cs-CZ" sz="2800" dirty="0">
                <a:latin typeface="+mj-lt"/>
              </a:rPr>
              <a:t>: duchovní epos, alegorie pouti člověka ke spáse a k Bohu; námětem a duchovní symbolikou patří do středověku, pojetím člověka (touha</a:t>
            </a:r>
          </a:p>
          <a:p>
            <a:r>
              <a:rPr lang="cs-CZ" sz="2800" dirty="0">
                <a:latin typeface="+mj-lt"/>
              </a:rPr>
              <a:t>po vzdělání) do renesance; hlavní postava - autor, pozná-</a:t>
            </a:r>
          </a:p>
          <a:p>
            <a:r>
              <a:rPr lang="cs-CZ" sz="2800" dirty="0" err="1">
                <a:latin typeface="+mj-lt"/>
              </a:rPr>
              <a:t>vá</a:t>
            </a:r>
            <a:r>
              <a:rPr lang="cs-CZ" sz="2800" dirty="0">
                <a:latin typeface="+mj-lt"/>
              </a:rPr>
              <a:t> tři záhrobní říše (Peklo, Očistec, Ráj - námět z Bible);</a:t>
            </a:r>
          </a:p>
          <a:p>
            <a:r>
              <a:rPr lang="cs-CZ" sz="2800" dirty="0">
                <a:latin typeface="+mj-lt"/>
              </a:rPr>
              <a:t>průvodci Vergilius – symbol pozemského vědění (provází</a:t>
            </a:r>
          </a:p>
          <a:p>
            <a:r>
              <a:rPr lang="cs-CZ" sz="2800" dirty="0">
                <a:latin typeface="+mj-lt"/>
              </a:rPr>
              <a:t>básníka peklem a očistcem) a Beatrice - symbol </a:t>
            </a:r>
            <a:r>
              <a:rPr lang="cs-CZ" sz="2800" dirty="0" err="1">
                <a:latin typeface="+mj-lt"/>
              </a:rPr>
              <a:t>nadpo</a:t>
            </a:r>
            <a:r>
              <a:rPr lang="cs-CZ" sz="2800" dirty="0">
                <a:latin typeface="+mj-lt"/>
              </a:rPr>
              <a:t>-</a:t>
            </a:r>
          </a:p>
          <a:p>
            <a:r>
              <a:rPr lang="cs-CZ" sz="2800" dirty="0">
                <a:latin typeface="+mj-lt"/>
              </a:rPr>
              <a:t>zemské dokonalosti a čistoty (provází rájem); v pekle</a:t>
            </a:r>
          </a:p>
          <a:p>
            <a:r>
              <a:rPr lang="cs-CZ" sz="2800" dirty="0">
                <a:latin typeface="+mj-lt"/>
              </a:rPr>
              <a:t>jsou trestány lidské viny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b="1" dirty="0" err="1">
                <a:latin typeface="+mj-lt"/>
              </a:rPr>
              <a:t>Francesco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b="1" dirty="0" err="1">
                <a:latin typeface="+mj-lt"/>
              </a:rPr>
              <a:t>Petrarca</a:t>
            </a:r>
            <a:r>
              <a:rPr lang="cs-CZ" sz="2800" dirty="0">
                <a:latin typeface="+mj-lt"/>
              </a:rPr>
              <a:t> - přítel Karla IV.; Florenťan, ve vy-</a:t>
            </a:r>
          </a:p>
          <a:p>
            <a:r>
              <a:rPr lang="cs-CZ" sz="2800" dirty="0">
                <a:latin typeface="+mj-lt"/>
              </a:rPr>
              <a:t>                                      </a:t>
            </a:r>
            <a:r>
              <a:rPr lang="cs-CZ" sz="2800" dirty="0" err="1">
                <a:latin typeface="+mj-lt"/>
              </a:rPr>
              <a:t>hnanství</a:t>
            </a:r>
            <a:r>
              <a:rPr lang="cs-CZ" sz="2800" dirty="0">
                <a:latin typeface="+mj-lt"/>
              </a:rPr>
              <a:t> v Avignonu vysvěcen </a:t>
            </a:r>
          </a:p>
          <a:p>
            <a:r>
              <a:rPr lang="cs-CZ" sz="2800" dirty="0">
                <a:latin typeface="+mj-lt"/>
              </a:rPr>
              <a:t>                                      na kněze, zde došlo k jeho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95536" y="1124744"/>
            <a:ext cx="85689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osudovému setkání se šlechtičnou Laurou – inspirátorka</a:t>
            </a:r>
          </a:p>
          <a:p>
            <a:r>
              <a:rPr lang="cs-CZ" sz="2800" dirty="0" err="1">
                <a:latin typeface="+mj-lt"/>
              </a:rPr>
              <a:t>Petrarcovy</a:t>
            </a:r>
            <a:r>
              <a:rPr lang="cs-CZ" sz="2800" dirty="0">
                <a:latin typeface="+mj-lt"/>
              </a:rPr>
              <a:t> milostné poezie, její krása a nenaplněná láska</a:t>
            </a:r>
          </a:p>
          <a:p>
            <a:r>
              <a:rPr lang="cs-CZ" sz="2800" dirty="0">
                <a:latin typeface="+mj-lt"/>
              </a:rPr>
              <a:t>k ní jsou obsahem básnického díla </a:t>
            </a:r>
            <a:r>
              <a:rPr lang="cs-CZ" sz="2800" b="1" u="sng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Zpěvník</a:t>
            </a:r>
            <a:r>
              <a:rPr lang="cs-CZ" sz="2800" dirty="0">
                <a:latin typeface="+mj-lt"/>
              </a:rPr>
              <a:t> (po několik</a:t>
            </a:r>
          </a:p>
          <a:p>
            <a:r>
              <a:rPr lang="cs-CZ" sz="2800" dirty="0">
                <a:latin typeface="+mj-lt"/>
              </a:rPr>
              <a:t>staletí vzorem evropské lyriky – hluboký cit, zobrazení</a:t>
            </a:r>
          </a:p>
          <a:p>
            <a:r>
              <a:rPr lang="cs-CZ" sz="2800" dirty="0">
                <a:latin typeface="+mj-lt"/>
              </a:rPr>
              <a:t>chvilkových nálad, upřímný prožitek;forma sonetu)</a:t>
            </a:r>
          </a:p>
        </p:txBody>
      </p:sp>
      <p:pic>
        <p:nvPicPr>
          <p:cNvPr id="3074" name="Picture 2" descr="http://o.scdn.co/300/078b5a5278b82b867c6214c64ca884170e4d57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501008"/>
            <a:ext cx="2857500" cy="2857500"/>
          </a:xfrm>
          <a:prstGeom prst="rect">
            <a:avLst/>
          </a:prstGeom>
          <a:noFill/>
        </p:spPr>
      </p:pic>
      <p:pic>
        <p:nvPicPr>
          <p:cNvPr id="3076" name="Picture 4" descr="http://www.cojeco.cz/attach/ilustrations/3b55f5adf0c5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3429000"/>
            <a:ext cx="2153816" cy="299918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467544" y="1052736"/>
            <a:ext cx="849694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dirty="0" err="1">
                <a:latin typeface="+mj-lt"/>
              </a:rPr>
              <a:t>Giovanni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b="1" dirty="0" err="1">
                <a:latin typeface="+mj-lt"/>
              </a:rPr>
              <a:t>Boccaccio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dirty="0">
                <a:latin typeface="+mj-lt"/>
              </a:rPr>
              <a:t>– z Florencie, novelista a epik,stěžejní</a:t>
            </a:r>
          </a:p>
          <a:p>
            <a:r>
              <a:rPr lang="cs-CZ" sz="2800" dirty="0">
                <a:latin typeface="+mj-lt"/>
              </a:rPr>
              <a:t>                                       dílo  </a:t>
            </a:r>
            <a:r>
              <a:rPr lang="cs-CZ" sz="2800" b="1" u="sng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Dekameron </a:t>
            </a:r>
            <a:r>
              <a:rPr lang="cs-CZ" sz="2800" dirty="0">
                <a:latin typeface="+mj-lt"/>
              </a:rPr>
              <a:t>: cyklus sta novel</a:t>
            </a:r>
          </a:p>
          <a:p>
            <a:r>
              <a:rPr lang="cs-CZ" sz="2800" dirty="0">
                <a:latin typeface="+mj-lt"/>
              </a:rPr>
              <a:t>(</a:t>
            </a:r>
            <a:r>
              <a:rPr lang="cs-CZ" sz="2800" dirty="0" err="1">
                <a:latin typeface="+mj-lt"/>
              </a:rPr>
              <a:t>déka</a:t>
            </a:r>
            <a:r>
              <a:rPr lang="cs-CZ" sz="2800" dirty="0">
                <a:latin typeface="+mj-lt"/>
              </a:rPr>
              <a:t>=deset a </a:t>
            </a:r>
            <a:r>
              <a:rPr lang="cs-CZ" sz="2800" dirty="0" err="1">
                <a:latin typeface="+mj-lt"/>
              </a:rPr>
              <a:t>hemera</a:t>
            </a:r>
            <a:r>
              <a:rPr lang="cs-CZ" sz="2800" dirty="0">
                <a:latin typeface="+mj-lt"/>
              </a:rPr>
              <a:t>=den), v deseti dnech si 10 </a:t>
            </a:r>
            <a:r>
              <a:rPr lang="cs-CZ" sz="2800" dirty="0" err="1">
                <a:latin typeface="+mj-lt"/>
              </a:rPr>
              <a:t>uroze</a:t>
            </a:r>
            <a:r>
              <a:rPr lang="cs-CZ" sz="2800" dirty="0">
                <a:latin typeface="+mj-lt"/>
              </a:rPr>
              <a:t>-</a:t>
            </a:r>
          </a:p>
          <a:p>
            <a:r>
              <a:rPr lang="cs-CZ" sz="2800" dirty="0" err="1">
                <a:latin typeface="+mj-lt"/>
              </a:rPr>
              <a:t>ných</a:t>
            </a:r>
            <a:r>
              <a:rPr lang="cs-CZ" sz="2800" dirty="0">
                <a:latin typeface="+mj-lt"/>
              </a:rPr>
              <a:t> dam a šlechticů vypráví 100 příběhů, za morové </a:t>
            </a:r>
          </a:p>
          <a:p>
            <a:r>
              <a:rPr lang="cs-CZ" sz="2800" dirty="0">
                <a:latin typeface="+mj-lt"/>
              </a:rPr>
              <a:t>epidemie utekli z Florencie na venkov a vyprávěním si</a:t>
            </a:r>
          </a:p>
          <a:p>
            <a:r>
              <a:rPr lang="cs-CZ" sz="2800" dirty="0">
                <a:latin typeface="+mj-lt"/>
              </a:rPr>
              <a:t>krátí dlouhé chvíle, společným námětem je láska, erotika,</a:t>
            </a:r>
          </a:p>
          <a:p>
            <a:r>
              <a:rPr lang="cs-CZ" sz="2800" dirty="0">
                <a:latin typeface="+mj-lt"/>
              </a:rPr>
              <a:t>chytrost a důvtip; výstižný obraz mravů a mentality sou-</a:t>
            </a:r>
          </a:p>
          <a:p>
            <a:r>
              <a:rPr lang="cs-CZ" sz="2800" dirty="0">
                <a:latin typeface="+mj-lt"/>
              </a:rPr>
              <a:t>dobé Itálie; oslava ničím nesvazovaného života</a:t>
            </a:r>
          </a:p>
          <a:p>
            <a:endParaRPr lang="cs-CZ" sz="2800" dirty="0">
              <a:latin typeface="+mj-lt"/>
            </a:endParaRPr>
          </a:p>
          <a:p>
            <a:endParaRPr lang="cs-CZ" sz="28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://www.biografiasyvidas.com/biografia/b/fotos/boccacci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88640"/>
            <a:ext cx="4430205" cy="4104456"/>
          </a:xfrm>
          <a:prstGeom prst="rect">
            <a:avLst/>
          </a:prstGeom>
          <a:noFill/>
        </p:spPr>
      </p:pic>
      <p:pic>
        <p:nvPicPr>
          <p:cNvPr id="21508" name="Picture 4" descr="http://upload.wikimedia.org/wikipedia/commons/thumb/2/2c/Waterhouse_decameron.jpg/350px-Waterhouse_decamer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2852936"/>
            <a:ext cx="6158147" cy="38884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107504" y="1124744"/>
            <a:ext cx="91450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rgbClr val="FF0000"/>
                </a:solidFill>
                <a:latin typeface="+mj-lt"/>
              </a:rPr>
              <a:t>Francouzská renesance </a:t>
            </a:r>
            <a:r>
              <a:rPr lang="cs-CZ" sz="3600" dirty="0">
                <a:latin typeface="+mj-lt"/>
              </a:rPr>
              <a:t>a její předchůdci</a:t>
            </a:r>
          </a:p>
          <a:p>
            <a:r>
              <a:rPr lang="cs-CZ" sz="2800" b="1" dirty="0">
                <a:latin typeface="+mj-lt"/>
              </a:rPr>
              <a:t>Francois Villon </a:t>
            </a:r>
            <a:r>
              <a:rPr lang="cs-CZ" sz="2800" dirty="0">
                <a:latin typeface="+mj-lt"/>
              </a:rPr>
              <a:t>-   bohém, tulák,ve svých básních zobrazil</a:t>
            </a:r>
          </a:p>
          <a:p>
            <a:r>
              <a:rPr lang="cs-CZ" sz="2800" b="1" dirty="0">
                <a:latin typeface="+mj-lt"/>
              </a:rPr>
              <a:t>                                </a:t>
            </a:r>
            <a:r>
              <a:rPr lang="cs-CZ" sz="2800" dirty="0">
                <a:latin typeface="+mj-lt"/>
              </a:rPr>
              <a:t>pocity člověka na okraji společnosti,</a:t>
            </a:r>
          </a:p>
          <a:p>
            <a:r>
              <a:rPr lang="cs-CZ" sz="2800" dirty="0">
                <a:latin typeface="+mj-lt"/>
              </a:rPr>
              <a:t>                                proto je považován za prvního moder-</a:t>
            </a:r>
          </a:p>
          <a:p>
            <a:r>
              <a:rPr lang="cs-CZ" sz="2800" dirty="0">
                <a:latin typeface="+mj-lt"/>
              </a:rPr>
              <a:t>                                </a:t>
            </a:r>
            <a:r>
              <a:rPr lang="cs-CZ" sz="2800" dirty="0" err="1">
                <a:latin typeface="+mj-lt"/>
              </a:rPr>
              <a:t>ního</a:t>
            </a:r>
            <a:r>
              <a:rPr lang="cs-CZ" sz="2800" dirty="0">
                <a:latin typeface="+mj-lt"/>
              </a:rPr>
              <a:t>( prokletého) básníka, jeho soubory </a:t>
            </a:r>
          </a:p>
          <a:p>
            <a:r>
              <a:rPr lang="cs-CZ" sz="2800" dirty="0">
                <a:latin typeface="+mj-lt"/>
              </a:rPr>
              <a:t>                                básní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Odkaz</a:t>
            </a:r>
            <a:r>
              <a:rPr lang="cs-CZ" sz="2800" dirty="0">
                <a:latin typeface="+mj-lt"/>
              </a:rPr>
              <a:t> a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Závěť</a:t>
            </a:r>
            <a:r>
              <a:rPr lang="cs-CZ" sz="2800" dirty="0">
                <a:latin typeface="+mj-lt"/>
              </a:rPr>
              <a:t> mají ironický a satirický</a:t>
            </a:r>
          </a:p>
          <a:p>
            <a:r>
              <a:rPr lang="cs-CZ" sz="2800" dirty="0">
                <a:latin typeface="+mj-lt"/>
              </a:rPr>
              <a:t>                                obsah; prostředí pařížského podsvětí i</a:t>
            </a:r>
          </a:p>
          <a:p>
            <a:r>
              <a:rPr lang="cs-CZ" sz="2800" dirty="0">
                <a:latin typeface="+mj-lt"/>
              </a:rPr>
              <a:t>                                paláců; upřímnost výpovědi; forma </a:t>
            </a:r>
          </a:p>
          <a:p>
            <a:r>
              <a:rPr lang="cs-CZ" sz="2800" dirty="0">
                <a:latin typeface="+mj-lt"/>
              </a:rPr>
              <a:t>                                francouzské balady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b="1" dirty="0">
                <a:latin typeface="+mj-lt"/>
              </a:rPr>
              <a:t>Francois </a:t>
            </a:r>
            <a:r>
              <a:rPr lang="cs-CZ" sz="2800" b="1" dirty="0" err="1">
                <a:latin typeface="+mj-lt"/>
              </a:rPr>
              <a:t>Rabelaise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dirty="0">
                <a:latin typeface="+mj-lt"/>
              </a:rPr>
              <a:t>-spisovatel, lékař, mnich, zájem o filozofii </a:t>
            </a:r>
          </a:p>
          <a:p>
            <a:r>
              <a:rPr lang="cs-CZ" sz="2800" dirty="0">
                <a:latin typeface="+mj-lt"/>
              </a:rPr>
              <a:t>                                    a archeologii, autor čtyřdílného </a:t>
            </a:r>
            <a:r>
              <a:rPr lang="cs-CZ" sz="2800" dirty="0" err="1">
                <a:latin typeface="+mj-lt"/>
              </a:rPr>
              <a:t>renesan</a:t>
            </a:r>
            <a:r>
              <a:rPr lang="cs-CZ" sz="2800" dirty="0">
                <a:latin typeface="+mj-lt"/>
              </a:rPr>
              <a:t>-</a:t>
            </a:r>
          </a:p>
          <a:p>
            <a:r>
              <a:rPr lang="cs-CZ" sz="2800" dirty="0">
                <a:latin typeface="+mj-lt"/>
              </a:rPr>
              <a:t>                                    </a:t>
            </a:r>
            <a:r>
              <a:rPr lang="cs-CZ" sz="2800" dirty="0" err="1">
                <a:latin typeface="+mj-lt"/>
              </a:rPr>
              <a:t>čního</a:t>
            </a:r>
            <a:r>
              <a:rPr lang="cs-CZ" sz="2800" dirty="0">
                <a:latin typeface="+mj-lt"/>
              </a:rPr>
              <a:t> románu o životě obrů ( inspirace                  </a:t>
            </a:r>
          </a:p>
          <a:p>
            <a:endParaRPr lang="cs-CZ" sz="2800" dirty="0">
              <a:latin typeface="+mj-lt"/>
            </a:endParaRPr>
          </a:p>
        </p:txBody>
      </p:sp>
      <p:pic>
        <p:nvPicPr>
          <p:cNvPr id="11266" name="Picture 2" descr="http://www.biography.com/imported/images/Biography/Images/Profiles/V/Francois-Villon-38551-1-4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2348880"/>
            <a:ext cx="2604914" cy="26049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251520" y="980728"/>
            <a:ext cx="86409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tehdy oblíbenou lidovou četbou )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Gargantua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a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Pantagruel</a:t>
            </a:r>
            <a:r>
              <a:rPr lang="cs-CZ" sz="2800" dirty="0">
                <a:latin typeface="+mj-lt"/>
              </a:rPr>
              <a:t>:</a:t>
            </a:r>
          </a:p>
          <a:p>
            <a:r>
              <a:rPr lang="cs-CZ" sz="2800" dirty="0">
                <a:latin typeface="+mj-lt"/>
              </a:rPr>
              <a:t>satira na všechny oblasti soudobého života a středověkého církevního myšlení, živě a vtipně vyprávěné historky a pří-</a:t>
            </a:r>
          </a:p>
          <a:p>
            <a:r>
              <a:rPr lang="cs-CZ" sz="2800" dirty="0">
                <a:latin typeface="+mj-lt"/>
              </a:rPr>
              <a:t>běhy jsou prostřídány filozofickými úvahami,důraz na lid-</a:t>
            </a:r>
          </a:p>
          <a:p>
            <a:r>
              <a:rPr lang="cs-CZ" sz="2800" dirty="0" err="1">
                <a:latin typeface="+mj-lt"/>
              </a:rPr>
              <a:t>skou</a:t>
            </a:r>
            <a:r>
              <a:rPr lang="cs-CZ" sz="2800" dirty="0">
                <a:latin typeface="+mj-lt"/>
              </a:rPr>
              <a:t> přirozenost, lásku k pozemskému životu</a:t>
            </a:r>
          </a:p>
          <a:p>
            <a:endParaRPr lang="cs-CZ" sz="2800" dirty="0">
              <a:latin typeface="+mj-lt"/>
            </a:endParaRPr>
          </a:p>
        </p:txBody>
      </p:sp>
      <p:pic>
        <p:nvPicPr>
          <p:cNvPr id="3074" name="Picture 2" descr="http://upload.wikimedia.org/wikipedia/commons/6/69/Fran%C3%A7ois_Rabelais,_Gargantua,_Lyon,_Denis_de_Harsy,_153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3284984"/>
            <a:ext cx="2088232" cy="3332285"/>
          </a:xfrm>
          <a:prstGeom prst="rect">
            <a:avLst/>
          </a:prstGeom>
          <a:noFill/>
        </p:spPr>
      </p:pic>
      <p:pic>
        <p:nvPicPr>
          <p:cNvPr id="3076" name="Picture 4" descr="https://encrypted-tbn3.gstatic.com/images?q=tbn:ANd9GcRbItIC9ui1_b0J_BH2ouPvAMTt1sWBFZvEDZOtS5Szm2Vk49Q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3356992"/>
            <a:ext cx="3096344" cy="3096344"/>
          </a:xfrm>
          <a:prstGeom prst="rect">
            <a:avLst/>
          </a:prstGeom>
          <a:noFill/>
        </p:spPr>
      </p:pic>
      <p:pic>
        <p:nvPicPr>
          <p:cNvPr id="3078" name="Picture 6" descr="File:Pantagruel0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0152" y="3117324"/>
            <a:ext cx="2880320" cy="37406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95536" y="980728"/>
            <a:ext cx="8928992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solidFill>
                  <a:srgbClr val="FF0000"/>
                </a:solidFill>
                <a:latin typeface="+mj-lt"/>
              </a:rPr>
              <a:t>Španělská renesance</a:t>
            </a:r>
          </a:p>
          <a:p>
            <a:r>
              <a:rPr lang="cs-CZ" sz="2800" b="1" dirty="0" err="1">
                <a:latin typeface="+mj-lt"/>
              </a:rPr>
              <a:t>Miguel</a:t>
            </a:r>
            <a:r>
              <a:rPr lang="cs-CZ" sz="2800" b="1" dirty="0">
                <a:latin typeface="+mj-lt"/>
              </a:rPr>
              <a:t> de </a:t>
            </a:r>
            <a:r>
              <a:rPr lang="cs-CZ" sz="2800" b="1" dirty="0" err="1">
                <a:latin typeface="+mj-lt"/>
              </a:rPr>
              <a:t>Cervantes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b="1" dirty="0" err="1">
                <a:latin typeface="+mj-lt"/>
              </a:rPr>
              <a:t>Saavedra</a:t>
            </a:r>
            <a:r>
              <a:rPr lang="cs-CZ" sz="2800" b="1" dirty="0">
                <a:latin typeface="+mj-lt"/>
              </a:rPr>
              <a:t> </a:t>
            </a:r>
            <a:r>
              <a:rPr lang="cs-CZ" sz="2800" dirty="0">
                <a:latin typeface="+mj-lt"/>
              </a:rPr>
              <a:t>- prozaik, dramatik, básník,</a:t>
            </a:r>
          </a:p>
          <a:p>
            <a:r>
              <a:rPr lang="cs-CZ" sz="2800" dirty="0">
                <a:latin typeface="+mj-lt"/>
              </a:rPr>
              <a:t>                                                          jeho nejslavnějším dílem je román, který vznikl původně jako satira na rytířské romány</a:t>
            </a:r>
          </a:p>
          <a:p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Důmyslný rytíř don Quijote de la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Mancha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cs-CZ" sz="2800" dirty="0">
                <a:latin typeface="+mj-lt"/>
              </a:rPr>
              <a:t>: titulní hrdina je</a:t>
            </a:r>
          </a:p>
          <a:p>
            <a:r>
              <a:rPr lang="cs-CZ" sz="2800" dirty="0">
                <a:latin typeface="+mj-lt"/>
              </a:rPr>
              <a:t>věčný snílek, zpočátku touží obnovit slávu rytířstva, </a:t>
            </a:r>
            <a:r>
              <a:rPr lang="cs-CZ" sz="2800" dirty="0" err="1">
                <a:latin typeface="+mj-lt"/>
              </a:rPr>
              <a:t>napra</a:t>
            </a:r>
            <a:r>
              <a:rPr lang="cs-CZ" sz="2800" dirty="0">
                <a:latin typeface="+mj-lt"/>
              </a:rPr>
              <a:t>-</a:t>
            </a:r>
          </a:p>
          <a:p>
            <a:r>
              <a:rPr lang="cs-CZ" sz="2800" dirty="0" err="1">
                <a:latin typeface="+mj-lt"/>
              </a:rPr>
              <a:t>vovat</a:t>
            </a:r>
            <a:r>
              <a:rPr lang="cs-CZ" sz="2800" dirty="0">
                <a:latin typeface="+mj-lt"/>
              </a:rPr>
              <a:t> křivdy - bojuje s větrnými mlýny („obry“), stádem ovcí apod.- budí ale cynický posměch, vnitřně je však ušlechtilý</a:t>
            </a:r>
          </a:p>
          <a:p>
            <a:r>
              <a:rPr lang="cs-CZ" sz="2800" dirty="0">
                <a:latin typeface="+mj-lt"/>
              </a:rPr>
              <a:t>(snaha jednat čestně, obětovat se), vytrvalý; jeho sluha</a:t>
            </a:r>
          </a:p>
          <a:p>
            <a:r>
              <a:rPr lang="cs-CZ" sz="2800" dirty="0" err="1">
                <a:latin typeface="+mj-lt"/>
              </a:rPr>
              <a:t>Sancho</a:t>
            </a:r>
            <a:r>
              <a:rPr lang="cs-CZ" sz="2800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Panza</a:t>
            </a:r>
            <a:r>
              <a:rPr lang="cs-CZ" sz="2800" dirty="0">
                <a:latin typeface="+mj-lt"/>
              </a:rPr>
              <a:t> je pánovým opakem – praktický venkovan </a:t>
            </a:r>
          </a:p>
          <a:p>
            <a:r>
              <a:rPr lang="cs-CZ" sz="2800" dirty="0">
                <a:latin typeface="+mj-lt"/>
              </a:rPr>
              <a:t>toužící po bezstarostném živobytí, pod vlivem svého pána</a:t>
            </a:r>
          </a:p>
          <a:p>
            <a:r>
              <a:rPr lang="cs-CZ" sz="2800" dirty="0">
                <a:latin typeface="+mj-lt"/>
              </a:rPr>
              <a:t>postupně sám mravně vyspívá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faromundi.org.do/wp-content/uploads/2010/04/don-quijote-mancha-16736822c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0500"/>
            <a:ext cx="5162550" cy="6667500"/>
          </a:xfrm>
          <a:prstGeom prst="rect">
            <a:avLst/>
          </a:prstGeom>
          <a:noFill/>
        </p:spPr>
      </p:pic>
      <p:pic>
        <p:nvPicPr>
          <p:cNvPr id="1028" name="Picture 4" descr="http://servetolead.org/wp-content/uploads/2010/12/cervante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1412776"/>
            <a:ext cx="3747145" cy="480177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107504" y="1124744"/>
            <a:ext cx="914501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dirty="0">
                <a:latin typeface="+mj-lt"/>
              </a:rPr>
              <a:t> </a:t>
            </a:r>
            <a:r>
              <a:rPr lang="cs-CZ" sz="3600" dirty="0">
                <a:solidFill>
                  <a:srgbClr val="FF0000"/>
                </a:solidFill>
                <a:latin typeface="+mj-lt"/>
              </a:rPr>
              <a:t>Anglická renesance  </a:t>
            </a:r>
            <a:r>
              <a:rPr lang="cs-CZ" sz="3600" dirty="0">
                <a:latin typeface="+mj-lt"/>
              </a:rPr>
              <a:t>(</a:t>
            </a:r>
            <a:r>
              <a:rPr lang="cs-CZ" sz="3600" dirty="0" err="1">
                <a:latin typeface="+mj-lt"/>
              </a:rPr>
              <a:t>alžbětínské</a:t>
            </a:r>
            <a:r>
              <a:rPr lang="cs-CZ" sz="3600" dirty="0">
                <a:latin typeface="+mj-lt"/>
              </a:rPr>
              <a:t> drama)</a:t>
            </a:r>
          </a:p>
          <a:p>
            <a:r>
              <a:rPr lang="cs-CZ" sz="3600" dirty="0">
                <a:latin typeface="+mj-lt"/>
              </a:rPr>
              <a:t> </a:t>
            </a:r>
            <a:r>
              <a:rPr lang="cs-CZ" sz="2800" b="1" dirty="0">
                <a:latin typeface="+mj-lt"/>
              </a:rPr>
              <a:t>William Shakespeare  </a:t>
            </a:r>
            <a:r>
              <a:rPr lang="cs-CZ" sz="2800" dirty="0">
                <a:latin typeface="+mj-lt"/>
              </a:rPr>
              <a:t>(1564 – 1616)</a:t>
            </a:r>
          </a:p>
          <a:p>
            <a:r>
              <a:rPr lang="cs-CZ" sz="3600" dirty="0">
                <a:latin typeface="+mj-lt"/>
              </a:rPr>
              <a:t> </a:t>
            </a:r>
            <a:r>
              <a:rPr lang="cs-CZ" sz="2800" b="1" dirty="0">
                <a:latin typeface="+mj-lt"/>
              </a:rPr>
              <a:t>                                         </a:t>
            </a:r>
            <a:r>
              <a:rPr lang="cs-CZ" sz="2800" dirty="0">
                <a:latin typeface="+mj-lt"/>
              </a:rPr>
              <a:t>největší dramatik všech dob, autor</a:t>
            </a:r>
          </a:p>
          <a:p>
            <a:r>
              <a:rPr lang="cs-CZ" sz="2800" b="1" dirty="0">
                <a:latin typeface="+mj-lt"/>
              </a:rPr>
              <a:t>                                          </a:t>
            </a:r>
            <a:r>
              <a:rPr lang="cs-CZ" sz="2800" dirty="0">
                <a:latin typeface="+mj-lt"/>
              </a:rPr>
              <a:t>37 her a 154 sonetů, pocházel</a:t>
            </a:r>
          </a:p>
          <a:p>
            <a:r>
              <a:rPr lang="cs-CZ" sz="2800" dirty="0">
                <a:latin typeface="+mj-lt"/>
              </a:rPr>
              <a:t>                                          ze </a:t>
            </a:r>
            <a:r>
              <a:rPr lang="cs-CZ" sz="2800" dirty="0" err="1">
                <a:latin typeface="+mj-lt"/>
              </a:rPr>
              <a:t>Stratfordu</a:t>
            </a:r>
            <a:r>
              <a:rPr lang="cs-CZ" sz="2800" dirty="0">
                <a:latin typeface="+mj-lt"/>
              </a:rPr>
              <a:t> nad </a:t>
            </a:r>
            <a:r>
              <a:rPr lang="cs-CZ" sz="2800" dirty="0" err="1">
                <a:latin typeface="+mj-lt"/>
              </a:rPr>
              <a:t>Avonou</a:t>
            </a:r>
            <a:r>
              <a:rPr lang="cs-CZ" sz="2800" dirty="0">
                <a:latin typeface="+mj-lt"/>
              </a:rPr>
              <a:t>, v Londýně</a:t>
            </a:r>
          </a:p>
          <a:p>
            <a:r>
              <a:rPr lang="cs-CZ" sz="2800" dirty="0">
                <a:latin typeface="+mj-lt"/>
              </a:rPr>
              <a:t>                                          začal svou úspěšnou uměleckou</a:t>
            </a:r>
          </a:p>
          <a:p>
            <a:r>
              <a:rPr lang="cs-CZ" sz="2800" dirty="0">
                <a:latin typeface="+mj-lt"/>
              </a:rPr>
              <a:t>                                          dráhu (spolumajitel nejslavnějšího</a:t>
            </a:r>
          </a:p>
          <a:p>
            <a:r>
              <a:rPr lang="cs-CZ" sz="2800" dirty="0">
                <a:latin typeface="+mj-lt"/>
              </a:rPr>
              <a:t>                                          divadla Globe </a:t>
            </a:r>
            <a:r>
              <a:rPr lang="cs-CZ" sz="2800" dirty="0" err="1">
                <a:latin typeface="+mj-lt"/>
              </a:rPr>
              <a:t>Theatre</a:t>
            </a:r>
            <a:r>
              <a:rPr lang="cs-CZ" sz="2800" dirty="0">
                <a:latin typeface="+mj-lt"/>
              </a:rPr>
              <a:t>), </a:t>
            </a:r>
            <a:r>
              <a:rPr lang="cs-CZ" sz="2800" dirty="0" err="1">
                <a:latin typeface="+mj-lt"/>
              </a:rPr>
              <a:t>J.V.Sládek</a:t>
            </a:r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                      přeložil do češtiny téměř všechny </a:t>
            </a:r>
          </a:p>
          <a:p>
            <a:r>
              <a:rPr lang="cs-CZ" sz="2800" dirty="0">
                <a:latin typeface="+mj-lt"/>
              </a:rPr>
              <a:t>                                          jeho hry, v současnosti </a:t>
            </a:r>
            <a:r>
              <a:rPr lang="cs-CZ" sz="2800" dirty="0" err="1">
                <a:latin typeface="+mj-lt"/>
              </a:rPr>
              <a:t>M</a:t>
            </a:r>
            <a:r>
              <a:rPr lang="cs-CZ" sz="2800" dirty="0">
                <a:latin typeface="+mj-lt"/>
              </a:rPr>
              <a:t>.</a:t>
            </a:r>
            <a:r>
              <a:rPr lang="cs-CZ" sz="2800" dirty="0" err="1">
                <a:latin typeface="+mj-lt"/>
              </a:rPr>
              <a:t>Hilský</a:t>
            </a:r>
            <a:r>
              <a:rPr lang="cs-CZ" sz="2800" dirty="0">
                <a:latin typeface="+mj-lt"/>
              </a:rPr>
              <a:t>   </a:t>
            </a:r>
          </a:p>
          <a:p>
            <a:endParaRPr lang="cs-CZ" sz="3600" dirty="0">
              <a:latin typeface="+mj-lt"/>
            </a:endParaRPr>
          </a:p>
        </p:txBody>
      </p:sp>
      <p:pic>
        <p:nvPicPr>
          <p:cNvPr id="8194" name="Picture 2" descr="http://theshakespeareblog.com/wp-content/uploads/2011/11/william-shakespeare-portrait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420888"/>
            <a:ext cx="3016793" cy="30243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95536" y="1052736"/>
            <a:ext cx="8748464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Jeho dílo lze rozčlenit do dvou časových údobí ( předěl</a:t>
            </a:r>
          </a:p>
          <a:p>
            <a:r>
              <a:rPr lang="cs-CZ" sz="2800" dirty="0">
                <a:latin typeface="+mj-lt"/>
              </a:rPr>
              <a:t>tvoří r.1600 ):</a:t>
            </a:r>
          </a:p>
          <a:p>
            <a:pPr marL="514350" indent="-514350"/>
            <a:r>
              <a:rPr lang="cs-CZ" sz="2800" dirty="0">
                <a:latin typeface="+mj-lt"/>
              </a:rPr>
              <a:t>1.období - vznikají hl. veselohry, historické hry z anglických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 i starověkých dějin a první romantická tragédie :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Zkrocení zlé ženy</a:t>
            </a:r>
            <a:r>
              <a:rPr lang="cs-CZ" sz="2800" dirty="0">
                <a:latin typeface="+mj-lt"/>
              </a:rPr>
              <a:t>,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Sen noci svatojánské</a:t>
            </a:r>
            <a:r>
              <a:rPr lang="cs-CZ" sz="2800" dirty="0">
                <a:latin typeface="+mj-lt"/>
              </a:rPr>
              <a:t>,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Kupec</a:t>
            </a:r>
          </a:p>
          <a:p>
            <a:pPr marL="514350" indent="-514350"/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                   benátský</a:t>
            </a:r>
            <a:r>
              <a:rPr lang="cs-CZ" sz="28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,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Jindřich VI.</a:t>
            </a:r>
            <a:r>
              <a:rPr lang="cs-CZ" sz="2800" dirty="0">
                <a:latin typeface="+mj-lt"/>
              </a:rPr>
              <a:t>,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Richard III.</a:t>
            </a:r>
            <a:r>
              <a:rPr lang="cs-CZ" sz="2800" dirty="0">
                <a:latin typeface="+mj-lt"/>
              </a:rPr>
              <a:t>,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Julius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Caesar</a:t>
            </a:r>
            <a:r>
              <a:rPr lang="cs-CZ" sz="2800" dirty="0">
                <a:latin typeface="+mj-lt"/>
              </a:rPr>
              <a:t>,</a:t>
            </a:r>
          </a:p>
          <a:p>
            <a:pPr marL="514350" indent="-514350"/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                   Romeo a Julie </a:t>
            </a:r>
            <a:r>
              <a:rPr lang="cs-CZ" sz="2800" dirty="0">
                <a:latin typeface="+mj-lt"/>
              </a:rPr>
              <a:t>aj.</a:t>
            </a:r>
          </a:p>
          <a:p>
            <a:pPr marL="514350" indent="-514350"/>
            <a:r>
              <a:rPr lang="cs-CZ" sz="2800" dirty="0">
                <a:latin typeface="+mj-lt"/>
              </a:rPr>
              <a:t>2.období - obrat v tvorbě, optimismu vyprchává( asi z přes-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</a:t>
            </a:r>
            <a:r>
              <a:rPr lang="cs-CZ" sz="2800" dirty="0" err="1">
                <a:latin typeface="+mj-lt"/>
              </a:rPr>
              <a:t>vědčení</a:t>
            </a:r>
            <a:r>
              <a:rPr lang="cs-CZ" sz="2800" dirty="0">
                <a:latin typeface="+mj-lt"/>
              </a:rPr>
              <a:t> neuskutečnitelnosti humanistických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 ideálů) a do her proniká životní zklamání a 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 pesimismus, vznikají tak převážně tragédie :</a:t>
            </a:r>
          </a:p>
          <a:p>
            <a:pPr marL="514350" indent="-514350"/>
            <a:r>
              <a:rPr lang="cs-CZ" sz="2800" dirty="0">
                <a:latin typeface="+mj-lt"/>
              </a:rPr>
              <a:t>                   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Hamlet</a:t>
            </a:r>
            <a:r>
              <a:rPr lang="cs-CZ" sz="2800" dirty="0">
                <a:latin typeface="+mj-lt"/>
              </a:rPr>
              <a:t>,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Othello</a:t>
            </a:r>
            <a:r>
              <a:rPr lang="cs-CZ" sz="2800" dirty="0">
                <a:latin typeface="+mj-lt"/>
              </a:rPr>
              <a:t>,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Macbeth</a:t>
            </a:r>
            <a:r>
              <a:rPr lang="cs-CZ" sz="2800" dirty="0">
                <a:latin typeface="+mj-lt"/>
              </a:rPr>
              <a:t>,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Král </a:t>
            </a:r>
            <a:r>
              <a:rPr lang="cs-CZ" sz="2800" b="1" dirty="0" err="1">
                <a:solidFill>
                  <a:schemeClr val="accent1">
                    <a:lumMod val="75000"/>
                  </a:schemeClr>
                </a:solidFill>
                <a:latin typeface="+mj-lt"/>
              </a:rPr>
              <a:t>Lear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cs-CZ" sz="2800" dirty="0">
                <a:latin typeface="+mj-lt"/>
              </a:rPr>
              <a:t>aj. </a:t>
            </a:r>
          </a:p>
          <a:p>
            <a:pPr marL="514350" indent="-514350"/>
            <a:endParaRPr lang="cs-CZ" sz="2800" dirty="0">
              <a:latin typeface="+mj-lt"/>
            </a:endParaRPr>
          </a:p>
          <a:p>
            <a:pPr marL="514350" indent="-514350"/>
            <a:r>
              <a:rPr lang="cs-CZ" sz="2800" dirty="0">
                <a:latin typeface="+mj-lt"/>
              </a:rPr>
              <a:t>                    </a:t>
            </a:r>
          </a:p>
          <a:p>
            <a:pPr marL="514350" indent="-514350"/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              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www.ego4u.com/images/countries/uk/london/globe-theatre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16632"/>
            <a:ext cx="8628175" cy="6480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www.athenalearning.com/images/globe-theatre-p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692696"/>
            <a:ext cx="7692727" cy="58788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http://upload.wikimedia.org/wikipedia/commons/7/7b/Elizabeth_I_(Armada_Portrait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8136904" cy="648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http://upload.wikimedia.org/wikipedia/commons/8/8e/Eug%C3%A8ne_Ferdinand_Victor_Delacroix_01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16632"/>
            <a:ext cx="5264396" cy="65622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upload.wikimedia.org/wikipedia/commons/thumb/9/95/Romeo-and-Juliet-toy-theatre-cut-outs.png/220px-Romeo-and-Juliet-toy-theatre-cut-out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980728"/>
            <a:ext cx="3391644" cy="5257050"/>
          </a:xfrm>
          <a:prstGeom prst="rect">
            <a:avLst/>
          </a:prstGeom>
          <a:noFill/>
        </p:spPr>
      </p:pic>
      <p:pic>
        <p:nvPicPr>
          <p:cNvPr id="38914" name="Picture 2" descr="Soubor:Romeoandjuliet159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620688"/>
            <a:ext cx="3438525" cy="5705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395536" y="1052736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dirty="0">
                <a:latin typeface="+mj-lt"/>
              </a:rPr>
              <a:t>Znaky Shakespearových dramat : </a:t>
            </a:r>
          </a:p>
          <a:p>
            <a:pPr>
              <a:buFont typeface="Arial" charset="0"/>
              <a:buChar char="•"/>
            </a:pPr>
            <a:r>
              <a:rPr lang="cs-CZ" sz="2800" dirty="0">
                <a:latin typeface="+mj-lt"/>
              </a:rPr>
              <a:t>  obraz pozemského života</a:t>
            </a:r>
          </a:p>
          <a:p>
            <a:pPr>
              <a:buFont typeface="Arial" charset="0"/>
              <a:buChar char="•"/>
            </a:pPr>
            <a:r>
              <a:rPr lang="cs-CZ" sz="2800" dirty="0">
                <a:latin typeface="+mj-lt"/>
              </a:rPr>
              <a:t>  typické lidské vlastnosti ( žárlivost - Othello; ctižádosti-</a:t>
            </a:r>
          </a:p>
          <a:p>
            <a:r>
              <a:rPr lang="cs-CZ" sz="2800" dirty="0">
                <a:latin typeface="+mj-lt"/>
              </a:rPr>
              <a:t>    </a:t>
            </a:r>
            <a:r>
              <a:rPr lang="cs-CZ" sz="2800" dirty="0" err="1">
                <a:latin typeface="+mj-lt"/>
              </a:rPr>
              <a:t>vost</a:t>
            </a:r>
            <a:r>
              <a:rPr lang="cs-CZ" sz="2800" dirty="0">
                <a:latin typeface="+mj-lt"/>
              </a:rPr>
              <a:t> a touha po moci - </a:t>
            </a:r>
            <a:r>
              <a:rPr lang="cs-CZ" sz="2800" dirty="0" err="1">
                <a:latin typeface="+mj-lt"/>
              </a:rPr>
              <a:t>Macbeth</a:t>
            </a:r>
            <a:r>
              <a:rPr lang="cs-CZ" sz="2800" dirty="0">
                <a:latin typeface="+mj-lt"/>
              </a:rPr>
              <a:t>; váhavost, úvahy o </a:t>
            </a:r>
          </a:p>
          <a:p>
            <a:r>
              <a:rPr lang="cs-CZ" sz="2800" dirty="0">
                <a:latin typeface="+mj-lt"/>
              </a:rPr>
              <a:t>    smyslu života - Hamlet; věrnost, boj o právo na lásku a </a:t>
            </a:r>
          </a:p>
          <a:p>
            <a:r>
              <a:rPr lang="cs-CZ" sz="2800" dirty="0">
                <a:latin typeface="+mj-lt"/>
              </a:rPr>
              <a:t>    na život - Romeo a Julie ) </a:t>
            </a:r>
          </a:p>
          <a:p>
            <a:pPr>
              <a:buFont typeface="Arial" charset="0"/>
              <a:buChar char="•"/>
            </a:pPr>
            <a:r>
              <a:rPr lang="cs-CZ" sz="2800" b="1" dirty="0">
                <a:latin typeface="+mj-lt"/>
              </a:rPr>
              <a:t>  </a:t>
            </a:r>
            <a:r>
              <a:rPr lang="cs-CZ" sz="2800" dirty="0">
                <a:latin typeface="+mj-lt"/>
              </a:rPr>
              <a:t>časté postavy žen, které samostatně rozhodují o svém</a:t>
            </a:r>
          </a:p>
          <a:p>
            <a:r>
              <a:rPr lang="cs-CZ" sz="2800" dirty="0">
                <a:latin typeface="+mj-lt"/>
              </a:rPr>
              <a:t>    životě </a:t>
            </a:r>
          </a:p>
          <a:p>
            <a:pPr>
              <a:buFont typeface="Arial" pitchFamily="34" charset="0"/>
              <a:buChar char="•"/>
            </a:pPr>
            <a:r>
              <a:rPr lang="cs-CZ" sz="2800" dirty="0">
                <a:latin typeface="+mj-lt"/>
              </a:rPr>
              <a:t>  příčinou tragédií bývá lidská vášeň nebo náhoda</a:t>
            </a:r>
          </a:p>
          <a:p>
            <a:pPr>
              <a:buFont typeface="Arial" pitchFamily="34" charset="0"/>
              <a:buChar char="•"/>
            </a:pPr>
            <a:r>
              <a:rPr lang="cs-CZ" sz="2800" dirty="0">
                <a:latin typeface="+mj-lt"/>
              </a:rPr>
              <a:t>  vystupují i lidové postavy</a:t>
            </a:r>
          </a:p>
          <a:p>
            <a:pPr>
              <a:buFont typeface="Arial" pitchFamily="34" charset="0"/>
              <a:buChar char="•"/>
            </a:pPr>
            <a:r>
              <a:rPr lang="cs-CZ" sz="2800" dirty="0">
                <a:latin typeface="+mj-lt"/>
              </a:rPr>
              <a:t>  komické prvky neodděleny ostře od tragických</a:t>
            </a:r>
          </a:p>
          <a:p>
            <a:pPr>
              <a:buFont typeface="Arial" pitchFamily="34" charset="0"/>
              <a:buChar char="•"/>
            </a:pPr>
            <a:r>
              <a:rPr lang="cs-CZ" sz="2800" dirty="0">
                <a:latin typeface="+mj-lt"/>
              </a:rPr>
              <a:t>  veršovaný jazyk se střídá s prózou</a:t>
            </a:r>
          </a:p>
          <a:p>
            <a:pPr>
              <a:buFont typeface="Arial" pitchFamily="34" charset="0"/>
              <a:buChar char="•"/>
            </a:pPr>
            <a:r>
              <a:rPr lang="cs-CZ" sz="2800" dirty="0">
                <a:latin typeface="+mj-lt"/>
              </a:rPr>
              <a:t>  motivy i z řeckých bájí </a:t>
            </a:r>
          </a:p>
          <a:p>
            <a:r>
              <a:rPr lang="cs-CZ" sz="2800" dirty="0">
                <a:latin typeface="+mj-lt"/>
              </a:rPr>
              <a:t>    </a:t>
            </a:r>
          </a:p>
          <a:p>
            <a:r>
              <a:rPr lang="cs-CZ" sz="2800" dirty="0">
                <a:latin typeface="+mj-lt"/>
              </a:rPr>
              <a:t> 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395536" y="1124744"/>
            <a:ext cx="842493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Jeho hry jsou dodnes živé </a:t>
            </a:r>
            <a:r>
              <a:rPr lang="cs-CZ" sz="2800" dirty="0">
                <a:latin typeface="+mj-lt"/>
              </a:rPr>
              <a:t>hlavně proto, že v nich zachytil snad všechny lidské typy, životní situace i myšlení </a:t>
            </a:r>
          </a:p>
          <a:p>
            <a:r>
              <a:rPr lang="cs-CZ" sz="2800" dirty="0">
                <a:latin typeface="+mj-lt"/>
              </a:rPr>
              <a:t>moderního člověka.Najdeme v nich postavy tragické, </a:t>
            </a:r>
          </a:p>
          <a:p>
            <a:r>
              <a:rPr lang="cs-CZ" sz="2800" dirty="0">
                <a:latin typeface="+mj-lt"/>
              </a:rPr>
              <a:t>vážné i směšné, zlé a odpuzující. Jedná se však vždy o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postavy</a:t>
            </a:r>
            <a:r>
              <a:rPr lang="cs-CZ" sz="2800" dirty="0">
                <a:latin typeface="+mj-lt"/>
              </a:rPr>
              <a:t> věrohodné, které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jednají svobodně a zažívají všechny radosti i strasti pozemského života</a:t>
            </a:r>
            <a:r>
              <a:rPr lang="cs-CZ" sz="2800" dirty="0">
                <a:latin typeface="+mj-lt"/>
              </a:rPr>
              <a:t>.A co je hlavní, jejich </a:t>
            </a:r>
            <a:r>
              <a:rPr lang="cs-CZ" sz="28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osudy jsou utvářeny jimi samými.</a:t>
            </a:r>
          </a:p>
          <a:p>
            <a:endParaRPr lang="cs-CZ" sz="2800" dirty="0">
              <a:latin typeface="+mj-lt"/>
            </a:endParaRPr>
          </a:p>
          <a:p>
            <a:endParaRPr lang="cs-CZ" sz="2800" dirty="0">
              <a:latin typeface="+mj-lt"/>
            </a:endParaRPr>
          </a:p>
          <a:p>
            <a:r>
              <a:rPr lang="cs-CZ" sz="2800" b="1" dirty="0">
                <a:latin typeface="+mj-lt"/>
              </a:rPr>
              <a:t>Ukázkové texty z čítanky </a:t>
            </a:r>
            <a:r>
              <a:rPr lang="cs-CZ" sz="2800" dirty="0">
                <a:latin typeface="+mj-lt"/>
              </a:rPr>
              <a:t>: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Dante Alighieri - str.68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r>
              <a:rPr lang="cs-CZ" sz="2800" dirty="0">
                <a:latin typeface="+mj-lt"/>
              </a:rPr>
              <a:t>G. </a:t>
            </a:r>
            <a:r>
              <a:rPr lang="cs-CZ" sz="2800" dirty="0" err="1">
                <a:latin typeface="+mj-lt"/>
              </a:rPr>
              <a:t>Boccaccio</a:t>
            </a:r>
            <a:r>
              <a:rPr lang="cs-CZ" sz="2800" dirty="0">
                <a:latin typeface="+mj-lt"/>
              </a:rPr>
              <a:t> - str.69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endParaRPr lang="cs-CZ" sz="2800" dirty="0">
              <a:latin typeface="+mj-lt"/>
            </a:endParaRPr>
          </a:p>
          <a:p>
            <a:r>
              <a:rPr lang="cs-CZ" sz="2800" dirty="0">
                <a:latin typeface="+mj-lt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539552" y="1052736"/>
            <a:ext cx="84249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F. Villon - str.73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r>
              <a:rPr lang="cs-CZ" sz="2800" dirty="0">
                <a:latin typeface="+mj-lt"/>
              </a:rPr>
              <a:t>F. </a:t>
            </a:r>
            <a:r>
              <a:rPr lang="cs-CZ" sz="2800" dirty="0" err="1">
                <a:latin typeface="+mj-lt"/>
              </a:rPr>
              <a:t>Rabelais</a:t>
            </a:r>
            <a:r>
              <a:rPr lang="cs-CZ" sz="2800" dirty="0">
                <a:latin typeface="+mj-lt"/>
              </a:rPr>
              <a:t> - str. 74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r>
              <a:rPr lang="cs-CZ" sz="2800" dirty="0">
                <a:latin typeface="+mj-lt"/>
              </a:rPr>
              <a:t>M. de Cervantes y </a:t>
            </a:r>
            <a:r>
              <a:rPr lang="cs-CZ" sz="2800" dirty="0" err="1">
                <a:latin typeface="+mj-lt"/>
              </a:rPr>
              <a:t>Saavedra</a:t>
            </a:r>
            <a:r>
              <a:rPr lang="cs-CZ" sz="2800" dirty="0">
                <a:latin typeface="+mj-lt"/>
              </a:rPr>
              <a:t> - str.77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r>
              <a:rPr lang="cs-CZ" sz="2800" dirty="0">
                <a:latin typeface="+mj-lt"/>
              </a:rPr>
              <a:t>W. Shakespeare - str. 79 </a:t>
            </a:r>
            <a:r>
              <a:rPr lang="cs-CZ" sz="2800" dirty="0" err="1">
                <a:latin typeface="+mj-lt"/>
              </a:rPr>
              <a:t>an</a:t>
            </a:r>
            <a:r>
              <a:rPr lang="cs-CZ" sz="2800" dirty="0">
                <a:latin typeface="+mj-lt"/>
              </a:rPr>
              <a:t>.</a:t>
            </a:r>
          </a:p>
          <a:p>
            <a:endParaRPr lang="cs-CZ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068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ovéPole 4"/>
          <p:cNvSpPr txBox="1"/>
          <p:nvPr/>
        </p:nvSpPr>
        <p:spPr>
          <a:xfrm>
            <a:off x="251520" y="764704"/>
            <a:ext cx="8533456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Základní otázky pro zopakování :</a:t>
            </a:r>
          </a:p>
          <a:p>
            <a:endParaRPr lang="cs-CZ" sz="32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  <a:p>
            <a:pPr marL="514350" indent="-514350">
              <a:buAutoNum type="arabicPeriod"/>
            </a:pPr>
            <a:r>
              <a:rPr lang="cs-CZ" sz="2800" dirty="0">
                <a:latin typeface="+mj-lt"/>
              </a:rPr>
              <a:t>Vyjmenujte autory světové renesanční literatury.</a:t>
            </a:r>
          </a:p>
          <a:p>
            <a:pPr marL="514350" indent="-514350">
              <a:buAutoNum type="arabicPeriod"/>
            </a:pPr>
            <a:r>
              <a:rPr lang="cs-CZ" sz="2800" dirty="0">
                <a:latin typeface="+mj-lt"/>
              </a:rPr>
              <a:t>Kdo je hl. postavou Božské komedie? Kudy provádí</a:t>
            </a:r>
          </a:p>
          <a:p>
            <a:pPr marL="514350" indent="-514350"/>
            <a:r>
              <a:rPr lang="cs-CZ" sz="2800" dirty="0">
                <a:latin typeface="+mj-lt"/>
              </a:rPr>
              <a:t>       autora Vergilius? Které renesanční rysy mají díla dalších italských autorů?</a:t>
            </a:r>
          </a:p>
          <a:p>
            <a:pPr marL="514350" indent="-514350">
              <a:buAutoNum type="arabicPeriod" startAt="3"/>
            </a:pPr>
            <a:r>
              <a:rPr lang="cs-CZ" sz="2800" dirty="0">
                <a:latin typeface="+mj-lt"/>
              </a:rPr>
              <a:t>Proč je F. Villon nazýván prokletým básníkem? Která jeho díla znáte?</a:t>
            </a:r>
          </a:p>
          <a:p>
            <a:pPr marL="514350" indent="-514350">
              <a:buAutoNum type="arabicPeriod" startAt="3"/>
            </a:pPr>
            <a:r>
              <a:rPr lang="cs-CZ" sz="2800" dirty="0">
                <a:latin typeface="+mj-lt"/>
              </a:rPr>
              <a:t>Co kritizuje román </a:t>
            </a:r>
            <a:r>
              <a:rPr lang="cs-CZ" sz="2800" dirty="0" err="1">
                <a:latin typeface="+mj-lt"/>
              </a:rPr>
              <a:t>Gargantua</a:t>
            </a:r>
            <a:r>
              <a:rPr lang="cs-CZ" sz="2800" dirty="0">
                <a:latin typeface="+mj-lt"/>
              </a:rPr>
              <a:t> a </a:t>
            </a:r>
            <a:r>
              <a:rPr lang="cs-CZ" sz="2800" dirty="0" err="1">
                <a:latin typeface="+mj-lt"/>
              </a:rPr>
              <a:t>Pantagruel</a:t>
            </a:r>
            <a:r>
              <a:rPr lang="cs-CZ" sz="2800" dirty="0">
                <a:latin typeface="+mj-lt"/>
              </a:rPr>
              <a:t>? </a:t>
            </a:r>
          </a:p>
          <a:p>
            <a:pPr marL="514350" indent="-514350">
              <a:buAutoNum type="arabicPeriod" startAt="3"/>
            </a:pPr>
            <a:r>
              <a:rPr lang="cs-CZ" sz="2800" dirty="0">
                <a:latin typeface="+mj-lt"/>
              </a:rPr>
              <a:t>Kterým lidským typem je don Quijote? Čím se od něho liší </a:t>
            </a:r>
            <a:r>
              <a:rPr lang="cs-CZ" sz="2800" dirty="0" err="1">
                <a:latin typeface="+mj-lt"/>
              </a:rPr>
              <a:t>Sancho</a:t>
            </a:r>
            <a:r>
              <a:rPr lang="cs-CZ" sz="2800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Panza</a:t>
            </a:r>
            <a:r>
              <a:rPr lang="cs-CZ" sz="2800" dirty="0">
                <a:latin typeface="+mj-lt"/>
              </a:rPr>
              <a:t>? V čem je smysl díla?</a:t>
            </a:r>
          </a:p>
          <a:p>
            <a:pPr marL="514350" indent="-514350">
              <a:buAutoNum type="arabicPeriod" startAt="3"/>
            </a:pPr>
            <a:r>
              <a:rPr lang="cs-CZ" sz="2800" dirty="0">
                <a:latin typeface="+mj-lt"/>
              </a:rPr>
              <a:t>Pojmenujte dramatický žánr hry Romeo a Julie. Které jiné žánry dramatu znáte? Čím se liší? Které události </a:t>
            </a:r>
          </a:p>
          <a:p>
            <a:pPr marL="514350" indent="-514350"/>
            <a:r>
              <a:rPr lang="cs-CZ" sz="2800" dirty="0">
                <a:latin typeface="+mj-lt"/>
              </a:rPr>
              <a:t>     </a:t>
            </a:r>
          </a:p>
          <a:p>
            <a:pPr marL="514350" indent="-514350">
              <a:buAutoNum type="arabicPeriod"/>
            </a:pPr>
            <a:endParaRPr lang="cs-CZ" sz="2800" dirty="0"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ovéPole 3"/>
          <p:cNvSpPr txBox="1"/>
          <p:nvPr/>
        </p:nvSpPr>
        <p:spPr>
          <a:xfrm>
            <a:off x="611560" y="980728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latin typeface="+mj-lt"/>
              </a:rPr>
              <a:t>a jevy byly u Shakespeara příčinou tragédií? Uveďte   nejznámější Shakespearovy hry.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539552" y="980728"/>
            <a:ext cx="842493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b="1" dirty="0">
                <a:latin typeface="+mj-lt"/>
              </a:rPr>
              <a:t> Zdroje :</a:t>
            </a:r>
          </a:p>
          <a:p>
            <a:endParaRPr lang="cs-CZ" sz="3600" b="1" dirty="0">
              <a:latin typeface="+mj-lt"/>
            </a:endParaRPr>
          </a:p>
          <a:p>
            <a:r>
              <a:rPr lang="cs-CZ" sz="3600" b="1" dirty="0">
                <a:latin typeface="+mj-lt"/>
              </a:rPr>
              <a:t> </a:t>
            </a:r>
            <a:r>
              <a:rPr lang="cs-CZ" sz="2800" dirty="0">
                <a:latin typeface="+mj-lt"/>
              </a:rPr>
              <a:t>Prokop, V.: Dějiny literatury od starověku do počátku</a:t>
            </a:r>
          </a:p>
          <a:p>
            <a:r>
              <a:rPr lang="cs-CZ" sz="2800" dirty="0">
                <a:latin typeface="+mj-lt"/>
              </a:rPr>
              <a:t>                     19. století. O.K.- Soft</a:t>
            </a:r>
            <a:r>
              <a:rPr lang="cs-CZ" sz="2800">
                <a:latin typeface="+mj-lt"/>
              </a:rPr>
              <a:t>, Sokolov 2005.</a:t>
            </a:r>
            <a:endParaRPr lang="cs-CZ" sz="2800" dirty="0">
              <a:latin typeface="+mj-lt"/>
            </a:endParaRPr>
          </a:p>
          <a:p>
            <a:endParaRPr lang="cs-CZ" sz="3600" b="1" dirty="0">
              <a:latin typeface="+mj-lt"/>
            </a:endParaRPr>
          </a:p>
          <a:p>
            <a:r>
              <a:rPr lang="cs-CZ" sz="3600" b="1" dirty="0">
                <a:latin typeface="+mj-lt"/>
              </a:rPr>
              <a:t> </a:t>
            </a:r>
            <a:r>
              <a:rPr lang="cs-CZ" sz="2800" dirty="0" err="1">
                <a:latin typeface="+mj-lt"/>
              </a:rPr>
              <a:t>Sochrová</a:t>
            </a:r>
            <a:r>
              <a:rPr lang="cs-CZ" sz="2800" dirty="0">
                <a:latin typeface="+mj-lt"/>
              </a:rPr>
              <a:t>, M.: Čítanka I. k literatuře v kostce. Fragment,</a:t>
            </a:r>
          </a:p>
          <a:p>
            <a:r>
              <a:rPr lang="cs-CZ" sz="2800" dirty="0">
                <a:latin typeface="+mj-lt"/>
              </a:rPr>
              <a:t>                           Havlíčkův Brod 2004.</a:t>
            </a:r>
          </a:p>
          <a:p>
            <a:r>
              <a:rPr lang="cs-CZ" sz="2800" dirty="0">
                <a:latin typeface="+mj-lt"/>
              </a:rPr>
              <a:t> </a:t>
            </a:r>
          </a:p>
          <a:p>
            <a:endParaRPr lang="cs-CZ" sz="3600" b="1" dirty="0">
              <a:latin typeface="+mj-lt"/>
            </a:endParaRPr>
          </a:p>
          <a:p>
            <a:endParaRPr lang="cs-CZ" sz="3600" b="1" dirty="0">
              <a:latin typeface="+mj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/>
          <p:cNvSpPr/>
          <p:nvPr/>
        </p:nvSpPr>
        <p:spPr>
          <a:xfrm>
            <a:off x="683568" y="1628800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wikimedia.org</a:t>
            </a:r>
            <a:r>
              <a:rPr lang="cs-CZ" sz="1100" dirty="0"/>
              <a:t> [online]. [cit. 18.11.2013]. Dostupný na WWW: http://cs.wikipedia.org/wiki/Soubor:Portrait_de_Dante.jpg</a:t>
            </a:r>
          </a:p>
        </p:txBody>
      </p:sp>
      <p:sp>
        <p:nvSpPr>
          <p:cNvPr id="6" name="Obdélník 5"/>
          <p:cNvSpPr/>
          <p:nvPr/>
        </p:nvSpPr>
        <p:spPr>
          <a:xfrm>
            <a:off x="1763688" y="836712"/>
            <a:ext cx="18335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cs-CZ" sz="3200" b="1" cap="none" spc="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Obrázky</a:t>
            </a:r>
          </a:p>
        </p:txBody>
      </p:sp>
      <p:sp>
        <p:nvSpPr>
          <p:cNvPr id="4" name="Obdélník 3"/>
          <p:cNvSpPr/>
          <p:nvPr/>
        </p:nvSpPr>
        <p:spPr>
          <a:xfrm>
            <a:off x="683568" y="2060848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cojeco.cz</a:t>
            </a:r>
            <a:r>
              <a:rPr lang="cs-CZ" sz="1100" dirty="0"/>
              <a:t> [online]. [cit. 28.11.2013]. Dostupný na WWW: http://www.</a:t>
            </a:r>
            <a:r>
              <a:rPr lang="cs-CZ" sz="1100" dirty="0" err="1"/>
              <a:t>cojeco.cz</a:t>
            </a:r>
            <a:r>
              <a:rPr lang="cs-CZ" sz="1100" dirty="0"/>
              <a:t>/index.</a:t>
            </a:r>
            <a:r>
              <a:rPr lang="cs-CZ" sz="1100" dirty="0" err="1"/>
              <a:t>php</a:t>
            </a:r>
            <a:r>
              <a:rPr lang="cs-CZ" sz="1100" dirty="0"/>
              <a:t>?detail=1&amp;id_</a:t>
            </a:r>
            <a:r>
              <a:rPr lang="cs-CZ" sz="1100" dirty="0" err="1"/>
              <a:t>desc</a:t>
            </a:r>
            <a:r>
              <a:rPr lang="cs-CZ" sz="1100" dirty="0"/>
              <a:t>=72252</a:t>
            </a:r>
          </a:p>
        </p:txBody>
      </p:sp>
      <p:sp>
        <p:nvSpPr>
          <p:cNvPr id="7" name="Obdélník 6"/>
          <p:cNvSpPr/>
          <p:nvPr/>
        </p:nvSpPr>
        <p:spPr>
          <a:xfrm>
            <a:off x="683568" y="2492896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biografiasyvidas.com</a:t>
            </a:r>
            <a:r>
              <a:rPr lang="cs-CZ" sz="1100" dirty="0"/>
              <a:t> [online]. [cit. 28.11.2013]. Dostupný na WWW: http://www.</a:t>
            </a:r>
            <a:r>
              <a:rPr lang="cs-CZ" sz="1100" dirty="0" err="1"/>
              <a:t>biografiasyvidas.com</a:t>
            </a:r>
            <a:r>
              <a:rPr lang="cs-CZ" sz="1100" dirty="0"/>
              <a:t>/</a:t>
            </a:r>
            <a:r>
              <a:rPr lang="cs-CZ" sz="1100" dirty="0" err="1"/>
              <a:t>biografia</a:t>
            </a:r>
            <a:r>
              <a:rPr lang="cs-CZ" sz="1100" dirty="0"/>
              <a:t>/b/</a:t>
            </a:r>
            <a:r>
              <a:rPr lang="cs-CZ" sz="1100" dirty="0" err="1"/>
              <a:t>boccaccio.htm</a:t>
            </a:r>
            <a:endParaRPr lang="cs-CZ" sz="1100" dirty="0"/>
          </a:p>
        </p:txBody>
      </p:sp>
      <p:sp>
        <p:nvSpPr>
          <p:cNvPr id="8" name="Obdélník 7"/>
          <p:cNvSpPr/>
          <p:nvPr/>
        </p:nvSpPr>
        <p:spPr>
          <a:xfrm>
            <a:off x="683568" y="3068960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28.11.2013]. Dostupný na WWW: http://cs.wikipedia.org/wiki/Soubor:Waterhouse_decameron.jpg</a:t>
            </a:r>
          </a:p>
        </p:txBody>
      </p:sp>
      <p:sp>
        <p:nvSpPr>
          <p:cNvPr id="10" name="Obdélník 9"/>
          <p:cNvSpPr/>
          <p:nvPr/>
        </p:nvSpPr>
        <p:spPr>
          <a:xfrm>
            <a:off x="683568" y="5949280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28.11.2013]. Dostupný na WWW: http://commons.wikimedia.org/wiki/File:Pantagruel01.jpg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683568" y="5013176"/>
            <a:ext cx="4572000" cy="9387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28.11.2013]. Dostupný na WWW: http://upload.wikimedia.org/wikipedia/commons/6/69/Fran%C3%A7ois_Rabelais%2C_Gargantua%2C_Lyon%2C_Denis_de_Harsy%2C_1537.jpg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683568" y="443711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inspiritoo.com</a:t>
            </a:r>
            <a:r>
              <a:rPr lang="cs-CZ" sz="1100" dirty="0"/>
              <a:t> [online]. [cit. 28.11.2013]. Dostupný na WWW: http://inspiritoo.com/famous-quotes-from-quotezuki-online.html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683568" y="371703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biography.com</a:t>
            </a:r>
            <a:r>
              <a:rPr lang="cs-CZ" sz="1100" dirty="0"/>
              <a:t> [online]. [cit. 2.12.2013]. Dostupný na WWW: http://www.</a:t>
            </a:r>
            <a:r>
              <a:rPr lang="cs-CZ" sz="1100" dirty="0" err="1"/>
              <a:t>biography.com</a:t>
            </a:r>
            <a:r>
              <a:rPr lang="cs-CZ" sz="1100" dirty="0"/>
              <a:t>/</a:t>
            </a:r>
            <a:r>
              <a:rPr lang="cs-CZ" sz="1100" dirty="0" err="1"/>
              <a:t>people</a:t>
            </a:r>
            <a:r>
              <a:rPr lang="cs-CZ" sz="1100" dirty="0"/>
              <a:t>/</a:t>
            </a:r>
            <a:r>
              <a:rPr lang="cs-CZ" sz="1100" dirty="0" err="1"/>
              <a:t>fran</a:t>
            </a:r>
            <a:r>
              <a:rPr lang="cs-CZ" sz="1100" dirty="0"/>
              <a:t>%C3%A7ois-</a:t>
            </a:r>
            <a:r>
              <a:rPr lang="cs-CZ" sz="1100" dirty="0" err="1"/>
              <a:t>villon</a:t>
            </a:r>
            <a:r>
              <a:rPr lang="cs-CZ" sz="1100" dirty="0"/>
              <a:t>-38551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611560" y="908720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faromundi.org</a:t>
            </a:r>
            <a:r>
              <a:rPr lang="cs-CZ" sz="1100" dirty="0"/>
              <a:t> [online]. [cit. 2.12.2013]. Dostupný na WWW: http://www.</a:t>
            </a:r>
            <a:r>
              <a:rPr lang="cs-CZ" sz="1100" dirty="0" err="1"/>
              <a:t>faromundi.org.do</a:t>
            </a:r>
            <a:r>
              <a:rPr lang="cs-CZ" sz="1100" dirty="0"/>
              <a:t>/2010/04/don-</a:t>
            </a:r>
            <a:r>
              <a:rPr lang="cs-CZ" sz="1100" dirty="0" err="1"/>
              <a:t>quijote</a:t>
            </a:r>
            <a:r>
              <a:rPr lang="cs-CZ" sz="1100" dirty="0"/>
              <a:t>-de-la-</a:t>
            </a:r>
            <a:r>
              <a:rPr lang="cs-CZ" sz="1100" dirty="0" err="1"/>
              <a:t>mancha</a:t>
            </a:r>
            <a:r>
              <a:rPr lang="cs-CZ" sz="1100" dirty="0"/>
              <a:t>-</a:t>
            </a:r>
            <a:r>
              <a:rPr lang="cs-CZ" sz="1100" dirty="0" err="1"/>
              <a:t>una</a:t>
            </a:r>
            <a:r>
              <a:rPr lang="cs-CZ" sz="1100" dirty="0"/>
              <a:t>-</a:t>
            </a:r>
            <a:r>
              <a:rPr lang="cs-CZ" sz="1100" dirty="0" err="1"/>
              <a:t>perspectiva</a:t>
            </a:r>
            <a:r>
              <a:rPr lang="cs-CZ" sz="1100" dirty="0"/>
              <a:t>-</a:t>
            </a:r>
            <a:r>
              <a:rPr lang="cs-CZ" sz="1100" dirty="0" err="1"/>
              <a:t>interdisciplinaria</a:t>
            </a:r>
            <a:r>
              <a:rPr lang="cs-CZ" sz="1100" dirty="0"/>
              <a:t>/don-</a:t>
            </a:r>
            <a:r>
              <a:rPr lang="cs-CZ" sz="1100" dirty="0" err="1"/>
              <a:t>quijote</a:t>
            </a:r>
            <a:r>
              <a:rPr lang="cs-CZ" sz="1100" dirty="0"/>
              <a:t>-</a:t>
            </a:r>
            <a:r>
              <a:rPr lang="cs-CZ" sz="1100" dirty="0" err="1"/>
              <a:t>mancha</a:t>
            </a:r>
            <a:r>
              <a:rPr lang="cs-CZ" sz="1100" dirty="0"/>
              <a:t>-16736822c2/</a:t>
            </a:r>
          </a:p>
        </p:txBody>
      </p:sp>
      <p:sp>
        <p:nvSpPr>
          <p:cNvPr id="5" name="Obdélník 4"/>
          <p:cNvSpPr/>
          <p:nvPr/>
        </p:nvSpPr>
        <p:spPr>
          <a:xfrm>
            <a:off x="611560" y="1700808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servetolead.org</a:t>
            </a:r>
            <a:r>
              <a:rPr lang="cs-CZ" sz="1100" dirty="0"/>
              <a:t> [online]. [cit. 2.12.2013]. Dostupný na WWW: http://servetolead.org/miguel-cervantes-life-like-coin/</a:t>
            </a:r>
          </a:p>
        </p:txBody>
      </p:sp>
      <p:sp>
        <p:nvSpPr>
          <p:cNvPr id="6" name="Obdélník 5"/>
          <p:cNvSpPr/>
          <p:nvPr/>
        </p:nvSpPr>
        <p:spPr>
          <a:xfrm>
            <a:off x="611560" y="2204864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100" dirty="0"/>
              <a:t>AUTOR NEUVEDEN. </a:t>
            </a:r>
            <a:r>
              <a:rPr lang="pt-BR" sz="1100" i="1" dirty="0"/>
              <a:t>http://theshakespeareblog.com</a:t>
            </a:r>
            <a:r>
              <a:rPr lang="pt-BR" sz="1100" dirty="0"/>
              <a:t> [online]. [cit. 2.12.2013]. Dostupný na WWW: http://theshakespeareblog.com/</a:t>
            </a:r>
            <a:endParaRPr lang="cs-CZ" sz="1100" dirty="0"/>
          </a:p>
        </p:txBody>
      </p:sp>
      <p:sp>
        <p:nvSpPr>
          <p:cNvPr id="7" name="Obdélník 6"/>
          <p:cNvSpPr/>
          <p:nvPr/>
        </p:nvSpPr>
        <p:spPr>
          <a:xfrm>
            <a:off x="611560" y="2636912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/>
              <a:t>ego4u.com</a:t>
            </a:r>
            <a:r>
              <a:rPr lang="cs-CZ" sz="1100" dirty="0"/>
              <a:t> [online]. [cit. 2.12.2013]. Dostupný na WWW: http://www.ego4u.com/</a:t>
            </a:r>
            <a:r>
              <a:rPr lang="cs-CZ" sz="1100" dirty="0" err="1"/>
              <a:t>en</a:t>
            </a:r>
            <a:r>
              <a:rPr lang="cs-CZ" sz="1100" dirty="0"/>
              <a:t>/</a:t>
            </a:r>
            <a:r>
              <a:rPr lang="cs-CZ" sz="1100" dirty="0" err="1"/>
              <a:t>read</a:t>
            </a:r>
            <a:r>
              <a:rPr lang="cs-CZ" sz="1100" dirty="0"/>
              <a:t>-on/</a:t>
            </a:r>
            <a:r>
              <a:rPr lang="cs-CZ" sz="1100" dirty="0" err="1"/>
              <a:t>countries</a:t>
            </a:r>
            <a:r>
              <a:rPr lang="cs-CZ" sz="1100" dirty="0"/>
              <a:t>/</a:t>
            </a:r>
            <a:r>
              <a:rPr lang="cs-CZ" sz="1100" dirty="0" err="1"/>
              <a:t>uk</a:t>
            </a:r>
            <a:r>
              <a:rPr lang="cs-CZ" sz="1100" dirty="0"/>
              <a:t>/</a:t>
            </a:r>
            <a:r>
              <a:rPr lang="cs-CZ" sz="1100" dirty="0" err="1"/>
              <a:t>london</a:t>
            </a:r>
            <a:r>
              <a:rPr lang="cs-CZ" sz="1100" dirty="0"/>
              <a:t>/globe-</a:t>
            </a:r>
            <a:r>
              <a:rPr lang="cs-CZ" sz="1100" dirty="0" err="1"/>
              <a:t>theatre</a:t>
            </a:r>
            <a:endParaRPr lang="cs-CZ" sz="1100" dirty="0"/>
          </a:p>
        </p:txBody>
      </p:sp>
      <p:sp>
        <p:nvSpPr>
          <p:cNvPr id="8" name="Obdélník 7"/>
          <p:cNvSpPr/>
          <p:nvPr/>
        </p:nvSpPr>
        <p:spPr>
          <a:xfrm>
            <a:off x="611560" y="3212976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/>
              <a:t>AUTOR NEUVEDEN. </a:t>
            </a:r>
            <a:r>
              <a:rPr lang="en-US" sz="1100" i="1" dirty="0"/>
              <a:t>athenalearning.com</a:t>
            </a:r>
            <a:r>
              <a:rPr lang="en-US" sz="1100" dirty="0"/>
              <a:t> [online]. [cit. 2.12.2013]. </a:t>
            </a:r>
            <a:r>
              <a:rPr lang="en-US" sz="1100" dirty="0" err="1"/>
              <a:t>Dostupný</a:t>
            </a:r>
            <a:r>
              <a:rPr lang="en-US" sz="1100" dirty="0"/>
              <a:t> </a:t>
            </a:r>
            <a:r>
              <a:rPr lang="en-US" sz="1100" dirty="0" err="1"/>
              <a:t>na</a:t>
            </a:r>
            <a:r>
              <a:rPr lang="en-US" sz="1100" dirty="0"/>
              <a:t> WWW: http://www.athenalearning.com/programs/playing-shakespeare/interactive-globe-theatre</a:t>
            </a:r>
            <a:endParaRPr lang="cs-CZ" sz="1100" dirty="0"/>
          </a:p>
        </p:txBody>
      </p:sp>
      <p:sp>
        <p:nvSpPr>
          <p:cNvPr id="9" name="Obdélník 8"/>
          <p:cNvSpPr/>
          <p:nvPr/>
        </p:nvSpPr>
        <p:spPr>
          <a:xfrm>
            <a:off x="611560" y="4005064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2.12.2013]. Dostupný na WWW: http://en.wikipedia.org/wiki/File:Elizabeth_I_(Armada_Portrait).jpg</a:t>
            </a:r>
          </a:p>
        </p:txBody>
      </p:sp>
      <p:sp>
        <p:nvSpPr>
          <p:cNvPr id="10" name="Obdélník 9"/>
          <p:cNvSpPr/>
          <p:nvPr/>
        </p:nvSpPr>
        <p:spPr>
          <a:xfrm>
            <a:off x="611560" y="4581128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2.12.2013]. Dostupný na WWW: http://en.wikipedia.org/wiki/File:Eug%C3%A8ne_Ferdinand_Victor_Delacroix_018.jpg</a:t>
            </a:r>
          </a:p>
        </p:txBody>
      </p:sp>
      <p:sp>
        <p:nvSpPr>
          <p:cNvPr id="11" name="Obdélník 10"/>
          <p:cNvSpPr/>
          <p:nvPr/>
        </p:nvSpPr>
        <p:spPr>
          <a:xfrm>
            <a:off x="611560" y="5373216"/>
            <a:ext cx="4572000" cy="6001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2.12.2013]. Dostupný na WWW: http://cs.wikipedia.org/wiki/Soubor:Romeo-and-Juliet-toy-theatre-cut-outs.png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611560" y="6021288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cs-CZ" sz="1100" dirty="0"/>
              <a:t>AUTOR NEUVEDEN. </a:t>
            </a:r>
            <a:r>
              <a:rPr lang="cs-CZ" sz="1100" i="1" dirty="0" err="1"/>
              <a:t>wikipedia.org</a:t>
            </a:r>
            <a:r>
              <a:rPr lang="cs-CZ" sz="1100" dirty="0"/>
              <a:t> [online]. [cit. 2.12.2013]. Dostupný na WWW: http://cs.wikipedia.org/wiki/Soubor:Romeoandjuliet1597.jpg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ok">
  <a:themeElements>
    <a:clrScheme name="Tok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Tok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ok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469</TotalTime>
  <Words>1734</Words>
  <Application>Microsoft Office PowerPoint</Application>
  <PresentationFormat>Předvádění na obrazovce (4:3)</PresentationFormat>
  <Paragraphs>159</Paragraphs>
  <Slides>25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Constantia</vt:lpstr>
      <vt:lpstr>Wingdings 2</vt:lpstr>
      <vt:lpstr>Tok</vt:lpstr>
      <vt:lpstr>Humanismus a renesance</vt:lpstr>
      <vt:lpstr>Renesanční literatura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Humanismus a renesance</dc:title>
  <dc:creator>pracovna</dc:creator>
  <cp:lastModifiedBy>Věra Hanáková</cp:lastModifiedBy>
  <cp:revision>55</cp:revision>
  <dcterms:created xsi:type="dcterms:W3CDTF">2013-11-18T17:19:04Z</dcterms:created>
  <dcterms:modified xsi:type="dcterms:W3CDTF">2024-02-11T17:03:21Z</dcterms:modified>
</cp:coreProperties>
</file>