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4" r:id="rId25"/>
    <p:sldId id="279" r:id="rId26"/>
    <p:sldId id="280" r:id="rId27"/>
    <p:sldId id="281" r:id="rId28"/>
    <p:sldId id="282" r:id="rId29"/>
    <p:sldId id="283" r:id="rId30"/>
    <p:sldId id="285" r:id="rId31"/>
    <p:sldId id="286" r:id="rId32"/>
    <p:sldId id="287" r:id="rId33"/>
    <p:sldId id="288" r:id="rId34"/>
    <p:sldId id="289" r:id="rId35"/>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0F1F516-3FA7-479F-A391-BA524D9C4329}"/>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4DB4480C-2B22-4E28-831E-B65FFDB4A5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89C31351-3732-4E5D-B1E8-4BFD452B0B4A}"/>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5" name="Zástupný symbol pro zápatí 4">
            <a:extLst>
              <a:ext uri="{FF2B5EF4-FFF2-40B4-BE49-F238E27FC236}">
                <a16:creationId xmlns:a16="http://schemas.microsoft.com/office/drawing/2014/main" id="{F43CA617-2123-4A0B-B072-A9B21F495C12}"/>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11A8E37-D88C-47D6-A946-64F401F33858}"/>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202837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4F8E7B0-7B7D-4FFD-B10C-93B8CEFB1606}"/>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7A60FC86-3F13-4921-874E-CF213DE61D70}"/>
              </a:ext>
            </a:extLst>
          </p:cNvPr>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DD71D813-C9F2-429B-BFE6-E77BF8927574}"/>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5" name="Zástupný symbol pro zápatí 4">
            <a:extLst>
              <a:ext uri="{FF2B5EF4-FFF2-40B4-BE49-F238E27FC236}">
                <a16:creationId xmlns:a16="http://schemas.microsoft.com/office/drawing/2014/main" id="{1FF3B275-1023-4216-8A78-45B0A5877F08}"/>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F6A54A6A-C265-4BEF-AD54-3555B959AD28}"/>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562745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2795570-0A9F-4B7C-9FC4-2BF27885EB48}"/>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a:extLst>
              <a:ext uri="{FF2B5EF4-FFF2-40B4-BE49-F238E27FC236}">
                <a16:creationId xmlns:a16="http://schemas.microsoft.com/office/drawing/2014/main" id="{A2A7BDE8-7522-4CA1-863B-D97F4C2916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a:extLst>
              <a:ext uri="{FF2B5EF4-FFF2-40B4-BE49-F238E27FC236}">
                <a16:creationId xmlns:a16="http://schemas.microsoft.com/office/drawing/2014/main" id="{2C9C574F-B913-4AC0-98DB-155B86AE7172}"/>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5" name="Zástupný symbol pro zápatí 4">
            <a:extLst>
              <a:ext uri="{FF2B5EF4-FFF2-40B4-BE49-F238E27FC236}">
                <a16:creationId xmlns:a16="http://schemas.microsoft.com/office/drawing/2014/main" id="{748F7961-266C-49B5-819D-248B48764A73}"/>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4E8D2391-2D56-4DDA-B1E5-EFF67E2B482D}"/>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585168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47B7EFC-D2AD-4655-99E2-72EDBC3FB6D6}"/>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A228DDC8-21C4-4585-89CE-182B273DD707}"/>
              </a:ext>
            </a:extLst>
          </p:cNvPr>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a:extLst>
              <a:ext uri="{FF2B5EF4-FFF2-40B4-BE49-F238E27FC236}">
                <a16:creationId xmlns:a16="http://schemas.microsoft.com/office/drawing/2014/main" id="{94B12710-56FD-4AD9-8C45-B93374971D12}"/>
              </a:ext>
            </a:extLst>
          </p:cNvPr>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CD76B0A2-6E49-4996-83C5-B8A1FAE5F1CA}"/>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6" name="Zástupný symbol pro zápatí 5">
            <a:extLst>
              <a:ext uri="{FF2B5EF4-FFF2-40B4-BE49-F238E27FC236}">
                <a16:creationId xmlns:a16="http://schemas.microsoft.com/office/drawing/2014/main" id="{AF184809-A0FC-4480-9C44-422C4D9131A0}"/>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4E937E27-3C3B-4504-8EAC-E95DC5410811}"/>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3682173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F1683EF-4F5B-4786-B4B5-5DC254B7BC2F}"/>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a:extLst>
              <a:ext uri="{FF2B5EF4-FFF2-40B4-BE49-F238E27FC236}">
                <a16:creationId xmlns:a16="http://schemas.microsoft.com/office/drawing/2014/main" id="{8F67A8E9-F70F-4ABB-8B19-C2CB11FDFD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a:extLst>
              <a:ext uri="{FF2B5EF4-FFF2-40B4-BE49-F238E27FC236}">
                <a16:creationId xmlns:a16="http://schemas.microsoft.com/office/drawing/2014/main" id="{866148F2-C980-4802-8199-05A9E68897F1}"/>
              </a:ext>
            </a:extLst>
          </p:cNvPr>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a:extLst>
              <a:ext uri="{FF2B5EF4-FFF2-40B4-BE49-F238E27FC236}">
                <a16:creationId xmlns:a16="http://schemas.microsoft.com/office/drawing/2014/main" id="{FFCE2494-7DCF-49D3-AD20-060E87D794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a:extLst>
              <a:ext uri="{FF2B5EF4-FFF2-40B4-BE49-F238E27FC236}">
                <a16:creationId xmlns:a16="http://schemas.microsoft.com/office/drawing/2014/main" id="{692997B2-DCDA-4FBD-AC75-D991201DD45D}"/>
              </a:ext>
            </a:extLst>
          </p:cNvPr>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604740D6-57BD-4FCA-81C3-62DB6379FE7A}"/>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8" name="Zástupný symbol pro zápatí 7">
            <a:extLst>
              <a:ext uri="{FF2B5EF4-FFF2-40B4-BE49-F238E27FC236}">
                <a16:creationId xmlns:a16="http://schemas.microsoft.com/office/drawing/2014/main" id="{1548762D-90F2-494C-A6CA-4F37F16875C9}"/>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368F7C55-CEE8-4A3D-8247-BE9ED7633FB6}"/>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2139750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6D45450-A1D1-4A88-8E9F-BC907175DFA1}"/>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66EFE6CD-4D15-4C42-A522-BD8B3C42B335}"/>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4" name="Zástupný symbol pro zápatí 3">
            <a:extLst>
              <a:ext uri="{FF2B5EF4-FFF2-40B4-BE49-F238E27FC236}">
                <a16:creationId xmlns:a16="http://schemas.microsoft.com/office/drawing/2014/main" id="{6D9596D7-DBA3-41C0-A3E4-5E29D3CC7480}"/>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A671A0CC-D6F6-4AD0-8C14-0FD1A3612A72}"/>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2836725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6BBD20A9-B53C-43F2-B7C5-A16045C858AA}"/>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3" name="Zástupný symbol pro zápatí 2">
            <a:extLst>
              <a:ext uri="{FF2B5EF4-FFF2-40B4-BE49-F238E27FC236}">
                <a16:creationId xmlns:a16="http://schemas.microsoft.com/office/drawing/2014/main" id="{FF4790B9-2796-4D25-B6D6-3108282B91B5}"/>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130FD7DD-39D1-44F2-BE73-505256C3AB61}"/>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1262896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8C0C201-8B49-47FD-A8BF-39C9C56580AD}"/>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a:extLst>
              <a:ext uri="{FF2B5EF4-FFF2-40B4-BE49-F238E27FC236}">
                <a16:creationId xmlns:a16="http://schemas.microsoft.com/office/drawing/2014/main" id="{1EEE634F-37D7-43BE-BEAB-05088CD19E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a:extLst>
              <a:ext uri="{FF2B5EF4-FFF2-40B4-BE49-F238E27FC236}">
                <a16:creationId xmlns:a16="http://schemas.microsoft.com/office/drawing/2014/main" id="{A3989C14-4FBA-4198-B540-8000C0D93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CE7BEFA2-EE80-43BE-ADA5-80D4C277185F}"/>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6" name="Zástupný symbol pro zápatí 5">
            <a:extLst>
              <a:ext uri="{FF2B5EF4-FFF2-40B4-BE49-F238E27FC236}">
                <a16:creationId xmlns:a16="http://schemas.microsoft.com/office/drawing/2014/main" id="{C9F5763B-A5AC-4227-AF8D-56FFA92FCE8B}"/>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F31F7737-2452-465A-8EF9-74A99916174D}"/>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796677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3C6A5B1-00E3-41D3-8CFF-5D0D3F4C1C4A}"/>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7C7A5FC9-7175-4A63-8560-3F71349B7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a:extLst>
              <a:ext uri="{FF2B5EF4-FFF2-40B4-BE49-F238E27FC236}">
                <a16:creationId xmlns:a16="http://schemas.microsoft.com/office/drawing/2014/main" id="{68B9368A-C8A3-472A-9DE8-3235E1E02E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92CF6D64-6E91-499E-BE89-E112BE80A854}"/>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6" name="Zástupný symbol pro zápatí 5">
            <a:extLst>
              <a:ext uri="{FF2B5EF4-FFF2-40B4-BE49-F238E27FC236}">
                <a16:creationId xmlns:a16="http://schemas.microsoft.com/office/drawing/2014/main" id="{C78D7EB8-B5A0-45FA-ADA2-F536CC6B51D5}"/>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0E660C0F-94B8-4834-9388-A8C3BE53BB50}"/>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2870838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4DEC7AD-A324-46B2-8788-4FCF695E28CA}"/>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802B0DA8-4C67-496C-9196-D6FE064BC9C8}"/>
              </a:ext>
            </a:extLst>
          </p:cNvPr>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04F9D73-54D6-4C56-AFB1-319BC02F8021}"/>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5" name="Zástupný symbol pro zápatí 4">
            <a:extLst>
              <a:ext uri="{FF2B5EF4-FFF2-40B4-BE49-F238E27FC236}">
                <a16:creationId xmlns:a16="http://schemas.microsoft.com/office/drawing/2014/main" id="{D2202E10-0603-4092-8185-B79683EDF2DC}"/>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D5F7854-10C6-410F-925A-FBFFC343C4D9}"/>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3878737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7C8CDB70-30EF-49C0-97F0-E9E5FF8DFC1B}"/>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6117E61B-6584-42C4-9763-FA680FD0E270}"/>
              </a:ext>
            </a:extLst>
          </p:cNvPr>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2316EDD2-BA21-44EC-AD5B-49D5BA759E08}"/>
              </a:ext>
            </a:extLst>
          </p:cNvPr>
          <p:cNvSpPr>
            <a:spLocks noGrp="1"/>
          </p:cNvSpPr>
          <p:nvPr>
            <p:ph type="dt" sz="half" idx="10"/>
          </p:nvPr>
        </p:nvSpPr>
        <p:spPr/>
        <p:txBody>
          <a:bodyPr/>
          <a:lstStyle/>
          <a:p>
            <a:fld id="{0F202E6D-F094-44DF-AF90-C4EFD1D06C78}" type="datetimeFigureOut">
              <a:rPr lang="cs-CZ" smtClean="0"/>
              <a:t>25.10.2017</a:t>
            </a:fld>
            <a:endParaRPr lang="cs-CZ"/>
          </a:p>
        </p:txBody>
      </p:sp>
      <p:sp>
        <p:nvSpPr>
          <p:cNvPr id="5" name="Zástupný symbol pro zápatí 4">
            <a:extLst>
              <a:ext uri="{FF2B5EF4-FFF2-40B4-BE49-F238E27FC236}">
                <a16:creationId xmlns:a16="http://schemas.microsoft.com/office/drawing/2014/main" id="{DA6D76BB-9A64-4D65-9188-8664B95AB3E3}"/>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260ED248-340D-49CB-8AFA-D852200BD974}"/>
              </a:ext>
            </a:extLst>
          </p:cNvPr>
          <p:cNvSpPr>
            <a:spLocks noGrp="1"/>
          </p:cNvSpPr>
          <p:nvPr>
            <p:ph type="sldNum" sz="quarter" idx="12"/>
          </p:nvPr>
        </p:nvSpPr>
        <p:spPr/>
        <p:txBody>
          <a:bodyPr/>
          <a:lstStyle/>
          <a:p>
            <a:fld id="{3C986ADA-7B24-4BFC-980B-66FBDF19F0BB}" type="slidenum">
              <a:rPr lang="cs-CZ" smtClean="0"/>
              <a:t>‹#›</a:t>
            </a:fld>
            <a:endParaRPr lang="cs-CZ"/>
          </a:p>
        </p:txBody>
      </p:sp>
    </p:spTree>
    <p:extLst>
      <p:ext uri="{BB962C8B-B14F-4D97-AF65-F5344CB8AC3E}">
        <p14:creationId xmlns:p14="http://schemas.microsoft.com/office/powerpoint/2010/main" val="3553517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9C307943-005E-4557-94DE-C87DF4044B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a:extLst>
              <a:ext uri="{FF2B5EF4-FFF2-40B4-BE49-F238E27FC236}">
                <a16:creationId xmlns:a16="http://schemas.microsoft.com/office/drawing/2014/main" id="{7C201B2B-B8B1-4C7E-A655-E67FF2A0D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9715012D-83B4-42E6-8860-795DE98885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202E6D-F094-44DF-AF90-C4EFD1D06C78}" type="datetimeFigureOut">
              <a:rPr lang="cs-CZ" smtClean="0"/>
              <a:t>25.10.2017</a:t>
            </a:fld>
            <a:endParaRPr lang="cs-CZ"/>
          </a:p>
        </p:txBody>
      </p:sp>
      <p:sp>
        <p:nvSpPr>
          <p:cNvPr id="5" name="Zástupný symbol pro zápatí 4">
            <a:extLst>
              <a:ext uri="{FF2B5EF4-FFF2-40B4-BE49-F238E27FC236}">
                <a16:creationId xmlns:a16="http://schemas.microsoft.com/office/drawing/2014/main" id="{125EB129-5BFD-47B1-BFF5-94D614B1D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1BD04F2D-75CE-4F55-9B68-6F5C3B7961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986ADA-7B24-4BFC-980B-66FBDF19F0BB}" type="slidenum">
              <a:rPr lang="cs-CZ" smtClean="0"/>
              <a:t>‹#›</a:t>
            </a:fld>
            <a:endParaRPr lang="cs-CZ"/>
          </a:p>
        </p:txBody>
      </p:sp>
    </p:spTree>
    <p:extLst>
      <p:ext uri="{BB962C8B-B14F-4D97-AF65-F5344CB8AC3E}">
        <p14:creationId xmlns:p14="http://schemas.microsoft.com/office/powerpoint/2010/main" val="1980844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9BDB83C-5A12-4DC3-BC22-46774D1F2E87}"/>
              </a:ext>
            </a:extLst>
          </p:cNvPr>
          <p:cNvSpPr>
            <a:spLocks noGrp="1"/>
          </p:cNvSpPr>
          <p:nvPr>
            <p:ph type="ctrTitle"/>
          </p:nvPr>
        </p:nvSpPr>
        <p:spPr/>
        <p:txBody>
          <a:bodyPr/>
          <a:lstStyle/>
          <a:p>
            <a:r>
              <a:rPr lang="cs-CZ" dirty="0" err="1"/>
              <a:t>Where</a:t>
            </a:r>
            <a:r>
              <a:rPr lang="cs-CZ" dirty="0"/>
              <a:t>, </a:t>
            </a:r>
            <a:r>
              <a:rPr lang="cs-CZ" dirty="0" err="1"/>
              <a:t>order</a:t>
            </a:r>
            <a:r>
              <a:rPr lang="cs-CZ" dirty="0"/>
              <a:t> by, úvod do funkcí</a:t>
            </a:r>
          </a:p>
        </p:txBody>
      </p:sp>
      <p:sp>
        <p:nvSpPr>
          <p:cNvPr id="3" name="Podnadpis 2">
            <a:extLst>
              <a:ext uri="{FF2B5EF4-FFF2-40B4-BE49-F238E27FC236}">
                <a16:creationId xmlns:a16="http://schemas.microsoft.com/office/drawing/2014/main" id="{E065B3E1-85D4-4252-891B-1224313B1E61}"/>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4258953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5BC02F3-E870-413C-8A41-10C7191BD88D}"/>
              </a:ext>
            </a:extLst>
          </p:cNvPr>
          <p:cNvSpPr>
            <a:spLocks noGrp="1"/>
          </p:cNvSpPr>
          <p:nvPr>
            <p:ph type="title"/>
          </p:nvPr>
        </p:nvSpPr>
        <p:spPr/>
        <p:txBody>
          <a:bodyPr/>
          <a:lstStyle/>
          <a:p>
            <a:r>
              <a:rPr lang="cs-CZ" dirty="0" err="1"/>
              <a:t>Describe</a:t>
            </a:r>
            <a:endParaRPr lang="cs-CZ" dirty="0"/>
          </a:p>
        </p:txBody>
      </p:sp>
      <p:sp>
        <p:nvSpPr>
          <p:cNvPr id="3" name="Zástupný symbol pro obsah 2">
            <a:extLst>
              <a:ext uri="{FF2B5EF4-FFF2-40B4-BE49-F238E27FC236}">
                <a16:creationId xmlns:a16="http://schemas.microsoft.com/office/drawing/2014/main" id="{E86AFC0C-4939-427F-BE8D-12232C956DA9}"/>
              </a:ext>
            </a:extLst>
          </p:cNvPr>
          <p:cNvSpPr>
            <a:spLocks noGrp="1"/>
          </p:cNvSpPr>
          <p:nvPr>
            <p:ph idx="1"/>
          </p:nvPr>
        </p:nvSpPr>
        <p:spPr/>
        <p:txBody>
          <a:bodyPr/>
          <a:lstStyle/>
          <a:p>
            <a:r>
              <a:rPr lang="cs-CZ" dirty="0"/>
              <a:t>Pomocí tohoto příkazu </a:t>
            </a:r>
            <a:r>
              <a:rPr lang="cs-CZ" b="1" dirty="0" err="1"/>
              <a:t>describe</a:t>
            </a:r>
            <a:r>
              <a:rPr lang="cs-CZ" b="1" dirty="0"/>
              <a:t> &lt;</a:t>
            </a:r>
            <a:r>
              <a:rPr lang="cs-CZ" b="1" dirty="0" err="1"/>
              <a:t>table_name</a:t>
            </a:r>
            <a:r>
              <a:rPr lang="cs-CZ" b="1" dirty="0"/>
              <a:t>&gt; </a:t>
            </a:r>
            <a:r>
              <a:rPr lang="cs-CZ" dirty="0"/>
              <a:t>zobrazíte strukturu tabulky. Vrací název tabulky, datové typy, primární a cizí klíč, </a:t>
            </a:r>
            <a:r>
              <a:rPr lang="cs-CZ" dirty="0" err="1"/>
              <a:t>null</a:t>
            </a:r>
            <a:r>
              <a:rPr lang="cs-CZ" dirty="0"/>
              <a:t> sloupce a detaily objektů. </a:t>
            </a:r>
          </a:p>
          <a:p>
            <a:r>
              <a:rPr lang="cs-CZ" dirty="0"/>
              <a:t>To je důležité vědět když vkládáte hodnoty do tabulky.</a:t>
            </a:r>
          </a:p>
          <a:p>
            <a:endParaRPr lang="cs-CZ" dirty="0"/>
          </a:p>
        </p:txBody>
      </p:sp>
      <p:pic>
        <p:nvPicPr>
          <p:cNvPr id="4" name="Picture 18">
            <a:extLst>
              <a:ext uri="{FF2B5EF4-FFF2-40B4-BE49-F238E27FC236}">
                <a16:creationId xmlns:a16="http://schemas.microsoft.com/office/drawing/2014/main" id="{FA6D9C7E-90FD-47C1-BF03-CEA32705E124}"/>
              </a:ext>
            </a:extLst>
          </p:cNvPr>
          <p:cNvPicPr/>
          <p:nvPr/>
        </p:nvPicPr>
        <p:blipFill>
          <a:blip r:embed="rId2"/>
          <a:stretch>
            <a:fillRect/>
          </a:stretch>
        </p:blipFill>
        <p:spPr>
          <a:xfrm>
            <a:off x="1230141" y="3665967"/>
            <a:ext cx="8160994" cy="2858401"/>
          </a:xfrm>
          <a:prstGeom prst="rect">
            <a:avLst/>
          </a:prstGeom>
        </p:spPr>
      </p:pic>
    </p:spTree>
    <p:extLst>
      <p:ext uri="{BB962C8B-B14F-4D97-AF65-F5344CB8AC3E}">
        <p14:creationId xmlns:p14="http://schemas.microsoft.com/office/powerpoint/2010/main" val="1625075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C4E81BD-08DD-4DC7-8DEE-71095ECF60FE}"/>
              </a:ext>
            </a:extLst>
          </p:cNvPr>
          <p:cNvSpPr>
            <a:spLocks noGrp="1"/>
          </p:cNvSpPr>
          <p:nvPr>
            <p:ph type="title"/>
          </p:nvPr>
        </p:nvSpPr>
        <p:spPr/>
        <p:txBody>
          <a:bodyPr/>
          <a:lstStyle/>
          <a:p>
            <a:r>
              <a:rPr lang="cs-CZ" dirty="0"/>
              <a:t>Operátor zřetězení I.</a:t>
            </a:r>
          </a:p>
        </p:txBody>
      </p:sp>
      <p:sp>
        <p:nvSpPr>
          <p:cNvPr id="3" name="Zástupný symbol pro obsah 2">
            <a:extLst>
              <a:ext uri="{FF2B5EF4-FFF2-40B4-BE49-F238E27FC236}">
                <a16:creationId xmlns:a16="http://schemas.microsoft.com/office/drawing/2014/main" id="{FCB2588C-70C5-474F-BAD5-6593FC3D30C8}"/>
              </a:ext>
            </a:extLst>
          </p:cNvPr>
          <p:cNvSpPr>
            <a:spLocks noGrp="1"/>
          </p:cNvSpPr>
          <p:nvPr>
            <p:ph idx="1"/>
          </p:nvPr>
        </p:nvSpPr>
        <p:spPr/>
        <p:txBody>
          <a:bodyPr/>
          <a:lstStyle/>
          <a:p>
            <a:r>
              <a:rPr lang="cs-CZ" dirty="0"/>
              <a:t>Zřetězení znamená spojeni za sebe do série. Symbolem zřetězení je roura a hodnoty na obou stranách roury jsou spojeny do výstupu.</a:t>
            </a:r>
          </a:p>
          <a:p>
            <a:endParaRPr lang="cs-CZ" dirty="0"/>
          </a:p>
          <a:p>
            <a:endParaRPr lang="cs-CZ" dirty="0"/>
          </a:p>
          <a:p>
            <a:r>
              <a:rPr lang="cs-CZ" dirty="0"/>
              <a:t>V SQL, operátor zřetězení může spojovat sloupce k jiným sloupcům, aritmetické operace nebo konstantní hodnoty k vytvoření znakového výrazu. </a:t>
            </a:r>
          </a:p>
          <a:p>
            <a:endParaRPr lang="cs-CZ" dirty="0"/>
          </a:p>
        </p:txBody>
      </p:sp>
      <p:pic>
        <p:nvPicPr>
          <p:cNvPr id="4" name="Picture 19">
            <a:extLst>
              <a:ext uri="{FF2B5EF4-FFF2-40B4-BE49-F238E27FC236}">
                <a16:creationId xmlns:a16="http://schemas.microsoft.com/office/drawing/2014/main" id="{193BCEC0-5698-4A8B-9D5A-03E263C7351D}"/>
              </a:ext>
            </a:extLst>
          </p:cNvPr>
          <p:cNvPicPr/>
          <p:nvPr/>
        </p:nvPicPr>
        <p:blipFill>
          <a:blip r:embed="rId2"/>
          <a:stretch>
            <a:fillRect/>
          </a:stretch>
        </p:blipFill>
        <p:spPr>
          <a:xfrm>
            <a:off x="1190238" y="2905896"/>
            <a:ext cx="6841654" cy="726989"/>
          </a:xfrm>
          <a:prstGeom prst="rect">
            <a:avLst/>
          </a:prstGeom>
        </p:spPr>
      </p:pic>
      <p:pic>
        <p:nvPicPr>
          <p:cNvPr id="5" name="Picture 20">
            <a:extLst>
              <a:ext uri="{FF2B5EF4-FFF2-40B4-BE49-F238E27FC236}">
                <a16:creationId xmlns:a16="http://schemas.microsoft.com/office/drawing/2014/main" id="{ABC75CBB-AE0A-4D2E-9F08-258D6361585E}"/>
              </a:ext>
            </a:extLst>
          </p:cNvPr>
          <p:cNvPicPr/>
          <p:nvPr/>
        </p:nvPicPr>
        <p:blipFill>
          <a:blip r:embed="rId3">
            <a:extLst>
              <a:ext uri="{28A0092B-C50C-407E-A947-70E740481C1C}">
                <a14:useLocalDpi xmlns:a14="http://schemas.microsoft.com/office/drawing/2010/main" val="0"/>
              </a:ext>
            </a:extLst>
          </a:blip>
          <a:stretch>
            <a:fillRect/>
          </a:stretch>
        </p:blipFill>
        <p:spPr>
          <a:xfrm>
            <a:off x="2419350" y="4861437"/>
            <a:ext cx="5612542" cy="1450464"/>
          </a:xfrm>
          <a:prstGeom prst="rect">
            <a:avLst/>
          </a:prstGeom>
        </p:spPr>
      </p:pic>
    </p:spTree>
    <p:extLst>
      <p:ext uri="{BB962C8B-B14F-4D97-AF65-F5344CB8AC3E}">
        <p14:creationId xmlns:p14="http://schemas.microsoft.com/office/powerpoint/2010/main" val="1842140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D818107-7728-417F-B242-7DE9AE0D9EFD}"/>
              </a:ext>
            </a:extLst>
          </p:cNvPr>
          <p:cNvSpPr>
            <a:spLocks noGrp="1"/>
          </p:cNvSpPr>
          <p:nvPr>
            <p:ph type="title"/>
          </p:nvPr>
        </p:nvSpPr>
        <p:spPr/>
        <p:txBody>
          <a:bodyPr/>
          <a:lstStyle/>
          <a:p>
            <a:r>
              <a:rPr lang="cs-CZ" dirty="0"/>
              <a:t>Operátor zřetězení II.</a:t>
            </a:r>
          </a:p>
        </p:txBody>
      </p:sp>
      <p:sp>
        <p:nvSpPr>
          <p:cNvPr id="3" name="Zástupný symbol pro obsah 2">
            <a:extLst>
              <a:ext uri="{FF2B5EF4-FFF2-40B4-BE49-F238E27FC236}">
                <a16:creationId xmlns:a16="http://schemas.microsoft.com/office/drawing/2014/main" id="{F0038B11-1841-4215-AC0B-3869AD2B3676}"/>
              </a:ext>
            </a:extLst>
          </p:cNvPr>
          <p:cNvSpPr>
            <a:spLocks noGrp="1"/>
          </p:cNvSpPr>
          <p:nvPr>
            <p:ph idx="1"/>
          </p:nvPr>
        </p:nvSpPr>
        <p:spPr/>
        <p:txBody>
          <a:bodyPr/>
          <a:lstStyle/>
          <a:p>
            <a:r>
              <a:rPr lang="cs-CZ" dirty="0"/>
              <a:t>Používá se k vytváření </a:t>
            </a:r>
            <a:r>
              <a:rPr lang="cs-CZ" dirty="0" err="1"/>
              <a:t>čtitelného</a:t>
            </a:r>
            <a:r>
              <a:rPr lang="cs-CZ" dirty="0"/>
              <a:t> textového výstupu. V následujícím příkladu je spojeno id s názvem oddělení. Dobré je také pro výstupy používat </a:t>
            </a:r>
            <a:r>
              <a:rPr lang="cs-CZ" dirty="0" err="1"/>
              <a:t>aliasy</a:t>
            </a:r>
            <a:r>
              <a:rPr lang="cs-CZ" dirty="0"/>
              <a:t> k zřetězeným hodnotám.</a:t>
            </a:r>
          </a:p>
        </p:txBody>
      </p:sp>
      <p:pic>
        <p:nvPicPr>
          <p:cNvPr id="5" name="Picture 21">
            <a:extLst>
              <a:ext uri="{FF2B5EF4-FFF2-40B4-BE49-F238E27FC236}">
                <a16:creationId xmlns:a16="http://schemas.microsoft.com/office/drawing/2014/main" id="{93D4D616-3FE8-481D-A9C6-8038FB92546F}"/>
              </a:ext>
            </a:extLst>
          </p:cNvPr>
          <p:cNvPicPr/>
          <p:nvPr/>
        </p:nvPicPr>
        <p:blipFill>
          <a:blip r:embed="rId2"/>
          <a:stretch>
            <a:fillRect/>
          </a:stretch>
        </p:blipFill>
        <p:spPr>
          <a:xfrm>
            <a:off x="1888781" y="3386931"/>
            <a:ext cx="6266677" cy="2371318"/>
          </a:xfrm>
          <a:prstGeom prst="rect">
            <a:avLst/>
          </a:prstGeom>
        </p:spPr>
      </p:pic>
    </p:spTree>
    <p:extLst>
      <p:ext uri="{BB962C8B-B14F-4D97-AF65-F5344CB8AC3E}">
        <p14:creationId xmlns:p14="http://schemas.microsoft.com/office/powerpoint/2010/main" val="3456112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A48F9C9-7DC4-42D8-A028-4E4FE394F2C2}"/>
              </a:ext>
            </a:extLst>
          </p:cNvPr>
          <p:cNvSpPr>
            <a:spLocks noGrp="1"/>
          </p:cNvSpPr>
          <p:nvPr>
            <p:ph type="title"/>
          </p:nvPr>
        </p:nvSpPr>
        <p:spPr/>
        <p:txBody>
          <a:bodyPr/>
          <a:lstStyle/>
          <a:p>
            <a:r>
              <a:rPr lang="cs-CZ" dirty="0"/>
              <a:t>Zřetězení a </a:t>
            </a:r>
            <a:r>
              <a:rPr lang="cs-CZ" dirty="0" err="1"/>
              <a:t>literální</a:t>
            </a:r>
            <a:r>
              <a:rPr lang="cs-CZ" dirty="0"/>
              <a:t> hodnoty</a:t>
            </a:r>
          </a:p>
        </p:txBody>
      </p:sp>
      <p:sp>
        <p:nvSpPr>
          <p:cNvPr id="3" name="Zástupný symbol pro obsah 2">
            <a:extLst>
              <a:ext uri="{FF2B5EF4-FFF2-40B4-BE49-F238E27FC236}">
                <a16:creationId xmlns:a16="http://schemas.microsoft.com/office/drawing/2014/main" id="{BE633E45-71FE-42CA-A588-0CC667BD8A9A}"/>
              </a:ext>
            </a:extLst>
          </p:cNvPr>
          <p:cNvSpPr>
            <a:spLocks noGrp="1"/>
          </p:cNvSpPr>
          <p:nvPr>
            <p:ph idx="1"/>
          </p:nvPr>
        </p:nvSpPr>
        <p:spPr/>
        <p:txBody>
          <a:bodyPr/>
          <a:lstStyle/>
          <a:p>
            <a:r>
              <a:rPr lang="cs-CZ" dirty="0" err="1"/>
              <a:t>Literální</a:t>
            </a:r>
            <a:r>
              <a:rPr lang="cs-CZ" dirty="0"/>
              <a:t> hodnota jsou fixní data, jako například znak, číslo nebo datum. Použití zřetězení a </a:t>
            </a:r>
            <a:r>
              <a:rPr lang="cs-CZ" dirty="0" err="1"/>
              <a:t>literálních</a:t>
            </a:r>
            <a:r>
              <a:rPr lang="cs-CZ" dirty="0"/>
              <a:t> hodnot pomáhá k vytvoření výstupu který vypadá jako věta. </a:t>
            </a:r>
          </a:p>
          <a:p>
            <a:r>
              <a:rPr lang="cs-CZ" dirty="0" err="1"/>
              <a:t>Literální</a:t>
            </a:r>
            <a:r>
              <a:rPr lang="cs-CZ" dirty="0"/>
              <a:t> hodnoty mohou být zahrnuty v </a:t>
            </a:r>
            <a:r>
              <a:rPr lang="cs-CZ" dirty="0" err="1"/>
              <a:t>selectu</a:t>
            </a:r>
            <a:r>
              <a:rPr lang="cs-CZ" dirty="0"/>
              <a:t>, znaky a datumy musí být uzavřeny do jednoduchých uvozovek.</a:t>
            </a:r>
          </a:p>
          <a:p>
            <a:endParaRPr lang="cs-CZ" dirty="0"/>
          </a:p>
        </p:txBody>
      </p:sp>
      <p:pic>
        <p:nvPicPr>
          <p:cNvPr id="4" name="Picture 23">
            <a:extLst>
              <a:ext uri="{FF2B5EF4-FFF2-40B4-BE49-F238E27FC236}">
                <a16:creationId xmlns:a16="http://schemas.microsoft.com/office/drawing/2014/main" id="{245EA4E5-B2CF-4F8C-A533-B82ECB650C0B}"/>
              </a:ext>
            </a:extLst>
          </p:cNvPr>
          <p:cNvPicPr/>
          <p:nvPr/>
        </p:nvPicPr>
        <p:blipFill>
          <a:blip r:embed="rId2"/>
          <a:stretch>
            <a:fillRect/>
          </a:stretch>
        </p:blipFill>
        <p:spPr>
          <a:xfrm>
            <a:off x="2661722" y="4001294"/>
            <a:ext cx="6581132" cy="2310606"/>
          </a:xfrm>
          <a:prstGeom prst="rect">
            <a:avLst/>
          </a:prstGeom>
        </p:spPr>
      </p:pic>
    </p:spTree>
    <p:extLst>
      <p:ext uri="{BB962C8B-B14F-4D97-AF65-F5344CB8AC3E}">
        <p14:creationId xmlns:p14="http://schemas.microsoft.com/office/powerpoint/2010/main" val="845515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E2B7857-1D9C-43D2-A479-CFFB3328E9E1}"/>
              </a:ext>
            </a:extLst>
          </p:cNvPr>
          <p:cNvSpPr>
            <a:spLocks noGrp="1"/>
          </p:cNvSpPr>
          <p:nvPr>
            <p:ph type="title"/>
          </p:nvPr>
        </p:nvSpPr>
        <p:spPr/>
        <p:txBody>
          <a:bodyPr/>
          <a:lstStyle/>
          <a:p>
            <a:r>
              <a:rPr lang="cs-CZ" dirty="0"/>
              <a:t>Použití DISTINCT pro eliminaci duplikací I.</a:t>
            </a:r>
          </a:p>
        </p:txBody>
      </p:sp>
      <p:sp>
        <p:nvSpPr>
          <p:cNvPr id="3" name="Zástupný symbol pro obsah 2">
            <a:extLst>
              <a:ext uri="{FF2B5EF4-FFF2-40B4-BE49-F238E27FC236}">
                <a16:creationId xmlns:a16="http://schemas.microsoft.com/office/drawing/2014/main" id="{AB8AFDAC-AAB5-45D3-A38B-B3E18FA39B75}"/>
              </a:ext>
            </a:extLst>
          </p:cNvPr>
          <p:cNvSpPr>
            <a:spLocks noGrp="1"/>
          </p:cNvSpPr>
          <p:nvPr>
            <p:ph idx="1"/>
          </p:nvPr>
        </p:nvSpPr>
        <p:spPr/>
        <p:txBody>
          <a:bodyPr/>
          <a:lstStyle/>
          <a:p>
            <a:r>
              <a:rPr lang="cs-CZ" dirty="0" err="1"/>
              <a:t>Hodněkrát</a:t>
            </a:r>
            <a:r>
              <a:rPr lang="cs-CZ" dirty="0"/>
              <a:t> potřebujeme vědět, kolik unikátních instancí existuje. Například, co když budete chtít seznam všech oddělení, ve kterých jsou zaměstnanci. Můžete napsat dotaz:</a:t>
            </a:r>
          </a:p>
          <a:p>
            <a:endParaRPr lang="cs-CZ" dirty="0"/>
          </a:p>
        </p:txBody>
      </p:sp>
      <p:pic>
        <p:nvPicPr>
          <p:cNvPr id="4" name="Picture 24">
            <a:extLst>
              <a:ext uri="{FF2B5EF4-FFF2-40B4-BE49-F238E27FC236}">
                <a16:creationId xmlns:a16="http://schemas.microsoft.com/office/drawing/2014/main" id="{D70FD230-C7EA-4F02-9AB6-1889F2B6DB3F}"/>
              </a:ext>
            </a:extLst>
          </p:cNvPr>
          <p:cNvPicPr/>
          <p:nvPr/>
        </p:nvPicPr>
        <p:blipFill>
          <a:blip r:embed="rId2"/>
          <a:stretch>
            <a:fillRect/>
          </a:stretch>
        </p:blipFill>
        <p:spPr>
          <a:xfrm>
            <a:off x="1141842" y="3255490"/>
            <a:ext cx="3825574" cy="723385"/>
          </a:xfrm>
          <a:prstGeom prst="rect">
            <a:avLst/>
          </a:prstGeom>
        </p:spPr>
      </p:pic>
      <p:pic>
        <p:nvPicPr>
          <p:cNvPr id="6" name="Picture 25">
            <a:extLst>
              <a:ext uri="{FF2B5EF4-FFF2-40B4-BE49-F238E27FC236}">
                <a16:creationId xmlns:a16="http://schemas.microsoft.com/office/drawing/2014/main" id="{758857B3-4675-4CA0-9A9A-EB1810520B1E}"/>
              </a:ext>
            </a:extLst>
          </p:cNvPr>
          <p:cNvPicPr/>
          <p:nvPr/>
        </p:nvPicPr>
        <p:blipFill>
          <a:blip r:embed="rId3"/>
          <a:stretch>
            <a:fillRect/>
          </a:stretch>
        </p:blipFill>
        <p:spPr>
          <a:xfrm>
            <a:off x="5449458" y="3255489"/>
            <a:ext cx="2458866" cy="3392446"/>
          </a:xfrm>
          <a:prstGeom prst="rect">
            <a:avLst/>
          </a:prstGeom>
        </p:spPr>
      </p:pic>
    </p:spTree>
    <p:extLst>
      <p:ext uri="{BB962C8B-B14F-4D97-AF65-F5344CB8AC3E}">
        <p14:creationId xmlns:p14="http://schemas.microsoft.com/office/powerpoint/2010/main" val="1804924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C4A991B-EE87-4639-AB61-3B1D82CF7131}"/>
              </a:ext>
            </a:extLst>
          </p:cNvPr>
          <p:cNvSpPr>
            <a:spLocks noGrp="1"/>
          </p:cNvSpPr>
          <p:nvPr>
            <p:ph type="title"/>
          </p:nvPr>
        </p:nvSpPr>
        <p:spPr/>
        <p:txBody>
          <a:bodyPr/>
          <a:lstStyle/>
          <a:p>
            <a:r>
              <a:rPr lang="cs-CZ" dirty="0"/>
              <a:t>Použití DISTINCT pro eliminaci duplikací II.</a:t>
            </a:r>
          </a:p>
        </p:txBody>
      </p:sp>
      <p:sp>
        <p:nvSpPr>
          <p:cNvPr id="3" name="Zástupný symbol pro obsah 2">
            <a:extLst>
              <a:ext uri="{FF2B5EF4-FFF2-40B4-BE49-F238E27FC236}">
                <a16:creationId xmlns:a16="http://schemas.microsoft.com/office/drawing/2014/main" id="{E07715CA-BC4F-49C7-B4E9-A70CE3F8C769}"/>
              </a:ext>
            </a:extLst>
          </p:cNvPr>
          <p:cNvSpPr>
            <a:spLocks noGrp="1"/>
          </p:cNvSpPr>
          <p:nvPr>
            <p:ph idx="1"/>
          </p:nvPr>
        </p:nvSpPr>
        <p:spPr/>
        <p:txBody>
          <a:bodyPr/>
          <a:lstStyle/>
          <a:p>
            <a:r>
              <a:rPr lang="cs-CZ" dirty="0"/>
              <a:t>Ve sloupci můžeme vidět duplikující se řádky. To vyřešíme příkazem </a:t>
            </a:r>
            <a:r>
              <a:rPr lang="cs-CZ" dirty="0" err="1"/>
              <a:t>distinct</a:t>
            </a:r>
            <a:r>
              <a:rPr lang="cs-CZ" dirty="0"/>
              <a:t>.</a:t>
            </a:r>
          </a:p>
        </p:txBody>
      </p:sp>
      <p:pic>
        <p:nvPicPr>
          <p:cNvPr id="4" name="Picture 26">
            <a:extLst>
              <a:ext uri="{FF2B5EF4-FFF2-40B4-BE49-F238E27FC236}">
                <a16:creationId xmlns:a16="http://schemas.microsoft.com/office/drawing/2014/main" id="{BF207689-E7C3-4A1D-8435-8CF7CEBA8ED8}"/>
              </a:ext>
            </a:extLst>
          </p:cNvPr>
          <p:cNvPicPr/>
          <p:nvPr/>
        </p:nvPicPr>
        <p:blipFill>
          <a:blip r:embed="rId2"/>
          <a:stretch>
            <a:fillRect/>
          </a:stretch>
        </p:blipFill>
        <p:spPr>
          <a:xfrm>
            <a:off x="1208259" y="2941937"/>
            <a:ext cx="5044260" cy="863943"/>
          </a:xfrm>
          <a:prstGeom prst="rect">
            <a:avLst/>
          </a:prstGeom>
        </p:spPr>
      </p:pic>
      <p:pic>
        <p:nvPicPr>
          <p:cNvPr id="5" name="Picture 27">
            <a:extLst>
              <a:ext uri="{FF2B5EF4-FFF2-40B4-BE49-F238E27FC236}">
                <a16:creationId xmlns:a16="http://schemas.microsoft.com/office/drawing/2014/main" id="{84915F92-4DE2-4715-80A8-0295F9E0CE26}"/>
              </a:ext>
            </a:extLst>
          </p:cNvPr>
          <p:cNvPicPr/>
          <p:nvPr/>
        </p:nvPicPr>
        <p:blipFill>
          <a:blip r:embed="rId3"/>
          <a:stretch>
            <a:fillRect/>
          </a:stretch>
        </p:blipFill>
        <p:spPr>
          <a:xfrm>
            <a:off x="6622578" y="2941937"/>
            <a:ext cx="1953011" cy="2692744"/>
          </a:xfrm>
          <a:prstGeom prst="rect">
            <a:avLst/>
          </a:prstGeom>
        </p:spPr>
      </p:pic>
    </p:spTree>
    <p:extLst>
      <p:ext uri="{BB962C8B-B14F-4D97-AF65-F5344CB8AC3E}">
        <p14:creationId xmlns:p14="http://schemas.microsoft.com/office/powerpoint/2010/main" val="3634284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1B29CCD-0D9B-42BA-B809-458A9654D6EA}"/>
              </a:ext>
            </a:extLst>
          </p:cNvPr>
          <p:cNvSpPr>
            <a:spLocks noGrp="1"/>
          </p:cNvSpPr>
          <p:nvPr>
            <p:ph type="title"/>
          </p:nvPr>
        </p:nvSpPr>
        <p:spPr/>
        <p:txBody>
          <a:bodyPr/>
          <a:lstStyle/>
          <a:p>
            <a:r>
              <a:rPr lang="cs-CZ" dirty="0"/>
              <a:t>Nastavení limitu výpisu sloupců I.</a:t>
            </a:r>
          </a:p>
        </p:txBody>
      </p:sp>
      <p:sp>
        <p:nvSpPr>
          <p:cNvPr id="3" name="Zástupný symbol pro obsah 2">
            <a:extLst>
              <a:ext uri="{FF2B5EF4-FFF2-40B4-BE49-F238E27FC236}">
                <a16:creationId xmlns:a16="http://schemas.microsoft.com/office/drawing/2014/main" id="{D5257675-E562-4293-A62E-5819AC999FC0}"/>
              </a:ext>
            </a:extLst>
          </p:cNvPr>
          <p:cNvSpPr>
            <a:spLocks noGrp="1"/>
          </p:cNvSpPr>
          <p:nvPr>
            <p:ph idx="1"/>
          </p:nvPr>
        </p:nvSpPr>
        <p:spPr/>
        <p:txBody>
          <a:bodyPr/>
          <a:lstStyle/>
          <a:p>
            <a:r>
              <a:rPr lang="cs-CZ" dirty="0"/>
              <a:t>Setkali jste se někdy s informačním přetížením? Televize je zapnutá, mamka se ptá na to, jak to šlo ve škole, zvoní telefon a štěká pes. Bylo by dobré eliminovat množství informací, které je nutné zpracovat v jeden čas, že? </a:t>
            </a:r>
          </a:p>
          <a:p>
            <a:r>
              <a:rPr lang="cs-CZ" dirty="0"/>
              <a:t>V rámci SQL můžete tuto práci provést pomocí klauzule </a:t>
            </a:r>
            <a:r>
              <a:rPr lang="cs-CZ" dirty="0" err="1"/>
              <a:t>where</a:t>
            </a:r>
            <a:r>
              <a:rPr lang="cs-CZ" dirty="0"/>
              <a:t>. Je důležité, abyste byli schopni vybrat informace, které potřebujete vidět z tabulky. Tabulky mohou totiž mít miliony řádků dat a je plýtváním zdrojů hledání a vrácení dat, které vlastně nepotřebujete.</a:t>
            </a:r>
          </a:p>
          <a:p>
            <a:endParaRPr lang="cs-CZ" dirty="0"/>
          </a:p>
        </p:txBody>
      </p:sp>
    </p:spTree>
    <p:extLst>
      <p:ext uri="{BB962C8B-B14F-4D97-AF65-F5344CB8AC3E}">
        <p14:creationId xmlns:p14="http://schemas.microsoft.com/office/powerpoint/2010/main" val="2798101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82BF225-C732-465A-8D8C-FE71D0069019}"/>
              </a:ext>
            </a:extLst>
          </p:cNvPr>
          <p:cNvSpPr>
            <a:spLocks noGrp="1"/>
          </p:cNvSpPr>
          <p:nvPr>
            <p:ph type="title"/>
          </p:nvPr>
        </p:nvSpPr>
        <p:spPr/>
        <p:txBody>
          <a:bodyPr/>
          <a:lstStyle/>
          <a:p>
            <a:r>
              <a:rPr lang="cs-CZ" dirty="0"/>
              <a:t>Nastavení limitu výpisu sloupců II.</a:t>
            </a:r>
          </a:p>
        </p:txBody>
      </p:sp>
      <p:sp>
        <p:nvSpPr>
          <p:cNvPr id="3" name="Zástupný symbol pro obsah 2">
            <a:extLst>
              <a:ext uri="{FF2B5EF4-FFF2-40B4-BE49-F238E27FC236}">
                <a16:creationId xmlns:a16="http://schemas.microsoft.com/office/drawing/2014/main" id="{CA909C85-27F2-476D-A83B-52EC4B80E9DE}"/>
              </a:ext>
            </a:extLst>
          </p:cNvPr>
          <p:cNvSpPr>
            <a:spLocks noGrp="1"/>
          </p:cNvSpPr>
          <p:nvPr>
            <p:ph idx="1"/>
          </p:nvPr>
        </p:nvSpPr>
        <p:spPr/>
        <p:txBody>
          <a:bodyPr/>
          <a:lstStyle/>
          <a:p>
            <a:r>
              <a:rPr lang="cs-CZ" dirty="0"/>
              <a:t>K získávání dat z databáze je používán </a:t>
            </a:r>
            <a:r>
              <a:rPr lang="cs-CZ" dirty="0" err="1"/>
              <a:t>select</a:t>
            </a:r>
            <a:r>
              <a:rPr lang="cs-CZ" dirty="0"/>
              <a:t>. Tento příkaz musí minimálně obsahovat klauzuli </a:t>
            </a:r>
            <a:r>
              <a:rPr lang="cs-CZ" dirty="0" err="1"/>
              <a:t>select</a:t>
            </a:r>
            <a:r>
              <a:rPr lang="cs-CZ" dirty="0"/>
              <a:t> a </a:t>
            </a:r>
            <a:r>
              <a:rPr lang="cs-CZ" dirty="0" err="1"/>
              <a:t>from</a:t>
            </a:r>
            <a:r>
              <a:rPr lang="cs-CZ" dirty="0"/>
              <a:t>. Klauzule </a:t>
            </a:r>
            <a:r>
              <a:rPr lang="cs-CZ" dirty="0" err="1"/>
              <a:t>where</a:t>
            </a:r>
            <a:r>
              <a:rPr lang="cs-CZ" dirty="0"/>
              <a:t> je volitelná.</a:t>
            </a:r>
          </a:p>
          <a:p>
            <a:endParaRPr lang="cs-CZ" dirty="0"/>
          </a:p>
          <a:p>
            <a:endParaRPr lang="cs-CZ" dirty="0"/>
          </a:p>
          <a:p>
            <a:endParaRPr lang="cs-CZ" dirty="0"/>
          </a:p>
          <a:p>
            <a:r>
              <a:rPr lang="cs-CZ" dirty="0" err="1"/>
              <a:t>Where</a:t>
            </a:r>
            <a:r>
              <a:rPr lang="cs-CZ" dirty="0"/>
              <a:t> obsahuje podmínku, která musí být splněna pro vrácení daného řádku. </a:t>
            </a:r>
            <a:r>
              <a:rPr lang="cs-CZ" b="1" dirty="0"/>
              <a:t>POZOR</a:t>
            </a:r>
            <a:r>
              <a:rPr lang="cs-CZ" dirty="0"/>
              <a:t>, nelze zde používat </a:t>
            </a:r>
            <a:r>
              <a:rPr lang="cs-CZ" dirty="0" err="1"/>
              <a:t>aliasy</a:t>
            </a:r>
            <a:r>
              <a:rPr lang="cs-CZ" dirty="0"/>
              <a:t>.</a:t>
            </a:r>
          </a:p>
          <a:p>
            <a:endParaRPr lang="cs-CZ" dirty="0"/>
          </a:p>
          <a:p>
            <a:endParaRPr lang="cs-CZ" dirty="0"/>
          </a:p>
        </p:txBody>
      </p:sp>
      <p:pic>
        <p:nvPicPr>
          <p:cNvPr id="4" name="Picture 28">
            <a:extLst>
              <a:ext uri="{FF2B5EF4-FFF2-40B4-BE49-F238E27FC236}">
                <a16:creationId xmlns:a16="http://schemas.microsoft.com/office/drawing/2014/main" id="{542CAFAB-63EA-4D84-A2A6-6F8DF2EF5D93}"/>
              </a:ext>
            </a:extLst>
          </p:cNvPr>
          <p:cNvPicPr/>
          <p:nvPr/>
        </p:nvPicPr>
        <p:blipFill>
          <a:blip r:embed="rId2"/>
          <a:stretch>
            <a:fillRect/>
          </a:stretch>
        </p:blipFill>
        <p:spPr>
          <a:xfrm>
            <a:off x="1985833" y="3158437"/>
            <a:ext cx="4983377" cy="1067573"/>
          </a:xfrm>
          <a:prstGeom prst="rect">
            <a:avLst/>
          </a:prstGeom>
        </p:spPr>
      </p:pic>
    </p:spTree>
    <p:extLst>
      <p:ext uri="{BB962C8B-B14F-4D97-AF65-F5344CB8AC3E}">
        <p14:creationId xmlns:p14="http://schemas.microsoft.com/office/powerpoint/2010/main" val="371770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329041F-BC02-4CAA-A782-7BF18949D521}"/>
              </a:ext>
            </a:extLst>
          </p:cNvPr>
          <p:cNvSpPr>
            <a:spLocks noGrp="1"/>
          </p:cNvSpPr>
          <p:nvPr>
            <p:ph type="title"/>
          </p:nvPr>
        </p:nvSpPr>
        <p:spPr/>
        <p:txBody>
          <a:bodyPr/>
          <a:lstStyle/>
          <a:p>
            <a:r>
              <a:rPr lang="cs-CZ" dirty="0"/>
              <a:t>Nastavení limitu výpisu sloupců III.</a:t>
            </a:r>
          </a:p>
        </p:txBody>
      </p:sp>
      <p:sp>
        <p:nvSpPr>
          <p:cNvPr id="3" name="Zástupný symbol pro obsah 2">
            <a:extLst>
              <a:ext uri="{FF2B5EF4-FFF2-40B4-BE49-F238E27FC236}">
                <a16:creationId xmlns:a16="http://schemas.microsoft.com/office/drawing/2014/main" id="{4CF0E206-12B1-4435-B241-DC89AC887485}"/>
              </a:ext>
            </a:extLst>
          </p:cNvPr>
          <p:cNvSpPr>
            <a:spLocks noGrp="1"/>
          </p:cNvSpPr>
          <p:nvPr>
            <p:ph idx="1"/>
          </p:nvPr>
        </p:nvSpPr>
        <p:spPr/>
        <p:txBody>
          <a:bodyPr/>
          <a:lstStyle/>
          <a:p>
            <a:endParaRPr lang="cs-CZ"/>
          </a:p>
        </p:txBody>
      </p:sp>
      <p:pic>
        <p:nvPicPr>
          <p:cNvPr id="4" name="Picture 30">
            <a:extLst>
              <a:ext uri="{FF2B5EF4-FFF2-40B4-BE49-F238E27FC236}">
                <a16:creationId xmlns:a16="http://schemas.microsoft.com/office/drawing/2014/main" id="{84067D68-A095-457A-91A1-10499B1E1572}"/>
              </a:ext>
            </a:extLst>
          </p:cNvPr>
          <p:cNvPicPr/>
          <p:nvPr/>
        </p:nvPicPr>
        <p:blipFill>
          <a:blip r:embed="rId2"/>
          <a:stretch>
            <a:fillRect/>
          </a:stretch>
        </p:blipFill>
        <p:spPr>
          <a:xfrm>
            <a:off x="838199" y="1825625"/>
            <a:ext cx="8948351" cy="4723456"/>
          </a:xfrm>
          <a:prstGeom prst="rect">
            <a:avLst/>
          </a:prstGeom>
        </p:spPr>
      </p:pic>
    </p:spTree>
    <p:extLst>
      <p:ext uri="{BB962C8B-B14F-4D97-AF65-F5344CB8AC3E}">
        <p14:creationId xmlns:p14="http://schemas.microsoft.com/office/powerpoint/2010/main" val="2076361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7E46BF3-073E-4026-8721-4EC436E58737}"/>
              </a:ext>
            </a:extLst>
          </p:cNvPr>
          <p:cNvSpPr>
            <a:spLocks noGrp="1"/>
          </p:cNvSpPr>
          <p:nvPr>
            <p:ph type="title"/>
          </p:nvPr>
        </p:nvSpPr>
        <p:spPr/>
        <p:txBody>
          <a:bodyPr/>
          <a:lstStyle/>
          <a:p>
            <a:r>
              <a:rPr lang="cs-CZ" dirty="0"/>
              <a:t>Nastavení limitu výpisu sloupců IV.</a:t>
            </a:r>
          </a:p>
        </p:txBody>
      </p:sp>
      <p:sp>
        <p:nvSpPr>
          <p:cNvPr id="3" name="Zástupný symbol pro obsah 2">
            <a:extLst>
              <a:ext uri="{FF2B5EF4-FFF2-40B4-BE49-F238E27FC236}">
                <a16:creationId xmlns:a16="http://schemas.microsoft.com/office/drawing/2014/main" id="{57564F67-0F1E-4019-B6C9-175582FD39D2}"/>
              </a:ext>
            </a:extLst>
          </p:cNvPr>
          <p:cNvSpPr>
            <a:spLocks noGrp="1"/>
          </p:cNvSpPr>
          <p:nvPr>
            <p:ph idx="1"/>
          </p:nvPr>
        </p:nvSpPr>
        <p:spPr/>
        <p:txBody>
          <a:bodyPr>
            <a:normAutofit fontScale="92500" lnSpcReduction="10000"/>
          </a:bodyPr>
          <a:lstStyle/>
          <a:p>
            <a:r>
              <a:rPr lang="cs-CZ" dirty="0"/>
              <a:t>V rámci </a:t>
            </a:r>
            <a:r>
              <a:rPr lang="cs-CZ" dirty="0" err="1"/>
              <a:t>where</a:t>
            </a:r>
            <a:r>
              <a:rPr lang="cs-CZ" dirty="0"/>
              <a:t> klauzule je možné používat operátory porovnání.</a:t>
            </a:r>
          </a:p>
          <a:p>
            <a:endParaRPr lang="cs-CZ" dirty="0"/>
          </a:p>
          <a:p>
            <a:endParaRPr lang="cs-CZ" dirty="0"/>
          </a:p>
          <a:p>
            <a:endParaRPr lang="cs-CZ" dirty="0"/>
          </a:p>
          <a:p>
            <a:endParaRPr lang="cs-CZ" dirty="0"/>
          </a:p>
          <a:p>
            <a:endParaRPr lang="cs-CZ" dirty="0"/>
          </a:p>
          <a:p>
            <a:r>
              <a:rPr lang="cs-CZ" dirty="0"/>
              <a:t>Pokud chceme porovnávat řetězce ve </a:t>
            </a:r>
            <a:r>
              <a:rPr lang="cs-CZ" dirty="0" err="1"/>
              <a:t>where</a:t>
            </a:r>
            <a:r>
              <a:rPr lang="cs-CZ" dirty="0"/>
              <a:t> klauzuli, musí být uzavřeny </a:t>
            </a:r>
            <a:br>
              <a:rPr lang="cs-CZ" dirty="0"/>
            </a:br>
            <a:r>
              <a:rPr lang="cs-CZ" dirty="0"/>
              <a:t>do uvozovek, čísla nikoliv. Při porovnávání s řetězci si musíme dávat pozor </a:t>
            </a:r>
            <a:br>
              <a:rPr lang="cs-CZ" dirty="0"/>
            </a:br>
            <a:r>
              <a:rPr lang="cs-CZ" dirty="0"/>
              <a:t>na velikosti písmenek, jelikož SQL je case sensitive. Existují i vychytávky, jak tomuto předcházet, ale to se naučíme později </a:t>
            </a:r>
          </a:p>
        </p:txBody>
      </p:sp>
      <p:pic>
        <p:nvPicPr>
          <p:cNvPr id="4" name="Picture 31">
            <a:extLst>
              <a:ext uri="{FF2B5EF4-FFF2-40B4-BE49-F238E27FC236}">
                <a16:creationId xmlns:a16="http://schemas.microsoft.com/office/drawing/2014/main" id="{C2EECEEC-2E8A-4B3A-9121-8E7677D3A22E}"/>
              </a:ext>
            </a:extLst>
          </p:cNvPr>
          <p:cNvPicPr/>
          <p:nvPr/>
        </p:nvPicPr>
        <p:blipFill>
          <a:blip r:embed="rId2"/>
          <a:stretch>
            <a:fillRect/>
          </a:stretch>
        </p:blipFill>
        <p:spPr>
          <a:xfrm>
            <a:off x="838200" y="2472510"/>
            <a:ext cx="5463746" cy="1704074"/>
          </a:xfrm>
          <a:prstGeom prst="rect">
            <a:avLst/>
          </a:prstGeom>
        </p:spPr>
      </p:pic>
      <p:pic>
        <p:nvPicPr>
          <p:cNvPr id="5" name="Picture 33">
            <a:extLst>
              <a:ext uri="{FF2B5EF4-FFF2-40B4-BE49-F238E27FC236}">
                <a16:creationId xmlns:a16="http://schemas.microsoft.com/office/drawing/2014/main" id="{26FFF1A9-BBBB-4D0C-A0AC-A910CE002E22}"/>
              </a:ext>
            </a:extLst>
          </p:cNvPr>
          <p:cNvPicPr/>
          <p:nvPr/>
        </p:nvPicPr>
        <p:blipFill>
          <a:blip r:embed="rId3"/>
          <a:stretch>
            <a:fillRect/>
          </a:stretch>
        </p:blipFill>
        <p:spPr>
          <a:xfrm>
            <a:off x="6301946" y="2846710"/>
            <a:ext cx="5288692" cy="1329874"/>
          </a:xfrm>
          <a:prstGeom prst="rect">
            <a:avLst/>
          </a:prstGeom>
        </p:spPr>
      </p:pic>
    </p:spTree>
    <p:extLst>
      <p:ext uri="{BB962C8B-B14F-4D97-AF65-F5344CB8AC3E}">
        <p14:creationId xmlns:p14="http://schemas.microsoft.com/office/powerpoint/2010/main" val="1892688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94B0715-5125-40EF-85B6-C1536EE4F01B}"/>
              </a:ext>
            </a:extLst>
          </p:cNvPr>
          <p:cNvSpPr>
            <a:spLocks noGrp="1"/>
          </p:cNvSpPr>
          <p:nvPr>
            <p:ph type="title"/>
          </p:nvPr>
        </p:nvSpPr>
        <p:spPr/>
        <p:txBody>
          <a:bodyPr/>
          <a:lstStyle/>
          <a:p>
            <a:r>
              <a:rPr lang="cs-CZ" dirty="0"/>
              <a:t>Operátory porovnání I.</a:t>
            </a:r>
          </a:p>
        </p:txBody>
      </p:sp>
      <p:sp>
        <p:nvSpPr>
          <p:cNvPr id="3" name="Zástupný symbol pro obsah 2">
            <a:extLst>
              <a:ext uri="{FF2B5EF4-FFF2-40B4-BE49-F238E27FC236}">
                <a16:creationId xmlns:a16="http://schemas.microsoft.com/office/drawing/2014/main" id="{AC90E0BE-AF15-4A81-B0C4-0317228E6AC7}"/>
              </a:ext>
            </a:extLst>
          </p:cNvPr>
          <p:cNvSpPr>
            <a:spLocks noGrp="1"/>
          </p:cNvSpPr>
          <p:nvPr>
            <p:ph idx="1"/>
          </p:nvPr>
        </p:nvSpPr>
        <p:spPr/>
        <p:txBody>
          <a:bodyPr/>
          <a:lstStyle/>
          <a:p>
            <a:r>
              <a:rPr lang="cs-CZ" dirty="0"/>
              <a:t>Když porovnáváme hodnoty v každodenní konverzaci, ani o tom nepřemýšlíme, ale používáme operátory porovnávání. </a:t>
            </a:r>
          </a:p>
          <a:p>
            <a:pPr lvl="1"/>
            <a:r>
              <a:rPr lang="cs-CZ" dirty="0"/>
              <a:t>Například: sejdeme se mezi 10 a 11 hodinou. Pokud si pamatuju dobře, tak nejlepší místa na koncertu jsou v řadách 10,20 a 30. </a:t>
            </a:r>
          </a:p>
          <a:p>
            <a:r>
              <a:rPr lang="cs-CZ" dirty="0"/>
              <a:t>Stejné typy porovnávání existují i v rámci SQL.</a:t>
            </a:r>
          </a:p>
          <a:p>
            <a:r>
              <a:rPr lang="en-US" dirty="0" err="1"/>
              <a:t>Tyto</a:t>
            </a:r>
            <a:r>
              <a:rPr lang="en-US" dirty="0"/>
              <a:t> </a:t>
            </a:r>
            <a:r>
              <a:rPr lang="en-US" dirty="0" err="1"/>
              <a:t>operátory</a:t>
            </a:r>
            <a:r>
              <a:rPr lang="en-US" dirty="0"/>
              <a:t> </a:t>
            </a:r>
            <a:r>
              <a:rPr lang="en-US" dirty="0" err="1"/>
              <a:t>jsou</a:t>
            </a:r>
            <a:r>
              <a:rPr lang="en-US" dirty="0"/>
              <a:t> </a:t>
            </a:r>
            <a:r>
              <a:rPr lang="en-US" b="1" dirty="0"/>
              <a:t>BETWEEN...AND, IN, LIKE</a:t>
            </a:r>
            <a:endParaRPr lang="cs-CZ" b="1" dirty="0"/>
          </a:p>
          <a:p>
            <a:endParaRPr lang="cs-CZ" dirty="0"/>
          </a:p>
        </p:txBody>
      </p:sp>
    </p:spTree>
    <p:extLst>
      <p:ext uri="{BB962C8B-B14F-4D97-AF65-F5344CB8AC3E}">
        <p14:creationId xmlns:p14="http://schemas.microsoft.com/office/powerpoint/2010/main" val="1274846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7FFC6E3-0FA1-4CFE-931B-715F7C6D1780}"/>
              </a:ext>
            </a:extLst>
          </p:cNvPr>
          <p:cNvSpPr>
            <a:spLocks noGrp="1"/>
          </p:cNvSpPr>
          <p:nvPr>
            <p:ph type="title"/>
          </p:nvPr>
        </p:nvSpPr>
        <p:spPr/>
        <p:txBody>
          <a:bodyPr/>
          <a:lstStyle/>
          <a:p>
            <a:r>
              <a:rPr lang="cs-CZ" dirty="0"/>
              <a:t>BETWEEN…AND</a:t>
            </a:r>
          </a:p>
        </p:txBody>
      </p:sp>
      <p:sp>
        <p:nvSpPr>
          <p:cNvPr id="3" name="Zástupný symbol pro obsah 2">
            <a:extLst>
              <a:ext uri="{FF2B5EF4-FFF2-40B4-BE49-F238E27FC236}">
                <a16:creationId xmlns:a16="http://schemas.microsoft.com/office/drawing/2014/main" id="{2A686E3E-E374-449F-8166-55A26E4D8591}"/>
              </a:ext>
            </a:extLst>
          </p:cNvPr>
          <p:cNvSpPr>
            <a:spLocks noGrp="1"/>
          </p:cNvSpPr>
          <p:nvPr>
            <p:ph idx="1"/>
          </p:nvPr>
        </p:nvSpPr>
        <p:spPr/>
        <p:txBody>
          <a:bodyPr/>
          <a:lstStyle/>
          <a:p>
            <a:r>
              <a:rPr lang="cs-CZ" dirty="0"/>
              <a:t>Je operátor používaný k výběru a zobrazení řádků v závislosti na zadaném rozsahu, zahrnuje i krajní hodnoty operátoru.</a:t>
            </a:r>
          </a:p>
          <a:p>
            <a:endParaRPr lang="cs-CZ" dirty="0"/>
          </a:p>
          <a:p>
            <a:endParaRPr lang="cs-CZ" dirty="0"/>
          </a:p>
          <a:p>
            <a:endParaRPr lang="cs-CZ" dirty="0"/>
          </a:p>
          <a:p>
            <a:r>
              <a:rPr lang="cs-CZ" dirty="0"/>
              <a:t>To je stejné jako použití následujícího dotazu</a:t>
            </a:r>
          </a:p>
          <a:p>
            <a:endParaRPr lang="cs-CZ" dirty="0"/>
          </a:p>
        </p:txBody>
      </p:sp>
      <p:pic>
        <p:nvPicPr>
          <p:cNvPr id="4" name="Picture 34">
            <a:extLst>
              <a:ext uri="{FF2B5EF4-FFF2-40B4-BE49-F238E27FC236}">
                <a16:creationId xmlns:a16="http://schemas.microsoft.com/office/drawing/2014/main" id="{073BEAFA-1F01-41A9-AF7B-5F1F196121AF}"/>
              </a:ext>
            </a:extLst>
          </p:cNvPr>
          <p:cNvPicPr/>
          <p:nvPr/>
        </p:nvPicPr>
        <p:blipFill>
          <a:blip r:embed="rId2"/>
          <a:stretch>
            <a:fillRect/>
          </a:stretch>
        </p:blipFill>
        <p:spPr>
          <a:xfrm>
            <a:off x="838200" y="2774091"/>
            <a:ext cx="6674708" cy="1451919"/>
          </a:xfrm>
          <a:prstGeom prst="rect">
            <a:avLst/>
          </a:prstGeom>
        </p:spPr>
      </p:pic>
      <p:pic>
        <p:nvPicPr>
          <p:cNvPr id="5" name="Picture 35">
            <a:extLst>
              <a:ext uri="{FF2B5EF4-FFF2-40B4-BE49-F238E27FC236}">
                <a16:creationId xmlns:a16="http://schemas.microsoft.com/office/drawing/2014/main" id="{76529D9D-B57D-4ADA-A78C-10F6C17A72B5}"/>
              </a:ext>
            </a:extLst>
          </p:cNvPr>
          <p:cNvPicPr/>
          <p:nvPr/>
        </p:nvPicPr>
        <p:blipFill>
          <a:blip r:embed="rId3"/>
          <a:stretch>
            <a:fillRect/>
          </a:stretch>
        </p:blipFill>
        <p:spPr>
          <a:xfrm>
            <a:off x="838200" y="5025274"/>
            <a:ext cx="6674708" cy="708261"/>
          </a:xfrm>
          <a:prstGeom prst="rect">
            <a:avLst/>
          </a:prstGeom>
        </p:spPr>
      </p:pic>
    </p:spTree>
    <p:extLst>
      <p:ext uri="{BB962C8B-B14F-4D97-AF65-F5344CB8AC3E}">
        <p14:creationId xmlns:p14="http://schemas.microsoft.com/office/powerpoint/2010/main" val="335972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E6AA188-67D1-4D34-B759-206721DA175C}"/>
              </a:ext>
            </a:extLst>
          </p:cNvPr>
          <p:cNvSpPr>
            <a:spLocks noGrp="1"/>
          </p:cNvSpPr>
          <p:nvPr>
            <p:ph type="title"/>
          </p:nvPr>
        </p:nvSpPr>
        <p:spPr/>
        <p:txBody>
          <a:bodyPr/>
          <a:lstStyle/>
          <a:p>
            <a:r>
              <a:rPr lang="cs-CZ" dirty="0"/>
              <a:t>IN</a:t>
            </a:r>
          </a:p>
        </p:txBody>
      </p:sp>
      <p:sp>
        <p:nvSpPr>
          <p:cNvPr id="3" name="Zástupný symbol pro obsah 2">
            <a:extLst>
              <a:ext uri="{FF2B5EF4-FFF2-40B4-BE49-F238E27FC236}">
                <a16:creationId xmlns:a16="http://schemas.microsoft.com/office/drawing/2014/main" id="{CD0C29CE-9D20-4245-9AC8-5B64CA65125C}"/>
              </a:ext>
            </a:extLst>
          </p:cNvPr>
          <p:cNvSpPr>
            <a:spLocks noGrp="1"/>
          </p:cNvSpPr>
          <p:nvPr>
            <p:ph idx="1"/>
          </p:nvPr>
        </p:nvSpPr>
        <p:spPr/>
        <p:txBody>
          <a:bodyPr/>
          <a:lstStyle/>
          <a:p>
            <a:r>
              <a:rPr lang="cs-CZ" dirty="0"/>
              <a:t>Je známo také jako </a:t>
            </a:r>
            <a:r>
              <a:rPr lang="cs-CZ" b="1" dirty="0" err="1"/>
              <a:t>membership</a:t>
            </a:r>
            <a:r>
              <a:rPr lang="cs-CZ" b="1" dirty="0"/>
              <a:t> </a:t>
            </a:r>
            <a:r>
              <a:rPr lang="cs-CZ" b="1" dirty="0" err="1"/>
              <a:t>condition</a:t>
            </a:r>
            <a:r>
              <a:rPr lang="cs-CZ" dirty="0"/>
              <a:t>, určuje, zda je hodnota ve specifické množině hodnot.</a:t>
            </a:r>
          </a:p>
          <a:p>
            <a:endParaRPr lang="cs-CZ" dirty="0"/>
          </a:p>
          <a:p>
            <a:endParaRPr lang="cs-CZ" dirty="0"/>
          </a:p>
          <a:p>
            <a:endParaRPr lang="cs-CZ" dirty="0"/>
          </a:p>
          <a:p>
            <a:endParaRPr lang="cs-CZ" dirty="0"/>
          </a:p>
          <a:p>
            <a:r>
              <a:rPr lang="cs-CZ" dirty="0"/>
              <a:t>Popravdě se i tento operátor dá nahradit klasickou podmínkou.</a:t>
            </a:r>
          </a:p>
          <a:p>
            <a:endParaRPr lang="cs-CZ" dirty="0"/>
          </a:p>
        </p:txBody>
      </p:sp>
      <p:pic>
        <p:nvPicPr>
          <p:cNvPr id="4" name="Picture 36">
            <a:extLst>
              <a:ext uri="{FF2B5EF4-FFF2-40B4-BE49-F238E27FC236}">
                <a16:creationId xmlns:a16="http://schemas.microsoft.com/office/drawing/2014/main" id="{67F013B3-A70A-4340-86E5-62A8888B0713}"/>
              </a:ext>
            </a:extLst>
          </p:cNvPr>
          <p:cNvPicPr/>
          <p:nvPr/>
        </p:nvPicPr>
        <p:blipFill>
          <a:blip r:embed="rId2"/>
          <a:stretch>
            <a:fillRect/>
          </a:stretch>
        </p:blipFill>
        <p:spPr>
          <a:xfrm>
            <a:off x="838200" y="2856856"/>
            <a:ext cx="7391400" cy="1715144"/>
          </a:xfrm>
          <a:prstGeom prst="rect">
            <a:avLst/>
          </a:prstGeom>
        </p:spPr>
      </p:pic>
      <p:pic>
        <p:nvPicPr>
          <p:cNvPr id="5" name="Picture 37">
            <a:extLst>
              <a:ext uri="{FF2B5EF4-FFF2-40B4-BE49-F238E27FC236}">
                <a16:creationId xmlns:a16="http://schemas.microsoft.com/office/drawing/2014/main" id="{65410CD3-5A84-40DF-994A-5CD3FAB53E17}"/>
              </a:ext>
            </a:extLst>
          </p:cNvPr>
          <p:cNvPicPr/>
          <p:nvPr/>
        </p:nvPicPr>
        <p:blipFill>
          <a:blip r:embed="rId3"/>
          <a:stretch>
            <a:fillRect/>
          </a:stretch>
        </p:blipFill>
        <p:spPr>
          <a:xfrm>
            <a:off x="838199" y="5616575"/>
            <a:ext cx="5389605" cy="1031360"/>
          </a:xfrm>
          <a:prstGeom prst="rect">
            <a:avLst/>
          </a:prstGeom>
        </p:spPr>
      </p:pic>
    </p:spTree>
    <p:extLst>
      <p:ext uri="{BB962C8B-B14F-4D97-AF65-F5344CB8AC3E}">
        <p14:creationId xmlns:p14="http://schemas.microsoft.com/office/powerpoint/2010/main" val="448012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F55B89-58EE-448C-8A18-CF3DF25C2403}"/>
              </a:ext>
            </a:extLst>
          </p:cNvPr>
          <p:cNvSpPr>
            <a:spLocks noGrp="1"/>
          </p:cNvSpPr>
          <p:nvPr>
            <p:ph type="title"/>
          </p:nvPr>
        </p:nvSpPr>
        <p:spPr/>
        <p:txBody>
          <a:bodyPr/>
          <a:lstStyle/>
          <a:p>
            <a:r>
              <a:rPr lang="cs-CZ" dirty="0"/>
              <a:t>LIKE I.</a:t>
            </a:r>
          </a:p>
        </p:txBody>
      </p:sp>
      <p:sp>
        <p:nvSpPr>
          <p:cNvPr id="3" name="Zástupný symbol pro obsah 2">
            <a:extLst>
              <a:ext uri="{FF2B5EF4-FFF2-40B4-BE49-F238E27FC236}">
                <a16:creationId xmlns:a16="http://schemas.microsoft.com/office/drawing/2014/main" id="{D49E7C57-FD03-4533-998F-AA1F4CDD2D94}"/>
              </a:ext>
            </a:extLst>
          </p:cNvPr>
          <p:cNvSpPr>
            <a:spLocks noGrp="1"/>
          </p:cNvSpPr>
          <p:nvPr>
            <p:ph idx="1"/>
          </p:nvPr>
        </p:nvSpPr>
        <p:spPr/>
        <p:txBody>
          <a:bodyPr/>
          <a:lstStyle/>
          <a:p>
            <a:r>
              <a:rPr lang="cs-CZ" dirty="0"/>
              <a:t>Tento operátor slouží pro porovnávání s podobností zadaného řetězce. Například vyhledání všech programu začínajících na S apod. existují 2 symboly % a _, které se nazývají </a:t>
            </a:r>
            <a:r>
              <a:rPr lang="cs-CZ" dirty="0" err="1"/>
              <a:t>wildcard</a:t>
            </a:r>
            <a:r>
              <a:rPr lang="cs-CZ" dirty="0"/>
              <a:t> znaky a jsou používány pro výstavbu vyhledávacího řetězce.</a:t>
            </a:r>
          </a:p>
          <a:p>
            <a:r>
              <a:rPr lang="cs-CZ" b="1" dirty="0"/>
              <a:t>%</a:t>
            </a:r>
            <a:r>
              <a:rPr lang="cs-CZ" dirty="0"/>
              <a:t> reprezentuje libovolnou sekvenci 0 nebo více znaků.</a:t>
            </a:r>
          </a:p>
          <a:p>
            <a:r>
              <a:rPr lang="cs-CZ" b="1" dirty="0"/>
              <a:t>_</a:t>
            </a:r>
            <a:r>
              <a:rPr lang="cs-CZ" dirty="0"/>
              <a:t> je symbol používaný pro jeden znak.</a:t>
            </a:r>
          </a:p>
          <a:p>
            <a:endParaRPr lang="cs-CZ" dirty="0"/>
          </a:p>
        </p:txBody>
      </p:sp>
    </p:spTree>
    <p:extLst>
      <p:ext uri="{BB962C8B-B14F-4D97-AF65-F5344CB8AC3E}">
        <p14:creationId xmlns:p14="http://schemas.microsoft.com/office/powerpoint/2010/main" val="268053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584576C-ED67-423D-820D-E973FC201E91}"/>
              </a:ext>
            </a:extLst>
          </p:cNvPr>
          <p:cNvSpPr>
            <a:spLocks noGrp="1"/>
          </p:cNvSpPr>
          <p:nvPr>
            <p:ph type="title"/>
          </p:nvPr>
        </p:nvSpPr>
        <p:spPr/>
        <p:txBody>
          <a:bodyPr/>
          <a:lstStyle/>
          <a:p>
            <a:r>
              <a:rPr lang="cs-CZ" dirty="0"/>
              <a:t>LIKE II.</a:t>
            </a:r>
          </a:p>
        </p:txBody>
      </p:sp>
      <p:sp>
        <p:nvSpPr>
          <p:cNvPr id="3" name="Zástupný symbol pro obsah 2">
            <a:extLst>
              <a:ext uri="{FF2B5EF4-FFF2-40B4-BE49-F238E27FC236}">
                <a16:creationId xmlns:a16="http://schemas.microsoft.com/office/drawing/2014/main" id="{A6D1A270-2049-4F42-962C-C1680A7F46AA}"/>
              </a:ext>
            </a:extLst>
          </p:cNvPr>
          <p:cNvSpPr>
            <a:spLocks noGrp="1"/>
          </p:cNvSpPr>
          <p:nvPr>
            <p:ph idx="1"/>
          </p:nvPr>
        </p:nvSpPr>
        <p:spPr/>
        <p:txBody>
          <a:bodyPr/>
          <a:lstStyle/>
          <a:p>
            <a:endParaRPr lang="cs-CZ" dirty="0"/>
          </a:p>
          <a:p>
            <a:endParaRPr lang="cs-CZ" dirty="0"/>
          </a:p>
          <a:p>
            <a:endParaRPr lang="cs-CZ" dirty="0"/>
          </a:p>
          <a:p>
            <a:r>
              <a:rPr lang="cs-CZ" dirty="0"/>
              <a:t>Které z následujících záznamů budou vráceny?</a:t>
            </a:r>
          </a:p>
          <a:p>
            <a:r>
              <a:rPr lang="cs-CZ" dirty="0" err="1"/>
              <a:t>Sommersmith</a:t>
            </a:r>
            <a:endParaRPr lang="cs-CZ" dirty="0"/>
          </a:p>
          <a:p>
            <a:r>
              <a:rPr lang="cs-CZ" dirty="0" err="1"/>
              <a:t>Oog</a:t>
            </a:r>
            <a:endParaRPr lang="cs-CZ" dirty="0"/>
          </a:p>
          <a:p>
            <a:r>
              <a:rPr lang="cs-CZ" dirty="0" err="1"/>
              <a:t>Fong</a:t>
            </a:r>
            <a:endParaRPr lang="cs-CZ" dirty="0"/>
          </a:p>
          <a:p>
            <a:r>
              <a:rPr lang="cs-CZ" dirty="0" err="1"/>
              <a:t>Mo</a:t>
            </a:r>
            <a:endParaRPr lang="cs-CZ" dirty="0"/>
          </a:p>
          <a:p>
            <a:endParaRPr lang="cs-CZ" dirty="0"/>
          </a:p>
        </p:txBody>
      </p:sp>
      <p:pic>
        <p:nvPicPr>
          <p:cNvPr id="4" name="Picture 38">
            <a:extLst>
              <a:ext uri="{FF2B5EF4-FFF2-40B4-BE49-F238E27FC236}">
                <a16:creationId xmlns:a16="http://schemas.microsoft.com/office/drawing/2014/main" id="{25EB90DB-A142-4CB0-B024-67433580CCCA}"/>
              </a:ext>
            </a:extLst>
          </p:cNvPr>
          <p:cNvPicPr/>
          <p:nvPr/>
        </p:nvPicPr>
        <p:blipFill>
          <a:blip r:embed="rId2"/>
          <a:stretch>
            <a:fillRect/>
          </a:stretch>
        </p:blipFill>
        <p:spPr>
          <a:xfrm>
            <a:off x="838200" y="1690688"/>
            <a:ext cx="5880652" cy="1317555"/>
          </a:xfrm>
          <a:prstGeom prst="rect">
            <a:avLst/>
          </a:prstGeom>
        </p:spPr>
      </p:pic>
    </p:spTree>
    <p:extLst>
      <p:ext uri="{BB962C8B-B14F-4D97-AF65-F5344CB8AC3E}">
        <p14:creationId xmlns:p14="http://schemas.microsoft.com/office/powerpoint/2010/main" val="1807370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B9A4397-ED2B-474E-9D5C-413315D49B60}"/>
              </a:ext>
            </a:extLst>
          </p:cNvPr>
          <p:cNvSpPr>
            <a:spLocks noGrp="1"/>
          </p:cNvSpPr>
          <p:nvPr>
            <p:ph type="title"/>
          </p:nvPr>
        </p:nvSpPr>
        <p:spPr/>
        <p:txBody>
          <a:bodyPr/>
          <a:lstStyle/>
          <a:p>
            <a:r>
              <a:rPr lang="cs-CZ" dirty="0"/>
              <a:t>IS NULL, IS NOT NULL I.</a:t>
            </a:r>
          </a:p>
        </p:txBody>
      </p:sp>
      <p:sp>
        <p:nvSpPr>
          <p:cNvPr id="3" name="Zástupný symbol pro obsah 2">
            <a:extLst>
              <a:ext uri="{FF2B5EF4-FFF2-40B4-BE49-F238E27FC236}">
                <a16:creationId xmlns:a16="http://schemas.microsoft.com/office/drawing/2014/main" id="{FEAC6BB2-B781-4D6E-B582-74816C8B6711}"/>
              </a:ext>
            </a:extLst>
          </p:cNvPr>
          <p:cNvSpPr>
            <a:spLocks noGrp="1"/>
          </p:cNvSpPr>
          <p:nvPr>
            <p:ph idx="1"/>
          </p:nvPr>
        </p:nvSpPr>
        <p:spPr/>
        <p:txBody>
          <a:bodyPr/>
          <a:lstStyle/>
          <a:p>
            <a:r>
              <a:rPr lang="cs-CZ" dirty="0"/>
              <a:t>Pamatujete se na hodnotu </a:t>
            </a:r>
            <a:r>
              <a:rPr lang="cs-CZ" dirty="0" err="1"/>
              <a:t>null</a:t>
            </a:r>
            <a:r>
              <a:rPr lang="cs-CZ" dirty="0"/>
              <a:t>? Hodnota, která byla bezvýznamová, nepřiřazená nebo nedostupná? Často se hodí, umět hodnotu </a:t>
            </a:r>
            <a:r>
              <a:rPr lang="cs-CZ" dirty="0" err="1"/>
              <a:t>null</a:t>
            </a:r>
            <a:r>
              <a:rPr lang="cs-CZ" dirty="0"/>
              <a:t> testovat. Například chcete všechny zákazníky z databáze, kteří nemají přidělené telefonní číslo.</a:t>
            </a:r>
          </a:p>
          <a:p>
            <a:r>
              <a:rPr lang="cs-CZ" b="1" dirty="0"/>
              <a:t>IS NULL </a:t>
            </a:r>
            <a:r>
              <a:rPr lang="cs-CZ" dirty="0"/>
              <a:t>hledá prázdné hodnoty, </a:t>
            </a:r>
            <a:r>
              <a:rPr lang="cs-CZ" b="1" dirty="0"/>
              <a:t>IS NOT NULL </a:t>
            </a:r>
            <a:r>
              <a:rPr lang="cs-CZ" dirty="0"/>
              <a:t>naopak neprázdné hodnoty.</a:t>
            </a:r>
          </a:p>
          <a:p>
            <a:endParaRPr lang="cs-CZ" dirty="0"/>
          </a:p>
        </p:txBody>
      </p:sp>
    </p:spTree>
    <p:extLst>
      <p:ext uri="{BB962C8B-B14F-4D97-AF65-F5344CB8AC3E}">
        <p14:creationId xmlns:p14="http://schemas.microsoft.com/office/powerpoint/2010/main" val="3988653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FED3AE-839F-4C7A-B8C6-2B6EA1175A45}"/>
              </a:ext>
            </a:extLst>
          </p:cNvPr>
          <p:cNvSpPr>
            <a:spLocks noGrp="1"/>
          </p:cNvSpPr>
          <p:nvPr>
            <p:ph type="title"/>
          </p:nvPr>
        </p:nvSpPr>
        <p:spPr/>
        <p:txBody>
          <a:bodyPr/>
          <a:lstStyle/>
          <a:p>
            <a:r>
              <a:rPr lang="cs-CZ" dirty="0"/>
              <a:t>IS NULL, IS NOT NULL II.</a:t>
            </a:r>
          </a:p>
        </p:txBody>
      </p:sp>
      <p:sp>
        <p:nvSpPr>
          <p:cNvPr id="3" name="Zástupný symbol pro obsah 2">
            <a:extLst>
              <a:ext uri="{FF2B5EF4-FFF2-40B4-BE49-F238E27FC236}">
                <a16:creationId xmlns:a16="http://schemas.microsoft.com/office/drawing/2014/main" id="{9F804537-7CE9-4762-9709-3DB69793BADF}"/>
              </a:ext>
            </a:extLst>
          </p:cNvPr>
          <p:cNvSpPr>
            <a:spLocks noGrp="1"/>
          </p:cNvSpPr>
          <p:nvPr>
            <p:ph idx="1"/>
          </p:nvPr>
        </p:nvSpPr>
        <p:spPr/>
        <p:txBody>
          <a:bodyPr/>
          <a:lstStyle/>
          <a:p>
            <a:endParaRPr lang="cs-CZ"/>
          </a:p>
        </p:txBody>
      </p:sp>
      <p:pic>
        <p:nvPicPr>
          <p:cNvPr id="4" name="Picture 42">
            <a:extLst>
              <a:ext uri="{FF2B5EF4-FFF2-40B4-BE49-F238E27FC236}">
                <a16:creationId xmlns:a16="http://schemas.microsoft.com/office/drawing/2014/main" id="{36533FD9-6182-4854-B610-931E161C8769}"/>
              </a:ext>
            </a:extLst>
          </p:cNvPr>
          <p:cNvPicPr/>
          <p:nvPr/>
        </p:nvPicPr>
        <p:blipFill>
          <a:blip r:embed="rId2"/>
          <a:stretch>
            <a:fillRect/>
          </a:stretch>
        </p:blipFill>
        <p:spPr>
          <a:xfrm>
            <a:off x="838200" y="1690688"/>
            <a:ext cx="8330514" cy="4486275"/>
          </a:xfrm>
          <a:prstGeom prst="rect">
            <a:avLst/>
          </a:prstGeom>
        </p:spPr>
      </p:pic>
    </p:spTree>
    <p:extLst>
      <p:ext uri="{BB962C8B-B14F-4D97-AF65-F5344CB8AC3E}">
        <p14:creationId xmlns:p14="http://schemas.microsoft.com/office/powerpoint/2010/main" val="1133057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AB79FB2-0D2D-40BC-9AA4-34FD68E4B3B8}"/>
              </a:ext>
            </a:extLst>
          </p:cNvPr>
          <p:cNvSpPr>
            <a:spLocks noGrp="1"/>
          </p:cNvSpPr>
          <p:nvPr>
            <p:ph type="title"/>
          </p:nvPr>
        </p:nvSpPr>
        <p:spPr/>
        <p:txBody>
          <a:bodyPr/>
          <a:lstStyle/>
          <a:p>
            <a:r>
              <a:rPr lang="cs-CZ" dirty="0"/>
              <a:t>Logické porovnávání a pravidla přednosti</a:t>
            </a:r>
          </a:p>
        </p:txBody>
      </p:sp>
      <p:sp>
        <p:nvSpPr>
          <p:cNvPr id="3" name="Zástupný symbol pro obsah 2">
            <a:extLst>
              <a:ext uri="{FF2B5EF4-FFF2-40B4-BE49-F238E27FC236}">
                <a16:creationId xmlns:a16="http://schemas.microsoft.com/office/drawing/2014/main" id="{C0A6010B-C032-45D0-8588-161695E239EA}"/>
              </a:ext>
            </a:extLst>
          </p:cNvPr>
          <p:cNvSpPr>
            <a:spLocks noGrp="1"/>
          </p:cNvSpPr>
          <p:nvPr>
            <p:ph idx="1"/>
          </p:nvPr>
        </p:nvSpPr>
        <p:spPr/>
        <p:txBody>
          <a:bodyPr/>
          <a:lstStyle/>
          <a:p>
            <a:r>
              <a:rPr lang="cs-CZ" dirty="0"/>
              <a:t>V životě není moc věcí, které by závisely jen na jedné podmínce. Například když chcete na školu, musíte mít mimo dobrého prospěchu také peníze na školné. Nebo při tvorbě přehledu chcete vidět výsledky jen jedné pobočky jednoho manažera.</a:t>
            </a:r>
          </a:p>
          <a:p>
            <a:endParaRPr lang="cs-CZ" dirty="0"/>
          </a:p>
        </p:txBody>
      </p:sp>
    </p:spTree>
    <p:extLst>
      <p:ext uri="{BB962C8B-B14F-4D97-AF65-F5344CB8AC3E}">
        <p14:creationId xmlns:p14="http://schemas.microsoft.com/office/powerpoint/2010/main" val="989074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01A19FC-4191-45B8-A3D5-0B8CE16D995D}"/>
              </a:ext>
            </a:extLst>
          </p:cNvPr>
          <p:cNvSpPr>
            <a:spLocks noGrp="1"/>
          </p:cNvSpPr>
          <p:nvPr>
            <p:ph type="title"/>
          </p:nvPr>
        </p:nvSpPr>
        <p:spPr/>
        <p:txBody>
          <a:bodyPr/>
          <a:lstStyle/>
          <a:p>
            <a:r>
              <a:rPr lang="cs-CZ" dirty="0"/>
              <a:t>Logické podmínky I.</a:t>
            </a:r>
          </a:p>
        </p:txBody>
      </p:sp>
      <p:sp>
        <p:nvSpPr>
          <p:cNvPr id="3" name="Zástupný symbol pro obsah 2">
            <a:extLst>
              <a:ext uri="{FF2B5EF4-FFF2-40B4-BE49-F238E27FC236}">
                <a16:creationId xmlns:a16="http://schemas.microsoft.com/office/drawing/2014/main" id="{901DED3E-4EB3-48D8-860C-8651B73BA233}"/>
              </a:ext>
            </a:extLst>
          </p:cNvPr>
          <p:cNvSpPr>
            <a:spLocks noGrp="1"/>
          </p:cNvSpPr>
          <p:nvPr>
            <p:ph idx="1"/>
          </p:nvPr>
        </p:nvSpPr>
        <p:spPr/>
        <p:txBody>
          <a:bodyPr>
            <a:normAutofit fontScale="92500"/>
          </a:bodyPr>
          <a:lstStyle/>
          <a:p>
            <a:r>
              <a:rPr lang="cs-CZ" dirty="0"/>
              <a:t>Logické podmínky kombinují výsledky dvou komponentních podmínek, aby zobrazily jednotný výsledek v závislosti na dílčích výsledcích. Když chcete jet na koncert, tak musíte mít lístky A ZÁROVEŇ mít zajištěnou dopravu, jen tak je možné koncert navštívit.</a:t>
            </a:r>
          </a:p>
          <a:p>
            <a:r>
              <a:rPr lang="cs-CZ" dirty="0"/>
              <a:t>Jiná logická podmínka kombinuje dvě komponenty pomocí spojky NEBO. Například zaměstnanci dostanou přidáno, když jsou v práci 5 let NEBO vykazují dobré prodeje, tyto podmínky nemusí být obě splněny.</a:t>
            </a:r>
          </a:p>
          <a:p>
            <a:r>
              <a:rPr lang="cs-CZ" b="1" dirty="0"/>
              <a:t>AND</a:t>
            </a:r>
            <a:r>
              <a:rPr lang="cs-CZ" dirty="0"/>
              <a:t> vrací </a:t>
            </a:r>
            <a:r>
              <a:rPr lang="cs-CZ" dirty="0" err="1"/>
              <a:t>true</a:t>
            </a:r>
            <a:r>
              <a:rPr lang="cs-CZ" dirty="0"/>
              <a:t> když jsou obě podmínky pravdivé.</a:t>
            </a:r>
          </a:p>
          <a:p>
            <a:r>
              <a:rPr lang="cs-CZ" b="1" dirty="0"/>
              <a:t>OR</a:t>
            </a:r>
            <a:r>
              <a:rPr lang="cs-CZ" dirty="0"/>
              <a:t> vrací </a:t>
            </a:r>
            <a:r>
              <a:rPr lang="cs-CZ" dirty="0" err="1"/>
              <a:t>true</a:t>
            </a:r>
            <a:r>
              <a:rPr lang="cs-CZ" dirty="0"/>
              <a:t> pokud je alespoň jedna podmínka pravdivá.</a:t>
            </a:r>
          </a:p>
          <a:p>
            <a:r>
              <a:rPr lang="cs-CZ" b="1" dirty="0"/>
              <a:t>NOT</a:t>
            </a:r>
            <a:r>
              <a:rPr lang="cs-CZ" dirty="0"/>
              <a:t> vrací </a:t>
            </a:r>
            <a:r>
              <a:rPr lang="cs-CZ" dirty="0" err="1"/>
              <a:t>true</a:t>
            </a:r>
            <a:r>
              <a:rPr lang="cs-CZ" dirty="0"/>
              <a:t> pokud je podmínka </a:t>
            </a:r>
            <a:r>
              <a:rPr lang="cs-CZ" dirty="0" err="1"/>
              <a:t>false</a:t>
            </a:r>
            <a:r>
              <a:rPr lang="cs-CZ" dirty="0"/>
              <a:t>.</a:t>
            </a:r>
          </a:p>
          <a:p>
            <a:endParaRPr lang="cs-CZ" dirty="0"/>
          </a:p>
          <a:p>
            <a:endParaRPr lang="cs-CZ" dirty="0"/>
          </a:p>
          <a:p>
            <a:endParaRPr lang="cs-CZ" dirty="0"/>
          </a:p>
        </p:txBody>
      </p:sp>
    </p:spTree>
    <p:extLst>
      <p:ext uri="{BB962C8B-B14F-4D97-AF65-F5344CB8AC3E}">
        <p14:creationId xmlns:p14="http://schemas.microsoft.com/office/powerpoint/2010/main" val="1371483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C3B79CE-DDC3-47E2-B7EE-EA4C278A18D2}"/>
              </a:ext>
            </a:extLst>
          </p:cNvPr>
          <p:cNvSpPr>
            <a:spLocks noGrp="1"/>
          </p:cNvSpPr>
          <p:nvPr>
            <p:ph type="title"/>
          </p:nvPr>
        </p:nvSpPr>
        <p:spPr/>
        <p:txBody>
          <a:bodyPr/>
          <a:lstStyle/>
          <a:p>
            <a:r>
              <a:rPr lang="cs-CZ" dirty="0"/>
              <a:t>Logické podmínky II.</a:t>
            </a:r>
          </a:p>
        </p:txBody>
      </p:sp>
      <p:sp>
        <p:nvSpPr>
          <p:cNvPr id="3" name="Zástupný symbol pro obsah 2">
            <a:extLst>
              <a:ext uri="{FF2B5EF4-FFF2-40B4-BE49-F238E27FC236}">
                <a16:creationId xmlns:a16="http://schemas.microsoft.com/office/drawing/2014/main" id="{A20C5FEC-DD11-4955-96B6-1CAE379D8BC9}"/>
              </a:ext>
            </a:extLst>
          </p:cNvPr>
          <p:cNvSpPr>
            <a:spLocks noGrp="1"/>
          </p:cNvSpPr>
          <p:nvPr>
            <p:ph idx="1"/>
          </p:nvPr>
        </p:nvSpPr>
        <p:spPr/>
        <p:txBody>
          <a:bodyPr/>
          <a:lstStyle/>
          <a:p>
            <a:r>
              <a:rPr lang="cs-CZ" dirty="0"/>
              <a:t>AND</a:t>
            </a:r>
          </a:p>
          <a:p>
            <a:endParaRPr lang="cs-CZ" dirty="0"/>
          </a:p>
          <a:p>
            <a:endParaRPr lang="cs-CZ" dirty="0"/>
          </a:p>
          <a:p>
            <a:endParaRPr lang="cs-CZ" dirty="0"/>
          </a:p>
          <a:p>
            <a:r>
              <a:rPr lang="cs-CZ" dirty="0"/>
              <a:t>OR</a:t>
            </a:r>
          </a:p>
        </p:txBody>
      </p:sp>
      <p:pic>
        <p:nvPicPr>
          <p:cNvPr id="4" name="Picture 43">
            <a:extLst>
              <a:ext uri="{FF2B5EF4-FFF2-40B4-BE49-F238E27FC236}">
                <a16:creationId xmlns:a16="http://schemas.microsoft.com/office/drawing/2014/main" id="{11BE0023-5DAF-460B-A099-F7CA3B697605}"/>
              </a:ext>
            </a:extLst>
          </p:cNvPr>
          <p:cNvPicPr/>
          <p:nvPr/>
        </p:nvPicPr>
        <p:blipFill>
          <a:blip r:embed="rId2"/>
          <a:stretch>
            <a:fillRect/>
          </a:stretch>
        </p:blipFill>
        <p:spPr>
          <a:xfrm>
            <a:off x="838200" y="2347784"/>
            <a:ext cx="6526428" cy="1408670"/>
          </a:xfrm>
          <a:prstGeom prst="rect">
            <a:avLst/>
          </a:prstGeom>
        </p:spPr>
      </p:pic>
      <p:pic>
        <p:nvPicPr>
          <p:cNvPr id="5" name="Picture 44">
            <a:extLst>
              <a:ext uri="{FF2B5EF4-FFF2-40B4-BE49-F238E27FC236}">
                <a16:creationId xmlns:a16="http://schemas.microsoft.com/office/drawing/2014/main" id="{300D7847-116C-4817-AC9E-5B8AB9BD6226}"/>
              </a:ext>
            </a:extLst>
          </p:cNvPr>
          <p:cNvPicPr/>
          <p:nvPr/>
        </p:nvPicPr>
        <p:blipFill>
          <a:blip r:embed="rId3"/>
          <a:stretch>
            <a:fillRect/>
          </a:stretch>
        </p:blipFill>
        <p:spPr>
          <a:xfrm>
            <a:off x="838199" y="4358332"/>
            <a:ext cx="6304005" cy="1818631"/>
          </a:xfrm>
          <a:prstGeom prst="rect">
            <a:avLst/>
          </a:prstGeom>
        </p:spPr>
      </p:pic>
    </p:spTree>
    <p:extLst>
      <p:ext uri="{BB962C8B-B14F-4D97-AF65-F5344CB8AC3E}">
        <p14:creationId xmlns:p14="http://schemas.microsoft.com/office/powerpoint/2010/main" val="237465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61E2B43-A9A0-439A-A076-DD0CF1B54008}"/>
              </a:ext>
            </a:extLst>
          </p:cNvPr>
          <p:cNvSpPr>
            <a:spLocks noGrp="1"/>
          </p:cNvSpPr>
          <p:nvPr>
            <p:ph type="title"/>
          </p:nvPr>
        </p:nvSpPr>
        <p:spPr/>
        <p:txBody>
          <a:bodyPr/>
          <a:lstStyle/>
          <a:p>
            <a:r>
              <a:rPr lang="cs-CZ" dirty="0"/>
              <a:t>Logické podmínky III.</a:t>
            </a:r>
          </a:p>
        </p:txBody>
      </p:sp>
      <p:sp>
        <p:nvSpPr>
          <p:cNvPr id="3" name="Zástupný symbol pro obsah 2">
            <a:extLst>
              <a:ext uri="{FF2B5EF4-FFF2-40B4-BE49-F238E27FC236}">
                <a16:creationId xmlns:a16="http://schemas.microsoft.com/office/drawing/2014/main" id="{695C0D01-9C71-43D5-B031-AB196C150FE8}"/>
              </a:ext>
            </a:extLst>
          </p:cNvPr>
          <p:cNvSpPr>
            <a:spLocks noGrp="1"/>
          </p:cNvSpPr>
          <p:nvPr>
            <p:ph idx="1"/>
          </p:nvPr>
        </p:nvSpPr>
        <p:spPr/>
        <p:txBody>
          <a:bodyPr/>
          <a:lstStyle/>
          <a:p>
            <a:r>
              <a:rPr lang="cs-CZ" dirty="0"/>
              <a:t>NOT</a:t>
            </a:r>
          </a:p>
        </p:txBody>
      </p:sp>
      <p:pic>
        <p:nvPicPr>
          <p:cNvPr id="4" name="Picture 45">
            <a:extLst>
              <a:ext uri="{FF2B5EF4-FFF2-40B4-BE49-F238E27FC236}">
                <a16:creationId xmlns:a16="http://schemas.microsoft.com/office/drawing/2014/main" id="{3DD60963-9F38-4CDD-84A4-1E42F0047486}"/>
              </a:ext>
            </a:extLst>
          </p:cNvPr>
          <p:cNvPicPr/>
          <p:nvPr/>
        </p:nvPicPr>
        <p:blipFill>
          <a:blip r:embed="rId2"/>
          <a:stretch>
            <a:fillRect/>
          </a:stretch>
        </p:blipFill>
        <p:spPr>
          <a:xfrm>
            <a:off x="838200" y="2456163"/>
            <a:ext cx="5883876" cy="2486540"/>
          </a:xfrm>
          <a:prstGeom prst="rect">
            <a:avLst/>
          </a:prstGeom>
        </p:spPr>
      </p:pic>
    </p:spTree>
    <p:extLst>
      <p:ext uri="{BB962C8B-B14F-4D97-AF65-F5344CB8AC3E}">
        <p14:creationId xmlns:p14="http://schemas.microsoft.com/office/powerpoint/2010/main" val="1544505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BB429B1-CB46-4B62-9303-44EA87BBAA75}"/>
              </a:ext>
            </a:extLst>
          </p:cNvPr>
          <p:cNvSpPr>
            <a:spLocks noGrp="1"/>
          </p:cNvSpPr>
          <p:nvPr>
            <p:ph type="title"/>
          </p:nvPr>
        </p:nvSpPr>
        <p:spPr/>
        <p:txBody>
          <a:bodyPr/>
          <a:lstStyle/>
          <a:p>
            <a:r>
              <a:rPr lang="cs-CZ" dirty="0"/>
              <a:t>ORDER BY I.</a:t>
            </a:r>
          </a:p>
        </p:txBody>
      </p:sp>
      <p:sp>
        <p:nvSpPr>
          <p:cNvPr id="3" name="Zástupný symbol pro obsah 2">
            <a:extLst>
              <a:ext uri="{FF2B5EF4-FFF2-40B4-BE49-F238E27FC236}">
                <a16:creationId xmlns:a16="http://schemas.microsoft.com/office/drawing/2014/main" id="{4E07036F-3DED-47C1-A0DB-39E298A9F84F}"/>
              </a:ext>
            </a:extLst>
          </p:cNvPr>
          <p:cNvSpPr>
            <a:spLocks noGrp="1"/>
          </p:cNvSpPr>
          <p:nvPr>
            <p:ph idx="1"/>
          </p:nvPr>
        </p:nvSpPr>
        <p:spPr/>
        <p:txBody>
          <a:bodyPr>
            <a:normAutofit/>
          </a:bodyPr>
          <a:lstStyle/>
          <a:p>
            <a:r>
              <a:rPr lang="cs-CZ" dirty="0"/>
              <a:t>Přirozeně potřebujeme mít věcí v určitém pořadí. Představte si, že při každém jídle byste hledali po celé kuchyni příbory, talíře apod. Řazení, seskupování nám pomáhá nalézt věci snadněji a vnáší pořádek do našeho života.</a:t>
            </a:r>
          </a:p>
          <a:p>
            <a:r>
              <a:rPr lang="cs-CZ" dirty="0"/>
              <a:t>V SQL slouží pro řazení klauzule ORDER BY, která může několika způsoby určovat, jak mají být data uspořádaná. Primárním řazením je vzestupné. Číselné hodnoty jsou řazeny od nejmenší po největší, data od nejdřívějšího po nejaktuálnější, </a:t>
            </a:r>
            <a:r>
              <a:rPr lang="cs-CZ" dirty="0" err="1"/>
              <a:t>null</a:t>
            </a:r>
            <a:r>
              <a:rPr lang="cs-CZ" dirty="0"/>
              <a:t> je dáváno nakonec. Klauzule </a:t>
            </a:r>
            <a:r>
              <a:rPr lang="cs-CZ" dirty="0" err="1"/>
              <a:t>order</a:t>
            </a:r>
            <a:r>
              <a:rPr lang="cs-CZ" dirty="0"/>
              <a:t> by je vždy poslední v pořadí při psaní dotazů SQL!</a:t>
            </a:r>
          </a:p>
          <a:p>
            <a:endParaRPr lang="cs-CZ" dirty="0"/>
          </a:p>
        </p:txBody>
      </p:sp>
    </p:spTree>
    <p:extLst>
      <p:ext uri="{BB962C8B-B14F-4D97-AF65-F5344CB8AC3E}">
        <p14:creationId xmlns:p14="http://schemas.microsoft.com/office/powerpoint/2010/main" val="4117306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FEB68D2-1CC7-4F81-BA96-D16842F1D3C1}"/>
              </a:ext>
            </a:extLst>
          </p:cNvPr>
          <p:cNvSpPr>
            <a:spLocks noGrp="1"/>
          </p:cNvSpPr>
          <p:nvPr>
            <p:ph type="title"/>
          </p:nvPr>
        </p:nvSpPr>
        <p:spPr/>
        <p:txBody>
          <a:bodyPr/>
          <a:lstStyle/>
          <a:p>
            <a:r>
              <a:rPr lang="cs-CZ" dirty="0"/>
              <a:t>… odbočka</a:t>
            </a:r>
          </a:p>
        </p:txBody>
      </p:sp>
      <p:sp>
        <p:nvSpPr>
          <p:cNvPr id="3" name="Zástupný symbol pro obsah 2">
            <a:extLst>
              <a:ext uri="{FF2B5EF4-FFF2-40B4-BE49-F238E27FC236}">
                <a16:creationId xmlns:a16="http://schemas.microsoft.com/office/drawing/2014/main" id="{0E6921D1-E89C-46F9-8CDA-9AB87541F551}"/>
              </a:ext>
            </a:extLst>
          </p:cNvPr>
          <p:cNvSpPr>
            <a:spLocks noGrp="1"/>
          </p:cNvSpPr>
          <p:nvPr>
            <p:ph idx="1"/>
          </p:nvPr>
        </p:nvSpPr>
        <p:spPr/>
        <p:txBody>
          <a:bodyPr/>
          <a:lstStyle/>
          <a:p>
            <a:pPr marL="514350" indent="-514350">
              <a:buFont typeface="+mj-lt"/>
              <a:buAutoNum type="arabicPeriod"/>
            </a:pPr>
            <a:r>
              <a:rPr lang="cs-CZ" b="1" dirty="0"/>
              <a:t>FROM</a:t>
            </a:r>
            <a:r>
              <a:rPr lang="cs-CZ" dirty="0"/>
              <a:t> – adresuje tabulku</a:t>
            </a:r>
          </a:p>
          <a:p>
            <a:pPr marL="514350" indent="-514350">
              <a:buFont typeface="+mj-lt"/>
              <a:buAutoNum type="arabicPeriod"/>
            </a:pPr>
            <a:r>
              <a:rPr lang="cs-CZ" b="1" dirty="0"/>
              <a:t>WHERE</a:t>
            </a:r>
            <a:r>
              <a:rPr lang="cs-CZ" dirty="0"/>
              <a:t> – vybere řádky</a:t>
            </a:r>
          </a:p>
          <a:p>
            <a:pPr marL="514350" indent="-514350">
              <a:buFont typeface="+mj-lt"/>
              <a:buAutoNum type="arabicPeriod"/>
            </a:pPr>
            <a:r>
              <a:rPr lang="cs-CZ" b="1" dirty="0" err="1"/>
              <a:t>Select</a:t>
            </a:r>
            <a:r>
              <a:rPr lang="cs-CZ" dirty="0"/>
              <a:t> vybere </a:t>
            </a:r>
            <a:r>
              <a:rPr lang="cs-CZ" dirty="0" err="1"/>
              <a:t>dataset</a:t>
            </a:r>
            <a:r>
              <a:rPr lang="cs-CZ" dirty="0"/>
              <a:t> sloupců pro zobrazení</a:t>
            </a:r>
          </a:p>
          <a:p>
            <a:pPr marL="514350" indent="-514350">
              <a:buFont typeface="+mj-lt"/>
              <a:buAutoNum type="arabicPeriod"/>
            </a:pPr>
            <a:r>
              <a:rPr lang="cs-CZ" b="1" dirty="0" err="1"/>
              <a:t>Order</a:t>
            </a:r>
            <a:r>
              <a:rPr lang="cs-CZ" b="1" dirty="0"/>
              <a:t> by </a:t>
            </a:r>
            <a:r>
              <a:rPr lang="cs-CZ" dirty="0"/>
              <a:t>– seřadí výstup</a:t>
            </a:r>
          </a:p>
          <a:p>
            <a:endParaRPr lang="cs-CZ" dirty="0"/>
          </a:p>
        </p:txBody>
      </p:sp>
    </p:spTree>
    <p:extLst>
      <p:ext uri="{BB962C8B-B14F-4D97-AF65-F5344CB8AC3E}">
        <p14:creationId xmlns:p14="http://schemas.microsoft.com/office/powerpoint/2010/main" val="122486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1701F8C-4D83-4958-A56F-B065894F0735}"/>
              </a:ext>
            </a:extLst>
          </p:cNvPr>
          <p:cNvSpPr>
            <a:spLocks noGrp="1"/>
          </p:cNvSpPr>
          <p:nvPr>
            <p:ph type="title"/>
          </p:nvPr>
        </p:nvSpPr>
        <p:spPr/>
        <p:txBody>
          <a:bodyPr/>
          <a:lstStyle/>
          <a:p>
            <a:r>
              <a:rPr lang="cs-CZ" dirty="0"/>
              <a:t>ORDER BY II.</a:t>
            </a:r>
          </a:p>
        </p:txBody>
      </p:sp>
      <p:sp>
        <p:nvSpPr>
          <p:cNvPr id="3" name="Zástupný symbol pro obsah 2">
            <a:extLst>
              <a:ext uri="{FF2B5EF4-FFF2-40B4-BE49-F238E27FC236}">
                <a16:creationId xmlns:a16="http://schemas.microsoft.com/office/drawing/2014/main" id="{94DAC8CC-21EE-4047-BC72-3CCD9376EB6F}"/>
              </a:ext>
            </a:extLst>
          </p:cNvPr>
          <p:cNvSpPr>
            <a:spLocks noGrp="1"/>
          </p:cNvSpPr>
          <p:nvPr>
            <p:ph idx="1"/>
          </p:nvPr>
        </p:nvSpPr>
        <p:spPr/>
        <p:txBody>
          <a:bodyPr/>
          <a:lstStyle/>
          <a:p>
            <a:endParaRPr lang="cs-CZ"/>
          </a:p>
        </p:txBody>
      </p:sp>
      <p:pic>
        <p:nvPicPr>
          <p:cNvPr id="4" name="Picture 48">
            <a:extLst>
              <a:ext uri="{FF2B5EF4-FFF2-40B4-BE49-F238E27FC236}">
                <a16:creationId xmlns:a16="http://schemas.microsoft.com/office/drawing/2014/main" id="{DD6986E6-9767-4395-9FE4-CF1E202CE824}"/>
              </a:ext>
            </a:extLst>
          </p:cNvPr>
          <p:cNvPicPr/>
          <p:nvPr/>
        </p:nvPicPr>
        <p:blipFill>
          <a:blip r:embed="rId2"/>
          <a:stretch>
            <a:fillRect/>
          </a:stretch>
        </p:blipFill>
        <p:spPr>
          <a:xfrm>
            <a:off x="838199" y="1825624"/>
            <a:ext cx="7836243" cy="3636061"/>
          </a:xfrm>
          <a:prstGeom prst="rect">
            <a:avLst/>
          </a:prstGeom>
        </p:spPr>
      </p:pic>
    </p:spTree>
    <p:extLst>
      <p:ext uri="{BB962C8B-B14F-4D97-AF65-F5344CB8AC3E}">
        <p14:creationId xmlns:p14="http://schemas.microsoft.com/office/powerpoint/2010/main" val="3016420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D2D8D2E-03D4-40F8-8E8F-6CBFBD5FED57}"/>
              </a:ext>
            </a:extLst>
          </p:cNvPr>
          <p:cNvSpPr>
            <a:spLocks noGrp="1"/>
          </p:cNvSpPr>
          <p:nvPr>
            <p:ph type="title"/>
          </p:nvPr>
        </p:nvSpPr>
        <p:spPr/>
        <p:txBody>
          <a:bodyPr/>
          <a:lstStyle/>
          <a:p>
            <a:r>
              <a:rPr lang="cs-CZ" dirty="0"/>
              <a:t>ORDER BY II.</a:t>
            </a:r>
          </a:p>
        </p:txBody>
      </p:sp>
      <p:sp>
        <p:nvSpPr>
          <p:cNvPr id="3" name="Zástupný symbol pro obsah 2">
            <a:extLst>
              <a:ext uri="{FF2B5EF4-FFF2-40B4-BE49-F238E27FC236}">
                <a16:creationId xmlns:a16="http://schemas.microsoft.com/office/drawing/2014/main" id="{351AF348-617B-408E-A81D-2CF7C8A7F79C}"/>
              </a:ext>
            </a:extLst>
          </p:cNvPr>
          <p:cNvSpPr>
            <a:spLocks noGrp="1"/>
          </p:cNvSpPr>
          <p:nvPr>
            <p:ph idx="1"/>
          </p:nvPr>
        </p:nvSpPr>
        <p:spPr>
          <a:xfrm>
            <a:off x="838200" y="1825625"/>
            <a:ext cx="10515600" cy="4351338"/>
          </a:xfrm>
        </p:spPr>
        <p:txBody>
          <a:bodyPr/>
          <a:lstStyle/>
          <a:p>
            <a:r>
              <a:rPr lang="cs-CZ" dirty="0"/>
              <a:t>Pokud chceme hodnoty řadit sestupně, potom se přidává klíčové slovo DESC za klauzulí ORDER by.</a:t>
            </a:r>
          </a:p>
          <a:p>
            <a:endParaRPr lang="cs-CZ" dirty="0"/>
          </a:p>
        </p:txBody>
      </p:sp>
      <p:pic>
        <p:nvPicPr>
          <p:cNvPr id="4" name="Picture 49">
            <a:extLst>
              <a:ext uri="{FF2B5EF4-FFF2-40B4-BE49-F238E27FC236}">
                <a16:creationId xmlns:a16="http://schemas.microsoft.com/office/drawing/2014/main" id="{26B7461C-6E38-4B8F-A758-606BDF69FD35}"/>
              </a:ext>
            </a:extLst>
          </p:cNvPr>
          <p:cNvPicPr/>
          <p:nvPr/>
        </p:nvPicPr>
        <p:blipFill>
          <a:blip r:embed="rId2">
            <a:extLst>
              <a:ext uri="{28A0092B-C50C-407E-A947-70E740481C1C}">
                <a14:useLocalDpi xmlns:a14="http://schemas.microsoft.com/office/drawing/2010/main" val="0"/>
              </a:ext>
            </a:extLst>
          </a:blip>
          <a:stretch>
            <a:fillRect/>
          </a:stretch>
        </p:blipFill>
        <p:spPr>
          <a:xfrm>
            <a:off x="1136822" y="2669059"/>
            <a:ext cx="7512908" cy="4188941"/>
          </a:xfrm>
          <a:prstGeom prst="rect">
            <a:avLst/>
          </a:prstGeom>
        </p:spPr>
      </p:pic>
    </p:spTree>
    <p:extLst>
      <p:ext uri="{BB962C8B-B14F-4D97-AF65-F5344CB8AC3E}">
        <p14:creationId xmlns:p14="http://schemas.microsoft.com/office/powerpoint/2010/main" val="2494195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25DF577-4D85-477E-B0EB-43DC197C8622}"/>
              </a:ext>
            </a:extLst>
          </p:cNvPr>
          <p:cNvSpPr>
            <a:spLocks noGrp="1"/>
          </p:cNvSpPr>
          <p:nvPr>
            <p:ph type="title"/>
          </p:nvPr>
        </p:nvSpPr>
        <p:spPr/>
        <p:txBody>
          <a:bodyPr/>
          <a:lstStyle/>
          <a:p>
            <a:r>
              <a:rPr lang="cs-CZ" dirty="0"/>
              <a:t>ORDER BY III.</a:t>
            </a:r>
          </a:p>
        </p:txBody>
      </p:sp>
      <p:sp>
        <p:nvSpPr>
          <p:cNvPr id="3" name="Zástupný symbol pro obsah 2">
            <a:extLst>
              <a:ext uri="{FF2B5EF4-FFF2-40B4-BE49-F238E27FC236}">
                <a16:creationId xmlns:a16="http://schemas.microsoft.com/office/drawing/2014/main" id="{4B6B7497-EC60-4064-B718-1513C1ACC1E2}"/>
              </a:ext>
            </a:extLst>
          </p:cNvPr>
          <p:cNvSpPr>
            <a:spLocks noGrp="1"/>
          </p:cNvSpPr>
          <p:nvPr>
            <p:ph idx="1"/>
          </p:nvPr>
        </p:nvSpPr>
        <p:spPr/>
        <p:txBody>
          <a:bodyPr/>
          <a:lstStyle/>
          <a:p>
            <a:r>
              <a:rPr lang="cs-CZ" dirty="0"/>
              <a:t>Data lze samozřejmě řadit také pomocí </a:t>
            </a:r>
            <a:r>
              <a:rPr lang="cs-CZ" dirty="0" err="1"/>
              <a:t>alisů</a:t>
            </a:r>
            <a:r>
              <a:rPr lang="cs-CZ" dirty="0"/>
              <a:t> názvů sloupců, stejný alias použit při </a:t>
            </a:r>
            <a:r>
              <a:rPr lang="cs-CZ" dirty="0" err="1"/>
              <a:t>selectu</a:t>
            </a:r>
            <a:r>
              <a:rPr lang="cs-CZ" dirty="0"/>
              <a:t> smí být adresován i v klauzuli </a:t>
            </a:r>
            <a:r>
              <a:rPr lang="cs-CZ" dirty="0" err="1"/>
              <a:t>order</a:t>
            </a:r>
            <a:r>
              <a:rPr lang="cs-CZ" dirty="0"/>
              <a:t> by.</a:t>
            </a:r>
          </a:p>
          <a:p>
            <a:endParaRPr lang="cs-CZ" dirty="0"/>
          </a:p>
        </p:txBody>
      </p:sp>
      <p:pic>
        <p:nvPicPr>
          <p:cNvPr id="4" name="Picture 50">
            <a:extLst>
              <a:ext uri="{FF2B5EF4-FFF2-40B4-BE49-F238E27FC236}">
                <a16:creationId xmlns:a16="http://schemas.microsoft.com/office/drawing/2014/main" id="{1EEFCFA0-09DA-4CB4-A109-041C132D2B4E}"/>
              </a:ext>
            </a:extLst>
          </p:cNvPr>
          <p:cNvPicPr/>
          <p:nvPr/>
        </p:nvPicPr>
        <p:blipFill>
          <a:blip r:embed="rId2">
            <a:extLst>
              <a:ext uri="{28A0092B-C50C-407E-A947-70E740481C1C}">
                <a14:useLocalDpi xmlns:a14="http://schemas.microsoft.com/office/drawing/2010/main" val="0"/>
              </a:ext>
            </a:extLst>
          </a:blip>
          <a:stretch>
            <a:fillRect/>
          </a:stretch>
        </p:blipFill>
        <p:spPr>
          <a:xfrm>
            <a:off x="838200" y="2806658"/>
            <a:ext cx="7737389" cy="3505242"/>
          </a:xfrm>
          <a:prstGeom prst="rect">
            <a:avLst/>
          </a:prstGeom>
        </p:spPr>
      </p:pic>
    </p:spTree>
    <p:extLst>
      <p:ext uri="{BB962C8B-B14F-4D97-AF65-F5344CB8AC3E}">
        <p14:creationId xmlns:p14="http://schemas.microsoft.com/office/powerpoint/2010/main" val="783319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4945FE1-2153-4CD5-A7AB-6AC832E06251}"/>
              </a:ext>
            </a:extLst>
          </p:cNvPr>
          <p:cNvSpPr>
            <a:spLocks noGrp="1"/>
          </p:cNvSpPr>
          <p:nvPr>
            <p:ph type="title"/>
          </p:nvPr>
        </p:nvSpPr>
        <p:spPr/>
        <p:txBody>
          <a:bodyPr/>
          <a:lstStyle/>
          <a:p>
            <a:r>
              <a:rPr lang="cs-CZ" dirty="0"/>
              <a:t>ORDER BY IV.</a:t>
            </a:r>
          </a:p>
        </p:txBody>
      </p:sp>
      <p:sp>
        <p:nvSpPr>
          <p:cNvPr id="3" name="Zástupný symbol pro obsah 2">
            <a:extLst>
              <a:ext uri="{FF2B5EF4-FFF2-40B4-BE49-F238E27FC236}">
                <a16:creationId xmlns:a16="http://schemas.microsoft.com/office/drawing/2014/main" id="{6A8B341A-B9D1-42BF-B97B-9DC5468337D8}"/>
              </a:ext>
            </a:extLst>
          </p:cNvPr>
          <p:cNvSpPr>
            <a:spLocks noGrp="1"/>
          </p:cNvSpPr>
          <p:nvPr>
            <p:ph idx="1"/>
          </p:nvPr>
        </p:nvSpPr>
        <p:spPr/>
        <p:txBody>
          <a:bodyPr/>
          <a:lstStyle/>
          <a:p>
            <a:r>
              <a:rPr lang="cs-CZ" dirty="0"/>
              <a:t>Lze řadit výsledek i podle sloupce, který není zobrazen ve výstupu.</a:t>
            </a:r>
          </a:p>
        </p:txBody>
      </p:sp>
      <p:pic>
        <p:nvPicPr>
          <p:cNvPr id="4" name="Picture 51">
            <a:extLst>
              <a:ext uri="{FF2B5EF4-FFF2-40B4-BE49-F238E27FC236}">
                <a16:creationId xmlns:a16="http://schemas.microsoft.com/office/drawing/2014/main" id="{9ED41101-2134-4830-9D73-475B6F65967D}"/>
              </a:ext>
            </a:extLst>
          </p:cNvPr>
          <p:cNvPicPr/>
          <p:nvPr/>
        </p:nvPicPr>
        <p:blipFill>
          <a:blip r:embed="rId2"/>
          <a:stretch>
            <a:fillRect/>
          </a:stretch>
        </p:blipFill>
        <p:spPr>
          <a:xfrm>
            <a:off x="838199" y="2609464"/>
            <a:ext cx="8132805" cy="3272352"/>
          </a:xfrm>
          <a:prstGeom prst="rect">
            <a:avLst/>
          </a:prstGeom>
        </p:spPr>
      </p:pic>
    </p:spTree>
    <p:extLst>
      <p:ext uri="{BB962C8B-B14F-4D97-AF65-F5344CB8AC3E}">
        <p14:creationId xmlns:p14="http://schemas.microsoft.com/office/powerpoint/2010/main" val="2809759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DC020D8-A53C-428C-9F59-B1D813C60895}"/>
              </a:ext>
            </a:extLst>
          </p:cNvPr>
          <p:cNvSpPr>
            <a:spLocks noGrp="1"/>
          </p:cNvSpPr>
          <p:nvPr>
            <p:ph type="title"/>
          </p:nvPr>
        </p:nvSpPr>
        <p:spPr/>
        <p:txBody>
          <a:bodyPr/>
          <a:lstStyle/>
          <a:p>
            <a:r>
              <a:rPr lang="cs-CZ" dirty="0"/>
              <a:t>ORDER BY V.</a:t>
            </a:r>
          </a:p>
        </p:txBody>
      </p:sp>
      <p:sp>
        <p:nvSpPr>
          <p:cNvPr id="3" name="Zástupný symbol pro obsah 2">
            <a:extLst>
              <a:ext uri="{FF2B5EF4-FFF2-40B4-BE49-F238E27FC236}">
                <a16:creationId xmlns:a16="http://schemas.microsoft.com/office/drawing/2014/main" id="{5F9F529E-27F6-497F-B7F7-FF25833D0BE4}"/>
              </a:ext>
            </a:extLst>
          </p:cNvPr>
          <p:cNvSpPr>
            <a:spLocks noGrp="1"/>
          </p:cNvSpPr>
          <p:nvPr>
            <p:ph idx="1"/>
          </p:nvPr>
        </p:nvSpPr>
        <p:spPr/>
        <p:txBody>
          <a:bodyPr/>
          <a:lstStyle/>
          <a:p>
            <a:r>
              <a:rPr lang="cs-CZ" dirty="0"/>
              <a:t>Řadit lze i podle více sloupců.</a:t>
            </a:r>
          </a:p>
        </p:txBody>
      </p:sp>
      <p:pic>
        <p:nvPicPr>
          <p:cNvPr id="4" name="Picture 53">
            <a:extLst>
              <a:ext uri="{FF2B5EF4-FFF2-40B4-BE49-F238E27FC236}">
                <a16:creationId xmlns:a16="http://schemas.microsoft.com/office/drawing/2014/main" id="{12A0736A-026C-4685-9FAC-E85E151C561D}"/>
              </a:ext>
            </a:extLst>
          </p:cNvPr>
          <p:cNvPicPr/>
          <p:nvPr/>
        </p:nvPicPr>
        <p:blipFill>
          <a:blip r:embed="rId2"/>
          <a:stretch>
            <a:fillRect/>
          </a:stretch>
        </p:blipFill>
        <p:spPr>
          <a:xfrm>
            <a:off x="838200" y="2724943"/>
            <a:ext cx="8898924" cy="3452019"/>
          </a:xfrm>
          <a:prstGeom prst="rect">
            <a:avLst/>
          </a:prstGeom>
        </p:spPr>
      </p:pic>
    </p:spTree>
    <p:extLst>
      <p:ext uri="{BB962C8B-B14F-4D97-AF65-F5344CB8AC3E}">
        <p14:creationId xmlns:p14="http://schemas.microsoft.com/office/powerpoint/2010/main" val="306861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EF9CFED-2EC1-4BBE-829C-6057C27E6352}"/>
              </a:ext>
            </a:extLst>
          </p:cNvPr>
          <p:cNvSpPr>
            <a:spLocks noGrp="1"/>
          </p:cNvSpPr>
          <p:nvPr>
            <p:ph type="title"/>
          </p:nvPr>
        </p:nvSpPr>
        <p:spPr/>
        <p:txBody>
          <a:bodyPr/>
          <a:lstStyle/>
          <a:p>
            <a:r>
              <a:rPr lang="cs-CZ" dirty="0"/>
              <a:t>Funkce I.</a:t>
            </a:r>
          </a:p>
        </p:txBody>
      </p:sp>
      <p:sp>
        <p:nvSpPr>
          <p:cNvPr id="3" name="Zástupný symbol pro obsah 2">
            <a:extLst>
              <a:ext uri="{FF2B5EF4-FFF2-40B4-BE49-F238E27FC236}">
                <a16:creationId xmlns:a16="http://schemas.microsoft.com/office/drawing/2014/main" id="{DE565FD2-480C-4E18-9117-D2CA04C7454C}"/>
              </a:ext>
            </a:extLst>
          </p:cNvPr>
          <p:cNvSpPr>
            <a:spLocks noGrp="1"/>
          </p:cNvSpPr>
          <p:nvPr>
            <p:ph idx="1"/>
          </p:nvPr>
        </p:nvSpPr>
        <p:spPr/>
        <p:txBody>
          <a:bodyPr>
            <a:normAutofit/>
          </a:bodyPr>
          <a:lstStyle/>
          <a:p>
            <a:r>
              <a:rPr lang="cs-CZ" dirty="0"/>
              <a:t>Když dáte peníze do automatu na pití, něco se stane mezi vložením peněz a výstupem vašeho oblíbeného pití. Uvnitř automatu je provedena transakce, kde peníze jsou vstup a pití je výstupem. </a:t>
            </a:r>
          </a:p>
          <a:p>
            <a:r>
              <a:rPr lang="cs-CZ" dirty="0"/>
              <a:t>Tento automat vykonává funkci, kdy počítá peníze, ujišťuje se, že zadaná volba je správná a vrací peníze pokud je potřeba.</a:t>
            </a:r>
          </a:p>
          <a:p>
            <a:r>
              <a:rPr lang="cs-CZ" dirty="0"/>
              <a:t>V SQL je mnoho typů funkcí, které jsou používány na </a:t>
            </a:r>
            <a:r>
              <a:rPr lang="cs-CZ" b="1" dirty="0"/>
              <a:t>transformaci vstup -&gt; výstup</a:t>
            </a:r>
            <a:r>
              <a:rPr lang="cs-CZ" dirty="0"/>
              <a:t>. Tyto funkce se používají pro datovou manipulaci.</a:t>
            </a:r>
          </a:p>
          <a:p>
            <a:endParaRPr lang="cs-CZ" dirty="0"/>
          </a:p>
        </p:txBody>
      </p:sp>
    </p:spTree>
    <p:extLst>
      <p:ext uri="{BB962C8B-B14F-4D97-AF65-F5344CB8AC3E}">
        <p14:creationId xmlns:p14="http://schemas.microsoft.com/office/powerpoint/2010/main" val="363690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BD798C0-0471-4012-98CB-76B83C95820E}"/>
              </a:ext>
            </a:extLst>
          </p:cNvPr>
          <p:cNvSpPr>
            <a:spLocks noGrp="1"/>
          </p:cNvSpPr>
          <p:nvPr>
            <p:ph type="title"/>
          </p:nvPr>
        </p:nvSpPr>
        <p:spPr/>
        <p:txBody>
          <a:bodyPr/>
          <a:lstStyle/>
          <a:p>
            <a:r>
              <a:rPr lang="cs-CZ" dirty="0"/>
              <a:t>Funkce II.</a:t>
            </a:r>
          </a:p>
        </p:txBody>
      </p:sp>
      <p:sp>
        <p:nvSpPr>
          <p:cNvPr id="3" name="Zástupný symbol pro obsah 2">
            <a:extLst>
              <a:ext uri="{FF2B5EF4-FFF2-40B4-BE49-F238E27FC236}">
                <a16:creationId xmlns:a16="http://schemas.microsoft.com/office/drawing/2014/main" id="{86C1A019-894F-43E0-9842-C4646DBFC7B8}"/>
              </a:ext>
            </a:extLst>
          </p:cNvPr>
          <p:cNvSpPr>
            <a:spLocks noGrp="1"/>
          </p:cNvSpPr>
          <p:nvPr>
            <p:ph idx="1"/>
          </p:nvPr>
        </p:nvSpPr>
        <p:spPr/>
        <p:txBody>
          <a:bodyPr/>
          <a:lstStyle/>
          <a:p>
            <a:r>
              <a:rPr lang="cs-CZ" dirty="0"/>
              <a:t>Funkce jsou </a:t>
            </a:r>
            <a:r>
              <a:rPr lang="cs-CZ" b="1" dirty="0"/>
              <a:t>malé programy</a:t>
            </a:r>
            <a:r>
              <a:rPr lang="cs-CZ" dirty="0"/>
              <a:t>, které provádí akce na hodnotách sloupce a produkují odlišné hodnoty na výstupu. Vstup do funkce se označuje jako argument.</a:t>
            </a:r>
          </a:p>
        </p:txBody>
      </p:sp>
      <p:pic>
        <p:nvPicPr>
          <p:cNvPr id="4" name="Picture 54">
            <a:extLst>
              <a:ext uri="{FF2B5EF4-FFF2-40B4-BE49-F238E27FC236}">
                <a16:creationId xmlns:a16="http://schemas.microsoft.com/office/drawing/2014/main" id="{DBBA6686-E69D-4D7A-B9DF-E96B0A0992F4}"/>
              </a:ext>
            </a:extLst>
          </p:cNvPr>
          <p:cNvPicPr/>
          <p:nvPr/>
        </p:nvPicPr>
        <p:blipFill>
          <a:blip r:embed="rId2"/>
          <a:stretch>
            <a:fillRect/>
          </a:stretch>
        </p:blipFill>
        <p:spPr>
          <a:xfrm>
            <a:off x="838200" y="3529269"/>
            <a:ext cx="8503508" cy="2303120"/>
          </a:xfrm>
          <a:prstGeom prst="rect">
            <a:avLst/>
          </a:prstGeom>
        </p:spPr>
      </p:pic>
    </p:spTree>
    <p:extLst>
      <p:ext uri="{BB962C8B-B14F-4D97-AF65-F5344CB8AC3E}">
        <p14:creationId xmlns:p14="http://schemas.microsoft.com/office/powerpoint/2010/main" val="3190028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3D5276D-16BD-43BA-A1CD-D7826C45A9E4}"/>
              </a:ext>
            </a:extLst>
          </p:cNvPr>
          <p:cNvSpPr>
            <a:spLocks noGrp="1"/>
          </p:cNvSpPr>
          <p:nvPr>
            <p:ph type="title"/>
          </p:nvPr>
        </p:nvSpPr>
        <p:spPr/>
        <p:txBody>
          <a:bodyPr/>
          <a:lstStyle/>
          <a:p>
            <a:r>
              <a:rPr lang="cs-CZ" dirty="0"/>
              <a:t>Funkce III.</a:t>
            </a:r>
          </a:p>
        </p:txBody>
      </p:sp>
      <p:sp>
        <p:nvSpPr>
          <p:cNvPr id="3" name="Zástupný symbol pro obsah 2">
            <a:extLst>
              <a:ext uri="{FF2B5EF4-FFF2-40B4-BE49-F238E27FC236}">
                <a16:creationId xmlns:a16="http://schemas.microsoft.com/office/drawing/2014/main" id="{BE6633A9-1729-44C7-998B-5C2A663C7E7E}"/>
              </a:ext>
            </a:extLst>
          </p:cNvPr>
          <p:cNvSpPr>
            <a:spLocks noGrp="1"/>
          </p:cNvSpPr>
          <p:nvPr>
            <p:ph idx="1"/>
          </p:nvPr>
        </p:nvSpPr>
        <p:spPr/>
        <p:txBody>
          <a:bodyPr/>
          <a:lstStyle/>
          <a:p>
            <a:r>
              <a:rPr lang="cs-CZ" dirty="0" err="1"/>
              <a:t>Oracle</a:t>
            </a:r>
            <a:r>
              <a:rPr lang="cs-CZ" dirty="0"/>
              <a:t> má dva typy funkcí</a:t>
            </a:r>
          </a:p>
          <a:p>
            <a:pPr lvl="1"/>
            <a:r>
              <a:rPr lang="cs-CZ" dirty="0"/>
              <a:t>jednořádkové,</a:t>
            </a:r>
          </a:p>
          <a:p>
            <a:pPr lvl="1"/>
            <a:r>
              <a:rPr lang="cs-CZ" dirty="0"/>
              <a:t>víceřádkové.</a:t>
            </a:r>
          </a:p>
          <a:p>
            <a:endParaRPr lang="cs-CZ" dirty="0"/>
          </a:p>
        </p:txBody>
      </p:sp>
      <p:pic>
        <p:nvPicPr>
          <p:cNvPr id="4" name="Picture 55">
            <a:extLst>
              <a:ext uri="{FF2B5EF4-FFF2-40B4-BE49-F238E27FC236}">
                <a16:creationId xmlns:a16="http://schemas.microsoft.com/office/drawing/2014/main" id="{70179E7B-4874-463D-B88F-C8505A5F1712}"/>
              </a:ext>
            </a:extLst>
          </p:cNvPr>
          <p:cNvPicPr/>
          <p:nvPr/>
        </p:nvPicPr>
        <p:blipFill>
          <a:blip r:embed="rId2"/>
          <a:stretch>
            <a:fillRect/>
          </a:stretch>
        </p:blipFill>
        <p:spPr>
          <a:xfrm>
            <a:off x="1777313" y="3888517"/>
            <a:ext cx="7935097" cy="2969483"/>
          </a:xfrm>
          <a:prstGeom prst="rect">
            <a:avLst/>
          </a:prstGeom>
        </p:spPr>
      </p:pic>
    </p:spTree>
    <p:extLst>
      <p:ext uri="{BB962C8B-B14F-4D97-AF65-F5344CB8AC3E}">
        <p14:creationId xmlns:p14="http://schemas.microsoft.com/office/powerpoint/2010/main" val="10497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6957790-3CA6-4AB2-B5C8-DE503D4BBF63}"/>
              </a:ext>
            </a:extLst>
          </p:cNvPr>
          <p:cNvSpPr>
            <a:spLocks noGrp="1"/>
          </p:cNvSpPr>
          <p:nvPr>
            <p:ph type="title"/>
          </p:nvPr>
        </p:nvSpPr>
        <p:spPr/>
        <p:txBody>
          <a:bodyPr/>
          <a:lstStyle/>
          <a:p>
            <a:r>
              <a:rPr lang="cs-CZ" dirty="0"/>
              <a:t>Funkce IV.</a:t>
            </a:r>
          </a:p>
        </p:txBody>
      </p:sp>
      <p:sp>
        <p:nvSpPr>
          <p:cNvPr id="3" name="Zástupný symbol pro obsah 2">
            <a:extLst>
              <a:ext uri="{FF2B5EF4-FFF2-40B4-BE49-F238E27FC236}">
                <a16:creationId xmlns:a16="http://schemas.microsoft.com/office/drawing/2014/main" id="{A0AAC918-5221-4B82-80D1-674386DB0F60}"/>
              </a:ext>
            </a:extLst>
          </p:cNvPr>
          <p:cNvSpPr>
            <a:spLocks noGrp="1"/>
          </p:cNvSpPr>
          <p:nvPr>
            <p:ph idx="1"/>
          </p:nvPr>
        </p:nvSpPr>
        <p:spPr/>
        <p:txBody>
          <a:bodyPr/>
          <a:lstStyle/>
          <a:p>
            <a:r>
              <a:rPr lang="cs-CZ" dirty="0"/>
              <a:t>Jednořádkové funkce pracují pouze s jedním řádkem a vrací pouze jeden řádek na výstup. Je mnoho různých druhů jednořádkových funkci zahrnujících znaky, čísla, data a konverzní funkce.</a:t>
            </a:r>
          </a:p>
          <a:p>
            <a:r>
              <a:rPr lang="cs-CZ" dirty="0"/>
              <a:t>Víceřádkové funkce mohou manipulovat se skupinou řádků a vracet jako výsledek jen jeden řádek. Tyto funkce jsou známé také jako </a:t>
            </a:r>
            <a:r>
              <a:rPr lang="cs-CZ" b="1" dirty="0" err="1"/>
              <a:t>group</a:t>
            </a:r>
            <a:r>
              <a:rPr lang="cs-CZ" b="1" dirty="0"/>
              <a:t> funkce</a:t>
            </a:r>
            <a:r>
              <a:rPr lang="cs-CZ" dirty="0"/>
              <a:t>.</a:t>
            </a:r>
          </a:p>
          <a:p>
            <a:endParaRPr lang="cs-CZ" dirty="0"/>
          </a:p>
        </p:txBody>
      </p:sp>
    </p:spTree>
    <p:extLst>
      <p:ext uri="{BB962C8B-B14F-4D97-AF65-F5344CB8AC3E}">
        <p14:creationId xmlns:p14="http://schemas.microsoft.com/office/powerpoint/2010/main" val="1752495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BBE3EE1-2A82-46D8-8940-5CBA4F4F66CD}"/>
              </a:ext>
            </a:extLst>
          </p:cNvPr>
          <p:cNvSpPr>
            <a:spLocks noGrp="1"/>
          </p:cNvSpPr>
          <p:nvPr>
            <p:ph type="title"/>
          </p:nvPr>
        </p:nvSpPr>
        <p:spPr/>
        <p:txBody>
          <a:bodyPr/>
          <a:lstStyle/>
          <a:p>
            <a:r>
              <a:rPr lang="cs-CZ" dirty="0"/>
              <a:t>Funkce V.</a:t>
            </a:r>
          </a:p>
        </p:txBody>
      </p:sp>
      <p:sp>
        <p:nvSpPr>
          <p:cNvPr id="3" name="Zástupný symbol pro obsah 2">
            <a:extLst>
              <a:ext uri="{FF2B5EF4-FFF2-40B4-BE49-F238E27FC236}">
                <a16:creationId xmlns:a16="http://schemas.microsoft.com/office/drawing/2014/main" id="{892D1F42-7555-4FA9-A237-5A8F673C968A}"/>
              </a:ext>
            </a:extLst>
          </p:cNvPr>
          <p:cNvSpPr>
            <a:spLocks noGrp="1"/>
          </p:cNvSpPr>
          <p:nvPr>
            <p:ph idx="1"/>
          </p:nvPr>
        </p:nvSpPr>
        <p:spPr/>
        <p:txBody>
          <a:bodyPr/>
          <a:lstStyle/>
          <a:p>
            <a:r>
              <a:rPr lang="cs-CZ" dirty="0"/>
              <a:t>Jednořádkové funkce mohou:</a:t>
            </a:r>
          </a:p>
          <a:p>
            <a:pPr lvl="1"/>
            <a:r>
              <a:rPr lang="cs-CZ" dirty="0"/>
              <a:t>manipulovat s datovými položkami,</a:t>
            </a:r>
          </a:p>
          <a:p>
            <a:pPr lvl="1"/>
            <a:r>
              <a:rPr lang="cs-CZ" dirty="0"/>
              <a:t>přijímat argumenty a vracet jednu hodnotu,</a:t>
            </a:r>
          </a:p>
          <a:p>
            <a:pPr lvl="1"/>
            <a:r>
              <a:rPr lang="cs-CZ" dirty="0"/>
              <a:t>provádět akci na každém jednotlivém řádku,</a:t>
            </a:r>
          </a:p>
          <a:p>
            <a:pPr lvl="1"/>
            <a:r>
              <a:rPr lang="cs-CZ" dirty="0"/>
              <a:t>modifikovat datový typ,</a:t>
            </a:r>
          </a:p>
          <a:p>
            <a:pPr lvl="1"/>
            <a:r>
              <a:rPr lang="cs-CZ" dirty="0"/>
              <a:t>mohou být vnořovány.</a:t>
            </a:r>
          </a:p>
          <a:p>
            <a:r>
              <a:rPr lang="cs-CZ" dirty="0"/>
              <a:t>Víceřádkové mají jako vstup vícero hodnot a jako výstup jednu hodnotu. Vstupem může být celá tabulka nebo skupina záznamů. Příkladem </a:t>
            </a:r>
            <a:r>
              <a:rPr lang="cs-CZ"/>
              <a:t>jsou funkce MAX, MIN, AVG.</a:t>
            </a:r>
          </a:p>
          <a:p>
            <a:endParaRPr lang="cs-CZ" dirty="0"/>
          </a:p>
          <a:p>
            <a:endParaRPr lang="cs-CZ" dirty="0"/>
          </a:p>
        </p:txBody>
      </p:sp>
    </p:spTree>
    <p:extLst>
      <p:ext uri="{BB962C8B-B14F-4D97-AF65-F5344CB8AC3E}">
        <p14:creationId xmlns:p14="http://schemas.microsoft.com/office/powerpoint/2010/main" val="2594890415"/>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1247</Words>
  <Application>Microsoft Office PowerPoint</Application>
  <PresentationFormat>Širokoúhlá obrazovka</PresentationFormat>
  <Paragraphs>126</Paragraphs>
  <Slides>34</Slides>
  <Notes>0</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34</vt:i4>
      </vt:variant>
    </vt:vector>
  </HeadingPairs>
  <TitlesOfParts>
    <vt:vector size="38" baseType="lpstr">
      <vt:lpstr>Arial</vt:lpstr>
      <vt:lpstr>Calibri</vt:lpstr>
      <vt:lpstr>Calibri Light</vt:lpstr>
      <vt:lpstr>Motiv Office</vt:lpstr>
      <vt:lpstr>Where, order by, úvod do funkcí</vt:lpstr>
      <vt:lpstr>Describe</vt:lpstr>
      <vt:lpstr>Operátor zřetězení I.</vt:lpstr>
      <vt:lpstr>Operátor zřetězení II.</vt:lpstr>
      <vt:lpstr>Zřetězení a literální hodnoty</vt:lpstr>
      <vt:lpstr>Použití DISTINCT pro eliminaci duplikací I.</vt:lpstr>
      <vt:lpstr>Použití DISTINCT pro eliminaci duplikací II.</vt:lpstr>
      <vt:lpstr>Nastavení limitu výpisu sloupců I.</vt:lpstr>
      <vt:lpstr>Nastavení limitu výpisu sloupců II.</vt:lpstr>
      <vt:lpstr>Nastavení limitu výpisu sloupců III.</vt:lpstr>
      <vt:lpstr>Nastavení limitu výpisu sloupců IV.</vt:lpstr>
      <vt:lpstr>Operátory porovnání I.</vt:lpstr>
      <vt:lpstr>BETWEEN…AND</vt:lpstr>
      <vt:lpstr>IN</vt:lpstr>
      <vt:lpstr>LIKE I.</vt:lpstr>
      <vt:lpstr>LIKE II.</vt:lpstr>
      <vt:lpstr>IS NULL, IS NOT NULL I.</vt:lpstr>
      <vt:lpstr>IS NULL, IS NOT NULL II.</vt:lpstr>
      <vt:lpstr>Logické porovnávání a pravidla přednosti</vt:lpstr>
      <vt:lpstr>Logické podmínky I.</vt:lpstr>
      <vt:lpstr>Logické podmínky II.</vt:lpstr>
      <vt:lpstr>Logické podmínky III.</vt:lpstr>
      <vt:lpstr>ORDER BY I.</vt:lpstr>
      <vt:lpstr>… odbočka</vt:lpstr>
      <vt:lpstr>ORDER BY II.</vt:lpstr>
      <vt:lpstr>ORDER BY II.</vt:lpstr>
      <vt:lpstr>ORDER BY III.</vt:lpstr>
      <vt:lpstr>ORDER BY IV.</vt:lpstr>
      <vt:lpstr>ORDER BY V.</vt:lpstr>
      <vt:lpstr>Funkce I.</vt:lpstr>
      <vt:lpstr>Funkce II.</vt:lpstr>
      <vt:lpstr>Funkce III.</vt:lpstr>
      <vt:lpstr>Funkce IV.</vt:lpstr>
      <vt:lpstr>Funkce V.</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order by, úvod do funkcí</dc:title>
  <dc:creator>Veronika Hurtová</dc:creator>
  <cp:lastModifiedBy>Veronika Hurtová</cp:lastModifiedBy>
  <cp:revision>18</cp:revision>
  <dcterms:created xsi:type="dcterms:W3CDTF">2017-10-16T09:21:30Z</dcterms:created>
  <dcterms:modified xsi:type="dcterms:W3CDTF">2017-10-25T06:19:11Z</dcterms:modified>
</cp:coreProperties>
</file>