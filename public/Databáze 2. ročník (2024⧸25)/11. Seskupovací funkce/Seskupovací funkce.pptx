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5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425782-82DE-402B-BE92-9530E9635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71B9406-AEB4-44AA-ABB0-C1ECA80AB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07951D-CCB3-4CC9-A07D-1B4B871B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B9328D-C43B-4169-8814-051B62E6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498852-16C2-4F46-B8CF-9E0340EA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984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E53A67-433A-42F4-9D81-57AEC811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7178426-1A94-49DF-B11F-2D6C939A0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770130-47B8-4C74-876B-D696948B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17A59B8-6E27-4688-9D0B-F67EED13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D606080-B17F-4BF8-B8ED-2E8E4405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081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A7B49D-6C95-4C9C-9FB1-CFAA6C10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D493AB6-0B7E-46B1-8122-06F1CF390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4377299-A99C-4E81-A378-2FDE922E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68BAF13-E354-4186-A6D2-9945BBEC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E35BB38-4024-4170-9BAE-A79AA7BC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845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F4D60A-8F8A-4BF5-B62B-5C10AB1B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19BC449-9A33-4A04-9726-2B0B6DED2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91B3D0D5-8E66-4517-98C2-50C1E17D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95A1C17-471F-445A-BCDC-E87FB070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369F4EF-387D-4B29-A800-27A2D1C8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168643A-4872-4FFC-B1BB-52A9A5F6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40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6B378C-1F72-467B-AE9C-0578C3F3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20BCD6B-0518-4E2B-A61A-375B84580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508C5031-569A-4903-BD1E-E1D7E0204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E97959D7-E1E4-4919-B712-6FC5EF664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5570272-7116-4787-BC03-2920D89D3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2AF5C8C9-CB26-4597-B03E-1C17EE85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563FBDD-9ACB-49C6-8D49-E9D06067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5A38763-F5C0-4FE5-900F-688E8C87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489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070706-C291-44C6-98D9-D92DE566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60A97D7-1185-4408-81EF-F41127BE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FBD4A29-A0A1-4BE0-8593-DF16595C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AE7475-C298-486C-A5CF-9A6A723D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781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24DF459-361E-4A6C-97B0-FC0F5D45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7D0C472-76DB-4CC3-B1D5-FCE5AB42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959883-A488-4842-AE1C-1B0A2996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123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DD6F4C-AB32-428A-AD46-828A6F27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76C4E0B-CABF-4F17-B6C6-682C8975B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2DD83DFF-CFB0-40B3-949C-8F1EE10D2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B4ED9D3-FD47-4A6C-98D1-A1310C61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B58A5B1-897A-4F9D-B5EC-F950A0B6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CDAC66E-5622-4B7F-8D21-3217B663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494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ECC05D-F8F2-4DEE-ADFE-320D5E92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B431025-B69C-486C-BD23-C8FD0273C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AA882ED7-41A6-45C5-A849-1A8DCEF2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C17A81C-3163-4B9E-AC66-7BC540E2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B8235FE-7E6D-43B1-B947-FE50C81F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3BA2E0-E1A3-486A-8BA1-E6021FDA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125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6AC82-5EB3-4B2B-91DD-9085C4C9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58DA214-64A7-4BA6-AC21-89EC13BE5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32BB04E-2A28-4C21-9ADC-2C7226AC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C08DFB-355F-4FE9-91F6-664891D1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B06896-0162-42A9-ADFD-C60FB59F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66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E32308F-D650-4607-A57F-B8E68FA9B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6AC61CB-BD4F-49A4-870A-4223CF120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8985CF-4912-46C0-BB7C-5D38D48A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A44A59F-5211-4494-B43D-96F9E669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6EA7BC1-8B14-4E1D-88D6-9F02FC60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785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22033AD-804F-4A40-9AE7-88404904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32311404-0EBB-4E39-A0D8-3BC035DDC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D0C67D-10F5-412E-99C6-CB2DB9F41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94E8C-FB95-44F1-9848-6D266645E9C4}" type="datetimeFigureOut">
              <a:rPr lang="cs-CZ" smtClean="0"/>
              <a:t>16.11.2017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5EDA8E2-CAA7-45AA-A55B-BFF059BAA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1FA279-EA3D-4712-AE55-6A27FA0A2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7C26A-546F-4F2E-B8D8-BEE896EDF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7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5A4CF3-13E0-4E2B-A3EF-8A50E69DE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Seskupovací</a:t>
            </a:r>
            <a:r>
              <a:rPr lang="cs-CZ" dirty="0"/>
              <a:t> funkce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62A2673-76B1-41F7-BA9E-07E754512A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Group by, </a:t>
            </a:r>
            <a:r>
              <a:rPr lang="cs-CZ" dirty="0" err="1"/>
              <a:t>Rollup</a:t>
            </a:r>
            <a:r>
              <a:rPr lang="cs-CZ" dirty="0"/>
              <a:t>, </a:t>
            </a:r>
            <a:r>
              <a:rPr lang="cs-CZ" dirty="0" err="1"/>
              <a:t>Cube</a:t>
            </a:r>
            <a:r>
              <a:rPr lang="cs-CZ" dirty="0"/>
              <a:t> a </a:t>
            </a:r>
            <a:r>
              <a:rPr lang="cs-CZ" dirty="0" err="1"/>
              <a:t>Grouping</a:t>
            </a:r>
            <a:r>
              <a:rPr lang="cs-CZ" dirty="0"/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123488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A6423E-43BA-4F71-97FD-65970632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Seskupovací</a:t>
            </a:r>
            <a:r>
              <a:rPr lang="cs-CZ" dirty="0"/>
              <a:t> funkce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901142A-B765-4A7B-9D17-B92EDCF52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V </a:t>
            </a:r>
            <a:r>
              <a:rPr lang="cs-CZ" dirty="0" err="1"/>
              <a:t>sql</a:t>
            </a:r>
            <a:r>
              <a:rPr lang="cs-CZ" dirty="0"/>
              <a:t> mohou </a:t>
            </a:r>
            <a:r>
              <a:rPr lang="cs-CZ" dirty="0" err="1"/>
              <a:t>seskupovací</a:t>
            </a:r>
            <a:r>
              <a:rPr lang="cs-CZ" dirty="0"/>
              <a:t> funkce pracovat nad celou tabulkou nebo nad specifikovanou skupinou řádku. Kazda funkce vrací jeden výsledek.</a:t>
            </a:r>
          </a:p>
          <a:p>
            <a:r>
              <a:rPr lang="cs-CZ" dirty="0" err="1"/>
              <a:t>Seskupovací</a:t>
            </a:r>
            <a:r>
              <a:rPr lang="cs-CZ" dirty="0"/>
              <a:t> funkce jsou:</a:t>
            </a:r>
          </a:p>
          <a:p>
            <a:pPr lvl="1"/>
            <a:r>
              <a:rPr lang="cs-CZ" b="1" dirty="0" err="1"/>
              <a:t>Avg</a:t>
            </a:r>
            <a:r>
              <a:rPr lang="cs-CZ" dirty="0"/>
              <a:t> - průměr</a:t>
            </a:r>
          </a:p>
          <a:p>
            <a:pPr lvl="1"/>
            <a:r>
              <a:rPr lang="cs-CZ" b="1" dirty="0" err="1"/>
              <a:t>Count</a:t>
            </a:r>
            <a:r>
              <a:rPr lang="cs-CZ" dirty="0"/>
              <a:t> -počet řádku</a:t>
            </a:r>
          </a:p>
          <a:p>
            <a:pPr lvl="1"/>
            <a:r>
              <a:rPr lang="cs-CZ" b="1" dirty="0"/>
              <a:t>Min</a:t>
            </a:r>
            <a:r>
              <a:rPr lang="cs-CZ" dirty="0"/>
              <a:t> -min hodnota</a:t>
            </a:r>
          </a:p>
          <a:p>
            <a:pPr lvl="1"/>
            <a:r>
              <a:rPr lang="cs-CZ" b="1" dirty="0"/>
              <a:t>Max</a:t>
            </a:r>
            <a:r>
              <a:rPr lang="cs-CZ" dirty="0"/>
              <a:t> - </a:t>
            </a:r>
            <a:r>
              <a:rPr lang="cs-CZ" dirty="0" err="1"/>
              <a:t>max</a:t>
            </a:r>
            <a:r>
              <a:rPr lang="cs-CZ" dirty="0"/>
              <a:t> hodnota</a:t>
            </a:r>
          </a:p>
          <a:p>
            <a:pPr lvl="1"/>
            <a:r>
              <a:rPr lang="cs-CZ" b="1" dirty="0"/>
              <a:t>Sum</a:t>
            </a:r>
            <a:r>
              <a:rPr lang="cs-CZ" dirty="0"/>
              <a:t> - součet všech hodnot, od teď pouze čísla, horní na libovolnou hodnotu</a:t>
            </a:r>
          </a:p>
          <a:p>
            <a:pPr lvl="1"/>
            <a:r>
              <a:rPr lang="cs-CZ" b="1" dirty="0"/>
              <a:t>Variance</a:t>
            </a:r>
            <a:r>
              <a:rPr lang="cs-CZ" dirty="0"/>
              <a:t> - odchylka hodnot od průměru</a:t>
            </a:r>
          </a:p>
          <a:p>
            <a:pPr lvl="1"/>
            <a:r>
              <a:rPr lang="cs-CZ" b="1" dirty="0" err="1"/>
              <a:t>Stddev</a:t>
            </a:r>
            <a:r>
              <a:rPr lang="cs-CZ" dirty="0"/>
              <a:t> - směrodatná odchylka</a:t>
            </a:r>
          </a:p>
        </p:txBody>
      </p:sp>
    </p:spTree>
    <p:extLst>
      <p:ext uri="{BB962C8B-B14F-4D97-AF65-F5344CB8AC3E}">
        <p14:creationId xmlns:p14="http://schemas.microsoft.com/office/powerpoint/2010/main" val="289246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B9A8DE-9E15-403B-92B5-B3FA89A6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Seskupovací</a:t>
            </a:r>
            <a:r>
              <a:rPr lang="cs-CZ" dirty="0"/>
              <a:t> funkce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7E641F6-8065-4012-AA49-C796D0452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Tyto funkce jsou zapisovány do klauzule SELECT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Nemůžeme je použít v rámci klauzule WHERE!</a:t>
            </a:r>
            <a:endParaRPr lang="cs-CZ" dirty="0"/>
          </a:p>
        </p:txBody>
      </p:sp>
      <p:pic>
        <p:nvPicPr>
          <p:cNvPr id="4" name="Picture 166">
            <a:extLst>
              <a:ext uri="{FF2B5EF4-FFF2-40B4-BE49-F238E27FC236}">
                <a16:creationId xmlns:a16="http://schemas.microsoft.com/office/drawing/2014/main" id="{9785FB8F-2E66-4D2E-86E8-D157E5C0A1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3705" y="2404441"/>
            <a:ext cx="3644556" cy="1279663"/>
          </a:xfrm>
          <a:prstGeom prst="rect">
            <a:avLst/>
          </a:prstGeom>
        </p:spPr>
      </p:pic>
      <p:pic>
        <p:nvPicPr>
          <p:cNvPr id="5" name="Picture 167">
            <a:extLst>
              <a:ext uri="{FF2B5EF4-FFF2-40B4-BE49-F238E27FC236}">
                <a16:creationId xmlns:a16="http://schemas.microsoft.com/office/drawing/2014/main" id="{919DFAAD-87D7-491F-9FA2-0DB4213A52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93704" y="4634327"/>
            <a:ext cx="5102295" cy="15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8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911D62-80AC-4FB0-BDA3-8FA65AFB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MIN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2EA0AF9-AB34-48CE-8CAF-3741B7D72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68">
            <a:extLst>
              <a:ext uri="{FF2B5EF4-FFF2-40B4-BE49-F238E27FC236}">
                <a16:creationId xmlns:a16="http://schemas.microsoft.com/office/drawing/2014/main" id="{5469C5C0-70FB-44E3-A8DE-225F646F5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523922" cy="306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1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5AF6E5-D301-42AA-91E4-55207184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MAX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09A9289-53D8-47DD-9BE4-89F877FD2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69">
            <a:extLst>
              <a:ext uri="{FF2B5EF4-FFF2-40B4-BE49-F238E27FC236}">
                <a16:creationId xmlns:a16="http://schemas.microsoft.com/office/drawing/2014/main" id="{08C099B3-63B8-452C-9079-8F48DB618F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5907157" cy="262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5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4A2367-1DAD-49E4-AE08-0302DB18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SUM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75DF868-4AA2-4CA5-B9CD-27C24EAC3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70">
            <a:extLst>
              <a:ext uri="{FF2B5EF4-FFF2-40B4-BE49-F238E27FC236}">
                <a16:creationId xmlns:a16="http://schemas.microsoft.com/office/drawing/2014/main" id="{3AB9B838-4B5B-4040-AF56-B903F13735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5960165" cy="237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3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79AAB0-3438-48B4-ACF4-DFB423A7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AVG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3838FA2-0CBD-41ED-9346-FF185352D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71">
            <a:extLst>
              <a:ext uri="{FF2B5EF4-FFF2-40B4-BE49-F238E27FC236}">
                <a16:creationId xmlns:a16="http://schemas.microsoft.com/office/drawing/2014/main" id="{366BA22A-D6D0-4981-94DD-D0C0531334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257800" cy="22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8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B7FC88-706F-46C7-91B8-4F0A96A0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Variance, </a:t>
            </a:r>
            <a:r>
              <a:rPr lang="cs-CZ" dirty="0" err="1"/>
              <a:t>stddev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55DAA9-72D0-498F-B79B-083714A0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72">
            <a:extLst>
              <a:ext uri="{FF2B5EF4-FFF2-40B4-BE49-F238E27FC236}">
                <a16:creationId xmlns:a16="http://schemas.microsoft.com/office/drawing/2014/main" id="{5C1433B4-A9D2-45C5-8E08-D1B34186B0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020339" cy="20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2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6D0675-0CA5-4664-96B6-7968BFAF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2D0BAFB-8E09-4509-8D1F-E664AC2D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Group funkce </a:t>
            </a:r>
            <a:r>
              <a:rPr lang="cs-CZ" b="1" dirty="0"/>
              <a:t>ignorují</a:t>
            </a:r>
            <a:r>
              <a:rPr lang="cs-CZ" dirty="0"/>
              <a:t> NULL hodnoty!</a:t>
            </a:r>
          </a:p>
          <a:p>
            <a:r>
              <a:rPr lang="cs-CZ" dirty="0"/>
              <a:t>Můžete použít jednu nebo i více funkci v </a:t>
            </a:r>
            <a:r>
              <a:rPr lang="cs-CZ" dirty="0" err="1"/>
              <a:t>select</a:t>
            </a:r>
            <a:r>
              <a:rPr lang="cs-CZ" dirty="0"/>
              <a:t>, na stejném nebo jiném sloupci.</a:t>
            </a:r>
          </a:p>
          <a:p>
            <a:endParaRPr lang="cs-CZ" dirty="0"/>
          </a:p>
        </p:txBody>
      </p:sp>
      <p:pic>
        <p:nvPicPr>
          <p:cNvPr id="4" name="Picture 173">
            <a:extLst>
              <a:ext uri="{FF2B5EF4-FFF2-40B4-BE49-F238E27FC236}">
                <a16:creationId xmlns:a16="http://schemas.microsoft.com/office/drawing/2014/main" id="{3DD9DD12-55CD-40AF-89F2-35FEA839F0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3429000"/>
            <a:ext cx="5761383" cy="156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0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FEB545-5B74-4236-B093-3A1DA6A3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Count</a:t>
            </a:r>
            <a:r>
              <a:rPr lang="cs-CZ" dirty="0"/>
              <a:t>, </a:t>
            </a:r>
            <a:r>
              <a:rPr lang="cs-CZ" dirty="0" err="1"/>
              <a:t>distinct</a:t>
            </a:r>
            <a:r>
              <a:rPr lang="cs-CZ" dirty="0"/>
              <a:t>, NVL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ACE77DC-9611-470F-B2DF-E81828198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Count</a:t>
            </a:r>
            <a:r>
              <a:rPr lang="cs-CZ" dirty="0"/>
              <a:t> vrací počet neprázdných řádků v tabulce, </a:t>
            </a:r>
            <a:r>
              <a:rPr lang="cs-CZ" dirty="0" err="1"/>
              <a:t>null</a:t>
            </a:r>
            <a:r>
              <a:rPr lang="cs-CZ" dirty="0"/>
              <a:t> hodnoty ve sloupci se nepočítají.</a:t>
            </a:r>
          </a:p>
        </p:txBody>
      </p:sp>
      <p:pic>
        <p:nvPicPr>
          <p:cNvPr id="4" name="Picture 174">
            <a:extLst>
              <a:ext uri="{FF2B5EF4-FFF2-40B4-BE49-F238E27FC236}">
                <a16:creationId xmlns:a16="http://schemas.microsoft.com/office/drawing/2014/main" id="{70903B03-0531-4769-97E7-EFCB2412DB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778814"/>
            <a:ext cx="5695122" cy="1316107"/>
          </a:xfrm>
          <a:prstGeom prst="rect">
            <a:avLst/>
          </a:prstGeom>
        </p:spPr>
      </p:pic>
      <p:pic>
        <p:nvPicPr>
          <p:cNvPr id="5" name="Picture 175">
            <a:extLst>
              <a:ext uri="{FF2B5EF4-FFF2-40B4-BE49-F238E27FC236}">
                <a16:creationId xmlns:a16="http://schemas.microsoft.com/office/drawing/2014/main" id="{725525BC-4EE3-4F0A-BF67-30F1667E465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18075" y="4229858"/>
            <a:ext cx="5695122" cy="158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8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00C8C0-D508-40C9-83B7-B60519BB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DISTINCT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8718C6C-4588-4284-8E4D-C33E9847F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Toto klíčové slovo je používáno pro navrácení jedinečných hodnot. Nevracejí se duplikované hodnoty.</a:t>
            </a:r>
          </a:p>
          <a:p>
            <a:r>
              <a:rPr lang="cs-CZ" dirty="0"/>
              <a:t>Vezměme si následující dotaz, bez použití klíčového slova DISTINCT vrátí i řádky, které jsou duplikované.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2B6F7A8-3E8B-4B20-A0F8-CCEDA961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4738431" cy="79312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C3DED536-893C-4EE2-9442-179D1328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371" y="3282786"/>
            <a:ext cx="2808716" cy="302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3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B24752-7573-43B8-929E-FC3EB28A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DISTINCT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72FC339-936F-4170-97B7-0280E4809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Toto klíčové slovo smí být použito s libovolnou funkcí,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85131AA-8B2C-405F-BFD0-936B69FB0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7319"/>
            <a:ext cx="8330514" cy="303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E94482-B8B9-4882-A9B5-9805FA58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NVL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3D705E7-C000-4A6A-9589-B74E36E7D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Slouží nahrazení NULL hodnot.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C7960D-7721-43F1-ACA3-1A1534231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1275"/>
            <a:ext cx="7860957" cy="348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1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6967F1-1C2E-485A-8BC8-2812A1AE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</a:t>
            </a:r>
            <a:r>
              <a:rPr lang="cs-CZ" dirty="0" err="1"/>
              <a:t>group</a:t>
            </a:r>
            <a:r>
              <a:rPr lang="cs-CZ" dirty="0"/>
              <a:t> funkcí s klauzulí HAVING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D1344D2-9C49-4794-9488-7D506F57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kdybychom chtěli zjistit průměrnou výšku studentů školy v závislosti na roce studia? S tím co znáte do teď byste to nejspíše řešili pomoci </a:t>
            </a:r>
            <a:r>
              <a:rPr lang="cs-CZ" dirty="0" err="1"/>
              <a:t>group</a:t>
            </a:r>
            <a:r>
              <a:rPr lang="cs-CZ" dirty="0"/>
              <a:t> funkce </a:t>
            </a:r>
            <a:r>
              <a:rPr lang="cs-CZ" dirty="0" err="1"/>
              <a:t>avg</a:t>
            </a:r>
            <a:r>
              <a:rPr lang="cs-CZ" dirty="0"/>
              <a:t> spolu s omezením výpisu pomoci klauzule </a:t>
            </a:r>
            <a:r>
              <a:rPr lang="cs-CZ" dirty="0" err="1"/>
              <a:t>where</a:t>
            </a:r>
            <a:r>
              <a:rPr lang="cs-CZ" dirty="0"/>
              <a:t>.</a:t>
            </a:r>
          </a:p>
        </p:txBody>
      </p:sp>
      <p:pic>
        <p:nvPicPr>
          <p:cNvPr id="4" name="Picture 179">
            <a:extLst>
              <a:ext uri="{FF2B5EF4-FFF2-40B4-BE49-F238E27FC236}">
                <a16:creationId xmlns:a16="http://schemas.microsoft.com/office/drawing/2014/main" id="{4C2A3063-FA1B-4EBE-82AA-7CBD813889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3677444"/>
            <a:ext cx="8132806" cy="193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45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AF996D-0E98-4D1D-9744-5497037C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</a:t>
            </a:r>
            <a:r>
              <a:rPr lang="cs-CZ" dirty="0" err="1"/>
              <a:t>group</a:t>
            </a:r>
            <a:r>
              <a:rPr lang="cs-CZ" dirty="0"/>
              <a:t> funkcí s klauzulí HAVING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9EAF521-44D0-4544-807E-5D00D6158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zjednodušení toho problémů a nahrazení pouze jedním dotazem se používá </a:t>
            </a:r>
            <a:r>
              <a:rPr lang="cs-CZ" dirty="0" err="1"/>
              <a:t>group</a:t>
            </a:r>
            <a:r>
              <a:rPr lang="cs-CZ" dirty="0"/>
              <a:t> by se spojením </a:t>
            </a:r>
            <a:r>
              <a:rPr lang="cs-CZ" dirty="0" err="1"/>
              <a:t>having</a:t>
            </a:r>
            <a:r>
              <a:rPr lang="cs-CZ" dirty="0"/>
              <a:t>.</a:t>
            </a:r>
          </a:p>
          <a:p>
            <a:r>
              <a:rPr lang="cs-CZ" dirty="0"/>
              <a:t>Používání </a:t>
            </a:r>
            <a:r>
              <a:rPr lang="cs-CZ" dirty="0" err="1"/>
              <a:t>group</a:t>
            </a:r>
            <a:r>
              <a:rPr lang="cs-CZ" dirty="0"/>
              <a:t> by nám slouží k rozdělení řádku v tabulce na menší skupiny. Potom můžete používat </a:t>
            </a:r>
            <a:r>
              <a:rPr lang="cs-CZ" dirty="0" err="1"/>
              <a:t>seskupovaci</a:t>
            </a:r>
            <a:r>
              <a:rPr lang="cs-CZ" dirty="0"/>
              <a:t> funkce pro vrácení souhrnných informací pro každou skupinu.</a:t>
            </a:r>
          </a:p>
        </p:txBody>
      </p:sp>
      <p:pic>
        <p:nvPicPr>
          <p:cNvPr id="4" name="Picture 180">
            <a:extLst>
              <a:ext uri="{FF2B5EF4-FFF2-40B4-BE49-F238E27FC236}">
                <a16:creationId xmlns:a16="http://schemas.microsoft.com/office/drawing/2014/main" id="{B20BD4E6-9E8D-4253-BE46-1324B27AB1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77896" y="3679740"/>
            <a:ext cx="3074773" cy="317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05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CEC338-BF24-436A-B9ED-74DAF003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špatně na tomto příkladu?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72D8E2D-05BF-4FD5-A27B-67F92FE80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Group funkce vyžaduje, aby každý sloupec použitý v </a:t>
            </a:r>
            <a:r>
              <a:rPr lang="cs-CZ" dirty="0" err="1"/>
              <a:t>select</a:t>
            </a:r>
            <a:r>
              <a:rPr lang="cs-CZ" dirty="0"/>
              <a:t> a který není součástí </a:t>
            </a:r>
            <a:r>
              <a:rPr lang="cs-CZ" dirty="0" err="1"/>
              <a:t>group</a:t>
            </a:r>
            <a:r>
              <a:rPr lang="cs-CZ" dirty="0"/>
              <a:t> funkce, byl uveden v klauzuli </a:t>
            </a:r>
            <a:r>
              <a:rPr lang="cs-CZ" dirty="0" err="1"/>
              <a:t>group</a:t>
            </a:r>
            <a:r>
              <a:rPr lang="cs-CZ" dirty="0"/>
              <a:t> by.</a:t>
            </a:r>
          </a:p>
          <a:p>
            <a:r>
              <a:rPr lang="cs-CZ" dirty="0"/>
              <a:t>Pro omezení vypisovaných řádků je možné je vyčlenit ještě před zahrnutím do skupin pomoci klauzule </a:t>
            </a:r>
            <a:r>
              <a:rPr lang="cs-CZ" b="1" dirty="0" err="1"/>
              <a:t>where</a:t>
            </a:r>
            <a:r>
              <a:rPr lang="cs-CZ" dirty="0"/>
              <a:t>.</a:t>
            </a:r>
          </a:p>
        </p:txBody>
      </p:sp>
      <p:pic>
        <p:nvPicPr>
          <p:cNvPr id="4" name="Picture 181">
            <a:extLst>
              <a:ext uri="{FF2B5EF4-FFF2-40B4-BE49-F238E27FC236}">
                <a16:creationId xmlns:a16="http://schemas.microsoft.com/office/drawing/2014/main" id="{7F1398E7-0367-43CE-8F56-C7E1FFFBD4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062140" cy="180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2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2E5EF7-6CD6-4D3D-B2CF-43AC0DA7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to bude správně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EC3AB14-364B-446C-B2DD-D69ED6A4A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82">
            <a:extLst>
              <a:ext uri="{FF2B5EF4-FFF2-40B4-BE49-F238E27FC236}">
                <a16:creationId xmlns:a16="http://schemas.microsoft.com/office/drawing/2014/main" id="{7F8A09C4-A580-455C-BB1E-365F000E04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244914" cy="373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4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2FA3B6-F545-4038-91DE-0DAD66F4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 pro GROUP BY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BA1F19B-C03D-4FE3-A7D9-C6867B202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Když zahrnujete </a:t>
            </a:r>
            <a:r>
              <a:rPr lang="cs-CZ" dirty="0" err="1"/>
              <a:t>seskupovací</a:t>
            </a:r>
            <a:r>
              <a:rPr lang="cs-CZ" dirty="0"/>
              <a:t> funkci v </a:t>
            </a:r>
            <a:r>
              <a:rPr lang="cs-CZ" dirty="0" err="1"/>
              <a:t>selectu</a:t>
            </a:r>
            <a:r>
              <a:rPr lang="cs-CZ" dirty="0"/>
              <a:t> spolu s nějakými dalšími sloupci, každý jednotlivý sloupec se musí také objevit v </a:t>
            </a:r>
            <a:r>
              <a:rPr lang="cs-CZ" dirty="0" err="1"/>
              <a:t>group</a:t>
            </a:r>
            <a:r>
              <a:rPr lang="cs-CZ" dirty="0"/>
              <a:t> by klauzuli.</a:t>
            </a:r>
          </a:p>
          <a:p>
            <a:r>
              <a:rPr lang="cs-CZ" dirty="0"/>
              <a:t>Nemůžete používat </a:t>
            </a:r>
            <a:r>
              <a:rPr lang="cs-CZ" dirty="0" err="1"/>
              <a:t>aliasy</a:t>
            </a:r>
            <a:r>
              <a:rPr lang="cs-CZ" dirty="0"/>
              <a:t> sloupců v klauzuli </a:t>
            </a:r>
            <a:r>
              <a:rPr lang="cs-CZ" dirty="0" err="1"/>
              <a:t>group</a:t>
            </a:r>
            <a:r>
              <a:rPr lang="cs-CZ" dirty="0"/>
              <a:t> by.</a:t>
            </a:r>
          </a:p>
          <a:p>
            <a:r>
              <a:rPr lang="cs-CZ" dirty="0"/>
              <a:t>Klauzule </a:t>
            </a:r>
            <a:r>
              <a:rPr lang="cs-CZ" dirty="0" err="1"/>
              <a:t>where</a:t>
            </a:r>
            <a:r>
              <a:rPr lang="cs-CZ" dirty="0"/>
              <a:t> vyčleňuje řádky ještě před tím, než jsou rozděleny do skupin.</a:t>
            </a:r>
          </a:p>
        </p:txBody>
      </p:sp>
    </p:spTree>
    <p:extLst>
      <p:ext uri="{BB962C8B-B14F-4D97-AF65-F5344CB8AC3E}">
        <p14:creationId xmlns:p14="http://schemas.microsoft.com/office/powerpoint/2010/main" val="725267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338F5D-B0E0-44B6-B5AA-C42CA440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 pro GROUP BY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FA926F5-23BC-423B-97C7-94246A4C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Funkce mohou být vnořeny do sebe, lze použít 2 funkce ihned po sobě. Příklad ukazuje to, že je nejprve nalezen průměrný plat pro každé oddělení a potom z tohoto seznamu je vybrána maximální hodnota.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Picture 183">
            <a:extLst>
              <a:ext uri="{FF2B5EF4-FFF2-40B4-BE49-F238E27FC236}">
                <a16:creationId xmlns:a16="http://schemas.microsoft.com/office/drawing/2014/main" id="{96F87248-1562-4F89-B235-A39D9CA55E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3428999"/>
            <a:ext cx="10208741" cy="213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02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4985DF-20A0-4B17-86DE-67E1EF085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HAVING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12678FD-50FE-4453-B80E-459CA254F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když bychom chtěli nalézt maximální plat pro každé oddělení, ale jenom pro ta oddělení, která mají více než 1 zaměstnance? Co je na následujícím příkladu špatně?</a:t>
            </a:r>
          </a:p>
        </p:txBody>
      </p:sp>
      <p:pic>
        <p:nvPicPr>
          <p:cNvPr id="4" name="Picture 184">
            <a:extLst>
              <a:ext uri="{FF2B5EF4-FFF2-40B4-BE49-F238E27FC236}">
                <a16:creationId xmlns:a16="http://schemas.microsoft.com/office/drawing/2014/main" id="{D6893B79-6E33-485A-B599-AECE5347A8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9388" y="3166182"/>
            <a:ext cx="6139249" cy="140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54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7C877A-0528-4949-AF37-5CE41D74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HAVING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8522544-2C3C-4764-ABBC-9CC9B56C1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Stejným způsobem jsme používali klauzuli </a:t>
            </a:r>
            <a:r>
              <a:rPr lang="cs-CZ" dirty="0" err="1"/>
              <a:t>where</a:t>
            </a:r>
            <a:r>
              <a:rPr lang="cs-CZ" dirty="0"/>
              <a:t> pro restrikcí řádku, které mají být vybrány, tady je pro restrikcí skupin používáno </a:t>
            </a:r>
            <a:r>
              <a:rPr lang="cs-CZ" dirty="0" err="1"/>
              <a:t>having</a:t>
            </a:r>
            <a:r>
              <a:rPr lang="cs-CZ" dirty="0"/>
              <a:t> klauzule. V tomto případě je pak nejprve provedeno rozdělení řádku do skupin, aplikována skupinová funkce a následně jsou zobrazeny jenom skupiny splňující podmínku v </a:t>
            </a:r>
            <a:r>
              <a:rPr lang="cs-CZ" dirty="0" err="1"/>
              <a:t>having</a:t>
            </a:r>
            <a:r>
              <a:rPr lang="cs-CZ" dirty="0"/>
              <a:t> klauzuli.</a:t>
            </a:r>
          </a:p>
        </p:txBody>
      </p:sp>
      <p:pic>
        <p:nvPicPr>
          <p:cNvPr id="4" name="Picture 185">
            <a:extLst>
              <a:ext uri="{FF2B5EF4-FFF2-40B4-BE49-F238E27FC236}">
                <a16:creationId xmlns:a16="http://schemas.microsoft.com/office/drawing/2014/main" id="{1A5FAA23-EE35-4AA0-87E7-81ABF44545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4001293"/>
            <a:ext cx="7786816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4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16F6B2-EADA-4F78-B2DA-1794A9F3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HAVING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5604639-6BEB-427B-929A-371B20FB9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Tento dotaz nalezne průměrnou populaci v zemích dle regionu. Ale vrací pouze ty regiony, kde je populace vyšší než 300000.</a:t>
            </a:r>
          </a:p>
        </p:txBody>
      </p:sp>
      <p:pic>
        <p:nvPicPr>
          <p:cNvPr id="4" name="Picture 186">
            <a:extLst>
              <a:ext uri="{FF2B5EF4-FFF2-40B4-BE49-F238E27FC236}">
                <a16:creationId xmlns:a16="http://schemas.microsoft.com/office/drawing/2014/main" id="{E081F807-A26B-47A4-A247-80CF703404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3062672"/>
            <a:ext cx="7045411" cy="27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66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296CB3-95B6-46C1-B64C-F60CE9D1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Tak a teď si to ujasněme…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6A23D03-E1B6-4DBD-B9D3-C9745B43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Doporučené ražení jednotlivých klauzuli v příkazu </a:t>
            </a:r>
            <a:r>
              <a:rPr lang="cs-CZ" dirty="0" err="1"/>
              <a:t>select</a:t>
            </a:r>
            <a:r>
              <a:rPr lang="cs-CZ" dirty="0"/>
              <a:t>:</a:t>
            </a:r>
          </a:p>
        </p:txBody>
      </p:sp>
      <p:pic>
        <p:nvPicPr>
          <p:cNvPr id="4" name="Picture 187">
            <a:extLst>
              <a:ext uri="{FF2B5EF4-FFF2-40B4-BE49-F238E27FC236}">
                <a16:creationId xmlns:a16="http://schemas.microsoft.com/office/drawing/2014/main" id="{C01C928B-83BA-4082-B84D-1833010BFC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425400"/>
            <a:ext cx="8330514" cy="172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33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AF9B7B-F498-43CE-9AC1-6DAC56D17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96865"/>
            <a:ext cx="10515600" cy="1325563"/>
          </a:xfrm>
        </p:spPr>
        <p:txBody>
          <a:bodyPr/>
          <a:lstStyle/>
          <a:p>
            <a:r>
              <a:rPr lang="cs-CZ" dirty="0"/>
              <a:t>Použití </a:t>
            </a:r>
            <a:r>
              <a:rPr lang="cs-CZ" dirty="0" err="1"/>
              <a:t>rollup</a:t>
            </a:r>
            <a:r>
              <a:rPr lang="cs-CZ" dirty="0"/>
              <a:t>, </a:t>
            </a:r>
            <a:r>
              <a:rPr lang="cs-CZ" dirty="0" err="1"/>
              <a:t>cube</a:t>
            </a:r>
            <a:r>
              <a:rPr lang="cs-CZ" dirty="0"/>
              <a:t>, </a:t>
            </a:r>
            <a:r>
              <a:rPr lang="cs-CZ" dirty="0" err="1"/>
              <a:t>grouping</a:t>
            </a:r>
            <a:r>
              <a:rPr lang="cs-CZ" dirty="0"/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3978936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B2CD74-643F-4050-A8E3-3C5DA3C5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</a:t>
            </a:r>
            <a:r>
              <a:rPr lang="cs-CZ" dirty="0" err="1"/>
              <a:t>rollup</a:t>
            </a:r>
            <a:r>
              <a:rPr lang="cs-CZ" dirty="0"/>
              <a:t>, </a:t>
            </a:r>
            <a:r>
              <a:rPr lang="cs-CZ" dirty="0" err="1"/>
              <a:t>cube</a:t>
            </a:r>
            <a:r>
              <a:rPr lang="cs-CZ" dirty="0"/>
              <a:t>, </a:t>
            </a:r>
            <a:r>
              <a:rPr lang="cs-CZ" dirty="0" err="1"/>
              <a:t>grouping</a:t>
            </a:r>
            <a:r>
              <a:rPr lang="cs-CZ" dirty="0"/>
              <a:t> set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235F4F8-9B3E-4DFE-A96B-0A9109B6C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V </a:t>
            </a:r>
            <a:r>
              <a:rPr lang="cs-CZ" dirty="0" err="1"/>
              <a:t>group</a:t>
            </a:r>
            <a:r>
              <a:rPr lang="cs-CZ" dirty="0"/>
              <a:t> by dotazech často potřebujeme určit </a:t>
            </a:r>
            <a:r>
              <a:rPr lang="cs-CZ" b="1" dirty="0" err="1"/>
              <a:t>subsoučty</a:t>
            </a:r>
            <a:r>
              <a:rPr lang="cs-CZ" dirty="0"/>
              <a:t> a </a:t>
            </a:r>
            <a:r>
              <a:rPr lang="cs-CZ" b="1" dirty="0"/>
              <a:t>celkový</a:t>
            </a:r>
            <a:r>
              <a:rPr lang="cs-CZ" dirty="0"/>
              <a:t> </a:t>
            </a:r>
            <a:r>
              <a:rPr lang="cs-CZ" b="1" dirty="0"/>
              <a:t>součet</a:t>
            </a:r>
            <a:r>
              <a:rPr lang="cs-CZ" dirty="0"/>
              <a:t>, k tomuto sloupci operace </a:t>
            </a:r>
            <a:r>
              <a:rPr lang="cs-CZ" b="1" dirty="0" err="1"/>
              <a:t>rollup</a:t>
            </a:r>
            <a:r>
              <a:rPr lang="cs-CZ" dirty="0"/>
              <a:t>. Nepoužití tohoto operátoru by znamenalo, že musíme provést několik dotazů a pak si psát výsledky například do tabulkového editoru a dále je zpracovávat. </a:t>
            </a:r>
            <a:r>
              <a:rPr lang="cs-CZ" b="1" dirty="0" err="1"/>
              <a:t>Rollup</a:t>
            </a:r>
            <a:r>
              <a:rPr lang="cs-CZ" b="1" dirty="0"/>
              <a:t> provádí </a:t>
            </a:r>
            <a:r>
              <a:rPr lang="cs-CZ" b="1" dirty="0" err="1"/>
              <a:t>mezivýpočty</a:t>
            </a:r>
            <a:r>
              <a:rPr lang="cs-CZ" b="1" dirty="0"/>
              <a:t> pro jednotlivé skupiny vytvořené v </a:t>
            </a:r>
            <a:r>
              <a:rPr lang="cs-CZ" b="1" dirty="0" err="1"/>
              <a:t>group</a:t>
            </a:r>
            <a:r>
              <a:rPr lang="cs-CZ" b="1" dirty="0"/>
              <a:t> by.</a:t>
            </a:r>
          </a:p>
          <a:p>
            <a:r>
              <a:rPr lang="cs-CZ" dirty="0"/>
              <a:t>Úkol </a:t>
            </a:r>
            <a:r>
              <a:rPr lang="cs-CZ" dirty="0" err="1"/>
              <a:t>rollup</a:t>
            </a:r>
            <a:r>
              <a:rPr lang="cs-CZ" dirty="0"/>
              <a:t> je jasný, vytvoří </a:t>
            </a:r>
            <a:r>
              <a:rPr lang="cs-CZ" dirty="0" err="1"/>
              <a:t>subtotal</a:t>
            </a:r>
            <a:r>
              <a:rPr lang="cs-CZ" dirty="0"/>
              <a:t> od nejnižší úrovně po celkový souhrn. </a:t>
            </a:r>
            <a:r>
              <a:rPr lang="cs-CZ" dirty="0" err="1"/>
              <a:t>Rollup</a:t>
            </a:r>
            <a:r>
              <a:rPr lang="cs-CZ" dirty="0"/>
              <a:t> používá řazený list seskupených sloupců. Prvně vypočítá standardně agregované hodnoty specifikované v </a:t>
            </a:r>
            <a:r>
              <a:rPr lang="cs-CZ" dirty="0" err="1"/>
              <a:t>group</a:t>
            </a:r>
            <a:r>
              <a:rPr lang="cs-CZ" dirty="0"/>
              <a:t> by klauzuli. Následně vytvoří nejvyšší souhrny a postupuje zprava doleva skrze seznam seskupovaných sloupců. Nakonec vytvoří celkový souhrn.</a:t>
            </a:r>
          </a:p>
        </p:txBody>
      </p:sp>
    </p:spTree>
    <p:extLst>
      <p:ext uri="{BB962C8B-B14F-4D97-AF65-F5344CB8AC3E}">
        <p14:creationId xmlns:p14="http://schemas.microsoft.com/office/powerpoint/2010/main" val="2277933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F546EA-1497-4705-B03D-A03F0D63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Rollup</a:t>
            </a:r>
            <a:r>
              <a:rPr lang="cs-CZ" dirty="0"/>
              <a:t> příklad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FC58FF0-3524-4E72-9E41-C8E706415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88">
            <a:extLst>
              <a:ext uri="{FF2B5EF4-FFF2-40B4-BE49-F238E27FC236}">
                <a16:creationId xmlns:a16="http://schemas.microsoft.com/office/drawing/2014/main" id="{5500698E-45D9-4C2E-83B0-BBFF758762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9845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24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044ACF-2EC0-4F41-AC2E-C284DB14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Rollup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A1BC34E-6CF3-4890-A0CF-4B838F19F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Počet sloupců nebo výrazů, které jsou zobrazeny v argumentů </a:t>
            </a:r>
            <a:r>
              <a:rPr lang="cs-CZ" dirty="0" err="1"/>
              <a:t>rollup</a:t>
            </a:r>
            <a:r>
              <a:rPr lang="cs-CZ" dirty="0"/>
              <a:t> je určován počtem seskupování. Navíc se přidá 1 sloupec pro celkový souhrn.</a:t>
            </a: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Jak to vypadá bez použití </a:t>
            </a:r>
            <a:r>
              <a:rPr lang="cs-CZ" dirty="0" err="1"/>
              <a:t>rollup</a:t>
            </a:r>
            <a:r>
              <a:rPr lang="cs-CZ" dirty="0"/>
              <a:t>? Budete muset provést vícero dotazů k získání souhrnu produkovaných operaci </a:t>
            </a:r>
            <a:r>
              <a:rPr lang="cs-CZ" dirty="0" err="1"/>
              <a:t>rollup</a:t>
            </a:r>
            <a:r>
              <a:rPr lang="cs-CZ" dirty="0"/>
              <a:t>.</a:t>
            </a:r>
          </a:p>
        </p:txBody>
      </p:sp>
      <p:pic>
        <p:nvPicPr>
          <p:cNvPr id="4" name="Picture 189">
            <a:extLst>
              <a:ext uri="{FF2B5EF4-FFF2-40B4-BE49-F238E27FC236}">
                <a16:creationId xmlns:a16="http://schemas.microsoft.com/office/drawing/2014/main" id="{F2CC3980-9EE3-412D-AB32-03D329DD1C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72149" y="2584364"/>
            <a:ext cx="6694274" cy="1567506"/>
          </a:xfrm>
          <a:prstGeom prst="rect">
            <a:avLst/>
          </a:prstGeom>
        </p:spPr>
      </p:pic>
      <p:pic>
        <p:nvPicPr>
          <p:cNvPr id="5" name="Picture 190">
            <a:extLst>
              <a:ext uri="{FF2B5EF4-FFF2-40B4-BE49-F238E27FC236}">
                <a16:creationId xmlns:a16="http://schemas.microsoft.com/office/drawing/2014/main" id="{5DBBBDC4-65A3-4BBE-B10B-614630B995D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72149" y="4967288"/>
            <a:ext cx="5359743" cy="189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6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E0C06A-3550-4B31-A626-0E2AE733B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CUBE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3AA2FC7-3C36-4DDC-8F4D-CBC716BF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Stejně jako </a:t>
            </a:r>
            <a:r>
              <a:rPr lang="cs-CZ" dirty="0" err="1"/>
              <a:t>rollup</a:t>
            </a:r>
            <a:r>
              <a:rPr lang="cs-CZ" dirty="0"/>
              <a:t> je rozšířením klauzule </a:t>
            </a:r>
            <a:r>
              <a:rPr lang="cs-CZ" dirty="0" err="1"/>
              <a:t>group</a:t>
            </a:r>
            <a:r>
              <a:rPr lang="cs-CZ" dirty="0"/>
              <a:t> by.</a:t>
            </a:r>
          </a:p>
          <a:p>
            <a:r>
              <a:rPr lang="cs-CZ" dirty="0"/>
              <a:t>Produkuje kontingenční tabulku. Může být aplikována na všechny agregační funkce včetně </a:t>
            </a:r>
            <a:r>
              <a:rPr lang="cs-CZ" dirty="0" err="1"/>
              <a:t>avg</a:t>
            </a:r>
            <a:r>
              <a:rPr lang="cs-CZ" dirty="0"/>
              <a:t>, sum, min, </a:t>
            </a:r>
            <a:r>
              <a:rPr lang="cs-CZ" dirty="0" err="1"/>
              <a:t>max</a:t>
            </a:r>
            <a:r>
              <a:rPr lang="cs-CZ" dirty="0"/>
              <a:t>, </a:t>
            </a:r>
            <a:r>
              <a:rPr lang="cs-CZ" dirty="0" err="1"/>
              <a:t>count</a:t>
            </a:r>
            <a:r>
              <a:rPr lang="cs-CZ" dirty="0"/>
              <a:t>. </a:t>
            </a:r>
          </a:p>
          <a:p>
            <a:r>
              <a:rPr lang="cs-CZ" dirty="0"/>
              <a:t>Sloupce vypsané v </a:t>
            </a:r>
            <a:r>
              <a:rPr lang="cs-CZ" dirty="0" err="1"/>
              <a:t>group</a:t>
            </a:r>
            <a:r>
              <a:rPr lang="cs-CZ" dirty="0"/>
              <a:t> by klauzuli jsou </a:t>
            </a:r>
            <a:r>
              <a:rPr lang="cs-CZ" dirty="0" err="1"/>
              <a:t>referencovány</a:t>
            </a:r>
            <a:r>
              <a:rPr lang="cs-CZ" dirty="0"/>
              <a:t> mezi sebou pro vytvoření velké skupiny.</a:t>
            </a:r>
          </a:p>
          <a:p>
            <a:r>
              <a:rPr lang="cs-CZ" dirty="0"/>
              <a:t>Každá možná kombinace je agregovaná pomocí </a:t>
            </a:r>
            <a:r>
              <a:rPr lang="cs-CZ" dirty="0" err="1"/>
              <a:t>cube</a:t>
            </a:r>
            <a:r>
              <a:rPr lang="cs-CZ" dirty="0"/>
              <a:t>. </a:t>
            </a:r>
          </a:p>
          <a:p>
            <a:r>
              <a:rPr lang="cs-CZ" dirty="0"/>
              <a:t>Pokud máte n sloupců v </a:t>
            </a:r>
            <a:r>
              <a:rPr lang="cs-CZ" dirty="0" err="1"/>
              <a:t>group</a:t>
            </a:r>
            <a:r>
              <a:rPr lang="cs-CZ" dirty="0"/>
              <a:t> by klauzuli, bude tu 2n možných kombinací pro </a:t>
            </a:r>
            <a:r>
              <a:rPr lang="cs-CZ" dirty="0" err="1"/>
              <a:t>superagregaci</a:t>
            </a:r>
            <a:r>
              <a:rPr lang="cs-CZ" dirty="0"/>
              <a:t>. Matematicky jsou tyto kombinace n-dimensionální kostka a podle té se také operátor nazývá,</a:t>
            </a:r>
          </a:p>
        </p:txBody>
      </p:sp>
    </p:spTree>
    <p:extLst>
      <p:ext uri="{BB962C8B-B14F-4D97-AF65-F5344CB8AC3E}">
        <p14:creationId xmlns:p14="http://schemas.microsoft.com/office/powerpoint/2010/main" val="138510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CE3794-651D-433D-8A81-103F5FCB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Cube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F41BED2-E4D9-4832-B939-E0176BA2A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Cube</a:t>
            </a:r>
            <a:r>
              <a:rPr lang="cs-CZ" dirty="0"/>
              <a:t> je často používán v dotazech, které používají sloupce oddělených tabulek spíše než oddělené sloupce jedné tabulky. </a:t>
            </a:r>
          </a:p>
          <a:p>
            <a:r>
              <a:rPr lang="cs-CZ" dirty="0"/>
              <a:t>Představte si, že uživatel se dotazuje do tabulky Sales pro podnik s rozsahem jako Amazon. Požadovaný report bude obsahovat kontingenční tabulku pro všechny možné kombinace prodejů přes měsíc, region a produkt.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21753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4BC96D-3660-45EA-A1E9-E076CF2C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Cube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306C0AA-FFF2-468C-A6E6-351B61FB9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následujícím příkladu jsou červené označeny řádky generované operací </a:t>
            </a:r>
            <a:r>
              <a:rPr lang="cs-CZ" dirty="0" err="1"/>
              <a:t>cube</a:t>
            </a:r>
            <a:r>
              <a:rPr lang="cs-CZ" dirty="0"/>
              <a:t>.</a:t>
            </a:r>
          </a:p>
        </p:txBody>
      </p:sp>
      <p:pic>
        <p:nvPicPr>
          <p:cNvPr id="4" name="Picture 191">
            <a:extLst>
              <a:ext uri="{FF2B5EF4-FFF2-40B4-BE49-F238E27FC236}">
                <a16:creationId xmlns:a16="http://schemas.microsoft.com/office/drawing/2014/main" id="{5A7B4C24-9441-4E98-AF22-A7A5A8D92D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799835"/>
            <a:ext cx="7267832" cy="36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43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8C0638-9AF5-4724-8C7A-01119E48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Grouping</a:t>
            </a:r>
            <a:r>
              <a:rPr lang="cs-CZ" dirty="0"/>
              <a:t> </a:t>
            </a:r>
            <a:r>
              <a:rPr lang="cs-CZ" dirty="0" err="1"/>
              <a:t>sets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D3F670B-3BB6-4634-8B2F-93C6C7340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Jsou dalším rozšířením pro klauzuli </a:t>
            </a:r>
            <a:r>
              <a:rPr lang="cs-CZ" dirty="0" err="1"/>
              <a:t>group</a:t>
            </a:r>
            <a:r>
              <a:rPr lang="cs-CZ" dirty="0"/>
              <a:t> by. Používají se pro specifikaci vícenásobného seskupování dat.</a:t>
            </a:r>
          </a:p>
          <a:p>
            <a:r>
              <a:rPr lang="cs-CZ" dirty="0"/>
              <a:t>Dávají vám funkcionalitu toho, že máte více </a:t>
            </a:r>
            <a:r>
              <a:rPr lang="cs-CZ" dirty="0" err="1"/>
              <a:t>group</a:t>
            </a:r>
            <a:r>
              <a:rPr lang="cs-CZ" dirty="0"/>
              <a:t> by klauzulí v jednom </a:t>
            </a:r>
            <a:r>
              <a:rPr lang="cs-CZ" dirty="0" err="1"/>
              <a:t>selectu</a:t>
            </a:r>
            <a:r>
              <a:rPr lang="cs-CZ" dirty="0"/>
              <a:t>, což není běžně v normální syntaxi umožněno.</a:t>
            </a:r>
          </a:p>
        </p:txBody>
      </p:sp>
    </p:spTree>
    <p:extLst>
      <p:ext uri="{BB962C8B-B14F-4D97-AF65-F5344CB8AC3E}">
        <p14:creationId xmlns:p14="http://schemas.microsoft.com/office/powerpoint/2010/main" val="3266139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82C2BD-52CE-4CEB-B890-22F50AAF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Grouping</a:t>
            </a:r>
            <a:r>
              <a:rPr lang="cs-CZ" dirty="0"/>
              <a:t> </a:t>
            </a:r>
            <a:r>
              <a:rPr lang="cs-CZ" dirty="0" err="1"/>
              <a:t>sets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653AFE2-6306-4E93-88F5-B0EB278A0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Když chcete vidět data z tabulky zaměstnanci seskupené podle </a:t>
            </a:r>
            <a:r>
              <a:rPr lang="cs-CZ" dirty="0" err="1"/>
              <a:t>department_id</a:t>
            </a:r>
            <a:r>
              <a:rPr lang="cs-CZ" dirty="0"/>
              <a:t>, </a:t>
            </a:r>
            <a:r>
              <a:rPr lang="cs-CZ" dirty="0" err="1"/>
              <a:t>job_id</a:t>
            </a:r>
            <a:r>
              <a:rPr lang="cs-CZ" dirty="0"/>
              <a:t>, </a:t>
            </a:r>
            <a:r>
              <a:rPr lang="cs-CZ" dirty="0" err="1"/>
              <a:t>manager_id</a:t>
            </a:r>
            <a:r>
              <a:rPr lang="cs-CZ" dirty="0"/>
              <a:t> ale zároveň seskupené podle </a:t>
            </a:r>
            <a:r>
              <a:rPr lang="cs-CZ" dirty="0" err="1"/>
              <a:t>department_id</a:t>
            </a:r>
            <a:r>
              <a:rPr lang="cs-CZ" dirty="0"/>
              <a:t> a </a:t>
            </a:r>
            <a:r>
              <a:rPr lang="cs-CZ" dirty="0" err="1"/>
              <a:t>manager_id</a:t>
            </a:r>
            <a:r>
              <a:rPr lang="cs-CZ" dirty="0"/>
              <a:t>. Dále seskupené podle </a:t>
            </a:r>
            <a:r>
              <a:rPr lang="cs-CZ" dirty="0" err="1"/>
              <a:t>job_id</a:t>
            </a:r>
            <a:r>
              <a:rPr lang="cs-CZ" dirty="0"/>
              <a:t>, </a:t>
            </a:r>
            <a:r>
              <a:rPr lang="cs-CZ" dirty="0" err="1"/>
              <a:t>manager_id</a:t>
            </a:r>
            <a:r>
              <a:rPr lang="cs-CZ" dirty="0"/>
              <a:t>). Normálně byste museli napsat 3 rozdílné </a:t>
            </a:r>
            <a:r>
              <a:rPr lang="cs-CZ" dirty="0" err="1"/>
              <a:t>selecty</a:t>
            </a:r>
            <a:r>
              <a:rPr lang="cs-CZ" dirty="0"/>
              <a:t> s jediným rozdílem v </a:t>
            </a:r>
            <a:r>
              <a:rPr lang="cs-CZ" dirty="0" err="1"/>
              <a:t>group</a:t>
            </a:r>
            <a:r>
              <a:rPr lang="cs-CZ" dirty="0"/>
              <a:t> by klauzuli.</a:t>
            </a:r>
          </a:p>
          <a:p>
            <a:r>
              <a:rPr lang="cs-CZ" dirty="0"/>
              <a:t>Pro databázi to pak znamená </a:t>
            </a:r>
            <a:r>
              <a:rPr lang="cs-CZ" dirty="0" err="1"/>
              <a:t>ziskávání</a:t>
            </a:r>
            <a:r>
              <a:rPr lang="cs-CZ" dirty="0"/>
              <a:t> stejných dát 3x a to může způsobovat celkem velké zatížení databáze, protože si představte společnost se 3 milióny zaměstnanců. Potom byste se dotazovali na 9 miliónů záznamů místo 3. </a:t>
            </a:r>
          </a:p>
          <a:p>
            <a:r>
              <a:rPr lang="cs-CZ" dirty="0"/>
              <a:t>V tomto případě jsou </a:t>
            </a:r>
            <a:r>
              <a:rPr lang="cs-CZ" dirty="0" err="1"/>
              <a:t>grouping</a:t>
            </a:r>
            <a:r>
              <a:rPr lang="cs-CZ" dirty="0"/>
              <a:t> sety více efektivní pro psaní reportu.</a:t>
            </a:r>
          </a:p>
        </p:txBody>
      </p:sp>
    </p:spTree>
    <p:extLst>
      <p:ext uri="{BB962C8B-B14F-4D97-AF65-F5344CB8AC3E}">
        <p14:creationId xmlns:p14="http://schemas.microsoft.com/office/powerpoint/2010/main" val="841167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A8F572-1824-4F7A-9270-4C2E1770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Grouping</a:t>
            </a:r>
            <a:r>
              <a:rPr lang="cs-CZ" dirty="0"/>
              <a:t> </a:t>
            </a:r>
            <a:r>
              <a:rPr lang="cs-CZ" dirty="0" err="1"/>
              <a:t>sets</a:t>
            </a:r>
            <a:r>
              <a:rPr lang="cs-CZ" dirty="0"/>
              <a:t>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98423D3-10CF-4589-98F4-AFA65C5A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92">
            <a:extLst>
              <a:ext uri="{FF2B5EF4-FFF2-40B4-BE49-F238E27FC236}">
                <a16:creationId xmlns:a16="http://schemas.microsoft.com/office/drawing/2014/main" id="{8B019404-EAAD-401A-81EA-FD8A325EDA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7935097" cy="393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53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0AA257-7A40-442D-B57B-9506B020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Grouping</a:t>
            </a:r>
            <a:r>
              <a:rPr lang="cs-CZ" dirty="0"/>
              <a:t> funkce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CD74231-7553-4814-9262-4223EC88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Když používáte </a:t>
            </a:r>
            <a:r>
              <a:rPr lang="cs-CZ" dirty="0" err="1"/>
              <a:t>rollup</a:t>
            </a:r>
            <a:r>
              <a:rPr lang="cs-CZ" dirty="0"/>
              <a:t> nebo </a:t>
            </a:r>
            <a:r>
              <a:rPr lang="cs-CZ" dirty="0" err="1"/>
              <a:t>cube</a:t>
            </a:r>
            <a:r>
              <a:rPr lang="cs-CZ" dirty="0"/>
              <a:t> pro vytvoření reportu s mezisoučty, docela často potřebujete být schopni říci, které z řádků na výstupu jsou aktuální řádky vrácené z databáze a které řádky jsou generovaným výsledkem </a:t>
            </a:r>
            <a:r>
              <a:rPr lang="cs-CZ" dirty="0" err="1"/>
              <a:t>rollup</a:t>
            </a:r>
            <a:r>
              <a:rPr lang="cs-CZ" dirty="0"/>
              <a:t> nebo </a:t>
            </a:r>
            <a:r>
              <a:rPr lang="cs-CZ" dirty="0" err="1"/>
              <a:t>cube</a:t>
            </a:r>
            <a:r>
              <a:rPr lang="cs-CZ" dirty="0"/>
              <a:t> operace.</a:t>
            </a:r>
          </a:p>
        </p:txBody>
      </p:sp>
      <p:pic>
        <p:nvPicPr>
          <p:cNvPr id="4" name="Picture 194">
            <a:extLst>
              <a:ext uri="{FF2B5EF4-FFF2-40B4-BE49-F238E27FC236}">
                <a16:creationId xmlns:a16="http://schemas.microsoft.com/office/drawing/2014/main" id="{E0F1BFDD-D7AF-412E-AADE-D668E9DDAA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3186" y="3428999"/>
            <a:ext cx="4739203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32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CC333A-2CE9-442C-9AC2-73F275ED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Grouping</a:t>
            </a:r>
            <a:r>
              <a:rPr lang="cs-CZ" dirty="0"/>
              <a:t> funkce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EB53BF1-611B-44CB-BC0A-E69C16512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Když se podíváte na tento report, jak byste byli schopni odlišit mezi aktuálním záznamem z databáze a vypočteným řádkem? Jak můžete určit rozdíl mezi uloženou </a:t>
            </a:r>
            <a:r>
              <a:rPr lang="cs-CZ" dirty="0" err="1"/>
              <a:t>null</a:t>
            </a:r>
            <a:r>
              <a:rPr lang="cs-CZ" dirty="0"/>
              <a:t> hodnotou vrácenou dotazem a </a:t>
            </a:r>
            <a:r>
              <a:rPr lang="cs-CZ" dirty="0" err="1"/>
              <a:t>null</a:t>
            </a:r>
            <a:r>
              <a:rPr lang="cs-CZ" dirty="0"/>
              <a:t> hodnotou vytvořenou </a:t>
            </a:r>
            <a:r>
              <a:rPr lang="cs-CZ" dirty="0" err="1"/>
              <a:t>rollup</a:t>
            </a:r>
            <a:r>
              <a:rPr lang="cs-CZ" dirty="0"/>
              <a:t> a </a:t>
            </a:r>
            <a:r>
              <a:rPr lang="cs-CZ" dirty="0" err="1"/>
              <a:t>cube</a:t>
            </a:r>
            <a:r>
              <a:rPr lang="cs-CZ" dirty="0"/>
              <a:t>?</a:t>
            </a:r>
          </a:p>
          <a:p>
            <a:r>
              <a:rPr lang="cs-CZ" dirty="0"/>
              <a:t>K řešení toho problémů slouží </a:t>
            </a:r>
            <a:r>
              <a:rPr lang="cs-CZ" dirty="0" err="1"/>
              <a:t>grouping</a:t>
            </a:r>
            <a:r>
              <a:rPr lang="cs-CZ" dirty="0"/>
              <a:t> funkce. Používání jednoho sloupce z dotazů jako argumentů funkce </a:t>
            </a:r>
            <a:r>
              <a:rPr lang="cs-CZ" dirty="0" err="1"/>
              <a:t>grouping</a:t>
            </a:r>
            <a:r>
              <a:rPr lang="cs-CZ" dirty="0"/>
              <a:t> vrátí 1 pro vypočtený záznam a 0 pro vráceny záznam.</a:t>
            </a:r>
          </a:p>
        </p:txBody>
      </p:sp>
    </p:spTree>
    <p:extLst>
      <p:ext uri="{BB962C8B-B14F-4D97-AF65-F5344CB8AC3E}">
        <p14:creationId xmlns:p14="http://schemas.microsoft.com/office/powerpoint/2010/main" val="717864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7A0200-0C84-4394-8E0F-43483AA11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Operátory set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9A4F55F-D9AE-409B-9DBD-2C3186C8A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Jedná se o množinové operátory. Zaveďme si nyní 2 množiny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Které lze vnímat jako 2 tabulky</a:t>
            </a:r>
          </a:p>
        </p:txBody>
      </p:sp>
      <p:pic>
        <p:nvPicPr>
          <p:cNvPr id="4" name="Picture 195">
            <a:extLst>
              <a:ext uri="{FF2B5EF4-FFF2-40B4-BE49-F238E27FC236}">
                <a16:creationId xmlns:a16="http://schemas.microsoft.com/office/drawing/2014/main" id="{3BF64256-508E-4AC3-8383-42F035CCB5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2632" y="2578701"/>
            <a:ext cx="2896244" cy="1128326"/>
          </a:xfrm>
          <a:prstGeom prst="rect">
            <a:avLst/>
          </a:prstGeom>
        </p:spPr>
      </p:pic>
      <p:pic>
        <p:nvPicPr>
          <p:cNvPr id="5" name="Picture 196">
            <a:extLst>
              <a:ext uri="{FF2B5EF4-FFF2-40B4-BE49-F238E27FC236}">
                <a16:creationId xmlns:a16="http://schemas.microsoft.com/office/drawing/2014/main" id="{205BB8B4-7FF3-4388-85B5-34597AD0FC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82632" y="4460102"/>
            <a:ext cx="3464654" cy="239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39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FA5CF1-2866-42CF-BB63-4AE5DA9A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Operátory set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4692CEF-553B-4B65-A9FE-D03ED476C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zde několik pravidel, které je nutné si zapamatovat při používání set operátorů:</a:t>
            </a:r>
          </a:p>
          <a:p>
            <a:r>
              <a:rPr lang="cs-CZ" dirty="0"/>
              <a:t>Počet sloupců a datové typy sloupců musí být identické ve všech </a:t>
            </a:r>
            <a:r>
              <a:rPr lang="cs-CZ" dirty="0" err="1"/>
              <a:t>select</a:t>
            </a:r>
            <a:r>
              <a:rPr lang="cs-CZ" dirty="0"/>
              <a:t> příkazech použitých v dotazů.</a:t>
            </a:r>
          </a:p>
          <a:p>
            <a:r>
              <a:rPr lang="cs-CZ" dirty="0"/>
              <a:t>Názvy sloupců nesmí být identické.</a:t>
            </a:r>
          </a:p>
          <a:p>
            <a:r>
              <a:rPr lang="cs-CZ" dirty="0"/>
              <a:t>Názvy sloupců na výstupu jsou převzaty z názvu sloupců v prvním </a:t>
            </a:r>
            <a:r>
              <a:rPr lang="cs-CZ" dirty="0" err="1"/>
              <a:t>selectu</a:t>
            </a:r>
            <a:r>
              <a:rPr lang="cs-CZ" dirty="0"/>
              <a:t> - lze zavést </a:t>
            </a:r>
            <a:r>
              <a:rPr lang="cs-CZ" dirty="0" err="1"/>
              <a:t>aliasy</a:t>
            </a:r>
            <a:r>
              <a:rPr lang="cs-CZ" dirty="0"/>
              <a:t> a ty používat.</a:t>
            </a:r>
          </a:p>
        </p:txBody>
      </p:sp>
    </p:spTree>
    <p:extLst>
      <p:ext uri="{BB962C8B-B14F-4D97-AF65-F5344CB8AC3E}">
        <p14:creationId xmlns:p14="http://schemas.microsoft.com/office/powerpoint/2010/main" val="99023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AFB005-4A62-447E-8C35-72E2EC6F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UNION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8D07B9C-8F36-45DF-A390-A15C73361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Vrací všechny řádky z obou tabulek potom, co eliminuje duplikáty.</a:t>
            </a:r>
          </a:p>
        </p:txBody>
      </p:sp>
      <p:pic>
        <p:nvPicPr>
          <p:cNvPr id="4" name="Picture 197">
            <a:extLst>
              <a:ext uri="{FF2B5EF4-FFF2-40B4-BE49-F238E27FC236}">
                <a16:creationId xmlns:a16="http://schemas.microsoft.com/office/drawing/2014/main" id="{1FF43402-6F8B-4373-9766-63B75B8A81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609849"/>
            <a:ext cx="9244914" cy="22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683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6F2DE0-1B67-415D-842F-3E4795B7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UNION ALL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BA2A0F9-FD88-4E21-8224-10116A850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Vrací všechny řádky bez eliminace duplikátů.</a:t>
            </a:r>
          </a:p>
        </p:txBody>
      </p:sp>
      <p:pic>
        <p:nvPicPr>
          <p:cNvPr id="4" name="Picture 198">
            <a:extLst>
              <a:ext uri="{FF2B5EF4-FFF2-40B4-BE49-F238E27FC236}">
                <a16:creationId xmlns:a16="http://schemas.microsoft.com/office/drawing/2014/main" id="{80BA9F35-21AD-472C-8727-877AEFF036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600325"/>
            <a:ext cx="6056870" cy="160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43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BA2E65-4A9D-4F34-AF3F-CA2B8EE1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INTERSECT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E831D29-FA00-45CC-B0CD-48C91FF00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Vrací pouze řádky shodné v obou tabulkách.</a:t>
            </a:r>
            <a:endParaRPr lang="cs-CZ" dirty="0"/>
          </a:p>
        </p:txBody>
      </p:sp>
      <p:pic>
        <p:nvPicPr>
          <p:cNvPr id="4" name="Picture 199">
            <a:extLst>
              <a:ext uri="{FF2B5EF4-FFF2-40B4-BE49-F238E27FC236}">
                <a16:creationId xmlns:a16="http://schemas.microsoft.com/office/drawing/2014/main" id="{F33FB0D9-D782-41F4-BC10-6BD8412437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2505075"/>
            <a:ext cx="5488459" cy="184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08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22C300-07BA-477D-A124-6A5A0AC3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MINUS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48D9B75-A1C5-403E-BC90-DFE707066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Operátor vrací pouze řádky z jedné tabulky, ale takové co nejsou ve druhé tabulce.</a:t>
            </a:r>
          </a:p>
        </p:txBody>
      </p:sp>
      <p:pic>
        <p:nvPicPr>
          <p:cNvPr id="4" name="Picture 200">
            <a:extLst>
              <a:ext uri="{FF2B5EF4-FFF2-40B4-BE49-F238E27FC236}">
                <a16:creationId xmlns:a16="http://schemas.microsoft.com/office/drawing/2014/main" id="{ED9E372A-F2B1-447E-97CD-9A0B8398CE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3028950"/>
            <a:ext cx="664999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9353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4662</TotalTime>
  <Words>1316</Words>
  <Application>Microsoft Office PowerPoint</Application>
  <PresentationFormat>Širokoúhlá obrazovka</PresentationFormat>
  <Paragraphs>114</Paragraphs>
  <Slides>41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Motiv Office</vt:lpstr>
      <vt:lpstr>Seskupovací funkce</vt:lpstr>
      <vt:lpstr>Seskupovací funkce I.</vt:lpstr>
      <vt:lpstr>Seskupovací funkce II.</vt:lpstr>
      <vt:lpstr>Funkce MIN</vt:lpstr>
      <vt:lpstr>Funkce MAX</vt:lpstr>
      <vt:lpstr>Funkce SUM</vt:lpstr>
      <vt:lpstr>Funkce AVG</vt:lpstr>
      <vt:lpstr>Variance, stddev</vt:lpstr>
      <vt:lpstr>Prezentace aplikace PowerPoint</vt:lpstr>
      <vt:lpstr>Count, distinct, NVL</vt:lpstr>
      <vt:lpstr>Funkce DISTINCT I.</vt:lpstr>
      <vt:lpstr>Funkce DISTINCT II.</vt:lpstr>
      <vt:lpstr>Funkce NVL</vt:lpstr>
      <vt:lpstr>Použití group funkcí s klauzulí HAVING I.</vt:lpstr>
      <vt:lpstr>Použití group funkcí s klauzulí HAVING II.</vt:lpstr>
      <vt:lpstr>Co je špatně na tomto příkladu?</vt:lpstr>
      <vt:lpstr>Jak to bude správně</vt:lpstr>
      <vt:lpstr>Pravidla pro GROUP BY I.</vt:lpstr>
      <vt:lpstr>Pravidla pro GROUP BY II.</vt:lpstr>
      <vt:lpstr>Klauzule HAVING I.</vt:lpstr>
      <vt:lpstr>Klauzule HAVING II.</vt:lpstr>
      <vt:lpstr>Klauzule HAVING III.</vt:lpstr>
      <vt:lpstr>Tak a teď si to ujasněme…</vt:lpstr>
      <vt:lpstr>Použití rollup, cube, grouping set</vt:lpstr>
      <vt:lpstr>Použití rollup, cube, grouping set I.</vt:lpstr>
      <vt:lpstr>Rollup příklad</vt:lpstr>
      <vt:lpstr>Rollup</vt:lpstr>
      <vt:lpstr>CUBE</vt:lpstr>
      <vt:lpstr>Cube I.</vt:lpstr>
      <vt:lpstr>Cube II.</vt:lpstr>
      <vt:lpstr>Grouping sets I.</vt:lpstr>
      <vt:lpstr>Grouping sets II.</vt:lpstr>
      <vt:lpstr>Grouping sets III.</vt:lpstr>
      <vt:lpstr>Grouping funkce I.</vt:lpstr>
      <vt:lpstr>Grouping funkce II.</vt:lpstr>
      <vt:lpstr>Operátory set I.</vt:lpstr>
      <vt:lpstr>Operátory set II.</vt:lpstr>
      <vt:lpstr>UNION</vt:lpstr>
      <vt:lpstr>UNION ALL</vt:lpstr>
      <vt:lpstr>INTERSECT</vt:lpstr>
      <vt:lpstr>MINUS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Seskupovací funkce</dc:title>
  <dc:creator>Veronika Hurtová</dc:creator>
  <cp:lastModifiedBy>Veronika Hurtová</cp:lastModifiedBy>
  <cp:revision>27</cp:revision>
  <dcterms:created xsi:type="dcterms:W3CDTF">2017-11-16T09:12:22Z</dcterms:created>
  <dcterms:modified xsi:type="dcterms:W3CDTF">2017-11-19T14:55:07Z</dcterms:modified>
</cp:coreProperties>
</file>