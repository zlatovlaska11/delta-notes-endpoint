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68" autoAdjust="0"/>
    <p:restoredTop sz="94660"/>
  </p:normalViewPr>
  <p:slideViewPr>
    <p:cSldViewPr snapToGrid="0">
      <p:cViewPr varScale="1">
        <p:scale>
          <a:sx n="63" d="100"/>
          <a:sy n="63" d="100"/>
        </p:scale>
        <p:origin x="61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a:p>
        </p:txBody>
      </p:sp>
      <p:sp>
        <p:nvSpPr>
          <p:cNvPr id="3" name="Zástupný symbol pro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0CB977-B1EF-4221-BCDB-B1DF4D978B69}" type="datetimeFigureOut">
              <a:rPr lang="cs-CZ" smtClean="0"/>
              <a:t>21.03.2019</a:t>
            </a:fld>
            <a:endParaRPr lang="cs-CZ"/>
          </a:p>
        </p:txBody>
      </p:sp>
      <p:sp>
        <p:nvSpPr>
          <p:cNvPr id="4" name="Zástupný symbol pro obrázek snímk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cs-CZ"/>
          </a:p>
        </p:txBody>
      </p:sp>
      <p:sp>
        <p:nvSpPr>
          <p:cNvPr id="5" name="Zástupný symbol pro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6" name="Zástupný symbol pro zápatí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a:p>
        </p:txBody>
      </p:sp>
      <p:sp>
        <p:nvSpPr>
          <p:cNvPr id="7" name="Zástupný symbol pro číslo snímk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7E1252-410B-4410-B42B-F21472191F94}" type="slidenum">
              <a:rPr lang="cs-CZ" smtClean="0"/>
              <a:t>‹#›</a:t>
            </a:fld>
            <a:endParaRPr lang="cs-CZ"/>
          </a:p>
        </p:txBody>
      </p:sp>
    </p:spTree>
    <p:extLst>
      <p:ext uri="{BB962C8B-B14F-4D97-AF65-F5344CB8AC3E}">
        <p14:creationId xmlns:p14="http://schemas.microsoft.com/office/powerpoint/2010/main" val="3681526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sz="1200" kern="1200" dirty="0">
                <a:solidFill>
                  <a:schemeClr val="tx1"/>
                </a:solidFill>
                <a:effectLst/>
                <a:latin typeface="+mn-lt"/>
                <a:ea typeface="+mn-ea"/>
                <a:cs typeface="+mn-cs"/>
              </a:rPr>
              <a:t>V tomto případě je duál tabulka použitá na </a:t>
            </a:r>
            <a:r>
              <a:rPr lang="cs-CZ" sz="1200" kern="1200" dirty="0" err="1">
                <a:solidFill>
                  <a:schemeClr val="tx1"/>
                </a:solidFill>
                <a:effectLst/>
                <a:latin typeface="+mn-lt"/>
                <a:ea typeface="+mn-ea"/>
                <a:cs typeface="+mn-cs"/>
              </a:rPr>
              <a:t>select</a:t>
            </a:r>
            <a:r>
              <a:rPr lang="cs-CZ" sz="1200" kern="1200" dirty="0">
                <a:solidFill>
                  <a:schemeClr val="tx1"/>
                </a:solidFill>
                <a:effectLst/>
                <a:latin typeface="+mn-lt"/>
                <a:ea typeface="+mn-ea"/>
                <a:cs typeface="+mn-cs"/>
              </a:rPr>
              <a:t> obsahující kalkulaci, jak můžete vidět, </a:t>
            </a:r>
            <a:r>
              <a:rPr lang="cs-CZ" sz="1200" kern="1200" dirty="0" err="1">
                <a:solidFill>
                  <a:schemeClr val="tx1"/>
                </a:solidFill>
                <a:effectLst/>
                <a:latin typeface="+mn-lt"/>
                <a:ea typeface="+mn-ea"/>
                <a:cs typeface="+mn-cs"/>
              </a:rPr>
              <a:t>select</a:t>
            </a:r>
            <a:r>
              <a:rPr lang="cs-CZ" sz="1200" kern="1200" dirty="0">
                <a:solidFill>
                  <a:schemeClr val="tx1"/>
                </a:solidFill>
                <a:effectLst/>
                <a:latin typeface="+mn-lt"/>
                <a:ea typeface="+mn-ea"/>
                <a:cs typeface="+mn-cs"/>
              </a:rPr>
              <a:t> vrací hodnotu, která neexistuje v duál tabulce, ale výsledná hodnota je výsledkem kalkulace</a:t>
            </a:r>
          </a:p>
        </p:txBody>
      </p:sp>
      <p:sp>
        <p:nvSpPr>
          <p:cNvPr id="4" name="Zástupný symbol pro číslo snímku 3"/>
          <p:cNvSpPr>
            <a:spLocks noGrp="1"/>
          </p:cNvSpPr>
          <p:nvPr>
            <p:ph type="sldNum" sz="quarter" idx="10"/>
          </p:nvPr>
        </p:nvSpPr>
        <p:spPr/>
        <p:txBody>
          <a:bodyPr/>
          <a:lstStyle/>
          <a:p>
            <a:fld id="{807E1252-410B-4410-B42B-F21472191F94}" type="slidenum">
              <a:rPr lang="cs-CZ" smtClean="0"/>
              <a:t>2</a:t>
            </a:fld>
            <a:endParaRPr lang="cs-CZ"/>
          </a:p>
        </p:txBody>
      </p:sp>
    </p:spTree>
    <p:extLst>
      <p:ext uri="{BB962C8B-B14F-4D97-AF65-F5344CB8AC3E}">
        <p14:creationId xmlns:p14="http://schemas.microsoft.com/office/powerpoint/2010/main" val="11245354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dirty="0"/>
              <a:t>Příklady práce s datumy</a:t>
            </a:r>
          </a:p>
        </p:txBody>
      </p:sp>
      <p:sp>
        <p:nvSpPr>
          <p:cNvPr id="4" name="Zástupný symbol pro číslo snímku 3"/>
          <p:cNvSpPr>
            <a:spLocks noGrp="1"/>
          </p:cNvSpPr>
          <p:nvPr>
            <p:ph type="sldNum" sz="quarter" idx="10"/>
          </p:nvPr>
        </p:nvSpPr>
        <p:spPr/>
        <p:txBody>
          <a:bodyPr/>
          <a:lstStyle/>
          <a:p>
            <a:fld id="{807E1252-410B-4410-B42B-F21472191F94}" type="slidenum">
              <a:rPr lang="cs-CZ" smtClean="0"/>
              <a:t>25</a:t>
            </a:fld>
            <a:endParaRPr lang="cs-CZ"/>
          </a:p>
        </p:txBody>
      </p:sp>
    </p:spTree>
    <p:extLst>
      <p:ext uri="{BB962C8B-B14F-4D97-AF65-F5344CB8AC3E}">
        <p14:creationId xmlns:p14="http://schemas.microsoft.com/office/powerpoint/2010/main" val="2255736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1371794-8A63-4C8C-B02D-6970B2EB334A}"/>
              </a:ext>
            </a:extLst>
          </p:cNvPr>
          <p:cNvSpPr>
            <a:spLocks noGrp="1"/>
          </p:cNvSpPr>
          <p:nvPr>
            <p:ph type="ctrTitle"/>
          </p:nvPr>
        </p:nvSpPr>
        <p:spPr>
          <a:xfrm>
            <a:off x="1524000" y="1122363"/>
            <a:ext cx="9144000" cy="2387600"/>
          </a:xfrm>
        </p:spPr>
        <p:txBody>
          <a:bodyPr anchor="b"/>
          <a:lstStyle>
            <a:lvl1pPr algn="ctr">
              <a:defRPr sz="6000"/>
            </a:lvl1pPr>
          </a:lstStyle>
          <a:p>
            <a:r>
              <a:rPr lang="cs-CZ"/>
              <a:t>Kliknutím lze upravit styl.</a:t>
            </a:r>
          </a:p>
        </p:txBody>
      </p:sp>
      <p:sp>
        <p:nvSpPr>
          <p:cNvPr id="3" name="Podnadpis 2">
            <a:extLst>
              <a:ext uri="{FF2B5EF4-FFF2-40B4-BE49-F238E27FC236}">
                <a16:creationId xmlns:a16="http://schemas.microsoft.com/office/drawing/2014/main" id="{B4F00098-2F34-4329-A0B9-7AB8E0C22D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p>
        </p:txBody>
      </p:sp>
      <p:sp>
        <p:nvSpPr>
          <p:cNvPr id="4" name="Zástupný symbol pro datum 3">
            <a:extLst>
              <a:ext uri="{FF2B5EF4-FFF2-40B4-BE49-F238E27FC236}">
                <a16:creationId xmlns:a16="http://schemas.microsoft.com/office/drawing/2014/main" id="{94914AAB-E518-444C-B11A-FFDC6B43C6B9}"/>
              </a:ext>
            </a:extLst>
          </p:cNvPr>
          <p:cNvSpPr>
            <a:spLocks noGrp="1"/>
          </p:cNvSpPr>
          <p:nvPr>
            <p:ph type="dt" sz="half" idx="10"/>
          </p:nvPr>
        </p:nvSpPr>
        <p:spPr/>
        <p:txBody>
          <a:bodyPr/>
          <a:lstStyle/>
          <a:p>
            <a:fld id="{9D00551F-2AFD-4E37-81B3-41DC64B1487E}" type="datetimeFigureOut">
              <a:rPr lang="cs-CZ" smtClean="0"/>
              <a:t>21.03.2019</a:t>
            </a:fld>
            <a:endParaRPr lang="cs-CZ"/>
          </a:p>
        </p:txBody>
      </p:sp>
      <p:sp>
        <p:nvSpPr>
          <p:cNvPr id="5" name="Zástupný symbol pro zápatí 4">
            <a:extLst>
              <a:ext uri="{FF2B5EF4-FFF2-40B4-BE49-F238E27FC236}">
                <a16:creationId xmlns:a16="http://schemas.microsoft.com/office/drawing/2014/main" id="{52C83C68-6066-43BE-A63F-A21FA0274E65}"/>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80585BF5-A44A-4965-A5D7-F2884E88B392}"/>
              </a:ext>
            </a:extLst>
          </p:cNvPr>
          <p:cNvSpPr>
            <a:spLocks noGrp="1"/>
          </p:cNvSpPr>
          <p:nvPr>
            <p:ph type="sldNum" sz="quarter" idx="12"/>
          </p:nvPr>
        </p:nvSpPr>
        <p:spPr/>
        <p:txBody>
          <a:bodyPr/>
          <a:lstStyle/>
          <a:p>
            <a:fld id="{F6C828C8-ECEA-47E0-8E61-0E7E04370E9C}" type="slidenum">
              <a:rPr lang="cs-CZ" smtClean="0"/>
              <a:t>‹#›</a:t>
            </a:fld>
            <a:endParaRPr lang="cs-CZ"/>
          </a:p>
        </p:txBody>
      </p:sp>
    </p:spTree>
    <p:extLst>
      <p:ext uri="{BB962C8B-B14F-4D97-AF65-F5344CB8AC3E}">
        <p14:creationId xmlns:p14="http://schemas.microsoft.com/office/powerpoint/2010/main" val="915376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A53F4EF-9959-447A-81C6-F166FE0FC8D3}"/>
              </a:ext>
            </a:extLst>
          </p:cNvPr>
          <p:cNvSpPr>
            <a:spLocks noGrp="1"/>
          </p:cNvSpPr>
          <p:nvPr>
            <p:ph type="title"/>
          </p:nvPr>
        </p:nvSpPr>
        <p:spPr/>
        <p:txBody>
          <a:bodyPr/>
          <a:lstStyle/>
          <a:p>
            <a:r>
              <a:rPr lang="cs-CZ"/>
              <a:t>Kliknutím lze upravit styl.</a:t>
            </a:r>
          </a:p>
        </p:txBody>
      </p:sp>
      <p:sp>
        <p:nvSpPr>
          <p:cNvPr id="3" name="Zástupný symbol pro obsah 2">
            <a:extLst>
              <a:ext uri="{FF2B5EF4-FFF2-40B4-BE49-F238E27FC236}">
                <a16:creationId xmlns:a16="http://schemas.microsoft.com/office/drawing/2014/main" id="{A8AC8001-2FCD-44AB-AF52-F0C44FD603C1}"/>
              </a:ext>
            </a:extLst>
          </p:cNvPr>
          <p:cNvSpPr>
            <a:spLocks noGrp="1"/>
          </p:cNvSpPr>
          <p:nvPr>
            <p:ph idx="1"/>
          </p:nvPr>
        </p:nvSpPr>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8A7D08F9-5156-408B-BF31-E4C8B58C3F4D}"/>
              </a:ext>
            </a:extLst>
          </p:cNvPr>
          <p:cNvSpPr>
            <a:spLocks noGrp="1"/>
          </p:cNvSpPr>
          <p:nvPr>
            <p:ph type="dt" sz="half" idx="10"/>
          </p:nvPr>
        </p:nvSpPr>
        <p:spPr/>
        <p:txBody>
          <a:bodyPr/>
          <a:lstStyle/>
          <a:p>
            <a:fld id="{9D00551F-2AFD-4E37-81B3-41DC64B1487E}" type="datetimeFigureOut">
              <a:rPr lang="cs-CZ" smtClean="0"/>
              <a:t>21.03.2019</a:t>
            </a:fld>
            <a:endParaRPr lang="cs-CZ"/>
          </a:p>
        </p:txBody>
      </p:sp>
      <p:sp>
        <p:nvSpPr>
          <p:cNvPr id="5" name="Zástupný symbol pro zápatí 4">
            <a:extLst>
              <a:ext uri="{FF2B5EF4-FFF2-40B4-BE49-F238E27FC236}">
                <a16:creationId xmlns:a16="http://schemas.microsoft.com/office/drawing/2014/main" id="{EEDDDE43-E998-462F-9AF2-494598DC00B0}"/>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333530F9-B513-4B64-9E22-E0E56D817A03}"/>
              </a:ext>
            </a:extLst>
          </p:cNvPr>
          <p:cNvSpPr>
            <a:spLocks noGrp="1"/>
          </p:cNvSpPr>
          <p:nvPr>
            <p:ph type="sldNum" sz="quarter" idx="12"/>
          </p:nvPr>
        </p:nvSpPr>
        <p:spPr/>
        <p:txBody>
          <a:bodyPr/>
          <a:lstStyle/>
          <a:p>
            <a:fld id="{F6C828C8-ECEA-47E0-8E61-0E7E04370E9C}" type="slidenum">
              <a:rPr lang="cs-CZ" smtClean="0"/>
              <a:t>‹#›</a:t>
            </a:fld>
            <a:endParaRPr lang="cs-CZ"/>
          </a:p>
        </p:txBody>
      </p:sp>
    </p:spTree>
    <p:extLst>
      <p:ext uri="{BB962C8B-B14F-4D97-AF65-F5344CB8AC3E}">
        <p14:creationId xmlns:p14="http://schemas.microsoft.com/office/powerpoint/2010/main" val="2556484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4877B71-64D7-4256-931C-19AE813ABB28}"/>
              </a:ext>
            </a:extLst>
          </p:cNvPr>
          <p:cNvSpPr>
            <a:spLocks noGrp="1"/>
          </p:cNvSpPr>
          <p:nvPr>
            <p:ph type="title"/>
          </p:nvPr>
        </p:nvSpPr>
        <p:spPr>
          <a:xfrm>
            <a:off x="831850" y="1709738"/>
            <a:ext cx="10515600" cy="2852737"/>
          </a:xfrm>
        </p:spPr>
        <p:txBody>
          <a:bodyPr anchor="b"/>
          <a:lstStyle>
            <a:lvl1pPr>
              <a:defRPr sz="6000"/>
            </a:lvl1pPr>
          </a:lstStyle>
          <a:p>
            <a:r>
              <a:rPr lang="cs-CZ"/>
              <a:t>Kliknutím lze upravit styl.</a:t>
            </a:r>
          </a:p>
        </p:txBody>
      </p:sp>
      <p:sp>
        <p:nvSpPr>
          <p:cNvPr id="3" name="Zástupný symbol pro text 2">
            <a:extLst>
              <a:ext uri="{FF2B5EF4-FFF2-40B4-BE49-F238E27FC236}">
                <a16:creationId xmlns:a16="http://schemas.microsoft.com/office/drawing/2014/main" id="{936C1025-E9B4-4DE2-AF73-B61B85A67E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Upravte styly předlohy textu.</a:t>
            </a:r>
          </a:p>
        </p:txBody>
      </p:sp>
      <p:sp>
        <p:nvSpPr>
          <p:cNvPr id="4" name="Zástupný symbol pro datum 3">
            <a:extLst>
              <a:ext uri="{FF2B5EF4-FFF2-40B4-BE49-F238E27FC236}">
                <a16:creationId xmlns:a16="http://schemas.microsoft.com/office/drawing/2014/main" id="{042E712A-6D48-444E-A49C-55FF7C543436}"/>
              </a:ext>
            </a:extLst>
          </p:cNvPr>
          <p:cNvSpPr>
            <a:spLocks noGrp="1"/>
          </p:cNvSpPr>
          <p:nvPr>
            <p:ph type="dt" sz="half" idx="10"/>
          </p:nvPr>
        </p:nvSpPr>
        <p:spPr/>
        <p:txBody>
          <a:bodyPr/>
          <a:lstStyle/>
          <a:p>
            <a:fld id="{9D00551F-2AFD-4E37-81B3-41DC64B1487E}" type="datetimeFigureOut">
              <a:rPr lang="cs-CZ" smtClean="0"/>
              <a:t>21.03.2019</a:t>
            </a:fld>
            <a:endParaRPr lang="cs-CZ"/>
          </a:p>
        </p:txBody>
      </p:sp>
      <p:sp>
        <p:nvSpPr>
          <p:cNvPr id="5" name="Zástupný symbol pro zápatí 4">
            <a:extLst>
              <a:ext uri="{FF2B5EF4-FFF2-40B4-BE49-F238E27FC236}">
                <a16:creationId xmlns:a16="http://schemas.microsoft.com/office/drawing/2014/main" id="{CE073706-4511-4B3A-9FE1-957E1563BA4B}"/>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B0799E7C-0204-44E2-9CF6-011DD71DDC83}"/>
              </a:ext>
            </a:extLst>
          </p:cNvPr>
          <p:cNvSpPr>
            <a:spLocks noGrp="1"/>
          </p:cNvSpPr>
          <p:nvPr>
            <p:ph type="sldNum" sz="quarter" idx="12"/>
          </p:nvPr>
        </p:nvSpPr>
        <p:spPr/>
        <p:txBody>
          <a:bodyPr/>
          <a:lstStyle/>
          <a:p>
            <a:fld id="{F6C828C8-ECEA-47E0-8E61-0E7E04370E9C}" type="slidenum">
              <a:rPr lang="cs-CZ" smtClean="0"/>
              <a:t>‹#›</a:t>
            </a:fld>
            <a:endParaRPr lang="cs-CZ"/>
          </a:p>
        </p:txBody>
      </p:sp>
    </p:spTree>
    <p:extLst>
      <p:ext uri="{BB962C8B-B14F-4D97-AF65-F5344CB8AC3E}">
        <p14:creationId xmlns:p14="http://schemas.microsoft.com/office/powerpoint/2010/main" val="2584651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29B5892-7736-4632-9226-E2006F46EDB7}"/>
              </a:ext>
            </a:extLst>
          </p:cNvPr>
          <p:cNvSpPr>
            <a:spLocks noGrp="1"/>
          </p:cNvSpPr>
          <p:nvPr>
            <p:ph type="title"/>
          </p:nvPr>
        </p:nvSpPr>
        <p:spPr/>
        <p:txBody>
          <a:bodyPr/>
          <a:lstStyle/>
          <a:p>
            <a:r>
              <a:rPr lang="cs-CZ"/>
              <a:t>Kliknutím lze upravit styl.</a:t>
            </a:r>
          </a:p>
        </p:txBody>
      </p:sp>
      <p:sp>
        <p:nvSpPr>
          <p:cNvPr id="3" name="Zástupný symbol pro obsah 2">
            <a:extLst>
              <a:ext uri="{FF2B5EF4-FFF2-40B4-BE49-F238E27FC236}">
                <a16:creationId xmlns:a16="http://schemas.microsoft.com/office/drawing/2014/main" id="{46DF31A8-D935-46BB-A8FA-9CCC99BFC0A3}"/>
              </a:ext>
            </a:extLst>
          </p:cNvPr>
          <p:cNvSpPr>
            <a:spLocks noGrp="1"/>
          </p:cNvSpPr>
          <p:nvPr>
            <p:ph sz="half" idx="1"/>
          </p:nvPr>
        </p:nvSpPr>
        <p:spPr>
          <a:xfrm>
            <a:off x="838200" y="1825625"/>
            <a:ext cx="5181600" cy="435133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obsah 3">
            <a:extLst>
              <a:ext uri="{FF2B5EF4-FFF2-40B4-BE49-F238E27FC236}">
                <a16:creationId xmlns:a16="http://schemas.microsoft.com/office/drawing/2014/main" id="{7D35E1F3-AE13-4393-9B86-5C276CF4339B}"/>
              </a:ext>
            </a:extLst>
          </p:cNvPr>
          <p:cNvSpPr>
            <a:spLocks noGrp="1"/>
          </p:cNvSpPr>
          <p:nvPr>
            <p:ph sz="half" idx="2"/>
          </p:nvPr>
        </p:nvSpPr>
        <p:spPr>
          <a:xfrm>
            <a:off x="6172200" y="1825625"/>
            <a:ext cx="5181600" cy="435133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datum 4">
            <a:extLst>
              <a:ext uri="{FF2B5EF4-FFF2-40B4-BE49-F238E27FC236}">
                <a16:creationId xmlns:a16="http://schemas.microsoft.com/office/drawing/2014/main" id="{90B4D3C3-02DB-42BA-A5D9-D1BC1BBED921}"/>
              </a:ext>
            </a:extLst>
          </p:cNvPr>
          <p:cNvSpPr>
            <a:spLocks noGrp="1"/>
          </p:cNvSpPr>
          <p:nvPr>
            <p:ph type="dt" sz="half" idx="10"/>
          </p:nvPr>
        </p:nvSpPr>
        <p:spPr/>
        <p:txBody>
          <a:bodyPr/>
          <a:lstStyle/>
          <a:p>
            <a:fld id="{9D00551F-2AFD-4E37-81B3-41DC64B1487E}" type="datetimeFigureOut">
              <a:rPr lang="cs-CZ" smtClean="0"/>
              <a:t>21.03.2019</a:t>
            </a:fld>
            <a:endParaRPr lang="cs-CZ"/>
          </a:p>
        </p:txBody>
      </p:sp>
      <p:sp>
        <p:nvSpPr>
          <p:cNvPr id="6" name="Zástupný symbol pro zápatí 5">
            <a:extLst>
              <a:ext uri="{FF2B5EF4-FFF2-40B4-BE49-F238E27FC236}">
                <a16:creationId xmlns:a16="http://schemas.microsoft.com/office/drawing/2014/main" id="{405CCFA4-AF05-4330-A5C9-79EBA17C8688}"/>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1CEFD003-B409-4FDF-8BD0-777D1D14A577}"/>
              </a:ext>
            </a:extLst>
          </p:cNvPr>
          <p:cNvSpPr>
            <a:spLocks noGrp="1"/>
          </p:cNvSpPr>
          <p:nvPr>
            <p:ph type="sldNum" sz="quarter" idx="12"/>
          </p:nvPr>
        </p:nvSpPr>
        <p:spPr/>
        <p:txBody>
          <a:bodyPr/>
          <a:lstStyle/>
          <a:p>
            <a:fld id="{F6C828C8-ECEA-47E0-8E61-0E7E04370E9C}" type="slidenum">
              <a:rPr lang="cs-CZ" smtClean="0"/>
              <a:t>‹#›</a:t>
            </a:fld>
            <a:endParaRPr lang="cs-CZ"/>
          </a:p>
        </p:txBody>
      </p:sp>
    </p:spTree>
    <p:extLst>
      <p:ext uri="{BB962C8B-B14F-4D97-AF65-F5344CB8AC3E}">
        <p14:creationId xmlns:p14="http://schemas.microsoft.com/office/powerpoint/2010/main" val="1881441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780A563-2D16-47B5-8D71-8994B888021B}"/>
              </a:ext>
            </a:extLst>
          </p:cNvPr>
          <p:cNvSpPr>
            <a:spLocks noGrp="1"/>
          </p:cNvSpPr>
          <p:nvPr>
            <p:ph type="title"/>
          </p:nvPr>
        </p:nvSpPr>
        <p:spPr>
          <a:xfrm>
            <a:off x="839788" y="365125"/>
            <a:ext cx="10515600" cy="1325563"/>
          </a:xfrm>
        </p:spPr>
        <p:txBody>
          <a:bodyPr/>
          <a:lstStyle/>
          <a:p>
            <a:r>
              <a:rPr lang="cs-CZ"/>
              <a:t>Kliknutím lze upravit styl.</a:t>
            </a:r>
          </a:p>
        </p:txBody>
      </p:sp>
      <p:sp>
        <p:nvSpPr>
          <p:cNvPr id="3" name="Zástupný symbol pro text 2">
            <a:extLst>
              <a:ext uri="{FF2B5EF4-FFF2-40B4-BE49-F238E27FC236}">
                <a16:creationId xmlns:a16="http://schemas.microsoft.com/office/drawing/2014/main" id="{2540DB39-56EA-4749-81DA-3A63DFCC57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Upravte styly předlohy textu.</a:t>
            </a:r>
          </a:p>
        </p:txBody>
      </p:sp>
      <p:sp>
        <p:nvSpPr>
          <p:cNvPr id="4" name="Zástupný symbol pro obsah 3">
            <a:extLst>
              <a:ext uri="{FF2B5EF4-FFF2-40B4-BE49-F238E27FC236}">
                <a16:creationId xmlns:a16="http://schemas.microsoft.com/office/drawing/2014/main" id="{F3B9BAD8-37AF-4B4C-A3D9-D18548DF08D8}"/>
              </a:ext>
            </a:extLst>
          </p:cNvPr>
          <p:cNvSpPr>
            <a:spLocks noGrp="1"/>
          </p:cNvSpPr>
          <p:nvPr>
            <p:ph sz="half" idx="2"/>
          </p:nvPr>
        </p:nvSpPr>
        <p:spPr>
          <a:xfrm>
            <a:off x="839788" y="2505075"/>
            <a:ext cx="5157787" cy="368458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text 4">
            <a:extLst>
              <a:ext uri="{FF2B5EF4-FFF2-40B4-BE49-F238E27FC236}">
                <a16:creationId xmlns:a16="http://schemas.microsoft.com/office/drawing/2014/main" id="{0958FD26-FB92-492E-8975-912250EF6C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Upravte styly předlohy textu.</a:t>
            </a:r>
          </a:p>
        </p:txBody>
      </p:sp>
      <p:sp>
        <p:nvSpPr>
          <p:cNvPr id="6" name="Zástupný symbol pro obsah 5">
            <a:extLst>
              <a:ext uri="{FF2B5EF4-FFF2-40B4-BE49-F238E27FC236}">
                <a16:creationId xmlns:a16="http://schemas.microsoft.com/office/drawing/2014/main" id="{5F2C1551-D3EE-4446-9519-099FA4E63E25}"/>
              </a:ext>
            </a:extLst>
          </p:cNvPr>
          <p:cNvSpPr>
            <a:spLocks noGrp="1"/>
          </p:cNvSpPr>
          <p:nvPr>
            <p:ph sz="quarter" idx="4"/>
          </p:nvPr>
        </p:nvSpPr>
        <p:spPr>
          <a:xfrm>
            <a:off x="6172200" y="2505075"/>
            <a:ext cx="5183188" cy="368458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7" name="Zástupný symbol pro datum 6">
            <a:extLst>
              <a:ext uri="{FF2B5EF4-FFF2-40B4-BE49-F238E27FC236}">
                <a16:creationId xmlns:a16="http://schemas.microsoft.com/office/drawing/2014/main" id="{5C258F6A-47F5-4611-A700-BD326C2CE1B5}"/>
              </a:ext>
            </a:extLst>
          </p:cNvPr>
          <p:cNvSpPr>
            <a:spLocks noGrp="1"/>
          </p:cNvSpPr>
          <p:nvPr>
            <p:ph type="dt" sz="half" idx="10"/>
          </p:nvPr>
        </p:nvSpPr>
        <p:spPr/>
        <p:txBody>
          <a:bodyPr/>
          <a:lstStyle/>
          <a:p>
            <a:fld id="{9D00551F-2AFD-4E37-81B3-41DC64B1487E}" type="datetimeFigureOut">
              <a:rPr lang="cs-CZ" smtClean="0"/>
              <a:t>21.03.2019</a:t>
            </a:fld>
            <a:endParaRPr lang="cs-CZ"/>
          </a:p>
        </p:txBody>
      </p:sp>
      <p:sp>
        <p:nvSpPr>
          <p:cNvPr id="8" name="Zástupný symbol pro zápatí 7">
            <a:extLst>
              <a:ext uri="{FF2B5EF4-FFF2-40B4-BE49-F238E27FC236}">
                <a16:creationId xmlns:a16="http://schemas.microsoft.com/office/drawing/2014/main" id="{765C874B-A5E7-4431-87C6-108B5AB8A92B}"/>
              </a:ext>
            </a:extLst>
          </p:cNvPr>
          <p:cNvSpPr>
            <a:spLocks noGrp="1"/>
          </p:cNvSpPr>
          <p:nvPr>
            <p:ph type="ftr" sz="quarter" idx="11"/>
          </p:nvPr>
        </p:nvSpPr>
        <p:spPr/>
        <p:txBody>
          <a:bodyPr/>
          <a:lstStyle/>
          <a:p>
            <a:endParaRPr lang="cs-CZ"/>
          </a:p>
        </p:txBody>
      </p:sp>
      <p:sp>
        <p:nvSpPr>
          <p:cNvPr id="9" name="Zástupný symbol pro číslo snímku 8">
            <a:extLst>
              <a:ext uri="{FF2B5EF4-FFF2-40B4-BE49-F238E27FC236}">
                <a16:creationId xmlns:a16="http://schemas.microsoft.com/office/drawing/2014/main" id="{176A4345-383C-40BF-99DD-3809EBA3C194}"/>
              </a:ext>
            </a:extLst>
          </p:cNvPr>
          <p:cNvSpPr>
            <a:spLocks noGrp="1"/>
          </p:cNvSpPr>
          <p:nvPr>
            <p:ph type="sldNum" sz="quarter" idx="12"/>
          </p:nvPr>
        </p:nvSpPr>
        <p:spPr/>
        <p:txBody>
          <a:bodyPr/>
          <a:lstStyle/>
          <a:p>
            <a:fld id="{F6C828C8-ECEA-47E0-8E61-0E7E04370E9C}" type="slidenum">
              <a:rPr lang="cs-CZ" smtClean="0"/>
              <a:t>‹#›</a:t>
            </a:fld>
            <a:endParaRPr lang="cs-CZ"/>
          </a:p>
        </p:txBody>
      </p:sp>
    </p:spTree>
    <p:extLst>
      <p:ext uri="{BB962C8B-B14F-4D97-AF65-F5344CB8AC3E}">
        <p14:creationId xmlns:p14="http://schemas.microsoft.com/office/powerpoint/2010/main" val="3699206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F43019C-8904-4CEA-A545-B26FE11D0C7C}"/>
              </a:ext>
            </a:extLst>
          </p:cNvPr>
          <p:cNvSpPr>
            <a:spLocks noGrp="1"/>
          </p:cNvSpPr>
          <p:nvPr>
            <p:ph type="title"/>
          </p:nvPr>
        </p:nvSpPr>
        <p:spPr/>
        <p:txBody>
          <a:bodyPr/>
          <a:lstStyle/>
          <a:p>
            <a:r>
              <a:rPr lang="cs-CZ"/>
              <a:t>Kliknutím lze upravit styl.</a:t>
            </a:r>
          </a:p>
        </p:txBody>
      </p:sp>
      <p:sp>
        <p:nvSpPr>
          <p:cNvPr id="3" name="Zástupný symbol pro datum 2">
            <a:extLst>
              <a:ext uri="{FF2B5EF4-FFF2-40B4-BE49-F238E27FC236}">
                <a16:creationId xmlns:a16="http://schemas.microsoft.com/office/drawing/2014/main" id="{E7A844B3-2F89-4619-A970-73E740E636FE}"/>
              </a:ext>
            </a:extLst>
          </p:cNvPr>
          <p:cNvSpPr>
            <a:spLocks noGrp="1"/>
          </p:cNvSpPr>
          <p:nvPr>
            <p:ph type="dt" sz="half" idx="10"/>
          </p:nvPr>
        </p:nvSpPr>
        <p:spPr/>
        <p:txBody>
          <a:bodyPr/>
          <a:lstStyle/>
          <a:p>
            <a:fld id="{9D00551F-2AFD-4E37-81B3-41DC64B1487E}" type="datetimeFigureOut">
              <a:rPr lang="cs-CZ" smtClean="0"/>
              <a:t>21.03.2019</a:t>
            </a:fld>
            <a:endParaRPr lang="cs-CZ"/>
          </a:p>
        </p:txBody>
      </p:sp>
      <p:sp>
        <p:nvSpPr>
          <p:cNvPr id="4" name="Zástupný symbol pro zápatí 3">
            <a:extLst>
              <a:ext uri="{FF2B5EF4-FFF2-40B4-BE49-F238E27FC236}">
                <a16:creationId xmlns:a16="http://schemas.microsoft.com/office/drawing/2014/main" id="{70482C65-8B6C-4D80-8EB3-27C26DE20223}"/>
              </a:ext>
            </a:extLst>
          </p:cNvPr>
          <p:cNvSpPr>
            <a:spLocks noGrp="1"/>
          </p:cNvSpPr>
          <p:nvPr>
            <p:ph type="ftr" sz="quarter" idx="11"/>
          </p:nvPr>
        </p:nvSpPr>
        <p:spPr/>
        <p:txBody>
          <a:bodyPr/>
          <a:lstStyle/>
          <a:p>
            <a:endParaRPr lang="cs-CZ"/>
          </a:p>
        </p:txBody>
      </p:sp>
      <p:sp>
        <p:nvSpPr>
          <p:cNvPr id="5" name="Zástupný symbol pro číslo snímku 4">
            <a:extLst>
              <a:ext uri="{FF2B5EF4-FFF2-40B4-BE49-F238E27FC236}">
                <a16:creationId xmlns:a16="http://schemas.microsoft.com/office/drawing/2014/main" id="{7711F365-846E-46E9-85B3-8734B8D40D19}"/>
              </a:ext>
            </a:extLst>
          </p:cNvPr>
          <p:cNvSpPr>
            <a:spLocks noGrp="1"/>
          </p:cNvSpPr>
          <p:nvPr>
            <p:ph type="sldNum" sz="quarter" idx="12"/>
          </p:nvPr>
        </p:nvSpPr>
        <p:spPr/>
        <p:txBody>
          <a:bodyPr/>
          <a:lstStyle/>
          <a:p>
            <a:fld id="{F6C828C8-ECEA-47E0-8E61-0E7E04370E9C}" type="slidenum">
              <a:rPr lang="cs-CZ" smtClean="0"/>
              <a:t>‹#›</a:t>
            </a:fld>
            <a:endParaRPr lang="cs-CZ"/>
          </a:p>
        </p:txBody>
      </p:sp>
    </p:spTree>
    <p:extLst>
      <p:ext uri="{BB962C8B-B14F-4D97-AF65-F5344CB8AC3E}">
        <p14:creationId xmlns:p14="http://schemas.microsoft.com/office/powerpoint/2010/main" val="314638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a:extLst>
              <a:ext uri="{FF2B5EF4-FFF2-40B4-BE49-F238E27FC236}">
                <a16:creationId xmlns:a16="http://schemas.microsoft.com/office/drawing/2014/main" id="{25D7A56E-4ADE-469C-B1EB-0D35A9768EE6}"/>
              </a:ext>
            </a:extLst>
          </p:cNvPr>
          <p:cNvSpPr>
            <a:spLocks noGrp="1"/>
          </p:cNvSpPr>
          <p:nvPr>
            <p:ph type="dt" sz="half" idx="10"/>
          </p:nvPr>
        </p:nvSpPr>
        <p:spPr/>
        <p:txBody>
          <a:bodyPr/>
          <a:lstStyle/>
          <a:p>
            <a:fld id="{9D00551F-2AFD-4E37-81B3-41DC64B1487E}" type="datetimeFigureOut">
              <a:rPr lang="cs-CZ" smtClean="0"/>
              <a:t>21.03.2019</a:t>
            </a:fld>
            <a:endParaRPr lang="cs-CZ"/>
          </a:p>
        </p:txBody>
      </p:sp>
      <p:sp>
        <p:nvSpPr>
          <p:cNvPr id="3" name="Zástupný symbol pro zápatí 2">
            <a:extLst>
              <a:ext uri="{FF2B5EF4-FFF2-40B4-BE49-F238E27FC236}">
                <a16:creationId xmlns:a16="http://schemas.microsoft.com/office/drawing/2014/main" id="{2F0CC184-66EC-4F8B-9AF0-4F9148494A3B}"/>
              </a:ext>
            </a:extLst>
          </p:cNvPr>
          <p:cNvSpPr>
            <a:spLocks noGrp="1"/>
          </p:cNvSpPr>
          <p:nvPr>
            <p:ph type="ftr" sz="quarter" idx="11"/>
          </p:nvPr>
        </p:nvSpPr>
        <p:spPr/>
        <p:txBody>
          <a:bodyPr/>
          <a:lstStyle/>
          <a:p>
            <a:endParaRPr lang="cs-CZ"/>
          </a:p>
        </p:txBody>
      </p:sp>
      <p:sp>
        <p:nvSpPr>
          <p:cNvPr id="4" name="Zástupný symbol pro číslo snímku 3">
            <a:extLst>
              <a:ext uri="{FF2B5EF4-FFF2-40B4-BE49-F238E27FC236}">
                <a16:creationId xmlns:a16="http://schemas.microsoft.com/office/drawing/2014/main" id="{879FD586-F3B0-4917-A2A5-319CEA27E489}"/>
              </a:ext>
            </a:extLst>
          </p:cNvPr>
          <p:cNvSpPr>
            <a:spLocks noGrp="1"/>
          </p:cNvSpPr>
          <p:nvPr>
            <p:ph type="sldNum" sz="quarter" idx="12"/>
          </p:nvPr>
        </p:nvSpPr>
        <p:spPr/>
        <p:txBody>
          <a:bodyPr/>
          <a:lstStyle/>
          <a:p>
            <a:fld id="{F6C828C8-ECEA-47E0-8E61-0E7E04370E9C}" type="slidenum">
              <a:rPr lang="cs-CZ" smtClean="0"/>
              <a:t>‹#›</a:t>
            </a:fld>
            <a:endParaRPr lang="cs-CZ"/>
          </a:p>
        </p:txBody>
      </p:sp>
    </p:spTree>
    <p:extLst>
      <p:ext uri="{BB962C8B-B14F-4D97-AF65-F5344CB8AC3E}">
        <p14:creationId xmlns:p14="http://schemas.microsoft.com/office/powerpoint/2010/main" val="2822560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14D9E16-459C-4590-A3F5-D457AEB5AD48}"/>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symbol pro obsah 2">
            <a:extLst>
              <a:ext uri="{FF2B5EF4-FFF2-40B4-BE49-F238E27FC236}">
                <a16:creationId xmlns:a16="http://schemas.microsoft.com/office/drawing/2014/main" id="{A10C24AE-A2CC-4BAE-9170-7C129258AF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text 3">
            <a:extLst>
              <a:ext uri="{FF2B5EF4-FFF2-40B4-BE49-F238E27FC236}">
                <a16:creationId xmlns:a16="http://schemas.microsoft.com/office/drawing/2014/main" id="{9E3358F0-7A92-4C8E-AFBB-320F206513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Upravte styly předlohy textu.</a:t>
            </a:r>
          </a:p>
        </p:txBody>
      </p:sp>
      <p:sp>
        <p:nvSpPr>
          <p:cNvPr id="5" name="Zástupný symbol pro datum 4">
            <a:extLst>
              <a:ext uri="{FF2B5EF4-FFF2-40B4-BE49-F238E27FC236}">
                <a16:creationId xmlns:a16="http://schemas.microsoft.com/office/drawing/2014/main" id="{C8017AF5-75DF-4E93-9564-8845F64B17C0}"/>
              </a:ext>
            </a:extLst>
          </p:cNvPr>
          <p:cNvSpPr>
            <a:spLocks noGrp="1"/>
          </p:cNvSpPr>
          <p:nvPr>
            <p:ph type="dt" sz="half" idx="10"/>
          </p:nvPr>
        </p:nvSpPr>
        <p:spPr/>
        <p:txBody>
          <a:bodyPr/>
          <a:lstStyle/>
          <a:p>
            <a:fld id="{9D00551F-2AFD-4E37-81B3-41DC64B1487E}" type="datetimeFigureOut">
              <a:rPr lang="cs-CZ" smtClean="0"/>
              <a:t>21.03.2019</a:t>
            </a:fld>
            <a:endParaRPr lang="cs-CZ"/>
          </a:p>
        </p:txBody>
      </p:sp>
      <p:sp>
        <p:nvSpPr>
          <p:cNvPr id="6" name="Zástupný symbol pro zápatí 5">
            <a:extLst>
              <a:ext uri="{FF2B5EF4-FFF2-40B4-BE49-F238E27FC236}">
                <a16:creationId xmlns:a16="http://schemas.microsoft.com/office/drawing/2014/main" id="{F7F7D290-DDB8-4A2A-B0F3-E898ED9C0B30}"/>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29D0B194-419B-4489-B20A-9E8C88327F42}"/>
              </a:ext>
            </a:extLst>
          </p:cNvPr>
          <p:cNvSpPr>
            <a:spLocks noGrp="1"/>
          </p:cNvSpPr>
          <p:nvPr>
            <p:ph type="sldNum" sz="quarter" idx="12"/>
          </p:nvPr>
        </p:nvSpPr>
        <p:spPr/>
        <p:txBody>
          <a:bodyPr/>
          <a:lstStyle/>
          <a:p>
            <a:fld id="{F6C828C8-ECEA-47E0-8E61-0E7E04370E9C}" type="slidenum">
              <a:rPr lang="cs-CZ" smtClean="0"/>
              <a:t>‹#›</a:t>
            </a:fld>
            <a:endParaRPr lang="cs-CZ"/>
          </a:p>
        </p:txBody>
      </p:sp>
    </p:spTree>
    <p:extLst>
      <p:ext uri="{BB962C8B-B14F-4D97-AF65-F5344CB8AC3E}">
        <p14:creationId xmlns:p14="http://schemas.microsoft.com/office/powerpoint/2010/main" val="441697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919AB00-5BF4-4C27-9184-2022C08D8935}"/>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symbol obrázku 2">
            <a:extLst>
              <a:ext uri="{FF2B5EF4-FFF2-40B4-BE49-F238E27FC236}">
                <a16:creationId xmlns:a16="http://schemas.microsoft.com/office/drawing/2014/main" id="{F583B0F2-70FC-4108-ACA5-BB3A2B2C6E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Zástupný symbol pro text 3">
            <a:extLst>
              <a:ext uri="{FF2B5EF4-FFF2-40B4-BE49-F238E27FC236}">
                <a16:creationId xmlns:a16="http://schemas.microsoft.com/office/drawing/2014/main" id="{C705BAD5-7A02-46E4-A5EB-DE0DE40386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Upravte styly předlohy textu.</a:t>
            </a:r>
          </a:p>
        </p:txBody>
      </p:sp>
      <p:sp>
        <p:nvSpPr>
          <p:cNvPr id="5" name="Zástupný symbol pro datum 4">
            <a:extLst>
              <a:ext uri="{FF2B5EF4-FFF2-40B4-BE49-F238E27FC236}">
                <a16:creationId xmlns:a16="http://schemas.microsoft.com/office/drawing/2014/main" id="{779D67AA-15A3-4CD0-813B-0CAF182E591C}"/>
              </a:ext>
            </a:extLst>
          </p:cNvPr>
          <p:cNvSpPr>
            <a:spLocks noGrp="1"/>
          </p:cNvSpPr>
          <p:nvPr>
            <p:ph type="dt" sz="half" idx="10"/>
          </p:nvPr>
        </p:nvSpPr>
        <p:spPr/>
        <p:txBody>
          <a:bodyPr/>
          <a:lstStyle/>
          <a:p>
            <a:fld id="{9D00551F-2AFD-4E37-81B3-41DC64B1487E}" type="datetimeFigureOut">
              <a:rPr lang="cs-CZ" smtClean="0"/>
              <a:t>21.03.2019</a:t>
            </a:fld>
            <a:endParaRPr lang="cs-CZ"/>
          </a:p>
        </p:txBody>
      </p:sp>
      <p:sp>
        <p:nvSpPr>
          <p:cNvPr id="6" name="Zástupný symbol pro zápatí 5">
            <a:extLst>
              <a:ext uri="{FF2B5EF4-FFF2-40B4-BE49-F238E27FC236}">
                <a16:creationId xmlns:a16="http://schemas.microsoft.com/office/drawing/2014/main" id="{6B3F40D8-89ED-462F-B662-A3984039E235}"/>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28E5AFCB-EB78-44B3-875D-5D67B27FDDF0}"/>
              </a:ext>
            </a:extLst>
          </p:cNvPr>
          <p:cNvSpPr>
            <a:spLocks noGrp="1"/>
          </p:cNvSpPr>
          <p:nvPr>
            <p:ph type="sldNum" sz="quarter" idx="12"/>
          </p:nvPr>
        </p:nvSpPr>
        <p:spPr/>
        <p:txBody>
          <a:bodyPr/>
          <a:lstStyle/>
          <a:p>
            <a:fld id="{F6C828C8-ECEA-47E0-8E61-0E7E04370E9C}" type="slidenum">
              <a:rPr lang="cs-CZ" smtClean="0"/>
              <a:t>‹#›</a:t>
            </a:fld>
            <a:endParaRPr lang="cs-CZ"/>
          </a:p>
        </p:txBody>
      </p:sp>
    </p:spTree>
    <p:extLst>
      <p:ext uri="{BB962C8B-B14F-4D97-AF65-F5344CB8AC3E}">
        <p14:creationId xmlns:p14="http://schemas.microsoft.com/office/powerpoint/2010/main" val="3495458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25F4C4F-FE89-4FF6-AF38-4E443F57F90B}"/>
              </a:ext>
            </a:extLst>
          </p:cNvPr>
          <p:cNvSpPr>
            <a:spLocks noGrp="1"/>
          </p:cNvSpPr>
          <p:nvPr>
            <p:ph type="title"/>
          </p:nvPr>
        </p:nvSpPr>
        <p:spPr/>
        <p:txBody>
          <a:bodyPr/>
          <a:lstStyle/>
          <a:p>
            <a:r>
              <a:rPr lang="cs-CZ"/>
              <a:t>Kliknutím lze upravit styl.</a:t>
            </a:r>
          </a:p>
        </p:txBody>
      </p:sp>
      <p:sp>
        <p:nvSpPr>
          <p:cNvPr id="3" name="Zástupný symbol pro svislý text 2">
            <a:extLst>
              <a:ext uri="{FF2B5EF4-FFF2-40B4-BE49-F238E27FC236}">
                <a16:creationId xmlns:a16="http://schemas.microsoft.com/office/drawing/2014/main" id="{961DA20E-16C9-42E9-B2EA-C163E09A93F6}"/>
              </a:ext>
            </a:extLst>
          </p:cNvPr>
          <p:cNvSpPr>
            <a:spLocks noGrp="1"/>
          </p:cNvSpPr>
          <p:nvPr>
            <p:ph type="body" orient="vert" idx="1"/>
          </p:nvPr>
        </p:nvSpPr>
        <p:spPr/>
        <p:txBody>
          <a:bodyPr vert="eaVert"/>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AFBB4159-A7F6-4115-8250-835148A601BC}"/>
              </a:ext>
            </a:extLst>
          </p:cNvPr>
          <p:cNvSpPr>
            <a:spLocks noGrp="1"/>
          </p:cNvSpPr>
          <p:nvPr>
            <p:ph type="dt" sz="half" idx="10"/>
          </p:nvPr>
        </p:nvSpPr>
        <p:spPr/>
        <p:txBody>
          <a:bodyPr/>
          <a:lstStyle/>
          <a:p>
            <a:fld id="{9D00551F-2AFD-4E37-81B3-41DC64B1487E}" type="datetimeFigureOut">
              <a:rPr lang="cs-CZ" smtClean="0"/>
              <a:t>21.03.2019</a:t>
            </a:fld>
            <a:endParaRPr lang="cs-CZ"/>
          </a:p>
        </p:txBody>
      </p:sp>
      <p:sp>
        <p:nvSpPr>
          <p:cNvPr id="5" name="Zástupný symbol pro zápatí 4">
            <a:extLst>
              <a:ext uri="{FF2B5EF4-FFF2-40B4-BE49-F238E27FC236}">
                <a16:creationId xmlns:a16="http://schemas.microsoft.com/office/drawing/2014/main" id="{BFE75760-49F5-43C4-93D1-F2C72EB5C6E2}"/>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C0E432D6-29F6-4F37-A3FF-20AA1B64F4BB}"/>
              </a:ext>
            </a:extLst>
          </p:cNvPr>
          <p:cNvSpPr>
            <a:spLocks noGrp="1"/>
          </p:cNvSpPr>
          <p:nvPr>
            <p:ph type="sldNum" sz="quarter" idx="12"/>
          </p:nvPr>
        </p:nvSpPr>
        <p:spPr/>
        <p:txBody>
          <a:bodyPr/>
          <a:lstStyle/>
          <a:p>
            <a:fld id="{F6C828C8-ECEA-47E0-8E61-0E7E04370E9C}" type="slidenum">
              <a:rPr lang="cs-CZ" smtClean="0"/>
              <a:t>‹#›</a:t>
            </a:fld>
            <a:endParaRPr lang="cs-CZ"/>
          </a:p>
        </p:txBody>
      </p:sp>
    </p:spTree>
    <p:extLst>
      <p:ext uri="{BB962C8B-B14F-4D97-AF65-F5344CB8AC3E}">
        <p14:creationId xmlns:p14="http://schemas.microsoft.com/office/powerpoint/2010/main" val="1760614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a:extLst>
              <a:ext uri="{FF2B5EF4-FFF2-40B4-BE49-F238E27FC236}">
                <a16:creationId xmlns:a16="http://schemas.microsoft.com/office/drawing/2014/main" id="{DFA7C694-94F1-4D76-9886-A05314CA66AF}"/>
              </a:ext>
            </a:extLst>
          </p:cNvPr>
          <p:cNvSpPr>
            <a:spLocks noGrp="1"/>
          </p:cNvSpPr>
          <p:nvPr>
            <p:ph type="title" orient="vert"/>
          </p:nvPr>
        </p:nvSpPr>
        <p:spPr>
          <a:xfrm>
            <a:off x="8724900" y="365125"/>
            <a:ext cx="2628900" cy="5811838"/>
          </a:xfrm>
        </p:spPr>
        <p:txBody>
          <a:bodyPr vert="eaVert"/>
          <a:lstStyle/>
          <a:p>
            <a:r>
              <a:rPr lang="cs-CZ"/>
              <a:t>Kliknutím lze upravit styl.</a:t>
            </a:r>
          </a:p>
        </p:txBody>
      </p:sp>
      <p:sp>
        <p:nvSpPr>
          <p:cNvPr id="3" name="Zástupný symbol pro svislý text 2">
            <a:extLst>
              <a:ext uri="{FF2B5EF4-FFF2-40B4-BE49-F238E27FC236}">
                <a16:creationId xmlns:a16="http://schemas.microsoft.com/office/drawing/2014/main" id="{D313DC71-1571-4A5C-82FD-6B5D0306AED8}"/>
              </a:ext>
            </a:extLst>
          </p:cNvPr>
          <p:cNvSpPr>
            <a:spLocks noGrp="1"/>
          </p:cNvSpPr>
          <p:nvPr>
            <p:ph type="body" orient="vert" idx="1"/>
          </p:nvPr>
        </p:nvSpPr>
        <p:spPr>
          <a:xfrm>
            <a:off x="838200" y="365125"/>
            <a:ext cx="7734300" cy="5811838"/>
          </a:xfrm>
        </p:spPr>
        <p:txBody>
          <a:bodyPr vert="eaVert"/>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D1A64752-53E5-41DF-B5FE-16369FC75323}"/>
              </a:ext>
            </a:extLst>
          </p:cNvPr>
          <p:cNvSpPr>
            <a:spLocks noGrp="1"/>
          </p:cNvSpPr>
          <p:nvPr>
            <p:ph type="dt" sz="half" idx="10"/>
          </p:nvPr>
        </p:nvSpPr>
        <p:spPr/>
        <p:txBody>
          <a:bodyPr/>
          <a:lstStyle/>
          <a:p>
            <a:fld id="{9D00551F-2AFD-4E37-81B3-41DC64B1487E}" type="datetimeFigureOut">
              <a:rPr lang="cs-CZ" smtClean="0"/>
              <a:t>21.03.2019</a:t>
            </a:fld>
            <a:endParaRPr lang="cs-CZ"/>
          </a:p>
        </p:txBody>
      </p:sp>
      <p:sp>
        <p:nvSpPr>
          <p:cNvPr id="5" name="Zástupný symbol pro zápatí 4">
            <a:extLst>
              <a:ext uri="{FF2B5EF4-FFF2-40B4-BE49-F238E27FC236}">
                <a16:creationId xmlns:a16="http://schemas.microsoft.com/office/drawing/2014/main" id="{317E250C-9809-4590-8EB0-C8511DEC4B9C}"/>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89E509E2-6D52-42B5-9A9D-47EA861EF9CC}"/>
              </a:ext>
            </a:extLst>
          </p:cNvPr>
          <p:cNvSpPr>
            <a:spLocks noGrp="1"/>
          </p:cNvSpPr>
          <p:nvPr>
            <p:ph type="sldNum" sz="quarter" idx="12"/>
          </p:nvPr>
        </p:nvSpPr>
        <p:spPr/>
        <p:txBody>
          <a:bodyPr/>
          <a:lstStyle/>
          <a:p>
            <a:fld id="{F6C828C8-ECEA-47E0-8E61-0E7E04370E9C}" type="slidenum">
              <a:rPr lang="cs-CZ" smtClean="0"/>
              <a:t>‹#›</a:t>
            </a:fld>
            <a:endParaRPr lang="cs-CZ"/>
          </a:p>
        </p:txBody>
      </p:sp>
    </p:spTree>
    <p:extLst>
      <p:ext uri="{BB962C8B-B14F-4D97-AF65-F5344CB8AC3E}">
        <p14:creationId xmlns:p14="http://schemas.microsoft.com/office/powerpoint/2010/main" val="714759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nadpis 1">
            <a:extLst>
              <a:ext uri="{FF2B5EF4-FFF2-40B4-BE49-F238E27FC236}">
                <a16:creationId xmlns:a16="http://schemas.microsoft.com/office/drawing/2014/main" id="{B741EE14-E8C1-4E18-91E3-DBC27EE212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s-CZ"/>
              <a:t>Kliknutím lze upravit styl.</a:t>
            </a:r>
          </a:p>
        </p:txBody>
      </p:sp>
      <p:sp>
        <p:nvSpPr>
          <p:cNvPr id="3" name="Zástupný symbol pro text 2">
            <a:extLst>
              <a:ext uri="{FF2B5EF4-FFF2-40B4-BE49-F238E27FC236}">
                <a16:creationId xmlns:a16="http://schemas.microsoft.com/office/drawing/2014/main" id="{D8DE640E-4E07-4C81-B786-A87E805AA9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C4CEE7DC-8E8D-488B-9204-C89A41B922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00551F-2AFD-4E37-81B3-41DC64B1487E}" type="datetimeFigureOut">
              <a:rPr lang="cs-CZ" smtClean="0"/>
              <a:t>21.03.2019</a:t>
            </a:fld>
            <a:endParaRPr lang="cs-CZ"/>
          </a:p>
        </p:txBody>
      </p:sp>
      <p:sp>
        <p:nvSpPr>
          <p:cNvPr id="5" name="Zástupný symbol pro zápatí 4">
            <a:extLst>
              <a:ext uri="{FF2B5EF4-FFF2-40B4-BE49-F238E27FC236}">
                <a16:creationId xmlns:a16="http://schemas.microsoft.com/office/drawing/2014/main" id="{ED1DC043-9620-44CD-BE4C-46FD5958D7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cs-CZ"/>
          </a:p>
        </p:txBody>
      </p:sp>
      <p:sp>
        <p:nvSpPr>
          <p:cNvPr id="6" name="Zástupný symbol pro číslo snímku 5">
            <a:extLst>
              <a:ext uri="{FF2B5EF4-FFF2-40B4-BE49-F238E27FC236}">
                <a16:creationId xmlns:a16="http://schemas.microsoft.com/office/drawing/2014/main" id="{095C56A0-3B85-4BAF-86BD-B40B535223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C828C8-ECEA-47E0-8E61-0E7E04370E9C}" type="slidenum">
              <a:rPr lang="cs-CZ" smtClean="0"/>
              <a:t>‹#›</a:t>
            </a:fld>
            <a:endParaRPr lang="cs-CZ"/>
          </a:p>
        </p:txBody>
      </p:sp>
    </p:spTree>
    <p:extLst>
      <p:ext uri="{BB962C8B-B14F-4D97-AF65-F5344CB8AC3E}">
        <p14:creationId xmlns:p14="http://schemas.microsoft.com/office/powerpoint/2010/main" val="19402128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5095D94-4F9D-4891-884A-D0160E67D9BB}"/>
              </a:ext>
            </a:extLst>
          </p:cNvPr>
          <p:cNvSpPr>
            <a:spLocks noGrp="1"/>
          </p:cNvSpPr>
          <p:nvPr>
            <p:ph type="ctrTitle"/>
          </p:nvPr>
        </p:nvSpPr>
        <p:spPr/>
        <p:txBody>
          <a:bodyPr/>
          <a:lstStyle/>
          <a:p>
            <a:r>
              <a:rPr lang="cs-CZ" dirty="0"/>
              <a:t>Jednořádkové funkce, manipulace se znaky</a:t>
            </a:r>
          </a:p>
        </p:txBody>
      </p:sp>
      <p:sp>
        <p:nvSpPr>
          <p:cNvPr id="3" name="Podnadpis 2">
            <a:extLst>
              <a:ext uri="{FF2B5EF4-FFF2-40B4-BE49-F238E27FC236}">
                <a16:creationId xmlns:a16="http://schemas.microsoft.com/office/drawing/2014/main" id="{6BD04FA3-BC1C-4B6B-A006-63D850E1B4E4}"/>
              </a:ext>
            </a:extLst>
          </p:cNvPr>
          <p:cNvSpPr>
            <a:spLocks noGrp="1"/>
          </p:cNvSpPr>
          <p:nvPr>
            <p:ph type="subTitle" idx="1"/>
          </p:nvPr>
        </p:nvSpPr>
        <p:spPr/>
        <p:txBody>
          <a:bodyPr/>
          <a:lstStyle/>
          <a:p>
            <a:endParaRPr lang="cs-CZ"/>
          </a:p>
        </p:txBody>
      </p:sp>
    </p:spTree>
    <p:extLst>
      <p:ext uri="{BB962C8B-B14F-4D97-AF65-F5344CB8AC3E}">
        <p14:creationId xmlns:p14="http://schemas.microsoft.com/office/powerpoint/2010/main" val="431284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05ACC41-9969-4C1E-9DE6-286FA3BB494C}"/>
              </a:ext>
            </a:extLst>
          </p:cNvPr>
          <p:cNvSpPr>
            <a:spLocks noGrp="1"/>
          </p:cNvSpPr>
          <p:nvPr>
            <p:ph type="title"/>
          </p:nvPr>
        </p:nvSpPr>
        <p:spPr/>
        <p:txBody>
          <a:bodyPr/>
          <a:lstStyle/>
          <a:p>
            <a:r>
              <a:rPr lang="cs-CZ" dirty="0"/>
              <a:t>Tabulka DUAL</a:t>
            </a:r>
          </a:p>
        </p:txBody>
      </p:sp>
      <p:sp>
        <p:nvSpPr>
          <p:cNvPr id="3" name="Zástupný symbol pro obsah 2">
            <a:extLst>
              <a:ext uri="{FF2B5EF4-FFF2-40B4-BE49-F238E27FC236}">
                <a16:creationId xmlns:a16="http://schemas.microsoft.com/office/drawing/2014/main" id="{07C394D9-1BC0-43B4-9861-6C4700218B19}"/>
              </a:ext>
            </a:extLst>
          </p:cNvPr>
          <p:cNvSpPr>
            <a:spLocks noGrp="1"/>
          </p:cNvSpPr>
          <p:nvPr>
            <p:ph idx="1"/>
          </p:nvPr>
        </p:nvSpPr>
        <p:spPr/>
        <p:txBody>
          <a:bodyPr/>
          <a:lstStyle/>
          <a:p>
            <a:r>
              <a:rPr lang="cs-CZ" dirty="0"/>
              <a:t>Duál tabulka má jeden řádek, který se nazývá x a jeden sloupec s názvem </a:t>
            </a:r>
            <a:r>
              <a:rPr lang="cs-CZ" dirty="0" err="1"/>
              <a:t>dummy</a:t>
            </a:r>
            <a:r>
              <a:rPr lang="cs-CZ" dirty="0"/>
              <a:t>.</a:t>
            </a:r>
          </a:p>
          <a:p>
            <a:r>
              <a:rPr lang="cs-CZ" dirty="0"/>
              <a:t>Je používána pro vytváření </a:t>
            </a:r>
            <a:r>
              <a:rPr lang="cs-CZ" dirty="0" err="1"/>
              <a:t>select</a:t>
            </a:r>
            <a:r>
              <a:rPr lang="cs-CZ" dirty="0"/>
              <a:t> příkazů a spouštění funkcí, které jsou přímo napojeny na specifické databázové tabulky.</a:t>
            </a:r>
          </a:p>
          <a:p>
            <a:r>
              <a:rPr lang="cs-CZ" dirty="0"/>
              <a:t>Dotazováni na duál tabulku vrací jeden řádek jako výsledek, </a:t>
            </a:r>
            <a:r>
              <a:rPr lang="cs-CZ" dirty="0" err="1"/>
              <a:t>Dual</a:t>
            </a:r>
            <a:r>
              <a:rPr lang="cs-CZ" dirty="0"/>
              <a:t> může být užitečná na provedení kalkulací a také na evaluaci výrazů, které nejsou odvozeny z tabulky.</a:t>
            </a:r>
          </a:p>
          <a:p>
            <a:r>
              <a:rPr lang="cs-CZ" dirty="0"/>
              <a:t>Duál tabulka může být použita s mnoha jednořádkovými funkcemi.</a:t>
            </a:r>
          </a:p>
          <a:p>
            <a:endParaRPr lang="cs-CZ" dirty="0"/>
          </a:p>
        </p:txBody>
      </p:sp>
      <p:pic>
        <p:nvPicPr>
          <p:cNvPr id="4" name="Picture 56">
            <a:extLst>
              <a:ext uri="{FF2B5EF4-FFF2-40B4-BE49-F238E27FC236}">
                <a16:creationId xmlns:a16="http://schemas.microsoft.com/office/drawing/2014/main" id="{FCB1B1F9-1988-4C2F-9E24-07F738631465}"/>
              </a:ext>
            </a:extLst>
          </p:cNvPr>
          <p:cNvPicPr/>
          <p:nvPr/>
        </p:nvPicPr>
        <p:blipFill>
          <a:blip r:embed="rId3"/>
          <a:stretch>
            <a:fillRect/>
          </a:stretch>
        </p:blipFill>
        <p:spPr>
          <a:xfrm>
            <a:off x="3126441" y="5579270"/>
            <a:ext cx="5694830" cy="956002"/>
          </a:xfrm>
          <a:prstGeom prst="rect">
            <a:avLst/>
          </a:prstGeom>
        </p:spPr>
      </p:pic>
    </p:spTree>
    <p:extLst>
      <p:ext uri="{BB962C8B-B14F-4D97-AF65-F5344CB8AC3E}">
        <p14:creationId xmlns:p14="http://schemas.microsoft.com/office/powerpoint/2010/main" val="2717999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6F4F5C9-73F3-459A-9FA1-0FE67A20FD7B}"/>
              </a:ext>
            </a:extLst>
          </p:cNvPr>
          <p:cNvSpPr>
            <a:spLocks noGrp="1"/>
          </p:cNvSpPr>
          <p:nvPr>
            <p:ph type="title"/>
          </p:nvPr>
        </p:nvSpPr>
        <p:spPr/>
        <p:txBody>
          <a:bodyPr/>
          <a:lstStyle/>
          <a:p>
            <a:r>
              <a:rPr lang="cs-CZ" dirty="0"/>
              <a:t>Jednořádkové znakové funkce I.</a:t>
            </a:r>
          </a:p>
        </p:txBody>
      </p:sp>
      <p:sp>
        <p:nvSpPr>
          <p:cNvPr id="3" name="Zástupný symbol pro obsah 2">
            <a:extLst>
              <a:ext uri="{FF2B5EF4-FFF2-40B4-BE49-F238E27FC236}">
                <a16:creationId xmlns:a16="http://schemas.microsoft.com/office/drawing/2014/main" id="{8285985A-2153-443F-8E16-0294E5797328}"/>
              </a:ext>
            </a:extLst>
          </p:cNvPr>
          <p:cNvSpPr>
            <a:spLocks noGrp="1"/>
          </p:cNvSpPr>
          <p:nvPr>
            <p:ph idx="1"/>
          </p:nvPr>
        </p:nvSpPr>
        <p:spPr/>
        <p:txBody>
          <a:bodyPr>
            <a:normAutofit lnSpcReduction="10000"/>
          </a:bodyPr>
          <a:lstStyle/>
          <a:p>
            <a:r>
              <a:rPr lang="cs-CZ" dirty="0"/>
              <a:t>Jsou rozděleny do dvou kategorií:</a:t>
            </a:r>
          </a:p>
          <a:p>
            <a:pPr lvl="1"/>
            <a:r>
              <a:rPr lang="cs-CZ" dirty="0"/>
              <a:t>Funkce, které konvertují znakové řetězce</a:t>
            </a:r>
          </a:p>
          <a:p>
            <a:pPr lvl="1"/>
            <a:r>
              <a:rPr lang="cs-CZ" dirty="0"/>
              <a:t>Funkce které mohou spojovat, extrahovat, ukazovat, hledat nebo ořezávat znakové řetězce</a:t>
            </a:r>
          </a:p>
          <a:p>
            <a:r>
              <a:rPr lang="cs-CZ" dirty="0"/>
              <a:t>Jednořádkové funkce mohou být použity v </a:t>
            </a:r>
            <a:r>
              <a:rPr lang="cs-CZ" dirty="0" err="1"/>
              <a:t>selectu</a:t>
            </a:r>
            <a:r>
              <a:rPr lang="cs-CZ" dirty="0"/>
              <a:t>, </a:t>
            </a:r>
            <a:r>
              <a:rPr lang="cs-CZ" dirty="0" err="1"/>
              <a:t>where</a:t>
            </a:r>
            <a:r>
              <a:rPr lang="cs-CZ" dirty="0"/>
              <a:t> a </a:t>
            </a:r>
            <a:r>
              <a:rPr lang="cs-CZ" dirty="0" err="1"/>
              <a:t>order</a:t>
            </a:r>
            <a:r>
              <a:rPr lang="cs-CZ" dirty="0"/>
              <a:t> by klauzuli.</a:t>
            </a:r>
          </a:p>
          <a:p>
            <a:r>
              <a:rPr lang="cs-CZ" dirty="0"/>
              <a:t>Manipulace s velikostí znaku je důležitá, protože ne vždycky víte, které znaky jsou velké, malé a jak jsou uloženy v rámci databáze.</a:t>
            </a:r>
          </a:p>
          <a:p>
            <a:r>
              <a:rPr lang="cs-CZ" dirty="0"/>
              <a:t>Manipulace se znaky dovoluje měnit dočasně velikost písmen, podle toho, jak je potřeba. Díky tomu je předcházeno nesrovnalostem mezi typem uložených hodnot a dotazem.</a:t>
            </a:r>
          </a:p>
          <a:p>
            <a:endParaRPr lang="cs-CZ" dirty="0"/>
          </a:p>
          <a:p>
            <a:endParaRPr lang="cs-CZ" dirty="0"/>
          </a:p>
        </p:txBody>
      </p:sp>
    </p:spTree>
    <p:extLst>
      <p:ext uri="{BB962C8B-B14F-4D97-AF65-F5344CB8AC3E}">
        <p14:creationId xmlns:p14="http://schemas.microsoft.com/office/powerpoint/2010/main" val="882020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583017A-484D-44FE-B3A5-541DFAE21A9C}"/>
              </a:ext>
            </a:extLst>
          </p:cNvPr>
          <p:cNvSpPr>
            <a:spLocks noGrp="1"/>
          </p:cNvSpPr>
          <p:nvPr>
            <p:ph type="title"/>
          </p:nvPr>
        </p:nvSpPr>
        <p:spPr/>
        <p:txBody>
          <a:bodyPr/>
          <a:lstStyle/>
          <a:p>
            <a:r>
              <a:rPr lang="cs-CZ" dirty="0"/>
              <a:t>Jednořádkové znakové funkce II.</a:t>
            </a:r>
          </a:p>
        </p:txBody>
      </p:sp>
      <p:sp>
        <p:nvSpPr>
          <p:cNvPr id="3" name="Zástupný symbol pro obsah 2">
            <a:extLst>
              <a:ext uri="{FF2B5EF4-FFF2-40B4-BE49-F238E27FC236}">
                <a16:creationId xmlns:a16="http://schemas.microsoft.com/office/drawing/2014/main" id="{958242CA-FB42-4B4E-9B75-17E5E80F4773}"/>
              </a:ext>
            </a:extLst>
          </p:cNvPr>
          <p:cNvSpPr>
            <a:spLocks noGrp="1"/>
          </p:cNvSpPr>
          <p:nvPr>
            <p:ph idx="1"/>
          </p:nvPr>
        </p:nvSpPr>
        <p:spPr/>
        <p:txBody>
          <a:bodyPr/>
          <a:lstStyle/>
          <a:p>
            <a:r>
              <a:rPr lang="cs-CZ" dirty="0"/>
              <a:t>Tyto funkce mohou být </a:t>
            </a:r>
            <a:br>
              <a:rPr lang="cs-CZ" dirty="0"/>
            </a:br>
            <a:r>
              <a:rPr lang="cs-CZ" dirty="0"/>
              <a:t>použity v mnoha částech</a:t>
            </a:r>
            <a:br>
              <a:rPr lang="cs-CZ" dirty="0"/>
            </a:br>
            <a:r>
              <a:rPr lang="cs-CZ" dirty="0"/>
              <a:t> </a:t>
            </a:r>
            <a:r>
              <a:rPr lang="cs-CZ" dirty="0" err="1"/>
              <a:t>sql</a:t>
            </a:r>
            <a:r>
              <a:rPr lang="cs-CZ" dirty="0"/>
              <a:t> dotazu</a:t>
            </a:r>
          </a:p>
        </p:txBody>
      </p:sp>
      <p:pic>
        <p:nvPicPr>
          <p:cNvPr id="4" name="Picture 57">
            <a:extLst>
              <a:ext uri="{FF2B5EF4-FFF2-40B4-BE49-F238E27FC236}">
                <a16:creationId xmlns:a16="http://schemas.microsoft.com/office/drawing/2014/main" id="{F33A7A3C-CF43-4A09-81CC-75AF5C007548}"/>
              </a:ext>
            </a:extLst>
          </p:cNvPr>
          <p:cNvPicPr/>
          <p:nvPr/>
        </p:nvPicPr>
        <p:blipFill>
          <a:blip r:embed="rId2"/>
          <a:stretch>
            <a:fillRect/>
          </a:stretch>
        </p:blipFill>
        <p:spPr>
          <a:xfrm>
            <a:off x="6051177" y="1825624"/>
            <a:ext cx="5302624" cy="5032375"/>
          </a:xfrm>
          <a:prstGeom prst="rect">
            <a:avLst/>
          </a:prstGeom>
        </p:spPr>
      </p:pic>
    </p:spTree>
    <p:extLst>
      <p:ext uri="{BB962C8B-B14F-4D97-AF65-F5344CB8AC3E}">
        <p14:creationId xmlns:p14="http://schemas.microsoft.com/office/powerpoint/2010/main" val="2283300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81E03D1-9976-43B7-AD44-A28039C5FB5D}"/>
              </a:ext>
            </a:extLst>
          </p:cNvPr>
          <p:cNvSpPr>
            <a:spLocks noGrp="1"/>
          </p:cNvSpPr>
          <p:nvPr>
            <p:ph type="title"/>
          </p:nvPr>
        </p:nvSpPr>
        <p:spPr/>
        <p:txBody>
          <a:bodyPr/>
          <a:lstStyle/>
          <a:p>
            <a:r>
              <a:rPr lang="cs-CZ" dirty="0"/>
              <a:t>Jednořádkové znakové funkce III.</a:t>
            </a:r>
          </a:p>
        </p:txBody>
      </p:sp>
      <p:sp>
        <p:nvSpPr>
          <p:cNvPr id="3" name="Zástupný symbol pro obsah 2">
            <a:extLst>
              <a:ext uri="{FF2B5EF4-FFF2-40B4-BE49-F238E27FC236}">
                <a16:creationId xmlns:a16="http://schemas.microsoft.com/office/drawing/2014/main" id="{44511A59-F380-4413-826F-4DB1A22C0DCB}"/>
              </a:ext>
            </a:extLst>
          </p:cNvPr>
          <p:cNvSpPr>
            <a:spLocks noGrp="1"/>
          </p:cNvSpPr>
          <p:nvPr>
            <p:ph idx="1"/>
          </p:nvPr>
        </p:nvSpPr>
        <p:spPr/>
        <p:txBody>
          <a:bodyPr/>
          <a:lstStyle/>
          <a:p>
            <a:r>
              <a:rPr lang="cs-CZ" dirty="0"/>
              <a:t>Jsou užitečné při hledání dat, protože v rámci dotazu </a:t>
            </a:r>
            <a:r>
              <a:rPr lang="cs-CZ" b="1" dirty="0"/>
              <a:t>V</a:t>
            </a:r>
            <a:r>
              <a:rPr lang="cs-CZ" dirty="0"/>
              <a:t> a </a:t>
            </a:r>
            <a:r>
              <a:rPr lang="cs-CZ" b="1" dirty="0"/>
              <a:t>v</a:t>
            </a:r>
            <a:r>
              <a:rPr lang="cs-CZ" dirty="0"/>
              <a:t> není to samé. Následující příklad </a:t>
            </a:r>
            <a:r>
              <a:rPr lang="cs-CZ" b="1" dirty="0"/>
              <a:t>LOWER</a:t>
            </a:r>
            <a:r>
              <a:rPr lang="cs-CZ" dirty="0"/>
              <a:t> převádí všechny znaky na malá písmena.</a:t>
            </a:r>
          </a:p>
          <a:p>
            <a:endParaRPr lang="cs-CZ" dirty="0"/>
          </a:p>
          <a:p>
            <a:endParaRPr lang="cs-CZ" dirty="0"/>
          </a:p>
          <a:p>
            <a:r>
              <a:rPr lang="cs-CZ" b="1" dirty="0"/>
              <a:t>UPPER</a:t>
            </a:r>
            <a:r>
              <a:rPr lang="cs-CZ" dirty="0"/>
              <a:t> je funkce, která naopak mění všechny znaky na velké</a:t>
            </a:r>
          </a:p>
        </p:txBody>
      </p:sp>
      <p:pic>
        <p:nvPicPr>
          <p:cNvPr id="4" name="Picture 58">
            <a:extLst>
              <a:ext uri="{FF2B5EF4-FFF2-40B4-BE49-F238E27FC236}">
                <a16:creationId xmlns:a16="http://schemas.microsoft.com/office/drawing/2014/main" id="{DF9B7BBF-87B4-465E-ABC8-D1ED74818D79}"/>
              </a:ext>
            </a:extLst>
          </p:cNvPr>
          <p:cNvPicPr/>
          <p:nvPr/>
        </p:nvPicPr>
        <p:blipFill>
          <a:blip r:embed="rId2"/>
          <a:stretch>
            <a:fillRect/>
          </a:stretch>
        </p:blipFill>
        <p:spPr>
          <a:xfrm>
            <a:off x="3910292" y="2888596"/>
            <a:ext cx="4319307" cy="984157"/>
          </a:xfrm>
          <a:prstGeom prst="rect">
            <a:avLst/>
          </a:prstGeom>
        </p:spPr>
      </p:pic>
      <p:pic>
        <p:nvPicPr>
          <p:cNvPr id="5" name="Picture 59">
            <a:extLst>
              <a:ext uri="{FF2B5EF4-FFF2-40B4-BE49-F238E27FC236}">
                <a16:creationId xmlns:a16="http://schemas.microsoft.com/office/drawing/2014/main" id="{216C016B-D448-4BC4-B536-BE3D5EE31A8E}"/>
              </a:ext>
            </a:extLst>
          </p:cNvPr>
          <p:cNvPicPr/>
          <p:nvPr/>
        </p:nvPicPr>
        <p:blipFill>
          <a:blip r:embed="rId3"/>
          <a:stretch>
            <a:fillRect/>
          </a:stretch>
        </p:blipFill>
        <p:spPr>
          <a:xfrm>
            <a:off x="1183621" y="4810545"/>
            <a:ext cx="5136497" cy="810326"/>
          </a:xfrm>
          <a:prstGeom prst="rect">
            <a:avLst/>
          </a:prstGeom>
        </p:spPr>
      </p:pic>
    </p:spTree>
    <p:extLst>
      <p:ext uri="{BB962C8B-B14F-4D97-AF65-F5344CB8AC3E}">
        <p14:creationId xmlns:p14="http://schemas.microsoft.com/office/powerpoint/2010/main" val="2797905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31A5B82-0B33-412B-93C3-8EB2BF60DAE7}"/>
              </a:ext>
            </a:extLst>
          </p:cNvPr>
          <p:cNvSpPr>
            <a:spLocks noGrp="1"/>
          </p:cNvSpPr>
          <p:nvPr>
            <p:ph type="title"/>
          </p:nvPr>
        </p:nvSpPr>
        <p:spPr/>
        <p:txBody>
          <a:bodyPr/>
          <a:lstStyle/>
          <a:p>
            <a:r>
              <a:rPr lang="cs-CZ" dirty="0"/>
              <a:t>Jednořádkové znakové funkce IV.</a:t>
            </a:r>
          </a:p>
        </p:txBody>
      </p:sp>
      <p:sp>
        <p:nvSpPr>
          <p:cNvPr id="3" name="Zástupný symbol pro obsah 2">
            <a:extLst>
              <a:ext uri="{FF2B5EF4-FFF2-40B4-BE49-F238E27FC236}">
                <a16:creationId xmlns:a16="http://schemas.microsoft.com/office/drawing/2014/main" id="{D2E6ADDD-DC11-4BBA-BAE5-62A4A7F46726}"/>
              </a:ext>
            </a:extLst>
          </p:cNvPr>
          <p:cNvSpPr>
            <a:spLocks noGrp="1"/>
          </p:cNvSpPr>
          <p:nvPr>
            <p:ph idx="1"/>
          </p:nvPr>
        </p:nvSpPr>
        <p:spPr/>
        <p:txBody>
          <a:bodyPr/>
          <a:lstStyle/>
          <a:p>
            <a:r>
              <a:rPr lang="pt-BR" b="1" dirty="0"/>
              <a:t>Initcap</a:t>
            </a:r>
            <a:r>
              <a:rPr lang="pt-BR" dirty="0"/>
              <a:t> konvertuje pouze první písmena na velké znaky.</a:t>
            </a:r>
            <a:endParaRPr lang="cs-CZ" dirty="0"/>
          </a:p>
        </p:txBody>
      </p:sp>
      <p:pic>
        <p:nvPicPr>
          <p:cNvPr id="4" name="Picture 60">
            <a:extLst>
              <a:ext uri="{FF2B5EF4-FFF2-40B4-BE49-F238E27FC236}">
                <a16:creationId xmlns:a16="http://schemas.microsoft.com/office/drawing/2014/main" id="{B79D6ECB-9D49-4A9C-82D1-CBE73A6DF7A4}"/>
              </a:ext>
            </a:extLst>
          </p:cNvPr>
          <p:cNvPicPr/>
          <p:nvPr/>
        </p:nvPicPr>
        <p:blipFill>
          <a:blip r:embed="rId2"/>
          <a:stretch>
            <a:fillRect/>
          </a:stretch>
        </p:blipFill>
        <p:spPr>
          <a:xfrm>
            <a:off x="1992125" y="2559703"/>
            <a:ext cx="5376863" cy="1071003"/>
          </a:xfrm>
          <a:prstGeom prst="rect">
            <a:avLst/>
          </a:prstGeom>
        </p:spPr>
      </p:pic>
    </p:spTree>
    <p:extLst>
      <p:ext uri="{BB962C8B-B14F-4D97-AF65-F5344CB8AC3E}">
        <p14:creationId xmlns:p14="http://schemas.microsoft.com/office/powerpoint/2010/main" val="283022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EF1B2AD-28D9-4C0A-B3BE-F520AA6506D0}"/>
              </a:ext>
            </a:extLst>
          </p:cNvPr>
          <p:cNvSpPr>
            <a:spLocks noGrp="1"/>
          </p:cNvSpPr>
          <p:nvPr>
            <p:ph type="title"/>
          </p:nvPr>
        </p:nvSpPr>
        <p:spPr/>
        <p:txBody>
          <a:bodyPr/>
          <a:lstStyle/>
          <a:p>
            <a:r>
              <a:rPr lang="cs-CZ" dirty="0"/>
              <a:t>Funkce pro manipulaci se znaky</a:t>
            </a:r>
          </a:p>
        </p:txBody>
      </p:sp>
      <p:sp>
        <p:nvSpPr>
          <p:cNvPr id="3" name="Zástupný symbol pro obsah 2">
            <a:extLst>
              <a:ext uri="{FF2B5EF4-FFF2-40B4-BE49-F238E27FC236}">
                <a16:creationId xmlns:a16="http://schemas.microsoft.com/office/drawing/2014/main" id="{5CD9EFA4-2B65-4815-A223-A205DEB3D576}"/>
              </a:ext>
            </a:extLst>
          </p:cNvPr>
          <p:cNvSpPr>
            <a:spLocks noGrp="1"/>
          </p:cNvSpPr>
          <p:nvPr>
            <p:ph idx="1"/>
          </p:nvPr>
        </p:nvSpPr>
        <p:spPr/>
        <p:txBody>
          <a:bodyPr/>
          <a:lstStyle/>
          <a:p>
            <a:r>
              <a:rPr lang="cs-CZ" dirty="0"/>
              <a:t>Jsou používány pro extrakci, změnu, formátování nebo změny ve znakovém řetězci. Jeden nebo více znaků nebo slov je vstupem do funkce, funkce provede svou funkcionalitu a vrací změněnou, extrahovanou, spočítanou nebo změněnou hodnotu.</a:t>
            </a:r>
          </a:p>
        </p:txBody>
      </p:sp>
    </p:spTree>
    <p:extLst>
      <p:ext uri="{BB962C8B-B14F-4D97-AF65-F5344CB8AC3E}">
        <p14:creationId xmlns:p14="http://schemas.microsoft.com/office/powerpoint/2010/main" val="4041316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DF06466-317C-4410-B87C-AD658031E822}"/>
              </a:ext>
            </a:extLst>
          </p:cNvPr>
          <p:cNvSpPr>
            <a:spLocks noGrp="1"/>
          </p:cNvSpPr>
          <p:nvPr>
            <p:ph type="title"/>
          </p:nvPr>
        </p:nvSpPr>
        <p:spPr/>
        <p:txBody>
          <a:bodyPr/>
          <a:lstStyle/>
          <a:p>
            <a:r>
              <a:rPr lang="cs-CZ" dirty="0"/>
              <a:t>CONCAT</a:t>
            </a:r>
          </a:p>
        </p:txBody>
      </p:sp>
      <p:sp>
        <p:nvSpPr>
          <p:cNvPr id="3" name="Zástupný symbol pro obsah 2">
            <a:extLst>
              <a:ext uri="{FF2B5EF4-FFF2-40B4-BE49-F238E27FC236}">
                <a16:creationId xmlns:a16="http://schemas.microsoft.com/office/drawing/2014/main" id="{A9664CA3-9497-4C01-BE40-CF880073A457}"/>
              </a:ext>
            </a:extLst>
          </p:cNvPr>
          <p:cNvSpPr>
            <a:spLocks noGrp="1"/>
          </p:cNvSpPr>
          <p:nvPr>
            <p:ph idx="1"/>
          </p:nvPr>
        </p:nvSpPr>
        <p:spPr/>
        <p:txBody>
          <a:bodyPr/>
          <a:lstStyle/>
          <a:p>
            <a:r>
              <a:rPr lang="pl-PL" dirty="0"/>
              <a:t>CONCAT spojuje 2 hodnoty dohromady.</a:t>
            </a:r>
            <a:endParaRPr lang="cs-CZ" dirty="0"/>
          </a:p>
        </p:txBody>
      </p:sp>
      <p:pic>
        <p:nvPicPr>
          <p:cNvPr id="4" name="Picture 61">
            <a:extLst>
              <a:ext uri="{FF2B5EF4-FFF2-40B4-BE49-F238E27FC236}">
                <a16:creationId xmlns:a16="http://schemas.microsoft.com/office/drawing/2014/main" id="{338C3911-58A2-42DF-A06B-1979E2F68BEB}"/>
              </a:ext>
            </a:extLst>
          </p:cNvPr>
          <p:cNvPicPr/>
          <p:nvPr/>
        </p:nvPicPr>
        <p:blipFill>
          <a:blip r:embed="rId2"/>
          <a:stretch>
            <a:fillRect/>
          </a:stretch>
        </p:blipFill>
        <p:spPr>
          <a:xfrm>
            <a:off x="1047749" y="2531688"/>
            <a:ext cx="6966697" cy="1905841"/>
          </a:xfrm>
          <a:prstGeom prst="rect">
            <a:avLst/>
          </a:prstGeom>
        </p:spPr>
      </p:pic>
    </p:spTree>
    <p:extLst>
      <p:ext uri="{BB962C8B-B14F-4D97-AF65-F5344CB8AC3E}">
        <p14:creationId xmlns:p14="http://schemas.microsoft.com/office/powerpoint/2010/main" val="580835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81478C7-A5AA-4959-B7A2-8456E0B27003}"/>
              </a:ext>
            </a:extLst>
          </p:cNvPr>
          <p:cNvSpPr>
            <a:spLocks noGrp="1"/>
          </p:cNvSpPr>
          <p:nvPr>
            <p:ph type="title"/>
          </p:nvPr>
        </p:nvSpPr>
        <p:spPr/>
        <p:txBody>
          <a:bodyPr/>
          <a:lstStyle/>
          <a:p>
            <a:r>
              <a:rPr lang="cs-CZ" dirty="0"/>
              <a:t>SUBSTR</a:t>
            </a:r>
          </a:p>
        </p:txBody>
      </p:sp>
      <p:sp>
        <p:nvSpPr>
          <p:cNvPr id="3" name="Zástupný symbol pro obsah 2">
            <a:extLst>
              <a:ext uri="{FF2B5EF4-FFF2-40B4-BE49-F238E27FC236}">
                <a16:creationId xmlns:a16="http://schemas.microsoft.com/office/drawing/2014/main" id="{357D232D-8131-472F-A6B4-5C5FD8B85790}"/>
              </a:ext>
            </a:extLst>
          </p:cNvPr>
          <p:cNvSpPr>
            <a:spLocks noGrp="1"/>
          </p:cNvSpPr>
          <p:nvPr>
            <p:ph idx="1"/>
          </p:nvPr>
        </p:nvSpPr>
        <p:spPr/>
        <p:txBody>
          <a:bodyPr/>
          <a:lstStyle/>
          <a:p>
            <a:r>
              <a:rPr lang="cs-CZ" dirty="0"/>
              <a:t>Odděluje řetězec dané délky.</a:t>
            </a:r>
          </a:p>
        </p:txBody>
      </p:sp>
      <p:pic>
        <p:nvPicPr>
          <p:cNvPr id="4" name="Picture 62">
            <a:extLst>
              <a:ext uri="{FF2B5EF4-FFF2-40B4-BE49-F238E27FC236}">
                <a16:creationId xmlns:a16="http://schemas.microsoft.com/office/drawing/2014/main" id="{E59C70F3-6A83-40E5-BACD-3E1D91472D0F}"/>
              </a:ext>
            </a:extLst>
          </p:cNvPr>
          <p:cNvPicPr/>
          <p:nvPr/>
        </p:nvPicPr>
        <p:blipFill>
          <a:blip r:embed="rId2"/>
          <a:stretch>
            <a:fillRect/>
          </a:stretch>
        </p:blipFill>
        <p:spPr>
          <a:xfrm>
            <a:off x="838199" y="2743994"/>
            <a:ext cx="7176247" cy="2688618"/>
          </a:xfrm>
          <a:prstGeom prst="rect">
            <a:avLst/>
          </a:prstGeom>
        </p:spPr>
      </p:pic>
    </p:spTree>
    <p:extLst>
      <p:ext uri="{BB962C8B-B14F-4D97-AF65-F5344CB8AC3E}">
        <p14:creationId xmlns:p14="http://schemas.microsoft.com/office/powerpoint/2010/main" val="836745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EF915CB-9C17-454D-9B99-0EBEB140A751}"/>
              </a:ext>
            </a:extLst>
          </p:cNvPr>
          <p:cNvSpPr>
            <a:spLocks noGrp="1"/>
          </p:cNvSpPr>
          <p:nvPr>
            <p:ph type="title"/>
          </p:nvPr>
        </p:nvSpPr>
        <p:spPr/>
        <p:txBody>
          <a:bodyPr/>
          <a:lstStyle/>
          <a:p>
            <a:r>
              <a:rPr lang="cs-CZ" dirty="0"/>
              <a:t>LENGTH</a:t>
            </a:r>
          </a:p>
        </p:txBody>
      </p:sp>
      <p:sp>
        <p:nvSpPr>
          <p:cNvPr id="3" name="Zástupný symbol pro obsah 2">
            <a:extLst>
              <a:ext uri="{FF2B5EF4-FFF2-40B4-BE49-F238E27FC236}">
                <a16:creationId xmlns:a16="http://schemas.microsoft.com/office/drawing/2014/main" id="{CB3B224D-2D9F-4598-BD84-1662C2D01B27}"/>
              </a:ext>
            </a:extLst>
          </p:cNvPr>
          <p:cNvSpPr>
            <a:spLocks noGrp="1"/>
          </p:cNvSpPr>
          <p:nvPr>
            <p:ph idx="1"/>
          </p:nvPr>
        </p:nvSpPr>
        <p:spPr/>
        <p:txBody>
          <a:bodyPr/>
          <a:lstStyle/>
          <a:p>
            <a:r>
              <a:rPr lang="cs-CZ" dirty="0"/>
              <a:t>Vrací délku řetězce jako číslo.</a:t>
            </a:r>
          </a:p>
        </p:txBody>
      </p:sp>
      <p:pic>
        <p:nvPicPr>
          <p:cNvPr id="4" name="Picture 63">
            <a:extLst>
              <a:ext uri="{FF2B5EF4-FFF2-40B4-BE49-F238E27FC236}">
                <a16:creationId xmlns:a16="http://schemas.microsoft.com/office/drawing/2014/main" id="{900763FA-DAC8-409D-8C7B-00597C72658E}"/>
              </a:ext>
            </a:extLst>
          </p:cNvPr>
          <p:cNvPicPr/>
          <p:nvPr/>
        </p:nvPicPr>
        <p:blipFill>
          <a:blip r:embed="rId2"/>
          <a:stretch>
            <a:fillRect/>
          </a:stretch>
        </p:blipFill>
        <p:spPr>
          <a:xfrm>
            <a:off x="838200" y="2531688"/>
            <a:ext cx="8278906" cy="2040312"/>
          </a:xfrm>
          <a:prstGeom prst="rect">
            <a:avLst/>
          </a:prstGeom>
        </p:spPr>
      </p:pic>
    </p:spTree>
    <p:extLst>
      <p:ext uri="{BB962C8B-B14F-4D97-AF65-F5344CB8AC3E}">
        <p14:creationId xmlns:p14="http://schemas.microsoft.com/office/powerpoint/2010/main" val="1089959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024551E-9756-49CB-AEE5-0B157318B84C}"/>
              </a:ext>
            </a:extLst>
          </p:cNvPr>
          <p:cNvSpPr>
            <a:spLocks noGrp="1"/>
          </p:cNvSpPr>
          <p:nvPr>
            <p:ph type="title"/>
          </p:nvPr>
        </p:nvSpPr>
        <p:spPr/>
        <p:txBody>
          <a:bodyPr/>
          <a:lstStyle/>
          <a:p>
            <a:r>
              <a:rPr lang="cs-CZ" dirty="0"/>
              <a:t>INSTR</a:t>
            </a:r>
          </a:p>
        </p:txBody>
      </p:sp>
      <p:sp>
        <p:nvSpPr>
          <p:cNvPr id="3" name="Zástupný symbol pro obsah 2">
            <a:extLst>
              <a:ext uri="{FF2B5EF4-FFF2-40B4-BE49-F238E27FC236}">
                <a16:creationId xmlns:a16="http://schemas.microsoft.com/office/drawing/2014/main" id="{96E1124F-F209-46F8-A7D1-7FAC8DEB9773}"/>
              </a:ext>
            </a:extLst>
          </p:cNvPr>
          <p:cNvSpPr>
            <a:spLocks noGrp="1"/>
          </p:cNvSpPr>
          <p:nvPr>
            <p:ph idx="1"/>
          </p:nvPr>
        </p:nvSpPr>
        <p:spPr/>
        <p:txBody>
          <a:bodyPr/>
          <a:lstStyle/>
          <a:p>
            <a:r>
              <a:rPr lang="cs-CZ" dirty="0"/>
              <a:t>Vrací pozici číselnou specifického znaku.</a:t>
            </a:r>
          </a:p>
        </p:txBody>
      </p:sp>
      <p:pic>
        <p:nvPicPr>
          <p:cNvPr id="4" name="Picture 64">
            <a:extLst>
              <a:ext uri="{FF2B5EF4-FFF2-40B4-BE49-F238E27FC236}">
                <a16:creationId xmlns:a16="http://schemas.microsoft.com/office/drawing/2014/main" id="{FE391AA8-AFCD-44BE-81C3-B3B486C5505F}"/>
              </a:ext>
            </a:extLst>
          </p:cNvPr>
          <p:cNvPicPr/>
          <p:nvPr/>
        </p:nvPicPr>
        <p:blipFill>
          <a:blip r:embed="rId2"/>
          <a:stretch>
            <a:fillRect/>
          </a:stretch>
        </p:blipFill>
        <p:spPr>
          <a:xfrm>
            <a:off x="838199" y="2631421"/>
            <a:ext cx="7606553" cy="2048155"/>
          </a:xfrm>
          <a:prstGeom prst="rect">
            <a:avLst/>
          </a:prstGeom>
        </p:spPr>
      </p:pic>
    </p:spTree>
    <p:extLst>
      <p:ext uri="{BB962C8B-B14F-4D97-AF65-F5344CB8AC3E}">
        <p14:creationId xmlns:p14="http://schemas.microsoft.com/office/powerpoint/2010/main" val="576526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65B165B-EAFB-4C92-BC92-BEDB8CFA1D8A}"/>
              </a:ext>
            </a:extLst>
          </p:cNvPr>
          <p:cNvSpPr>
            <a:spLocks noGrp="1"/>
          </p:cNvSpPr>
          <p:nvPr>
            <p:ph type="title"/>
          </p:nvPr>
        </p:nvSpPr>
        <p:spPr/>
        <p:txBody>
          <a:bodyPr/>
          <a:lstStyle/>
          <a:p>
            <a:r>
              <a:rPr lang="cs-CZ" dirty="0"/>
              <a:t>LPAD</a:t>
            </a:r>
          </a:p>
        </p:txBody>
      </p:sp>
      <p:sp>
        <p:nvSpPr>
          <p:cNvPr id="3" name="Zástupný symbol pro obsah 2">
            <a:extLst>
              <a:ext uri="{FF2B5EF4-FFF2-40B4-BE49-F238E27FC236}">
                <a16:creationId xmlns:a16="http://schemas.microsoft.com/office/drawing/2014/main" id="{6BCB55D8-CB03-4ED8-8DA6-44B0974AEC0A}"/>
              </a:ext>
            </a:extLst>
          </p:cNvPr>
          <p:cNvSpPr>
            <a:spLocks noGrp="1"/>
          </p:cNvSpPr>
          <p:nvPr>
            <p:ph idx="1"/>
          </p:nvPr>
        </p:nvSpPr>
        <p:spPr/>
        <p:txBody>
          <a:bodyPr/>
          <a:lstStyle/>
          <a:p>
            <a:r>
              <a:rPr lang="cs-CZ" dirty="0"/>
              <a:t>Zarovnává na pravou stranu řetězec, vyžaduje 3 argumenty – celkový počet znaků, znak pro zarovnání a řetězec k zarovnání.</a:t>
            </a:r>
          </a:p>
        </p:txBody>
      </p:sp>
      <p:pic>
        <p:nvPicPr>
          <p:cNvPr id="4" name="Picture 65">
            <a:extLst>
              <a:ext uri="{FF2B5EF4-FFF2-40B4-BE49-F238E27FC236}">
                <a16:creationId xmlns:a16="http://schemas.microsoft.com/office/drawing/2014/main" id="{3125023D-914A-4A71-AA33-30C4DB40ADDE}"/>
              </a:ext>
            </a:extLst>
          </p:cNvPr>
          <p:cNvPicPr/>
          <p:nvPr/>
        </p:nvPicPr>
        <p:blipFill>
          <a:blip r:embed="rId2"/>
          <a:stretch>
            <a:fillRect/>
          </a:stretch>
        </p:blipFill>
        <p:spPr>
          <a:xfrm>
            <a:off x="1052512" y="2963069"/>
            <a:ext cx="7634288" cy="2227496"/>
          </a:xfrm>
          <a:prstGeom prst="rect">
            <a:avLst/>
          </a:prstGeom>
        </p:spPr>
      </p:pic>
    </p:spTree>
    <p:extLst>
      <p:ext uri="{BB962C8B-B14F-4D97-AF65-F5344CB8AC3E}">
        <p14:creationId xmlns:p14="http://schemas.microsoft.com/office/powerpoint/2010/main" val="22287126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841FE23-FC48-4866-AFA6-A8EB750E608B}"/>
              </a:ext>
            </a:extLst>
          </p:cNvPr>
          <p:cNvSpPr>
            <a:spLocks noGrp="1"/>
          </p:cNvSpPr>
          <p:nvPr>
            <p:ph type="title"/>
          </p:nvPr>
        </p:nvSpPr>
        <p:spPr/>
        <p:txBody>
          <a:bodyPr/>
          <a:lstStyle/>
          <a:p>
            <a:r>
              <a:rPr lang="cs-CZ" dirty="0"/>
              <a:t>RPAD</a:t>
            </a:r>
          </a:p>
        </p:txBody>
      </p:sp>
      <p:sp>
        <p:nvSpPr>
          <p:cNvPr id="3" name="Zástupný symbol pro obsah 2">
            <a:extLst>
              <a:ext uri="{FF2B5EF4-FFF2-40B4-BE49-F238E27FC236}">
                <a16:creationId xmlns:a16="http://schemas.microsoft.com/office/drawing/2014/main" id="{944CF6B1-B0DB-4F00-BCA3-CA1779C90B65}"/>
              </a:ext>
            </a:extLst>
          </p:cNvPr>
          <p:cNvSpPr>
            <a:spLocks noGrp="1"/>
          </p:cNvSpPr>
          <p:nvPr>
            <p:ph idx="1"/>
          </p:nvPr>
        </p:nvSpPr>
        <p:spPr/>
        <p:txBody>
          <a:bodyPr/>
          <a:lstStyle/>
          <a:p>
            <a:r>
              <a:rPr lang="pl-PL" dirty="0"/>
              <a:t>RPAD je obdoba LPAD, ale k zarovnani dojde doleva</a:t>
            </a:r>
            <a:endParaRPr lang="cs-CZ" dirty="0"/>
          </a:p>
        </p:txBody>
      </p:sp>
      <p:pic>
        <p:nvPicPr>
          <p:cNvPr id="4" name="Picture 66">
            <a:extLst>
              <a:ext uri="{FF2B5EF4-FFF2-40B4-BE49-F238E27FC236}">
                <a16:creationId xmlns:a16="http://schemas.microsoft.com/office/drawing/2014/main" id="{CD2F4970-0216-4D59-AFCF-2AEF7B9170E0}"/>
              </a:ext>
            </a:extLst>
          </p:cNvPr>
          <p:cNvPicPr/>
          <p:nvPr/>
        </p:nvPicPr>
        <p:blipFill>
          <a:blip r:embed="rId2"/>
          <a:stretch>
            <a:fillRect/>
          </a:stretch>
        </p:blipFill>
        <p:spPr>
          <a:xfrm>
            <a:off x="838200" y="2905919"/>
            <a:ext cx="7767918" cy="2284646"/>
          </a:xfrm>
          <a:prstGeom prst="rect">
            <a:avLst/>
          </a:prstGeom>
        </p:spPr>
      </p:pic>
    </p:spTree>
    <p:extLst>
      <p:ext uri="{BB962C8B-B14F-4D97-AF65-F5344CB8AC3E}">
        <p14:creationId xmlns:p14="http://schemas.microsoft.com/office/powerpoint/2010/main" val="582991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31D4027-1FF4-47D3-B84C-6FB69DC6F76B}"/>
              </a:ext>
            </a:extLst>
          </p:cNvPr>
          <p:cNvSpPr>
            <a:spLocks noGrp="1"/>
          </p:cNvSpPr>
          <p:nvPr>
            <p:ph type="title"/>
          </p:nvPr>
        </p:nvSpPr>
        <p:spPr/>
        <p:txBody>
          <a:bodyPr/>
          <a:lstStyle/>
          <a:p>
            <a:r>
              <a:rPr lang="cs-CZ" dirty="0"/>
              <a:t>TRIM</a:t>
            </a:r>
          </a:p>
        </p:txBody>
      </p:sp>
      <p:sp>
        <p:nvSpPr>
          <p:cNvPr id="3" name="Zástupný symbol pro obsah 2">
            <a:extLst>
              <a:ext uri="{FF2B5EF4-FFF2-40B4-BE49-F238E27FC236}">
                <a16:creationId xmlns:a16="http://schemas.microsoft.com/office/drawing/2014/main" id="{4C24758C-6D38-4CF1-9A3A-092E7422AF0C}"/>
              </a:ext>
            </a:extLst>
          </p:cNvPr>
          <p:cNvSpPr>
            <a:spLocks noGrp="1"/>
          </p:cNvSpPr>
          <p:nvPr>
            <p:ph idx="1"/>
          </p:nvPr>
        </p:nvSpPr>
        <p:spPr/>
        <p:txBody>
          <a:bodyPr/>
          <a:lstStyle/>
          <a:p>
            <a:r>
              <a:rPr lang="cs-CZ" dirty="0"/>
              <a:t>Odstraňuje všechny specifické znaky od začátku, od konce nebo z obou stran, syntaxi zobrazuje následující obrázek.</a:t>
            </a:r>
          </a:p>
        </p:txBody>
      </p:sp>
      <p:pic>
        <p:nvPicPr>
          <p:cNvPr id="4" name="Picture 67">
            <a:extLst>
              <a:ext uri="{FF2B5EF4-FFF2-40B4-BE49-F238E27FC236}">
                <a16:creationId xmlns:a16="http://schemas.microsoft.com/office/drawing/2014/main" id="{B475A9A0-7DB4-4DE3-8DCE-1441B111EB0F}"/>
              </a:ext>
            </a:extLst>
          </p:cNvPr>
          <p:cNvPicPr/>
          <p:nvPr/>
        </p:nvPicPr>
        <p:blipFill>
          <a:blip r:embed="rId2"/>
          <a:stretch>
            <a:fillRect/>
          </a:stretch>
        </p:blipFill>
        <p:spPr>
          <a:xfrm>
            <a:off x="838200" y="3148293"/>
            <a:ext cx="9005047" cy="3028670"/>
          </a:xfrm>
          <a:prstGeom prst="rect">
            <a:avLst/>
          </a:prstGeom>
        </p:spPr>
      </p:pic>
    </p:spTree>
    <p:extLst>
      <p:ext uri="{BB962C8B-B14F-4D97-AF65-F5344CB8AC3E}">
        <p14:creationId xmlns:p14="http://schemas.microsoft.com/office/powerpoint/2010/main" val="3424522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F81E3BE-3F40-463C-B704-B6FEEABDA812}"/>
              </a:ext>
            </a:extLst>
          </p:cNvPr>
          <p:cNvSpPr>
            <a:spLocks noGrp="1"/>
          </p:cNvSpPr>
          <p:nvPr>
            <p:ph type="title"/>
          </p:nvPr>
        </p:nvSpPr>
        <p:spPr/>
        <p:txBody>
          <a:bodyPr/>
          <a:lstStyle/>
          <a:p>
            <a:r>
              <a:rPr lang="cs-CZ" dirty="0"/>
              <a:t>REPLACE</a:t>
            </a:r>
          </a:p>
        </p:txBody>
      </p:sp>
      <p:sp>
        <p:nvSpPr>
          <p:cNvPr id="3" name="Zástupný symbol pro obsah 2">
            <a:extLst>
              <a:ext uri="{FF2B5EF4-FFF2-40B4-BE49-F238E27FC236}">
                <a16:creationId xmlns:a16="http://schemas.microsoft.com/office/drawing/2014/main" id="{17230093-8FA8-472D-AFB1-33FC60B8F60A}"/>
              </a:ext>
            </a:extLst>
          </p:cNvPr>
          <p:cNvSpPr>
            <a:spLocks noGrp="1"/>
          </p:cNvSpPr>
          <p:nvPr>
            <p:ph idx="1"/>
          </p:nvPr>
        </p:nvSpPr>
        <p:spPr/>
        <p:txBody>
          <a:bodyPr/>
          <a:lstStyle/>
          <a:p>
            <a:r>
              <a:rPr lang="cs-CZ" dirty="0"/>
              <a:t>Nahrazuje sekvenci znaku v řetězci jinou skupinou znaků.</a:t>
            </a:r>
          </a:p>
        </p:txBody>
      </p:sp>
      <p:pic>
        <p:nvPicPr>
          <p:cNvPr id="4" name="Picture 68">
            <a:extLst>
              <a:ext uri="{FF2B5EF4-FFF2-40B4-BE49-F238E27FC236}">
                <a16:creationId xmlns:a16="http://schemas.microsoft.com/office/drawing/2014/main" id="{37B4A628-7E5E-4374-8932-5B6FF9948347}"/>
              </a:ext>
            </a:extLst>
          </p:cNvPr>
          <p:cNvPicPr/>
          <p:nvPr/>
        </p:nvPicPr>
        <p:blipFill>
          <a:blip r:embed="rId2"/>
          <a:stretch>
            <a:fillRect/>
          </a:stretch>
        </p:blipFill>
        <p:spPr>
          <a:xfrm>
            <a:off x="838200" y="2479301"/>
            <a:ext cx="6261847" cy="559734"/>
          </a:xfrm>
          <a:prstGeom prst="rect">
            <a:avLst/>
          </a:prstGeom>
        </p:spPr>
      </p:pic>
      <p:pic>
        <p:nvPicPr>
          <p:cNvPr id="5" name="Picture 69">
            <a:extLst>
              <a:ext uri="{FF2B5EF4-FFF2-40B4-BE49-F238E27FC236}">
                <a16:creationId xmlns:a16="http://schemas.microsoft.com/office/drawing/2014/main" id="{C99D2FBA-9412-4CF0-AFA7-FEE015E51EFB}"/>
              </a:ext>
            </a:extLst>
          </p:cNvPr>
          <p:cNvPicPr/>
          <p:nvPr/>
        </p:nvPicPr>
        <p:blipFill>
          <a:blip r:embed="rId3"/>
          <a:stretch>
            <a:fillRect/>
          </a:stretch>
        </p:blipFill>
        <p:spPr>
          <a:xfrm>
            <a:off x="4474228" y="3172151"/>
            <a:ext cx="6879572" cy="1426743"/>
          </a:xfrm>
          <a:prstGeom prst="rect">
            <a:avLst/>
          </a:prstGeom>
        </p:spPr>
      </p:pic>
      <p:pic>
        <p:nvPicPr>
          <p:cNvPr id="6" name="Picture 70">
            <a:extLst>
              <a:ext uri="{FF2B5EF4-FFF2-40B4-BE49-F238E27FC236}">
                <a16:creationId xmlns:a16="http://schemas.microsoft.com/office/drawing/2014/main" id="{B399CB3F-EFB8-411D-8615-131570AD1BBD}"/>
              </a:ext>
            </a:extLst>
          </p:cNvPr>
          <p:cNvPicPr/>
          <p:nvPr/>
        </p:nvPicPr>
        <p:blipFill>
          <a:blip r:embed="rId4"/>
          <a:stretch>
            <a:fillRect/>
          </a:stretch>
        </p:blipFill>
        <p:spPr>
          <a:xfrm>
            <a:off x="788053" y="4385561"/>
            <a:ext cx="5370700" cy="2445078"/>
          </a:xfrm>
          <a:prstGeom prst="rect">
            <a:avLst/>
          </a:prstGeom>
        </p:spPr>
      </p:pic>
    </p:spTree>
    <p:extLst>
      <p:ext uri="{BB962C8B-B14F-4D97-AF65-F5344CB8AC3E}">
        <p14:creationId xmlns:p14="http://schemas.microsoft.com/office/powerpoint/2010/main" val="2534847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2CF5CED-360B-4FF5-AB67-529A3F315DDB}"/>
              </a:ext>
            </a:extLst>
          </p:cNvPr>
          <p:cNvSpPr>
            <a:spLocks noGrp="1"/>
          </p:cNvSpPr>
          <p:nvPr>
            <p:ph type="title"/>
          </p:nvPr>
        </p:nvSpPr>
        <p:spPr/>
        <p:txBody>
          <a:bodyPr/>
          <a:lstStyle/>
          <a:p>
            <a:r>
              <a:rPr lang="cs-CZ" dirty="0"/>
              <a:t>Použití </a:t>
            </a:r>
            <a:r>
              <a:rPr lang="cs-CZ" dirty="0" err="1"/>
              <a:t>aliasu</a:t>
            </a:r>
            <a:r>
              <a:rPr lang="cs-CZ" dirty="0"/>
              <a:t> pro sloupce s funkcí</a:t>
            </a:r>
          </a:p>
        </p:txBody>
      </p:sp>
      <p:sp>
        <p:nvSpPr>
          <p:cNvPr id="3" name="Zástupný symbol pro obsah 2">
            <a:extLst>
              <a:ext uri="{FF2B5EF4-FFF2-40B4-BE49-F238E27FC236}">
                <a16:creationId xmlns:a16="http://schemas.microsoft.com/office/drawing/2014/main" id="{39313986-AC9F-4851-B95F-6B05F25975B7}"/>
              </a:ext>
            </a:extLst>
          </p:cNvPr>
          <p:cNvSpPr>
            <a:spLocks noGrp="1"/>
          </p:cNvSpPr>
          <p:nvPr>
            <p:ph idx="1"/>
          </p:nvPr>
        </p:nvSpPr>
        <p:spPr/>
        <p:txBody>
          <a:bodyPr/>
          <a:lstStyle/>
          <a:p>
            <a:r>
              <a:rPr lang="cs-CZ" dirty="0"/>
              <a:t>Všechny funkce provádí operace na hodnotách, které jsou v závorkách a každá funkce vypisuje svůj účel, což je dobré, když provádíte konstrukci dotazu. Často jsou </a:t>
            </a:r>
            <a:r>
              <a:rPr lang="cs-CZ" dirty="0" err="1"/>
              <a:t>aliasy</a:t>
            </a:r>
            <a:r>
              <a:rPr lang="cs-CZ" dirty="0"/>
              <a:t> sloupců používány pro pojmenování sloupců. Když je používán alias sloupce, zobrazí se místo syntaxe funkce na výstupu v záhlaví sloupce jiný název.</a:t>
            </a:r>
          </a:p>
        </p:txBody>
      </p:sp>
      <p:pic>
        <p:nvPicPr>
          <p:cNvPr id="4" name="Picture 71">
            <a:extLst>
              <a:ext uri="{FF2B5EF4-FFF2-40B4-BE49-F238E27FC236}">
                <a16:creationId xmlns:a16="http://schemas.microsoft.com/office/drawing/2014/main" id="{0F96141A-AA0E-4833-8CB4-3A5ECF866A99}"/>
              </a:ext>
            </a:extLst>
          </p:cNvPr>
          <p:cNvPicPr/>
          <p:nvPr/>
        </p:nvPicPr>
        <p:blipFill>
          <a:blip r:embed="rId2"/>
          <a:stretch>
            <a:fillRect/>
          </a:stretch>
        </p:blipFill>
        <p:spPr>
          <a:xfrm>
            <a:off x="2238375" y="3740243"/>
            <a:ext cx="5641601" cy="3117757"/>
          </a:xfrm>
          <a:prstGeom prst="rect">
            <a:avLst/>
          </a:prstGeom>
        </p:spPr>
      </p:pic>
    </p:spTree>
    <p:extLst>
      <p:ext uri="{BB962C8B-B14F-4D97-AF65-F5344CB8AC3E}">
        <p14:creationId xmlns:p14="http://schemas.microsoft.com/office/powerpoint/2010/main" val="2205144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D5F0E6F-1E51-4558-9063-7ABE56291987}"/>
              </a:ext>
            </a:extLst>
          </p:cNvPr>
          <p:cNvSpPr>
            <a:spLocks noGrp="1"/>
          </p:cNvSpPr>
          <p:nvPr>
            <p:ph type="title"/>
          </p:nvPr>
        </p:nvSpPr>
        <p:spPr/>
        <p:txBody>
          <a:bodyPr/>
          <a:lstStyle/>
          <a:p>
            <a:r>
              <a:rPr lang="cs-CZ" dirty="0"/>
              <a:t>Substituční proměnné I.</a:t>
            </a:r>
          </a:p>
        </p:txBody>
      </p:sp>
      <p:sp>
        <p:nvSpPr>
          <p:cNvPr id="3" name="Zástupný symbol pro obsah 2">
            <a:extLst>
              <a:ext uri="{FF2B5EF4-FFF2-40B4-BE49-F238E27FC236}">
                <a16:creationId xmlns:a16="http://schemas.microsoft.com/office/drawing/2014/main" id="{B4A9774C-2D35-4156-A4C7-FA900A10D287}"/>
              </a:ext>
            </a:extLst>
          </p:cNvPr>
          <p:cNvSpPr>
            <a:spLocks noGrp="1"/>
          </p:cNvSpPr>
          <p:nvPr>
            <p:ph idx="1"/>
          </p:nvPr>
        </p:nvSpPr>
        <p:spPr/>
        <p:txBody>
          <a:bodyPr>
            <a:normAutofit lnSpcReduction="10000"/>
          </a:bodyPr>
          <a:lstStyle/>
          <a:p>
            <a:r>
              <a:rPr lang="cs-CZ" dirty="0"/>
              <a:t>Občas byste mohli potřebovat spustit stejný dotaz s mnoha různými hodnotami pro získání rozdílné množiny výsledků. Představte si, že máte napsat report zaměstnanců a jejich oddělení, ale dotaz smí vracet jenom data pro jedno oddělení při jeho spuštění. </a:t>
            </a:r>
          </a:p>
          <a:p>
            <a:r>
              <a:rPr lang="cs-CZ" dirty="0"/>
              <a:t>Bez nějaké substituční proměnné tento dotaz by znamenal, že se bude neustále opakovat upravený stejný výraz pouze se změnou klauzule </a:t>
            </a:r>
            <a:r>
              <a:rPr lang="cs-CZ" dirty="0" err="1"/>
              <a:t>where</a:t>
            </a:r>
            <a:r>
              <a:rPr lang="cs-CZ" dirty="0"/>
              <a:t>. </a:t>
            </a:r>
          </a:p>
          <a:p>
            <a:r>
              <a:rPr lang="cs-CZ" dirty="0"/>
              <a:t>Naštěstí </a:t>
            </a:r>
            <a:r>
              <a:rPr lang="cs-CZ" dirty="0" err="1"/>
              <a:t>oracle</a:t>
            </a:r>
            <a:r>
              <a:rPr lang="cs-CZ" dirty="0"/>
              <a:t> podporuje substituční proměnné. Pro jejich použití je všechno, co musíte udělat, nahradit pevně </a:t>
            </a:r>
            <a:r>
              <a:rPr lang="cs-CZ" dirty="0" err="1"/>
              <a:t>nakódovanou</a:t>
            </a:r>
            <a:r>
              <a:rPr lang="cs-CZ" dirty="0"/>
              <a:t> hodnotu ve vašem dotazu </a:t>
            </a:r>
            <a:r>
              <a:rPr lang="cs-CZ" b="1" dirty="0"/>
              <a:t>:</a:t>
            </a:r>
            <a:r>
              <a:rPr lang="cs-CZ" b="1" dirty="0" err="1"/>
              <a:t>pojmenovana_promenna</a:t>
            </a:r>
            <a:r>
              <a:rPr lang="cs-CZ" dirty="0"/>
              <a:t>. </a:t>
            </a:r>
            <a:r>
              <a:rPr lang="cs-CZ" dirty="0" err="1"/>
              <a:t>Oracle</a:t>
            </a:r>
            <a:r>
              <a:rPr lang="cs-CZ" dirty="0"/>
              <a:t> se pak zeptá na hodnotu, když budete dotaz spouštět.</a:t>
            </a:r>
          </a:p>
        </p:txBody>
      </p:sp>
    </p:spTree>
    <p:extLst>
      <p:ext uri="{BB962C8B-B14F-4D97-AF65-F5344CB8AC3E}">
        <p14:creationId xmlns:p14="http://schemas.microsoft.com/office/powerpoint/2010/main" val="29514800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33749EF-A325-410A-93ED-CCF5FA2279FE}"/>
              </a:ext>
            </a:extLst>
          </p:cNvPr>
          <p:cNvSpPr>
            <a:spLocks noGrp="1"/>
          </p:cNvSpPr>
          <p:nvPr>
            <p:ph type="title"/>
          </p:nvPr>
        </p:nvSpPr>
        <p:spPr/>
        <p:txBody>
          <a:bodyPr/>
          <a:lstStyle/>
          <a:p>
            <a:r>
              <a:rPr lang="cs-CZ" dirty="0"/>
              <a:t>Substituční proměnné II.</a:t>
            </a:r>
          </a:p>
        </p:txBody>
      </p:sp>
      <p:sp>
        <p:nvSpPr>
          <p:cNvPr id="3" name="Zástupný symbol pro obsah 2">
            <a:extLst>
              <a:ext uri="{FF2B5EF4-FFF2-40B4-BE49-F238E27FC236}">
                <a16:creationId xmlns:a16="http://schemas.microsoft.com/office/drawing/2014/main" id="{374D02D2-1965-4E7E-B4D3-0FB3F54A1D7C}"/>
              </a:ext>
            </a:extLst>
          </p:cNvPr>
          <p:cNvSpPr>
            <a:spLocks noGrp="1"/>
          </p:cNvSpPr>
          <p:nvPr>
            <p:ph idx="1"/>
          </p:nvPr>
        </p:nvSpPr>
        <p:spPr/>
        <p:txBody>
          <a:bodyPr/>
          <a:lstStyle/>
          <a:p>
            <a:endParaRPr lang="cs-CZ" dirty="0"/>
          </a:p>
          <a:p>
            <a:endParaRPr lang="cs-CZ" dirty="0"/>
          </a:p>
          <a:p>
            <a:endParaRPr lang="cs-CZ" dirty="0"/>
          </a:p>
          <a:p>
            <a:endParaRPr lang="cs-CZ" dirty="0"/>
          </a:p>
          <a:p>
            <a:endParaRPr lang="cs-CZ" dirty="0"/>
          </a:p>
          <a:p>
            <a:endParaRPr lang="cs-CZ" dirty="0"/>
          </a:p>
          <a:p>
            <a:r>
              <a:rPr lang="cs-CZ" dirty="0"/>
              <a:t>Po spuštění se zobrazí </a:t>
            </a:r>
            <a:r>
              <a:rPr lang="cs-CZ" b="1" dirty="0"/>
              <a:t>pop up okno</a:t>
            </a:r>
            <a:r>
              <a:rPr lang="cs-CZ" dirty="0"/>
              <a:t>, dávejte si pozor, abyste neměli aktivovaný pop-up blokátor.</a:t>
            </a:r>
          </a:p>
        </p:txBody>
      </p:sp>
      <p:pic>
        <p:nvPicPr>
          <p:cNvPr id="4" name="Picture 72">
            <a:extLst>
              <a:ext uri="{FF2B5EF4-FFF2-40B4-BE49-F238E27FC236}">
                <a16:creationId xmlns:a16="http://schemas.microsoft.com/office/drawing/2014/main" id="{3D73856A-9F2B-42AC-99B1-8B23D0849DE5}"/>
              </a:ext>
            </a:extLst>
          </p:cNvPr>
          <p:cNvPicPr/>
          <p:nvPr/>
        </p:nvPicPr>
        <p:blipFill>
          <a:blip r:embed="rId2"/>
          <a:stretch>
            <a:fillRect/>
          </a:stretch>
        </p:blipFill>
        <p:spPr>
          <a:xfrm>
            <a:off x="838200" y="1825625"/>
            <a:ext cx="7068671" cy="2907740"/>
          </a:xfrm>
          <a:prstGeom prst="rect">
            <a:avLst/>
          </a:prstGeom>
        </p:spPr>
      </p:pic>
      <p:pic>
        <p:nvPicPr>
          <p:cNvPr id="5" name="Picture 73">
            <a:extLst>
              <a:ext uri="{FF2B5EF4-FFF2-40B4-BE49-F238E27FC236}">
                <a16:creationId xmlns:a16="http://schemas.microsoft.com/office/drawing/2014/main" id="{41ACE15D-B782-46BD-AC76-8885A0494583}"/>
              </a:ext>
            </a:extLst>
          </p:cNvPr>
          <p:cNvPicPr/>
          <p:nvPr/>
        </p:nvPicPr>
        <p:blipFill>
          <a:blip r:embed="rId3"/>
          <a:stretch>
            <a:fillRect/>
          </a:stretch>
        </p:blipFill>
        <p:spPr>
          <a:xfrm flipV="1">
            <a:off x="6095999" y="5528981"/>
            <a:ext cx="4634753" cy="1113865"/>
          </a:xfrm>
          <a:prstGeom prst="rect">
            <a:avLst/>
          </a:prstGeom>
        </p:spPr>
      </p:pic>
    </p:spTree>
    <p:extLst>
      <p:ext uri="{BB962C8B-B14F-4D97-AF65-F5344CB8AC3E}">
        <p14:creationId xmlns:p14="http://schemas.microsoft.com/office/powerpoint/2010/main" val="14257387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15A0D39-6E91-48DA-A0F0-87988A5F8B6F}"/>
              </a:ext>
            </a:extLst>
          </p:cNvPr>
          <p:cNvSpPr>
            <a:spLocks noGrp="1"/>
          </p:cNvSpPr>
          <p:nvPr>
            <p:ph type="title"/>
          </p:nvPr>
        </p:nvSpPr>
        <p:spPr/>
        <p:txBody>
          <a:bodyPr/>
          <a:lstStyle/>
          <a:p>
            <a:r>
              <a:rPr lang="cs-CZ" dirty="0"/>
              <a:t>Číselné jednořádkové funkce</a:t>
            </a:r>
          </a:p>
        </p:txBody>
      </p:sp>
      <p:sp>
        <p:nvSpPr>
          <p:cNvPr id="3" name="Zástupný symbol pro obsah 2">
            <a:extLst>
              <a:ext uri="{FF2B5EF4-FFF2-40B4-BE49-F238E27FC236}">
                <a16:creationId xmlns:a16="http://schemas.microsoft.com/office/drawing/2014/main" id="{EEE3A2D8-307F-434D-882A-409C035A25AD}"/>
              </a:ext>
            </a:extLst>
          </p:cNvPr>
          <p:cNvSpPr>
            <a:spLocks noGrp="1"/>
          </p:cNvSpPr>
          <p:nvPr>
            <p:ph idx="1"/>
          </p:nvPr>
        </p:nvSpPr>
        <p:spPr/>
        <p:txBody>
          <a:bodyPr/>
          <a:lstStyle/>
          <a:p>
            <a:r>
              <a:rPr lang="cs-CZ" dirty="0"/>
              <a:t>3 číselné funkce jsou:</a:t>
            </a:r>
          </a:p>
          <a:p>
            <a:pPr lvl="1"/>
            <a:r>
              <a:rPr lang="cs-CZ" dirty="0" err="1"/>
              <a:t>Round</a:t>
            </a:r>
            <a:endParaRPr lang="cs-CZ" dirty="0"/>
          </a:p>
          <a:p>
            <a:pPr lvl="1"/>
            <a:r>
              <a:rPr lang="cs-CZ" dirty="0" err="1"/>
              <a:t>Trunc</a:t>
            </a:r>
            <a:endParaRPr lang="cs-CZ" dirty="0"/>
          </a:p>
          <a:p>
            <a:pPr lvl="1"/>
            <a:r>
              <a:rPr lang="cs-CZ" dirty="0" err="1"/>
              <a:t>Mod</a:t>
            </a:r>
            <a:endParaRPr lang="cs-CZ" dirty="0"/>
          </a:p>
        </p:txBody>
      </p:sp>
    </p:spTree>
    <p:extLst>
      <p:ext uri="{BB962C8B-B14F-4D97-AF65-F5344CB8AC3E}">
        <p14:creationId xmlns:p14="http://schemas.microsoft.com/office/powerpoint/2010/main" val="6816165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5A96727-153E-4077-A233-76479A7101E0}"/>
              </a:ext>
            </a:extLst>
          </p:cNvPr>
          <p:cNvSpPr>
            <a:spLocks noGrp="1"/>
          </p:cNvSpPr>
          <p:nvPr>
            <p:ph type="title"/>
          </p:nvPr>
        </p:nvSpPr>
        <p:spPr/>
        <p:txBody>
          <a:bodyPr/>
          <a:lstStyle/>
          <a:p>
            <a:r>
              <a:rPr lang="cs-CZ" dirty="0"/>
              <a:t>ROUND</a:t>
            </a:r>
          </a:p>
        </p:txBody>
      </p:sp>
      <p:sp>
        <p:nvSpPr>
          <p:cNvPr id="3" name="Zástupný symbol pro obsah 2">
            <a:extLst>
              <a:ext uri="{FF2B5EF4-FFF2-40B4-BE49-F238E27FC236}">
                <a16:creationId xmlns:a16="http://schemas.microsoft.com/office/drawing/2014/main" id="{F478595B-1702-4A82-829C-0E3EB01ECE55}"/>
              </a:ext>
            </a:extLst>
          </p:cNvPr>
          <p:cNvSpPr>
            <a:spLocks noGrp="1"/>
          </p:cNvSpPr>
          <p:nvPr>
            <p:ph idx="1"/>
          </p:nvPr>
        </p:nvSpPr>
        <p:spPr/>
        <p:txBody>
          <a:bodyPr/>
          <a:lstStyle/>
          <a:p>
            <a:r>
              <a:rPr lang="cs-CZ" dirty="0" err="1"/>
              <a:t>Round</a:t>
            </a:r>
            <a:r>
              <a:rPr lang="cs-CZ" dirty="0"/>
              <a:t> může být použita jak s čísly, tak s datumy, ale je hlavně používána na zaokrouhlování čísel na zadaný počet desetinných míst. Také může být použita pro zaokrouhlení čísel směrem doleva na desítkové hodnoty.</a:t>
            </a:r>
          </a:p>
          <a:p>
            <a:endParaRPr lang="cs-CZ" dirty="0"/>
          </a:p>
        </p:txBody>
      </p:sp>
      <p:pic>
        <p:nvPicPr>
          <p:cNvPr id="4" name="Picture 74">
            <a:extLst>
              <a:ext uri="{FF2B5EF4-FFF2-40B4-BE49-F238E27FC236}">
                <a16:creationId xmlns:a16="http://schemas.microsoft.com/office/drawing/2014/main" id="{FA719CB9-165F-4563-8C59-7D1AB95ED792}"/>
              </a:ext>
            </a:extLst>
          </p:cNvPr>
          <p:cNvPicPr/>
          <p:nvPr/>
        </p:nvPicPr>
        <p:blipFill>
          <a:blip r:embed="rId2"/>
          <a:stretch>
            <a:fillRect/>
          </a:stretch>
        </p:blipFill>
        <p:spPr>
          <a:xfrm>
            <a:off x="3984812" y="3215761"/>
            <a:ext cx="6638365" cy="2539580"/>
          </a:xfrm>
          <a:prstGeom prst="rect">
            <a:avLst/>
          </a:prstGeom>
        </p:spPr>
      </p:pic>
      <p:pic>
        <p:nvPicPr>
          <p:cNvPr id="5" name="Picture 75">
            <a:extLst>
              <a:ext uri="{FF2B5EF4-FFF2-40B4-BE49-F238E27FC236}">
                <a16:creationId xmlns:a16="http://schemas.microsoft.com/office/drawing/2014/main" id="{9650D9C7-50CF-4EE9-9920-95BE6943DEC6}"/>
              </a:ext>
            </a:extLst>
          </p:cNvPr>
          <p:cNvPicPr/>
          <p:nvPr/>
        </p:nvPicPr>
        <p:blipFill>
          <a:blip r:embed="rId3"/>
          <a:stretch>
            <a:fillRect/>
          </a:stretch>
        </p:blipFill>
        <p:spPr>
          <a:xfrm>
            <a:off x="838200" y="3855289"/>
            <a:ext cx="3146612" cy="555345"/>
          </a:xfrm>
          <a:prstGeom prst="rect">
            <a:avLst/>
          </a:prstGeom>
        </p:spPr>
      </p:pic>
      <p:pic>
        <p:nvPicPr>
          <p:cNvPr id="6" name="Picture 76">
            <a:extLst>
              <a:ext uri="{FF2B5EF4-FFF2-40B4-BE49-F238E27FC236}">
                <a16:creationId xmlns:a16="http://schemas.microsoft.com/office/drawing/2014/main" id="{FE15D486-5B33-4EA8-B3B4-737256405021}"/>
              </a:ext>
            </a:extLst>
          </p:cNvPr>
          <p:cNvPicPr/>
          <p:nvPr/>
        </p:nvPicPr>
        <p:blipFill>
          <a:blip r:embed="rId4"/>
          <a:stretch>
            <a:fillRect/>
          </a:stretch>
        </p:blipFill>
        <p:spPr>
          <a:xfrm>
            <a:off x="838200" y="4873436"/>
            <a:ext cx="2792506" cy="532281"/>
          </a:xfrm>
          <a:prstGeom prst="rect">
            <a:avLst/>
          </a:prstGeom>
        </p:spPr>
      </p:pic>
    </p:spTree>
    <p:extLst>
      <p:ext uri="{BB962C8B-B14F-4D97-AF65-F5344CB8AC3E}">
        <p14:creationId xmlns:p14="http://schemas.microsoft.com/office/powerpoint/2010/main" val="4186202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7B72FFB-99CD-4E4E-AA25-BDCCC98CBE02}"/>
              </a:ext>
            </a:extLst>
          </p:cNvPr>
          <p:cNvSpPr>
            <a:spLocks noGrp="1"/>
          </p:cNvSpPr>
          <p:nvPr>
            <p:ph type="title"/>
          </p:nvPr>
        </p:nvSpPr>
        <p:spPr/>
        <p:txBody>
          <a:bodyPr/>
          <a:lstStyle/>
          <a:p>
            <a:r>
              <a:rPr lang="cs-CZ" dirty="0"/>
              <a:t>TRUNC</a:t>
            </a:r>
          </a:p>
        </p:txBody>
      </p:sp>
      <p:sp>
        <p:nvSpPr>
          <p:cNvPr id="3" name="Zástupný symbol pro obsah 2">
            <a:extLst>
              <a:ext uri="{FF2B5EF4-FFF2-40B4-BE49-F238E27FC236}">
                <a16:creationId xmlns:a16="http://schemas.microsoft.com/office/drawing/2014/main" id="{EC9890F9-A997-4A92-AFA9-09A72513A9DC}"/>
              </a:ext>
            </a:extLst>
          </p:cNvPr>
          <p:cNvSpPr>
            <a:spLocks noGrp="1"/>
          </p:cNvSpPr>
          <p:nvPr>
            <p:ph idx="1"/>
          </p:nvPr>
        </p:nvSpPr>
        <p:spPr/>
        <p:txBody>
          <a:bodyPr/>
          <a:lstStyle/>
          <a:p>
            <a:r>
              <a:rPr lang="cs-CZ" dirty="0"/>
              <a:t>TRUNC je funkce, která může být použita jak s číselnými hodnotami tak datumy. Je hlavně používána pro definování sloupců, výrazu nebo hodnot na specifický počet desetinných míst. Když je použit TRUNC a není specifikován počet desetinných míst, je brán jako 0.</a:t>
            </a:r>
          </a:p>
          <a:p>
            <a:r>
              <a:rPr lang="cs-CZ" b="1" dirty="0"/>
              <a:t>TRUNC nezaokrouhluje čísla!!! </a:t>
            </a:r>
            <a:r>
              <a:rPr lang="cs-CZ" dirty="0"/>
              <a:t>Jednoduše odřízne číslo na dané pozici.</a:t>
            </a:r>
          </a:p>
        </p:txBody>
      </p:sp>
      <p:pic>
        <p:nvPicPr>
          <p:cNvPr id="4" name="Picture 77">
            <a:extLst>
              <a:ext uri="{FF2B5EF4-FFF2-40B4-BE49-F238E27FC236}">
                <a16:creationId xmlns:a16="http://schemas.microsoft.com/office/drawing/2014/main" id="{B5C6DB32-492E-4EB8-8F02-B9BA98C48B51}"/>
              </a:ext>
            </a:extLst>
          </p:cNvPr>
          <p:cNvPicPr/>
          <p:nvPr/>
        </p:nvPicPr>
        <p:blipFill>
          <a:blip r:embed="rId2"/>
          <a:stretch>
            <a:fillRect/>
          </a:stretch>
        </p:blipFill>
        <p:spPr>
          <a:xfrm>
            <a:off x="2371163" y="4767730"/>
            <a:ext cx="6369424" cy="799353"/>
          </a:xfrm>
          <a:prstGeom prst="rect">
            <a:avLst/>
          </a:prstGeom>
        </p:spPr>
      </p:pic>
    </p:spTree>
    <p:extLst>
      <p:ext uri="{BB962C8B-B14F-4D97-AF65-F5344CB8AC3E}">
        <p14:creationId xmlns:p14="http://schemas.microsoft.com/office/powerpoint/2010/main" val="17229681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6991237-E409-470F-9D2C-867BBD680C7C}"/>
              </a:ext>
            </a:extLst>
          </p:cNvPr>
          <p:cNvSpPr>
            <a:spLocks noGrp="1"/>
          </p:cNvSpPr>
          <p:nvPr>
            <p:ph type="title"/>
          </p:nvPr>
        </p:nvSpPr>
        <p:spPr/>
        <p:txBody>
          <a:bodyPr/>
          <a:lstStyle/>
          <a:p>
            <a:r>
              <a:rPr lang="cs-CZ" dirty="0"/>
              <a:t>MOD</a:t>
            </a:r>
          </a:p>
        </p:txBody>
      </p:sp>
      <p:sp>
        <p:nvSpPr>
          <p:cNvPr id="3" name="Zástupný symbol pro obsah 2">
            <a:extLst>
              <a:ext uri="{FF2B5EF4-FFF2-40B4-BE49-F238E27FC236}">
                <a16:creationId xmlns:a16="http://schemas.microsoft.com/office/drawing/2014/main" id="{7D9B5EC4-3C05-474B-ACE2-781118498EC2}"/>
              </a:ext>
            </a:extLst>
          </p:cNvPr>
          <p:cNvSpPr>
            <a:spLocks noGrp="1"/>
          </p:cNvSpPr>
          <p:nvPr>
            <p:ph idx="1"/>
          </p:nvPr>
        </p:nvSpPr>
        <p:spPr/>
        <p:txBody>
          <a:bodyPr/>
          <a:lstStyle/>
          <a:p>
            <a:r>
              <a:rPr lang="cs-CZ" dirty="0"/>
              <a:t>MOD slouží k navrácení zbytků po celočíselném dělení. Tedy 5 MOD 2 vrátí hodnotu 1.</a:t>
            </a:r>
          </a:p>
        </p:txBody>
      </p:sp>
      <p:pic>
        <p:nvPicPr>
          <p:cNvPr id="4" name="Picture 78">
            <a:extLst>
              <a:ext uri="{FF2B5EF4-FFF2-40B4-BE49-F238E27FC236}">
                <a16:creationId xmlns:a16="http://schemas.microsoft.com/office/drawing/2014/main" id="{830320F9-71ED-4F53-94F6-F34CC733D76D}"/>
              </a:ext>
            </a:extLst>
          </p:cNvPr>
          <p:cNvPicPr/>
          <p:nvPr/>
        </p:nvPicPr>
        <p:blipFill>
          <a:blip r:embed="rId2"/>
          <a:stretch>
            <a:fillRect/>
          </a:stretch>
        </p:blipFill>
        <p:spPr>
          <a:xfrm>
            <a:off x="1156726" y="2864503"/>
            <a:ext cx="6104686" cy="2998415"/>
          </a:xfrm>
          <a:prstGeom prst="rect">
            <a:avLst/>
          </a:prstGeom>
        </p:spPr>
      </p:pic>
    </p:spTree>
    <p:extLst>
      <p:ext uri="{BB962C8B-B14F-4D97-AF65-F5344CB8AC3E}">
        <p14:creationId xmlns:p14="http://schemas.microsoft.com/office/powerpoint/2010/main" val="9841149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2A5F734-6DC3-4D7E-888A-70A89283F46E}"/>
              </a:ext>
            </a:extLst>
          </p:cNvPr>
          <p:cNvSpPr>
            <a:spLocks noGrp="1"/>
          </p:cNvSpPr>
          <p:nvPr>
            <p:ph type="title"/>
          </p:nvPr>
        </p:nvSpPr>
        <p:spPr/>
        <p:txBody>
          <a:bodyPr/>
          <a:lstStyle/>
          <a:p>
            <a:r>
              <a:rPr lang="cs-CZ" dirty="0"/>
              <a:t>Funkce pro práci s datumy</a:t>
            </a:r>
          </a:p>
        </p:txBody>
      </p:sp>
      <p:sp>
        <p:nvSpPr>
          <p:cNvPr id="3" name="Zástupný symbol pro obsah 2">
            <a:extLst>
              <a:ext uri="{FF2B5EF4-FFF2-40B4-BE49-F238E27FC236}">
                <a16:creationId xmlns:a16="http://schemas.microsoft.com/office/drawing/2014/main" id="{C648055C-8173-4118-9B72-8270149356AE}"/>
              </a:ext>
            </a:extLst>
          </p:cNvPr>
          <p:cNvSpPr>
            <a:spLocks noGrp="1"/>
          </p:cNvSpPr>
          <p:nvPr>
            <p:ph idx="1"/>
          </p:nvPr>
        </p:nvSpPr>
        <p:spPr/>
        <p:txBody>
          <a:bodyPr/>
          <a:lstStyle/>
          <a:p>
            <a:r>
              <a:rPr lang="cs-CZ" dirty="0"/>
              <a:t>Jak jsou datumy zobrazovány</a:t>
            </a:r>
          </a:p>
          <a:p>
            <a:pPr lvl="1"/>
            <a:r>
              <a:rPr lang="cs-CZ" dirty="0"/>
              <a:t>Výchozí nastavení zobrazení data je</a:t>
            </a:r>
          </a:p>
          <a:p>
            <a:pPr lvl="1"/>
            <a:r>
              <a:rPr lang="cs-CZ" b="1" dirty="0"/>
              <a:t>DD-Mon-YYYY</a:t>
            </a:r>
            <a:r>
              <a:rPr lang="cs-CZ" dirty="0"/>
              <a:t> tedy například </a:t>
            </a:r>
            <a:r>
              <a:rPr lang="cs-CZ" b="1" dirty="0"/>
              <a:t>02-Dec-2014</a:t>
            </a:r>
          </a:p>
          <a:p>
            <a:r>
              <a:rPr lang="cs-CZ" dirty="0"/>
              <a:t>Nicméně </a:t>
            </a:r>
            <a:r>
              <a:rPr lang="cs-CZ" dirty="0" err="1"/>
              <a:t>oracle</a:t>
            </a:r>
            <a:r>
              <a:rPr lang="cs-CZ" dirty="0"/>
              <a:t> interně ukládá tyto hodnoty jako čísla. Datumy jsou pro </a:t>
            </a:r>
            <a:r>
              <a:rPr lang="cs-CZ" dirty="0" err="1"/>
              <a:t>oracle</a:t>
            </a:r>
            <a:r>
              <a:rPr lang="cs-CZ" dirty="0"/>
              <a:t> platné v rozmezí 1.1.4712 před </a:t>
            </a:r>
            <a:r>
              <a:rPr lang="cs-CZ" dirty="0" err="1"/>
              <a:t>kristem</a:t>
            </a:r>
            <a:r>
              <a:rPr lang="cs-CZ" dirty="0"/>
              <a:t> a 31.12 po </a:t>
            </a:r>
            <a:r>
              <a:rPr lang="cs-CZ" dirty="0" err="1"/>
              <a:t>kristu</a:t>
            </a:r>
            <a:r>
              <a:rPr lang="cs-CZ" dirty="0"/>
              <a:t> =&gt; to reprezentuje, jaké množství dat můžete uložit v databázi </a:t>
            </a:r>
            <a:r>
              <a:rPr lang="cs-CZ" dirty="0" err="1"/>
              <a:t>oracle</a:t>
            </a:r>
            <a:endParaRPr lang="cs-CZ" dirty="0"/>
          </a:p>
          <a:p>
            <a:endParaRPr lang="cs-CZ" dirty="0"/>
          </a:p>
        </p:txBody>
      </p:sp>
    </p:spTree>
    <p:extLst>
      <p:ext uri="{BB962C8B-B14F-4D97-AF65-F5344CB8AC3E}">
        <p14:creationId xmlns:p14="http://schemas.microsoft.com/office/powerpoint/2010/main" val="39943434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85AFC0C-6D76-46B8-B53D-197312D2E09D}"/>
              </a:ext>
            </a:extLst>
          </p:cNvPr>
          <p:cNvSpPr>
            <a:spLocks noGrp="1"/>
          </p:cNvSpPr>
          <p:nvPr>
            <p:ph type="title"/>
          </p:nvPr>
        </p:nvSpPr>
        <p:spPr/>
        <p:txBody>
          <a:bodyPr/>
          <a:lstStyle/>
          <a:p>
            <a:r>
              <a:rPr lang="cs-CZ" dirty="0"/>
              <a:t>SYSDATE</a:t>
            </a:r>
          </a:p>
        </p:txBody>
      </p:sp>
      <p:sp>
        <p:nvSpPr>
          <p:cNvPr id="3" name="Zástupný symbol pro obsah 2">
            <a:extLst>
              <a:ext uri="{FF2B5EF4-FFF2-40B4-BE49-F238E27FC236}">
                <a16:creationId xmlns:a16="http://schemas.microsoft.com/office/drawing/2014/main" id="{4FD68E90-EA83-420D-BB92-959E24C71920}"/>
              </a:ext>
            </a:extLst>
          </p:cNvPr>
          <p:cNvSpPr>
            <a:spLocks noGrp="1"/>
          </p:cNvSpPr>
          <p:nvPr>
            <p:ph idx="1"/>
          </p:nvPr>
        </p:nvSpPr>
        <p:spPr/>
        <p:txBody>
          <a:bodyPr/>
          <a:lstStyle/>
          <a:p>
            <a:r>
              <a:rPr lang="cs-CZ" dirty="0"/>
              <a:t>Je datumová funkce, která vrací aktuální datum a čas na databázovém serveru.</a:t>
            </a:r>
          </a:p>
        </p:txBody>
      </p:sp>
      <p:pic>
        <p:nvPicPr>
          <p:cNvPr id="4" name="Picture 79">
            <a:extLst>
              <a:ext uri="{FF2B5EF4-FFF2-40B4-BE49-F238E27FC236}">
                <a16:creationId xmlns:a16="http://schemas.microsoft.com/office/drawing/2014/main" id="{F4FA588D-76E9-4379-B352-CB7F85F0CB76}"/>
              </a:ext>
            </a:extLst>
          </p:cNvPr>
          <p:cNvPicPr/>
          <p:nvPr/>
        </p:nvPicPr>
        <p:blipFill>
          <a:blip r:embed="rId2"/>
          <a:stretch>
            <a:fillRect/>
          </a:stretch>
        </p:blipFill>
        <p:spPr>
          <a:xfrm>
            <a:off x="1186983" y="2946866"/>
            <a:ext cx="4837299" cy="1436875"/>
          </a:xfrm>
          <a:prstGeom prst="rect">
            <a:avLst/>
          </a:prstGeom>
        </p:spPr>
      </p:pic>
    </p:spTree>
    <p:extLst>
      <p:ext uri="{BB962C8B-B14F-4D97-AF65-F5344CB8AC3E}">
        <p14:creationId xmlns:p14="http://schemas.microsoft.com/office/powerpoint/2010/main" val="21586663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25FF24B-736F-40A9-B82D-BD726BCDD933}"/>
              </a:ext>
            </a:extLst>
          </p:cNvPr>
          <p:cNvSpPr>
            <a:spLocks noGrp="1"/>
          </p:cNvSpPr>
          <p:nvPr>
            <p:ph type="title"/>
          </p:nvPr>
        </p:nvSpPr>
        <p:spPr/>
        <p:txBody>
          <a:bodyPr/>
          <a:lstStyle/>
          <a:p>
            <a:r>
              <a:rPr lang="cs-CZ" dirty="0"/>
              <a:t>Datový typ DATE</a:t>
            </a:r>
          </a:p>
        </p:txBody>
      </p:sp>
      <p:sp>
        <p:nvSpPr>
          <p:cNvPr id="3" name="Zástupný symbol pro obsah 2">
            <a:extLst>
              <a:ext uri="{FF2B5EF4-FFF2-40B4-BE49-F238E27FC236}">
                <a16:creationId xmlns:a16="http://schemas.microsoft.com/office/drawing/2014/main" id="{A5EA82BB-3916-4357-83A7-FC6D6F025C47}"/>
              </a:ext>
            </a:extLst>
          </p:cNvPr>
          <p:cNvSpPr>
            <a:spLocks noGrp="1"/>
          </p:cNvSpPr>
          <p:nvPr>
            <p:ph idx="1"/>
          </p:nvPr>
        </p:nvSpPr>
        <p:spPr/>
        <p:txBody>
          <a:bodyPr/>
          <a:lstStyle/>
          <a:p>
            <a:r>
              <a:rPr lang="cs-CZ" dirty="0" err="1"/>
              <a:t>Date</a:t>
            </a:r>
            <a:r>
              <a:rPr lang="cs-CZ" dirty="0"/>
              <a:t> vždy ukládá informaci o roce jako 4číselnou hodnotu, 2 čísla pro století a 2 čísla pro rok. Například roky 1996 nebo 2004 neukládá databáze jako 96 a 04. dříve se století na výstupu nezobrazovalo, v dnešní verzi je již zobrazováno.</a:t>
            </a:r>
          </a:p>
        </p:txBody>
      </p:sp>
      <p:pic>
        <p:nvPicPr>
          <p:cNvPr id="4" name="Picture 80">
            <a:extLst>
              <a:ext uri="{FF2B5EF4-FFF2-40B4-BE49-F238E27FC236}">
                <a16:creationId xmlns:a16="http://schemas.microsoft.com/office/drawing/2014/main" id="{4475AE6B-2CB9-4F50-B661-7133B47C36E6}"/>
              </a:ext>
            </a:extLst>
          </p:cNvPr>
          <p:cNvPicPr/>
          <p:nvPr/>
        </p:nvPicPr>
        <p:blipFill>
          <a:blip r:embed="rId3"/>
          <a:stretch>
            <a:fillRect/>
          </a:stretch>
        </p:blipFill>
        <p:spPr>
          <a:xfrm>
            <a:off x="2768973" y="3739122"/>
            <a:ext cx="6106085" cy="2876831"/>
          </a:xfrm>
          <a:prstGeom prst="rect">
            <a:avLst/>
          </a:prstGeom>
        </p:spPr>
      </p:pic>
    </p:spTree>
    <p:extLst>
      <p:ext uri="{BB962C8B-B14F-4D97-AF65-F5344CB8AC3E}">
        <p14:creationId xmlns:p14="http://schemas.microsoft.com/office/powerpoint/2010/main" val="3547593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7325A21-8BFE-4C04-BC50-55A335E17F6E}"/>
              </a:ext>
            </a:extLst>
          </p:cNvPr>
          <p:cNvSpPr>
            <a:spLocks noGrp="1"/>
          </p:cNvSpPr>
          <p:nvPr>
            <p:ph type="title"/>
          </p:nvPr>
        </p:nvSpPr>
        <p:spPr/>
        <p:txBody>
          <a:bodyPr/>
          <a:lstStyle/>
          <a:p>
            <a:r>
              <a:rPr lang="cs-CZ" dirty="0"/>
              <a:t>Funkce pro datum</a:t>
            </a:r>
          </a:p>
        </p:txBody>
      </p:sp>
      <p:sp>
        <p:nvSpPr>
          <p:cNvPr id="3" name="Zástupný symbol pro obsah 2">
            <a:extLst>
              <a:ext uri="{FF2B5EF4-FFF2-40B4-BE49-F238E27FC236}">
                <a16:creationId xmlns:a16="http://schemas.microsoft.com/office/drawing/2014/main" id="{330103B6-03B1-4039-A597-BFAE09C47B35}"/>
              </a:ext>
            </a:extLst>
          </p:cNvPr>
          <p:cNvSpPr>
            <a:spLocks noGrp="1"/>
          </p:cNvSpPr>
          <p:nvPr>
            <p:ph idx="1"/>
          </p:nvPr>
        </p:nvSpPr>
        <p:spPr/>
        <p:txBody>
          <a:bodyPr/>
          <a:lstStyle/>
          <a:p>
            <a:r>
              <a:rPr lang="cs-CZ" dirty="0"/>
              <a:t>Funkce pro práci s datumem, všechny vrací zpět datu mimo funkce MONTHS_BETWEEN, která vrací číselnou hodnotu.</a:t>
            </a:r>
          </a:p>
        </p:txBody>
      </p:sp>
      <p:pic>
        <p:nvPicPr>
          <p:cNvPr id="4" name="Picture 81">
            <a:extLst>
              <a:ext uri="{FF2B5EF4-FFF2-40B4-BE49-F238E27FC236}">
                <a16:creationId xmlns:a16="http://schemas.microsoft.com/office/drawing/2014/main" id="{D2B900C8-178D-4944-B111-A92C404E8C0F}"/>
              </a:ext>
            </a:extLst>
          </p:cNvPr>
          <p:cNvPicPr/>
          <p:nvPr/>
        </p:nvPicPr>
        <p:blipFill>
          <a:blip r:embed="rId2"/>
          <a:stretch>
            <a:fillRect/>
          </a:stretch>
        </p:blipFill>
        <p:spPr>
          <a:xfrm>
            <a:off x="1207433" y="3006212"/>
            <a:ext cx="9523319" cy="3502164"/>
          </a:xfrm>
          <a:prstGeom prst="rect">
            <a:avLst/>
          </a:prstGeom>
        </p:spPr>
      </p:pic>
    </p:spTree>
    <p:extLst>
      <p:ext uri="{BB962C8B-B14F-4D97-AF65-F5344CB8AC3E}">
        <p14:creationId xmlns:p14="http://schemas.microsoft.com/office/powerpoint/2010/main" val="20070430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B2F8B01-AE23-4D18-B0F5-ED900DC7D10D}"/>
              </a:ext>
            </a:extLst>
          </p:cNvPr>
          <p:cNvSpPr>
            <a:spLocks noGrp="1"/>
          </p:cNvSpPr>
          <p:nvPr>
            <p:ph type="title"/>
          </p:nvPr>
        </p:nvSpPr>
        <p:spPr/>
        <p:txBody>
          <a:bodyPr/>
          <a:lstStyle/>
          <a:p>
            <a:r>
              <a:rPr lang="cs-CZ" dirty="0"/>
              <a:t>MONTHS_BETWEEN</a:t>
            </a:r>
          </a:p>
        </p:txBody>
      </p:sp>
      <p:sp>
        <p:nvSpPr>
          <p:cNvPr id="3" name="Zástupný symbol pro obsah 2">
            <a:extLst>
              <a:ext uri="{FF2B5EF4-FFF2-40B4-BE49-F238E27FC236}">
                <a16:creationId xmlns:a16="http://schemas.microsoft.com/office/drawing/2014/main" id="{535A82D2-F2D4-4AFD-9828-5495D33A8481}"/>
              </a:ext>
            </a:extLst>
          </p:cNvPr>
          <p:cNvSpPr>
            <a:spLocks noGrp="1"/>
          </p:cNvSpPr>
          <p:nvPr>
            <p:ph idx="1"/>
          </p:nvPr>
        </p:nvSpPr>
        <p:spPr/>
        <p:txBody>
          <a:bodyPr/>
          <a:lstStyle/>
          <a:p>
            <a:endParaRPr lang="cs-CZ" dirty="0"/>
          </a:p>
        </p:txBody>
      </p:sp>
      <p:pic>
        <p:nvPicPr>
          <p:cNvPr id="4" name="Picture 82">
            <a:extLst>
              <a:ext uri="{FF2B5EF4-FFF2-40B4-BE49-F238E27FC236}">
                <a16:creationId xmlns:a16="http://schemas.microsoft.com/office/drawing/2014/main" id="{E11C2C05-36A0-4129-B5E7-22C925DBBA60}"/>
              </a:ext>
            </a:extLst>
          </p:cNvPr>
          <p:cNvPicPr/>
          <p:nvPr/>
        </p:nvPicPr>
        <p:blipFill>
          <a:blip r:embed="rId2"/>
          <a:stretch>
            <a:fillRect/>
          </a:stretch>
        </p:blipFill>
        <p:spPr>
          <a:xfrm>
            <a:off x="1557056" y="1825625"/>
            <a:ext cx="7129743" cy="2477434"/>
          </a:xfrm>
          <a:prstGeom prst="rect">
            <a:avLst/>
          </a:prstGeom>
        </p:spPr>
      </p:pic>
    </p:spTree>
    <p:extLst>
      <p:ext uri="{BB962C8B-B14F-4D97-AF65-F5344CB8AC3E}">
        <p14:creationId xmlns:p14="http://schemas.microsoft.com/office/powerpoint/2010/main" val="18237097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117CF92-4341-4D7A-9D13-F1EC9D85D507}"/>
              </a:ext>
            </a:extLst>
          </p:cNvPr>
          <p:cNvSpPr>
            <a:spLocks noGrp="1"/>
          </p:cNvSpPr>
          <p:nvPr>
            <p:ph type="title"/>
          </p:nvPr>
        </p:nvSpPr>
        <p:spPr/>
        <p:txBody>
          <a:bodyPr/>
          <a:lstStyle/>
          <a:p>
            <a:r>
              <a:rPr lang="cs-CZ" dirty="0"/>
              <a:t>ADD_MONTHS</a:t>
            </a:r>
          </a:p>
        </p:txBody>
      </p:sp>
      <p:sp>
        <p:nvSpPr>
          <p:cNvPr id="3" name="Zástupný symbol pro obsah 2">
            <a:extLst>
              <a:ext uri="{FF2B5EF4-FFF2-40B4-BE49-F238E27FC236}">
                <a16:creationId xmlns:a16="http://schemas.microsoft.com/office/drawing/2014/main" id="{CCD9B676-F707-48CE-9923-A28401EAE1F5}"/>
              </a:ext>
            </a:extLst>
          </p:cNvPr>
          <p:cNvSpPr>
            <a:spLocks noGrp="1"/>
          </p:cNvSpPr>
          <p:nvPr>
            <p:ph idx="1"/>
          </p:nvPr>
        </p:nvSpPr>
        <p:spPr/>
        <p:txBody>
          <a:bodyPr/>
          <a:lstStyle/>
          <a:p>
            <a:r>
              <a:rPr lang="cs-CZ" dirty="0"/>
              <a:t>Přidává k datumu zadaný počet měsíců.</a:t>
            </a:r>
          </a:p>
        </p:txBody>
      </p:sp>
      <p:pic>
        <p:nvPicPr>
          <p:cNvPr id="4" name="Picture 83">
            <a:extLst>
              <a:ext uri="{FF2B5EF4-FFF2-40B4-BE49-F238E27FC236}">
                <a16:creationId xmlns:a16="http://schemas.microsoft.com/office/drawing/2014/main" id="{384494C0-CC76-414F-9A73-0FA7E6B6B18E}"/>
              </a:ext>
            </a:extLst>
          </p:cNvPr>
          <p:cNvPicPr/>
          <p:nvPr/>
        </p:nvPicPr>
        <p:blipFill>
          <a:blip r:embed="rId2"/>
          <a:stretch>
            <a:fillRect/>
          </a:stretch>
        </p:blipFill>
        <p:spPr>
          <a:xfrm>
            <a:off x="1096775" y="2690533"/>
            <a:ext cx="7616919" cy="1558738"/>
          </a:xfrm>
          <a:prstGeom prst="rect">
            <a:avLst/>
          </a:prstGeom>
        </p:spPr>
      </p:pic>
    </p:spTree>
    <p:extLst>
      <p:ext uri="{BB962C8B-B14F-4D97-AF65-F5344CB8AC3E}">
        <p14:creationId xmlns:p14="http://schemas.microsoft.com/office/powerpoint/2010/main" val="29301123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144D1DB-45F2-4514-A36A-9CACAAF209B6}"/>
              </a:ext>
            </a:extLst>
          </p:cNvPr>
          <p:cNvSpPr>
            <a:spLocks noGrp="1"/>
          </p:cNvSpPr>
          <p:nvPr>
            <p:ph type="title"/>
          </p:nvPr>
        </p:nvSpPr>
        <p:spPr/>
        <p:txBody>
          <a:bodyPr/>
          <a:lstStyle/>
          <a:p>
            <a:r>
              <a:rPr lang="cs-CZ" dirty="0"/>
              <a:t>NEXT_DAY</a:t>
            </a:r>
          </a:p>
        </p:txBody>
      </p:sp>
      <p:sp>
        <p:nvSpPr>
          <p:cNvPr id="3" name="Zástupný symbol pro obsah 2">
            <a:extLst>
              <a:ext uri="{FF2B5EF4-FFF2-40B4-BE49-F238E27FC236}">
                <a16:creationId xmlns:a16="http://schemas.microsoft.com/office/drawing/2014/main" id="{EAD73442-A140-4256-83D3-142804108D00}"/>
              </a:ext>
            </a:extLst>
          </p:cNvPr>
          <p:cNvSpPr>
            <a:spLocks noGrp="1"/>
          </p:cNvSpPr>
          <p:nvPr>
            <p:ph idx="1"/>
          </p:nvPr>
        </p:nvSpPr>
        <p:spPr/>
        <p:txBody>
          <a:bodyPr/>
          <a:lstStyle/>
          <a:p>
            <a:r>
              <a:rPr lang="cs-CZ" dirty="0"/>
              <a:t>NEXT_DAY – má dva argumenty, prvním je datum, od kterého nás zajímá další den týdne, například zde je zobrazeno datum další soboty po aktuálním datumu.</a:t>
            </a:r>
          </a:p>
        </p:txBody>
      </p:sp>
      <p:pic>
        <p:nvPicPr>
          <p:cNvPr id="4" name="Picture 84">
            <a:extLst>
              <a:ext uri="{FF2B5EF4-FFF2-40B4-BE49-F238E27FC236}">
                <a16:creationId xmlns:a16="http://schemas.microsoft.com/office/drawing/2014/main" id="{FC122397-3532-4234-B7FC-6C25F96C96AE}"/>
              </a:ext>
            </a:extLst>
          </p:cNvPr>
          <p:cNvPicPr/>
          <p:nvPr/>
        </p:nvPicPr>
        <p:blipFill>
          <a:blip r:embed="rId2"/>
          <a:stretch>
            <a:fillRect/>
          </a:stretch>
        </p:blipFill>
        <p:spPr>
          <a:xfrm>
            <a:off x="2038069" y="3577431"/>
            <a:ext cx="6971460" cy="1935863"/>
          </a:xfrm>
          <a:prstGeom prst="rect">
            <a:avLst/>
          </a:prstGeom>
        </p:spPr>
      </p:pic>
    </p:spTree>
    <p:extLst>
      <p:ext uri="{BB962C8B-B14F-4D97-AF65-F5344CB8AC3E}">
        <p14:creationId xmlns:p14="http://schemas.microsoft.com/office/powerpoint/2010/main" val="5545668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5E072BE-2796-4B5E-A8B4-63B745334845}"/>
              </a:ext>
            </a:extLst>
          </p:cNvPr>
          <p:cNvSpPr>
            <a:spLocks noGrp="1"/>
          </p:cNvSpPr>
          <p:nvPr>
            <p:ph type="title"/>
          </p:nvPr>
        </p:nvSpPr>
        <p:spPr/>
        <p:txBody>
          <a:bodyPr/>
          <a:lstStyle/>
          <a:p>
            <a:r>
              <a:rPr lang="cs-CZ" dirty="0"/>
              <a:t>LAST_DAY</a:t>
            </a:r>
          </a:p>
        </p:txBody>
      </p:sp>
      <p:sp>
        <p:nvSpPr>
          <p:cNvPr id="3" name="Zástupný symbol pro obsah 2">
            <a:extLst>
              <a:ext uri="{FF2B5EF4-FFF2-40B4-BE49-F238E27FC236}">
                <a16:creationId xmlns:a16="http://schemas.microsoft.com/office/drawing/2014/main" id="{0E308B79-EC85-4DC4-8C0A-8FE4E87AF52B}"/>
              </a:ext>
            </a:extLst>
          </p:cNvPr>
          <p:cNvSpPr>
            <a:spLocks noGrp="1"/>
          </p:cNvSpPr>
          <p:nvPr>
            <p:ph idx="1"/>
          </p:nvPr>
        </p:nvSpPr>
        <p:spPr>
          <a:xfrm>
            <a:off x="838200" y="1825625"/>
            <a:ext cx="10515600" cy="4351338"/>
          </a:xfrm>
        </p:spPr>
        <p:txBody>
          <a:bodyPr/>
          <a:lstStyle/>
          <a:p>
            <a:r>
              <a:rPr lang="cs-CZ" dirty="0"/>
              <a:t>LAST_DAY – vrací poslední den měsíce.</a:t>
            </a:r>
          </a:p>
        </p:txBody>
      </p:sp>
      <p:pic>
        <p:nvPicPr>
          <p:cNvPr id="4" name="Picture 85">
            <a:extLst>
              <a:ext uri="{FF2B5EF4-FFF2-40B4-BE49-F238E27FC236}">
                <a16:creationId xmlns:a16="http://schemas.microsoft.com/office/drawing/2014/main" id="{B140A907-4C21-4D47-9D55-6A9E32F473F2}"/>
              </a:ext>
            </a:extLst>
          </p:cNvPr>
          <p:cNvPicPr/>
          <p:nvPr/>
        </p:nvPicPr>
        <p:blipFill>
          <a:blip r:embed="rId2"/>
          <a:stretch>
            <a:fillRect/>
          </a:stretch>
        </p:blipFill>
        <p:spPr>
          <a:xfrm>
            <a:off x="838200" y="2586037"/>
            <a:ext cx="6880412" cy="1474975"/>
          </a:xfrm>
          <a:prstGeom prst="rect">
            <a:avLst/>
          </a:prstGeom>
        </p:spPr>
      </p:pic>
    </p:spTree>
    <p:extLst>
      <p:ext uri="{BB962C8B-B14F-4D97-AF65-F5344CB8AC3E}">
        <p14:creationId xmlns:p14="http://schemas.microsoft.com/office/powerpoint/2010/main" val="17795357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FB07701-7098-46BF-935D-7BF5ADF3ADA4}"/>
              </a:ext>
            </a:extLst>
          </p:cNvPr>
          <p:cNvSpPr>
            <a:spLocks noGrp="1"/>
          </p:cNvSpPr>
          <p:nvPr>
            <p:ph type="title"/>
          </p:nvPr>
        </p:nvSpPr>
        <p:spPr/>
        <p:txBody>
          <a:bodyPr/>
          <a:lstStyle/>
          <a:p>
            <a:r>
              <a:rPr lang="cs-CZ" dirty="0"/>
              <a:t>ROUND</a:t>
            </a:r>
          </a:p>
        </p:txBody>
      </p:sp>
      <p:sp>
        <p:nvSpPr>
          <p:cNvPr id="3" name="Zástupný symbol pro obsah 2">
            <a:extLst>
              <a:ext uri="{FF2B5EF4-FFF2-40B4-BE49-F238E27FC236}">
                <a16:creationId xmlns:a16="http://schemas.microsoft.com/office/drawing/2014/main" id="{45124D43-FD4C-4F76-A591-63FA5E21340C}"/>
              </a:ext>
            </a:extLst>
          </p:cNvPr>
          <p:cNvSpPr>
            <a:spLocks noGrp="1"/>
          </p:cNvSpPr>
          <p:nvPr>
            <p:ph idx="1"/>
          </p:nvPr>
        </p:nvSpPr>
        <p:spPr/>
        <p:txBody>
          <a:bodyPr/>
          <a:lstStyle/>
          <a:p>
            <a:r>
              <a:rPr lang="cs-CZ" dirty="0"/>
              <a:t>ROUND – vrací datum zaokrouhlený na jednotky definované druhým argumentem.</a:t>
            </a:r>
          </a:p>
        </p:txBody>
      </p:sp>
      <p:pic>
        <p:nvPicPr>
          <p:cNvPr id="4" name="Picture 86">
            <a:extLst>
              <a:ext uri="{FF2B5EF4-FFF2-40B4-BE49-F238E27FC236}">
                <a16:creationId xmlns:a16="http://schemas.microsoft.com/office/drawing/2014/main" id="{F016475C-4251-498E-8BE0-9010392AC756}"/>
              </a:ext>
            </a:extLst>
          </p:cNvPr>
          <p:cNvPicPr/>
          <p:nvPr/>
        </p:nvPicPr>
        <p:blipFill>
          <a:blip r:embed="rId2"/>
          <a:stretch>
            <a:fillRect/>
          </a:stretch>
        </p:blipFill>
        <p:spPr>
          <a:xfrm>
            <a:off x="3395382" y="2362993"/>
            <a:ext cx="7227793" cy="4172277"/>
          </a:xfrm>
          <a:prstGeom prst="rect">
            <a:avLst/>
          </a:prstGeom>
        </p:spPr>
      </p:pic>
    </p:spTree>
    <p:extLst>
      <p:ext uri="{BB962C8B-B14F-4D97-AF65-F5344CB8AC3E}">
        <p14:creationId xmlns:p14="http://schemas.microsoft.com/office/powerpoint/2010/main" val="18444892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7FAAD50-4901-45A1-BA1E-E767B554438F}"/>
              </a:ext>
            </a:extLst>
          </p:cNvPr>
          <p:cNvSpPr>
            <a:spLocks noGrp="1"/>
          </p:cNvSpPr>
          <p:nvPr>
            <p:ph type="title"/>
          </p:nvPr>
        </p:nvSpPr>
        <p:spPr/>
        <p:txBody>
          <a:bodyPr/>
          <a:lstStyle/>
          <a:p>
            <a:r>
              <a:rPr lang="cs-CZ" dirty="0"/>
              <a:t>TRUNC</a:t>
            </a:r>
          </a:p>
        </p:txBody>
      </p:sp>
      <p:sp>
        <p:nvSpPr>
          <p:cNvPr id="3" name="Zástupný symbol pro obsah 2">
            <a:extLst>
              <a:ext uri="{FF2B5EF4-FFF2-40B4-BE49-F238E27FC236}">
                <a16:creationId xmlns:a16="http://schemas.microsoft.com/office/drawing/2014/main" id="{4A3B3228-7129-487D-B90B-035E3133C3FA}"/>
              </a:ext>
            </a:extLst>
          </p:cNvPr>
          <p:cNvSpPr>
            <a:spLocks noGrp="1"/>
          </p:cNvSpPr>
          <p:nvPr>
            <p:ph idx="1"/>
          </p:nvPr>
        </p:nvSpPr>
        <p:spPr/>
        <p:txBody>
          <a:bodyPr/>
          <a:lstStyle/>
          <a:p>
            <a:r>
              <a:rPr lang="cs-CZ" dirty="0"/>
              <a:t>TRUNC – funguje obdobně jako předchozí, ale nezaokrouhluje, pouze ořezává.</a:t>
            </a:r>
          </a:p>
        </p:txBody>
      </p:sp>
      <p:pic>
        <p:nvPicPr>
          <p:cNvPr id="4" name="Picture 87">
            <a:extLst>
              <a:ext uri="{FF2B5EF4-FFF2-40B4-BE49-F238E27FC236}">
                <a16:creationId xmlns:a16="http://schemas.microsoft.com/office/drawing/2014/main" id="{0B51D217-D530-4DAE-9B9F-2841F529377F}"/>
              </a:ext>
            </a:extLst>
          </p:cNvPr>
          <p:cNvPicPr/>
          <p:nvPr/>
        </p:nvPicPr>
        <p:blipFill>
          <a:blip r:embed="rId2"/>
          <a:stretch>
            <a:fillRect/>
          </a:stretch>
        </p:blipFill>
        <p:spPr>
          <a:xfrm>
            <a:off x="2559424" y="2593696"/>
            <a:ext cx="7660342" cy="3718204"/>
          </a:xfrm>
          <a:prstGeom prst="rect">
            <a:avLst/>
          </a:prstGeom>
        </p:spPr>
      </p:pic>
    </p:spTree>
    <p:extLst>
      <p:ext uri="{BB962C8B-B14F-4D97-AF65-F5344CB8AC3E}">
        <p14:creationId xmlns:p14="http://schemas.microsoft.com/office/powerpoint/2010/main" val="26152082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D1D3CD7-267C-41B8-9039-9FA7A7E90A46}"/>
              </a:ext>
            </a:extLst>
          </p:cNvPr>
          <p:cNvSpPr>
            <a:spLocks noGrp="1"/>
          </p:cNvSpPr>
          <p:nvPr>
            <p:ph type="title"/>
          </p:nvPr>
        </p:nvSpPr>
        <p:spPr/>
        <p:txBody>
          <a:bodyPr/>
          <a:lstStyle/>
          <a:p>
            <a:r>
              <a:rPr lang="cs-CZ" dirty="0"/>
              <a:t>Příklad</a:t>
            </a:r>
          </a:p>
        </p:txBody>
      </p:sp>
      <p:sp>
        <p:nvSpPr>
          <p:cNvPr id="3" name="Zástupný symbol pro obsah 2">
            <a:extLst>
              <a:ext uri="{FF2B5EF4-FFF2-40B4-BE49-F238E27FC236}">
                <a16:creationId xmlns:a16="http://schemas.microsoft.com/office/drawing/2014/main" id="{82AA70FD-89BF-4E30-8C22-4E5A28E5D6F9}"/>
              </a:ext>
            </a:extLst>
          </p:cNvPr>
          <p:cNvSpPr>
            <a:spLocks noGrp="1"/>
          </p:cNvSpPr>
          <p:nvPr>
            <p:ph idx="1"/>
          </p:nvPr>
        </p:nvSpPr>
        <p:spPr/>
        <p:txBody>
          <a:bodyPr/>
          <a:lstStyle/>
          <a:p>
            <a:endParaRPr lang="cs-CZ" dirty="0"/>
          </a:p>
        </p:txBody>
      </p:sp>
      <p:pic>
        <p:nvPicPr>
          <p:cNvPr id="4" name="Picture 88">
            <a:extLst>
              <a:ext uri="{FF2B5EF4-FFF2-40B4-BE49-F238E27FC236}">
                <a16:creationId xmlns:a16="http://schemas.microsoft.com/office/drawing/2014/main" id="{D6EC2E65-7F5F-4528-BBC6-E2AF63B2E442}"/>
              </a:ext>
            </a:extLst>
          </p:cNvPr>
          <p:cNvPicPr/>
          <p:nvPr/>
        </p:nvPicPr>
        <p:blipFill>
          <a:blip r:embed="rId2"/>
          <a:stretch>
            <a:fillRect/>
          </a:stretch>
        </p:blipFill>
        <p:spPr>
          <a:xfrm>
            <a:off x="458040" y="1825625"/>
            <a:ext cx="6588219" cy="1670610"/>
          </a:xfrm>
          <a:prstGeom prst="rect">
            <a:avLst/>
          </a:prstGeom>
        </p:spPr>
      </p:pic>
      <p:pic>
        <p:nvPicPr>
          <p:cNvPr id="5" name="Picture 89">
            <a:extLst>
              <a:ext uri="{FF2B5EF4-FFF2-40B4-BE49-F238E27FC236}">
                <a16:creationId xmlns:a16="http://schemas.microsoft.com/office/drawing/2014/main" id="{0312AC97-1853-4924-BEA6-17D57E2F6566}"/>
              </a:ext>
            </a:extLst>
          </p:cNvPr>
          <p:cNvPicPr/>
          <p:nvPr/>
        </p:nvPicPr>
        <p:blipFill>
          <a:blip r:embed="rId3"/>
          <a:stretch>
            <a:fillRect/>
          </a:stretch>
        </p:blipFill>
        <p:spPr>
          <a:xfrm>
            <a:off x="5074584" y="2911568"/>
            <a:ext cx="6279216" cy="3758173"/>
          </a:xfrm>
          <a:prstGeom prst="rect">
            <a:avLst/>
          </a:prstGeom>
        </p:spPr>
      </p:pic>
    </p:spTree>
    <p:extLst>
      <p:ext uri="{BB962C8B-B14F-4D97-AF65-F5344CB8AC3E}">
        <p14:creationId xmlns:p14="http://schemas.microsoft.com/office/powerpoint/2010/main" val="2454228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73871B0-1AB2-4C19-AB89-5216230FA032}"/>
              </a:ext>
            </a:extLst>
          </p:cNvPr>
          <p:cNvSpPr>
            <a:spLocks noGrp="1"/>
          </p:cNvSpPr>
          <p:nvPr>
            <p:ph type="title"/>
          </p:nvPr>
        </p:nvSpPr>
        <p:spPr/>
        <p:txBody>
          <a:bodyPr/>
          <a:lstStyle/>
          <a:p>
            <a:r>
              <a:rPr lang="cs-CZ" dirty="0"/>
              <a:t>Konverzní funkce</a:t>
            </a:r>
          </a:p>
        </p:txBody>
      </p:sp>
      <p:sp>
        <p:nvSpPr>
          <p:cNvPr id="3" name="Zástupný symbol pro obsah 2">
            <a:extLst>
              <a:ext uri="{FF2B5EF4-FFF2-40B4-BE49-F238E27FC236}">
                <a16:creationId xmlns:a16="http://schemas.microsoft.com/office/drawing/2014/main" id="{A865096C-A871-4389-A5FB-A1E1AFA55E7C}"/>
              </a:ext>
            </a:extLst>
          </p:cNvPr>
          <p:cNvSpPr>
            <a:spLocks noGrp="1"/>
          </p:cNvSpPr>
          <p:nvPr>
            <p:ph idx="1"/>
          </p:nvPr>
        </p:nvSpPr>
        <p:spPr/>
        <p:txBody>
          <a:bodyPr>
            <a:normAutofit/>
          </a:bodyPr>
          <a:lstStyle/>
          <a:p>
            <a:r>
              <a:rPr lang="cs-CZ" dirty="0"/>
              <a:t>Důvod: představte si, že máte číst všechny vaše učebnice v textovém souboru bez žádného členění do odstavců a žádných nadpisu. To by bylo těžké, naštěstí, jsou zde software, které dokáží text formátovat. Pro databáze na jejich formát a zobrazeni je používáno konverzních funkci. Tyto funkce jsou schopné zobrazit čísla jako lokální měnu, formátovat datum do mnoha podob apod.</a:t>
            </a:r>
          </a:p>
        </p:txBody>
      </p:sp>
    </p:spTree>
    <p:extLst>
      <p:ext uri="{BB962C8B-B14F-4D97-AF65-F5344CB8AC3E}">
        <p14:creationId xmlns:p14="http://schemas.microsoft.com/office/powerpoint/2010/main" val="36228182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2C874E3-0C27-4A17-A200-3E56C8239479}"/>
              </a:ext>
            </a:extLst>
          </p:cNvPr>
          <p:cNvSpPr>
            <a:spLocks noGrp="1"/>
          </p:cNvSpPr>
          <p:nvPr>
            <p:ph type="title"/>
          </p:nvPr>
        </p:nvSpPr>
        <p:spPr/>
        <p:txBody>
          <a:bodyPr/>
          <a:lstStyle/>
          <a:p>
            <a:r>
              <a:rPr lang="cs-CZ" dirty="0"/>
              <a:t>Datové typy</a:t>
            </a:r>
          </a:p>
        </p:txBody>
      </p:sp>
      <p:sp>
        <p:nvSpPr>
          <p:cNvPr id="3" name="Zástupný symbol pro obsah 2">
            <a:extLst>
              <a:ext uri="{FF2B5EF4-FFF2-40B4-BE49-F238E27FC236}">
                <a16:creationId xmlns:a16="http://schemas.microsoft.com/office/drawing/2014/main" id="{BE978601-61FA-426D-8EDF-5B23831136C3}"/>
              </a:ext>
            </a:extLst>
          </p:cNvPr>
          <p:cNvSpPr>
            <a:spLocks noGrp="1"/>
          </p:cNvSpPr>
          <p:nvPr>
            <p:ph idx="1"/>
          </p:nvPr>
        </p:nvSpPr>
        <p:spPr/>
        <p:txBody>
          <a:bodyPr/>
          <a:lstStyle/>
          <a:p>
            <a:r>
              <a:rPr lang="cs-CZ" dirty="0"/>
              <a:t>Když je vytvořena tabulka pro databázi, SQL programátor musí definovat jaký druh dát bude ukládán v každém poli tabulky. V této lekci se zaměříme na VARCHAR2, CHAR, NUMBER a DATE.</a:t>
            </a:r>
          </a:p>
          <a:p>
            <a:r>
              <a:rPr lang="cs-CZ" dirty="0"/>
              <a:t>ORACLE dokáže automaticky konvertovat varchar2 a </a:t>
            </a:r>
            <a:r>
              <a:rPr lang="cs-CZ" dirty="0" err="1"/>
              <a:t>char</a:t>
            </a:r>
            <a:r>
              <a:rPr lang="cs-CZ" dirty="0"/>
              <a:t> na </a:t>
            </a:r>
            <a:r>
              <a:rPr lang="cs-CZ" dirty="0" err="1"/>
              <a:t>date</a:t>
            </a:r>
            <a:r>
              <a:rPr lang="cs-CZ" dirty="0"/>
              <a:t> a </a:t>
            </a:r>
            <a:r>
              <a:rPr lang="cs-CZ" dirty="0" err="1"/>
              <a:t>number</a:t>
            </a:r>
            <a:r>
              <a:rPr lang="cs-CZ" dirty="0"/>
              <a:t>. Dokáže konvertovat také </a:t>
            </a:r>
            <a:r>
              <a:rPr lang="cs-CZ" dirty="0" err="1"/>
              <a:t>number</a:t>
            </a:r>
            <a:r>
              <a:rPr lang="cs-CZ" dirty="0"/>
              <a:t> a dáte zpátky na </a:t>
            </a:r>
            <a:r>
              <a:rPr lang="cs-CZ" dirty="0" err="1"/>
              <a:t>character</a:t>
            </a:r>
            <a:r>
              <a:rPr lang="cs-CZ" dirty="0"/>
              <a:t>. Toto se nazývá implicitní konverze hodnot.</a:t>
            </a:r>
          </a:p>
          <a:p>
            <a:endParaRPr lang="cs-CZ" dirty="0"/>
          </a:p>
        </p:txBody>
      </p:sp>
      <p:pic>
        <p:nvPicPr>
          <p:cNvPr id="4" name="Picture 90">
            <a:extLst>
              <a:ext uri="{FF2B5EF4-FFF2-40B4-BE49-F238E27FC236}">
                <a16:creationId xmlns:a16="http://schemas.microsoft.com/office/drawing/2014/main" id="{CFCB6DD4-DDDA-4530-A6C5-E59A322266CD}"/>
              </a:ext>
            </a:extLst>
          </p:cNvPr>
          <p:cNvPicPr/>
          <p:nvPr/>
        </p:nvPicPr>
        <p:blipFill>
          <a:blip r:embed="rId2"/>
          <a:stretch>
            <a:fillRect/>
          </a:stretch>
        </p:blipFill>
        <p:spPr>
          <a:xfrm>
            <a:off x="1045508" y="4472266"/>
            <a:ext cx="3607173" cy="2385733"/>
          </a:xfrm>
          <a:prstGeom prst="rect">
            <a:avLst/>
          </a:prstGeom>
        </p:spPr>
      </p:pic>
      <p:pic>
        <p:nvPicPr>
          <p:cNvPr id="5" name="Picture 91">
            <a:extLst>
              <a:ext uri="{FF2B5EF4-FFF2-40B4-BE49-F238E27FC236}">
                <a16:creationId xmlns:a16="http://schemas.microsoft.com/office/drawing/2014/main" id="{91022474-F45C-4402-AD6C-B664A66A7543}"/>
              </a:ext>
            </a:extLst>
          </p:cNvPr>
          <p:cNvPicPr/>
          <p:nvPr/>
        </p:nvPicPr>
        <p:blipFill>
          <a:blip r:embed="rId3"/>
          <a:stretch>
            <a:fillRect/>
          </a:stretch>
        </p:blipFill>
        <p:spPr>
          <a:xfrm>
            <a:off x="4859989" y="4293531"/>
            <a:ext cx="5628717" cy="2564467"/>
          </a:xfrm>
          <a:prstGeom prst="rect">
            <a:avLst/>
          </a:prstGeom>
        </p:spPr>
      </p:pic>
    </p:spTree>
    <p:extLst>
      <p:ext uri="{BB962C8B-B14F-4D97-AF65-F5344CB8AC3E}">
        <p14:creationId xmlns:p14="http://schemas.microsoft.com/office/powerpoint/2010/main" val="22282361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1561218-93D5-4455-B3CB-843F83F466F1}"/>
              </a:ext>
            </a:extLst>
          </p:cNvPr>
          <p:cNvSpPr>
            <a:spLocks noGrp="1"/>
          </p:cNvSpPr>
          <p:nvPr>
            <p:ph type="title"/>
          </p:nvPr>
        </p:nvSpPr>
        <p:spPr/>
        <p:txBody>
          <a:bodyPr/>
          <a:lstStyle/>
          <a:p>
            <a:r>
              <a:rPr lang="cs-CZ" dirty="0"/>
              <a:t>Explicitní konverze</a:t>
            </a:r>
          </a:p>
        </p:txBody>
      </p:sp>
      <p:sp>
        <p:nvSpPr>
          <p:cNvPr id="3" name="Zástupný symbol pro obsah 2">
            <a:extLst>
              <a:ext uri="{FF2B5EF4-FFF2-40B4-BE49-F238E27FC236}">
                <a16:creationId xmlns:a16="http://schemas.microsoft.com/office/drawing/2014/main" id="{D79362C9-CC4A-4B7A-95C5-48A19A35741E}"/>
              </a:ext>
            </a:extLst>
          </p:cNvPr>
          <p:cNvSpPr>
            <a:spLocks noGrp="1"/>
          </p:cNvSpPr>
          <p:nvPr>
            <p:ph idx="1"/>
          </p:nvPr>
        </p:nvSpPr>
        <p:spPr/>
        <p:txBody>
          <a:bodyPr/>
          <a:lstStyle/>
          <a:p>
            <a:r>
              <a:rPr lang="cs-CZ" dirty="0"/>
              <a:t>Následně jsou tu explicitní konverze hodnot, které musí být provedeny ručně.</a:t>
            </a:r>
          </a:p>
          <a:p>
            <a:pPr lvl="1"/>
            <a:r>
              <a:rPr lang="pl-PL" dirty="0"/>
              <a:t>Datum – znaky</a:t>
            </a:r>
          </a:p>
          <a:p>
            <a:pPr lvl="1"/>
            <a:r>
              <a:rPr lang="pl-PL" dirty="0"/>
              <a:t>Number – znaky</a:t>
            </a:r>
          </a:p>
          <a:p>
            <a:pPr lvl="1"/>
            <a:r>
              <a:rPr lang="pl-PL" dirty="0"/>
              <a:t>A naopak </a:t>
            </a:r>
            <a:r>
              <a:rPr lang="pl-PL" dirty="0">
                <a:sym typeface="Wingdings" panose="05000000000000000000" pitchFamily="2" charset="2"/>
              </a:rPr>
              <a:t></a:t>
            </a:r>
            <a:endParaRPr lang="pl-PL" dirty="0"/>
          </a:p>
          <a:p>
            <a:endParaRPr lang="cs-CZ" dirty="0"/>
          </a:p>
        </p:txBody>
      </p:sp>
      <p:pic>
        <p:nvPicPr>
          <p:cNvPr id="4" name="Picture 92">
            <a:extLst>
              <a:ext uri="{FF2B5EF4-FFF2-40B4-BE49-F238E27FC236}">
                <a16:creationId xmlns:a16="http://schemas.microsoft.com/office/drawing/2014/main" id="{35A5FEA2-3CC9-46F6-AFAC-CD87D0691B48}"/>
              </a:ext>
            </a:extLst>
          </p:cNvPr>
          <p:cNvPicPr/>
          <p:nvPr/>
        </p:nvPicPr>
        <p:blipFill>
          <a:blip r:embed="rId2"/>
          <a:stretch>
            <a:fillRect/>
          </a:stretch>
        </p:blipFill>
        <p:spPr>
          <a:xfrm>
            <a:off x="4967287" y="3023066"/>
            <a:ext cx="6166878" cy="3288834"/>
          </a:xfrm>
          <a:prstGeom prst="rect">
            <a:avLst/>
          </a:prstGeom>
        </p:spPr>
      </p:pic>
    </p:spTree>
    <p:extLst>
      <p:ext uri="{BB962C8B-B14F-4D97-AF65-F5344CB8AC3E}">
        <p14:creationId xmlns:p14="http://schemas.microsoft.com/office/powerpoint/2010/main" val="36018809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732985D-DE07-4E30-8EB3-44A522DB6B52}"/>
              </a:ext>
            </a:extLst>
          </p:cNvPr>
          <p:cNvSpPr>
            <a:spLocks noGrp="1"/>
          </p:cNvSpPr>
          <p:nvPr>
            <p:ph type="title"/>
          </p:nvPr>
        </p:nvSpPr>
        <p:spPr/>
        <p:txBody>
          <a:bodyPr/>
          <a:lstStyle/>
          <a:p>
            <a:r>
              <a:rPr lang="cs-CZ" dirty="0"/>
              <a:t>Konverze data do znakového řetězce I.</a:t>
            </a:r>
          </a:p>
        </p:txBody>
      </p:sp>
      <p:sp>
        <p:nvSpPr>
          <p:cNvPr id="3" name="Zástupný symbol pro obsah 2">
            <a:extLst>
              <a:ext uri="{FF2B5EF4-FFF2-40B4-BE49-F238E27FC236}">
                <a16:creationId xmlns:a16="http://schemas.microsoft.com/office/drawing/2014/main" id="{74B44715-847A-4FEE-9071-541FF7684010}"/>
              </a:ext>
            </a:extLst>
          </p:cNvPr>
          <p:cNvSpPr>
            <a:spLocks noGrp="1"/>
          </p:cNvSpPr>
          <p:nvPr>
            <p:ph idx="1"/>
          </p:nvPr>
        </p:nvSpPr>
        <p:spPr>
          <a:xfrm>
            <a:off x="838200" y="1690688"/>
            <a:ext cx="10515600" cy="4351338"/>
          </a:xfrm>
        </p:spPr>
        <p:txBody>
          <a:bodyPr/>
          <a:lstStyle/>
          <a:p>
            <a:r>
              <a:rPr lang="cs-CZ" dirty="0"/>
              <a:t>Je často nutné konvertovat datum z jeho výchozího formátu do formátu, specifikovaného uživatelem. O to se snaží následující funkce.</a:t>
            </a:r>
          </a:p>
        </p:txBody>
      </p:sp>
      <p:pic>
        <p:nvPicPr>
          <p:cNvPr id="4" name="Picture 93">
            <a:extLst>
              <a:ext uri="{FF2B5EF4-FFF2-40B4-BE49-F238E27FC236}">
                <a16:creationId xmlns:a16="http://schemas.microsoft.com/office/drawing/2014/main" id="{AF231182-7728-4278-9EBC-85E2A9721DA5}"/>
              </a:ext>
            </a:extLst>
          </p:cNvPr>
          <p:cNvPicPr/>
          <p:nvPr/>
        </p:nvPicPr>
        <p:blipFill>
          <a:blip r:embed="rId2"/>
          <a:stretch>
            <a:fillRect/>
          </a:stretch>
        </p:blipFill>
        <p:spPr>
          <a:xfrm>
            <a:off x="838200" y="2953870"/>
            <a:ext cx="5051612" cy="757517"/>
          </a:xfrm>
          <a:prstGeom prst="rect">
            <a:avLst/>
          </a:prstGeom>
        </p:spPr>
      </p:pic>
      <p:pic>
        <p:nvPicPr>
          <p:cNvPr id="5" name="Picture 94">
            <a:extLst>
              <a:ext uri="{FF2B5EF4-FFF2-40B4-BE49-F238E27FC236}">
                <a16:creationId xmlns:a16="http://schemas.microsoft.com/office/drawing/2014/main" id="{70B2483D-290F-4FDB-BFDB-9694ACF80120}"/>
              </a:ext>
            </a:extLst>
          </p:cNvPr>
          <p:cNvPicPr/>
          <p:nvPr/>
        </p:nvPicPr>
        <p:blipFill>
          <a:blip r:embed="rId3"/>
          <a:stretch>
            <a:fillRect/>
          </a:stretch>
        </p:blipFill>
        <p:spPr>
          <a:xfrm>
            <a:off x="5208213" y="3123826"/>
            <a:ext cx="5495646" cy="3438339"/>
          </a:xfrm>
          <a:prstGeom prst="rect">
            <a:avLst/>
          </a:prstGeom>
        </p:spPr>
      </p:pic>
    </p:spTree>
    <p:extLst>
      <p:ext uri="{BB962C8B-B14F-4D97-AF65-F5344CB8AC3E}">
        <p14:creationId xmlns:p14="http://schemas.microsoft.com/office/powerpoint/2010/main" val="34884274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237D567-1D89-456F-9BBE-813609F0E1CF}"/>
              </a:ext>
            </a:extLst>
          </p:cNvPr>
          <p:cNvSpPr>
            <a:spLocks noGrp="1"/>
          </p:cNvSpPr>
          <p:nvPr>
            <p:ph type="title"/>
          </p:nvPr>
        </p:nvSpPr>
        <p:spPr/>
        <p:txBody>
          <a:bodyPr/>
          <a:lstStyle/>
          <a:p>
            <a:r>
              <a:rPr lang="cs-CZ" dirty="0"/>
              <a:t>Konverze data do znakového řetězce II.</a:t>
            </a:r>
          </a:p>
        </p:txBody>
      </p:sp>
      <p:sp>
        <p:nvSpPr>
          <p:cNvPr id="3" name="Zástupný symbol pro obsah 2">
            <a:extLst>
              <a:ext uri="{FF2B5EF4-FFF2-40B4-BE49-F238E27FC236}">
                <a16:creationId xmlns:a16="http://schemas.microsoft.com/office/drawing/2014/main" id="{3703F447-B4C4-4795-BCCC-B25124107C0C}"/>
              </a:ext>
            </a:extLst>
          </p:cNvPr>
          <p:cNvSpPr>
            <a:spLocks noGrp="1"/>
          </p:cNvSpPr>
          <p:nvPr>
            <p:ph idx="1"/>
          </p:nvPr>
        </p:nvSpPr>
        <p:spPr/>
        <p:txBody>
          <a:bodyPr/>
          <a:lstStyle/>
          <a:p>
            <a:endParaRPr lang="cs-CZ"/>
          </a:p>
        </p:txBody>
      </p:sp>
      <p:pic>
        <p:nvPicPr>
          <p:cNvPr id="4" name="Picture 95">
            <a:extLst>
              <a:ext uri="{FF2B5EF4-FFF2-40B4-BE49-F238E27FC236}">
                <a16:creationId xmlns:a16="http://schemas.microsoft.com/office/drawing/2014/main" id="{43B1D510-4D5C-4798-B1E5-6E0F8AD7DDAA}"/>
              </a:ext>
            </a:extLst>
          </p:cNvPr>
          <p:cNvPicPr/>
          <p:nvPr/>
        </p:nvPicPr>
        <p:blipFill>
          <a:blip r:embed="rId2"/>
          <a:stretch>
            <a:fillRect/>
          </a:stretch>
        </p:blipFill>
        <p:spPr>
          <a:xfrm>
            <a:off x="838199" y="1690687"/>
            <a:ext cx="8171329" cy="4486275"/>
          </a:xfrm>
          <a:prstGeom prst="rect">
            <a:avLst/>
          </a:prstGeom>
        </p:spPr>
      </p:pic>
    </p:spTree>
    <p:extLst>
      <p:ext uri="{BB962C8B-B14F-4D97-AF65-F5344CB8AC3E}">
        <p14:creationId xmlns:p14="http://schemas.microsoft.com/office/powerpoint/2010/main" val="40423051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CEE8305-D93C-4692-8A74-D33F8E74AF95}"/>
              </a:ext>
            </a:extLst>
          </p:cNvPr>
          <p:cNvSpPr>
            <a:spLocks noGrp="1"/>
          </p:cNvSpPr>
          <p:nvPr>
            <p:ph type="title"/>
          </p:nvPr>
        </p:nvSpPr>
        <p:spPr/>
        <p:txBody>
          <a:bodyPr/>
          <a:lstStyle/>
          <a:p>
            <a:r>
              <a:rPr lang="cs-CZ" dirty="0"/>
              <a:t>Konverze data do znakového řetězce III.</a:t>
            </a:r>
          </a:p>
        </p:txBody>
      </p:sp>
      <p:sp>
        <p:nvSpPr>
          <p:cNvPr id="3" name="Zástupný symbol pro obsah 2">
            <a:extLst>
              <a:ext uri="{FF2B5EF4-FFF2-40B4-BE49-F238E27FC236}">
                <a16:creationId xmlns:a16="http://schemas.microsoft.com/office/drawing/2014/main" id="{100BD431-6425-4EF7-9C4B-4BE881B3E2A1}"/>
              </a:ext>
            </a:extLst>
          </p:cNvPr>
          <p:cNvSpPr>
            <a:spLocks noGrp="1"/>
          </p:cNvSpPr>
          <p:nvPr>
            <p:ph idx="1"/>
          </p:nvPr>
        </p:nvSpPr>
        <p:spPr/>
        <p:txBody>
          <a:bodyPr/>
          <a:lstStyle/>
          <a:p>
            <a:endParaRPr lang="cs-CZ"/>
          </a:p>
        </p:txBody>
      </p:sp>
      <p:pic>
        <p:nvPicPr>
          <p:cNvPr id="4" name="Picture 96">
            <a:extLst>
              <a:ext uri="{FF2B5EF4-FFF2-40B4-BE49-F238E27FC236}">
                <a16:creationId xmlns:a16="http://schemas.microsoft.com/office/drawing/2014/main" id="{D9A80713-A56A-4B7F-B8F5-E9A35D5D9F8C}"/>
              </a:ext>
            </a:extLst>
          </p:cNvPr>
          <p:cNvPicPr/>
          <p:nvPr/>
        </p:nvPicPr>
        <p:blipFill>
          <a:blip r:embed="rId2"/>
          <a:stretch>
            <a:fillRect/>
          </a:stretch>
        </p:blipFill>
        <p:spPr>
          <a:xfrm>
            <a:off x="838199" y="1825625"/>
            <a:ext cx="8117541" cy="4351338"/>
          </a:xfrm>
          <a:prstGeom prst="rect">
            <a:avLst/>
          </a:prstGeom>
        </p:spPr>
      </p:pic>
    </p:spTree>
    <p:extLst>
      <p:ext uri="{BB962C8B-B14F-4D97-AF65-F5344CB8AC3E}">
        <p14:creationId xmlns:p14="http://schemas.microsoft.com/office/powerpoint/2010/main" val="27652088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5D9AD6D-BB7A-411E-A539-D43063A16420}"/>
              </a:ext>
            </a:extLst>
          </p:cNvPr>
          <p:cNvSpPr>
            <a:spLocks noGrp="1"/>
          </p:cNvSpPr>
          <p:nvPr>
            <p:ph type="title"/>
          </p:nvPr>
        </p:nvSpPr>
        <p:spPr/>
        <p:txBody>
          <a:bodyPr/>
          <a:lstStyle/>
          <a:p>
            <a:r>
              <a:rPr lang="cs-CZ" dirty="0"/>
              <a:t>Konverze NUMBER na VARCHAR2</a:t>
            </a:r>
          </a:p>
        </p:txBody>
      </p:sp>
      <p:sp>
        <p:nvSpPr>
          <p:cNvPr id="3" name="Zástupný symbol pro obsah 2">
            <a:extLst>
              <a:ext uri="{FF2B5EF4-FFF2-40B4-BE49-F238E27FC236}">
                <a16:creationId xmlns:a16="http://schemas.microsoft.com/office/drawing/2014/main" id="{DA171CDB-3A5C-40FA-B86A-D366B6E587B5}"/>
              </a:ext>
            </a:extLst>
          </p:cNvPr>
          <p:cNvSpPr>
            <a:spLocks noGrp="1"/>
          </p:cNvSpPr>
          <p:nvPr>
            <p:ph idx="1"/>
          </p:nvPr>
        </p:nvSpPr>
        <p:spPr/>
        <p:txBody>
          <a:bodyPr/>
          <a:lstStyle/>
          <a:p>
            <a:r>
              <a:rPr lang="cs-CZ" dirty="0"/>
              <a:t>Čísla ukládána v databázi nejsou nijak </a:t>
            </a:r>
            <a:r>
              <a:rPr lang="cs-CZ" dirty="0" err="1"/>
              <a:t>formátovana</a:t>
            </a:r>
            <a:r>
              <a:rPr lang="cs-CZ" dirty="0"/>
              <a:t>, to znamená, že nemají žádné znaky měny, symboly, tečky, oddělení desítek apod. pro přidání formátování je nutné nejprve konvertovat číslo na znakový formát.</a:t>
            </a:r>
          </a:p>
        </p:txBody>
      </p:sp>
      <p:pic>
        <p:nvPicPr>
          <p:cNvPr id="4" name="Picture 98">
            <a:extLst>
              <a:ext uri="{FF2B5EF4-FFF2-40B4-BE49-F238E27FC236}">
                <a16:creationId xmlns:a16="http://schemas.microsoft.com/office/drawing/2014/main" id="{77E6CF1E-91B0-4D98-A6E5-2E52E103E68D}"/>
              </a:ext>
            </a:extLst>
          </p:cNvPr>
          <p:cNvPicPr/>
          <p:nvPr/>
        </p:nvPicPr>
        <p:blipFill>
          <a:blip r:embed="rId2"/>
          <a:stretch>
            <a:fillRect/>
          </a:stretch>
        </p:blipFill>
        <p:spPr>
          <a:xfrm>
            <a:off x="3567672" y="3211886"/>
            <a:ext cx="5468752" cy="3100014"/>
          </a:xfrm>
          <a:prstGeom prst="rect">
            <a:avLst/>
          </a:prstGeom>
        </p:spPr>
      </p:pic>
    </p:spTree>
    <p:extLst>
      <p:ext uri="{BB962C8B-B14F-4D97-AF65-F5344CB8AC3E}">
        <p14:creationId xmlns:p14="http://schemas.microsoft.com/office/powerpoint/2010/main" val="12361326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AD88662-CA9E-43DA-AC59-5455EDBC074D}"/>
              </a:ext>
            </a:extLst>
          </p:cNvPr>
          <p:cNvSpPr>
            <a:spLocks noGrp="1"/>
          </p:cNvSpPr>
          <p:nvPr>
            <p:ph type="title"/>
          </p:nvPr>
        </p:nvSpPr>
        <p:spPr/>
        <p:txBody>
          <a:bodyPr/>
          <a:lstStyle/>
          <a:p>
            <a:r>
              <a:rPr lang="cs-CZ" dirty="0"/>
              <a:t>Konverze znaku na čísla</a:t>
            </a:r>
          </a:p>
        </p:txBody>
      </p:sp>
      <p:sp>
        <p:nvSpPr>
          <p:cNvPr id="3" name="Zástupný symbol pro obsah 2">
            <a:extLst>
              <a:ext uri="{FF2B5EF4-FFF2-40B4-BE49-F238E27FC236}">
                <a16:creationId xmlns:a16="http://schemas.microsoft.com/office/drawing/2014/main" id="{E067617A-B759-4820-A4A3-5CA9B4DEC55D}"/>
              </a:ext>
            </a:extLst>
          </p:cNvPr>
          <p:cNvSpPr>
            <a:spLocks noGrp="1"/>
          </p:cNvSpPr>
          <p:nvPr>
            <p:ph idx="1"/>
          </p:nvPr>
        </p:nvSpPr>
        <p:spPr/>
        <p:txBody>
          <a:bodyPr/>
          <a:lstStyle/>
          <a:p>
            <a:endParaRPr lang="cs-CZ" dirty="0"/>
          </a:p>
          <a:p>
            <a:r>
              <a:rPr lang="cs-CZ" dirty="0"/>
              <a:t>Model formátování je volitelný, ale měl by být zahrnut pokud řetězec znaku obsahuje znaky jiné než čísla.</a:t>
            </a:r>
          </a:p>
          <a:p>
            <a:endParaRPr lang="cs-CZ" dirty="0"/>
          </a:p>
          <a:p>
            <a:endParaRPr lang="cs-CZ" dirty="0"/>
          </a:p>
          <a:p>
            <a:r>
              <a:rPr lang="cs-CZ" dirty="0"/>
              <a:t>Bonus sloupec obsahuje čtyřčíselné hodnoty, formát specifikuje pouze 3 hodnoty, proto je zobrazeno chybové hlášení</a:t>
            </a:r>
          </a:p>
        </p:txBody>
      </p:sp>
      <p:pic>
        <p:nvPicPr>
          <p:cNvPr id="5" name="Picture 101">
            <a:extLst>
              <a:ext uri="{FF2B5EF4-FFF2-40B4-BE49-F238E27FC236}">
                <a16:creationId xmlns:a16="http://schemas.microsoft.com/office/drawing/2014/main" id="{76BEB9BE-5F56-4395-97D1-CDEC8B0255AD}"/>
              </a:ext>
            </a:extLst>
          </p:cNvPr>
          <p:cNvPicPr/>
          <p:nvPr/>
        </p:nvPicPr>
        <p:blipFill>
          <a:blip r:embed="rId2"/>
          <a:stretch>
            <a:fillRect/>
          </a:stretch>
        </p:blipFill>
        <p:spPr>
          <a:xfrm>
            <a:off x="1881187" y="1687512"/>
            <a:ext cx="4842342" cy="598488"/>
          </a:xfrm>
          <a:prstGeom prst="rect">
            <a:avLst/>
          </a:prstGeom>
        </p:spPr>
      </p:pic>
      <p:pic>
        <p:nvPicPr>
          <p:cNvPr id="6" name="Picture 102">
            <a:extLst>
              <a:ext uri="{FF2B5EF4-FFF2-40B4-BE49-F238E27FC236}">
                <a16:creationId xmlns:a16="http://schemas.microsoft.com/office/drawing/2014/main" id="{1F234D95-5299-4D8B-83C9-2012687C9D39}"/>
              </a:ext>
            </a:extLst>
          </p:cNvPr>
          <p:cNvPicPr/>
          <p:nvPr/>
        </p:nvPicPr>
        <p:blipFill>
          <a:blip r:embed="rId3"/>
          <a:stretch>
            <a:fillRect/>
          </a:stretch>
        </p:blipFill>
        <p:spPr>
          <a:xfrm>
            <a:off x="1908081" y="3166922"/>
            <a:ext cx="6213942" cy="882930"/>
          </a:xfrm>
          <a:prstGeom prst="rect">
            <a:avLst/>
          </a:prstGeom>
        </p:spPr>
      </p:pic>
      <p:pic>
        <p:nvPicPr>
          <p:cNvPr id="7" name="Picture 103">
            <a:extLst>
              <a:ext uri="{FF2B5EF4-FFF2-40B4-BE49-F238E27FC236}">
                <a16:creationId xmlns:a16="http://schemas.microsoft.com/office/drawing/2014/main" id="{4466659D-4390-449B-BE99-2BFDAAE52ADC}"/>
              </a:ext>
            </a:extLst>
          </p:cNvPr>
          <p:cNvPicPr/>
          <p:nvPr/>
        </p:nvPicPr>
        <p:blipFill>
          <a:blip r:embed="rId4"/>
          <a:stretch>
            <a:fillRect/>
          </a:stretch>
        </p:blipFill>
        <p:spPr>
          <a:xfrm>
            <a:off x="4321548" y="5127578"/>
            <a:ext cx="4661087" cy="1730422"/>
          </a:xfrm>
          <a:prstGeom prst="rect">
            <a:avLst/>
          </a:prstGeom>
        </p:spPr>
      </p:pic>
    </p:spTree>
    <p:extLst>
      <p:ext uri="{BB962C8B-B14F-4D97-AF65-F5344CB8AC3E}">
        <p14:creationId xmlns:p14="http://schemas.microsoft.com/office/powerpoint/2010/main" val="15073376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E96554E-54EA-4EF3-8401-CAF40DC55D78}"/>
              </a:ext>
            </a:extLst>
          </p:cNvPr>
          <p:cNvSpPr>
            <a:spLocks noGrp="1"/>
          </p:cNvSpPr>
          <p:nvPr>
            <p:ph type="title"/>
          </p:nvPr>
        </p:nvSpPr>
        <p:spPr/>
        <p:txBody>
          <a:bodyPr/>
          <a:lstStyle/>
          <a:p>
            <a:r>
              <a:rPr lang="pl-PL" dirty="0"/>
              <a:t>Konverze znakového řetězce na datum</a:t>
            </a:r>
            <a:endParaRPr lang="cs-CZ" dirty="0"/>
          </a:p>
        </p:txBody>
      </p:sp>
      <p:sp>
        <p:nvSpPr>
          <p:cNvPr id="3" name="Zástupný symbol pro obsah 2">
            <a:extLst>
              <a:ext uri="{FF2B5EF4-FFF2-40B4-BE49-F238E27FC236}">
                <a16:creationId xmlns:a16="http://schemas.microsoft.com/office/drawing/2014/main" id="{C0E744FD-D909-4B5D-AF71-E8CE7DAB1D71}"/>
              </a:ext>
            </a:extLst>
          </p:cNvPr>
          <p:cNvSpPr>
            <a:spLocks noGrp="1"/>
          </p:cNvSpPr>
          <p:nvPr>
            <p:ph idx="1"/>
          </p:nvPr>
        </p:nvSpPr>
        <p:spPr/>
        <p:txBody>
          <a:bodyPr/>
          <a:lstStyle/>
          <a:p>
            <a:endParaRPr lang="cs-CZ" dirty="0"/>
          </a:p>
          <a:p>
            <a:endParaRPr lang="cs-CZ" dirty="0"/>
          </a:p>
          <a:p>
            <a:r>
              <a:rPr lang="cs-CZ" dirty="0"/>
              <a:t>Model formátování řekne serveru, jak řetězec znaků vypadá.</a:t>
            </a:r>
          </a:p>
          <a:p>
            <a:endParaRPr lang="cs-CZ" dirty="0"/>
          </a:p>
          <a:p>
            <a:endParaRPr lang="cs-CZ" dirty="0"/>
          </a:p>
          <a:p>
            <a:endParaRPr lang="cs-CZ" dirty="0"/>
          </a:p>
          <a:p>
            <a:r>
              <a:rPr lang="cs-CZ" dirty="0" err="1"/>
              <a:t>Fx</a:t>
            </a:r>
            <a:r>
              <a:rPr lang="cs-CZ" dirty="0"/>
              <a:t> (formát </a:t>
            </a:r>
            <a:r>
              <a:rPr lang="cs-CZ" dirty="0" err="1"/>
              <a:t>exact</a:t>
            </a:r>
            <a:r>
              <a:rPr lang="cs-CZ" dirty="0"/>
              <a:t>) modifikátor určuje, že nejsou mezi jednotlivými částmi datumu mezery.</a:t>
            </a:r>
          </a:p>
        </p:txBody>
      </p:sp>
      <p:pic>
        <p:nvPicPr>
          <p:cNvPr id="4" name="Picture 104">
            <a:extLst>
              <a:ext uri="{FF2B5EF4-FFF2-40B4-BE49-F238E27FC236}">
                <a16:creationId xmlns:a16="http://schemas.microsoft.com/office/drawing/2014/main" id="{34A44468-3CF3-4722-92D6-827B05128B18}"/>
              </a:ext>
            </a:extLst>
          </p:cNvPr>
          <p:cNvPicPr/>
          <p:nvPr/>
        </p:nvPicPr>
        <p:blipFill>
          <a:blip r:embed="rId2"/>
          <a:stretch>
            <a:fillRect/>
          </a:stretch>
        </p:blipFill>
        <p:spPr>
          <a:xfrm>
            <a:off x="838200" y="1825625"/>
            <a:ext cx="6692153" cy="740149"/>
          </a:xfrm>
          <a:prstGeom prst="rect">
            <a:avLst/>
          </a:prstGeom>
        </p:spPr>
      </p:pic>
      <p:pic>
        <p:nvPicPr>
          <p:cNvPr id="5" name="Picture 105">
            <a:extLst>
              <a:ext uri="{FF2B5EF4-FFF2-40B4-BE49-F238E27FC236}">
                <a16:creationId xmlns:a16="http://schemas.microsoft.com/office/drawing/2014/main" id="{B0DD0D32-5810-4801-8719-17677CAA31CA}"/>
              </a:ext>
            </a:extLst>
          </p:cNvPr>
          <p:cNvPicPr/>
          <p:nvPr/>
        </p:nvPicPr>
        <p:blipFill>
          <a:blip r:embed="rId3"/>
          <a:stretch>
            <a:fillRect/>
          </a:stretch>
        </p:blipFill>
        <p:spPr>
          <a:xfrm>
            <a:off x="838199" y="3571268"/>
            <a:ext cx="5723965" cy="1000732"/>
          </a:xfrm>
          <a:prstGeom prst="rect">
            <a:avLst/>
          </a:prstGeom>
        </p:spPr>
      </p:pic>
      <p:pic>
        <p:nvPicPr>
          <p:cNvPr id="6" name="Picture 106">
            <a:extLst>
              <a:ext uri="{FF2B5EF4-FFF2-40B4-BE49-F238E27FC236}">
                <a16:creationId xmlns:a16="http://schemas.microsoft.com/office/drawing/2014/main" id="{323DE99D-7070-4391-93F4-84013A1EC7F0}"/>
              </a:ext>
            </a:extLst>
          </p:cNvPr>
          <p:cNvPicPr/>
          <p:nvPr/>
        </p:nvPicPr>
        <p:blipFill>
          <a:blip r:embed="rId4"/>
          <a:stretch>
            <a:fillRect/>
          </a:stretch>
        </p:blipFill>
        <p:spPr>
          <a:xfrm>
            <a:off x="5388628" y="5577494"/>
            <a:ext cx="4750454" cy="1065353"/>
          </a:xfrm>
          <a:prstGeom prst="rect">
            <a:avLst/>
          </a:prstGeom>
        </p:spPr>
      </p:pic>
    </p:spTree>
    <p:extLst>
      <p:ext uri="{BB962C8B-B14F-4D97-AF65-F5344CB8AC3E}">
        <p14:creationId xmlns:p14="http://schemas.microsoft.com/office/powerpoint/2010/main" val="24507710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C381CEF-396D-4E6C-8D68-43A0C8DCCD21}"/>
              </a:ext>
            </a:extLst>
          </p:cNvPr>
          <p:cNvSpPr>
            <a:spLocks noGrp="1"/>
          </p:cNvSpPr>
          <p:nvPr>
            <p:ph type="title"/>
          </p:nvPr>
        </p:nvSpPr>
        <p:spPr/>
        <p:txBody>
          <a:bodyPr/>
          <a:lstStyle/>
          <a:p>
            <a:r>
              <a:rPr lang="cs-CZ" dirty="0"/>
              <a:t>Pravidla modifikátoru </a:t>
            </a:r>
            <a:r>
              <a:rPr lang="cs-CZ" dirty="0" err="1"/>
              <a:t>fx</a:t>
            </a:r>
            <a:endParaRPr lang="cs-CZ" dirty="0"/>
          </a:p>
        </p:txBody>
      </p:sp>
      <p:sp>
        <p:nvSpPr>
          <p:cNvPr id="3" name="Zástupný symbol pro obsah 2">
            <a:extLst>
              <a:ext uri="{FF2B5EF4-FFF2-40B4-BE49-F238E27FC236}">
                <a16:creationId xmlns:a16="http://schemas.microsoft.com/office/drawing/2014/main" id="{6F0C780B-EB90-41CA-8463-75F6690F13F7}"/>
              </a:ext>
            </a:extLst>
          </p:cNvPr>
          <p:cNvSpPr>
            <a:spLocks noGrp="1"/>
          </p:cNvSpPr>
          <p:nvPr>
            <p:ph idx="1"/>
          </p:nvPr>
        </p:nvSpPr>
        <p:spPr/>
        <p:txBody>
          <a:bodyPr/>
          <a:lstStyle/>
          <a:p>
            <a:r>
              <a:rPr lang="cs-CZ" dirty="0"/>
              <a:t>Bodovaný a citovaný text ve znakovém argumentu musí splňovat korespondující části formátovacího modelu přesně.</a:t>
            </a:r>
          </a:p>
          <a:p>
            <a:r>
              <a:rPr lang="cs-CZ" dirty="0"/>
              <a:t>Argument nesmí obsahovat mezery navíc.</a:t>
            </a:r>
          </a:p>
          <a:p>
            <a:r>
              <a:rPr lang="cs-CZ" dirty="0"/>
              <a:t>Číselné hodnoty v argumentu musí mít stejný počet číslic jako korespondující element ve formátovacím modelu.</a:t>
            </a:r>
          </a:p>
        </p:txBody>
      </p:sp>
      <p:pic>
        <p:nvPicPr>
          <p:cNvPr id="4" name="Picture 107">
            <a:extLst>
              <a:ext uri="{FF2B5EF4-FFF2-40B4-BE49-F238E27FC236}">
                <a16:creationId xmlns:a16="http://schemas.microsoft.com/office/drawing/2014/main" id="{E52D65C0-80B1-4A0A-9879-50154F618354}"/>
              </a:ext>
            </a:extLst>
          </p:cNvPr>
          <p:cNvPicPr/>
          <p:nvPr/>
        </p:nvPicPr>
        <p:blipFill>
          <a:blip r:embed="rId2"/>
          <a:stretch>
            <a:fillRect/>
          </a:stretch>
        </p:blipFill>
        <p:spPr>
          <a:xfrm>
            <a:off x="3939707" y="3975286"/>
            <a:ext cx="5607705" cy="2586878"/>
          </a:xfrm>
          <a:prstGeom prst="rect">
            <a:avLst/>
          </a:prstGeom>
        </p:spPr>
      </p:pic>
    </p:spTree>
    <p:extLst>
      <p:ext uri="{BB962C8B-B14F-4D97-AF65-F5344CB8AC3E}">
        <p14:creationId xmlns:p14="http://schemas.microsoft.com/office/powerpoint/2010/main" val="1391434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9C66827-87E8-4080-8D83-3BE46EFFACDB}"/>
              </a:ext>
            </a:extLst>
          </p:cNvPr>
          <p:cNvSpPr>
            <a:spLocks noGrp="1"/>
          </p:cNvSpPr>
          <p:nvPr>
            <p:ph type="title"/>
          </p:nvPr>
        </p:nvSpPr>
        <p:spPr/>
        <p:txBody>
          <a:bodyPr/>
          <a:lstStyle/>
          <a:p>
            <a:r>
              <a:rPr lang="cs-CZ" dirty="0"/>
              <a:t>RR a YY formát datumu</a:t>
            </a:r>
          </a:p>
        </p:txBody>
      </p:sp>
      <p:sp>
        <p:nvSpPr>
          <p:cNvPr id="3" name="Zástupný symbol pro obsah 2">
            <a:extLst>
              <a:ext uri="{FF2B5EF4-FFF2-40B4-BE49-F238E27FC236}">
                <a16:creationId xmlns:a16="http://schemas.microsoft.com/office/drawing/2014/main" id="{BA4570E4-4F1C-4BD9-9BE1-72C4FC96C934}"/>
              </a:ext>
            </a:extLst>
          </p:cNvPr>
          <p:cNvSpPr>
            <a:spLocks noGrp="1"/>
          </p:cNvSpPr>
          <p:nvPr>
            <p:ph idx="1"/>
          </p:nvPr>
        </p:nvSpPr>
        <p:spPr/>
        <p:txBody>
          <a:bodyPr/>
          <a:lstStyle/>
          <a:p>
            <a:r>
              <a:rPr lang="cs-CZ" dirty="0"/>
              <a:t>Dříve se nemuselo řešit, jestli je rok 1995 nebo 2095, přechodem tisíciletí bylo však potřeba rozlišit tyto hodnoty. Pokud ve formátovacím modelu použijete YY je rok brán jako aktuální tisíciletí, pokud RR je brán jako tisíciletí minulé.</a:t>
            </a:r>
          </a:p>
        </p:txBody>
      </p:sp>
      <p:pic>
        <p:nvPicPr>
          <p:cNvPr id="4" name="Picture 108">
            <a:extLst>
              <a:ext uri="{FF2B5EF4-FFF2-40B4-BE49-F238E27FC236}">
                <a16:creationId xmlns:a16="http://schemas.microsoft.com/office/drawing/2014/main" id="{8CCD7510-E2F4-4C5B-A8A5-63CFF2E8B2FE}"/>
              </a:ext>
            </a:extLst>
          </p:cNvPr>
          <p:cNvPicPr/>
          <p:nvPr/>
        </p:nvPicPr>
        <p:blipFill>
          <a:blip r:embed="rId2"/>
          <a:stretch>
            <a:fillRect/>
          </a:stretch>
        </p:blipFill>
        <p:spPr>
          <a:xfrm>
            <a:off x="838200" y="3729831"/>
            <a:ext cx="6046694" cy="1191793"/>
          </a:xfrm>
          <a:prstGeom prst="rect">
            <a:avLst/>
          </a:prstGeom>
        </p:spPr>
      </p:pic>
      <p:pic>
        <p:nvPicPr>
          <p:cNvPr id="5" name="Picture 109">
            <a:extLst>
              <a:ext uri="{FF2B5EF4-FFF2-40B4-BE49-F238E27FC236}">
                <a16:creationId xmlns:a16="http://schemas.microsoft.com/office/drawing/2014/main" id="{3A3E297E-F3F1-4ABC-A94C-0B4269B29B67}"/>
              </a:ext>
            </a:extLst>
          </p:cNvPr>
          <p:cNvPicPr/>
          <p:nvPr/>
        </p:nvPicPr>
        <p:blipFill>
          <a:blip r:embed="rId3"/>
          <a:stretch>
            <a:fillRect/>
          </a:stretch>
        </p:blipFill>
        <p:spPr>
          <a:xfrm>
            <a:off x="5709396" y="4770811"/>
            <a:ext cx="6150909" cy="1406152"/>
          </a:xfrm>
          <a:prstGeom prst="rect">
            <a:avLst/>
          </a:prstGeom>
        </p:spPr>
      </p:pic>
    </p:spTree>
    <p:extLst>
      <p:ext uri="{BB962C8B-B14F-4D97-AF65-F5344CB8AC3E}">
        <p14:creationId xmlns:p14="http://schemas.microsoft.com/office/powerpoint/2010/main" val="3176088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4F5969C-83DC-45CE-9B42-2D875E8FA360}"/>
              </a:ext>
            </a:extLst>
          </p:cNvPr>
          <p:cNvSpPr>
            <a:spLocks noGrp="1"/>
          </p:cNvSpPr>
          <p:nvPr>
            <p:ph type="title"/>
          </p:nvPr>
        </p:nvSpPr>
        <p:spPr>
          <a:xfrm>
            <a:off x="838200" y="500062"/>
            <a:ext cx="10515600" cy="1325563"/>
          </a:xfrm>
        </p:spPr>
        <p:txBody>
          <a:bodyPr/>
          <a:lstStyle/>
          <a:p>
            <a:r>
              <a:rPr lang="cs-CZ" dirty="0"/>
              <a:t>Funkce pro práci s NULL I.</a:t>
            </a:r>
          </a:p>
        </p:txBody>
      </p:sp>
      <p:sp>
        <p:nvSpPr>
          <p:cNvPr id="3" name="Zástupný symbol pro obsah 2">
            <a:extLst>
              <a:ext uri="{FF2B5EF4-FFF2-40B4-BE49-F238E27FC236}">
                <a16:creationId xmlns:a16="http://schemas.microsoft.com/office/drawing/2014/main" id="{C7F6C756-C87F-4A72-943A-86C280FB6365}"/>
              </a:ext>
            </a:extLst>
          </p:cNvPr>
          <p:cNvSpPr>
            <a:spLocks noGrp="1"/>
          </p:cNvSpPr>
          <p:nvPr>
            <p:ph idx="1"/>
          </p:nvPr>
        </p:nvSpPr>
        <p:spPr/>
        <p:txBody>
          <a:bodyPr/>
          <a:lstStyle/>
          <a:p>
            <a:r>
              <a:rPr lang="cs-CZ" dirty="0"/>
              <a:t>Nejprve povídání o tom, jak jsou funkce zpracovávány.</a:t>
            </a:r>
          </a:p>
          <a:p>
            <a:r>
              <a:rPr lang="cs-CZ" dirty="0"/>
              <a:t>Doteď jste používali jednořádkové funkce v jednoduchých dotazech</a:t>
            </a:r>
          </a:p>
          <a:p>
            <a:r>
              <a:rPr lang="cs-CZ" dirty="0"/>
              <a:t>Je možné je používat do libovolně hloubky, ale je důležité vědět, jak jsou zpracovávány.</a:t>
            </a:r>
          </a:p>
          <a:p>
            <a:r>
              <a:rPr lang="cs-CZ" dirty="0"/>
              <a:t>Zanořování vždy referuje k další funkci, stejně jako vejce v hnízdě. Proces zpracovávání je od </a:t>
            </a:r>
            <a:r>
              <a:rPr lang="cs-CZ" dirty="0" err="1"/>
              <a:t>nejzanořenějši</a:t>
            </a:r>
            <a:r>
              <a:rPr lang="cs-CZ" dirty="0"/>
              <a:t> po nejkrajnější.</a:t>
            </a:r>
          </a:p>
        </p:txBody>
      </p:sp>
      <p:pic>
        <p:nvPicPr>
          <p:cNvPr id="4" name="Picture 111">
            <a:extLst>
              <a:ext uri="{FF2B5EF4-FFF2-40B4-BE49-F238E27FC236}">
                <a16:creationId xmlns:a16="http://schemas.microsoft.com/office/drawing/2014/main" id="{27AD38DF-B619-4F10-988A-DD6A879E10D6}"/>
              </a:ext>
            </a:extLst>
          </p:cNvPr>
          <p:cNvPicPr/>
          <p:nvPr/>
        </p:nvPicPr>
        <p:blipFill>
          <a:blip r:embed="rId2"/>
          <a:stretch>
            <a:fillRect/>
          </a:stretch>
        </p:blipFill>
        <p:spPr>
          <a:xfrm>
            <a:off x="4858589" y="4829175"/>
            <a:ext cx="3819525" cy="2028825"/>
          </a:xfrm>
          <a:prstGeom prst="rect">
            <a:avLst/>
          </a:prstGeom>
        </p:spPr>
      </p:pic>
    </p:spTree>
    <p:extLst>
      <p:ext uri="{BB962C8B-B14F-4D97-AF65-F5344CB8AC3E}">
        <p14:creationId xmlns:p14="http://schemas.microsoft.com/office/powerpoint/2010/main" val="36338514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8E7934E-D523-4569-983E-89B2DD3B2D7E}"/>
              </a:ext>
            </a:extLst>
          </p:cNvPr>
          <p:cNvSpPr>
            <a:spLocks noGrp="1"/>
          </p:cNvSpPr>
          <p:nvPr>
            <p:ph type="title"/>
          </p:nvPr>
        </p:nvSpPr>
        <p:spPr/>
        <p:txBody>
          <a:bodyPr/>
          <a:lstStyle/>
          <a:p>
            <a:r>
              <a:rPr lang="cs-CZ" dirty="0"/>
              <a:t>Odbočka, zpracování příkazu</a:t>
            </a:r>
          </a:p>
        </p:txBody>
      </p:sp>
      <p:sp>
        <p:nvSpPr>
          <p:cNvPr id="3" name="Zástupný symbol pro obsah 2">
            <a:extLst>
              <a:ext uri="{FF2B5EF4-FFF2-40B4-BE49-F238E27FC236}">
                <a16:creationId xmlns:a16="http://schemas.microsoft.com/office/drawing/2014/main" id="{5E285D2E-32F2-4693-8D36-6D50BEDF815C}"/>
              </a:ext>
            </a:extLst>
          </p:cNvPr>
          <p:cNvSpPr>
            <a:spLocks noGrp="1"/>
          </p:cNvSpPr>
          <p:nvPr>
            <p:ph idx="1"/>
          </p:nvPr>
        </p:nvSpPr>
        <p:spPr/>
        <p:txBody>
          <a:bodyPr/>
          <a:lstStyle/>
          <a:p>
            <a:endParaRPr lang="cs-CZ"/>
          </a:p>
        </p:txBody>
      </p:sp>
      <p:pic>
        <p:nvPicPr>
          <p:cNvPr id="4" name="Picture 112">
            <a:extLst>
              <a:ext uri="{FF2B5EF4-FFF2-40B4-BE49-F238E27FC236}">
                <a16:creationId xmlns:a16="http://schemas.microsoft.com/office/drawing/2014/main" id="{9C1D44F1-82B9-432F-9923-A1FF1A3E3E93}"/>
              </a:ext>
            </a:extLst>
          </p:cNvPr>
          <p:cNvPicPr/>
          <p:nvPr/>
        </p:nvPicPr>
        <p:blipFill>
          <a:blip r:embed="rId2"/>
          <a:stretch>
            <a:fillRect/>
          </a:stretch>
        </p:blipFill>
        <p:spPr>
          <a:xfrm>
            <a:off x="838200" y="1934369"/>
            <a:ext cx="8198224" cy="4377531"/>
          </a:xfrm>
          <a:prstGeom prst="rect">
            <a:avLst/>
          </a:prstGeom>
        </p:spPr>
      </p:pic>
    </p:spTree>
    <p:extLst>
      <p:ext uri="{BB962C8B-B14F-4D97-AF65-F5344CB8AC3E}">
        <p14:creationId xmlns:p14="http://schemas.microsoft.com/office/powerpoint/2010/main" val="1089612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C1660EC-E332-4F1C-A271-FFAAE0575F4A}"/>
              </a:ext>
            </a:extLst>
          </p:cNvPr>
          <p:cNvSpPr>
            <a:spLocks noGrp="1"/>
          </p:cNvSpPr>
          <p:nvPr>
            <p:ph type="title"/>
          </p:nvPr>
        </p:nvSpPr>
        <p:spPr/>
        <p:txBody>
          <a:bodyPr/>
          <a:lstStyle/>
          <a:p>
            <a:r>
              <a:rPr lang="cs-CZ" dirty="0"/>
              <a:t>Funkce pro práci s NULL II.</a:t>
            </a:r>
          </a:p>
        </p:txBody>
      </p:sp>
      <p:sp>
        <p:nvSpPr>
          <p:cNvPr id="3" name="Zástupný symbol pro obsah 2">
            <a:extLst>
              <a:ext uri="{FF2B5EF4-FFF2-40B4-BE49-F238E27FC236}">
                <a16:creationId xmlns:a16="http://schemas.microsoft.com/office/drawing/2014/main" id="{8D5EF242-1BD6-42B0-93B0-6D36AE737CAE}"/>
              </a:ext>
            </a:extLst>
          </p:cNvPr>
          <p:cNvSpPr>
            <a:spLocks noGrp="1"/>
          </p:cNvSpPr>
          <p:nvPr>
            <p:ph idx="1"/>
          </p:nvPr>
        </p:nvSpPr>
        <p:spPr/>
        <p:txBody>
          <a:bodyPr>
            <a:normAutofit/>
          </a:bodyPr>
          <a:lstStyle/>
          <a:p>
            <a:r>
              <a:rPr lang="cs-CZ" dirty="0"/>
              <a:t>Na začátku kurzu byl představen pojem </a:t>
            </a:r>
            <a:r>
              <a:rPr lang="cs-CZ" dirty="0" err="1"/>
              <a:t>null</a:t>
            </a:r>
            <a:r>
              <a:rPr lang="cs-CZ" dirty="0"/>
              <a:t> jako neznámá, nedostupná nebo nespecifikovaná hodnota. Nelze jej porovnávat s jinými jelikož nevíme, jakou hodnotu má.</a:t>
            </a:r>
          </a:p>
          <a:p>
            <a:r>
              <a:rPr lang="cs-CZ" dirty="0"/>
              <a:t>Představte si teď otázku zda je x=y? Jako odpověď musíte znát hodnoty x i y. </a:t>
            </a:r>
            <a:r>
              <a:rPr lang="cs-CZ" dirty="0" err="1"/>
              <a:t>Oracle</a:t>
            </a:r>
            <a:r>
              <a:rPr lang="cs-CZ" dirty="0"/>
              <a:t> nabízí 4 základní funkce pro práci s </a:t>
            </a:r>
            <a:r>
              <a:rPr lang="cs-CZ" dirty="0" err="1"/>
              <a:t>null</a:t>
            </a:r>
            <a:r>
              <a:rPr lang="cs-CZ" dirty="0"/>
              <a:t> hodnotami:</a:t>
            </a:r>
          </a:p>
          <a:p>
            <a:pPr lvl="1"/>
            <a:r>
              <a:rPr lang="cs-CZ" dirty="0"/>
              <a:t>NVL</a:t>
            </a:r>
          </a:p>
          <a:p>
            <a:pPr lvl="1"/>
            <a:r>
              <a:rPr lang="cs-CZ" dirty="0"/>
              <a:t>NVL2</a:t>
            </a:r>
          </a:p>
          <a:p>
            <a:pPr lvl="1"/>
            <a:r>
              <a:rPr lang="cs-CZ" dirty="0"/>
              <a:t>NULLIF</a:t>
            </a:r>
          </a:p>
          <a:p>
            <a:pPr lvl="1"/>
            <a:r>
              <a:rPr lang="cs-CZ" dirty="0"/>
              <a:t>COALESCE</a:t>
            </a:r>
          </a:p>
          <a:p>
            <a:endParaRPr lang="cs-CZ" dirty="0"/>
          </a:p>
        </p:txBody>
      </p:sp>
    </p:spTree>
    <p:extLst>
      <p:ext uri="{BB962C8B-B14F-4D97-AF65-F5344CB8AC3E}">
        <p14:creationId xmlns:p14="http://schemas.microsoft.com/office/powerpoint/2010/main" val="35941451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3ED038B-B5B8-48EA-9BBF-92D405153377}"/>
              </a:ext>
            </a:extLst>
          </p:cNvPr>
          <p:cNvSpPr>
            <a:spLocks noGrp="1"/>
          </p:cNvSpPr>
          <p:nvPr>
            <p:ph type="title"/>
          </p:nvPr>
        </p:nvSpPr>
        <p:spPr/>
        <p:txBody>
          <a:bodyPr/>
          <a:lstStyle/>
          <a:p>
            <a:r>
              <a:rPr lang="cs-CZ" dirty="0"/>
              <a:t>NVL I.</a:t>
            </a:r>
          </a:p>
        </p:txBody>
      </p:sp>
      <p:sp>
        <p:nvSpPr>
          <p:cNvPr id="3" name="Zástupný symbol pro obsah 2">
            <a:extLst>
              <a:ext uri="{FF2B5EF4-FFF2-40B4-BE49-F238E27FC236}">
                <a16:creationId xmlns:a16="http://schemas.microsoft.com/office/drawing/2014/main" id="{A9231D7C-1F81-47E8-87C5-698859BAC207}"/>
              </a:ext>
            </a:extLst>
          </p:cNvPr>
          <p:cNvSpPr>
            <a:spLocks noGrp="1"/>
          </p:cNvSpPr>
          <p:nvPr>
            <p:ph idx="1"/>
          </p:nvPr>
        </p:nvSpPr>
        <p:spPr/>
        <p:txBody>
          <a:bodyPr/>
          <a:lstStyle/>
          <a:p>
            <a:r>
              <a:rPr lang="cs-CZ" dirty="0"/>
              <a:t>Konvertuje </a:t>
            </a:r>
            <a:r>
              <a:rPr lang="cs-CZ" dirty="0" err="1"/>
              <a:t>null</a:t>
            </a:r>
            <a:r>
              <a:rPr lang="cs-CZ" dirty="0"/>
              <a:t> hodnoty na známou hodnotu daného datového typu. Datový typ </a:t>
            </a:r>
            <a:r>
              <a:rPr lang="cs-CZ" dirty="0" err="1"/>
              <a:t>null</a:t>
            </a:r>
            <a:r>
              <a:rPr lang="cs-CZ" dirty="0"/>
              <a:t> hodnoty a nové hodnoty musí být shodný.</a:t>
            </a:r>
          </a:p>
        </p:txBody>
      </p:sp>
      <p:pic>
        <p:nvPicPr>
          <p:cNvPr id="4" name="Picture 113">
            <a:extLst>
              <a:ext uri="{FF2B5EF4-FFF2-40B4-BE49-F238E27FC236}">
                <a16:creationId xmlns:a16="http://schemas.microsoft.com/office/drawing/2014/main" id="{63BD2C49-3A1D-47EC-8EB7-5AAE1EF68085}"/>
              </a:ext>
            </a:extLst>
          </p:cNvPr>
          <p:cNvPicPr/>
          <p:nvPr/>
        </p:nvPicPr>
        <p:blipFill>
          <a:blip r:embed="rId2"/>
          <a:stretch>
            <a:fillRect/>
          </a:stretch>
        </p:blipFill>
        <p:spPr>
          <a:xfrm>
            <a:off x="838200" y="2890556"/>
            <a:ext cx="5535706" cy="874619"/>
          </a:xfrm>
          <a:prstGeom prst="rect">
            <a:avLst/>
          </a:prstGeom>
        </p:spPr>
      </p:pic>
      <p:pic>
        <p:nvPicPr>
          <p:cNvPr id="5" name="Picture 114">
            <a:extLst>
              <a:ext uri="{FF2B5EF4-FFF2-40B4-BE49-F238E27FC236}">
                <a16:creationId xmlns:a16="http://schemas.microsoft.com/office/drawing/2014/main" id="{6CBFB5AA-0078-4B33-B693-7E2CF9ED8E2D}"/>
              </a:ext>
            </a:extLst>
          </p:cNvPr>
          <p:cNvPicPr/>
          <p:nvPr/>
        </p:nvPicPr>
        <p:blipFill>
          <a:blip r:embed="rId3"/>
          <a:stretch>
            <a:fillRect/>
          </a:stretch>
        </p:blipFill>
        <p:spPr>
          <a:xfrm>
            <a:off x="6373906" y="3071436"/>
            <a:ext cx="5244353" cy="2791481"/>
          </a:xfrm>
          <a:prstGeom prst="rect">
            <a:avLst/>
          </a:prstGeom>
        </p:spPr>
      </p:pic>
    </p:spTree>
    <p:extLst>
      <p:ext uri="{BB962C8B-B14F-4D97-AF65-F5344CB8AC3E}">
        <p14:creationId xmlns:p14="http://schemas.microsoft.com/office/powerpoint/2010/main" val="42704036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373CDA9-B98C-49E3-9763-6B71EFF40A5E}"/>
              </a:ext>
            </a:extLst>
          </p:cNvPr>
          <p:cNvSpPr>
            <a:spLocks noGrp="1"/>
          </p:cNvSpPr>
          <p:nvPr>
            <p:ph type="title"/>
          </p:nvPr>
        </p:nvSpPr>
        <p:spPr/>
        <p:txBody>
          <a:bodyPr/>
          <a:lstStyle/>
          <a:p>
            <a:r>
              <a:rPr lang="cs-CZ" dirty="0"/>
              <a:t>NVL II.</a:t>
            </a:r>
          </a:p>
        </p:txBody>
      </p:sp>
      <p:sp>
        <p:nvSpPr>
          <p:cNvPr id="3" name="Zástupný symbol pro obsah 2">
            <a:extLst>
              <a:ext uri="{FF2B5EF4-FFF2-40B4-BE49-F238E27FC236}">
                <a16:creationId xmlns:a16="http://schemas.microsoft.com/office/drawing/2014/main" id="{606452A9-9FAA-4291-BE20-4CDEBBC0B9C5}"/>
              </a:ext>
            </a:extLst>
          </p:cNvPr>
          <p:cNvSpPr>
            <a:spLocks noGrp="1"/>
          </p:cNvSpPr>
          <p:nvPr>
            <p:ph idx="1"/>
          </p:nvPr>
        </p:nvSpPr>
        <p:spPr/>
        <p:txBody>
          <a:bodyPr/>
          <a:lstStyle/>
          <a:p>
            <a:r>
              <a:rPr lang="cs-CZ" dirty="0"/>
              <a:t>NVL můžete použít pro konverzi sloupců obsahujících </a:t>
            </a:r>
            <a:r>
              <a:rPr lang="cs-CZ" dirty="0" err="1"/>
              <a:t>null</a:t>
            </a:r>
            <a:r>
              <a:rPr lang="cs-CZ" dirty="0"/>
              <a:t> hodnoty na čísla před provedením kalkulace. Když je aritmetická operace prováděna s </a:t>
            </a:r>
            <a:r>
              <a:rPr lang="cs-CZ" dirty="0" err="1"/>
              <a:t>null</a:t>
            </a:r>
            <a:r>
              <a:rPr lang="cs-CZ" dirty="0"/>
              <a:t>, výsledkem je také </a:t>
            </a:r>
            <a:r>
              <a:rPr lang="cs-CZ" dirty="0" err="1"/>
              <a:t>null</a:t>
            </a:r>
            <a:r>
              <a:rPr lang="cs-CZ" dirty="0"/>
              <a:t>. Tomu lze předejít právě použitím </a:t>
            </a:r>
            <a:r>
              <a:rPr lang="cs-CZ" dirty="0" err="1"/>
              <a:t>nvl</a:t>
            </a:r>
            <a:r>
              <a:rPr lang="cs-CZ" dirty="0"/>
              <a:t> funkce.</a:t>
            </a:r>
          </a:p>
        </p:txBody>
      </p:sp>
      <p:pic>
        <p:nvPicPr>
          <p:cNvPr id="4" name="Picture 116">
            <a:extLst>
              <a:ext uri="{FF2B5EF4-FFF2-40B4-BE49-F238E27FC236}">
                <a16:creationId xmlns:a16="http://schemas.microsoft.com/office/drawing/2014/main" id="{910E1030-80D9-436D-B5EF-E24F58DF0A8E}"/>
              </a:ext>
            </a:extLst>
          </p:cNvPr>
          <p:cNvPicPr/>
          <p:nvPr/>
        </p:nvPicPr>
        <p:blipFill>
          <a:blip r:embed="rId2"/>
          <a:stretch>
            <a:fillRect/>
          </a:stretch>
        </p:blipFill>
        <p:spPr>
          <a:xfrm>
            <a:off x="2672322" y="3578598"/>
            <a:ext cx="6014478" cy="2733301"/>
          </a:xfrm>
          <a:prstGeom prst="rect">
            <a:avLst/>
          </a:prstGeom>
        </p:spPr>
      </p:pic>
    </p:spTree>
    <p:extLst>
      <p:ext uri="{BB962C8B-B14F-4D97-AF65-F5344CB8AC3E}">
        <p14:creationId xmlns:p14="http://schemas.microsoft.com/office/powerpoint/2010/main" val="12375619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A1DC44A-83D6-485D-B141-A1E42CA87361}"/>
              </a:ext>
            </a:extLst>
          </p:cNvPr>
          <p:cNvSpPr>
            <a:spLocks noGrp="1"/>
          </p:cNvSpPr>
          <p:nvPr>
            <p:ph type="title"/>
          </p:nvPr>
        </p:nvSpPr>
        <p:spPr/>
        <p:txBody>
          <a:bodyPr/>
          <a:lstStyle/>
          <a:p>
            <a:r>
              <a:rPr lang="cs-CZ" dirty="0"/>
              <a:t>NVL2</a:t>
            </a:r>
          </a:p>
        </p:txBody>
      </p:sp>
      <p:sp>
        <p:nvSpPr>
          <p:cNvPr id="3" name="Zástupný symbol pro obsah 2">
            <a:extLst>
              <a:ext uri="{FF2B5EF4-FFF2-40B4-BE49-F238E27FC236}">
                <a16:creationId xmlns:a16="http://schemas.microsoft.com/office/drawing/2014/main" id="{7D8A8089-457E-4ACD-A921-B671D96F3342}"/>
              </a:ext>
            </a:extLst>
          </p:cNvPr>
          <p:cNvSpPr>
            <a:spLocks noGrp="1"/>
          </p:cNvSpPr>
          <p:nvPr>
            <p:ph idx="1"/>
          </p:nvPr>
        </p:nvSpPr>
        <p:spPr/>
        <p:txBody>
          <a:bodyPr/>
          <a:lstStyle/>
          <a:p>
            <a:r>
              <a:rPr lang="cs-CZ" dirty="0"/>
              <a:t>Funkce pracující se 3 hodnotami. První hodnota pokud není </a:t>
            </a:r>
            <a:r>
              <a:rPr lang="cs-CZ" dirty="0" err="1"/>
              <a:t>null</a:t>
            </a:r>
            <a:r>
              <a:rPr lang="cs-CZ" dirty="0"/>
              <a:t>, potom funkce vrátí druhý výraz. Pokud první hodnota je </a:t>
            </a:r>
            <a:r>
              <a:rPr lang="cs-CZ" dirty="0" err="1"/>
              <a:t>null</a:t>
            </a:r>
            <a:r>
              <a:rPr lang="cs-CZ" dirty="0"/>
              <a:t>, je vrácena třetí hodnota.</a:t>
            </a:r>
          </a:p>
        </p:txBody>
      </p:sp>
      <p:pic>
        <p:nvPicPr>
          <p:cNvPr id="4" name="Picture 117">
            <a:extLst>
              <a:ext uri="{FF2B5EF4-FFF2-40B4-BE49-F238E27FC236}">
                <a16:creationId xmlns:a16="http://schemas.microsoft.com/office/drawing/2014/main" id="{08E64276-229B-4197-ADB8-724018B25F5F}"/>
              </a:ext>
            </a:extLst>
          </p:cNvPr>
          <p:cNvPicPr/>
          <p:nvPr/>
        </p:nvPicPr>
        <p:blipFill>
          <a:blip r:embed="rId2"/>
          <a:stretch>
            <a:fillRect/>
          </a:stretch>
        </p:blipFill>
        <p:spPr>
          <a:xfrm>
            <a:off x="3196198" y="3118037"/>
            <a:ext cx="6862202" cy="1319492"/>
          </a:xfrm>
          <a:prstGeom prst="rect">
            <a:avLst/>
          </a:prstGeom>
        </p:spPr>
      </p:pic>
    </p:spTree>
    <p:extLst>
      <p:ext uri="{BB962C8B-B14F-4D97-AF65-F5344CB8AC3E}">
        <p14:creationId xmlns:p14="http://schemas.microsoft.com/office/powerpoint/2010/main" val="41095116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BD7CA8D-321B-4327-8F53-234DAC4E0302}"/>
              </a:ext>
            </a:extLst>
          </p:cNvPr>
          <p:cNvSpPr>
            <a:spLocks noGrp="1"/>
          </p:cNvSpPr>
          <p:nvPr>
            <p:ph type="title"/>
          </p:nvPr>
        </p:nvSpPr>
        <p:spPr/>
        <p:txBody>
          <a:bodyPr/>
          <a:lstStyle/>
          <a:p>
            <a:r>
              <a:rPr lang="cs-CZ" dirty="0"/>
              <a:t>NULLIF</a:t>
            </a:r>
          </a:p>
        </p:txBody>
      </p:sp>
      <p:sp>
        <p:nvSpPr>
          <p:cNvPr id="3" name="Zástupný symbol pro obsah 2">
            <a:extLst>
              <a:ext uri="{FF2B5EF4-FFF2-40B4-BE49-F238E27FC236}">
                <a16:creationId xmlns:a16="http://schemas.microsoft.com/office/drawing/2014/main" id="{EC87B2C0-7004-4806-A1ED-5E58E5C2EEA0}"/>
              </a:ext>
            </a:extLst>
          </p:cNvPr>
          <p:cNvSpPr>
            <a:spLocks noGrp="1"/>
          </p:cNvSpPr>
          <p:nvPr>
            <p:ph idx="1"/>
          </p:nvPr>
        </p:nvSpPr>
        <p:spPr/>
        <p:txBody>
          <a:bodyPr/>
          <a:lstStyle/>
          <a:p>
            <a:r>
              <a:rPr lang="cs-CZ" dirty="0"/>
              <a:t>Porovnává 2 výrazy. Pokud jsou shodně, funkce vrací nul, pokud nejsou shodně, potom vrací první výraz.</a:t>
            </a:r>
          </a:p>
        </p:txBody>
      </p:sp>
      <p:pic>
        <p:nvPicPr>
          <p:cNvPr id="4" name="Picture 119">
            <a:extLst>
              <a:ext uri="{FF2B5EF4-FFF2-40B4-BE49-F238E27FC236}">
                <a16:creationId xmlns:a16="http://schemas.microsoft.com/office/drawing/2014/main" id="{FEAC8F3F-7233-4654-A6B6-797145A682B4}"/>
              </a:ext>
            </a:extLst>
          </p:cNvPr>
          <p:cNvPicPr/>
          <p:nvPr/>
        </p:nvPicPr>
        <p:blipFill>
          <a:blip r:embed="rId2"/>
          <a:stretch>
            <a:fillRect/>
          </a:stretch>
        </p:blipFill>
        <p:spPr>
          <a:xfrm>
            <a:off x="838200" y="3021946"/>
            <a:ext cx="5186082" cy="756583"/>
          </a:xfrm>
          <a:prstGeom prst="rect">
            <a:avLst/>
          </a:prstGeom>
        </p:spPr>
      </p:pic>
      <p:pic>
        <p:nvPicPr>
          <p:cNvPr id="5" name="Picture 120">
            <a:extLst>
              <a:ext uri="{FF2B5EF4-FFF2-40B4-BE49-F238E27FC236}">
                <a16:creationId xmlns:a16="http://schemas.microsoft.com/office/drawing/2014/main" id="{5082446A-2537-487A-A1CE-28290AAA974B}"/>
              </a:ext>
            </a:extLst>
          </p:cNvPr>
          <p:cNvPicPr/>
          <p:nvPr/>
        </p:nvPicPr>
        <p:blipFill>
          <a:blip r:embed="rId3"/>
          <a:stretch>
            <a:fillRect/>
          </a:stretch>
        </p:blipFill>
        <p:spPr>
          <a:xfrm>
            <a:off x="4171950" y="3913466"/>
            <a:ext cx="6397438" cy="2398433"/>
          </a:xfrm>
          <a:prstGeom prst="rect">
            <a:avLst/>
          </a:prstGeom>
        </p:spPr>
      </p:pic>
    </p:spTree>
    <p:extLst>
      <p:ext uri="{BB962C8B-B14F-4D97-AF65-F5344CB8AC3E}">
        <p14:creationId xmlns:p14="http://schemas.microsoft.com/office/powerpoint/2010/main" val="39322128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833DC73-598F-4B2D-B87F-5A76F466C1EC}"/>
              </a:ext>
            </a:extLst>
          </p:cNvPr>
          <p:cNvSpPr>
            <a:spLocks noGrp="1"/>
          </p:cNvSpPr>
          <p:nvPr>
            <p:ph type="title"/>
          </p:nvPr>
        </p:nvSpPr>
        <p:spPr/>
        <p:txBody>
          <a:bodyPr/>
          <a:lstStyle/>
          <a:p>
            <a:r>
              <a:rPr lang="cs-CZ" dirty="0"/>
              <a:t>COALESCE</a:t>
            </a:r>
          </a:p>
        </p:txBody>
      </p:sp>
      <p:sp>
        <p:nvSpPr>
          <p:cNvPr id="3" name="Zástupný symbol pro obsah 2">
            <a:extLst>
              <a:ext uri="{FF2B5EF4-FFF2-40B4-BE49-F238E27FC236}">
                <a16:creationId xmlns:a16="http://schemas.microsoft.com/office/drawing/2014/main" id="{C0E56DB5-F4E5-4ABE-92C0-142830DCBA14}"/>
              </a:ext>
            </a:extLst>
          </p:cNvPr>
          <p:cNvSpPr>
            <a:spLocks noGrp="1"/>
          </p:cNvSpPr>
          <p:nvPr>
            <p:ph idx="1"/>
          </p:nvPr>
        </p:nvSpPr>
        <p:spPr/>
        <p:txBody>
          <a:bodyPr/>
          <a:lstStyle/>
          <a:p>
            <a:r>
              <a:rPr lang="cs-CZ" dirty="0"/>
              <a:t>Je rozšířením pro NVL funkci, doslovně se překládá jako to </a:t>
            </a:r>
            <a:r>
              <a:rPr lang="cs-CZ" dirty="0" err="1"/>
              <a:t>come</a:t>
            </a:r>
            <a:r>
              <a:rPr lang="cs-CZ" dirty="0"/>
              <a:t> </a:t>
            </a:r>
            <a:r>
              <a:rPr lang="cs-CZ" dirty="0" err="1"/>
              <a:t>together</a:t>
            </a:r>
            <a:r>
              <a:rPr lang="cs-CZ" dirty="0"/>
              <a:t>, pokud výraz není platný, pokračuje na další a další.</a:t>
            </a:r>
          </a:p>
        </p:txBody>
      </p:sp>
      <p:pic>
        <p:nvPicPr>
          <p:cNvPr id="4" name="Picture 121">
            <a:extLst>
              <a:ext uri="{FF2B5EF4-FFF2-40B4-BE49-F238E27FC236}">
                <a16:creationId xmlns:a16="http://schemas.microsoft.com/office/drawing/2014/main" id="{F94ACE35-05A5-42A5-BF63-E33CF18EDD7F}"/>
              </a:ext>
            </a:extLst>
          </p:cNvPr>
          <p:cNvPicPr/>
          <p:nvPr/>
        </p:nvPicPr>
        <p:blipFill>
          <a:blip r:embed="rId2"/>
          <a:stretch>
            <a:fillRect/>
          </a:stretch>
        </p:blipFill>
        <p:spPr>
          <a:xfrm>
            <a:off x="838200" y="3124760"/>
            <a:ext cx="4997824" cy="586627"/>
          </a:xfrm>
          <a:prstGeom prst="rect">
            <a:avLst/>
          </a:prstGeom>
        </p:spPr>
      </p:pic>
      <p:pic>
        <p:nvPicPr>
          <p:cNvPr id="5" name="Picture 122">
            <a:extLst>
              <a:ext uri="{FF2B5EF4-FFF2-40B4-BE49-F238E27FC236}">
                <a16:creationId xmlns:a16="http://schemas.microsoft.com/office/drawing/2014/main" id="{B360208C-EA35-40C8-911E-7CB96F56ECBC}"/>
              </a:ext>
            </a:extLst>
          </p:cNvPr>
          <p:cNvPicPr/>
          <p:nvPr/>
        </p:nvPicPr>
        <p:blipFill>
          <a:blip r:embed="rId3"/>
          <a:stretch>
            <a:fillRect/>
          </a:stretch>
        </p:blipFill>
        <p:spPr>
          <a:xfrm>
            <a:off x="4567517" y="3846324"/>
            <a:ext cx="6163236" cy="2465576"/>
          </a:xfrm>
          <a:prstGeom prst="rect">
            <a:avLst/>
          </a:prstGeom>
        </p:spPr>
      </p:pic>
    </p:spTree>
    <p:extLst>
      <p:ext uri="{BB962C8B-B14F-4D97-AF65-F5344CB8AC3E}">
        <p14:creationId xmlns:p14="http://schemas.microsoft.com/office/powerpoint/2010/main" val="15333037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920A1F3-16CF-484D-937D-97FE42F4F510}"/>
              </a:ext>
            </a:extLst>
          </p:cNvPr>
          <p:cNvSpPr>
            <a:spLocks noGrp="1"/>
          </p:cNvSpPr>
          <p:nvPr>
            <p:ph type="title"/>
          </p:nvPr>
        </p:nvSpPr>
        <p:spPr/>
        <p:txBody>
          <a:bodyPr/>
          <a:lstStyle/>
          <a:p>
            <a:r>
              <a:rPr lang="cs-CZ" dirty="0"/>
              <a:t>CASE a DECODE</a:t>
            </a:r>
          </a:p>
        </p:txBody>
      </p:sp>
      <p:sp>
        <p:nvSpPr>
          <p:cNvPr id="3" name="Zástupný symbol pro obsah 2">
            <a:extLst>
              <a:ext uri="{FF2B5EF4-FFF2-40B4-BE49-F238E27FC236}">
                <a16:creationId xmlns:a16="http://schemas.microsoft.com/office/drawing/2014/main" id="{D8936421-294D-4451-BF67-0B07E45F1F8B}"/>
              </a:ext>
            </a:extLst>
          </p:cNvPr>
          <p:cNvSpPr>
            <a:spLocks noGrp="1"/>
          </p:cNvSpPr>
          <p:nvPr>
            <p:ph idx="1"/>
          </p:nvPr>
        </p:nvSpPr>
        <p:spPr>
          <a:xfrm>
            <a:off x="421341" y="1825624"/>
            <a:ext cx="10515600" cy="4351338"/>
          </a:xfrm>
        </p:spPr>
        <p:txBody>
          <a:bodyPr/>
          <a:lstStyle/>
          <a:p>
            <a:r>
              <a:rPr lang="cs-CZ" dirty="0"/>
              <a:t>Dva podmíněně výrazy jsou CASE a DECODE. Už jsme studovali NULLIF což je logicky ekvivalent k výrazu CASE.</a:t>
            </a:r>
          </a:p>
          <a:p>
            <a:r>
              <a:rPr lang="cs-CZ" dirty="0"/>
              <a:t>CASE a DECODE znamenají to samé jenom se každé používá v rámci jiného standardu. Maji odlišnou syntaxi.</a:t>
            </a:r>
          </a:p>
        </p:txBody>
      </p:sp>
      <p:pic>
        <p:nvPicPr>
          <p:cNvPr id="4" name="Picture 123">
            <a:extLst>
              <a:ext uri="{FF2B5EF4-FFF2-40B4-BE49-F238E27FC236}">
                <a16:creationId xmlns:a16="http://schemas.microsoft.com/office/drawing/2014/main" id="{F8F325FE-2158-47A4-B2AE-32F7F7340538}"/>
              </a:ext>
            </a:extLst>
          </p:cNvPr>
          <p:cNvPicPr/>
          <p:nvPr/>
        </p:nvPicPr>
        <p:blipFill>
          <a:blip r:embed="rId2"/>
          <a:stretch>
            <a:fillRect/>
          </a:stretch>
        </p:blipFill>
        <p:spPr>
          <a:xfrm>
            <a:off x="5396753" y="365125"/>
            <a:ext cx="4392706" cy="1111670"/>
          </a:xfrm>
          <a:prstGeom prst="rect">
            <a:avLst/>
          </a:prstGeom>
        </p:spPr>
      </p:pic>
      <p:pic>
        <p:nvPicPr>
          <p:cNvPr id="5" name="Picture 124">
            <a:extLst>
              <a:ext uri="{FF2B5EF4-FFF2-40B4-BE49-F238E27FC236}">
                <a16:creationId xmlns:a16="http://schemas.microsoft.com/office/drawing/2014/main" id="{920D99A9-08F1-41B4-B6E5-C41BB64D0FC8}"/>
              </a:ext>
            </a:extLst>
          </p:cNvPr>
          <p:cNvPicPr/>
          <p:nvPr/>
        </p:nvPicPr>
        <p:blipFill>
          <a:blip r:embed="rId3"/>
          <a:stretch>
            <a:fillRect/>
          </a:stretch>
        </p:blipFill>
        <p:spPr>
          <a:xfrm>
            <a:off x="838200" y="3819804"/>
            <a:ext cx="4108357" cy="3119158"/>
          </a:xfrm>
          <a:prstGeom prst="rect">
            <a:avLst/>
          </a:prstGeom>
        </p:spPr>
      </p:pic>
      <p:pic>
        <p:nvPicPr>
          <p:cNvPr id="6" name="Picture 125">
            <a:extLst>
              <a:ext uri="{FF2B5EF4-FFF2-40B4-BE49-F238E27FC236}">
                <a16:creationId xmlns:a16="http://schemas.microsoft.com/office/drawing/2014/main" id="{EEE23E88-4C2A-4E85-BF04-F8B61A1AEDED}"/>
              </a:ext>
            </a:extLst>
          </p:cNvPr>
          <p:cNvPicPr/>
          <p:nvPr/>
        </p:nvPicPr>
        <p:blipFill>
          <a:blip r:embed="rId4"/>
          <a:stretch>
            <a:fillRect/>
          </a:stretch>
        </p:blipFill>
        <p:spPr>
          <a:xfrm>
            <a:off x="5766827" y="3738842"/>
            <a:ext cx="5170114" cy="3119158"/>
          </a:xfrm>
          <a:prstGeom prst="rect">
            <a:avLst/>
          </a:prstGeom>
        </p:spPr>
      </p:pic>
    </p:spTree>
    <p:extLst>
      <p:ext uri="{BB962C8B-B14F-4D97-AF65-F5344CB8AC3E}">
        <p14:creationId xmlns:p14="http://schemas.microsoft.com/office/powerpoint/2010/main" val="1172406449"/>
      </p:ext>
    </p:extLst>
  </p:cSld>
  <p:clrMapOvr>
    <a:masterClrMapping/>
  </p:clrMapOvr>
</p:sld>
</file>

<file path=ppt/theme/theme1.xml><?xml version="1.0" encoding="utf-8"?>
<a:theme xmlns:a="http://schemas.openxmlformats.org/drawingml/2006/main" name="Moti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i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206</TotalTime>
  <Words>1657</Words>
  <Application>Microsoft Office PowerPoint</Application>
  <PresentationFormat>Širokoúhlá obrazovka</PresentationFormat>
  <Paragraphs>155</Paragraphs>
  <Slides>53</Slides>
  <Notes>2</Notes>
  <HiddenSlides>0</HiddenSlides>
  <MMClips>0</MMClips>
  <ScaleCrop>false</ScaleCrop>
  <HeadingPairs>
    <vt:vector size="6" baseType="variant">
      <vt:variant>
        <vt:lpstr>Použitá písma</vt:lpstr>
      </vt:variant>
      <vt:variant>
        <vt:i4>4</vt:i4>
      </vt:variant>
      <vt:variant>
        <vt:lpstr>Motiv</vt:lpstr>
      </vt:variant>
      <vt:variant>
        <vt:i4>1</vt:i4>
      </vt:variant>
      <vt:variant>
        <vt:lpstr>Nadpisy snímků</vt:lpstr>
      </vt:variant>
      <vt:variant>
        <vt:i4>53</vt:i4>
      </vt:variant>
    </vt:vector>
  </HeadingPairs>
  <TitlesOfParts>
    <vt:vector size="58" baseType="lpstr">
      <vt:lpstr>Arial</vt:lpstr>
      <vt:lpstr>Calibri</vt:lpstr>
      <vt:lpstr>Calibri Light</vt:lpstr>
      <vt:lpstr>Wingdings</vt:lpstr>
      <vt:lpstr>Motiv Office</vt:lpstr>
      <vt:lpstr>Jednořádkové funkce, manipulace se znaky</vt:lpstr>
      <vt:lpstr>Tabulka DUAL</vt:lpstr>
      <vt:lpstr>Jednořádkové znakové funkce I.</vt:lpstr>
      <vt:lpstr>Jednořádkové znakové funkce II.</vt:lpstr>
      <vt:lpstr>Jednořádkové znakové funkce III.</vt:lpstr>
      <vt:lpstr>Jednořádkové znakové funkce IV.</vt:lpstr>
      <vt:lpstr>Funkce pro manipulaci se znaky</vt:lpstr>
      <vt:lpstr>CONCAT</vt:lpstr>
      <vt:lpstr>SUBSTR</vt:lpstr>
      <vt:lpstr>LENGTH</vt:lpstr>
      <vt:lpstr>INSTR</vt:lpstr>
      <vt:lpstr>LPAD</vt:lpstr>
      <vt:lpstr>RPAD</vt:lpstr>
      <vt:lpstr>TRIM</vt:lpstr>
      <vt:lpstr>REPLACE</vt:lpstr>
      <vt:lpstr>Použití aliasu pro sloupce s funkcí</vt:lpstr>
      <vt:lpstr>Substituční proměnné I.</vt:lpstr>
      <vt:lpstr>Substituční proměnné II.</vt:lpstr>
      <vt:lpstr>Číselné jednořádkové funkce</vt:lpstr>
      <vt:lpstr>ROUND</vt:lpstr>
      <vt:lpstr>TRUNC</vt:lpstr>
      <vt:lpstr>MOD</vt:lpstr>
      <vt:lpstr>Funkce pro práci s datumy</vt:lpstr>
      <vt:lpstr>SYSDATE</vt:lpstr>
      <vt:lpstr>Datový typ DATE</vt:lpstr>
      <vt:lpstr>Funkce pro datum</vt:lpstr>
      <vt:lpstr>MONTHS_BETWEEN</vt:lpstr>
      <vt:lpstr>ADD_MONTHS</vt:lpstr>
      <vt:lpstr>NEXT_DAY</vt:lpstr>
      <vt:lpstr>LAST_DAY</vt:lpstr>
      <vt:lpstr>ROUND</vt:lpstr>
      <vt:lpstr>TRUNC</vt:lpstr>
      <vt:lpstr>Příklad</vt:lpstr>
      <vt:lpstr>Konverzní funkce</vt:lpstr>
      <vt:lpstr>Datové typy</vt:lpstr>
      <vt:lpstr>Explicitní konverze</vt:lpstr>
      <vt:lpstr>Konverze data do znakového řetězce I.</vt:lpstr>
      <vt:lpstr>Konverze data do znakového řetězce II.</vt:lpstr>
      <vt:lpstr>Konverze data do znakového řetězce III.</vt:lpstr>
      <vt:lpstr>Konverze NUMBER na VARCHAR2</vt:lpstr>
      <vt:lpstr>Konverze znaku na čísla</vt:lpstr>
      <vt:lpstr>Konverze znakového řetězce na datum</vt:lpstr>
      <vt:lpstr>Pravidla modifikátoru fx</vt:lpstr>
      <vt:lpstr>RR a YY formát datumu</vt:lpstr>
      <vt:lpstr>Funkce pro práci s NULL I.</vt:lpstr>
      <vt:lpstr>Odbočka, zpracování příkazu</vt:lpstr>
      <vt:lpstr>Funkce pro práci s NULL II.</vt:lpstr>
      <vt:lpstr>NVL I.</vt:lpstr>
      <vt:lpstr>NVL II.</vt:lpstr>
      <vt:lpstr>NVL2</vt:lpstr>
      <vt:lpstr>NULLIF</vt:lpstr>
      <vt:lpstr>COALESCE</vt:lpstr>
      <vt:lpstr>CASE a DECODE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Jednořádkové funkce, manipulace se znaky</dc:title>
  <dc:creator>Veronika Hurtová</dc:creator>
  <cp:lastModifiedBy>Veronika</cp:lastModifiedBy>
  <cp:revision>23</cp:revision>
  <dcterms:created xsi:type="dcterms:W3CDTF">2017-10-25T06:25:45Z</dcterms:created>
  <dcterms:modified xsi:type="dcterms:W3CDTF">2019-03-21T13:46:50Z</dcterms:modified>
</cp:coreProperties>
</file>