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A02B1E-BC62-4F3B-A614-1BD036213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93DC4AD-5D5E-4025-8D38-286E7D064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988B0E-66B6-4AFD-9E53-356483DE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1A3216-FA6E-45FD-B9AF-C6C8A72F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42CA2A-C974-4395-A0A4-6FF324A3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839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7D6C77-E3A8-4075-BD37-188E8827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ED4A722-D620-4DA2-9886-76396AB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1BAA79-7043-4FF5-BA57-4E295CC4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7E32EF-593B-42F9-A465-6817A0C5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9A1F31-7186-4C08-8549-DD0243EE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45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D309BE-97B7-4C3E-BF93-605D9810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C8D15899-8644-4979-BB02-927C22A0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BA82E4-C25A-409B-9487-4479AF7F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3187F3-67E4-4683-87E8-1480E7D8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8EBFB2E-8C1B-4572-9EF4-7EF6A1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173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435DB3-6821-471F-B9C2-402BB6F6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DEB4E82-B38E-4E68-93F3-98036B8AF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6B1FE50-4634-4061-AA6F-028AAD0F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38966FD-C930-45F9-BDED-5255AAEE7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08D79A8-EA79-4A79-A9BA-8B9376F7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97CA7D1-4792-40CF-BA72-EFE0EF18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524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7340FF-C14D-4B44-9826-8B2777C5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7AF5FCF7-D9A7-4C76-88CA-8C46A4F8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A203EB0A-E037-4C52-AB45-9CA02AB7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E2F4E18D-3505-4C6D-97EA-18454EF38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DC95097A-8EF3-422E-B681-D23C6272F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A9BAB10-82C3-4BF7-AA02-5EB37541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60591CB-AB1F-4AA3-A2DB-CE188AC5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ED76324-8069-402F-B0B7-405D3152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622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661AD-298C-44E1-8951-384047C2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A04F731-330D-4F70-A780-3DBE24E3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CC0E8A5-713B-461E-ACA9-2671DA02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E77BB10-C7CF-4FC6-906D-7D6778CC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836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35B90E8-62C6-420E-933F-70EF0C64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A946D30-38A3-4B1E-B2F2-E7406A22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9CC4F3D-2403-43FF-921A-DA14DDCA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881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38E6C6-1C09-49BE-9530-8AC744D3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FFBD3D5-5FDA-488A-AA4C-5E961907F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3839EAE2-4BD0-429E-9C82-18476E7EA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EF95D07-B8D7-44AC-98F0-0E1D98CB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B3F4766-C2B8-4A85-A36E-7E269026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2206EDB-F41F-411A-A9CB-B683DC01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439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71270B-DE07-456E-A8E6-318594BF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12CACC1-EFCC-48AB-A786-FA0BA1AEE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7FAE466C-7E91-4E30-80D8-8D6193C63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02789B-86D6-41B5-B927-991360D8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50F377-2B2C-4B5F-864F-1A2CDF76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A4D8501-0A7C-4294-94B6-067884AD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578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702437-643B-43F0-95C5-BDBC1B55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2722E1-A729-4717-BBA4-8EF2E7E87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F25007-8F4E-46A9-A78A-BF1AB74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122C0E1-0641-4850-A493-57347578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E39165-E4E8-492A-8C3C-CEB817B3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111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61C70EE-4DEF-4D05-8ED5-6FD08F644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7B1C367-0132-4583-82A6-AA7757179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12BF25-8449-4275-BC97-CA8C7AAE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20247BE-CDDF-481A-B04C-8F5E1FDF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20D30B4-819F-4424-8CCD-C30CBDED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415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FECE92B-79D5-46EB-B22D-0F6C108D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AE13972B-9D8F-47EF-8112-AFF6BE1B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25287F-EF02-4E98-A5AE-F7EFEBEB4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CE86-04A9-439D-B46E-E51A3BDDE2E3}" type="datetimeFigureOut">
              <a:rPr lang="cs-CZ" smtClean="0"/>
              <a:t>11.01.2019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17B1BF-9CA1-423C-A1DA-AC5AAEF63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FFED56-7A1E-4AFC-8FF6-E4611385B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A78D9-D5B6-495E-BA4B-9DF43EF24F6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473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5DD04-7876-4762-8E97-C9AEFD837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470C1D8-97AF-4C2B-AA18-640AE25D34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195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5BD636-3703-47D1-B772-31B39C0C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3C78802-3440-4BA5-8A1B-0A20C9222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Zeptal se vás někdy kamarád jestli nepůjdete do kina a vy jste před vaší odpovědi museli ještě doma přemluvit rodiče? Zeptal se vás někdo na odpověď k matematické úloze a vy ještě než jste odpověděli jste museli provést výpočet sami? Oba tyto případy jsou příklady </a:t>
            </a:r>
            <a:r>
              <a:rPr lang="cs-CZ" dirty="0" err="1"/>
              <a:t>poddotazu</a:t>
            </a:r>
            <a:r>
              <a:rPr lang="cs-CZ" dirty="0"/>
              <a:t>.</a:t>
            </a:r>
          </a:p>
          <a:p>
            <a:r>
              <a:rPr lang="cs-CZ" dirty="0"/>
              <a:t>Úlohou práce s databázi je dotazovat se data v databázi, ale co když chcete napsat dotaz a nemáte potřebná data pro jeho konstrukci? Tento problém můžete vyřešit pomoci vnořených dotazů, které se nazývají jako </a:t>
            </a:r>
            <a:r>
              <a:rPr lang="cs-CZ" dirty="0" err="1"/>
              <a:t>poddotazy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64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F1D43B-2D2F-4EA9-808D-3EEAFB47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988C989-7B63-4BAF-B2CD-3929E2E95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Poddotazy</a:t>
            </a:r>
            <a:r>
              <a:rPr lang="cs-CZ" dirty="0"/>
              <a:t> se spouští pro nalezení informací, které neznáte, vnější dotazy používají informace k nalezení informací, které chcete vědět. </a:t>
            </a:r>
          </a:p>
          <a:p>
            <a:r>
              <a:rPr lang="cs-CZ" dirty="0"/>
              <a:t>Být schopen kombinovat 2 dotazy do jednoho může být velmi užitečné když potřebujete vybrat řádky z tabulky s podmínkou která závisí na datech v tabulce samotné.</a:t>
            </a:r>
          </a:p>
          <a:p>
            <a:r>
              <a:rPr lang="cs-CZ" dirty="0" err="1"/>
              <a:t>Poddotaz</a:t>
            </a:r>
            <a:r>
              <a:rPr lang="cs-CZ" dirty="0"/>
              <a:t> je </a:t>
            </a:r>
            <a:r>
              <a:rPr lang="cs-CZ" dirty="0" err="1"/>
              <a:t>select</a:t>
            </a:r>
            <a:r>
              <a:rPr lang="cs-CZ" dirty="0"/>
              <a:t>, který v sobě obsahuje další </a:t>
            </a:r>
            <a:r>
              <a:rPr lang="cs-CZ" dirty="0" err="1"/>
              <a:t>select</a:t>
            </a:r>
            <a:r>
              <a:rPr lang="cs-CZ" dirty="0"/>
              <a:t>. </a:t>
            </a:r>
            <a:r>
              <a:rPr lang="cs-CZ" dirty="0" err="1"/>
              <a:t>Poddotaz</a:t>
            </a:r>
            <a:r>
              <a:rPr lang="cs-CZ" dirty="0"/>
              <a:t> je spuštěn ještě před hlavním dotazem.</a:t>
            </a:r>
          </a:p>
        </p:txBody>
      </p:sp>
      <p:pic>
        <p:nvPicPr>
          <p:cNvPr id="4" name="Picture 203">
            <a:extLst>
              <a:ext uri="{FF2B5EF4-FFF2-40B4-BE49-F238E27FC236}">
                <a16:creationId xmlns:a16="http://schemas.microsoft.com/office/drawing/2014/main" id="{8E2D4CB3-829E-4EEA-B906-20CD358F94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5069541"/>
            <a:ext cx="6096000" cy="178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2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4B5F3-23DA-4A5B-8A21-931E2F076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</a:t>
            </a:r>
            <a:r>
              <a:rPr lang="cs-CZ" dirty="0" err="1"/>
              <a:t>poddotazů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D33E6F-12B2-44B5-93F0-2F597AC87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Jsou psány v závorkách.</a:t>
            </a:r>
          </a:p>
          <a:p>
            <a:r>
              <a:rPr lang="cs-CZ" dirty="0"/>
              <a:t>Jsou umístěny na právě straně porovnání.</a:t>
            </a:r>
          </a:p>
          <a:p>
            <a:r>
              <a:rPr lang="cs-CZ" dirty="0"/>
              <a:t>Vnější a vnitřní dotazy mohou získávat data z rozdílných tabulek.</a:t>
            </a:r>
          </a:p>
          <a:p>
            <a:r>
              <a:rPr lang="cs-CZ" dirty="0"/>
              <a:t>Jenom jedna </a:t>
            </a:r>
            <a:r>
              <a:rPr lang="cs-CZ" dirty="0" err="1"/>
              <a:t>order</a:t>
            </a:r>
            <a:r>
              <a:rPr lang="cs-CZ" dirty="0"/>
              <a:t> by klauzule může být použita pro </a:t>
            </a:r>
            <a:r>
              <a:rPr lang="cs-CZ" dirty="0" err="1"/>
              <a:t>select</a:t>
            </a:r>
            <a:r>
              <a:rPr lang="cs-CZ" dirty="0"/>
              <a:t>, pokud je použita musí to být poslední klauzule ve vnějším dotazu.</a:t>
            </a:r>
          </a:p>
          <a:p>
            <a:r>
              <a:rPr lang="cs-CZ" dirty="0" err="1"/>
              <a:t>Poddotaz</a:t>
            </a:r>
            <a:r>
              <a:rPr lang="cs-CZ" dirty="0"/>
              <a:t> nemůže obsahovat vlastní </a:t>
            </a:r>
            <a:r>
              <a:rPr lang="cs-CZ" dirty="0" err="1"/>
              <a:t>order</a:t>
            </a:r>
            <a:r>
              <a:rPr lang="cs-CZ" dirty="0"/>
              <a:t> by klauzuli.</a:t>
            </a:r>
          </a:p>
          <a:p>
            <a:r>
              <a:rPr lang="cs-CZ" dirty="0"/>
              <a:t>Jediný limit počtu </a:t>
            </a:r>
            <a:r>
              <a:rPr lang="cs-CZ" dirty="0" err="1"/>
              <a:t>poddotazů</a:t>
            </a:r>
            <a:r>
              <a:rPr lang="cs-CZ" dirty="0"/>
              <a:t> je velikost bufferu</a:t>
            </a:r>
          </a:p>
        </p:txBody>
      </p:sp>
    </p:spTree>
    <p:extLst>
      <p:ext uri="{BB962C8B-B14F-4D97-AF65-F5344CB8AC3E}">
        <p14:creationId xmlns:p14="http://schemas.microsoft.com/office/powerpoint/2010/main" val="31585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221065-EBED-4C49-823B-2D188713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</a:t>
            </a:r>
            <a:r>
              <a:rPr lang="cs-CZ" dirty="0" err="1"/>
              <a:t>poddotazů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58F41BA-1BD3-4F90-94D4-946528CDA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Rozlišujeme 2 typy </a:t>
            </a:r>
            <a:r>
              <a:rPr lang="cs-CZ" dirty="0" err="1"/>
              <a:t>poddotazů</a:t>
            </a:r>
            <a:r>
              <a:rPr lang="cs-CZ" dirty="0"/>
              <a:t>:</a:t>
            </a:r>
          </a:p>
          <a:p>
            <a:pPr lvl="1"/>
            <a:r>
              <a:rPr lang="cs-CZ" b="1" dirty="0"/>
              <a:t>Jednořádkové </a:t>
            </a:r>
            <a:r>
              <a:rPr lang="cs-CZ" b="1" dirty="0" err="1"/>
              <a:t>poddotazy</a:t>
            </a:r>
            <a:r>
              <a:rPr lang="cs-CZ" dirty="0"/>
              <a:t>, které obsahují operátory &gt;,=,... a vrací pouze jeden řádek z vnitřního dotazů.</a:t>
            </a:r>
          </a:p>
          <a:p>
            <a:pPr lvl="1"/>
            <a:r>
              <a:rPr lang="cs-CZ" b="1" dirty="0"/>
              <a:t>Víceřádkové </a:t>
            </a:r>
            <a:r>
              <a:rPr lang="cs-CZ" b="1" dirty="0" err="1"/>
              <a:t>poddotazy</a:t>
            </a:r>
            <a:r>
              <a:rPr lang="cs-CZ" dirty="0"/>
              <a:t>, které používají operátor IN, ANY, ALL a vrací více než jeden řádek z vnitřního dotazů.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40128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611E46-7386-447A-83ED-C862097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A9AF0D0-7F75-445A-8E64-2DCE71206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Chceme jména zaměstnanců, kteří do firmy přišli až po Peterovi </a:t>
            </a:r>
            <a:r>
              <a:rPr lang="cs-CZ" dirty="0" err="1"/>
              <a:t>Vargasovi</a:t>
            </a:r>
            <a:r>
              <a:rPr lang="cs-CZ" dirty="0"/>
              <a:t>. Prvně tedy musíme zjistit, kdy byl tento zaměstnanec přijat a pak teprve použít tuto hodnotu jako podmínku dalšího dotazů.</a:t>
            </a:r>
          </a:p>
        </p:txBody>
      </p:sp>
      <p:pic>
        <p:nvPicPr>
          <p:cNvPr id="4" name="Picture 204">
            <a:extLst>
              <a:ext uri="{FF2B5EF4-FFF2-40B4-BE49-F238E27FC236}">
                <a16:creationId xmlns:a16="http://schemas.microsoft.com/office/drawing/2014/main" id="{D9B8A234-5A61-41E6-8962-9FA5200150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63906" y="3477418"/>
            <a:ext cx="5974976" cy="23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1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2B267B-439E-4855-B7ED-1A9E1172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Jednořádkové </a:t>
            </a:r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3FA7D92-1FF6-4E99-B1BB-581E176A9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Vrací pouze jeden řádek, používají jednořádkové porovnávací operátory (.,=,...), vždy jsou uzavřeny v závorkách, vždy jsou umístěny na právě straně porovnávací podmínky. </a:t>
            </a:r>
          </a:p>
          <a:p>
            <a:r>
              <a:rPr lang="cs-CZ" dirty="0"/>
              <a:t>Vnější a vnitřní dotazy mohou získávat data z rozdílných tabulek, jenom </a:t>
            </a:r>
            <a:r>
              <a:rPr lang="cs-CZ" dirty="0" err="1"/>
              <a:t>order</a:t>
            </a:r>
            <a:r>
              <a:rPr lang="cs-CZ" dirty="0"/>
              <a:t> by klauzule může být použita pro příkaz </a:t>
            </a:r>
            <a:r>
              <a:rPr lang="cs-CZ" dirty="0" err="1"/>
              <a:t>select</a:t>
            </a:r>
            <a:r>
              <a:rPr lang="cs-CZ" dirty="0"/>
              <a:t> a když je specifikována, musí být poslední klauzuli v hlavním </a:t>
            </a:r>
            <a:r>
              <a:rPr lang="cs-CZ" dirty="0" err="1"/>
              <a:t>select</a:t>
            </a:r>
            <a:r>
              <a:rPr lang="cs-CZ" dirty="0"/>
              <a:t> příkazu.</a:t>
            </a:r>
          </a:p>
          <a:p>
            <a:r>
              <a:rPr lang="cs-CZ" dirty="0"/>
              <a:t>Jediné omezení počtu </a:t>
            </a:r>
            <a:r>
              <a:rPr lang="cs-CZ" dirty="0" err="1"/>
              <a:t>poddotazu</a:t>
            </a:r>
            <a:r>
              <a:rPr lang="cs-CZ" dirty="0"/>
              <a:t> je ve velikosti bufferu.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1475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D3959C-C7AB-4934-BFF0-4FADEDA8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Kdo pracuje na marketingovém oddělení??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3DCAF5-E764-4103-AEDF-BA2AF8F37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05">
            <a:extLst>
              <a:ext uri="{FF2B5EF4-FFF2-40B4-BE49-F238E27FC236}">
                <a16:creationId xmlns:a16="http://schemas.microsoft.com/office/drawing/2014/main" id="{991F90E1-E2E6-494C-B4B4-9303863C4FF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8789894" cy="384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6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02AFC2-2ACC-4406-AC0C-BAE781C1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Group funkce v </a:t>
            </a:r>
            <a:r>
              <a:rPr lang="cs-CZ" dirty="0" err="1"/>
              <a:t>poddotazech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4A1BC4C-BDDC-403C-A818-8B75FBE8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Group funkce mohou být použity v rámci </a:t>
            </a:r>
            <a:r>
              <a:rPr lang="cs-CZ" dirty="0" err="1"/>
              <a:t>poddotazu</a:t>
            </a:r>
            <a:r>
              <a:rPr lang="cs-CZ" dirty="0"/>
              <a:t>.</a:t>
            </a:r>
          </a:p>
          <a:p>
            <a:r>
              <a:rPr lang="cs-CZ" dirty="0"/>
              <a:t>Group funkce bez klauzule </a:t>
            </a:r>
            <a:r>
              <a:rPr lang="cs-CZ" dirty="0" err="1"/>
              <a:t>group</a:t>
            </a:r>
            <a:r>
              <a:rPr lang="cs-CZ" dirty="0"/>
              <a:t> by v </a:t>
            </a:r>
            <a:r>
              <a:rPr lang="cs-CZ" dirty="0" err="1"/>
              <a:t>poddotazu</a:t>
            </a:r>
            <a:r>
              <a:rPr lang="cs-CZ" dirty="0"/>
              <a:t> vrací jeden řádek.</a:t>
            </a:r>
          </a:p>
          <a:p>
            <a:r>
              <a:rPr lang="cs-CZ" dirty="0"/>
              <a:t>Dotaz níže odpovídá na otázku: kteří zaměstnanci si vydělají méně než je průměrný plat?</a:t>
            </a:r>
          </a:p>
        </p:txBody>
      </p:sp>
      <p:pic>
        <p:nvPicPr>
          <p:cNvPr id="4" name="Picture 206">
            <a:extLst>
              <a:ext uri="{FF2B5EF4-FFF2-40B4-BE49-F238E27FC236}">
                <a16:creationId xmlns:a16="http://schemas.microsoft.com/office/drawing/2014/main" id="{8AA2242F-FFF7-4DA5-A5AE-1811B7E633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55221" y="3697380"/>
            <a:ext cx="5405438" cy="295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6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D41C5E-B00A-43D5-AE37-339DA533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Poddotazy</a:t>
            </a:r>
            <a:r>
              <a:rPr lang="cs-CZ" dirty="0"/>
              <a:t> v klauzuli </a:t>
            </a:r>
            <a:r>
              <a:rPr lang="cs-CZ" dirty="0" err="1"/>
              <a:t>having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0119BC3-C2C8-4D09-BFDC-311DAF452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Mohou být zde umístěny.</a:t>
            </a:r>
          </a:p>
          <a:p>
            <a:r>
              <a:rPr lang="cs-CZ" dirty="0"/>
              <a:t>Pamatujte, že </a:t>
            </a:r>
            <a:r>
              <a:rPr lang="cs-CZ" dirty="0" err="1"/>
              <a:t>having</a:t>
            </a:r>
            <a:r>
              <a:rPr lang="cs-CZ" dirty="0"/>
              <a:t> klauzule je podobná klauzuli </a:t>
            </a:r>
            <a:r>
              <a:rPr lang="cs-CZ" dirty="0" err="1"/>
              <a:t>where</a:t>
            </a:r>
            <a:r>
              <a:rPr lang="cs-CZ" dirty="0"/>
              <a:t>, rozdíl je v tom, že </a:t>
            </a:r>
            <a:r>
              <a:rPr lang="cs-CZ" dirty="0" err="1"/>
              <a:t>having</a:t>
            </a:r>
            <a:r>
              <a:rPr lang="cs-CZ" dirty="0"/>
              <a:t> je používán pro restrikcí skupin a vždy zahrnuje skupinové funkce jako min, </a:t>
            </a:r>
            <a:r>
              <a:rPr lang="cs-CZ" dirty="0" err="1"/>
              <a:t>max</a:t>
            </a:r>
            <a:r>
              <a:rPr lang="cs-CZ" dirty="0"/>
              <a:t>,...</a:t>
            </a:r>
          </a:p>
        </p:txBody>
      </p:sp>
      <p:pic>
        <p:nvPicPr>
          <p:cNvPr id="4" name="Picture 207">
            <a:extLst>
              <a:ext uri="{FF2B5EF4-FFF2-40B4-BE49-F238E27FC236}">
                <a16:creationId xmlns:a16="http://schemas.microsoft.com/office/drawing/2014/main" id="{820747A5-1CCC-4E9F-842F-E96FA6AAD3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50726" y="3509682"/>
            <a:ext cx="5577167" cy="31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9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D37163-F104-4D1E-8DF7-BFCC93BC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Víceřádkové </a:t>
            </a:r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EB72764-3C3E-4559-89A7-0E93F7AA1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Pokud budeme chtít vědět, kdo má plat shodný s platem zaměstnance z oddělení 20, potom hodí dotaz chybu. Je to z důvodů, že výsledná množina z </a:t>
            </a:r>
            <a:r>
              <a:rPr lang="cs-CZ" dirty="0" err="1"/>
              <a:t>poddotazu</a:t>
            </a:r>
            <a:r>
              <a:rPr lang="cs-CZ" dirty="0"/>
              <a:t> obsahuje více než jeden záznam.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Problémem je zde znaménko = v klauzuli </a:t>
            </a:r>
            <a:r>
              <a:rPr lang="cs-CZ" dirty="0" err="1"/>
              <a:t>where</a:t>
            </a:r>
            <a:r>
              <a:rPr lang="cs-CZ" dirty="0"/>
              <a:t>. Jak může jedna hodnota být rovna více než jedné hodnotě na právě straně? To je hloupá otázka, že?</a:t>
            </a:r>
          </a:p>
          <a:p>
            <a:endParaRPr lang="cs-CZ" dirty="0"/>
          </a:p>
        </p:txBody>
      </p:sp>
      <p:pic>
        <p:nvPicPr>
          <p:cNvPr id="4" name="Picture 208">
            <a:extLst>
              <a:ext uri="{FF2B5EF4-FFF2-40B4-BE49-F238E27FC236}">
                <a16:creationId xmlns:a16="http://schemas.microsoft.com/office/drawing/2014/main" id="{096C3119-B179-43B7-BC2C-1055EF0FC2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15850" y="3157537"/>
            <a:ext cx="2664479" cy="997604"/>
          </a:xfrm>
          <a:prstGeom prst="rect">
            <a:avLst/>
          </a:prstGeom>
        </p:spPr>
      </p:pic>
      <p:pic>
        <p:nvPicPr>
          <p:cNvPr id="5" name="Picture 209">
            <a:extLst>
              <a:ext uri="{FF2B5EF4-FFF2-40B4-BE49-F238E27FC236}">
                <a16:creationId xmlns:a16="http://schemas.microsoft.com/office/drawing/2014/main" id="{D17305EF-0C08-4ADC-909E-E4FC2173DB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95762" y="3429000"/>
            <a:ext cx="5808850" cy="123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2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72CFF4-D055-4A69-92B8-5C658C725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víceřádkových dotazů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10A71F1-6526-44BA-A28A-CA5A070E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Poddotazy</a:t>
            </a:r>
            <a:r>
              <a:rPr lang="cs-CZ" dirty="0"/>
              <a:t>, které vrací více než jednu hodnotu jsou nazývány víceřádkové </a:t>
            </a:r>
            <a:r>
              <a:rPr lang="cs-CZ" dirty="0" err="1"/>
              <a:t>poddotazy</a:t>
            </a:r>
            <a:r>
              <a:rPr lang="cs-CZ" dirty="0"/>
              <a:t>. </a:t>
            </a:r>
          </a:p>
          <a:p>
            <a:r>
              <a:rPr lang="cs-CZ" dirty="0"/>
              <a:t>Protože nemůžeme použít jednořádkový porovnávací operátor (=,&lt;,&gt;,...) potřebujeme rozdílné porovnávací operátory pro víceřádkové </a:t>
            </a:r>
            <a:r>
              <a:rPr lang="cs-CZ" dirty="0" err="1"/>
              <a:t>poddotazy</a:t>
            </a:r>
            <a:r>
              <a:rPr lang="cs-CZ" dirty="0"/>
              <a:t>. Tyto operátory jsou in, any a </a:t>
            </a:r>
            <a:r>
              <a:rPr lang="cs-CZ" dirty="0" err="1"/>
              <a:t>all</a:t>
            </a:r>
            <a:r>
              <a:rPr lang="cs-CZ" dirty="0"/>
              <a:t>. Společně s nimi může být s každým použít operátor NOT.</a:t>
            </a:r>
          </a:p>
        </p:txBody>
      </p:sp>
    </p:spTree>
    <p:extLst>
      <p:ext uri="{BB962C8B-B14F-4D97-AF65-F5344CB8AC3E}">
        <p14:creationId xmlns:p14="http://schemas.microsoft.com/office/powerpoint/2010/main" val="189981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8D8301-2BB9-410D-84C3-192C6C25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A757477-D75D-49A5-9C87-D97C7DFFF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Tento operátor je používán ve vnějším dotazů v rámci klauzule </a:t>
            </a:r>
            <a:r>
              <a:rPr lang="cs-CZ" dirty="0" err="1"/>
              <a:t>where</a:t>
            </a:r>
            <a:r>
              <a:rPr lang="cs-CZ" dirty="0"/>
              <a:t>, aby vybral pouze ty řádky, které jsou přímo v seznamu hodnot vrácených z vnitřního dotazů. Například chceme vědět všechny zaměstnance, kteří byli přijati stejný rok jako zaměstnanci z oddělení 90.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Vnitřní dotaz bude vracet seznam let, kdy byli zaměstnanci z oddělení 90 přijati. Vnější dotaz potom bude vracet jenom zaměstnance, kteří byli přijati ve stejných letech (jsou v seznamu vráceném z vnitřního dotazů).</a:t>
            </a:r>
          </a:p>
        </p:txBody>
      </p:sp>
      <p:pic>
        <p:nvPicPr>
          <p:cNvPr id="4" name="Picture 210">
            <a:extLst>
              <a:ext uri="{FF2B5EF4-FFF2-40B4-BE49-F238E27FC236}">
                <a16:creationId xmlns:a16="http://schemas.microsoft.com/office/drawing/2014/main" id="{0DBDA104-5AA9-4CB3-BC15-3E6B5AAA70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05049" y="3429000"/>
            <a:ext cx="5265645" cy="9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36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C12624-6312-40C3-91C1-1EA39E9E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2A63E08-0E44-4738-A3C2-5F353183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Operátor any je používán když chceme po vnějším dotazů v jeho klauzuli </a:t>
            </a:r>
            <a:r>
              <a:rPr lang="cs-CZ" dirty="0" err="1"/>
              <a:t>where</a:t>
            </a:r>
            <a:r>
              <a:rPr lang="cs-CZ" dirty="0"/>
              <a:t> vybrat řádky, které splňují kritéria (=,&lt;,&gt;,...) alespoň s jednou hodnotou v množině výsledků </a:t>
            </a:r>
            <a:r>
              <a:rPr lang="cs-CZ" dirty="0" err="1"/>
              <a:t>poddotazu</a:t>
            </a:r>
            <a:r>
              <a:rPr lang="cs-CZ" dirty="0"/>
              <a:t>.</a:t>
            </a:r>
          </a:p>
          <a:p>
            <a:r>
              <a:rPr lang="cs-CZ" dirty="0"/>
              <a:t>Příklad ukazuje dotaz, kde chceme vrátím zaměstnance, jejichž rok přijetí je menší nebo roveň alespoň jednomu roku přijetí zaměstnanců z oddělení 90.</a:t>
            </a:r>
          </a:p>
          <a:p>
            <a:endParaRPr lang="cs-CZ" dirty="0"/>
          </a:p>
        </p:txBody>
      </p:sp>
      <p:pic>
        <p:nvPicPr>
          <p:cNvPr id="4" name="Picture 211">
            <a:extLst>
              <a:ext uri="{FF2B5EF4-FFF2-40B4-BE49-F238E27FC236}">
                <a16:creationId xmlns:a16="http://schemas.microsoft.com/office/drawing/2014/main" id="{AEE365B4-176D-4000-917E-7BB2E1FC3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13947" y="4001294"/>
            <a:ext cx="5224182" cy="268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1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42059B-B3EA-423E-B413-A3928745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5931912-E6AB-4EEC-A3C8-84EBF76D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Operátor </a:t>
            </a:r>
            <a:r>
              <a:rPr lang="cs-CZ" dirty="0" err="1"/>
              <a:t>all</a:t>
            </a:r>
            <a:r>
              <a:rPr lang="cs-CZ" dirty="0"/>
              <a:t> je používán, když chceme, aby vnější dotaz ve své </a:t>
            </a:r>
            <a:r>
              <a:rPr lang="cs-CZ" dirty="0" err="1"/>
              <a:t>where</a:t>
            </a:r>
            <a:r>
              <a:rPr lang="cs-CZ" dirty="0"/>
              <a:t> klauzuli vybíral řádky, které splňují kritéria (&lt;,=,...) pro všechny hodnoty v množině výsledků vrácených </a:t>
            </a:r>
            <a:r>
              <a:rPr lang="cs-CZ" dirty="0" err="1"/>
              <a:t>poddotazem</a:t>
            </a:r>
            <a:r>
              <a:rPr lang="cs-CZ" dirty="0"/>
              <a:t>. Porovnává hodnotu ke každé vrácené hodnotě z </a:t>
            </a:r>
            <a:r>
              <a:rPr lang="cs-CZ" dirty="0" err="1"/>
              <a:t>poddotazu</a:t>
            </a:r>
            <a:r>
              <a:rPr lang="cs-CZ" dirty="0"/>
              <a:t>.</a:t>
            </a:r>
          </a:p>
        </p:txBody>
      </p:sp>
      <p:pic>
        <p:nvPicPr>
          <p:cNvPr id="4" name="Picture 212">
            <a:extLst>
              <a:ext uri="{FF2B5EF4-FFF2-40B4-BE49-F238E27FC236}">
                <a16:creationId xmlns:a16="http://schemas.microsoft.com/office/drawing/2014/main" id="{86873C8C-C87E-4B6D-B968-0EDC6D32A7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09779" y="3794470"/>
            <a:ext cx="5473977" cy="155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4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AEBC5E-8003-4677-A588-BDEEE994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NULL hodnoty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52EAC77-051E-42E0-A46B-5D3C01E6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Představte si, že jedna z hodnot víceřádkového </a:t>
            </a:r>
            <a:r>
              <a:rPr lang="cs-CZ" dirty="0" err="1"/>
              <a:t>poddotazu</a:t>
            </a:r>
            <a:r>
              <a:rPr lang="cs-CZ" dirty="0"/>
              <a:t> bude </a:t>
            </a:r>
            <a:r>
              <a:rPr lang="cs-CZ" dirty="0" err="1"/>
              <a:t>null</a:t>
            </a:r>
            <a:r>
              <a:rPr lang="cs-CZ" dirty="0"/>
              <a:t>, ale ostatní nikoliv. Operátory IN a ANY vrátí řádky, které budou splňovat ne-</a:t>
            </a:r>
            <a:r>
              <a:rPr lang="cs-CZ" dirty="0" err="1"/>
              <a:t>null</a:t>
            </a:r>
            <a:r>
              <a:rPr lang="cs-CZ" dirty="0"/>
              <a:t> hodnoty.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Pokud použijeme ALL operátor, vnější dotaz nevrátí žádné řádky, protože bude porovnávat hodnoty včetně </a:t>
            </a:r>
            <a:r>
              <a:rPr lang="cs-CZ" dirty="0" err="1"/>
              <a:t>null</a:t>
            </a:r>
            <a:r>
              <a:rPr lang="cs-CZ" dirty="0"/>
              <a:t> hodnot. Když porovnáváme cokoliv s </a:t>
            </a:r>
            <a:r>
              <a:rPr lang="cs-CZ" dirty="0" err="1"/>
              <a:t>null</a:t>
            </a:r>
            <a:r>
              <a:rPr lang="cs-CZ" dirty="0"/>
              <a:t>, výsledek je </a:t>
            </a:r>
            <a:r>
              <a:rPr lang="cs-CZ" dirty="0" err="1"/>
              <a:t>null</a:t>
            </a:r>
            <a:r>
              <a:rPr lang="cs-CZ" dirty="0"/>
              <a:t>.</a:t>
            </a:r>
          </a:p>
        </p:txBody>
      </p:sp>
      <p:pic>
        <p:nvPicPr>
          <p:cNvPr id="4" name="Picture 213">
            <a:extLst>
              <a:ext uri="{FF2B5EF4-FFF2-40B4-BE49-F238E27FC236}">
                <a16:creationId xmlns:a16="http://schemas.microsoft.com/office/drawing/2014/main" id="{B31DE540-D477-4864-A5F3-3FD8A329BA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68812" y="2709862"/>
            <a:ext cx="3098110" cy="208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7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97035-F1B4-4FE9-9FFD-B5006291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Vícesloupcové </a:t>
            </a:r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10A37C1-61C4-4081-936D-9C66A382A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Poddotazy</a:t>
            </a:r>
            <a:r>
              <a:rPr lang="cs-CZ" dirty="0"/>
              <a:t> mohou používat více než jeden sloupec. Pokud používají více než jeden sloupec, nazývají se vícesloupcové víceřádkové </a:t>
            </a:r>
            <a:r>
              <a:rPr lang="cs-CZ" dirty="0" err="1"/>
              <a:t>poddotazy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Příklad ukazuje vícesloupcový </a:t>
            </a:r>
            <a:r>
              <a:rPr lang="cs-CZ" dirty="0" err="1"/>
              <a:t>poddotaz</a:t>
            </a:r>
            <a:r>
              <a:rPr lang="cs-CZ" dirty="0"/>
              <a:t>, který odpovídá sloupcům </a:t>
            </a:r>
            <a:r>
              <a:rPr lang="cs-CZ" dirty="0" err="1"/>
              <a:t>naddotazu</a:t>
            </a:r>
            <a:r>
              <a:rPr lang="cs-CZ" dirty="0"/>
              <a:t> (pair-</a:t>
            </a:r>
            <a:r>
              <a:rPr lang="cs-CZ" dirty="0" err="1"/>
              <a:t>wise</a:t>
            </a:r>
            <a:r>
              <a:rPr lang="cs-CZ" dirty="0"/>
              <a:t>). Ukazuje seznam zaměstnanců, jejichž manažerem a odděleními jsou ty samé jako manažeři a oddělení zaměstnanců 149 nebo 174.</a:t>
            </a:r>
          </a:p>
        </p:txBody>
      </p:sp>
      <p:pic>
        <p:nvPicPr>
          <p:cNvPr id="4" name="Picture 217">
            <a:extLst>
              <a:ext uri="{FF2B5EF4-FFF2-40B4-BE49-F238E27FC236}">
                <a16:creationId xmlns:a16="http://schemas.microsoft.com/office/drawing/2014/main" id="{ED3C9D6B-A47F-4185-940A-BA39DC8DBF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28321" y="2794345"/>
            <a:ext cx="38100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60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836BF-0693-4BEB-8EC0-831E995E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EXIST a NO EXIST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EA3F38A-F6BD-4C11-92A4-86687C07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Obě klauzule, které mohou být použity pro testování shody v </a:t>
            </a:r>
            <a:r>
              <a:rPr lang="cs-CZ" dirty="0" err="1"/>
              <a:t>poddotazech</a:t>
            </a:r>
            <a:r>
              <a:rPr lang="cs-CZ" dirty="0"/>
              <a:t>. </a:t>
            </a:r>
            <a:r>
              <a:rPr lang="cs-CZ" dirty="0" err="1"/>
              <a:t>Exist</a:t>
            </a:r>
            <a:r>
              <a:rPr lang="cs-CZ" dirty="0"/>
              <a:t> testuje pro </a:t>
            </a:r>
            <a:r>
              <a:rPr lang="cs-CZ" dirty="0" err="1"/>
              <a:t>true</a:t>
            </a:r>
            <a:r>
              <a:rPr lang="cs-CZ" dirty="0"/>
              <a:t> hodnotu nebo zda hodnoty odpovídají výsledkům </a:t>
            </a:r>
            <a:r>
              <a:rPr lang="cs-CZ" dirty="0" err="1"/>
              <a:t>poddotazu</a:t>
            </a:r>
            <a:r>
              <a:rPr lang="cs-CZ" dirty="0"/>
              <a:t>. Pro zodpovězení otázky, kteří zaměstnanci nejsou manažeři? Se prvně musíte zeptat, kdo jsou manažeři? A potom se zeptat, kdo neexistuje v seznamu manažerů?</a:t>
            </a:r>
          </a:p>
        </p:txBody>
      </p:sp>
      <p:pic>
        <p:nvPicPr>
          <p:cNvPr id="4" name="Picture 219">
            <a:extLst>
              <a:ext uri="{FF2B5EF4-FFF2-40B4-BE49-F238E27FC236}">
                <a16:creationId xmlns:a16="http://schemas.microsoft.com/office/drawing/2014/main" id="{D6DF892E-0A0B-40E2-A24F-93F8B78230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90084" y="3868185"/>
            <a:ext cx="5031064" cy="230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80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282DB1-36A9-4938-8564-E2D4BF05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Korelované </a:t>
            </a:r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DFA4960-EC7A-4744-93FF-76A8E3B7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server podporuje korelované </a:t>
            </a:r>
            <a:r>
              <a:rPr lang="cs-CZ" dirty="0" err="1"/>
              <a:t>poddotazy</a:t>
            </a:r>
            <a:r>
              <a:rPr lang="cs-CZ" dirty="0"/>
              <a:t> když </a:t>
            </a:r>
            <a:r>
              <a:rPr lang="cs-CZ" dirty="0" err="1"/>
              <a:t>poddotaz</a:t>
            </a:r>
            <a:r>
              <a:rPr lang="cs-CZ" dirty="0"/>
              <a:t> odkazuje na sloupec z tabulky odkazované v rodičovském dotazů. Korelovaný </a:t>
            </a:r>
            <a:r>
              <a:rPr lang="cs-CZ" dirty="0" err="1"/>
              <a:t>poddotaz</a:t>
            </a:r>
            <a:r>
              <a:rPr lang="cs-CZ" dirty="0"/>
              <a:t> je vyhodnocován pro každý řádek zpracovávány rodičovským dotazem. Rodičovským příkazem může být SELECT, UPDATE, DELETE.</a:t>
            </a:r>
          </a:p>
        </p:txBody>
      </p:sp>
      <p:pic>
        <p:nvPicPr>
          <p:cNvPr id="4" name="Picture 220">
            <a:extLst>
              <a:ext uri="{FF2B5EF4-FFF2-40B4-BE49-F238E27FC236}">
                <a16:creationId xmlns:a16="http://schemas.microsoft.com/office/drawing/2014/main" id="{4D7BF22E-45DB-4223-8828-ADC7912BBD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62512" y="3833812"/>
            <a:ext cx="3883923" cy="265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41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CDD7EA-0436-4706-A78A-52CC7199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– korelované </a:t>
            </a:r>
            <a:r>
              <a:rPr lang="cs-CZ" dirty="0" err="1"/>
              <a:t>poddotazy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E665828-4971-466B-8E0D-6E9D39349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Příklad: čí plat je vyšší než průměrný plat na celé oddělení? Pro odpovězeni této otázky je potřeba napsat korelovaný dotaz. </a:t>
            </a:r>
          </a:p>
          <a:p>
            <a:r>
              <a:rPr lang="cs-CZ" dirty="0"/>
              <a:t>Korelované dotazy jsou používány pro řádek-po-řádku typ zpracování.</a:t>
            </a:r>
          </a:p>
        </p:txBody>
      </p:sp>
      <p:pic>
        <p:nvPicPr>
          <p:cNvPr id="4" name="Picture 221">
            <a:extLst>
              <a:ext uri="{FF2B5EF4-FFF2-40B4-BE49-F238E27FC236}">
                <a16:creationId xmlns:a16="http://schemas.microsoft.com/office/drawing/2014/main" id="{092F127D-FF59-4316-B2FA-63E4A12CD5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05664" y="3428999"/>
            <a:ext cx="5874439" cy="215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3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5DBCA-857C-4FCE-8DCC-4FBA2D2A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WITH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17F78DA-0431-4608-8863-2A3FB2024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Když máte napsat velmi komplexní dotaz se spojováním a </a:t>
            </a:r>
            <a:r>
              <a:rPr lang="cs-CZ" dirty="0" err="1"/>
              <a:t>agreagaci</a:t>
            </a:r>
            <a:r>
              <a:rPr lang="cs-CZ" dirty="0"/>
              <a:t> používaných velmi často, můžete napsat rozdílné části dotazů jako dotazovací bloky a potom tyto bloky používat na místech přímo v </a:t>
            </a:r>
            <a:r>
              <a:rPr lang="cs-CZ" dirty="0" err="1"/>
              <a:t>select</a:t>
            </a:r>
            <a:r>
              <a:rPr lang="cs-CZ" dirty="0"/>
              <a:t> příkazu.</a:t>
            </a:r>
          </a:p>
          <a:p>
            <a:r>
              <a:rPr lang="cs-CZ" dirty="0" err="1"/>
              <a:t>Oracle</a:t>
            </a:r>
            <a:r>
              <a:rPr lang="cs-CZ" dirty="0"/>
              <a:t> dovoluje napsat pojmenované </a:t>
            </a:r>
            <a:r>
              <a:rPr lang="cs-CZ" dirty="0" err="1"/>
              <a:t>poddotazy</a:t>
            </a:r>
            <a:r>
              <a:rPr lang="cs-CZ" dirty="0"/>
              <a:t> v jednom příkazu, pokud začnete psát tento dotaz s klíčovým slovem </a:t>
            </a:r>
            <a:r>
              <a:rPr lang="cs-CZ" dirty="0" err="1"/>
              <a:t>with</a:t>
            </a:r>
            <a:r>
              <a:rPr lang="cs-CZ" dirty="0"/>
              <a:t>.</a:t>
            </a:r>
          </a:p>
          <a:p>
            <a:r>
              <a:rPr lang="cs-CZ" dirty="0"/>
              <a:t>WITH KLAUZULE získává výsledky z jed</a:t>
            </a:r>
            <a:r>
              <a:rPr lang="en-GB" dirty="0"/>
              <a:t>n</a:t>
            </a:r>
            <a:r>
              <a:rPr lang="cs-CZ" dirty="0"/>
              <a:t>oho nebo více dotazovacích bloků a ukládá je pro uživatele, který dotaz spouští.</a:t>
            </a:r>
          </a:p>
          <a:p>
            <a:pPr lvl="1"/>
            <a:r>
              <a:rPr lang="cs-CZ" dirty="0" err="1"/>
              <a:t>With</a:t>
            </a:r>
            <a:r>
              <a:rPr lang="cs-CZ" dirty="0"/>
              <a:t> zvyšuje výkon.</a:t>
            </a:r>
          </a:p>
          <a:p>
            <a:pPr lvl="1"/>
            <a:r>
              <a:rPr lang="cs-CZ" dirty="0" err="1"/>
              <a:t>With</a:t>
            </a:r>
            <a:r>
              <a:rPr lang="cs-CZ" dirty="0"/>
              <a:t> zlepšuje </a:t>
            </a:r>
            <a:r>
              <a:rPr lang="cs-CZ" dirty="0" err="1"/>
              <a:t>čtitelnost</a:t>
            </a:r>
            <a:r>
              <a:rPr lang="cs-CZ" dirty="0"/>
              <a:t> dotazů.</a:t>
            </a:r>
          </a:p>
          <a:p>
            <a:pPr lvl="1"/>
            <a:r>
              <a:rPr lang="cs-CZ" dirty="0"/>
              <a:t>Syntaxe </a:t>
            </a:r>
            <a:r>
              <a:rPr lang="cs-CZ" dirty="0" err="1"/>
              <a:t>with</a:t>
            </a:r>
            <a:r>
              <a:rPr lang="cs-CZ" dirty="0"/>
              <a:t> je následující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9" name="Picture 222">
            <a:extLst>
              <a:ext uri="{FF2B5EF4-FFF2-40B4-BE49-F238E27FC236}">
                <a16:creationId xmlns:a16="http://schemas.microsoft.com/office/drawing/2014/main" id="{7BDFC32E-CBC9-482A-B0DB-286F344D38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94707" y="5179528"/>
            <a:ext cx="5476875" cy="140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72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E7FF09-142C-4470-B53A-2B115660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198D9C7-0EB7-4CDD-8626-A9C8E0D4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Vypište zaměstnance, kteří nejsou manageři.</a:t>
            </a:r>
          </a:p>
        </p:txBody>
      </p:sp>
      <p:pic>
        <p:nvPicPr>
          <p:cNvPr id="4" name="Picture 223">
            <a:extLst>
              <a:ext uri="{FF2B5EF4-FFF2-40B4-BE49-F238E27FC236}">
                <a16:creationId xmlns:a16="http://schemas.microsoft.com/office/drawing/2014/main" id="{FC7B22BF-B3CC-4416-8BF5-0ECC2B1D0F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505074"/>
            <a:ext cx="8292548" cy="38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1424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1108</Words>
  <Application>Microsoft Office PowerPoint</Application>
  <PresentationFormat>Širokoúhlá obrazovka</PresentationFormat>
  <Paragraphs>82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Motiv Office</vt:lpstr>
      <vt:lpstr>Poddotazy</vt:lpstr>
      <vt:lpstr>Motivace</vt:lpstr>
      <vt:lpstr>Princip</vt:lpstr>
      <vt:lpstr>Pravidla poddotazů</vt:lpstr>
      <vt:lpstr>Typy poddotazů</vt:lpstr>
      <vt:lpstr>Použití</vt:lpstr>
      <vt:lpstr>Jednořádkové poddotazy</vt:lpstr>
      <vt:lpstr>Kdo pracuje na marketingovém oddělení??</vt:lpstr>
      <vt:lpstr>Group funkce v poddotazech</vt:lpstr>
      <vt:lpstr>Poddotazy v klauzuli having</vt:lpstr>
      <vt:lpstr>Víceřádkové poddotazy</vt:lpstr>
      <vt:lpstr>Řešení víceřádkových dotazů</vt:lpstr>
      <vt:lpstr>IN</vt:lpstr>
      <vt:lpstr>ANY</vt:lpstr>
      <vt:lpstr>ALL</vt:lpstr>
      <vt:lpstr>NULL hodnoty</vt:lpstr>
      <vt:lpstr>Vícesloupcové poddotazy</vt:lpstr>
      <vt:lpstr>EXIST a NO EXIST</vt:lpstr>
      <vt:lpstr>Korelované poddotazy</vt:lpstr>
      <vt:lpstr>Příklad – korelované poddotazy</vt:lpstr>
      <vt:lpstr>Klauzule WITH</vt:lpstr>
      <vt:lpstr>Příklad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Poddotazy</dc:title>
  <dc:creator>Veronika Hurtová</dc:creator>
  <cp:lastModifiedBy>Veronika</cp:lastModifiedBy>
  <cp:revision>12</cp:revision>
  <dcterms:created xsi:type="dcterms:W3CDTF">2018-01-07T20:03:30Z</dcterms:created>
  <dcterms:modified xsi:type="dcterms:W3CDTF">2019-01-11T09:25:34Z</dcterms:modified>
</cp:coreProperties>
</file>