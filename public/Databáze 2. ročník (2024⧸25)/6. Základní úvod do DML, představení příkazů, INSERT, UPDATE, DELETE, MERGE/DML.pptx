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682176-7901-4364-9BED-214C06D9B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3B1CDF7-9899-40C8-B1AE-9BD93BEF36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4ACF933-24A9-4292-9EE9-DF1E7AC76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D65B-BE6B-4EE7-A9F1-752F7E8048CC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D4755EE-A472-4515-9655-3F61B0D29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7BD3461-7C03-4E81-89DD-23E92BB02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8E0D8-2FAD-4D33-8673-6729F44BD27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87129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049FD6-D323-4E00-A037-9390FB85A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92A60DB4-52AA-46EE-BA86-76E7B8DE4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DADDD5F-C3A7-4D5C-B069-5E3AEDE1F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D65B-BE6B-4EE7-A9F1-752F7E8048CC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83A0779-127E-48A2-B099-4076B8B7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A3FB0AF-F004-426E-BE78-6BB93EE5B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8E0D8-2FAD-4D33-8673-6729F44BD27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7947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8BD65A-4270-44A5-A0A7-8CABCD85B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DDEB9A94-A3B4-4D40-9AE4-E55D5DD7D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FC8DA71-2564-4C53-A217-894FF4033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D65B-BE6B-4EE7-A9F1-752F7E8048CC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BABEBB7-288F-4DE5-B12A-0EF87998D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320FB5D-9917-4D58-B2B1-8EBE09E3E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8E0D8-2FAD-4D33-8673-6729F44BD27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9387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359568-D7BB-4FFD-A43C-05CDD8317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B06CCDC-51F4-4E96-ADB3-AA475F1E1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4A6BCA3A-5C2D-473D-9FCB-26768B960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268B0E3-62B7-4CB2-A460-55A14F985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D65B-BE6B-4EE7-A9F1-752F7E8048CC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15696EB-6AFD-46D3-9808-2DA169E88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250DC71-606A-4AB3-B536-FC6FC276F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8E0D8-2FAD-4D33-8673-6729F44BD27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89339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9EDFF5-19E9-460C-81F9-38208AEF4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1101D047-A4B0-4C23-A6E1-7B268C548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19F5EE74-DC31-42E5-91B2-5C538F316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0B95A267-57A3-4429-80EB-FEA82DD406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FC90F925-551D-4533-959E-B6E4DF4B66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B731940-9275-4184-864E-E06DA85E7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D65B-BE6B-4EE7-A9F1-752F7E8048CC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C352087-88AA-41BB-AE7A-619ABD201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AF6C88B-389B-4218-A173-3026A4AE8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8E0D8-2FAD-4D33-8673-6729F44BD27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85545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59D625-48BD-475D-9A4F-DE0A4FC15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4075E5D-5451-4B13-8C91-E22D934C2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D65B-BE6B-4EE7-A9F1-752F7E8048CC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681FC17-1140-426F-911B-42A8546D9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1C803FC-80DB-414A-866C-4F6250914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8E0D8-2FAD-4D33-8673-6729F44BD27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0604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B2FDCA4B-944F-4830-A490-2990DEC1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D65B-BE6B-4EE7-A9F1-752F7E8048CC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434C94C2-59C1-46B8-B3BF-6C0EA340A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99F8662-EBCA-4DBC-AED3-D8BF8790B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8E0D8-2FAD-4D33-8673-6729F44BD27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18523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184B58-732D-4256-9BF7-32CB27B32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17114D4-C8F4-41FA-BC40-6BF0F98DF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96647735-74AA-4D60-A158-08EDF8147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1347FA4-5840-4F03-9CAC-9CA6EA766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D65B-BE6B-4EE7-A9F1-752F7E8048CC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656FAFC-145A-4B21-A742-04D357C53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CF519D0-1335-4933-976D-11D83343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8E0D8-2FAD-4D33-8673-6729F44BD27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53132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7F8519-BCA6-449E-A860-BC976D9D6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05ECB9A3-9B9B-4E15-81B0-2C77A201C9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6707E3F0-B7E0-4A59-A2FE-ED323FBC1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3E3F766-A97B-4EAB-A9CE-7BE62C736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D65B-BE6B-4EE7-A9F1-752F7E8048CC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8D408C5-E61E-4FD4-8807-E914DBDA9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DBD5A53-9D08-4C3A-B2F6-0CA317D5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8E0D8-2FAD-4D33-8673-6729F44BD27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8540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7EFAF4-3ED9-461E-977C-10EDFBE94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9500E99-39DB-4F37-80DB-68C08C0E2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84BD474-F6F0-4FDA-89C6-0954A45E6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D65B-BE6B-4EE7-A9F1-752F7E8048CC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1147D09-3218-46DB-8AF1-BBC8A0BF0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8D066E6-A6C6-4E7F-9556-B2C3F4DDA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8E0D8-2FAD-4D33-8673-6729F44BD27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88517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A7A51383-74AC-45D9-B49A-E71AC8BBC3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A10C9C8-FEB2-4A60-B397-9EC0F001C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9FA2DA3-ECA2-4F6E-BF7F-672EFFADF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D65B-BE6B-4EE7-A9F1-752F7E8048CC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1705ADB-3FA8-481C-B738-C52063908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8825510-B843-4051-A5C4-831672B5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8E0D8-2FAD-4D33-8673-6729F44BD27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07956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CD2D6A73-5DAA-423B-8CAC-AC6F0BBCC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0133A025-7EF8-4C28-BF3D-A74C681A4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4D3570D-2F08-4BBB-B7CE-2AC8714C5D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BD65B-BE6B-4EE7-A9F1-752F7E8048CC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430E616-0104-48E2-9DA5-F170D25706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A5B4A6-5B82-451B-A37D-0DB310D31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8E0D8-2FAD-4D33-8673-6729F44BD27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99860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F27738-1260-4753-8AA8-0065C18B6E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DML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2473391-95C4-4E93-AD12-2C9C4DC37D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Data </a:t>
            </a:r>
            <a:r>
              <a:rPr lang="cs-CZ" dirty="0" err="1"/>
              <a:t>manipulation</a:t>
            </a:r>
            <a:r>
              <a:rPr lang="cs-CZ" dirty="0"/>
              <a:t> </a:t>
            </a:r>
            <a:r>
              <a:rPr lang="cs-CZ" dirty="0" err="1"/>
              <a:t>language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72278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EF3920-EF82-4BCD-8014-12705C6FC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DML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D2342A6-45BE-4C67-87CE-E709371E4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Příkazy pro manipulaci s daty.</a:t>
            </a:r>
          </a:p>
          <a:p>
            <a:pPr lvl="1"/>
            <a:r>
              <a:rPr lang="cs-CZ" b="1" dirty="0"/>
              <a:t>SELECT</a:t>
            </a:r>
            <a:r>
              <a:rPr lang="cs-CZ" dirty="0"/>
              <a:t> – vybírá data z databáze, umožňuje výběr podmnožiny a řazení dat.</a:t>
            </a:r>
          </a:p>
          <a:p>
            <a:pPr lvl="1"/>
            <a:r>
              <a:rPr lang="cs-CZ" b="1" dirty="0"/>
              <a:t>INSERT</a:t>
            </a:r>
            <a:r>
              <a:rPr lang="cs-CZ" dirty="0"/>
              <a:t> – vkládá do databáze nová data.</a:t>
            </a:r>
          </a:p>
          <a:p>
            <a:pPr lvl="1"/>
            <a:r>
              <a:rPr lang="cs-CZ" b="1" dirty="0"/>
              <a:t>UPDATE</a:t>
            </a:r>
            <a:r>
              <a:rPr lang="cs-CZ" dirty="0"/>
              <a:t> – mění data v databázi (editace).</a:t>
            </a:r>
          </a:p>
          <a:p>
            <a:pPr lvl="1"/>
            <a:r>
              <a:rPr lang="cs-CZ" b="1" dirty="0"/>
              <a:t>MERGE</a:t>
            </a:r>
            <a:r>
              <a:rPr lang="cs-CZ" dirty="0"/>
              <a:t> – kombinace INSERT a UPDATE – data buď vloží (pokud neexistuje odpovídající klíč), pokud existuje, pak je upraví ve stylu UPDATE.</a:t>
            </a:r>
          </a:p>
          <a:p>
            <a:pPr lvl="1"/>
            <a:r>
              <a:rPr lang="cs-CZ" b="1" dirty="0"/>
              <a:t>DELETE</a:t>
            </a:r>
            <a:r>
              <a:rPr lang="cs-CZ" dirty="0"/>
              <a:t> – odstraňuje data (záznamy) z databáze.</a:t>
            </a:r>
          </a:p>
          <a:p>
            <a:pPr lvl="1"/>
            <a:r>
              <a:rPr lang="cs-CZ" b="1" dirty="0"/>
              <a:t>EXPLAIN</a:t>
            </a:r>
            <a:r>
              <a:rPr lang="cs-CZ" dirty="0"/>
              <a:t> – speciální příkaz, který zobrazuje postup zpracování SQL příkazu. Pomáhá uživateli optimalizovat příkazy tak, aby byly rychlejší.</a:t>
            </a:r>
          </a:p>
          <a:p>
            <a:pPr lvl="1"/>
            <a:r>
              <a:rPr lang="cs-CZ" b="1" dirty="0"/>
              <a:t>SHOW</a:t>
            </a:r>
            <a:r>
              <a:rPr lang="cs-CZ" dirty="0"/>
              <a:t> - méně častý příkaz, umožňující zobrazit databáze, tabulky nebo jejich definice.</a:t>
            </a:r>
          </a:p>
        </p:txBody>
      </p:sp>
    </p:spTree>
    <p:extLst>
      <p:ext uri="{BB962C8B-B14F-4D97-AF65-F5344CB8AC3E}">
        <p14:creationId xmlns:p14="http://schemas.microsoft.com/office/powerpoint/2010/main" val="2479067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FC5F92-5175-4A7F-AB14-DC2C0C5FF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Počáteční „opatření“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E594BA6-AF81-4118-B1ED-777CCC35E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Nyní si ve svém schématu vytvořte kopie tabulek, zde budeme manipulovat přímo s daty, tedy je nutné mít jejich originální podobu. </a:t>
            </a:r>
          </a:p>
          <a:p>
            <a:r>
              <a:rPr lang="cs-CZ" dirty="0"/>
              <a:t>Stejně tak je tomu i v případě, kdy tyto změny provádí </a:t>
            </a:r>
            <a:r>
              <a:rPr lang="cs-CZ" dirty="0" err="1"/>
              <a:t>dtb</a:t>
            </a:r>
            <a:r>
              <a:rPr lang="cs-CZ" dirty="0"/>
              <a:t> administrátor.</a:t>
            </a:r>
          </a:p>
          <a:p>
            <a:r>
              <a:rPr lang="cs-CZ" dirty="0"/>
              <a:t>Každou pojmenujte ve stylu </a:t>
            </a:r>
            <a:r>
              <a:rPr lang="cs-CZ" b="1" dirty="0" err="1"/>
              <a:t>copy_tablename</a:t>
            </a:r>
            <a:r>
              <a:rPr lang="cs-CZ" dirty="0"/>
              <a:t>.</a:t>
            </a:r>
          </a:p>
        </p:txBody>
      </p:sp>
      <p:pic>
        <p:nvPicPr>
          <p:cNvPr id="4" name="Picture 226">
            <a:extLst>
              <a:ext uri="{FF2B5EF4-FFF2-40B4-BE49-F238E27FC236}">
                <a16:creationId xmlns:a16="http://schemas.microsoft.com/office/drawing/2014/main" id="{52764752-9065-4230-9622-C3C39B128A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97903" y="4184580"/>
            <a:ext cx="5303975" cy="254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306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B6F4A0-0D3E-485C-90D1-1BC690634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Insert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E69DE1E8-EA2E-4A6B-B168-3A0458EB3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Je používán pro přidání nového řádku do tabulky. Příkaz vyžaduje 3 hodnoty:</a:t>
            </a:r>
          </a:p>
          <a:p>
            <a:pPr lvl="1"/>
            <a:r>
              <a:rPr lang="cs-CZ" dirty="0"/>
              <a:t>Název tabulky</a:t>
            </a:r>
          </a:p>
          <a:p>
            <a:pPr lvl="1"/>
            <a:r>
              <a:rPr lang="cs-CZ" dirty="0"/>
              <a:t>Názvy sloupců v tabulce</a:t>
            </a:r>
          </a:p>
          <a:p>
            <a:pPr lvl="1"/>
            <a:r>
              <a:rPr lang="cs-CZ" dirty="0"/>
              <a:t>Odpovídající hodnoty pro každý sloupec</a:t>
            </a:r>
          </a:p>
          <a:p>
            <a:pPr marL="0" indent="0">
              <a:buNone/>
            </a:pPr>
            <a:endParaRPr lang="cs-CZ" dirty="0"/>
          </a:p>
          <a:p>
            <a:r>
              <a:rPr lang="cs-CZ" dirty="0"/>
              <a:t>Jak byste vytvořili příkaz insert pro vytvoření následujícího záznamu?</a:t>
            </a:r>
          </a:p>
        </p:txBody>
      </p:sp>
      <p:pic>
        <p:nvPicPr>
          <p:cNvPr id="4" name="Picture 228">
            <a:extLst>
              <a:ext uri="{FF2B5EF4-FFF2-40B4-BE49-F238E27FC236}">
                <a16:creationId xmlns:a16="http://schemas.microsoft.com/office/drawing/2014/main" id="{F3606121-060E-4B8A-B084-4560D1A06D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74466" y="5222185"/>
            <a:ext cx="5163586" cy="79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195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BFAC8E3-D214-4309-A117-0A556B3C3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Insert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26B6114-B57B-415C-B364-B94B1D3B9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  <a:p>
            <a:endParaRPr lang="cs-CZ" dirty="0"/>
          </a:p>
          <a:p>
            <a:r>
              <a:rPr lang="cs-CZ" dirty="0"/>
              <a:t>Další způsob, jak vložit hodnoty do tabulky je implicitní přidání bez názvu sloupců. Vždy je však uležíte dávat pozor na pořadí sloupců při vkládání hodnot.</a:t>
            </a:r>
          </a:p>
          <a:p>
            <a:endParaRPr lang="cs-CZ" dirty="0"/>
          </a:p>
        </p:txBody>
      </p:sp>
      <p:pic>
        <p:nvPicPr>
          <p:cNvPr id="4" name="Picture 229">
            <a:extLst>
              <a:ext uri="{FF2B5EF4-FFF2-40B4-BE49-F238E27FC236}">
                <a16:creationId xmlns:a16="http://schemas.microsoft.com/office/drawing/2014/main" id="{66261692-C5E2-4E3F-9720-2237504CA2A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48816"/>
            <a:ext cx="6556513" cy="1053410"/>
          </a:xfrm>
          <a:prstGeom prst="rect">
            <a:avLst/>
          </a:prstGeom>
        </p:spPr>
      </p:pic>
      <p:pic>
        <p:nvPicPr>
          <p:cNvPr id="5" name="Picture 230">
            <a:extLst>
              <a:ext uri="{FF2B5EF4-FFF2-40B4-BE49-F238E27FC236}">
                <a16:creationId xmlns:a16="http://schemas.microsoft.com/office/drawing/2014/main" id="{48457FC3-A096-4E3B-BB01-5B115BEC2EC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38200" y="4056303"/>
            <a:ext cx="6278217" cy="177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366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4ABFE0-43E5-4EB6-B968-BE2568961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Describe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C671C08-E6B1-4EF0-93BB-673F59D78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Předtím, než budete vkládat data do tabulky, musíte nejprve zkontrolovat několik detailů o tabulce.</a:t>
            </a:r>
          </a:p>
          <a:p>
            <a:r>
              <a:rPr lang="cs-CZ" dirty="0"/>
              <a:t>K tomuto účelu slouží příkaz </a:t>
            </a:r>
            <a:r>
              <a:rPr lang="cs-CZ" b="1" dirty="0" err="1"/>
              <a:t>describe</a:t>
            </a:r>
            <a:r>
              <a:rPr lang="cs-CZ" dirty="0"/>
              <a:t>, který vrací popis tabulkové struktury. </a:t>
            </a:r>
          </a:p>
          <a:p>
            <a:r>
              <a:rPr lang="cs-CZ" dirty="0"/>
              <a:t>Přehledná tabulka zobrazuje informace o každém sloupci tabulky, jako jsou: </a:t>
            </a:r>
          </a:p>
          <a:p>
            <a:pPr lvl="1"/>
            <a:r>
              <a:rPr lang="cs-CZ" dirty="0"/>
              <a:t>tolerance duplikovaných hodnot, </a:t>
            </a:r>
          </a:p>
          <a:p>
            <a:pPr lvl="1"/>
            <a:r>
              <a:rPr lang="cs-CZ" dirty="0"/>
              <a:t>typ povolených dát, </a:t>
            </a:r>
          </a:p>
          <a:p>
            <a:pPr lvl="1"/>
            <a:r>
              <a:rPr lang="cs-CZ" dirty="0"/>
              <a:t>množství povolených dát, </a:t>
            </a:r>
          </a:p>
          <a:p>
            <a:pPr lvl="1"/>
            <a:r>
              <a:rPr lang="cs-CZ" dirty="0"/>
              <a:t>tolerance </a:t>
            </a:r>
            <a:r>
              <a:rPr lang="cs-CZ" dirty="0" err="1"/>
              <a:t>null</a:t>
            </a:r>
            <a:r>
              <a:rPr lang="cs-CZ" dirty="0"/>
              <a:t> hodnot, </a:t>
            </a:r>
          </a:p>
          <a:p>
            <a:pPr lvl="1"/>
            <a:r>
              <a:rPr lang="cs-CZ" dirty="0"/>
              <a:t>maximální délku slova, …</a:t>
            </a:r>
          </a:p>
        </p:txBody>
      </p:sp>
      <p:pic>
        <p:nvPicPr>
          <p:cNvPr id="4" name="Picture 231">
            <a:extLst>
              <a:ext uri="{FF2B5EF4-FFF2-40B4-BE49-F238E27FC236}">
                <a16:creationId xmlns:a16="http://schemas.microsoft.com/office/drawing/2014/main" id="{5F950131-FB44-4F2F-9904-35BFABA907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4001294"/>
            <a:ext cx="5512904" cy="249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512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1BE903-AC58-4C32-B1FD-4B55528B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Vkládání </a:t>
            </a:r>
            <a:r>
              <a:rPr lang="cs-CZ" dirty="0" err="1"/>
              <a:t>null</a:t>
            </a:r>
            <a:r>
              <a:rPr lang="cs-CZ" dirty="0"/>
              <a:t> hodnot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186FC1D-C7BC-4A9D-B9E9-E261D7D4B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Příkaz insert nepotřebuje specifikovat každý sloupec, může obsahovat </a:t>
            </a:r>
            <a:r>
              <a:rPr lang="cs-CZ" dirty="0" err="1"/>
              <a:t>null</a:t>
            </a:r>
            <a:r>
              <a:rPr lang="cs-CZ" dirty="0"/>
              <a:t> sloupce, ale pozor, jen na místech kde je hodnota </a:t>
            </a:r>
            <a:r>
              <a:rPr lang="cs-CZ" b="1" dirty="0" err="1"/>
              <a:t>null</a:t>
            </a:r>
            <a:r>
              <a:rPr lang="cs-CZ" dirty="0"/>
              <a:t> ve sloupci dovolená.</a:t>
            </a:r>
          </a:p>
          <a:p>
            <a:r>
              <a:rPr lang="cs-CZ" dirty="0"/>
              <a:t>V následujícím příkladu je sloupec email definován jako </a:t>
            </a:r>
            <a:r>
              <a:rPr lang="cs-CZ" b="1" dirty="0"/>
              <a:t>not </a:t>
            </a:r>
            <a:r>
              <a:rPr lang="cs-CZ" b="1" dirty="0" err="1"/>
              <a:t>null</a:t>
            </a:r>
            <a:r>
              <a:rPr lang="cs-CZ" dirty="0"/>
              <a:t>, tedy vložení vyhodí chybovou hlásku.</a:t>
            </a:r>
          </a:p>
        </p:txBody>
      </p:sp>
      <p:pic>
        <p:nvPicPr>
          <p:cNvPr id="4" name="Picture 232">
            <a:extLst>
              <a:ext uri="{FF2B5EF4-FFF2-40B4-BE49-F238E27FC236}">
                <a16:creationId xmlns:a16="http://schemas.microsoft.com/office/drawing/2014/main" id="{856568B9-545B-45D3-9B97-44FB5D7096D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05426" y="4241523"/>
            <a:ext cx="5879617" cy="193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254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212CDD-1974-40C4-9526-8D796A2A0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Vkládání </a:t>
            </a:r>
            <a:r>
              <a:rPr lang="cs-CZ" dirty="0" err="1"/>
              <a:t>null</a:t>
            </a:r>
            <a:r>
              <a:rPr lang="cs-CZ" dirty="0"/>
              <a:t> hodnot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9044BA78-EC67-433E-948D-1400D667A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Implicitní insert automaticky vkládá </a:t>
            </a:r>
            <a:r>
              <a:rPr lang="cs-CZ" dirty="0" err="1"/>
              <a:t>null</a:t>
            </a:r>
            <a:r>
              <a:rPr lang="cs-CZ" dirty="0"/>
              <a:t> hodnoty do sloupců, které </a:t>
            </a:r>
            <a:r>
              <a:rPr lang="cs-CZ" dirty="0" err="1"/>
              <a:t>null</a:t>
            </a:r>
            <a:r>
              <a:rPr lang="cs-CZ" dirty="0"/>
              <a:t> hodnotu podporují.</a:t>
            </a:r>
          </a:p>
          <a:p>
            <a:r>
              <a:rPr lang="cs-CZ" dirty="0"/>
              <a:t>Pro explicitní přidání hodnoty </a:t>
            </a:r>
            <a:r>
              <a:rPr lang="cs-CZ" dirty="0" err="1"/>
              <a:t>null</a:t>
            </a:r>
            <a:r>
              <a:rPr lang="cs-CZ" dirty="0"/>
              <a:t> do sloupce je psáno </a:t>
            </a:r>
            <a:r>
              <a:rPr lang="cs-CZ" dirty="0" err="1"/>
              <a:t>klíčove</a:t>
            </a:r>
            <a:r>
              <a:rPr lang="cs-CZ" dirty="0"/>
              <a:t> slovo </a:t>
            </a:r>
            <a:r>
              <a:rPr lang="cs-CZ" dirty="0" err="1"/>
              <a:t>null</a:t>
            </a:r>
            <a:r>
              <a:rPr lang="cs-CZ" dirty="0"/>
              <a:t> do hodnoty sloupce.</a:t>
            </a:r>
          </a:p>
          <a:p>
            <a:r>
              <a:rPr lang="cs-CZ" dirty="0"/>
              <a:t>Pro prázdné řetězce a nebo chybějící data, se používá znak prázdných jednoduchých uvozovek bez mezery.</a:t>
            </a:r>
          </a:p>
        </p:txBody>
      </p:sp>
      <p:pic>
        <p:nvPicPr>
          <p:cNvPr id="4" name="Picture 233">
            <a:extLst>
              <a:ext uri="{FF2B5EF4-FFF2-40B4-BE49-F238E27FC236}">
                <a16:creationId xmlns:a16="http://schemas.microsoft.com/office/drawing/2014/main" id="{2AFA059D-ADD9-48E4-906C-965E482C59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788383" y="4476750"/>
            <a:ext cx="4779687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433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280A3F-6D42-42CB-A7CC-4A028C4F3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Sysdate</a:t>
            </a:r>
            <a:r>
              <a:rPr lang="cs-CZ" dirty="0"/>
              <a:t> a user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15A933B-9753-4430-ADF1-DB2989C37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Vkládat lze také speciální hodnoty jako </a:t>
            </a:r>
            <a:r>
              <a:rPr lang="cs-CZ" dirty="0" err="1"/>
              <a:t>sysdate</a:t>
            </a:r>
            <a:r>
              <a:rPr lang="cs-CZ" dirty="0"/>
              <a:t> nebo user.</a:t>
            </a:r>
          </a:p>
        </p:txBody>
      </p:sp>
      <p:pic>
        <p:nvPicPr>
          <p:cNvPr id="4" name="Picture 234">
            <a:extLst>
              <a:ext uri="{FF2B5EF4-FFF2-40B4-BE49-F238E27FC236}">
                <a16:creationId xmlns:a16="http://schemas.microsoft.com/office/drawing/2014/main" id="{DA2AC077-43CD-4B44-979B-91A4E3A250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59691" y="2496344"/>
            <a:ext cx="7037318" cy="296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998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974709-2B7D-411D-A503-F43D61526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Vložení více řádků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36712AA-18E0-49AB-9E81-6AAAAA0C1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Každý insert vkládá pouze jeden řádek do tabulky. Co když bychom chtěli vložit například 100 záznamů? To by bylo velkou ztrátou času, protože bychom museli pořád dokola spouštět stejný příkaz.</a:t>
            </a:r>
          </a:p>
          <a:p>
            <a:r>
              <a:rPr lang="cs-CZ" dirty="0"/>
              <a:t>Naštěstí nám </a:t>
            </a:r>
            <a:r>
              <a:rPr lang="cs-CZ" dirty="0" err="1"/>
              <a:t>sql</a:t>
            </a:r>
            <a:r>
              <a:rPr lang="cs-CZ" dirty="0"/>
              <a:t> umožňuje používat </a:t>
            </a:r>
            <a:r>
              <a:rPr lang="cs-CZ" dirty="0" err="1"/>
              <a:t>poddotazy</a:t>
            </a:r>
            <a:r>
              <a:rPr lang="cs-CZ" dirty="0"/>
              <a:t> v rámci insert příkazu =&gt; všechny výsledky </a:t>
            </a:r>
            <a:r>
              <a:rPr lang="cs-CZ" dirty="0" err="1"/>
              <a:t>poddotazu</a:t>
            </a:r>
            <a:r>
              <a:rPr lang="cs-CZ" dirty="0"/>
              <a:t> jsou pak vloženy do tabulky.</a:t>
            </a:r>
          </a:p>
          <a:p>
            <a:r>
              <a:rPr lang="cs-CZ" dirty="0"/>
              <a:t>V následujícím příkladu chceme vložit do nové tabulky hodnoty, které mají v </a:t>
            </a:r>
            <a:r>
              <a:rPr lang="cs-CZ" dirty="0" err="1"/>
              <a:t>job_id</a:t>
            </a:r>
            <a:r>
              <a:rPr lang="cs-CZ" dirty="0"/>
              <a:t> REP.</a:t>
            </a:r>
          </a:p>
        </p:txBody>
      </p:sp>
      <p:pic>
        <p:nvPicPr>
          <p:cNvPr id="4" name="Picture 235">
            <a:extLst>
              <a:ext uri="{FF2B5EF4-FFF2-40B4-BE49-F238E27FC236}">
                <a16:creationId xmlns:a16="http://schemas.microsoft.com/office/drawing/2014/main" id="{D541006D-4B6E-4532-92AA-8226632BBBA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975238" y="4793973"/>
            <a:ext cx="5963892" cy="138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18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1DEE12-5934-42F5-B7C4-B7BA2B94B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Vložení více řádků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C222213-1F6A-4303-808D-78D7AB279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Počet sloupců a jejich datový typ INSERTU musí splňovat počet sloupců a jejich datový typ v </a:t>
            </a:r>
            <a:r>
              <a:rPr lang="cs-CZ" dirty="0" err="1"/>
              <a:t>poddotazu</a:t>
            </a:r>
            <a:r>
              <a:rPr lang="cs-CZ" dirty="0"/>
              <a:t>. </a:t>
            </a:r>
            <a:r>
              <a:rPr lang="cs-CZ" dirty="0" err="1"/>
              <a:t>Poddotaz</a:t>
            </a:r>
            <a:r>
              <a:rPr lang="cs-CZ" dirty="0"/>
              <a:t> není uzavřen v závorkách, </a:t>
            </a:r>
            <a:r>
              <a:rPr lang="cs-CZ" dirty="0" err="1"/>
              <a:t>narozdíl</a:t>
            </a:r>
            <a:r>
              <a:rPr lang="cs-CZ" dirty="0"/>
              <a:t> od jeho použití v klauzuli </a:t>
            </a:r>
            <a:r>
              <a:rPr lang="cs-CZ" dirty="0" err="1"/>
              <a:t>where</a:t>
            </a:r>
            <a:r>
              <a:rPr lang="cs-CZ" dirty="0"/>
              <a:t> v </a:t>
            </a:r>
            <a:r>
              <a:rPr lang="cs-CZ" dirty="0" err="1"/>
              <a:t>selectu</a:t>
            </a:r>
            <a:r>
              <a:rPr lang="cs-CZ" dirty="0"/>
              <a:t>.</a:t>
            </a:r>
          </a:p>
        </p:txBody>
      </p:sp>
      <p:pic>
        <p:nvPicPr>
          <p:cNvPr id="4" name="Picture 236">
            <a:extLst>
              <a:ext uri="{FF2B5EF4-FFF2-40B4-BE49-F238E27FC236}">
                <a16:creationId xmlns:a16="http://schemas.microsoft.com/office/drawing/2014/main" id="{CDAF6511-7DF0-45A3-8610-114F7F24F3F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77002" y="3429000"/>
            <a:ext cx="6629607" cy="111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531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E93F0D-DEB8-438D-AFF1-2F9B6069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Aktualizace dat v tabulce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EEE09DC-269E-4D9D-AEF3-5830A6F85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Příkaz update je používán pro modifikací existujících řádku v tabulce. Příkaz update vyžaduje 4 hodnoty:</a:t>
            </a:r>
          </a:p>
          <a:p>
            <a:pPr lvl="1"/>
            <a:r>
              <a:rPr lang="cs-CZ" dirty="0"/>
              <a:t>Název tabulky</a:t>
            </a:r>
          </a:p>
          <a:p>
            <a:pPr lvl="1"/>
            <a:r>
              <a:rPr lang="cs-CZ" dirty="0"/>
              <a:t>Název sloupců, jejichž hodnoty budou modifikovaný</a:t>
            </a:r>
          </a:p>
          <a:p>
            <a:pPr lvl="1"/>
            <a:r>
              <a:rPr lang="cs-CZ" dirty="0"/>
              <a:t>Novou hodnotu pro každý z modifikovaných sloupců</a:t>
            </a:r>
          </a:p>
          <a:p>
            <a:pPr lvl="1"/>
            <a:r>
              <a:rPr lang="cs-CZ" dirty="0"/>
              <a:t>Podmínku, která identifikuje, které řádky tabulky budou modifikovaný</a:t>
            </a:r>
          </a:p>
        </p:txBody>
      </p:sp>
      <p:pic>
        <p:nvPicPr>
          <p:cNvPr id="4" name="Picture 237">
            <a:extLst>
              <a:ext uri="{FF2B5EF4-FFF2-40B4-BE49-F238E27FC236}">
                <a16:creationId xmlns:a16="http://schemas.microsoft.com/office/drawing/2014/main" id="{614BBD49-6D46-4127-8F7E-2A13A9DED4F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04021" y="4340502"/>
            <a:ext cx="4676362" cy="1159150"/>
          </a:xfrm>
          <a:prstGeom prst="rect">
            <a:avLst/>
          </a:prstGeom>
        </p:spPr>
      </p:pic>
      <p:pic>
        <p:nvPicPr>
          <p:cNvPr id="5" name="Picture 238">
            <a:extLst>
              <a:ext uri="{FF2B5EF4-FFF2-40B4-BE49-F238E27FC236}">
                <a16:creationId xmlns:a16="http://schemas.microsoft.com/office/drawing/2014/main" id="{AB36091F-821F-4EA9-B47E-7900E218FCA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90710" y="5443330"/>
            <a:ext cx="4258089" cy="127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222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E211B34-25E2-417B-85B0-DE9966B0E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Aktualizace dat v tabulce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E910A0D-8718-44EE-A3A1-FBF18204C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POZOR!</a:t>
            </a:r>
            <a:r>
              <a:rPr lang="cs-CZ" dirty="0"/>
              <a:t> Dávejte pozor když aktualizujete hodnoty ve sloupcích, pokud zde chybí klauzule </a:t>
            </a:r>
            <a:r>
              <a:rPr lang="cs-CZ" dirty="0" err="1"/>
              <a:t>where</a:t>
            </a:r>
            <a:r>
              <a:rPr lang="cs-CZ" dirty="0"/>
              <a:t>, každý řádek tabulky bude aktualizován, což asi není to co byste chtěli.</a:t>
            </a:r>
          </a:p>
        </p:txBody>
      </p:sp>
      <p:pic>
        <p:nvPicPr>
          <p:cNvPr id="4" name="Picture 239">
            <a:extLst>
              <a:ext uri="{FF2B5EF4-FFF2-40B4-BE49-F238E27FC236}">
                <a16:creationId xmlns:a16="http://schemas.microsoft.com/office/drawing/2014/main" id="{78D2ADA9-A614-44F0-9376-B55F392046D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835882" y="3491948"/>
            <a:ext cx="6500814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453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31DD43-20A0-4F01-82A1-50AB6587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Aktualizace dat v tabulce III.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BCD86FC-69DC-4121-8874-C5F6AAEA6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Pro aktualizaci hodnot můžeme použít také jednořádkový </a:t>
            </a:r>
            <a:r>
              <a:rPr lang="cs-CZ" dirty="0" err="1"/>
              <a:t>poddotaz</a:t>
            </a:r>
            <a:r>
              <a:rPr lang="cs-CZ"/>
              <a:t>.</a:t>
            </a:r>
          </a:p>
          <a:p>
            <a:endParaRPr lang="cs-CZ"/>
          </a:p>
        </p:txBody>
      </p:sp>
      <p:pic>
        <p:nvPicPr>
          <p:cNvPr id="4" name="Picture 240">
            <a:extLst>
              <a:ext uri="{FF2B5EF4-FFF2-40B4-BE49-F238E27FC236}">
                <a16:creationId xmlns:a16="http://schemas.microsoft.com/office/drawing/2014/main" id="{F87DDFEF-E69A-41F4-91FA-3DD49662F85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247486"/>
            <a:ext cx="4953000" cy="1181514"/>
          </a:xfrm>
          <a:prstGeom prst="rect">
            <a:avLst/>
          </a:prstGeom>
        </p:spPr>
      </p:pic>
      <p:pic>
        <p:nvPicPr>
          <p:cNvPr id="5" name="Picture 241">
            <a:extLst>
              <a:ext uri="{FF2B5EF4-FFF2-40B4-BE49-F238E27FC236}">
                <a16:creationId xmlns:a16="http://schemas.microsoft.com/office/drawing/2014/main" id="{1FF0D8B9-57A4-4125-B844-C8E86A6C80A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98165" y="3119437"/>
            <a:ext cx="5244547" cy="104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292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F1C6F8-B828-43F1-A674-FAC1A635A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Aktualizace dat v tabulce IV.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B79C933-CE75-4AD8-88C1-359259848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Pro aktualizaci více sloupců je možné napsat více </a:t>
            </a:r>
            <a:r>
              <a:rPr lang="cs-CZ" dirty="0" err="1"/>
              <a:t>poddotazů</a:t>
            </a:r>
            <a:r>
              <a:rPr lang="cs-CZ" dirty="0"/>
              <a:t>, tedy každý pro jednu aktualizovanou hodnotu.</a:t>
            </a:r>
          </a:p>
        </p:txBody>
      </p:sp>
      <p:pic>
        <p:nvPicPr>
          <p:cNvPr id="4" name="Picture 242">
            <a:extLst>
              <a:ext uri="{FF2B5EF4-FFF2-40B4-BE49-F238E27FC236}">
                <a16:creationId xmlns:a16="http://schemas.microsoft.com/office/drawing/2014/main" id="{FA6B139C-B7CE-4705-BB55-54528676178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02591" y="2882761"/>
            <a:ext cx="6575148" cy="269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946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867806-0A09-4AD3-B0F0-95BFB5B96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Aktualizace dat v tabulce V.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65F7272-A2B2-4738-9CF4-2660BEE1A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Jak asi očekáváte, </a:t>
            </a:r>
            <a:r>
              <a:rPr lang="cs-CZ" dirty="0" err="1"/>
              <a:t>poddotaz</a:t>
            </a:r>
            <a:r>
              <a:rPr lang="cs-CZ" dirty="0"/>
              <a:t> může vracet také informace z jiné tabulky, které jsou použity pro naplnění tabulky jiné.</a:t>
            </a:r>
          </a:p>
          <a:p>
            <a:endParaRPr lang="cs-CZ" dirty="0"/>
          </a:p>
        </p:txBody>
      </p:sp>
      <p:pic>
        <p:nvPicPr>
          <p:cNvPr id="4" name="Picture 243">
            <a:extLst>
              <a:ext uri="{FF2B5EF4-FFF2-40B4-BE49-F238E27FC236}">
                <a16:creationId xmlns:a16="http://schemas.microsoft.com/office/drawing/2014/main" id="{1B7D9746-F3A7-42A3-A5B6-BEF8DB2CABB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62463" y="3325019"/>
            <a:ext cx="5900945" cy="124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602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1435FB-6158-4332-BAF5-CA200B4B0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Aktualizace dat v tabulce VI.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5EC629A-1E8E-41D4-BF0F-AB55AB43A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Využití korelovaných </a:t>
            </a:r>
            <a:r>
              <a:rPr lang="cs-CZ" dirty="0" err="1"/>
              <a:t>poddotazů</a:t>
            </a:r>
            <a:r>
              <a:rPr lang="cs-CZ" dirty="0"/>
              <a:t>.</a:t>
            </a:r>
          </a:p>
          <a:p>
            <a:r>
              <a:rPr lang="cs-CZ" dirty="0"/>
              <a:t>Jak už víte, </a:t>
            </a:r>
            <a:r>
              <a:rPr lang="cs-CZ" dirty="0" err="1"/>
              <a:t>poddotazy</a:t>
            </a:r>
            <a:r>
              <a:rPr lang="cs-CZ" dirty="0"/>
              <a:t> mohou být samostatné nebo korelované. V korelovaném </a:t>
            </a:r>
            <a:r>
              <a:rPr lang="cs-CZ" dirty="0" err="1"/>
              <a:t>poddotazu</a:t>
            </a:r>
            <a:r>
              <a:rPr lang="cs-CZ" dirty="0"/>
              <a:t> jsou aktualizovaný řádky v tabulce v závislosti na </a:t>
            </a:r>
            <a:r>
              <a:rPr lang="cs-CZ" dirty="0" err="1"/>
              <a:t>selectu</a:t>
            </a:r>
            <a:r>
              <a:rPr lang="cs-CZ" dirty="0"/>
              <a:t> ze stejné tabulky.</a:t>
            </a:r>
          </a:p>
        </p:txBody>
      </p:sp>
      <p:pic>
        <p:nvPicPr>
          <p:cNvPr id="4" name="Picture 244">
            <a:extLst>
              <a:ext uri="{FF2B5EF4-FFF2-40B4-BE49-F238E27FC236}">
                <a16:creationId xmlns:a16="http://schemas.microsoft.com/office/drawing/2014/main" id="{8C1F820E-395A-4694-9637-5629EAD22E3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003191" y="4001293"/>
            <a:ext cx="6717818" cy="249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446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971B5A-6F18-4D57-BC5E-CCFBC98AB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Delete</a:t>
            </a:r>
            <a:r>
              <a:rPr lang="cs-CZ" dirty="0"/>
              <a:t>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9A8C7D0E-2903-45F8-83B9-210F371F8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Tento příkaz odstraňuje existující řádky v tabulce</a:t>
            </a:r>
          </a:p>
          <a:p>
            <a:r>
              <a:rPr lang="cs-CZ" dirty="0"/>
              <a:t>Příkaz obsahuje 2 hodnoty:</a:t>
            </a:r>
          </a:p>
          <a:p>
            <a:pPr lvl="1"/>
            <a:r>
              <a:rPr lang="cs-CZ" dirty="0"/>
              <a:t>Název tabulky</a:t>
            </a:r>
          </a:p>
          <a:p>
            <a:pPr lvl="1"/>
            <a:r>
              <a:rPr lang="cs-CZ" dirty="0"/>
              <a:t>Podmínku, která identifikuje řádky pro odstranění</a:t>
            </a:r>
          </a:p>
          <a:p>
            <a:r>
              <a:rPr lang="cs-CZ" b="1" dirty="0"/>
              <a:t>POZOR</a:t>
            </a:r>
            <a:r>
              <a:rPr lang="cs-CZ" dirty="0"/>
              <a:t>! Pokud zapomenete na klauzuli </a:t>
            </a:r>
            <a:r>
              <a:rPr lang="cs-CZ" dirty="0" err="1"/>
              <a:t>where</a:t>
            </a:r>
            <a:r>
              <a:rPr lang="cs-CZ" dirty="0"/>
              <a:t>, potom jsou smazány všechny řádky tabulky!</a:t>
            </a:r>
          </a:p>
          <a:p>
            <a:endParaRPr lang="cs-CZ" dirty="0"/>
          </a:p>
          <a:p>
            <a:endParaRPr lang="cs-CZ" dirty="0"/>
          </a:p>
        </p:txBody>
      </p:sp>
      <p:pic>
        <p:nvPicPr>
          <p:cNvPr id="4" name="Picture 245">
            <a:extLst>
              <a:ext uri="{FF2B5EF4-FFF2-40B4-BE49-F238E27FC236}">
                <a16:creationId xmlns:a16="http://schemas.microsoft.com/office/drawing/2014/main" id="{E0D33EEE-7CF6-49C0-AD9D-FD01F64B6AA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07873" y="4871209"/>
            <a:ext cx="6137413" cy="103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098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78D1F1E-F82D-4977-BA0F-2D5F2ACA6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Delete</a:t>
            </a:r>
            <a:r>
              <a:rPr lang="cs-CZ" dirty="0"/>
              <a:t>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3032C9A-CCF4-4823-B3CF-A1C006D5B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Delete</a:t>
            </a:r>
            <a:r>
              <a:rPr lang="cs-CZ" dirty="0"/>
              <a:t> může obsahovat také </a:t>
            </a:r>
            <a:r>
              <a:rPr lang="cs-CZ" dirty="0" err="1"/>
              <a:t>poddotazy</a:t>
            </a:r>
            <a:r>
              <a:rPr lang="cs-CZ" dirty="0"/>
              <a:t>.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Příklad odstraňuje řádky ze všech zaměstnanců, kteří pracují pro managera, který má méně než 2 zaměstnance.</a:t>
            </a:r>
          </a:p>
        </p:txBody>
      </p:sp>
      <p:pic>
        <p:nvPicPr>
          <p:cNvPr id="4" name="Picture 246">
            <a:extLst>
              <a:ext uri="{FF2B5EF4-FFF2-40B4-BE49-F238E27FC236}">
                <a16:creationId xmlns:a16="http://schemas.microsoft.com/office/drawing/2014/main" id="{BB03377C-56D5-4A0F-B110-B4EE6E38372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449582"/>
            <a:ext cx="6211957" cy="1314035"/>
          </a:xfrm>
          <a:prstGeom prst="rect">
            <a:avLst/>
          </a:prstGeom>
        </p:spPr>
      </p:pic>
      <p:pic>
        <p:nvPicPr>
          <p:cNvPr id="5" name="Picture 247">
            <a:extLst>
              <a:ext uri="{FF2B5EF4-FFF2-40B4-BE49-F238E27FC236}">
                <a16:creationId xmlns:a16="http://schemas.microsoft.com/office/drawing/2014/main" id="{5A7143C1-6640-4B15-86D6-FA3C99DCBB4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26439" y="4827518"/>
            <a:ext cx="5204377" cy="148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746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D922EF-55F0-403F-BCCC-87B70E30C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Porušení integrity dat - chyby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5BA78FA-4996-4CAE-B139-B9849BBAC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Integrita nám zajišťuje, že data budou splňovat zadaná pravidla. </a:t>
            </a:r>
          </a:p>
          <a:p>
            <a:r>
              <a:rPr lang="cs-CZ" dirty="0"/>
              <a:t>Podmínky jsou kontrolovány automaticky kdykoliv je DML příkaz, který může tato pravidla porušit, spuštěn.</a:t>
            </a:r>
          </a:p>
          <a:p>
            <a:r>
              <a:rPr lang="cs-CZ" dirty="0"/>
              <a:t>Pokud je nějaké pravidlo porušeno, tabulka není aktualizována a je zobrazena chyba. Například porušení primárních a cizích klíčů v tabulce.</a:t>
            </a:r>
          </a:p>
        </p:txBody>
      </p:sp>
      <p:pic>
        <p:nvPicPr>
          <p:cNvPr id="4" name="Picture 248">
            <a:extLst>
              <a:ext uri="{FF2B5EF4-FFF2-40B4-BE49-F238E27FC236}">
                <a16:creationId xmlns:a16="http://schemas.microsoft.com/office/drawing/2014/main" id="{D483FB90-A6D5-4BE8-96CF-F8773D4AD7D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740841" y="4361207"/>
            <a:ext cx="5774220" cy="181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171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1F8788-82D9-4CE3-8E1F-411968079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For</a:t>
            </a:r>
            <a:r>
              <a:rPr lang="cs-CZ" dirty="0"/>
              <a:t> update klauzule v </a:t>
            </a:r>
            <a:r>
              <a:rPr lang="cs-CZ" dirty="0" err="1"/>
              <a:t>selectu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599C691-8F01-4A8B-8791-5BD93891D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Když </a:t>
            </a:r>
            <a:r>
              <a:rPr lang="cs-CZ" dirty="0" err="1"/>
              <a:t>select</a:t>
            </a:r>
            <a:r>
              <a:rPr lang="cs-CZ" dirty="0"/>
              <a:t> zpracovává jednotlivé řádky, jsou zamknuté a žádný jiný uživatel nemůže pracovat.</a:t>
            </a:r>
          </a:p>
          <a:p>
            <a:r>
              <a:rPr lang="cs-CZ" dirty="0"/>
              <a:t>Vždy se snažíme databázi zamykat na minimální čas.</a:t>
            </a:r>
          </a:p>
          <a:p>
            <a:r>
              <a:rPr lang="cs-CZ" dirty="0"/>
              <a:t>Pro uzamknutí, aby žádný jiný uživatel nemohl pracovat s řádky se používá klauzule </a:t>
            </a:r>
            <a:r>
              <a:rPr lang="cs-CZ" b="1" dirty="0" err="1"/>
              <a:t>for</a:t>
            </a:r>
            <a:r>
              <a:rPr lang="cs-CZ" b="1" dirty="0"/>
              <a:t> update</a:t>
            </a:r>
            <a:r>
              <a:rPr lang="cs-CZ" dirty="0"/>
              <a:t>.</a:t>
            </a:r>
          </a:p>
        </p:txBody>
      </p:sp>
      <p:pic>
        <p:nvPicPr>
          <p:cNvPr id="4" name="Picture 250">
            <a:extLst>
              <a:ext uri="{FF2B5EF4-FFF2-40B4-BE49-F238E27FC236}">
                <a16:creationId xmlns:a16="http://schemas.microsoft.com/office/drawing/2014/main" id="{CF7B7C65-92F8-479C-BB97-FAEF7357102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782999" y="4507809"/>
            <a:ext cx="4904340" cy="115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868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B96C62-D6CB-4537-8239-4B3017C81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Hodnoty DEFAULT a </a:t>
            </a:r>
            <a:r>
              <a:rPr lang="cs-CZ" dirty="0" err="1"/>
              <a:t>merge</a:t>
            </a:r>
            <a:r>
              <a:rPr lang="cs-CZ" dirty="0"/>
              <a:t>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A9E961F-9283-412B-848A-718380C9E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Hodnota DEFAULT</a:t>
            </a:r>
          </a:p>
          <a:p>
            <a:pPr lvl="1"/>
            <a:r>
              <a:rPr lang="cs-CZ" dirty="0"/>
              <a:t>Každý sloupec může mít výchozí hodnotu specifikovanou. Pro případ, kdy při vkládání není uvedena žádná hodnota, je pak namísto </a:t>
            </a:r>
            <a:r>
              <a:rPr lang="cs-CZ" dirty="0" err="1"/>
              <a:t>null</a:t>
            </a:r>
            <a:r>
              <a:rPr lang="cs-CZ" dirty="0"/>
              <a:t> použita tato výchozí hodnota.</a:t>
            </a:r>
          </a:p>
          <a:p>
            <a:pPr lvl="1"/>
            <a:r>
              <a:rPr lang="cs-CZ" dirty="0"/>
              <a:t>Používání default hodnot vám umožňuje mít kontrolu nad tím, kde a kdy budou výchozí hodnoty použity.</a:t>
            </a:r>
          </a:p>
          <a:p>
            <a:pPr lvl="1"/>
            <a:r>
              <a:rPr lang="cs-CZ" dirty="0"/>
              <a:t>Default hodnotou mohou být výrazy, </a:t>
            </a:r>
            <a:r>
              <a:rPr lang="cs-CZ" dirty="0" err="1"/>
              <a:t>literální</a:t>
            </a:r>
            <a:r>
              <a:rPr lang="cs-CZ" dirty="0"/>
              <a:t> hodnoty, </a:t>
            </a:r>
            <a:r>
              <a:rPr lang="cs-CZ" dirty="0" err="1"/>
              <a:t>sql</a:t>
            </a:r>
            <a:r>
              <a:rPr lang="cs-CZ" dirty="0"/>
              <a:t> funkce jako </a:t>
            </a:r>
            <a:r>
              <a:rPr lang="cs-CZ" dirty="0" err="1"/>
              <a:t>sysdate</a:t>
            </a:r>
            <a:r>
              <a:rPr lang="cs-CZ" dirty="0"/>
              <a:t> nebo user apod. výchozí hodnota musí splňovat datový typ daného sloupce.</a:t>
            </a:r>
          </a:p>
        </p:txBody>
      </p:sp>
      <p:pic>
        <p:nvPicPr>
          <p:cNvPr id="4" name="Picture 251">
            <a:extLst>
              <a:ext uri="{FF2B5EF4-FFF2-40B4-BE49-F238E27FC236}">
                <a16:creationId xmlns:a16="http://schemas.microsoft.com/office/drawing/2014/main" id="{8DB920E5-DD8F-4206-97FF-D4155DCC03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01098" y="4904754"/>
            <a:ext cx="4826276" cy="965959"/>
          </a:xfrm>
          <a:prstGeom prst="rect">
            <a:avLst/>
          </a:prstGeom>
        </p:spPr>
      </p:pic>
      <p:pic>
        <p:nvPicPr>
          <p:cNvPr id="5" name="Picture 252">
            <a:extLst>
              <a:ext uri="{FF2B5EF4-FFF2-40B4-BE49-F238E27FC236}">
                <a16:creationId xmlns:a16="http://schemas.microsoft.com/office/drawing/2014/main" id="{419F1166-0496-4737-83B8-C67B5D07906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462587" y="4858993"/>
            <a:ext cx="4277761" cy="189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679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0A136D-6346-4ADD-A621-BDD0E6C86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Hodnoty DEFAULT a </a:t>
            </a:r>
            <a:r>
              <a:rPr lang="cs-CZ" dirty="0" err="1"/>
              <a:t>merge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9D6293C-C666-4E94-AE6C-246E9BC45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Stejně tak se dá používat default hodnota pro aktualizaci hodnot, nicméně pokud není uvedena, je použita </a:t>
            </a:r>
            <a:r>
              <a:rPr lang="cs-CZ" dirty="0" err="1"/>
              <a:t>null</a:t>
            </a:r>
            <a:r>
              <a:rPr lang="cs-CZ" dirty="0"/>
              <a:t> hodnota.</a:t>
            </a:r>
          </a:p>
          <a:p>
            <a:endParaRPr lang="cs-CZ" dirty="0"/>
          </a:p>
        </p:txBody>
      </p:sp>
      <p:pic>
        <p:nvPicPr>
          <p:cNvPr id="4" name="Picture 253">
            <a:extLst>
              <a:ext uri="{FF2B5EF4-FFF2-40B4-BE49-F238E27FC236}">
                <a16:creationId xmlns:a16="http://schemas.microsoft.com/office/drawing/2014/main" id="{D8C3AE68-D589-4692-BDF5-904472C5252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40350" y="2846319"/>
            <a:ext cx="5102501" cy="107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55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7486FA-F167-4BB0-807E-84176E0EE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MERGE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E1B77C60-6DAF-4175-A9F3-A70BA8DE3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Použití příkazu MERGE slouží ke zpracování dvou příkazu v jeden čas. </a:t>
            </a:r>
            <a:r>
              <a:rPr lang="cs-CZ" dirty="0" err="1"/>
              <a:t>Merge</a:t>
            </a:r>
            <a:r>
              <a:rPr lang="cs-CZ" dirty="0"/>
              <a:t> bude simultánně provádět insert i update.</a:t>
            </a:r>
          </a:p>
          <a:p>
            <a:r>
              <a:rPr lang="cs-CZ" dirty="0"/>
              <a:t>Pokud záznam chybí, je vložen nový řádek. </a:t>
            </a:r>
          </a:p>
          <a:p>
            <a:r>
              <a:rPr lang="cs-CZ" dirty="0"/>
              <a:t>Jeden řádek je čten ze zdrojové tabulky a porovnáván s řádkem druhé tabulky. Pokud je porovnání úspěšné, potom zdrojový řádek použít pro aktualizaci jednoto nebo více sloupců v číslovém řádku. </a:t>
            </a:r>
          </a:p>
          <a:p>
            <a:r>
              <a:rPr lang="cs-CZ" dirty="0"/>
              <a:t>Pokud není splněna podmínka, potom jsou použity hodnoty zdrojového řádku pro vložení nového řádku do cílové tabulky.</a:t>
            </a:r>
          </a:p>
        </p:txBody>
      </p:sp>
    </p:spTree>
    <p:extLst>
      <p:ext uri="{BB962C8B-B14F-4D97-AF65-F5344CB8AC3E}">
        <p14:creationId xmlns:p14="http://schemas.microsoft.com/office/powerpoint/2010/main" val="34241756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71D780-B60E-4EA7-A567-F76D0E087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MERGE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DA4DA2D-5D80-42A8-85D2-D12490C77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254">
            <a:extLst>
              <a:ext uri="{FF2B5EF4-FFF2-40B4-BE49-F238E27FC236}">
                <a16:creationId xmlns:a16="http://schemas.microsoft.com/office/drawing/2014/main" id="{1888ABE9-F502-4308-9B07-336FC05FA48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357730" cy="2070514"/>
          </a:xfrm>
          <a:prstGeom prst="rect">
            <a:avLst/>
          </a:prstGeom>
        </p:spPr>
      </p:pic>
      <p:pic>
        <p:nvPicPr>
          <p:cNvPr id="5" name="Picture 255">
            <a:extLst>
              <a:ext uri="{FF2B5EF4-FFF2-40B4-BE49-F238E27FC236}">
                <a16:creationId xmlns:a16="http://schemas.microsoft.com/office/drawing/2014/main" id="{524DF43B-82EA-4289-8959-B63E554448A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42975" y="3822113"/>
            <a:ext cx="5497582" cy="1571522"/>
          </a:xfrm>
          <a:prstGeom prst="rect">
            <a:avLst/>
          </a:prstGeom>
        </p:spPr>
      </p:pic>
      <p:pic>
        <p:nvPicPr>
          <p:cNvPr id="6" name="Picture 256">
            <a:extLst>
              <a:ext uri="{FF2B5EF4-FFF2-40B4-BE49-F238E27FC236}">
                <a16:creationId xmlns:a16="http://schemas.microsoft.com/office/drawing/2014/main" id="{4421202C-7301-48AA-9E23-E5592AB1343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440557" y="3822113"/>
            <a:ext cx="5018018" cy="187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26753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1075</Words>
  <Application>Microsoft Office PowerPoint</Application>
  <PresentationFormat>Širokoúhlá obrazovka</PresentationFormat>
  <Paragraphs>100</Paragraphs>
  <Slides>25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Motiv Office</vt:lpstr>
      <vt:lpstr>DML</vt:lpstr>
      <vt:lpstr>DML</vt:lpstr>
      <vt:lpstr>Počáteční „opatření“</vt:lpstr>
      <vt:lpstr>Insert I.</vt:lpstr>
      <vt:lpstr>Insert II.</vt:lpstr>
      <vt:lpstr>Describe</vt:lpstr>
      <vt:lpstr>Vkládání null hodnot I.</vt:lpstr>
      <vt:lpstr>Vkládání null hodnot II.</vt:lpstr>
      <vt:lpstr>Sysdate a user</vt:lpstr>
      <vt:lpstr>Vložení více řádků I.</vt:lpstr>
      <vt:lpstr>Vložení více řádků II.</vt:lpstr>
      <vt:lpstr>Aktualizace dat v tabulce I.</vt:lpstr>
      <vt:lpstr>Aktualizace dat v tabulce II.</vt:lpstr>
      <vt:lpstr>Aktualizace dat v tabulce III.</vt:lpstr>
      <vt:lpstr>Aktualizace dat v tabulce IV.</vt:lpstr>
      <vt:lpstr>Aktualizace dat v tabulce V.</vt:lpstr>
      <vt:lpstr>Aktualizace dat v tabulce VI.</vt:lpstr>
      <vt:lpstr>Delete I.</vt:lpstr>
      <vt:lpstr>Delete II.</vt:lpstr>
      <vt:lpstr>Porušení integrity dat - chyby</vt:lpstr>
      <vt:lpstr>For update klauzule v selectu</vt:lpstr>
      <vt:lpstr>Hodnoty DEFAULT a merge I.</vt:lpstr>
      <vt:lpstr>Hodnoty DEFAULT a merge</vt:lpstr>
      <vt:lpstr>MERGE I.</vt:lpstr>
      <vt:lpstr>MERGE II.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DML</dc:title>
  <dc:creator>Hurtova Veronika</dc:creator>
  <cp:lastModifiedBy>Veronika</cp:lastModifiedBy>
  <cp:revision>20</cp:revision>
  <dcterms:created xsi:type="dcterms:W3CDTF">2018-01-16T06:40:24Z</dcterms:created>
  <dcterms:modified xsi:type="dcterms:W3CDTF">2019-03-01T06:45:54Z</dcterms:modified>
</cp:coreProperties>
</file>