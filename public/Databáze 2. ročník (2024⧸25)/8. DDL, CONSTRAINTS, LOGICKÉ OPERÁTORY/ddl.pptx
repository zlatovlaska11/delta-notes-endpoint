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2516A31-205A-47C5-8C9F-75976C5F15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DE39C7A9-009E-4B00-A49A-F7438C98F0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C75057F-1C00-4BCA-B0E9-C655A1389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F555-80C3-4804-BD1C-C49C9DBA1AE2}" type="datetimeFigureOut">
              <a:rPr lang="cs-CZ" smtClean="0"/>
              <a:t>01.03.2019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123D721-F2E9-4144-A9D3-7D575D2BC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828D217-7CF4-400C-94AF-79DB2A93D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A6FC3-B1EA-44AA-9C0F-9EAF4801D73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09411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D05FC65-F14E-4162-9269-D41D7F81D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376505F3-3C83-4CE2-9698-B9993F522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2351D44-408F-4C54-B2EC-4B5AF52D5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F555-80C3-4804-BD1C-C49C9DBA1AE2}" type="datetimeFigureOut">
              <a:rPr lang="cs-CZ" smtClean="0"/>
              <a:t>01.03.2019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6E98B72-BF69-4D52-A4BD-D001E1D1F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FD8E9F1-437D-402E-8265-6594383F2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A6FC3-B1EA-44AA-9C0F-9EAF4801D73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22388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1E82A38-08A1-4612-AC58-E50CC5724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6CEC7D89-5A04-45D1-8335-8D025F4B0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093C502-D2F5-45F3-8D69-95902FF52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F555-80C3-4804-BD1C-C49C9DBA1AE2}" type="datetimeFigureOut">
              <a:rPr lang="cs-CZ" smtClean="0"/>
              <a:t>01.03.2019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61FBBFA-2EA7-44E5-9B8E-8D515BF1C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B609B2D-CEE3-4E99-9AAF-CD9C3593F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A6FC3-B1EA-44AA-9C0F-9EAF4801D73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90280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FF36084-C99B-40C5-A7B3-9DEF3593F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3E8B7B38-B818-4D62-8DA0-C6171EA587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id="{9442C96A-CE96-455D-B8A0-1ABAF0BC04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337FE24-1EE4-4527-A267-94BE56032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F555-80C3-4804-BD1C-C49C9DBA1AE2}" type="datetimeFigureOut">
              <a:rPr lang="cs-CZ" smtClean="0"/>
              <a:t>01.03.2019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9B6DEF8-CE69-46E7-A524-00B23F6E5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90CCC567-C3B5-40B0-95F5-4CB2DD59B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A6FC3-B1EA-44AA-9C0F-9EAF4801D73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81254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2F8A3FE-61EC-46B5-BB8C-53111F723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6B61C6D7-18C0-4C2A-B31F-DDAC0045E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id="{DE40E2DD-5B0B-44E5-AA9D-30BE166AD6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>
            <a:extLst>
              <a:ext uri="{FF2B5EF4-FFF2-40B4-BE49-F238E27FC236}">
                <a16:creationId xmlns:a16="http://schemas.microsoft.com/office/drawing/2014/main" id="{BE7B849C-7B29-4F3E-92B8-BD16FFE020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Zástupný symbol pro obsah 5">
            <a:extLst>
              <a:ext uri="{FF2B5EF4-FFF2-40B4-BE49-F238E27FC236}">
                <a16:creationId xmlns:a16="http://schemas.microsoft.com/office/drawing/2014/main" id="{F1812DD9-79E9-493F-956F-19683D6482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5AAD9D28-8EEE-4185-BEC6-552FF8026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F555-80C3-4804-BD1C-C49C9DBA1AE2}" type="datetimeFigureOut">
              <a:rPr lang="cs-CZ" smtClean="0"/>
              <a:t>01.03.2019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FA70B26B-6764-45A7-8855-4D1DBCEA3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631BE877-66E3-47F5-9793-65942D298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A6FC3-B1EA-44AA-9C0F-9EAF4801D73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35826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A08FC2B-B08D-4196-BECD-E33A23E7F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A852186A-5AE5-46E4-A34D-2657F84E9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F555-80C3-4804-BD1C-C49C9DBA1AE2}" type="datetimeFigureOut">
              <a:rPr lang="cs-CZ" smtClean="0"/>
              <a:t>01.03.2019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AF743A5D-09D0-41CD-B517-C7D4D2CF0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290C057E-7F09-4A44-B76B-07C64A0B5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A6FC3-B1EA-44AA-9C0F-9EAF4801D73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72638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F138C68B-AEC3-474E-BA2F-8BF9DFC34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F555-80C3-4804-BD1C-C49C9DBA1AE2}" type="datetimeFigureOut">
              <a:rPr lang="cs-CZ" smtClean="0"/>
              <a:t>01.03.2019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AFBA099B-506D-4DE2-AB75-40E23B409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9FE0CDC4-C027-43AA-87E9-40B83C3AA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A6FC3-B1EA-44AA-9C0F-9EAF4801D73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52782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FE59464-C0A2-4B57-B394-3614283FB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F53870FA-57FF-42E4-B20A-B854232D6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>
            <a:extLst>
              <a:ext uri="{FF2B5EF4-FFF2-40B4-BE49-F238E27FC236}">
                <a16:creationId xmlns:a16="http://schemas.microsoft.com/office/drawing/2014/main" id="{2E977709-1017-41D9-AA01-1464CBD5CF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D324108D-E8F0-4AD9-9458-3529653B5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F555-80C3-4804-BD1C-C49C9DBA1AE2}" type="datetimeFigureOut">
              <a:rPr lang="cs-CZ" smtClean="0"/>
              <a:t>01.03.2019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C7DCC73-7EA8-4FE4-8E16-E0F8421AA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0CF73846-001A-496B-8E3D-E3E480C2B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A6FC3-B1EA-44AA-9C0F-9EAF4801D73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03634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0A1882-7801-411B-9772-E5170B52D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0765A269-66E5-42C8-883A-DFB5B84368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>
            <a:extLst>
              <a:ext uri="{FF2B5EF4-FFF2-40B4-BE49-F238E27FC236}">
                <a16:creationId xmlns:a16="http://schemas.microsoft.com/office/drawing/2014/main" id="{0A573D23-E8E7-4347-BAC2-D69CBED8D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213E6E7-5DA1-4895-AC2B-65F2B5A67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F555-80C3-4804-BD1C-C49C9DBA1AE2}" type="datetimeFigureOut">
              <a:rPr lang="cs-CZ" smtClean="0"/>
              <a:t>01.03.2019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852416A5-D424-4A1D-8D69-37485E74B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231C6B9D-C7D2-4B52-91B0-296CC7394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A6FC3-B1EA-44AA-9C0F-9EAF4801D73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23169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DC950BB-01AF-409E-89B5-B159E349E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2BD0CA31-CBFE-40D6-95FC-ACEB4766F6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FF77D27-9D62-4289-B0C8-65400E798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F555-80C3-4804-BD1C-C49C9DBA1AE2}" type="datetimeFigureOut">
              <a:rPr lang="cs-CZ" smtClean="0"/>
              <a:t>01.03.2019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E798D42-B2E1-41A8-89DA-ACD0F148E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F25C139-E841-45CA-8B6B-72DDC2F09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A6FC3-B1EA-44AA-9C0F-9EAF4801D73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87095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DDD42F11-E1AE-4F5D-AD1D-6CE84AA4FD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DC9E1FFA-B117-4078-A326-22D650D196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63EA58E-B08D-49DB-8F76-7196593EC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F555-80C3-4804-BD1C-C49C9DBA1AE2}" type="datetimeFigureOut">
              <a:rPr lang="cs-CZ" smtClean="0"/>
              <a:t>01.03.2019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B2E7D9D-F780-4099-B6F0-0A0F7CCD9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9AC759B-C2C5-4F95-B248-E9DDFFED3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A6FC3-B1EA-44AA-9C0F-9EAF4801D73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40505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3AA0D3AA-C930-4F45-AF72-004F8F966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55E142B4-E7A4-4617-ADC3-26A6C31C50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42C30FC-1EC0-4617-BA91-BA519BACAA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F8F555-80C3-4804-BD1C-C49C9DBA1AE2}" type="datetimeFigureOut">
              <a:rPr lang="cs-CZ" smtClean="0"/>
              <a:t>01.03.2019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E1943E1-13B7-46AD-B49C-33BDBA37AF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5E58F8B-DD59-4332-AC89-2562FE9A32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A6FC3-B1EA-44AA-9C0F-9EAF4801D73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07943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51A05AF-79D4-4F27-863C-EB55F9B94C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DDL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63D07EA3-CA36-4FD2-84DD-4DBB9DD242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Data </a:t>
            </a:r>
            <a:r>
              <a:rPr lang="cs-CZ" dirty="0" err="1"/>
              <a:t>definition</a:t>
            </a:r>
            <a:r>
              <a:rPr lang="cs-CZ" dirty="0"/>
              <a:t> </a:t>
            </a:r>
            <a:r>
              <a:rPr lang="cs-CZ" dirty="0" err="1"/>
              <a:t>language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943034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E18B375-BC99-4B23-AB55-B4D173D00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Vytváření tabulek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613ED9BA-0453-47EE-8B10-CD587167A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Do </a:t>
            </a:r>
            <a:r>
              <a:rPr lang="cs-CZ" dirty="0" err="1"/>
              <a:t>ted</a:t>
            </a:r>
            <a:r>
              <a:rPr lang="cs-CZ" dirty="0"/>
              <a:t> jsme pracovali s </a:t>
            </a:r>
            <a:r>
              <a:rPr lang="cs-CZ" dirty="0" err="1"/>
              <a:t>tim</a:t>
            </a:r>
            <a:r>
              <a:rPr lang="cs-CZ" dirty="0"/>
              <a:t>, jak data </a:t>
            </a:r>
            <a:r>
              <a:rPr lang="cs-CZ" dirty="0" err="1"/>
              <a:t>ziskavat</a:t>
            </a:r>
            <a:r>
              <a:rPr lang="cs-CZ" dirty="0"/>
              <a:t>, jak je </a:t>
            </a:r>
            <a:r>
              <a:rPr lang="cs-CZ" dirty="0" err="1"/>
              <a:t>vybirat</a:t>
            </a:r>
            <a:r>
              <a:rPr lang="cs-CZ" dirty="0"/>
              <a:t>, mazat </a:t>
            </a:r>
            <a:r>
              <a:rPr lang="cs-CZ" dirty="0" err="1"/>
              <a:t>ci</a:t>
            </a:r>
            <a:r>
              <a:rPr lang="cs-CZ" dirty="0"/>
              <a:t> aktualizovat. Jako </a:t>
            </a:r>
            <a:r>
              <a:rPr lang="cs-CZ" dirty="0" err="1"/>
              <a:t>databazovy</a:t>
            </a:r>
            <a:r>
              <a:rPr lang="cs-CZ" dirty="0"/>
              <a:t> </a:t>
            </a:r>
            <a:r>
              <a:rPr lang="cs-CZ" dirty="0" err="1"/>
              <a:t>administrator</a:t>
            </a:r>
            <a:r>
              <a:rPr lang="cs-CZ" dirty="0"/>
              <a:t> vsak budete </a:t>
            </a:r>
            <a:r>
              <a:rPr lang="cs-CZ" dirty="0" err="1"/>
              <a:t>potrebovat</a:t>
            </a:r>
            <a:r>
              <a:rPr lang="cs-CZ" dirty="0"/>
              <a:t> vedet, jak tabulky </a:t>
            </a:r>
            <a:r>
              <a:rPr lang="cs-CZ" dirty="0" err="1"/>
              <a:t>vytvaret</a:t>
            </a:r>
            <a:r>
              <a:rPr lang="cs-CZ" dirty="0"/>
              <a:t>.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046846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ED57719-F24F-422E-A232-6E9CE82BD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Databazova</a:t>
            </a:r>
            <a:r>
              <a:rPr lang="cs-CZ" dirty="0"/>
              <a:t> </a:t>
            </a:r>
            <a:r>
              <a:rPr lang="cs-CZ" dirty="0" err="1"/>
              <a:t>schemata</a:t>
            </a:r>
            <a:endParaRPr lang="cs-CZ" dirty="0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F1CD80C5-01FA-4E8B-AB83-5CCDC0F83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 err="1"/>
              <a:t>Oracle</a:t>
            </a:r>
            <a:r>
              <a:rPr lang="cs-CZ" dirty="0"/>
              <a:t> </a:t>
            </a:r>
            <a:r>
              <a:rPr lang="cs-CZ" dirty="0" err="1"/>
              <a:t>databaze</a:t>
            </a:r>
            <a:r>
              <a:rPr lang="cs-CZ" dirty="0"/>
              <a:t> </a:t>
            </a:r>
            <a:r>
              <a:rPr lang="cs-CZ" dirty="0" err="1"/>
              <a:t>muze</a:t>
            </a:r>
            <a:r>
              <a:rPr lang="cs-CZ" dirty="0"/>
              <a:t> obsahovat mnoho </a:t>
            </a:r>
            <a:r>
              <a:rPr lang="cs-CZ" dirty="0" err="1"/>
              <a:t>rozdilnych</a:t>
            </a:r>
            <a:r>
              <a:rPr lang="cs-CZ" dirty="0"/>
              <a:t> typu objektu. </a:t>
            </a:r>
            <a:r>
              <a:rPr lang="cs-CZ" dirty="0" err="1"/>
              <a:t>Hlavnimi</a:t>
            </a:r>
            <a:r>
              <a:rPr lang="cs-CZ" dirty="0"/>
              <a:t> typy jsou:</a:t>
            </a:r>
          </a:p>
          <a:p>
            <a:pPr lvl="1"/>
            <a:r>
              <a:rPr lang="cs-CZ" dirty="0"/>
              <a:t>Tabulky</a:t>
            </a:r>
          </a:p>
          <a:p>
            <a:pPr lvl="1"/>
            <a:r>
              <a:rPr lang="cs-CZ" dirty="0"/>
              <a:t>Indexy</a:t>
            </a:r>
          </a:p>
          <a:p>
            <a:pPr lvl="1"/>
            <a:r>
              <a:rPr lang="cs-CZ" dirty="0" err="1"/>
              <a:t>Constraints</a:t>
            </a:r>
            <a:endParaRPr lang="cs-CZ" dirty="0"/>
          </a:p>
          <a:p>
            <a:pPr lvl="1"/>
            <a:r>
              <a:rPr lang="cs-CZ" dirty="0"/>
              <a:t>Pohledy</a:t>
            </a:r>
          </a:p>
          <a:p>
            <a:pPr lvl="1"/>
            <a:r>
              <a:rPr lang="cs-CZ" dirty="0"/>
              <a:t>Sekvence</a:t>
            </a:r>
          </a:p>
          <a:p>
            <a:pPr lvl="1"/>
            <a:r>
              <a:rPr lang="cs-CZ" dirty="0"/>
              <a:t>Synonyma</a:t>
            </a:r>
          </a:p>
          <a:p>
            <a:r>
              <a:rPr lang="cs-CZ" dirty="0" err="1"/>
              <a:t>Nektere</a:t>
            </a:r>
            <a:r>
              <a:rPr lang="cs-CZ" dirty="0"/>
              <a:t> objekty mohou existovat bez existence </a:t>
            </a:r>
            <a:r>
              <a:rPr lang="cs-CZ" dirty="0" err="1"/>
              <a:t>jinych</a:t>
            </a:r>
            <a:r>
              <a:rPr lang="cs-CZ" dirty="0"/>
              <a:t> a </a:t>
            </a:r>
            <a:r>
              <a:rPr lang="cs-CZ" dirty="0" err="1"/>
              <a:t>nektere</a:t>
            </a:r>
            <a:r>
              <a:rPr lang="cs-CZ" dirty="0"/>
              <a:t> nikoliv.</a:t>
            </a:r>
          </a:p>
        </p:txBody>
      </p:sp>
    </p:spTree>
    <p:extLst>
      <p:ext uri="{BB962C8B-B14F-4D97-AF65-F5344CB8AC3E}">
        <p14:creationId xmlns:p14="http://schemas.microsoft.com/office/powerpoint/2010/main" val="3068444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FBECC9-5F6B-4FBD-94CB-B7D592331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AC69D5DB-7BF4-44E0-AB6A-910E82357B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Nektere</a:t>
            </a:r>
            <a:r>
              <a:rPr lang="cs-CZ" dirty="0"/>
              <a:t> typy objektu </a:t>
            </a:r>
            <a:r>
              <a:rPr lang="cs-CZ" dirty="0" err="1"/>
              <a:t>zabiraji</a:t>
            </a:r>
            <a:r>
              <a:rPr lang="cs-CZ" dirty="0"/>
              <a:t> </a:t>
            </a:r>
            <a:r>
              <a:rPr lang="cs-CZ" dirty="0" err="1"/>
              <a:t>misto</a:t>
            </a:r>
            <a:r>
              <a:rPr lang="cs-CZ" dirty="0"/>
              <a:t>, jsou </a:t>
            </a:r>
            <a:r>
              <a:rPr lang="cs-CZ" dirty="0" err="1"/>
              <a:t>zname</a:t>
            </a:r>
            <a:r>
              <a:rPr lang="cs-CZ" dirty="0"/>
              <a:t> jako </a:t>
            </a:r>
            <a:r>
              <a:rPr lang="cs-CZ" b="1" dirty="0" err="1"/>
              <a:t>uloziste</a:t>
            </a:r>
            <a:r>
              <a:rPr lang="cs-CZ" dirty="0"/>
              <a:t>. </a:t>
            </a:r>
            <a:r>
              <a:rPr lang="cs-CZ" dirty="0" err="1"/>
              <a:t>Databazove</a:t>
            </a:r>
            <a:r>
              <a:rPr lang="cs-CZ" dirty="0"/>
              <a:t> objekty, </a:t>
            </a:r>
            <a:r>
              <a:rPr lang="cs-CZ" dirty="0" err="1"/>
              <a:t>ktere</a:t>
            </a:r>
            <a:r>
              <a:rPr lang="cs-CZ" dirty="0"/>
              <a:t> </a:t>
            </a:r>
            <a:r>
              <a:rPr lang="cs-CZ" dirty="0" err="1"/>
              <a:t>zabiraji</a:t>
            </a:r>
            <a:r>
              <a:rPr lang="cs-CZ" dirty="0"/>
              <a:t> </a:t>
            </a:r>
            <a:r>
              <a:rPr lang="cs-CZ" dirty="0" err="1"/>
              <a:t>misto</a:t>
            </a:r>
            <a:r>
              <a:rPr lang="cs-CZ" dirty="0"/>
              <a:t> se </a:t>
            </a:r>
            <a:r>
              <a:rPr lang="cs-CZ" dirty="0" err="1"/>
              <a:t>nazyvaji</a:t>
            </a:r>
            <a:r>
              <a:rPr lang="cs-CZ" dirty="0"/>
              <a:t> </a:t>
            </a:r>
            <a:r>
              <a:rPr lang="cs-CZ" b="1" dirty="0"/>
              <a:t>segmenty</a:t>
            </a:r>
            <a:r>
              <a:rPr lang="cs-CZ" dirty="0"/>
              <a:t>. Tabulky a indexy jsou </a:t>
            </a:r>
            <a:r>
              <a:rPr lang="cs-CZ" dirty="0" err="1"/>
              <a:t>priklady</a:t>
            </a:r>
            <a:r>
              <a:rPr lang="cs-CZ" dirty="0"/>
              <a:t> segmentu, jako hodnoty </a:t>
            </a:r>
            <a:r>
              <a:rPr lang="cs-CZ" dirty="0" err="1"/>
              <a:t>ulozene</a:t>
            </a:r>
            <a:r>
              <a:rPr lang="cs-CZ" dirty="0"/>
              <a:t> ve </a:t>
            </a:r>
            <a:r>
              <a:rPr lang="cs-CZ" dirty="0" err="1"/>
              <a:t>sloupcich</a:t>
            </a:r>
            <a:r>
              <a:rPr lang="cs-CZ" dirty="0"/>
              <a:t> </a:t>
            </a:r>
            <a:r>
              <a:rPr lang="cs-CZ" dirty="0" err="1"/>
              <a:t>kazdeho</a:t>
            </a:r>
            <a:r>
              <a:rPr lang="cs-CZ" dirty="0"/>
              <a:t> </a:t>
            </a:r>
            <a:r>
              <a:rPr lang="cs-CZ" dirty="0" err="1"/>
              <a:t>radku</a:t>
            </a:r>
            <a:r>
              <a:rPr lang="cs-CZ" dirty="0"/>
              <a:t> </a:t>
            </a:r>
            <a:r>
              <a:rPr lang="cs-CZ" dirty="0" err="1"/>
              <a:t>zabiraji</a:t>
            </a:r>
            <a:r>
              <a:rPr lang="cs-CZ" dirty="0"/>
              <a:t> </a:t>
            </a:r>
            <a:r>
              <a:rPr lang="cs-CZ" dirty="0" err="1"/>
              <a:t>specificke</a:t>
            </a:r>
            <a:r>
              <a:rPr lang="cs-CZ" dirty="0"/>
              <a:t> </a:t>
            </a:r>
            <a:r>
              <a:rPr lang="cs-CZ" dirty="0" err="1"/>
              <a:t>fyzicke</a:t>
            </a:r>
            <a:r>
              <a:rPr lang="cs-CZ" dirty="0"/>
              <a:t> </a:t>
            </a:r>
            <a:r>
              <a:rPr lang="cs-CZ" dirty="0" err="1"/>
              <a:t>misto</a:t>
            </a:r>
            <a:r>
              <a:rPr lang="cs-CZ" dirty="0"/>
              <a:t> na disku.</a:t>
            </a:r>
          </a:p>
          <a:p>
            <a:r>
              <a:rPr lang="cs-CZ" dirty="0"/>
              <a:t>Pohledy, </a:t>
            </a:r>
            <a:r>
              <a:rPr lang="cs-CZ" dirty="0" err="1"/>
              <a:t>constrainty</a:t>
            </a:r>
            <a:r>
              <a:rPr lang="cs-CZ" dirty="0"/>
              <a:t>, sekvence a synonyma jsou </a:t>
            </a:r>
            <a:r>
              <a:rPr lang="cs-CZ" dirty="0" err="1"/>
              <a:t>take</a:t>
            </a:r>
            <a:r>
              <a:rPr lang="cs-CZ" dirty="0"/>
              <a:t> objekty, ale </a:t>
            </a:r>
            <a:r>
              <a:rPr lang="cs-CZ" dirty="0" err="1"/>
              <a:t>jediny</a:t>
            </a:r>
            <a:r>
              <a:rPr lang="cs-CZ" dirty="0"/>
              <a:t> prostor, </a:t>
            </a:r>
            <a:r>
              <a:rPr lang="cs-CZ" dirty="0" err="1"/>
              <a:t>ktery</a:t>
            </a:r>
            <a:r>
              <a:rPr lang="cs-CZ" dirty="0"/>
              <a:t> </a:t>
            </a:r>
            <a:r>
              <a:rPr lang="cs-CZ" dirty="0" err="1"/>
              <a:t>potrebuji</a:t>
            </a:r>
            <a:r>
              <a:rPr lang="cs-CZ" dirty="0"/>
              <a:t> v </a:t>
            </a:r>
            <a:r>
              <a:rPr lang="cs-CZ" dirty="0" err="1"/>
              <a:t>databazi</a:t>
            </a:r>
            <a:r>
              <a:rPr lang="cs-CZ" dirty="0"/>
              <a:t> je definice objektu – </a:t>
            </a:r>
            <a:r>
              <a:rPr lang="cs-CZ" dirty="0" err="1"/>
              <a:t>zadny</a:t>
            </a:r>
            <a:r>
              <a:rPr lang="cs-CZ" dirty="0"/>
              <a:t> z nich </a:t>
            </a:r>
            <a:r>
              <a:rPr lang="cs-CZ" dirty="0" err="1"/>
              <a:t>nema</a:t>
            </a:r>
            <a:r>
              <a:rPr lang="cs-CZ" dirty="0"/>
              <a:t> </a:t>
            </a:r>
            <a:r>
              <a:rPr lang="cs-CZ" dirty="0" err="1"/>
              <a:t>zadna</a:t>
            </a:r>
            <a:r>
              <a:rPr lang="cs-CZ" dirty="0"/>
              <a:t> data primo </a:t>
            </a:r>
            <a:r>
              <a:rPr lang="cs-CZ" dirty="0" err="1"/>
              <a:t>asociovana</a:t>
            </a:r>
            <a:r>
              <a:rPr lang="cs-CZ" dirty="0"/>
              <a:t>.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522947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88BC5AC-6615-4166-832E-F724D9E3D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C1B81B35-334E-493B-BC70-A8B2432DF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Databaze</a:t>
            </a:r>
            <a:r>
              <a:rPr lang="cs-CZ" dirty="0"/>
              <a:t> </a:t>
            </a:r>
            <a:r>
              <a:rPr lang="cs-CZ" dirty="0" err="1"/>
              <a:t>uklada</a:t>
            </a:r>
            <a:r>
              <a:rPr lang="cs-CZ" dirty="0"/>
              <a:t> definice </a:t>
            </a:r>
            <a:r>
              <a:rPr lang="cs-CZ" dirty="0" err="1"/>
              <a:t>vsech</a:t>
            </a:r>
            <a:r>
              <a:rPr lang="cs-CZ" dirty="0"/>
              <a:t> </a:t>
            </a:r>
            <a:r>
              <a:rPr lang="cs-CZ" dirty="0" err="1"/>
              <a:t>databazovych</a:t>
            </a:r>
            <a:r>
              <a:rPr lang="cs-CZ" dirty="0"/>
              <a:t> objektu v </a:t>
            </a:r>
            <a:r>
              <a:rPr lang="cs-CZ" b="1" dirty="0" err="1"/>
              <a:t>datovem</a:t>
            </a:r>
            <a:r>
              <a:rPr lang="cs-CZ" dirty="0"/>
              <a:t> </a:t>
            </a:r>
            <a:r>
              <a:rPr lang="cs-CZ" b="1" dirty="0" err="1"/>
              <a:t>slovniku</a:t>
            </a:r>
            <a:r>
              <a:rPr lang="cs-CZ" dirty="0"/>
              <a:t>, a tyto definice jsou </a:t>
            </a:r>
            <a:r>
              <a:rPr lang="cs-CZ" dirty="0" err="1"/>
              <a:t>pristupne</a:t>
            </a:r>
            <a:r>
              <a:rPr lang="cs-CZ" dirty="0"/>
              <a:t> </a:t>
            </a:r>
            <a:r>
              <a:rPr lang="cs-CZ" dirty="0" err="1"/>
              <a:t>vsem</a:t>
            </a:r>
            <a:r>
              <a:rPr lang="cs-CZ" dirty="0"/>
              <a:t> </a:t>
            </a:r>
            <a:r>
              <a:rPr lang="cs-CZ" dirty="0" err="1"/>
              <a:t>uzivatelum</a:t>
            </a:r>
            <a:r>
              <a:rPr lang="cs-CZ" dirty="0"/>
              <a:t> </a:t>
            </a:r>
            <a:r>
              <a:rPr lang="cs-CZ" dirty="0" err="1"/>
              <a:t>databaze</a:t>
            </a:r>
            <a:r>
              <a:rPr lang="cs-CZ" dirty="0"/>
              <a:t> tak jako </a:t>
            </a:r>
            <a:r>
              <a:rPr lang="cs-CZ" dirty="0" err="1"/>
              <a:t>databazi</a:t>
            </a:r>
            <a:r>
              <a:rPr lang="cs-CZ" dirty="0"/>
              <a:t> </a:t>
            </a:r>
            <a:r>
              <a:rPr lang="cs-CZ" dirty="0" err="1"/>
              <a:t>samotne</a:t>
            </a:r>
            <a:r>
              <a:rPr lang="cs-CZ" dirty="0"/>
              <a:t>. </a:t>
            </a:r>
          </a:p>
          <a:p>
            <a:r>
              <a:rPr lang="cs-CZ" dirty="0" err="1"/>
              <a:t>Zajimalo</a:t>
            </a:r>
            <a:r>
              <a:rPr lang="cs-CZ" dirty="0"/>
              <a:t> </a:t>
            </a:r>
            <a:r>
              <a:rPr lang="cs-CZ" dirty="0" err="1"/>
              <a:t>vas</a:t>
            </a:r>
            <a:r>
              <a:rPr lang="cs-CZ" dirty="0"/>
              <a:t> </a:t>
            </a:r>
            <a:r>
              <a:rPr lang="cs-CZ" dirty="0" err="1"/>
              <a:t>nekdy</a:t>
            </a:r>
            <a:r>
              <a:rPr lang="cs-CZ" dirty="0"/>
              <a:t>, jak </a:t>
            </a:r>
            <a:r>
              <a:rPr lang="cs-CZ" dirty="0" err="1"/>
              <a:t>databaze</a:t>
            </a:r>
            <a:r>
              <a:rPr lang="cs-CZ" dirty="0"/>
              <a:t> </a:t>
            </a:r>
            <a:r>
              <a:rPr lang="cs-CZ" dirty="0" err="1"/>
              <a:t>vi</a:t>
            </a:r>
            <a:r>
              <a:rPr lang="cs-CZ" dirty="0"/>
              <a:t>, </a:t>
            </a:r>
            <a:r>
              <a:rPr lang="cs-CZ" dirty="0" err="1"/>
              <a:t>jake</a:t>
            </a:r>
            <a:r>
              <a:rPr lang="cs-CZ" dirty="0"/>
              <a:t> sloupce </a:t>
            </a:r>
            <a:r>
              <a:rPr lang="cs-CZ" dirty="0" err="1"/>
              <a:t>vratit</a:t>
            </a:r>
            <a:r>
              <a:rPr lang="cs-CZ" dirty="0"/>
              <a:t> z dotazu? </a:t>
            </a:r>
            <a:r>
              <a:rPr lang="cs-CZ" dirty="0" err="1"/>
              <a:t>Napriklad</a:t>
            </a:r>
            <a:r>
              <a:rPr lang="cs-CZ" dirty="0"/>
              <a:t> </a:t>
            </a:r>
            <a:r>
              <a:rPr lang="cs-CZ" dirty="0" err="1"/>
              <a:t>kdyz</a:t>
            </a:r>
            <a:r>
              <a:rPr lang="cs-CZ" dirty="0"/>
              <a:t> </a:t>
            </a:r>
            <a:r>
              <a:rPr lang="cs-CZ" dirty="0" err="1"/>
              <a:t>dame</a:t>
            </a:r>
            <a:r>
              <a:rPr lang="cs-CZ" dirty="0"/>
              <a:t> </a:t>
            </a:r>
            <a:r>
              <a:rPr lang="cs-CZ" dirty="0" err="1"/>
              <a:t>select</a:t>
            </a:r>
            <a:r>
              <a:rPr lang="cs-CZ" dirty="0"/>
              <a:t> * </a:t>
            </a:r>
            <a:r>
              <a:rPr lang="cs-CZ" dirty="0" err="1"/>
              <a:t>namisto</a:t>
            </a:r>
            <a:r>
              <a:rPr lang="cs-CZ" dirty="0"/>
              <a:t> specifikace </a:t>
            </a:r>
            <a:r>
              <a:rPr lang="cs-CZ" dirty="0" err="1"/>
              <a:t>sloupcu</a:t>
            </a:r>
            <a:r>
              <a:rPr lang="cs-CZ" dirty="0"/>
              <a:t>? </a:t>
            </a:r>
            <a:r>
              <a:rPr lang="cs-CZ" dirty="0" err="1"/>
              <a:t>Databaze</a:t>
            </a:r>
            <a:r>
              <a:rPr lang="cs-CZ" dirty="0"/>
              <a:t> se </a:t>
            </a:r>
            <a:r>
              <a:rPr lang="cs-CZ" dirty="0" err="1"/>
              <a:t>podiva</a:t>
            </a:r>
            <a:r>
              <a:rPr lang="cs-CZ" dirty="0"/>
              <a:t> do definice tabulky a tam </a:t>
            </a:r>
            <a:r>
              <a:rPr lang="cs-CZ" dirty="0" err="1"/>
              <a:t>ma</a:t>
            </a:r>
            <a:r>
              <a:rPr lang="cs-CZ" dirty="0"/>
              <a:t> seznam </a:t>
            </a:r>
            <a:r>
              <a:rPr lang="cs-CZ" dirty="0" err="1"/>
              <a:t>sloupcu</a:t>
            </a:r>
            <a:r>
              <a:rPr lang="cs-CZ" dirty="0"/>
              <a:t>.</a:t>
            </a:r>
          </a:p>
          <a:p>
            <a:r>
              <a:rPr lang="cs-CZ" dirty="0" err="1"/>
              <a:t>Databaze</a:t>
            </a:r>
            <a:r>
              <a:rPr lang="cs-CZ" dirty="0"/>
              <a:t> </a:t>
            </a:r>
            <a:r>
              <a:rPr lang="cs-CZ" dirty="0" err="1"/>
              <a:t>pouziva</a:t>
            </a:r>
            <a:r>
              <a:rPr lang="cs-CZ" dirty="0"/>
              <a:t> </a:t>
            </a:r>
            <a:r>
              <a:rPr lang="cs-CZ" dirty="0" err="1"/>
              <a:t>datovy</a:t>
            </a:r>
            <a:r>
              <a:rPr lang="cs-CZ" dirty="0"/>
              <a:t> </a:t>
            </a:r>
            <a:r>
              <a:rPr lang="cs-CZ" dirty="0" err="1"/>
              <a:t>slovnik</a:t>
            </a:r>
            <a:r>
              <a:rPr lang="cs-CZ" dirty="0"/>
              <a:t> pro </a:t>
            </a:r>
            <a:r>
              <a:rPr lang="cs-CZ" dirty="0" err="1"/>
              <a:t>vsechny</a:t>
            </a:r>
            <a:r>
              <a:rPr lang="cs-CZ" dirty="0"/>
              <a:t> </a:t>
            </a:r>
            <a:r>
              <a:rPr lang="cs-CZ" dirty="0" err="1"/>
              <a:t>prikazy</a:t>
            </a:r>
            <a:r>
              <a:rPr lang="cs-CZ" dirty="0"/>
              <a:t>. Kontroluje jestli tabulka, kterou dotazuje existuje v </a:t>
            </a:r>
            <a:r>
              <a:rPr lang="cs-CZ" dirty="0" err="1"/>
              <a:t>databazi</a:t>
            </a:r>
            <a:r>
              <a:rPr lang="cs-CZ" dirty="0"/>
              <a:t>, kontroluje </a:t>
            </a:r>
            <a:r>
              <a:rPr lang="cs-CZ" dirty="0" err="1"/>
              <a:t>nazvy</a:t>
            </a:r>
            <a:r>
              <a:rPr lang="cs-CZ" dirty="0"/>
              <a:t> </a:t>
            </a:r>
            <a:r>
              <a:rPr lang="cs-CZ" dirty="0" err="1"/>
              <a:t>sloupcu</a:t>
            </a:r>
            <a:r>
              <a:rPr lang="cs-CZ" dirty="0"/>
              <a:t>, kontroluje </a:t>
            </a:r>
            <a:r>
              <a:rPr lang="cs-CZ" dirty="0" err="1"/>
              <a:t>pristupova</a:t>
            </a:r>
            <a:r>
              <a:rPr lang="cs-CZ" dirty="0"/>
              <a:t> </a:t>
            </a:r>
            <a:r>
              <a:rPr lang="cs-CZ" dirty="0" err="1"/>
              <a:t>prava</a:t>
            </a:r>
            <a:r>
              <a:rPr lang="cs-CZ" dirty="0"/>
              <a:t> a </a:t>
            </a:r>
            <a:r>
              <a:rPr lang="cs-CZ" dirty="0" err="1"/>
              <a:t>pouziva</a:t>
            </a:r>
            <a:r>
              <a:rPr lang="cs-CZ" dirty="0"/>
              <a:t> </a:t>
            </a:r>
            <a:r>
              <a:rPr lang="cs-CZ" dirty="0" err="1"/>
              <a:t>datovy</a:t>
            </a:r>
            <a:r>
              <a:rPr lang="cs-CZ" dirty="0"/>
              <a:t> </a:t>
            </a:r>
            <a:r>
              <a:rPr lang="cs-CZ" dirty="0" err="1"/>
              <a:t>slovnik</a:t>
            </a:r>
            <a:r>
              <a:rPr lang="cs-CZ" dirty="0"/>
              <a:t> pro </a:t>
            </a:r>
            <a:r>
              <a:rPr lang="cs-CZ" dirty="0" err="1"/>
              <a:t>vytvoreni</a:t>
            </a:r>
            <a:r>
              <a:rPr lang="cs-CZ" dirty="0"/>
              <a:t> </a:t>
            </a:r>
            <a:r>
              <a:rPr lang="cs-CZ" dirty="0" err="1"/>
              <a:t>exekucniho</a:t>
            </a:r>
            <a:r>
              <a:rPr lang="cs-CZ" dirty="0"/>
              <a:t> planu -&gt; jak bude dotaz doopravdy </a:t>
            </a:r>
            <a:r>
              <a:rPr lang="cs-CZ" dirty="0" err="1"/>
              <a:t>zpracovan</a:t>
            </a:r>
            <a:r>
              <a:rPr lang="cs-CZ" dirty="0"/>
              <a:t>.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098158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DF306DE-FFC3-474F-93A2-D576CB3B7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9AA6E1FC-2684-4F70-8091-5F88B13FA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Datovy</a:t>
            </a:r>
            <a:r>
              <a:rPr lang="cs-CZ" dirty="0"/>
              <a:t> </a:t>
            </a:r>
            <a:r>
              <a:rPr lang="cs-CZ" dirty="0" err="1"/>
              <a:t>slovnik</a:t>
            </a:r>
            <a:r>
              <a:rPr lang="cs-CZ" dirty="0"/>
              <a:t> </a:t>
            </a:r>
            <a:r>
              <a:rPr lang="cs-CZ" dirty="0" err="1"/>
              <a:t>sam</a:t>
            </a:r>
            <a:r>
              <a:rPr lang="cs-CZ" dirty="0"/>
              <a:t> o sobe </a:t>
            </a:r>
            <a:r>
              <a:rPr lang="cs-CZ" dirty="0" err="1"/>
              <a:t>muze</a:t>
            </a:r>
            <a:r>
              <a:rPr lang="cs-CZ" dirty="0"/>
              <a:t> byt </a:t>
            </a:r>
            <a:r>
              <a:rPr lang="cs-CZ" dirty="0" err="1"/>
              <a:t>dotazovan</a:t>
            </a:r>
            <a:r>
              <a:rPr lang="cs-CZ" dirty="0"/>
              <a:t> vsemi </a:t>
            </a:r>
            <a:r>
              <a:rPr lang="cs-CZ" dirty="0" err="1"/>
              <a:t>databazovymi</a:t>
            </a:r>
            <a:r>
              <a:rPr lang="cs-CZ" dirty="0"/>
              <a:t> </a:t>
            </a:r>
            <a:r>
              <a:rPr lang="cs-CZ" dirty="0" err="1"/>
              <a:t>uzivateli</a:t>
            </a:r>
            <a:r>
              <a:rPr lang="cs-CZ" dirty="0"/>
              <a:t>. V </a:t>
            </a:r>
            <a:r>
              <a:rPr lang="cs-CZ" dirty="0" err="1"/>
              <a:t>prostredi</a:t>
            </a:r>
            <a:r>
              <a:rPr lang="cs-CZ" dirty="0"/>
              <a:t> </a:t>
            </a:r>
            <a:r>
              <a:rPr lang="cs-CZ" dirty="0" err="1"/>
              <a:t>aplication</a:t>
            </a:r>
            <a:r>
              <a:rPr lang="cs-CZ" dirty="0"/>
              <a:t> express </a:t>
            </a:r>
            <a:r>
              <a:rPr lang="cs-CZ" dirty="0" err="1"/>
              <a:t>staci</a:t>
            </a:r>
            <a:r>
              <a:rPr lang="cs-CZ" dirty="0"/>
              <a:t> kliknout </a:t>
            </a:r>
            <a:r>
              <a:rPr lang="cs-CZ" dirty="0" err="1"/>
              <a:t>pravym</a:t>
            </a:r>
            <a:r>
              <a:rPr lang="cs-CZ" dirty="0"/>
              <a:t> </a:t>
            </a:r>
            <a:r>
              <a:rPr lang="cs-CZ" dirty="0" err="1"/>
              <a:t>tlacitkem</a:t>
            </a:r>
            <a:r>
              <a:rPr lang="cs-CZ" dirty="0"/>
              <a:t> na dany objekt. </a:t>
            </a:r>
          </a:p>
        </p:txBody>
      </p:sp>
      <p:pic>
        <p:nvPicPr>
          <p:cNvPr id="4" name="Picture 259">
            <a:extLst>
              <a:ext uri="{FF2B5EF4-FFF2-40B4-BE49-F238E27FC236}">
                <a16:creationId xmlns:a16="http://schemas.microsoft.com/office/drawing/2014/main" id="{38D3718C-DB9E-4B26-8E51-30C74ECF36B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373670" y="3599829"/>
            <a:ext cx="6124409" cy="2577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420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D6B65C4-C334-4A6B-BEF7-69E323216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Vytvoreni</a:t>
            </a:r>
            <a:r>
              <a:rPr lang="cs-CZ" dirty="0"/>
              <a:t> tabulky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2D4AE46F-B111-4916-8F01-BE50BA774C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 err="1"/>
              <a:t>Vsechna</a:t>
            </a:r>
            <a:r>
              <a:rPr lang="cs-CZ" dirty="0"/>
              <a:t> data v </a:t>
            </a:r>
            <a:r>
              <a:rPr lang="cs-CZ" dirty="0" err="1"/>
              <a:t>relacni</a:t>
            </a:r>
            <a:r>
              <a:rPr lang="cs-CZ" dirty="0"/>
              <a:t> </a:t>
            </a:r>
            <a:r>
              <a:rPr lang="cs-CZ" dirty="0" err="1"/>
              <a:t>databazi</a:t>
            </a:r>
            <a:r>
              <a:rPr lang="cs-CZ" dirty="0"/>
              <a:t> jsou </a:t>
            </a:r>
            <a:r>
              <a:rPr lang="cs-CZ" dirty="0" err="1"/>
              <a:t>ukladana</a:t>
            </a:r>
            <a:r>
              <a:rPr lang="cs-CZ" dirty="0"/>
              <a:t> v </a:t>
            </a:r>
            <a:r>
              <a:rPr lang="cs-CZ" dirty="0" err="1"/>
              <a:t>tabulkach</a:t>
            </a:r>
            <a:endParaRPr lang="cs-CZ" dirty="0"/>
          </a:p>
          <a:p>
            <a:r>
              <a:rPr lang="cs-CZ" dirty="0" err="1"/>
              <a:t>Kdyz</a:t>
            </a:r>
            <a:r>
              <a:rPr lang="cs-CZ" dirty="0"/>
              <a:t> </a:t>
            </a:r>
            <a:r>
              <a:rPr lang="cs-CZ" dirty="0" err="1"/>
              <a:t>vytvarite</a:t>
            </a:r>
            <a:r>
              <a:rPr lang="cs-CZ" dirty="0"/>
              <a:t> novou tabulku, pro </a:t>
            </a:r>
            <a:r>
              <a:rPr lang="cs-CZ" dirty="0" err="1"/>
              <a:t>pojmenovani</a:t>
            </a:r>
            <a:r>
              <a:rPr lang="cs-CZ" dirty="0"/>
              <a:t> </a:t>
            </a:r>
            <a:r>
              <a:rPr lang="cs-CZ" dirty="0" err="1"/>
              <a:t>pouzivejte</a:t>
            </a:r>
            <a:r>
              <a:rPr lang="cs-CZ" dirty="0"/>
              <a:t> </a:t>
            </a:r>
            <a:r>
              <a:rPr lang="cs-CZ" dirty="0" err="1"/>
              <a:t>nasledujici</a:t>
            </a:r>
            <a:r>
              <a:rPr lang="cs-CZ" dirty="0"/>
              <a:t> pravidla:</a:t>
            </a:r>
          </a:p>
          <a:p>
            <a:pPr lvl="1"/>
            <a:r>
              <a:rPr lang="cs-CZ" dirty="0" err="1"/>
              <a:t>Nazev</a:t>
            </a:r>
            <a:r>
              <a:rPr lang="cs-CZ" dirty="0"/>
              <a:t> </a:t>
            </a:r>
            <a:r>
              <a:rPr lang="cs-CZ" dirty="0" err="1"/>
              <a:t>musi</a:t>
            </a:r>
            <a:r>
              <a:rPr lang="cs-CZ" dirty="0"/>
              <a:t> </a:t>
            </a:r>
            <a:r>
              <a:rPr lang="cs-CZ" dirty="0" err="1"/>
              <a:t>zacinat</a:t>
            </a:r>
            <a:r>
              <a:rPr lang="cs-CZ" dirty="0"/>
              <a:t> </a:t>
            </a:r>
            <a:r>
              <a:rPr lang="cs-CZ" dirty="0" err="1"/>
              <a:t>pismenem</a:t>
            </a:r>
            <a:endParaRPr lang="cs-CZ" dirty="0"/>
          </a:p>
          <a:p>
            <a:pPr lvl="1"/>
            <a:r>
              <a:rPr lang="cs-CZ" dirty="0" err="1"/>
              <a:t>Musi</a:t>
            </a:r>
            <a:r>
              <a:rPr lang="cs-CZ" dirty="0"/>
              <a:t> byt mezi 1-30 </a:t>
            </a:r>
            <a:r>
              <a:rPr lang="cs-CZ" dirty="0" err="1"/>
              <a:t>pismeny</a:t>
            </a:r>
            <a:r>
              <a:rPr lang="cs-CZ" dirty="0"/>
              <a:t> </a:t>
            </a:r>
            <a:r>
              <a:rPr lang="cs-CZ" dirty="0" err="1"/>
              <a:t>dlouhy</a:t>
            </a:r>
            <a:endParaRPr lang="cs-CZ" dirty="0"/>
          </a:p>
          <a:p>
            <a:pPr lvl="1"/>
            <a:r>
              <a:rPr lang="cs-CZ" dirty="0" err="1"/>
              <a:t>Musi</a:t>
            </a:r>
            <a:r>
              <a:rPr lang="cs-CZ" dirty="0"/>
              <a:t> </a:t>
            </a:r>
            <a:r>
              <a:rPr lang="cs-CZ" dirty="0" err="1"/>
              <a:t>obsahova</a:t>
            </a:r>
            <a:r>
              <a:rPr lang="cs-CZ" dirty="0"/>
              <a:t> pouze mala, </a:t>
            </a:r>
            <a:r>
              <a:rPr lang="cs-CZ" dirty="0" err="1"/>
              <a:t>velka</a:t>
            </a:r>
            <a:r>
              <a:rPr lang="cs-CZ" dirty="0"/>
              <a:t> </a:t>
            </a:r>
            <a:r>
              <a:rPr lang="cs-CZ" dirty="0" err="1"/>
              <a:t>pismena</a:t>
            </a:r>
            <a:r>
              <a:rPr lang="cs-CZ" dirty="0"/>
              <a:t>, </a:t>
            </a:r>
            <a:r>
              <a:rPr lang="cs-CZ" dirty="0" err="1"/>
              <a:t>podtrzitko</a:t>
            </a:r>
            <a:r>
              <a:rPr lang="cs-CZ" dirty="0"/>
              <a:t>, dolar a </a:t>
            </a:r>
            <a:r>
              <a:rPr lang="cs-CZ" dirty="0" err="1"/>
              <a:t>hash</a:t>
            </a:r>
            <a:endParaRPr lang="cs-CZ" dirty="0"/>
          </a:p>
          <a:p>
            <a:pPr lvl="1"/>
            <a:r>
              <a:rPr lang="cs-CZ" dirty="0" err="1"/>
              <a:t>Nesmi</a:t>
            </a:r>
            <a:r>
              <a:rPr lang="cs-CZ" dirty="0"/>
              <a:t> duplikovat </a:t>
            </a:r>
            <a:r>
              <a:rPr lang="cs-CZ" dirty="0" err="1"/>
              <a:t>nazev</a:t>
            </a:r>
            <a:r>
              <a:rPr lang="cs-CZ" dirty="0"/>
              <a:t> </a:t>
            </a:r>
            <a:r>
              <a:rPr lang="cs-CZ" dirty="0" err="1"/>
              <a:t>jineho</a:t>
            </a:r>
            <a:r>
              <a:rPr lang="cs-CZ" dirty="0"/>
              <a:t> objektu </a:t>
            </a:r>
            <a:r>
              <a:rPr lang="cs-CZ" dirty="0" err="1"/>
              <a:t>vlastneneho</a:t>
            </a:r>
            <a:r>
              <a:rPr lang="cs-CZ" dirty="0"/>
              <a:t> </a:t>
            </a:r>
            <a:r>
              <a:rPr lang="cs-CZ" dirty="0" err="1"/>
              <a:t>stejnym</a:t>
            </a:r>
            <a:r>
              <a:rPr lang="cs-CZ" dirty="0"/>
              <a:t> </a:t>
            </a:r>
            <a:r>
              <a:rPr lang="cs-CZ" dirty="0" err="1"/>
              <a:t>uzivatelem</a:t>
            </a:r>
            <a:endParaRPr lang="cs-CZ" dirty="0"/>
          </a:p>
          <a:p>
            <a:pPr lvl="1"/>
            <a:r>
              <a:rPr lang="cs-CZ" dirty="0" err="1"/>
              <a:t>Nesmi</a:t>
            </a:r>
            <a:r>
              <a:rPr lang="cs-CZ" dirty="0"/>
              <a:t> byt </a:t>
            </a:r>
            <a:r>
              <a:rPr lang="cs-CZ" dirty="0" err="1"/>
              <a:t>rezervovanym</a:t>
            </a:r>
            <a:r>
              <a:rPr lang="cs-CZ" dirty="0"/>
              <a:t> slovem</a:t>
            </a:r>
          </a:p>
          <a:p>
            <a:pPr lvl="1"/>
            <a:r>
              <a:rPr lang="cs-CZ" dirty="0" err="1"/>
              <a:t>Nazvy</a:t>
            </a:r>
            <a:r>
              <a:rPr lang="cs-CZ" dirty="0"/>
              <a:t> tabulek nejsou case sensitive</a:t>
            </a:r>
          </a:p>
          <a:p>
            <a:pPr lvl="1"/>
            <a:r>
              <a:rPr lang="cs-CZ" dirty="0" err="1"/>
              <a:t>Nazev</a:t>
            </a:r>
            <a:r>
              <a:rPr lang="cs-CZ" dirty="0"/>
              <a:t> by mel byt v </a:t>
            </a:r>
            <a:r>
              <a:rPr lang="cs-CZ" dirty="0" err="1"/>
              <a:t>mnoznem</a:t>
            </a:r>
            <a:r>
              <a:rPr lang="cs-CZ" dirty="0"/>
              <a:t> </a:t>
            </a:r>
            <a:r>
              <a:rPr lang="cs-CZ" dirty="0" err="1"/>
              <a:t>cisle</a:t>
            </a:r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355552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8C39204-9B1C-43E7-B371-3C15A2CB1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77B1E5A6-6C02-4F26-809F-C8645D768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Pro </a:t>
            </a:r>
            <a:r>
              <a:rPr lang="cs-CZ" dirty="0" err="1"/>
              <a:t>vytvoreni</a:t>
            </a:r>
            <a:r>
              <a:rPr lang="cs-CZ" dirty="0"/>
              <a:t> tabulky </a:t>
            </a:r>
            <a:r>
              <a:rPr lang="cs-CZ" dirty="0" err="1"/>
              <a:t>musite</a:t>
            </a:r>
            <a:r>
              <a:rPr lang="cs-CZ" dirty="0"/>
              <a:t> </a:t>
            </a:r>
            <a:r>
              <a:rPr lang="cs-CZ" dirty="0" err="1"/>
              <a:t>mit</a:t>
            </a:r>
            <a:r>
              <a:rPr lang="cs-CZ" dirty="0"/>
              <a:t> </a:t>
            </a:r>
            <a:r>
              <a:rPr lang="cs-CZ" dirty="0" err="1"/>
              <a:t>prava</a:t>
            </a:r>
            <a:r>
              <a:rPr lang="cs-CZ" dirty="0"/>
              <a:t> a prostor pro </a:t>
            </a:r>
            <a:r>
              <a:rPr lang="cs-CZ" dirty="0" err="1"/>
              <a:t>vytvoreni</a:t>
            </a:r>
            <a:r>
              <a:rPr lang="cs-CZ" dirty="0"/>
              <a:t>. DBA </a:t>
            </a:r>
            <a:r>
              <a:rPr lang="cs-CZ" dirty="0" err="1"/>
              <a:t>pouziva</a:t>
            </a:r>
            <a:r>
              <a:rPr lang="cs-CZ" dirty="0"/>
              <a:t> DCL pro </a:t>
            </a:r>
            <a:r>
              <a:rPr lang="cs-CZ" dirty="0" err="1"/>
              <a:t>nastavovani</a:t>
            </a:r>
            <a:r>
              <a:rPr lang="cs-CZ" dirty="0"/>
              <a:t> prav </a:t>
            </a:r>
            <a:r>
              <a:rPr lang="cs-CZ" dirty="0" err="1"/>
              <a:t>uzivatelum</a:t>
            </a:r>
            <a:r>
              <a:rPr lang="cs-CZ" dirty="0"/>
              <a:t> a </a:t>
            </a:r>
            <a:r>
              <a:rPr lang="cs-CZ" dirty="0" err="1"/>
              <a:t>prirazeni</a:t>
            </a:r>
            <a:r>
              <a:rPr lang="cs-CZ" dirty="0"/>
              <a:t> </a:t>
            </a:r>
            <a:r>
              <a:rPr lang="cs-CZ" dirty="0" err="1"/>
              <a:t>uloziste</a:t>
            </a:r>
            <a:r>
              <a:rPr lang="cs-CZ" dirty="0"/>
              <a:t>. </a:t>
            </a:r>
            <a:r>
              <a:rPr lang="cs-CZ" dirty="0" err="1"/>
              <a:t>Kdyz</a:t>
            </a:r>
            <a:r>
              <a:rPr lang="cs-CZ" dirty="0"/>
              <a:t> chcete </a:t>
            </a:r>
            <a:r>
              <a:rPr lang="cs-CZ" dirty="0" err="1"/>
              <a:t>pouzit</a:t>
            </a:r>
            <a:r>
              <a:rPr lang="cs-CZ" dirty="0"/>
              <a:t> tabulku, </a:t>
            </a:r>
            <a:r>
              <a:rPr lang="cs-CZ" dirty="0" err="1"/>
              <a:t>ktera</a:t>
            </a:r>
            <a:r>
              <a:rPr lang="cs-CZ" dirty="0"/>
              <a:t> </a:t>
            </a:r>
            <a:r>
              <a:rPr lang="cs-CZ" dirty="0" err="1"/>
              <a:t>neni</a:t>
            </a:r>
            <a:r>
              <a:rPr lang="cs-CZ" dirty="0"/>
              <a:t> </a:t>
            </a:r>
            <a:r>
              <a:rPr lang="cs-CZ" dirty="0" err="1"/>
              <a:t>vase</a:t>
            </a:r>
            <a:r>
              <a:rPr lang="cs-CZ" dirty="0"/>
              <a:t>, ale </a:t>
            </a:r>
            <a:r>
              <a:rPr lang="cs-CZ" dirty="0" err="1"/>
              <a:t>jineho</a:t>
            </a:r>
            <a:r>
              <a:rPr lang="cs-CZ" dirty="0"/>
              <a:t> </a:t>
            </a:r>
            <a:r>
              <a:rPr lang="cs-CZ" dirty="0" err="1"/>
              <a:t>uzivatele</a:t>
            </a:r>
            <a:r>
              <a:rPr lang="cs-CZ" dirty="0"/>
              <a:t>, tak </a:t>
            </a:r>
            <a:r>
              <a:rPr lang="cs-CZ" dirty="0" err="1"/>
              <a:t>pred</a:t>
            </a:r>
            <a:r>
              <a:rPr lang="cs-CZ" dirty="0"/>
              <a:t> </a:t>
            </a:r>
            <a:r>
              <a:rPr lang="cs-CZ" dirty="0" err="1"/>
              <a:t>jeji</a:t>
            </a:r>
            <a:r>
              <a:rPr lang="cs-CZ" dirty="0"/>
              <a:t> </a:t>
            </a:r>
            <a:r>
              <a:rPr lang="cs-CZ" dirty="0" err="1"/>
              <a:t>nazev</a:t>
            </a:r>
            <a:r>
              <a:rPr lang="cs-CZ" dirty="0"/>
              <a:t> </a:t>
            </a:r>
            <a:r>
              <a:rPr lang="cs-CZ" dirty="0" err="1"/>
              <a:t>staci</a:t>
            </a:r>
            <a:r>
              <a:rPr lang="cs-CZ" dirty="0"/>
              <a:t> dat </a:t>
            </a:r>
            <a:r>
              <a:rPr lang="cs-CZ" dirty="0" err="1"/>
              <a:t>nazev</a:t>
            </a:r>
            <a:r>
              <a:rPr lang="cs-CZ" dirty="0"/>
              <a:t> </a:t>
            </a:r>
            <a:r>
              <a:rPr lang="cs-CZ" dirty="0" err="1"/>
              <a:t>uzivatele</a:t>
            </a:r>
            <a:r>
              <a:rPr lang="cs-CZ" dirty="0"/>
              <a:t> a za </a:t>
            </a:r>
            <a:r>
              <a:rPr lang="cs-CZ" dirty="0" err="1"/>
              <a:t>tecku</a:t>
            </a:r>
            <a:r>
              <a:rPr lang="cs-CZ" dirty="0"/>
              <a:t> </a:t>
            </a:r>
            <a:r>
              <a:rPr lang="cs-CZ" dirty="0" err="1"/>
              <a:t>nazev</a:t>
            </a:r>
            <a:r>
              <a:rPr lang="cs-CZ" dirty="0"/>
              <a:t> tabulky. </a:t>
            </a:r>
            <a:r>
              <a:rPr lang="cs-CZ" dirty="0" err="1"/>
              <a:t>Musite</a:t>
            </a:r>
            <a:r>
              <a:rPr lang="cs-CZ" dirty="0"/>
              <a:t> </a:t>
            </a:r>
            <a:r>
              <a:rPr lang="cs-CZ" dirty="0" err="1"/>
              <a:t>mit</a:t>
            </a:r>
            <a:r>
              <a:rPr lang="cs-CZ" dirty="0"/>
              <a:t> vsak </a:t>
            </a:r>
            <a:r>
              <a:rPr lang="cs-CZ" dirty="0" err="1"/>
              <a:t>prava</a:t>
            </a:r>
            <a:r>
              <a:rPr lang="cs-CZ" dirty="0"/>
              <a:t> pro </a:t>
            </a:r>
            <a:r>
              <a:rPr lang="cs-CZ" dirty="0" err="1"/>
              <a:t>pristup</a:t>
            </a:r>
            <a:r>
              <a:rPr lang="cs-CZ" dirty="0"/>
              <a:t>.</a:t>
            </a:r>
          </a:p>
        </p:txBody>
      </p:sp>
      <p:pic>
        <p:nvPicPr>
          <p:cNvPr id="4" name="Picture 260">
            <a:extLst>
              <a:ext uri="{FF2B5EF4-FFF2-40B4-BE49-F238E27FC236}">
                <a16:creationId xmlns:a16="http://schemas.microsoft.com/office/drawing/2014/main" id="{551AED63-1D34-47DD-AE62-9FE4EC03DD6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265086" y="4001294"/>
            <a:ext cx="4983853" cy="57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848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59D1F1E-9087-42A2-96A8-75E6241AF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51D7D2DB-CF3E-4FEC-BD83-8E162A73E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4" name="Picture 261">
            <a:extLst>
              <a:ext uri="{FF2B5EF4-FFF2-40B4-BE49-F238E27FC236}">
                <a16:creationId xmlns:a16="http://schemas.microsoft.com/office/drawing/2014/main" id="{08044C6C-FC5C-4E4F-AE46-04AA484C711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5350565" cy="1050097"/>
          </a:xfrm>
          <a:prstGeom prst="rect">
            <a:avLst/>
          </a:prstGeom>
        </p:spPr>
      </p:pic>
      <p:pic>
        <p:nvPicPr>
          <p:cNvPr id="5" name="Picture 262">
            <a:extLst>
              <a:ext uri="{FF2B5EF4-FFF2-40B4-BE49-F238E27FC236}">
                <a16:creationId xmlns:a16="http://schemas.microsoft.com/office/drawing/2014/main" id="{F94336E2-7EA0-4FDB-8305-ECEC09EBDAD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205287" y="2657475"/>
            <a:ext cx="5350565" cy="2895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99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3D6AA4D-C989-4ED3-B63A-75FB397E7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Externí tabulky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170F4687-DB4C-472D-BCD0-228CE8D3D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Oracle</a:t>
            </a:r>
            <a:r>
              <a:rPr lang="cs-CZ" dirty="0"/>
              <a:t> </a:t>
            </a:r>
            <a:r>
              <a:rPr lang="cs-CZ" dirty="0" err="1"/>
              <a:t>take</a:t>
            </a:r>
            <a:r>
              <a:rPr lang="cs-CZ" dirty="0"/>
              <a:t> podporuje </a:t>
            </a:r>
            <a:r>
              <a:rPr lang="cs-CZ" dirty="0" err="1"/>
              <a:t>externi</a:t>
            </a:r>
            <a:r>
              <a:rPr lang="cs-CZ" dirty="0"/>
              <a:t> tabulky. V </a:t>
            </a:r>
            <a:r>
              <a:rPr lang="cs-CZ" dirty="0" err="1"/>
              <a:t>externich</a:t>
            </a:r>
            <a:r>
              <a:rPr lang="cs-CZ" dirty="0"/>
              <a:t> </a:t>
            </a:r>
            <a:r>
              <a:rPr lang="cs-CZ" dirty="0" err="1"/>
              <a:t>tabulkach</a:t>
            </a:r>
            <a:r>
              <a:rPr lang="cs-CZ" dirty="0"/>
              <a:t> jsou data </a:t>
            </a:r>
            <a:r>
              <a:rPr lang="cs-CZ" dirty="0" err="1"/>
              <a:t>ukladana</a:t>
            </a:r>
            <a:r>
              <a:rPr lang="cs-CZ" dirty="0"/>
              <a:t> mimo </a:t>
            </a:r>
            <a:r>
              <a:rPr lang="cs-CZ" dirty="0" err="1"/>
              <a:t>databazove</a:t>
            </a:r>
            <a:r>
              <a:rPr lang="cs-CZ" dirty="0"/>
              <a:t> soubory v </a:t>
            </a:r>
            <a:r>
              <a:rPr lang="cs-CZ" dirty="0" err="1"/>
              <a:t>externich</a:t>
            </a:r>
            <a:r>
              <a:rPr lang="cs-CZ" dirty="0"/>
              <a:t> souborech </a:t>
            </a:r>
            <a:r>
              <a:rPr lang="cs-CZ" dirty="0" err="1"/>
              <a:t>databaze</a:t>
            </a:r>
            <a:r>
              <a:rPr lang="cs-CZ" dirty="0"/>
              <a:t>.</a:t>
            </a:r>
          </a:p>
          <a:p>
            <a:r>
              <a:rPr lang="cs-CZ" dirty="0"/>
              <a:t>Typicky jsou </a:t>
            </a:r>
            <a:r>
              <a:rPr lang="cs-CZ" dirty="0" err="1"/>
              <a:t>externi</a:t>
            </a:r>
            <a:r>
              <a:rPr lang="cs-CZ" dirty="0"/>
              <a:t> tabulky </a:t>
            </a:r>
            <a:r>
              <a:rPr lang="cs-CZ" dirty="0" err="1"/>
              <a:t>pouzivany</a:t>
            </a:r>
            <a:r>
              <a:rPr lang="cs-CZ" dirty="0"/>
              <a:t> pro </a:t>
            </a:r>
            <a:r>
              <a:rPr lang="cs-CZ" dirty="0" err="1"/>
              <a:t>ukladani</a:t>
            </a:r>
            <a:r>
              <a:rPr lang="cs-CZ" dirty="0"/>
              <a:t> dat </a:t>
            </a:r>
            <a:r>
              <a:rPr lang="cs-CZ" dirty="0" err="1"/>
              <a:t>prenasenych</a:t>
            </a:r>
            <a:r>
              <a:rPr lang="cs-CZ" dirty="0"/>
              <a:t> ze </a:t>
            </a:r>
            <a:r>
              <a:rPr lang="cs-CZ" dirty="0" err="1"/>
              <a:t>starych</a:t>
            </a:r>
            <a:r>
              <a:rPr lang="cs-CZ" dirty="0"/>
              <a:t> verzi </a:t>
            </a:r>
            <a:r>
              <a:rPr lang="cs-CZ" dirty="0" err="1"/>
              <a:t>databaze</a:t>
            </a:r>
            <a:r>
              <a:rPr lang="cs-CZ" dirty="0"/>
              <a:t> </a:t>
            </a:r>
            <a:r>
              <a:rPr lang="cs-CZ" dirty="0" err="1"/>
              <a:t>pouzivanych</a:t>
            </a:r>
            <a:r>
              <a:rPr lang="cs-CZ" dirty="0"/>
              <a:t> podnikem. Tedy jsou to </a:t>
            </a:r>
            <a:r>
              <a:rPr lang="cs-CZ" dirty="0" err="1"/>
              <a:t>zalohy</a:t>
            </a:r>
            <a:r>
              <a:rPr lang="cs-CZ" dirty="0"/>
              <a:t> dat. Syntaxe </a:t>
            </a:r>
            <a:r>
              <a:rPr lang="cs-CZ" dirty="0" err="1"/>
              <a:t>vytvoreni</a:t>
            </a:r>
            <a:r>
              <a:rPr lang="cs-CZ" dirty="0"/>
              <a:t> </a:t>
            </a:r>
            <a:r>
              <a:rPr lang="cs-CZ" dirty="0" err="1"/>
              <a:t>externi</a:t>
            </a:r>
            <a:r>
              <a:rPr lang="cs-CZ" dirty="0"/>
              <a:t> tabulky je shodne jako </a:t>
            </a:r>
            <a:r>
              <a:rPr lang="cs-CZ" dirty="0" err="1"/>
              <a:t>normalni</a:t>
            </a:r>
            <a:r>
              <a:rPr lang="cs-CZ" dirty="0"/>
              <a:t> jen s </a:t>
            </a:r>
            <a:r>
              <a:rPr lang="cs-CZ" dirty="0" err="1"/>
              <a:t>rozdilnou</a:t>
            </a:r>
            <a:r>
              <a:rPr lang="cs-CZ" dirty="0"/>
              <a:t> syntaxi na konci.</a:t>
            </a:r>
          </a:p>
        </p:txBody>
      </p:sp>
      <p:pic>
        <p:nvPicPr>
          <p:cNvPr id="4" name="Picture 263">
            <a:extLst>
              <a:ext uri="{FF2B5EF4-FFF2-40B4-BE49-F238E27FC236}">
                <a16:creationId xmlns:a16="http://schemas.microsoft.com/office/drawing/2014/main" id="{A89B0BC8-3D01-45CD-A502-5FAC6D1798D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950019" y="4376738"/>
            <a:ext cx="2080798" cy="2481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354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2CC639E-6DB3-4AF7-AAA9-1EFC0007D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3AC44206-651D-4E33-9383-84900EEFE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4" name="Picture 264">
            <a:extLst>
              <a:ext uri="{FF2B5EF4-FFF2-40B4-BE49-F238E27FC236}">
                <a16:creationId xmlns:a16="http://schemas.microsoft.com/office/drawing/2014/main" id="{FEEEFED2-F731-45F3-A6B0-C3A0304FCE6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1801847"/>
            <a:ext cx="6781800" cy="3803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5564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AF9BAC-4751-4861-BB9B-C5676B421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Datovy</a:t>
            </a:r>
            <a:r>
              <a:rPr lang="cs-CZ" dirty="0"/>
              <a:t> </a:t>
            </a:r>
            <a:r>
              <a:rPr lang="cs-CZ" dirty="0" err="1"/>
              <a:t>slovnik</a:t>
            </a:r>
            <a:endParaRPr lang="cs-CZ" dirty="0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BE91D21C-BB9C-4CAA-A54A-A8A7204B9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V </a:t>
            </a:r>
            <a:r>
              <a:rPr lang="cs-CZ" dirty="0" err="1"/>
              <a:t>databazich</a:t>
            </a:r>
            <a:r>
              <a:rPr lang="cs-CZ" dirty="0"/>
              <a:t> </a:t>
            </a:r>
            <a:r>
              <a:rPr lang="cs-CZ" dirty="0" err="1"/>
              <a:t>Oracle</a:t>
            </a:r>
            <a:r>
              <a:rPr lang="cs-CZ" dirty="0"/>
              <a:t> existuji dva typy tabulek: </a:t>
            </a:r>
            <a:r>
              <a:rPr lang="cs-CZ" dirty="0" err="1"/>
              <a:t>uzivatelske</a:t>
            </a:r>
            <a:r>
              <a:rPr lang="cs-CZ" dirty="0"/>
              <a:t> tabulky a tabulky </a:t>
            </a:r>
            <a:r>
              <a:rPr lang="cs-CZ" dirty="0" err="1"/>
              <a:t>datoveho</a:t>
            </a:r>
            <a:r>
              <a:rPr lang="cs-CZ" dirty="0"/>
              <a:t> </a:t>
            </a:r>
            <a:r>
              <a:rPr lang="cs-CZ" dirty="0" err="1"/>
              <a:t>slovniku</a:t>
            </a:r>
            <a:r>
              <a:rPr lang="cs-CZ" dirty="0"/>
              <a:t>. </a:t>
            </a:r>
            <a:r>
              <a:rPr lang="cs-CZ" dirty="0" err="1"/>
              <a:t>Muzete</a:t>
            </a:r>
            <a:r>
              <a:rPr lang="cs-CZ" dirty="0"/>
              <a:t> </a:t>
            </a:r>
            <a:r>
              <a:rPr lang="cs-CZ" dirty="0" err="1"/>
              <a:t>pristupovat</a:t>
            </a:r>
            <a:r>
              <a:rPr lang="cs-CZ" dirty="0"/>
              <a:t> do obou </a:t>
            </a:r>
            <a:r>
              <a:rPr lang="cs-CZ" dirty="0" err="1"/>
              <a:t>techto</a:t>
            </a:r>
            <a:r>
              <a:rPr lang="cs-CZ" dirty="0"/>
              <a:t> typu tabulek.</a:t>
            </a:r>
          </a:p>
        </p:txBody>
      </p:sp>
      <p:pic>
        <p:nvPicPr>
          <p:cNvPr id="4" name="Picture 265">
            <a:extLst>
              <a:ext uri="{FF2B5EF4-FFF2-40B4-BE49-F238E27FC236}">
                <a16:creationId xmlns:a16="http://schemas.microsoft.com/office/drawing/2014/main" id="{6A78A750-2420-4BF0-A903-34324E944DD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400674" y="2857499"/>
            <a:ext cx="2245829" cy="167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9824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A7F484A-CF63-4D14-9E0F-1A20EAD55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Priklady</a:t>
            </a:r>
            <a:r>
              <a:rPr lang="cs-CZ" dirty="0"/>
              <a:t> tabulek </a:t>
            </a:r>
            <a:r>
              <a:rPr lang="cs-CZ" dirty="0" err="1"/>
              <a:t>datoveho</a:t>
            </a:r>
            <a:r>
              <a:rPr lang="cs-CZ" dirty="0"/>
              <a:t> </a:t>
            </a:r>
            <a:r>
              <a:rPr lang="cs-CZ" dirty="0" err="1"/>
              <a:t>slovniku</a:t>
            </a:r>
            <a:r>
              <a:rPr lang="cs-CZ" dirty="0"/>
              <a:t> USER_OBJECTS, USER_TABLES,...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2C6D3723-AE75-4B09-BB67-66701908A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Vsechny</a:t>
            </a:r>
            <a:r>
              <a:rPr lang="cs-CZ" dirty="0"/>
              <a:t> tyto tabulky jsou </a:t>
            </a:r>
            <a:r>
              <a:rPr lang="cs-CZ" dirty="0" err="1"/>
              <a:t>vlastneny</a:t>
            </a:r>
            <a:r>
              <a:rPr lang="cs-CZ" dirty="0"/>
              <a:t> </a:t>
            </a:r>
            <a:r>
              <a:rPr lang="cs-CZ" dirty="0" err="1"/>
              <a:t>specialnim</a:t>
            </a:r>
            <a:r>
              <a:rPr lang="cs-CZ" dirty="0"/>
              <a:t> </a:t>
            </a:r>
            <a:r>
              <a:rPr lang="cs-CZ" dirty="0" err="1"/>
              <a:t>uzivatelem</a:t>
            </a:r>
            <a:r>
              <a:rPr lang="cs-CZ" dirty="0"/>
              <a:t> </a:t>
            </a:r>
            <a:r>
              <a:rPr lang="cs-CZ" dirty="0" err="1"/>
              <a:t>nazyvanym</a:t>
            </a:r>
            <a:r>
              <a:rPr lang="cs-CZ" dirty="0"/>
              <a:t> SYS a jenom </a:t>
            </a:r>
            <a:r>
              <a:rPr lang="cs-CZ" dirty="0" err="1"/>
              <a:t>prikaz</a:t>
            </a:r>
            <a:r>
              <a:rPr lang="cs-CZ" dirty="0"/>
              <a:t> </a:t>
            </a:r>
            <a:r>
              <a:rPr lang="cs-CZ" dirty="0" err="1"/>
              <a:t>select</a:t>
            </a:r>
            <a:r>
              <a:rPr lang="cs-CZ" dirty="0"/>
              <a:t> </a:t>
            </a:r>
            <a:r>
              <a:rPr lang="cs-CZ" dirty="0" err="1"/>
              <a:t>smi</a:t>
            </a:r>
            <a:r>
              <a:rPr lang="cs-CZ" dirty="0"/>
              <a:t> byt </a:t>
            </a:r>
            <a:r>
              <a:rPr lang="cs-CZ" dirty="0" err="1"/>
              <a:t>pouzit</a:t>
            </a:r>
            <a:r>
              <a:rPr lang="cs-CZ" dirty="0"/>
              <a:t> </a:t>
            </a:r>
            <a:r>
              <a:rPr lang="cs-CZ" dirty="0" err="1"/>
              <a:t>pri</a:t>
            </a:r>
            <a:r>
              <a:rPr lang="cs-CZ" dirty="0"/>
              <a:t> </a:t>
            </a:r>
            <a:r>
              <a:rPr lang="cs-CZ" dirty="0" err="1"/>
              <a:t>praci</a:t>
            </a:r>
            <a:r>
              <a:rPr lang="cs-CZ" dirty="0"/>
              <a:t> s </a:t>
            </a:r>
            <a:r>
              <a:rPr lang="cs-CZ" dirty="0" err="1"/>
              <a:t>temito</a:t>
            </a:r>
            <a:r>
              <a:rPr lang="cs-CZ" dirty="0"/>
              <a:t> tabulkami. </a:t>
            </a:r>
          </a:p>
          <a:p>
            <a:r>
              <a:rPr lang="cs-CZ" dirty="0"/>
              <a:t>Kdyby </a:t>
            </a:r>
            <a:r>
              <a:rPr lang="cs-CZ" dirty="0" err="1"/>
              <a:t>chtel</a:t>
            </a:r>
            <a:r>
              <a:rPr lang="cs-CZ" dirty="0"/>
              <a:t> jiny </a:t>
            </a:r>
            <a:r>
              <a:rPr lang="cs-CZ" dirty="0" err="1"/>
              <a:t>uzivatel</a:t>
            </a:r>
            <a:r>
              <a:rPr lang="cs-CZ" dirty="0"/>
              <a:t> </a:t>
            </a:r>
            <a:r>
              <a:rPr lang="cs-CZ" dirty="0" err="1"/>
              <a:t>nez</a:t>
            </a:r>
            <a:r>
              <a:rPr lang="cs-CZ" dirty="0"/>
              <a:t> SYS </a:t>
            </a:r>
            <a:r>
              <a:rPr lang="cs-CZ" dirty="0" err="1"/>
              <a:t>provest</a:t>
            </a:r>
            <a:r>
              <a:rPr lang="cs-CZ" dirty="0"/>
              <a:t> </a:t>
            </a:r>
            <a:r>
              <a:rPr lang="cs-CZ" dirty="0" err="1"/>
              <a:t>nejakou</a:t>
            </a:r>
            <a:r>
              <a:rPr lang="cs-CZ" dirty="0"/>
              <a:t> operaci, </a:t>
            </a:r>
            <a:r>
              <a:rPr lang="cs-CZ" dirty="0" err="1"/>
              <a:t>ktera</a:t>
            </a:r>
            <a:r>
              <a:rPr lang="cs-CZ" dirty="0"/>
              <a:t> </a:t>
            </a:r>
            <a:r>
              <a:rPr lang="cs-CZ" dirty="0" err="1"/>
              <a:t>neni</a:t>
            </a:r>
            <a:r>
              <a:rPr lang="cs-CZ" dirty="0"/>
              <a:t> dovolena, potom je cela operace </a:t>
            </a:r>
            <a:r>
              <a:rPr lang="cs-CZ" dirty="0" err="1"/>
              <a:t>zamitnuta</a:t>
            </a:r>
            <a:r>
              <a:rPr lang="cs-CZ" dirty="0"/>
              <a:t> z </a:t>
            </a:r>
            <a:r>
              <a:rPr lang="cs-CZ" dirty="0" err="1"/>
              <a:t>duvodu</a:t>
            </a:r>
            <a:r>
              <a:rPr lang="cs-CZ" dirty="0"/>
              <a:t> </a:t>
            </a:r>
            <a:r>
              <a:rPr lang="cs-CZ" dirty="0" err="1"/>
              <a:t>zachovani</a:t>
            </a:r>
            <a:r>
              <a:rPr lang="cs-CZ" dirty="0"/>
              <a:t> integrity cele </a:t>
            </a:r>
            <a:r>
              <a:rPr lang="cs-CZ" dirty="0" err="1"/>
              <a:t>databaze</a:t>
            </a:r>
            <a:r>
              <a:rPr lang="cs-CZ" dirty="0"/>
              <a:t>.</a:t>
            </a:r>
          </a:p>
        </p:txBody>
      </p:sp>
      <p:pic>
        <p:nvPicPr>
          <p:cNvPr id="4" name="Picture 266">
            <a:extLst>
              <a:ext uri="{FF2B5EF4-FFF2-40B4-BE49-F238E27FC236}">
                <a16:creationId xmlns:a16="http://schemas.microsoft.com/office/drawing/2014/main" id="{82B6F4D9-946F-4EA9-B444-9FC7CA8BD08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510501" y="4001293"/>
            <a:ext cx="5137082" cy="1591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5381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0C034AE-1A2A-4AEA-8CC2-304ABC83D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Pouzivani</a:t>
            </a:r>
            <a:r>
              <a:rPr lang="cs-CZ" dirty="0"/>
              <a:t> </a:t>
            </a:r>
            <a:r>
              <a:rPr lang="cs-CZ" dirty="0" err="1"/>
              <a:t>datovych</a:t>
            </a:r>
            <a:r>
              <a:rPr lang="cs-CZ" dirty="0"/>
              <a:t> typu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FB6AE2D7-F6EC-419C-9882-2E49521B5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Kazda hodnota v </a:t>
            </a:r>
            <a:r>
              <a:rPr lang="cs-CZ" dirty="0" err="1"/>
              <a:t>oracle</a:t>
            </a:r>
            <a:r>
              <a:rPr lang="cs-CZ" dirty="0"/>
              <a:t> </a:t>
            </a:r>
            <a:r>
              <a:rPr lang="cs-CZ" dirty="0" err="1"/>
              <a:t>ma</a:t>
            </a:r>
            <a:r>
              <a:rPr lang="cs-CZ" dirty="0"/>
              <a:t> </a:t>
            </a:r>
            <a:r>
              <a:rPr lang="cs-CZ" dirty="0" err="1"/>
              <a:t>svuj</a:t>
            </a:r>
            <a:r>
              <a:rPr lang="cs-CZ" dirty="0"/>
              <a:t> </a:t>
            </a:r>
            <a:r>
              <a:rPr lang="cs-CZ" dirty="0" err="1"/>
              <a:t>datovy</a:t>
            </a:r>
            <a:r>
              <a:rPr lang="cs-CZ" dirty="0"/>
              <a:t> typ</a:t>
            </a:r>
          </a:p>
          <a:p>
            <a:r>
              <a:rPr lang="cs-CZ" dirty="0" err="1"/>
              <a:t>Datovy</a:t>
            </a:r>
            <a:r>
              <a:rPr lang="cs-CZ" dirty="0"/>
              <a:t> typ hodnoty je </a:t>
            </a:r>
            <a:r>
              <a:rPr lang="cs-CZ" dirty="0" err="1"/>
              <a:t>asociovan</a:t>
            </a:r>
            <a:r>
              <a:rPr lang="cs-CZ" dirty="0"/>
              <a:t> s </a:t>
            </a:r>
            <a:r>
              <a:rPr lang="cs-CZ" dirty="0" err="1"/>
              <a:t>pevne</a:t>
            </a:r>
            <a:r>
              <a:rPr lang="cs-CZ" dirty="0"/>
              <a:t> </a:t>
            </a:r>
            <a:r>
              <a:rPr lang="cs-CZ" dirty="0" err="1"/>
              <a:t>danymi</a:t>
            </a:r>
            <a:r>
              <a:rPr lang="cs-CZ" dirty="0"/>
              <a:t> pravidly, tyto pravidla </a:t>
            </a:r>
            <a:r>
              <a:rPr lang="cs-CZ" dirty="0" err="1"/>
              <a:t>urcuji</a:t>
            </a:r>
            <a:r>
              <a:rPr lang="cs-CZ" dirty="0"/>
              <a:t>, jak </a:t>
            </a:r>
            <a:r>
              <a:rPr lang="cs-CZ" dirty="0" err="1"/>
              <a:t>ma</a:t>
            </a:r>
            <a:r>
              <a:rPr lang="cs-CZ" dirty="0"/>
              <a:t> </a:t>
            </a:r>
            <a:r>
              <a:rPr lang="cs-CZ" dirty="0" err="1"/>
              <a:t>databaze</a:t>
            </a:r>
            <a:r>
              <a:rPr lang="cs-CZ" dirty="0"/>
              <a:t> pracovat s </a:t>
            </a:r>
            <a:r>
              <a:rPr lang="cs-CZ" dirty="0" err="1"/>
              <a:t>danym</a:t>
            </a:r>
            <a:r>
              <a:rPr lang="cs-CZ" dirty="0"/>
              <a:t>  typem dat. </a:t>
            </a:r>
          </a:p>
          <a:p>
            <a:r>
              <a:rPr lang="cs-CZ" dirty="0" err="1"/>
              <a:t>Pouzivani</a:t>
            </a:r>
            <a:r>
              <a:rPr lang="cs-CZ" dirty="0"/>
              <a:t> </a:t>
            </a:r>
            <a:r>
              <a:rPr lang="cs-CZ" dirty="0" err="1"/>
              <a:t>ruznych</a:t>
            </a:r>
            <a:r>
              <a:rPr lang="cs-CZ" dirty="0"/>
              <a:t> </a:t>
            </a:r>
            <a:r>
              <a:rPr lang="cs-CZ" dirty="0" err="1"/>
              <a:t>datovych</a:t>
            </a:r>
            <a:r>
              <a:rPr lang="cs-CZ" dirty="0"/>
              <a:t> typu </a:t>
            </a:r>
            <a:r>
              <a:rPr lang="cs-CZ" dirty="0" err="1"/>
              <a:t>prinasi</a:t>
            </a:r>
            <a:r>
              <a:rPr lang="cs-CZ" dirty="0"/>
              <a:t> </a:t>
            </a:r>
            <a:r>
              <a:rPr lang="cs-CZ" dirty="0" err="1"/>
              <a:t>vyhody</a:t>
            </a:r>
            <a:r>
              <a:rPr lang="cs-CZ" dirty="0"/>
              <a:t>: sloupce jednoho </a:t>
            </a:r>
            <a:r>
              <a:rPr lang="cs-CZ" dirty="0" err="1"/>
              <a:t>datoveho</a:t>
            </a:r>
            <a:r>
              <a:rPr lang="cs-CZ" dirty="0"/>
              <a:t> typu produkuji </a:t>
            </a:r>
            <a:r>
              <a:rPr lang="cs-CZ" dirty="0" err="1"/>
              <a:t>konzistentni</a:t>
            </a:r>
            <a:r>
              <a:rPr lang="cs-CZ" dirty="0"/>
              <a:t> </a:t>
            </a:r>
            <a:r>
              <a:rPr lang="cs-CZ" dirty="0" err="1"/>
              <a:t>vysledky</a:t>
            </a:r>
            <a:r>
              <a:rPr lang="cs-CZ" dirty="0"/>
              <a:t>, </a:t>
            </a:r>
            <a:r>
              <a:rPr lang="cs-CZ" dirty="0" err="1"/>
              <a:t>napriklad</a:t>
            </a:r>
            <a:r>
              <a:rPr lang="cs-CZ" dirty="0"/>
              <a:t> sloupec </a:t>
            </a:r>
            <a:r>
              <a:rPr lang="cs-CZ" dirty="0" err="1"/>
              <a:t>datoveho</a:t>
            </a:r>
            <a:r>
              <a:rPr lang="cs-CZ" dirty="0"/>
              <a:t> typu </a:t>
            </a:r>
            <a:r>
              <a:rPr lang="cs-CZ" dirty="0" err="1"/>
              <a:t>date</a:t>
            </a:r>
            <a:r>
              <a:rPr lang="cs-CZ" dirty="0"/>
              <a:t> bude </a:t>
            </a:r>
            <a:r>
              <a:rPr lang="cs-CZ" dirty="0" err="1"/>
              <a:t>vzdy</a:t>
            </a:r>
            <a:r>
              <a:rPr lang="cs-CZ" dirty="0"/>
              <a:t> poskytovat </a:t>
            </a:r>
            <a:r>
              <a:rPr lang="cs-CZ" dirty="0" err="1"/>
              <a:t>vysledek</a:t>
            </a:r>
            <a:r>
              <a:rPr lang="cs-CZ" dirty="0"/>
              <a:t> </a:t>
            </a:r>
            <a:r>
              <a:rPr lang="cs-CZ" dirty="0" err="1"/>
              <a:t>datoveho</a:t>
            </a:r>
            <a:r>
              <a:rPr lang="cs-CZ" dirty="0"/>
              <a:t> typu </a:t>
            </a:r>
            <a:r>
              <a:rPr lang="cs-CZ" dirty="0" err="1"/>
              <a:t>date</a:t>
            </a:r>
            <a:r>
              <a:rPr lang="cs-CZ" dirty="0"/>
              <a:t>. Nelze </a:t>
            </a:r>
            <a:r>
              <a:rPr lang="cs-CZ" dirty="0" err="1"/>
              <a:t>vlozit</a:t>
            </a:r>
            <a:r>
              <a:rPr lang="cs-CZ" dirty="0"/>
              <a:t> do </a:t>
            </a:r>
            <a:r>
              <a:rPr lang="cs-CZ" dirty="0" err="1"/>
              <a:t>takoveho</a:t>
            </a:r>
            <a:r>
              <a:rPr lang="cs-CZ" dirty="0"/>
              <a:t> sloupce </a:t>
            </a:r>
            <a:r>
              <a:rPr lang="cs-CZ" dirty="0" err="1"/>
              <a:t>spatny</a:t>
            </a:r>
            <a:r>
              <a:rPr lang="cs-CZ" dirty="0"/>
              <a:t> typ dat. Pro tyto </a:t>
            </a:r>
            <a:r>
              <a:rPr lang="cs-CZ" dirty="0" err="1"/>
              <a:t>duvody</a:t>
            </a:r>
            <a:r>
              <a:rPr lang="cs-CZ" dirty="0"/>
              <a:t> </a:t>
            </a:r>
            <a:r>
              <a:rPr lang="cs-CZ" dirty="0" err="1"/>
              <a:t>kazdy</a:t>
            </a:r>
            <a:r>
              <a:rPr lang="cs-CZ" dirty="0"/>
              <a:t> sloupec v </a:t>
            </a:r>
            <a:r>
              <a:rPr lang="cs-CZ" dirty="0" err="1"/>
              <a:t>relacni</a:t>
            </a:r>
            <a:r>
              <a:rPr lang="cs-CZ" dirty="0"/>
              <a:t> </a:t>
            </a:r>
            <a:r>
              <a:rPr lang="cs-CZ" dirty="0" err="1"/>
              <a:t>databazi</a:t>
            </a:r>
            <a:r>
              <a:rPr lang="cs-CZ" dirty="0"/>
              <a:t> </a:t>
            </a:r>
            <a:r>
              <a:rPr lang="cs-CZ" dirty="0" err="1"/>
              <a:t>muze</a:t>
            </a:r>
            <a:r>
              <a:rPr lang="cs-CZ" dirty="0"/>
              <a:t> </a:t>
            </a:r>
            <a:r>
              <a:rPr lang="cs-CZ" dirty="0" err="1"/>
              <a:t>nabyvat</a:t>
            </a:r>
            <a:r>
              <a:rPr lang="cs-CZ" dirty="0"/>
              <a:t> pouze </a:t>
            </a:r>
            <a:r>
              <a:rPr lang="cs-CZ" b="1" dirty="0"/>
              <a:t>jednoho </a:t>
            </a:r>
            <a:r>
              <a:rPr lang="cs-CZ" b="1" dirty="0" err="1"/>
              <a:t>datoveho</a:t>
            </a:r>
            <a:r>
              <a:rPr lang="cs-CZ" b="1" dirty="0"/>
              <a:t> typu</a:t>
            </a:r>
            <a:r>
              <a:rPr lang="cs-CZ" dirty="0"/>
              <a:t>. 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3901975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49E194F-3A19-420E-82C4-930DC82EA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F03829AB-AAC4-4CF5-9B14-D13683AA3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Nejvice</a:t>
            </a:r>
            <a:r>
              <a:rPr lang="cs-CZ" dirty="0"/>
              <a:t> </a:t>
            </a:r>
            <a:r>
              <a:rPr lang="cs-CZ" dirty="0" err="1"/>
              <a:t>pouzivane</a:t>
            </a:r>
            <a:r>
              <a:rPr lang="cs-CZ" dirty="0"/>
              <a:t> </a:t>
            </a:r>
            <a:r>
              <a:rPr lang="cs-CZ" dirty="0" err="1"/>
              <a:t>datove</a:t>
            </a:r>
            <a:r>
              <a:rPr lang="cs-CZ" dirty="0"/>
              <a:t> typy:</a:t>
            </a:r>
          </a:p>
          <a:p>
            <a:pPr lvl="1"/>
            <a:r>
              <a:rPr lang="cs-CZ" dirty="0"/>
              <a:t>Pro znaky: </a:t>
            </a:r>
            <a:r>
              <a:rPr lang="cs-CZ" dirty="0" err="1"/>
              <a:t>char</a:t>
            </a:r>
            <a:r>
              <a:rPr lang="cs-CZ" dirty="0"/>
              <a:t>, varchar2, </a:t>
            </a:r>
            <a:r>
              <a:rPr lang="cs-CZ" dirty="0" err="1"/>
              <a:t>clob</a:t>
            </a:r>
            <a:endParaRPr lang="cs-CZ" dirty="0"/>
          </a:p>
          <a:p>
            <a:pPr lvl="1"/>
            <a:r>
              <a:rPr lang="cs-CZ" dirty="0"/>
              <a:t>Pro </a:t>
            </a:r>
            <a:r>
              <a:rPr lang="cs-CZ" dirty="0" err="1"/>
              <a:t>cisla</a:t>
            </a:r>
            <a:r>
              <a:rPr lang="cs-CZ" dirty="0"/>
              <a:t>: </a:t>
            </a:r>
            <a:r>
              <a:rPr lang="cs-CZ" dirty="0" err="1"/>
              <a:t>number</a:t>
            </a:r>
            <a:endParaRPr lang="cs-CZ" dirty="0"/>
          </a:p>
          <a:p>
            <a:pPr lvl="1"/>
            <a:r>
              <a:rPr lang="cs-CZ" dirty="0"/>
              <a:t>Pro datum: </a:t>
            </a:r>
            <a:r>
              <a:rPr lang="cs-CZ" dirty="0" err="1"/>
              <a:t>date</a:t>
            </a:r>
            <a:r>
              <a:rPr lang="cs-CZ" dirty="0"/>
              <a:t>, </a:t>
            </a:r>
            <a:r>
              <a:rPr lang="cs-CZ" dirty="0" err="1"/>
              <a:t>timestamp</a:t>
            </a:r>
            <a:r>
              <a:rPr lang="cs-CZ" dirty="0"/>
              <a:t>, interval</a:t>
            </a:r>
          </a:p>
          <a:p>
            <a:pPr lvl="1"/>
            <a:r>
              <a:rPr lang="cs-CZ" dirty="0"/>
              <a:t>Pro </a:t>
            </a:r>
            <a:r>
              <a:rPr lang="cs-CZ" dirty="0" err="1"/>
              <a:t>binarni</a:t>
            </a:r>
            <a:r>
              <a:rPr lang="cs-CZ" dirty="0"/>
              <a:t> </a:t>
            </a:r>
            <a:r>
              <a:rPr lang="cs-CZ" dirty="0" err="1"/>
              <a:t>hodnody</a:t>
            </a:r>
            <a:r>
              <a:rPr lang="cs-CZ" dirty="0"/>
              <a:t>: </a:t>
            </a:r>
            <a:r>
              <a:rPr lang="cs-CZ" dirty="0" err="1"/>
              <a:t>raw</a:t>
            </a:r>
            <a:r>
              <a:rPr lang="cs-CZ" dirty="0"/>
              <a:t>, </a:t>
            </a:r>
            <a:r>
              <a:rPr lang="cs-CZ" dirty="0" err="1"/>
              <a:t>blob</a:t>
            </a:r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4435545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A20B6A3-8AC0-4A71-952C-AEEB7DC9B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Modifikování tabulky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AF9EC3FA-11A2-4283-AE00-3BC033F52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Alter table</a:t>
            </a:r>
          </a:p>
          <a:p>
            <a:r>
              <a:rPr lang="cs-CZ" dirty="0"/>
              <a:t>Tento </a:t>
            </a:r>
            <a:r>
              <a:rPr lang="cs-CZ" dirty="0" err="1"/>
              <a:t>prikaz</a:t>
            </a:r>
            <a:r>
              <a:rPr lang="cs-CZ" dirty="0"/>
              <a:t> je </a:t>
            </a:r>
            <a:r>
              <a:rPr lang="cs-CZ" dirty="0" err="1"/>
              <a:t>pouzivan</a:t>
            </a:r>
            <a:r>
              <a:rPr lang="cs-CZ" dirty="0"/>
              <a:t> pro:</a:t>
            </a:r>
          </a:p>
          <a:p>
            <a:pPr lvl="1"/>
            <a:r>
              <a:rPr lang="cs-CZ" dirty="0" err="1"/>
              <a:t>Pridani</a:t>
            </a:r>
            <a:r>
              <a:rPr lang="cs-CZ" dirty="0"/>
              <a:t> </a:t>
            </a:r>
            <a:r>
              <a:rPr lang="cs-CZ" dirty="0" err="1"/>
              <a:t>noveho</a:t>
            </a:r>
            <a:r>
              <a:rPr lang="cs-CZ" dirty="0"/>
              <a:t> sloupce,</a:t>
            </a:r>
          </a:p>
          <a:p>
            <a:pPr lvl="1"/>
            <a:r>
              <a:rPr lang="cs-CZ" dirty="0" err="1"/>
              <a:t>Modifikovani</a:t>
            </a:r>
            <a:r>
              <a:rPr lang="cs-CZ" dirty="0"/>
              <a:t> </a:t>
            </a:r>
            <a:r>
              <a:rPr lang="cs-CZ" dirty="0" err="1"/>
              <a:t>existujiciho</a:t>
            </a:r>
            <a:r>
              <a:rPr lang="cs-CZ" dirty="0"/>
              <a:t> sloupce,</a:t>
            </a:r>
          </a:p>
          <a:p>
            <a:pPr lvl="1"/>
            <a:r>
              <a:rPr lang="cs-CZ" dirty="0" err="1"/>
              <a:t>Definovani</a:t>
            </a:r>
            <a:r>
              <a:rPr lang="cs-CZ" dirty="0"/>
              <a:t> </a:t>
            </a:r>
            <a:r>
              <a:rPr lang="cs-CZ" dirty="0" err="1"/>
              <a:t>defaultni</a:t>
            </a:r>
            <a:r>
              <a:rPr lang="cs-CZ" dirty="0"/>
              <a:t> hodnoty pro sloupec,</a:t>
            </a:r>
          </a:p>
          <a:p>
            <a:pPr lvl="1"/>
            <a:r>
              <a:rPr lang="cs-CZ" dirty="0" err="1"/>
              <a:t>Odstraneni</a:t>
            </a:r>
            <a:r>
              <a:rPr lang="cs-CZ" dirty="0"/>
              <a:t> sloupce</a:t>
            </a:r>
          </a:p>
          <a:p>
            <a:r>
              <a:rPr lang="cs-CZ" dirty="0" err="1"/>
              <a:t>Muzete</a:t>
            </a:r>
            <a:r>
              <a:rPr lang="cs-CZ" dirty="0"/>
              <a:t> </a:t>
            </a:r>
            <a:r>
              <a:rPr lang="cs-CZ" dirty="0" err="1"/>
              <a:t>pridavat</a:t>
            </a:r>
            <a:r>
              <a:rPr lang="cs-CZ" dirty="0"/>
              <a:t> nebo modifikovat sloupce, ale </a:t>
            </a:r>
            <a:r>
              <a:rPr lang="cs-CZ" dirty="0" err="1"/>
              <a:t>neovlivnite</a:t>
            </a:r>
            <a:r>
              <a:rPr lang="cs-CZ" dirty="0"/>
              <a:t>, kde se sloupec </a:t>
            </a:r>
            <a:r>
              <a:rPr lang="cs-CZ" dirty="0" err="1"/>
              <a:t>objevi</a:t>
            </a:r>
            <a:r>
              <a:rPr lang="cs-CZ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841008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470EEA7-59C2-4E6C-B973-BCC60E65A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2C1FC7E2-0F6A-4540-A640-8D0C7F39D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Nove </a:t>
            </a:r>
            <a:r>
              <a:rPr lang="cs-CZ" dirty="0" err="1"/>
              <a:t>pridany</a:t>
            </a:r>
            <a:r>
              <a:rPr lang="cs-CZ" dirty="0"/>
              <a:t> sloupec se </a:t>
            </a:r>
            <a:r>
              <a:rPr lang="cs-CZ" dirty="0" err="1"/>
              <a:t>vzdy</a:t>
            </a:r>
            <a:r>
              <a:rPr lang="cs-CZ" dirty="0"/>
              <a:t> stane </a:t>
            </a:r>
            <a:r>
              <a:rPr lang="cs-CZ" dirty="0" err="1"/>
              <a:t>poslednim</a:t>
            </a:r>
            <a:r>
              <a:rPr lang="cs-CZ" dirty="0"/>
              <a:t> sloupcem tabulky. </a:t>
            </a:r>
            <a:r>
              <a:rPr lang="cs-CZ" dirty="0" err="1"/>
              <a:t>Take</a:t>
            </a:r>
            <a:r>
              <a:rPr lang="cs-CZ" dirty="0"/>
              <a:t> pokud tabulka </a:t>
            </a:r>
            <a:r>
              <a:rPr lang="cs-CZ" dirty="0" err="1"/>
              <a:t>jiz</a:t>
            </a:r>
            <a:r>
              <a:rPr lang="cs-CZ" dirty="0"/>
              <a:t> </a:t>
            </a:r>
            <a:r>
              <a:rPr lang="cs-CZ" dirty="0" err="1"/>
              <a:t>ma</a:t>
            </a:r>
            <a:r>
              <a:rPr lang="cs-CZ" dirty="0"/>
              <a:t> data a vy </a:t>
            </a:r>
            <a:r>
              <a:rPr lang="cs-CZ" dirty="0" err="1"/>
              <a:t>pridate</a:t>
            </a:r>
            <a:r>
              <a:rPr lang="cs-CZ" dirty="0"/>
              <a:t> novy sloupec, je tento sloupec </a:t>
            </a:r>
            <a:r>
              <a:rPr lang="cs-CZ" dirty="0" err="1"/>
              <a:t>inicializovan</a:t>
            </a:r>
            <a:r>
              <a:rPr lang="cs-CZ" dirty="0"/>
              <a:t> na </a:t>
            </a:r>
            <a:r>
              <a:rPr lang="cs-CZ" dirty="0" err="1"/>
              <a:t>null</a:t>
            </a:r>
            <a:r>
              <a:rPr lang="cs-CZ" dirty="0"/>
              <a:t> pro </a:t>
            </a:r>
            <a:r>
              <a:rPr lang="cs-CZ" dirty="0" err="1"/>
              <a:t>vsechny</a:t>
            </a:r>
            <a:r>
              <a:rPr lang="cs-CZ" dirty="0"/>
              <a:t> </a:t>
            </a:r>
            <a:r>
              <a:rPr lang="cs-CZ" dirty="0" err="1"/>
              <a:t>zaznamy</a:t>
            </a:r>
            <a:r>
              <a:rPr lang="cs-CZ" dirty="0"/>
              <a:t>.</a:t>
            </a:r>
          </a:p>
        </p:txBody>
      </p:sp>
      <p:pic>
        <p:nvPicPr>
          <p:cNvPr id="4" name="Picture 271">
            <a:extLst>
              <a:ext uri="{FF2B5EF4-FFF2-40B4-BE49-F238E27FC236}">
                <a16:creationId xmlns:a16="http://schemas.microsoft.com/office/drawing/2014/main" id="{7BD102FE-4953-46EC-B23F-FC0756B550F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699302" y="3429000"/>
            <a:ext cx="5689324" cy="2044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424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5B010EA-62F8-44D7-B4D6-DD423CAF6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DB2B427B-98CC-48B3-8727-10AC21D1E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Modifikovani</a:t>
            </a:r>
            <a:r>
              <a:rPr lang="cs-CZ" dirty="0"/>
              <a:t> sloupce </a:t>
            </a:r>
            <a:r>
              <a:rPr lang="cs-CZ" dirty="0" err="1"/>
              <a:t>muze</a:t>
            </a:r>
            <a:r>
              <a:rPr lang="cs-CZ" dirty="0"/>
              <a:t> zahrnout </a:t>
            </a:r>
            <a:r>
              <a:rPr lang="cs-CZ" dirty="0" err="1"/>
              <a:t>datovy</a:t>
            </a:r>
            <a:r>
              <a:rPr lang="cs-CZ" dirty="0"/>
              <a:t> typ sloupce a </a:t>
            </a:r>
            <a:r>
              <a:rPr lang="cs-CZ" dirty="0" err="1"/>
              <a:t>vychozi</a:t>
            </a:r>
            <a:r>
              <a:rPr lang="cs-CZ" dirty="0"/>
              <a:t> hodnotu. Pravidla a restrikce, </a:t>
            </a:r>
            <a:r>
              <a:rPr lang="cs-CZ" dirty="0" err="1"/>
              <a:t>kdyz</a:t>
            </a:r>
            <a:r>
              <a:rPr lang="cs-CZ" dirty="0"/>
              <a:t> modifikujete sloupce jsou:</a:t>
            </a:r>
          </a:p>
          <a:p>
            <a:pPr lvl="1"/>
            <a:r>
              <a:rPr lang="cs-CZ" dirty="0" err="1"/>
              <a:t>Muzete</a:t>
            </a:r>
            <a:r>
              <a:rPr lang="cs-CZ" dirty="0"/>
              <a:t> </a:t>
            </a:r>
            <a:r>
              <a:rPr lang="cs-CZ" dirty="0" err="1"/>
              <a:t>zvysit</a:t>
            </a:r>
            <a:r>
              <a:rPr lang="cs-CZ" dirty="0"/>
              <a:t> sirku nebo rozsah </a:t>
            </a:r>
            <a:r>
              <a:rPr lang="cs-CZ" dirty="0" err="1"/>
              <a:t>numerickych</a:t>
            </a:r>
            <a:r>
              <a:rPr lang="cs-CZ" dirty="0"/>
              <a:t> </a:t>
            </a:r>
            <a:r>
              <a:rPr lang="cs-CZ" dirty="0" err="1"/>
              <a:t>sloupcu</a:t>
            </a:r>
            <a:r>
              <a:rPr lang="cs-CZ" dirty="0"/>
              <a:t>,</a:t>
            </a:r>
          </a:p>
          <a:p>
            <a:pPr lvl="1"/>
            <a:r>
              <a:rPr lang="cs-CZ" dirty="0" err="1"/>
              <a:t>Muzete</a:t>
            </a:r>
            <a:r>
              <a:rPr lang="cs-CZ" dirty="0"/>
              <a:t> </a:t>
            </a:r>
            <a:r>
              <a:rPr lang="cs-CZ" dirty="0" err="1"/>
              <a:t>zvysit</a:t>
            </a:r>
            <a:r>
              <a:rPr lang="cs-CZ" dirty="0"/>
              <a:t> sirku </a:t>
            </a:r>
            <a:r>
              <a:rPr lang="cs-CZ" dirty="0" err="1"/>
              <a:t>pismenkovych</a:t>
            </a:r>
            <a:r>
              <a:rPr lang="cs-CZ" dirty="0"/>
              <a:t> </a:t>
            </a:r>
            <a:r>
              <a:rPr lang="cs-CZ" dirty="0" err="1"/>
              <a:t>sloupcu</a:t>
            </a:r>
            <a:r>
              <a:rPr lang="cs-CZ" dirty="0"/>
              <a:t>,</a:t>
            </a:r>
          </a:p>
          <a:p>
            <a:pPr lvl="1"/>
            <a:r>
              <a:rPr lang="cs-CZ" dirty="0" err="1"/>
              <a:t>Muzete</a:t>
            </a:r>
            <a:r>
              <a:rPr lang="cs-CZ" dirty="0"/>
              <a:t> </a:t>
            </a:r>
            <a:r>
              <a:rPr lang="cs-CZ" dirty="0" err="1"/>
              <a:t>zmensit</a:t>
            </a:r>
            <a:r>
              <a:rPr lang="cs-CZ" dirty="0"/>
              <a:t> sirku </a:t>
            </a:r>
            <a:r>
              <a:rPr lang="cs-CZ" dirty="0" err="1"/>
              <a:t>ciselnych</a:t>
            </a:r>
            <a:r>
              <a:rPr lang="cs-CZ" dirty="0"/>
              <a:t> </a:t>
            </a:r>
            <a:r>
              <a:rPr lang="cs-CZ" dirty="0" err="1"/>
              <a:t>sloupcu</a:t>
            </a:r>
            <a:r>
              <a:rPr lang="cs-CZ" dirty="0"/>
              <a:t> pokud sloupec obsahuje bud </a:t>
            </a:r>
            <a:r>
              <a:rPr lang="cs-CZ" dirty="0" err="1"/>
              <a:t>null</a:t>
            </a:r>
            <a:r>
              <a:rPr lang="cs-CZ" dirty="0"/>
              <a:t> hodnoty nebo tabulka </a:t>
            </a:r>
            <a:r>
              <a:rPr lang="cs-CZ" dirty="0" err="1"/>
              <a:t>nema</a:t>
            </a:r>
            <a:r>
              <a:rPr lang="cs-CZ" dirty="0"/>
              <a:t> </a:t>
            </a:r>
            <a:r>
              <a:rPr lang="cs-CZ" dirty="0" err="1"/>
              <a:t>zadne</a:t>
            </a:r>
            <a:r>
              <a:rPr lang="cs-CZ" dirty="0"/>
              <a:t> </a:t>
            </a:r>
            <a:r>
              <a:rPr lang="cs-CZ" dirty="0" err="1"/>
              <a:t>radky</a:t>
            </a:r>
            <a:endParaRPr lang="cs-CZ" dirty="0"/>
          </a:p>
          <a:p>
            <a:pPr lvl="1"/>
            <a:r>
              <a:rPr lang="cs-CZ" dirty="0"/>
              <a:t>Pro </a:t>
            </a:r>
            <a:r>
              <a:rPr lang="cs-CZ" dirty="0" err="1"/>
              <a:t>varchar</a:t>
            </a:r>
            <a:r>
              <a:rPr lang="cs-CZ" dirty="0"/>
              <a:t> </a:t>
            </a:r>
            <a:r>
              <a:rPr lang="cs-CZ" dirty="0" err="1"/>
              <a:t>muzete</a:t>
            </a:r>
            <a:r>
              <a:rPr lang="cs-CZ" dirty="0"/>
              <a:t> </a:t>
            </a:r>
            <a:r>
              <a:rPr lang="cs-CZ" dirty="0" err="1"/>
              <a:t>zmensit</a:t>
            </a:r>
            <a:r>
              <a:rPr lang="cs-CZ" dirty="0"/>
              <a:t> sirku do </a:t>
            </a:r>
            <a:r>
              <a:rPr lang="cs-CZ" dirty="0" err="1"/>
              <a:t>nejvetsi</a:t>
            </a:r>
            <a:r>
              <a:rPr lang="cs-CZ" dirty="0"/>
              <a:t> </a:t>
            </a:r>
            <a:r>
              <a:rPr lang="cs-CZ" dirty="0" err="1"/>
              <a:t>delky</a:t>
            </a:r>
            <a:r>
              <a:rPr lang="cs-CZ" dirty="0"/>
              <a:t> slova ve sloupci.</a:t>
            </a:r>
          </a:p>
          <a:p>
            <a:pPr lvl="1"/>
            <a:r>
              <a:rPr lang="cs-CZ" dirty="0" err="1"/>
              <a:t>Datovy</a:t>
            </a:r>
            <a:r>
              <a:rPr lang="cs-CZ" dirty="0"/>
              <a:t> typ </a:t>
            </a:r>
            <a:r>
              <a:rPr lang="cs-CZ" dirty="0" err="1"/>
              <a:t>muzete</a:t>
            </a:r>
            <a:r>
              <a:rPr lang="cs-CZ" dirty="0"/>
              <a:t> </a:t>
            </a:r>
            <a:r>
              <a:rPr lang="cs-CZ" dirty="0" err="1"/>
              <a:t>zmenit</a:t>
            </a:r>
            <a:r>
              <a:rPr lang="cs-CZ" dirty="0"/>
              <a:t> pouze pokud sloupec obsahuje pouze </a:t>
            </a:r>
            <a:r>
              <a:rPr lang="cs-CZ" dirty="0" err="1"/>
              <a:t>null</a:t>
            </a:r>
            <a:r>
              <a:rPr lang="cs-CZ" dirty="0"/>
              <a:t> hodnoty.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6470856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2DD0576-D30A-4152-B798-3A27C3C22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59CA39E2-EDF7-40B9-8553-D7CD3B702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cs-CZ" dirty="0"/>
              <a:t>Pravidla pro </a:t>
            </a:r>
            <a:r>
              <a:rPr lang="cs-CZ" dirty="0" err="1"/>
              <a:t>odebirani</a:t>
            </a:r>
            <a:r>
              <a:rPr lang="cs-CZ" dirty="0"/>
              <a:t> </a:t>
            </a:r>
            <a:r>
              <a:rPr lang="cs-CZ" dirty="0" err="1"/>
              <a:t>sloupcu</a:t>
            </a:r>
            <a:r>
              <a:rPr lang="cs-CZ" dirty="0"/>
              <a:t>:</a:t>
            </a:r>
          </a:p>
          <a:p>
            <a:pPr lvl="1"/>
            <a:r>
              <a:rPr lang="cs-CZ" dirty="0"/>
              <a:t>Sloupec </a:t>
            </a:r>
            <a:r>
              <a:rPr lang="cs-CZ" dirty="0" err="1"/>
              <a:t>obsahujici</a:t>
            </a:r>
            <a:r>
              <a:rPr lang="cs-CZ" dirty="0"/>
              <a:t> data </a:t>
            </a:r>
            <a:r>
              <a:rPr lang="cs-CZ" dirty="0" err="1"/>
              <a:t>smi</a:t>
            </a:r>
            <a:r>
              <a:rPr lang="cs-CZ" dirty="0"/>
              <a:t> byt </a:t>
            </a:r>
            <a:r>
              <a:rPr lang="cs-CZ" dirty="0" err="1"/>
              <a:t>odstranen</a:t>
            </a:r>
            <a:r>
              <a:rPr lang="cs-CZ" dirty="0"/>
              <a:t>,</a:t>
            </a:r>
          </a:p>
          <a:p>
            <a:pPr lvl="1"/>
            <a:r>
              <a:rPr lang="cs-CZ" dirty="0"/>
              <a:t>Pouze jeden sloupec lze na jednu akci odstranit</a:t>
            </a:r>
          </a:p>
          <a:p>
            <a:pPr lvl="1"/>
            <a:r>
              <a:rPr lang="cs-CZ" dirty="0" err="1"/>
              <a:t>Nemuzete</a:t>
            </a:r>
            <a:r>
              <a:rPr lang="cs-CZ" dirty="0"/>
              <a:t> odstranit </a:t>
            </a:r>
            <a:r>
              <a:rPr lang="cs-CZ" dirty="0" err="1"/>
              <a:t>vsechny</a:t>
            </a:r>
            <a:r>
              <a:rPr lang="cs-CZ" dirty="0"/>
              <a:t> sloupce tabulky, </a:t>
            </a:r>
            <a:r>
              <a:rPr lang="cs-CZ" dirty="0" err="1"/>
              <a:t>alespon</a:t>
            </a:r>
            <a:r>
              <a:rPr lang="cs-CZ" dirty="0"/>
              <a:t> jeden </a:t>
            </a:r>
            <a:r>
              <a:rPr lang="cs-CZ" dirty="0" err="1"/>
              <a:t>musi</a:t>
            </a:r>
            <a:r>
              <a:rPr lang="cs-CZ" dirty="0"/>
              <a:t> </a:t>
            </a:r>
            <a:r>
              <a:rPr lang="cs-CZ" dirty="0" err="1"/>
              <a:t>zustat</a:t>
            </a:r>
            <a:endParaRPr lang="cs-CZ" dirty="0"/>
          </a:p>
          <a:p>
            <a:pPr lvl="1"/>
            <a:r>
              <a:rPr lang="cs-CZ" dirty="0"/>
              <a:t>Jakmile je sloupec </a:t>
            </a:r>
            <a:r>
              <a:rPr lang="cs-CZ" dirty="0" err="1"/>
              <a:t>odstranen</a:t>
            </a:r>
            <a:r>
              <a:rPr lang="cs-CZ" dirty="0"/>
              <a:t>, hodnoty nemohou byt obnoveny</a:t>
            </a:r>
          </a:p>
          <a:p>
            <a:endParaRPr lang="cs-CZ" dirty="0"/>
          </a:p>
        </p:txBody>
      </p:sp>
      <p:pic>
        <p:nvPicPr>
          <p:cNvPr id="4" name="Picture 273">
            <a:extLst>
              <a:ext uri="{FF2B5EF4-FFF2-40B4-BE49-F238E27FC236}">
                <a16:creationId xmlns:a16="http://schemas.microsoft.com/office/drawing/2014/main" id="{21B0A255-199D-4334-BDA6-BC0590FCD8F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992549" y="4001293"/>
            <a:ext cx="5834477" cy="2491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597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A0C571E-3257-484F-8C3D-197C29FAF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Set </a:t>
            </a:r>
            <a:r>
              <a:rPr lang="cs-CZ" dirty="0" err="1"/>
              <a:t>unused</a:t>
            </a:r>
            <a:r>
              <a:rPr lang="cs-CZ" dirty="0"/>
              <a:t> pro sloupec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6D3471D0-1AA9-4B2E-B164-335F7C92A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Odstraneni</a:t>
            </a:r>
            <a:r>
              <a:rPr lang="cs-CZ" dirty="0"/>
              <a:t> </a:t>
            </a:r>
            <a:r>
              <a:rPr lang="cs-CZ" dirty="0" err="1"/>
              <a:t>sloupcu</a:t>
            </a:r>
            <a:r>
              <a:rPr lang="cs-CZ" dirty="0"/>
              <a:t> z </a:t>
            </a:r>
            <a:r>
              <a:rPr lang="cs-CZ" dirty="0" err="1"/>
              <a:t>rozsahle</a:t>
            </a:r>
            <a:r>
              <a:rPr lang="cs-CZ" dirty="0"/>
              <a:t> tabulky </a:t>
            </a:r>
            <a:r>
              <a:rPr lang="cs-CZ" dirty="0" err="1"/>
              <a:t>muze</a:t>
            </a:r>
            <a:r>
              <a:rPr lang="cs-CZ" dirty="0"/>
              <a:t> zabrat mnoho casu</a:t>
            </a:r>
          </a:p>
          <a:p>
            <a:r>
              <a:rPr lang="cs-CZ" dirty="0" err="1"/>
              <a:t>Rychlejsi</a:t>
            </a:r>
            <a:r>
              <a:rPr lang="cs-CZ" dirty="0"/>
              <a:t> alternativou je </a:t>
            </a:r>
            <a:r>
              <a:rPr lang="cs-CZ" dirty="0" err="1"/>
              <a:t>oznacit</a:t>
            </a:r>
            <a:r>
              <a:rPr lang="cs-CZ" dirty="0"/>
              <a:t> sloupec jako </a:t>
            </a:r>
            <a:r>
              <a:rPr lang="cs-CZ" dirty="0" err="1"/>
              <a:t>nepouzivany</a:t>
            </a:r>
            <a:endParaRPr lang="cs-CZ" dirty="0"/>
          </a:p>
          <a:p>
            <a:r>
              <a:rPr lang="cs-CZ" dirty="0"/>
              <a:t>Sloupec </a:t>
            </a:r>
            <a:r>
              <a:rPr lang="cs-CZ" dirty="0" err="1"/>
              <a:t>dale</a:t>
            </a:r>
            <a:r>
              <a:rPr lang="cs-CZ" dirty="0"/>
              <a:t> obsahuje hodnoty, ale </a:t>
            </a:r>
            <a:r>
              <a:rPr lang="cs-CZ" dirty="0" err="1"/>
              <a:t>nemuze</a:t>
            </a:r>
            <a:r>
              <a:rPr lang="cs-CZ" dirty="0"/>
              <a:t> byt </a:t>
            </a:r>
            <a:r>
              <a:rPr lang="cs-CZ" dirty="0" err="1"/>
              <a:t>zpristupnen</a:t>
            </a:r>
            <a:r>
              <a:rPr lang="cs-CZ" dirty="0"/>
              <a:t> </a:t>
            </a:r>
            <a:r>
              <a:rPr lang="cs-CZ" dirty="0" err="1"/>
              <a:t>zadnym</a:t>
            </a:r>
            <a:r>
              <a:rPr lang="cs-CZ" dirty="0"/>
              <a:t> </a:t>
            </a:r>
            <a:r>
              <a:rPr lang="cs-CZ" dirty="0" err="1"/>
              <a:t>zpusobem</a:t>
            </a:r>
            <a:r>
              <a:rPr lang="cs-CZ" dirty="0"/>
              <a:t>, </a:t>
            </a:r>
            <a:r>
              <a:rPr lang="cs-CZ" dirty="0" err="1"/>
              <a:t>takze</a:t>
            </a:r>
            <a:r>
              <a:rPr lang="cs-CZ" dirty="0"/>
              <a:t> se chova </a:t>
            </a:r>
            <a:r>
              <a:rPr lang="cs-CZ" dirty="0" err="1"/>
              <a:t>stejne</a:t>
            </a:r>
            <a:r>
              <a:rPr lang="cs-CZ" dirty="0"/>
              <a:t>, jako by byl </a:t>
            </a:r>
            <a:r>
              <a:rPr lang="cs-CZ" dirty="0" err="1"/>
              <a:t>odstranen</a:t>
            </a:r>
            <a:r>
              <a:rPr lang="cs-CZ" dirty="0"/>
              <a:t>. </a:t>
            </a:r>
            <a:r>
              <a:rPr lang="cs-CZ" dirty="0" err="1"/>
              <a:t>Popravne</a:t>
            </a:r>
            <a:r>
              <a:rPr lang="cs-CZ" dirty="0"/>
              <a:t> </a:t>
            </a:r>
            <a:r>
              <a:rPr lang="cs-CZ" dirty="0" err="1"/>
              <a:t>muzete</a:t>
            </a:r>
            <a:r>
              <a:rPr lang="cs-CZ" dirty="0"/>
              <a:t> </a:t>
            </a:r>
            <a:r>
              <a:rPr lang="cs-CZ" dirty="0" err="1"/>
              <a:t>pridat</a:t>
            </a:r>
            <a:r>
              <a:rPr lang="cs-CZ" dirty="0"/>
              <a:t> novy sloupec </a:t>
            </a:r>
            <a:r>
              <a:rPr lang="cs-CZ" dirty="0" err="1"/>
              <a:t>stejne</a:t>
            </a:r>
            <a:r>
              <a:rPr lang="cs-CZ" dirty="0"/>
              <a:t> </a:t>
            </a:r>
            <a:r>
              <a:rPr lang="cs-CZ" dirty="0" err="1"/>
              <a:t>pojmenovany</a:t>
            </a:r>
            <a:r>
              <a:rPr lang="cs-CZ" dirty="0"/>
              <a:t>. </a:t>
            </a:r>
            <a:r>
              <a:rPr lang="cs-CZ" dirty="0" err="1"/>
              <a:t>Nepouzivany</a:t>
            </a:r>
            <a:r>
              <a:rPr lang="cs-CZ" dirty="0"/>
              <a:t> sloupec je v </a:t>
            </a:r>
            <a:r>
              <a:rPr lang="cs-CZ" dirty="0" err="1"/>
              <a:t>dtb</a:t>
            </a:r>
            <a:r>
              <a:rPr lang="cs-CZ" dirty="0"/>
              <a:t> </a:t>
            </a:r>
            <a:r>
              <a:rPr lang="cs-CZ" dirty="0" err="1"/>
              <a:t>stale</a:t>
            </a:r>
            <a:r>
              <a:rPr lang="cs-CZ" dirty="0"/>
              <a:t>, ale je neviditelny.</a:t>
            </a:r>
          </a:p>
          <a:p>
            <a:endParaRPr lang="cs-CZ" dirty="0"/>
          </a:p>
        </p:txBody>
      </p:sp>
      <p:pic>
        <p:nvPicPr>
          <p:cNvPr id="4" name="Picture 274">
            <a:extLst>
              <a:ext uri="{FF2B5EF4-FFF2-40B4-BE49-F238E27FC236}">
                <a16:creationId xmlns:a16="http://schemas.microsoft.com/office/drawing/2014/main" id="{09BB37BA-6855-4F81-9BF5-85A2F5C319E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551914" y="4845119"/>
            <a:ext cx="5400469" cy="614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7993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5A4F187-0335-430E-8138-C91FC2793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DROP table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AA6B00CB-043B-42B0-907B-17F5CE234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Odstranuje</a:t>
            </a:r>
            <a:r>
              <a:rPr lang="cs-CZ" dirty="0"/>
              <a:t> definici tabulky, </a:t>
            </a:r>
            <a:r>
              <a:rPr lang="cs-CZ" dirty="0" err="1"/>
              <a:t>databaze</a:t>
            </a:r>
            <a:r>
              <a:rPr lang="cs-CZ" dirty="0"/>
              <a:t> </a:t>
            </a:r>
            <a:r>
              <a:rPr lang="cs-CZ" dirty="0" err="1"/>
              <a:t>ztrati</a:t>
            </a:r>
            <a:r>
              <a:rPr lang="cs-CZ" dirty="0"/>
              <a:t> </a:t>
            </a:r>
            <a:r>
              <a:rPr lang="cs-CZ" dirty="0" err="1"/>
              <a:t>vsechna</a:t>
            </a:r>
            <a:r>
              <a:rPr lang="cs-CZ" dirty="0"/>
              <a:t> data v tabulce a </a:t>
            </a:r>
            <a:r>
              <a:rPr lang="cs-CZ" dirty="0" err="1"/>
              <a:t>vsechny</a:t>
            </a:r>
            <a:r>
              <a:rPr lang="cs-CZ" dirty="0"/>
              <a:t> indexy s nimi </a:t>
            </a:r>
            <a:r>
              <a:rPr lang="cs-CZ" dirty="0" err="1"/>
              <a:t>asociovanymi</a:t>
            </a:r>
            <a:r>
              <a:rPr lang="cs-CZ" dirty="0"/>
              <a:t>. Jsou tedy </a:t>
            </a:r>
            <a:r>
              <a:rPr lang="cs-CZ" dirty="0" err="1"/>
              <a:t>odstranena</a:t>
            </a:r>
            <a:r>
              <a:rPr lang="cs-CZ" dirty="0"/>
              <a:t> </a:t>
            </a:r>
            <a:r>
              <a:rPr lang="cs-CZ" dirty="0" err="1"/>
              <a:t>vsechna</a:t>
            </a:r>
            <a:r>
              <a:rPr lang="cs-CZ" dirty="0"/>
              <a:t> data a popis tabulky je </a:t>
            </a:r>
            <a:r>
              <a:rPr lang="cs-CZ" dirty="0" err="1"/>
              <a:t>odstranen</a:t>
            </a:r>
            <a:r>
              <a:rPr lang="cs-CZ" dirty="0"/>
              <a:t> z </a:t>
            </a:r>
            <a:r>
              <a:rPr lang="cs-CZ" dirty="0" err="1"/>
              <a:t>datoveho</a:t>
            </a:r>
            <a:r>
              <a:rPr lang="cs-CZ" dirty="0"/>
              <a:t> </a:t>
            </a:r>
            <a:r>
              <a:rPr lang="cs-CZ" dirty="0" err="1"/>
              <a:t>slovniku</a:t>
            </a:r>
            <a:r>
              <a:rPr lang="cs-CZ" dirty="0"/>
              <a:t>. POZOR! </a:t>
            </a:r>
            <a:r>
              <a:rPr lang="cs-CZ" dirty="0" err="1"/>
              <a:t>Dtb</a:t>
            </a:r>
            <a:r>
              <a:rPr lang="cs-CZ" dirty="0"/>
              <a:t> server se nedotazuje, ale hned tabulku </a:t>
            </a:r>
            <a:r>
              <a:rPr lang="cs-CZ" dirty="0" err="1"/>
              <a:t>odstrani</a:t>
            </a:r>
            <a:r>
              <a:rPr lang="cs-CZ" dirty="0"/>
              <a:t>!</a:t>
            </a:r>
          </a:p>
          <a:p>
            <a:r>
              <a:rPr lang="cs-CZ" dirty="0"/>
              <a:t>Je zde moznost, jak data obnovit, ale </a:t>
            </a:r>
            <a:r>
              <a:rPr lang="cs-CZ" dirty="0" err="1"/>
              <a:t>neni</a:t>
            </a:r>
            <a:r>
              <a:rPr lang="cs-CZ" dirty="0"/>
              <a:t> to </a:t>
            </a:r>
            <a:r>
              <a:rPr lang="cs-CZ" dirty="0" err="1"/>
              <a:t>garantovano</a:t>
            </a:r>
            <a:r>
              <a:rPr lang="cs-CZ" dirty="0"/>
              <a:t>.</a:t>
            </a:r>
          </a:p>
          <a:p>
            <a:endParaRPr lang="cs-CZ" dirty="0"/>
          </a:p>
        </p:txBody>
      </p:sp>
      <p:pic>
        <p:nvPicPr>
          <p:cNvPr id="4" name="Picture 276">
            <a:extLst>
              <a:ext uri="{FF2B5EF4-FFF2-40B4-BE49-F238E27FC236}">
                <a16:creationId xmlns:a16="http://schemas.microsoft.com/office/drawing/2014/main" id="{C838535B-95E4-459D-A0E0-3DC7108FAE9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970142" y="4001294"/>
            <a:ext cx="5100431" cy="190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692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08A631C-B9B8-4C10-AEEA-E295C88A9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Tabulka flashback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6B3209DD-8BF6-4CC1-90F9-99209CF410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Pokud </a:t>
            </a:r>
            <a:r>
              <a:rPr lang="cs-CZ" dirty="0" err="1"/>
              <a:t>odstranite</a:t>
            </a:r>
            <a:r>
              <a:rPr lang="cs-CZ" dirty="0"/>
              <a:t> tabulku omylem, </a:t>
            </a:r>
            <a:r>
              <a:rPr lang="cs-CZ" dirty="0" err="1"/>
              <a:t>mozna</a:t>
            </a:r>
            <a:r>
              <a:rPr lang="cs-CZ" dirty="0"/>
              <a:t> budete schopni data a tabulku </a:t>
            </a:r>
            <a:r>
              <a:rPr lang="cs-CZ" dirty="0" err="1"/>
              <a:t>vratit</a:t>
            </a:r>
            <a:r>
              <a:rPr lang="cs-CZ" dirty="0"/>
              <a:t> </a:t>
            </a:r>
            <a:r>
              <a:rPr lang="cs-CZ" dirty="0" err="1"/>
              <a:t>zpet</a:t>
            </a:r>
            <a:r>
              <a:rPr lang="cs-CZ" dirty="0"/>
              <a:t>.</a:t>
            </a:r>
          </a:p>
          <a:p>
            <a:r>
              <a:rPr lang="cs-CZ" dirty="0"/>
              <a:t>Kazdy </a:t>
            </a:r>
            <a:r>
              <a:rPr lang="cs-CZ" dirty="0" err="1"/>
              <a:t>databazovy</a:t>
            </a:r>
            <a:r>
              <a:rPr lang="cs-CZ" dirty="0"/>
              <a:t> </a:t>
            </a:r>
            <a:r>
              <a:rPr lang="cs-CZ" dirty="0" err="1"/>
              <a:t>uzivatel</a:t>
            </a:r>
            <a:r>
              <a:rPr lang="cs-CZ" dirty="0"/>
              <a:t> </a:t>
            </a:r>
            <a:r>
              <a:rPr lang="cs-CZ" dirty="0" err="1"/>
              <a:t>ma</a:t>
            </a:r>
            <a:r>
              <a:rPr lang="cs-CZ" dirty="0"/>
              <a:t> </a:t>
            </a:r>
            <a:r>
              <a:rPr lang="cs-CZ" dirty="0" err="1"/>
              <a:t>svuj</a:t>
            </a:r>
            <a:r>
              <a:rPr lang="cs-CZ" dirty="0"/>
              <a:t> vlastni </a:t>
            </a:r>
            <a:r>
              <a:rPr lang="cs-CZ" dirty="0" err="1"/>
              <a:t>recyklacni</a:t>
            </a:r>
            <a:r>
              <a:rPr lang="cs-CZ" dirty="0"/>
              <a:t> kos, do </a:t>
            </a:r>
            <a:r>
              <a:rPr lang="cs-CZ" dirty="0" err="1"/>
              <a:t>ktereho</a:t>
            </a:r>
            <a:r>
              <a:rPr lang="cs-CZ" dirty="0"/>
              <a:t> jsou </a:t>
            </a:r>
            <a:r>
              <a:rPr lang="cs-CZ" dirty="0" err="1"/>
              <a:t>odstraneny</a:t>
            </a:r>
            <a:r>
              <a:rPr lang="cs-CZ" dirty="0"/>
              <a:t> </a:t>
            </a:r>
            <a:r>
              <a:rPr lang="cs-CZ" dirty="0" err="1"/>
              <a:t>vyhozene</a:t>
            </a:r>
            <a:r>
              <a:rPr lang="cs-CZ" dirty="0"/>
              <a:t> objekty a mohou byt obnoveny.</a:t>
            </a:r>
          </a:p>
          <a:p>
            <a:r>
              <a:rPr lang="cs-CZ" dirty="0"/>
              <a:t>Lze obnovit tabulku, pohled nebo index.</a:t>
            </a:r>
          </a:p>
          <a:p>
            <a:endParaRPr lang="cs-CZ" dirty="0"/>
          </a:p>
          <a:p>
            <a:r>
              <a:rPr lang="cs-CZ" dirty="0"/>
              <a:t>Chcete-li </a:t>
            </a:r>
            <a:r>
              <a:rPr lang="cs-CZ" dirty="0" err="1"/>
              <a:t>videt</a:t>
            </a:r>
            <a:r>
              <a:rPr lang="cs-CZ" dirty="0"/>
              <a:t>, </a:t>
            </a:r>
            <a:r>
              <a:rPr lang="cs-CZ" dirty="0" err="1"/>
              <a:t>jake</a:t>
            </a:r>
            <a:r>
              <a:rPr lang="cs-CZ" dirty="0"/>
              <a:t> objekty je </a:t>
            </a:r>
            <a:r>
              <a:rPr lang="cs-CZ" dirty="0" err="1"/>
              <a:t>mozne</a:t>
            </a:r>
            <a:r>
              <a:rPr lang="cs-CZ" dirty="0"/>
              <a:t> obnovit z kose, </a:t>
            </a:r>
            <a:r>
              <a:rPr lang="cs-CZ" dirty="0" err="1"/>
              <a:t>staci</a:t>
            </a:r>
            <a:r>
              <a:rPr lang="cs-CZ" dirty="0"/>
              <a:t> se </a:t>
            </a:r>
            <a:r>
              <a:rPr lang="cs-CZ" dirty="0" err="1"/>
              <a:t>dotazat</a:t>
            </a:r>
            <a:r>
              <a:rPr lang="cs-CZ" dirty="0"/>
              <a:t> do objektu </a:t>
            </a:r>
            <a:r>
              <a:rPr lang="cs-CZ" dirty="0" err="1"/>
              <a:t>user_recyclebin</a:t>
            </a:r>
            <a:r>
              <a:rPr lang="cs-CZ" dirty="0"/>
              <a:t>.</a:t>
            </a:r>
          </a:p>
        </p:txBody>
      </p:sp>
      <p:pic>
        <p:nvPicPr>
          <p:cNvPr id="4" name="Picture 277">
            <a:extLst>
              <a:ext uri="{FF2B5EF4-FFF2-40B4-BE49-F238E27FC236}">
                <a16:creationId xmlns:a16="http://schemas.microsoft.com/office/drawing/2014/main" id="{0176B3DC-8CF8-454F-8C08-59F4FB0D767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514518" y="4081255"/>
            <a:ext cx="4754840" cy="397980"/>
          </a:xfrm>
          <a:prstGeom prst="rect">
            <a:avLst/>
          </a:prstGeom>
        </p:spPr>
      </p:pic>
      <p:pic>
        <p:nvPicPr>
          <p:cNvPr id="6" name="Picture 278">
            <a:extLst>
              <a:ext uri="{FF2B5EF4-FFF2-40B4-BE49-F238E27FC236}">
                <a16:creationId xmlns:a16="http://schemas.microsoft.com/office/drawing/2014/main" id="{8572016C-70C1-406A-85CF-101C65D4674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378311" y="5135632"/>
            <a:ext cx="4754839" cy="1450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0436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A52D748-093B-4CD9-A29D-3E2CC6964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5BAFF097-26E7-4ACB-98FE-3CBBA46E8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Pro uplne odstraneni i z odpadkoveho kose je potreba odstranovat tabulky pomoci purge.</a:t>
            </a:r>
            <a:endParaRPr lang="cs-CZ" dirty="0"/>
          </a:p>
        </p:txBody>
      </p:sp>
      <p:pic>
        <p:nvPicPr>
          <p:cNvPr id="4" name="Picture 279">
            <a:extLst>
              <a:ext uri="{FF2B5EF4-FFF2-40B4-BE49-F238E27FC236}">
                <a16:creationId xmlns:a16="http://schemas.microsoft.com/office/drawing/2014/main" id="{2D6C53C7-5D47-4CE7-8C24-AE1FC41AFFA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133599" y="2835550"/>
            <a:ext cx="5711687" cy="593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2541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566FD56-2FF0-4652-B42A-7349E3FDB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Rename</a:t>
            </a:r>
            <a:endParaRPr lang="cs-CZ" dirty="0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6201B90D-E774-4B55-AC0D-66F07E91C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Zmena</a:t>
            </a:r>
            <a:r>
              <a:rPr lang="cs-CZ" dirty="0"/>
              <a:t> nazvu tabulky, </a:t>
            </a:r>
            <a:r>
              <a:rPr lang="cs-CZ" dirty="0" err="1"/>
              <a:t>muze</a:t>
            </a:r>
            <a:r>
              <a:rPr lang="cs-CZ" dirty="0"/>
              <a:t> byt provedena pouze </a:t>
            </a:r>
            <a:r>
              <a:rPr lang="cs-CZ" dirty="0" err="1"/>
              <a:t>vlastnikem</a:t>
            </a:r>
            <a:r>
              <a:rPr lang="cs-CZ" dirty="0"/>
              <a:t> objektu nebo DBA.</a:t>
            </a:r>
          </a:p>
        </p:txBody>
      </p:sp>
      <p:pic>
        <p:nvPicPr>
          <p:cNvPr id="4" name="Picture 280">
            <a:extLst>
              <a:ext uri="{FF2B5EF4-FFF2-40B4-BE49-F238E27FC236}">
                <a16:creationId xmlns:a16="http://schemas.microsoft.com/office/drawing/2014/main" id="{0BE28FC9-B76F-4D94-885E-9874FF744FD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757073" y="3172619"/>
            <a:ext cx="5512284" cy="1558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8573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BD7FC4F-CB0E-4CD4-8530-383E6D79F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Truncate</a:t>
            </a:r>
            <a:endParaRPr lang="cs-CZ" dirty="0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7360585B-6417-447E-A60C-B0D58E944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Odstrani</a:t>
            </a:r>
            <a:r>
              <a:rPr lang="cs-CZ" dirty="0"/>
              <a:t> </a:t>
            </a:r>
            <a:r>
              <a:rPr lang="cs-CZ" dirty="0" err="1"/>
              <a:t>vsechny</a:t>
            </a:r>
            <a:r>
              <a:rPr lang="cs-CZ" dirty="0"/>
              <a:t> </a:t>
            </a:r>
            <a:r>
              <a:rPr lang="cs-CZ" dirty="0" err="1"/>
              <a:t>radky</a:t>
            </a:r>
            <a:r>
              <a:rPr lang="cs-CZ" dirty="0"/>
              <a:t> tabulky a uvolni </a:t>
            </a:r>
            <a:r>
              <a:rPr lang="cs-CZ" dirty="0" err="1"/>
              <a:t>misto</a:t>
            </a:r>
            <a:r>
              <a:rPr lang="cs-CZ" dirty="0"/>
              <a:t> </a:t>
            </a:r>
            <a:r>
              <a:rPr lang="cs-CZ" dirty="0" err="1"/>
              <a:t>pouzivane</a:t>
            </a:r>
            <a:r>
              <a:rPr lang="cs-CZ" dirty="0"/>
              <a:t> touto tabulkou. </a:t>
            </a:r>
            <a:r>
              <a:rPr lang="cs-CZ" dirty="0" err="1"/>
              <a:t>Kdyz</a:t>
            </a:r>
            <a:r>
              <a:rPr lang="cs-CZ" dirty="0"/>
              <a:t> </a:t>
            </a:r>
            <a:r>
              <a:rPr lang="cs-CZ" dirty="0" err="1"/>
              <a:t>pouzijete</a:t>
            </a:r>
            <a:r>
              <a:rPr lang="cs-CZ" dirty="0"/>
              <a:t> </a:t>
            </a:r>
            <a:r>
              <a:rPr lang="cs-CZ" dirty="0" err="1"/>
              <a:t>truncate</a:t>
            </a:r>
            <a:r>
              <a:rPr lang="cs-CZ" dirty="0"/>
              <a:t>:</a:t>
            </a:r>
          </a:p>
          <a:p>
            <a:r>
              <a:rPr lang="cs-CZ" dirty="0" err="1"/>
              <a:t>Nemuzete</a:t>
            </a:r>
            <a:r>
              <a:rPr lang="cs-CZ" dirty="0"/>
              <a:t> </a:t>
            </a:r>
            <a:r>
              <a:rPr lang="cs-CZ" dirty="0" err="1"/>
              <a:t>vratit</a:t>
            </a:r>
            <a:r>
              <a:rPr lang="cs-CZ" dirty="0"/>
              <a:t> </a:t>
            </a:r>
            <a:r>
              <a:rPr lang="cs-CZ" dirty="0" err="1"/>
              <a:t>zpet</a:t>
            </a:r>
            <a:r>
              <a:rPr lang="cs-CZ" dirty="0"/>
              <a:t> operaci </a:t>
            </a:r>
            <a:r>
              <a:rPr lang="cs-CZ" dirty="0" err="1"/>
              <a:t>odstraneni</a:t>
            </a:r>
            <a:r>
              <a:rPr lang="cs-CZ" dirty="0"/>
              <a:t> </a:t>
            </a:r>
            <a:r>
              <a:rPr lang="cs-CZ" dirty="0" err="1"/>
              <a:t>radku</a:t>
            </a:r>
            <a:r>
              <a:rPr lang="cs-CZ" dirty="0"/>
              <a:t>, </a:t>
            </a:r>
            <a:r>
              <a:rPr lang="cs-CZ" dirty="0" err="1"/>
              <a:t>musite</a:t>
            </a:r>
            <a:r>
              <a:rPr lang="cs-CZ" dirty="0"/>
              <a:t> byt </a:t>
            </a:r>
            <a:r>
              <a:rPr lang="cs-CZ" dirty="0" err="1"/>
              <a:t>vlastnikem</a:t>
            </a:r>
            <a:r>
              <a:rPr lang="cs-CZ" dirty="0"/>
              <a:t> tabulky nebo </a:t>
            </a:r>
            <a:r>
              <a:rPr lang="cs-CZ" dirty="0" err="1"/>
              <a:t>mit</a:t>
            </a:r>
            <a:r>
              <a:rPr lang="cs-CZ" dirty="0"/>
              <a:t> </a:t>
            </a:r>
            <a:r>
              <a:rPr lang="cs-CZ" dirty="0" err="1"/>
              <a:t>pridelena</a:t>
            </a:r>
            <a:r>
              <a:rPr lang="cs-CZ" dirty="0"/>
              <a:t> drop any table </a:t>
            </a:r>
            <a:r>
              <a:rPr lang="cs-CZ" dirty="0" err="1"/>
              <a:t>prava</a:t>
            </a:r>
            <a:r>
              <a:rPr lang="cs-CZ" dirty="0"/>
              <a:t>.</a:t>
            </a:r>
          </a:p>
          <a:p>
            <a:r>
              <a:rPr lang="cs-CZ" dirty="0" err="1"/>
              <a:t>Delete</a:t>
            </a:r>
            <a:r>
              <a:rPr lang="cs-CZ" dirty="0"/>
              <a:t> </a:t>
            </a:r>
            <a:r>
              <a:rPr lang="cs-CZ" dirty="0" err="1"/>
              <a:t>take</a:t>
            </a:r>
            <a:r>
              <a:rPr lang="cs-CZ" dirty="0"/>
              <a:t> </a:t>
            </a:r>
            <a:r>
              <a:rPr lang="cs-CZ" dirty="0" err="1"/>
              <a:t>odstrani</a:t>
            </a:r>
            <a:r>
              <a:rPr lang="cs-CZ" dirty="0"/>
              <a:t> </a:t>
            </a:r>
            <a:r>
              <a:rPr lang="cs-CZ" dirty="0" err="1"/>
              <a:t>radky</a:t>
            </a:r>
            <a:r>
              <a:rPr lang="cs-CZ" dirty="0"/>
              <a:t> tabulky, ale neuvolni </a:t>
            </a:r>
            <a:r>
              <a:rPr lang="cs-CZ" dirty="0" err="1"/>
              <a:t>misto</a:t>
            </a:r>
            <a:r>
              <a:rPr lang="cs-CZ" dirty="0"/>
              <a:t>. </a:t>
            </a:r>
            <a:r>
              <a:rPr lang="cs-CZ" dirty="0" err="1"/>
              <a:t>Truncate</a:t>
            </a:r>
            <a:r>
              <a:rPr lang="cs-CZ" dirty="0"/>
              <a:t> je </a:t>
            </a:r>
            <a:r>
              <a:rPr lang="cs-CZ" dirty="0" err="1"/>
              <a:t>rychlejsi</a:t>
            </a:r>
            <a:r>
              <a:rPr lang="cs-CZ" dirty="0"/>
              <a:t> </a:t>
            </a:r>
            <a:r>
              <a:rPr lang="cs-CZ" dirty="0" err="1"/>
              <a:t>nez</a:t>
            </a:r>
            <a:r>
              <a:rPr lang="cs-CZ" dirty="0"/>
              <a:t> </a:t>
            </a:r>
            <a:r>
              <a:rPr lang="cs-CZ" dirty="0" err="1"/>
              <a:t>delete</a:t>
            </a:r>
            <a:r>
              <a:rPr lang="cs-CZ" dirty="0"/>
              <a:t>, </a:t>
            </a:r>
            <a:r>
              <a:rPr lang="cs-CZ" dirty="0" err="1"/>
              <a:t>protoze</a:t>
            </a:r>
            <a:r>
              <a:rPr lang="cs-CZ" dirty="0"/>
              <a:t> negeneruje </a:t>
            </a:r>
            <a:r>
              <a:rPr lang="cs-CZ" dirty="0" err="1"/>
              <a:t>rollback</a:t>
            </a:r>
            <a:r>
              <a:rPr lang="cs-CZ" dirty="0"/>
              <a:t> informace.</a:t>
            </a:r>
          </a:p>
          <a:p>
            <a:endParaRPr lang="cs-CZ" dirty="0"/>
          </a:p>
        </p:txBody>
      </p:sp>
      <p:pic>
        <p:nvPicPr>
          <p:cNvPr id="4" name="Picture 281">
            <a:extLst>
              <a:ext uri="{FF2B5EF4-FFF2-40B4-BE49-F238E27FC236}">
                <a16:creationId xmlns:a16="http://schemas.microsoft.com/office/drawing/2014/main" id="{1A037AD5-415E-47B0-8630-E8F2D8C0771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125441" y="4812195"/>
            <a:ext cx="4878871" cy="581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9156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9BF4651-5F16-4FB4-8F61-49D6D1CEC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COMMENT ON TABLE 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CFCB38BD-9F3B-48E8-BF7C-7D3090DD6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Pro tabulku smite napsat az 2000 znaku</a:t>
            </a:r>
            <a:endParaRPr lang="cs-CZ" dirty="0"/>
          </a:p>
        </p:txBody>
      </p:sp>
      <p:pic>
        <p:nvPicPr>
          <p:cNvPr id="4" name="Picture 282">
            <a:extLst>
              <a:ext uri="{FF2B5EF4-FFF2-40B4-BE49-F238E27FC236}">
                <a16:creationId xmlns:a16="http://schemas.microsoft.com/office/drawing/2014/main" id="{5EF5C176-9532-45F5-8E44-A2DDA2E97A1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693505" y="2914649"/>
            <a:ext cx="6066182" cy="1697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9826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3E8A9CF-0F2E-427D-88B9-938746C4E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FLASHBACK QUERY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3A5FC522-0B5F-4E07-BFD4-590BC88B1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Nekdy</a:t>
            </a:r>
            <a:r>
              <a:rPr lang="cs-CZ" dirty="0"/>
              <a:t> si </a:t>
            </a:r>
            <a:r>
              <a:rPr lang="cs-CZ" dirty="0" err="1"/>
              <a:t>muzete</a:t>
            </a:r>
            <a:r>
              <a:rPr lang="cs-CZ" dirty="0"/>
              <a:t> </a:t>
            </a:r>
            <a:r>
              <a:rPr lang="cs-CZ" dirty="0" err="1"/>
              <a:t>vsimnout</a:t>
            </a:r>
            <a:r>
              <a:rPr lang="cs-CZ" dirty="0"/>
              <a:t>, ze se data </a:t>
            </a:r>
            <a:r>
              <a:rPr lang="cs-CZ" dirty="0" err="1"/>
              <a:t>zmenila</a:t>
            </a:r>
            <a:r>
              <a:rPr lang="cs-CZ" dirty="0"/>
              <a:t>. </a:t>
            </a:r>
            <a:r>
              <a:rPr lang="cs-CZ" dirty="0" err="1"/>
              <a:t>Nastesti</a:t>
            </a:r>
            <a:r>
              <a:rPr lang="cs-CZ" dirty="0"/>
              <a:t> </a:t>
            </a:r>
            <a:r>
              <a:rPr lang="cs-CZ" dirty="0" err="1"/>
              <a:t>ma</a:t>
            </a:r>
            <a:r>
              <a:rPr lang="cs-CZ" dirty="0"/>
              <a:t> </a:t>
            </a:r>
            <a:r>
              <a:rPr lang="cs-CZ" dirty="0" err="1"/>
              <a:t>oracle</a:t>
            </a:r>
            <a:r>
              <a:rPr lang="cs-CZ" dirty="0"/>
              <a:t> nastroj, </a:t>
            </a:r>
            <a:r>
              <a:rPr lang="cs-CZ" dirty="0" err="1"/>
              <a:t>ktery</a:t>
            </a:r>
            <a:r>
              <a:rPr lang="cs-CZ" dirty="0"/>
              <a:t> </a:t>
            </a:r>
            <a:r>
              <a:rPr lang="cs-CZ" dirty="0" err="1"/>
              <a:t>umoznuje</a:t>
            </a:r>
            <a:r>
              <a:rPr lang="cs-CZ" dirty="0"/>
              <a:t> zobrazit data ve </a:t>
            </a:r>
            <a:r>
              <a:rPr lang="cs-CZ" dirty="0" err="1"/>
              <a:t>specifickem</a:t>
            </a:r>
            <a:r>
              <a:rPr lang="cs-CZ" dirty="0"/>
              <a:t> </a:t>
            </a:r>
            <a:r>
              <a:rPr lang="cs-CZ" dirty="0" err="1"/>
              <a:t>casovem</a:t>
            </a:r>
            <a:r>
              <a:rPr lang="cs-CZ" dirty="0"/>
              <a:t> miste, tedy </a:t>
            </a:r>
            <a:r>
              <a:rPr lang="cs-CZ" dirty="0" err="1"/>
              <a:t>muzete</a:t>
            </a:r>
            <a:r>
              <a:rPr lang="cs-CZ" dirty="0"/>
              <a:t> porovnat </a:t>
            </a:r>
            <a:r>
              <a:rPr lang="cs-CZ" dirty="0" err="1"/>
              <a:t>rozdilne</a:t>
            </a:r>
            <a:r>
              <a:rPr lang="cs-CZ" dirty="0"/>
              <a:t> verze </a:t>
            </a:r>
            <a:r>
              <a:rPr lang="cs-CZ" dirty="0" err="1"/>
              <a:t>radku</a:t>
            </a:r>
            <a:r>
              <a:rPr lang="cs-CZ" dirty="0"/>
              <a:t> skrze </a:t>
            </a:r>
            <a:r>
              <a:rPr lang="cs-CZ" dirty="0" err="1"/>
              <a:t>cas</a:t>
            </a:r>
            <a:r>
              <a:rPr lang="cs-CZ" dirty="0"/>
              <a:t>. Tenhle nastroj je velmi </a:t>
            </a:r>
            <a:r>
              <a:rPr lang="cs-CZ" dirty="0" err="1"/>
              <a:t>uzitecny</a:t>
            </a:r>
            <a:r>
              <a:rPr lang="cs-CZ" dirty="0"/>
              <a:t>. </a:t>
            </a:r>
          </a:p>
          <a:p>
            <a:r>
              <a:rPr lang="cs-CZ" dirty="0" err="1"/>
              <a:t>Vsechny</a:t>
            </a:r>
            <a:r>
              <a:rPr lang="cs-CZ" dirty="0"/>
              <a:t> kopie dat </a:t>
            </a:r>
            <a:r>
              <a:rPr lang="cs-CZ" dirty="0" err="1"/>
              <a:t>pred</a:t>
            </a:r>
            <a:r>
              <a:rPr lang="cs-CZ" dirty="0"/>
              <a:t> jejich </a:t>
            </a:r>
            <a:r>
              <a:rPr lang="cs-CZ" dirty="0" err="1"/>
              <a:t>upravou</a:t>
            </a:r>
            <a:r>
              <a:rPr lang="cs-CZ" dirty="0"/>
              <a:t> nalezneme ve </a:t>
            </a:r>
            <a:r>
              <a:rPr lang="cs-CZ" dirty="0" err="1"/>
              <a:t>specialni</a:t>
            </a:r>
            <a:r>
              <a:rPr lang="cs-CZ" dirty="0"/>
              <a:t> tabulce UNDO. </a:t>
            </a:r>
            <a:r>
              <a:rPr lang="cs-CZ" dirty="0" err="1"/>
              <a:t>Uzivatele</a:t>
            </a:r>
            <a:r>
              <a:rPr lang="cs-CZ" dirty="0"/>
              <a:t> mohou </a:t>
            </a:r>
            <a:r>
              <a:rPr lang="cs-CZ" dirty="0" err="1"/>
              <a:t>pristupovat</a:t>
            </a:r>
            <a:r>
              <a:rPr lang="cs-CZ" dirty="0"/>
              <a:t> do tohoto </a:t>
            </a:r>
            <a:r>
              <a:rPr lang="cs-CZ" dirty="0" err="1"/>
              <a:t>mista</a:t>
            </a:r>
            <a:r>
              <a:rPr lang="cs-CZ" dirty="0"/>
              <a:t> pomoci flashback dotazu. </a:t>
            </a:r>
          </a:p>
          <a:p>
            <a:r>
              <a:rPr lang="cs-CZ" dirty="0"/>
              <a:t>SCN </a:t>
            </a:r>
            <a:r>
              <a:rPr lang="cs-CZ" dirty="0" err="1"/>
              <a:t>cislo</a:t>
            </a:r>
            <a:r>
              <a:rPr lang="cs-CZ" dirty="0"/>
              <a:t> </a:t>
            </a:r>
            <a:r>
              <a:rPr lang="cs-CZ" dirty="0" err="1"/>
              <a:t>odpovida</a:t>
            </a:r>
            <a:r>
              <a:rPr lang="cs-CZ" dirty="0"/>
              <a:t> </a:t>
            </a:r>
            <a:r>
              <a:rPr lang="cs-CZ" dirty="0" err="1"/>
              <a:t>system</a:t>
            </a:r>
            <a:r>
              <a:rPr lang="cs-CZ" dirty="0"/>
              <a:t> </a:t>
            </a:r>
            <a:r>
              <a:rPr lang="cs-CZ" dirty="0" err="1"/>
              <a:t>chynge</a:t>
            </a:r>
            <a:r>
              <a:rPr lang="cs-CZ" dirty="0"/>
              <a:t> </a:t>
            </a:r>
            <a:r>
              <a:rPr lang="cs-CZ" dirty="0" err="1"/>
              <a:t>number</a:t>
            </a:r>
            <a:r>
              <a:rPr lang="cs-CZ" dirty="0"/>
              <a:t> a je to informace o danem casu </a:t>
            </a:r>
            <a:r>
              <a:rPr lang="cs-CZ" dirty="0" err="1"/>
              <a:t>databaze</a:t>
            </a:r>
            <a:r>
              <a:rPr lang="cs-CZ" dirty="0"/>
              <a:t>. Je to </a:t>
            </a:r>
            <a:r>
              <a:rPr lang="cs-CZ" dirty="0" err="1"/>
              <a:t>sekvencni</a:t>
            </a:r>
            <a:r>
              <a:rPr lang="cs-CZ" dirty="0"/>
              <a:t> </a:t>
            </a:r>
            <a:r>
              <a:rPr lang="cs-CZ" dirty="0" err="1"/>
              <a:t>cislo</a:t>
            </a:r>
            <a:r>
              <a:rPr lang="cs-CZ" dirty="0"/>
              <a:t> automaticky </a:t>
            </a:r>
            <a:r>
              <a:rPr lang="cs-CZ" dirty="0" err="1"/>
              <a:t>zvysovane</a:t>
            </a:r>
            <a:r>
              <a:rPr lang="cs-CZ" dirty="0"/>
              <a:t> primo </a:t>
            </a:r>
            <a:r>
              <a:rPr lang="cs-CZ" dirty="0" err="1"/>
              <a:t>databazi</a:t>
            </a:r>
            <a:r>
              <a:rPr lang="cs-CZ" dirty="0"/>
              <a:t>, proto se da </a:t>
            </a:r>
            <a:r>
              <a:rPr lang="cs-CZ" dirty="0" err="1"/>
              <a:t>pouzit</a:t>
            </a:r>
            <a:r>
              <a:rPr lang="cs-CZ" dirty="0"/>
              <a:t> pro identifikaci </a:t>
            </a:r>
            <a:r>
              <a:rPr lang="cs-CZ" dirty="0" err="1"/>
              <a:t>stari</a:t>
            </a:r>
            <a:r>
              <a:rPr lang="cs-CZ" dirty="0"/>
              <a:t> </a:t>
            </a:r>
            <a:r>
              <a:rPr lang="cs-CZ" dirty="0" err="1"/>
              <a:t>zaznamu</a:t>
            </a:r>
            <a:r>
              <a:rPr lang="cs-CZ" dirty="0"/>
              <a:t>.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791349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B26FBCC-0840-4D3D-A07C-582C0685D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09478C45-38D6-4B49-A905-E716172DA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r>
              <a:rPr lang="cs-CZ" dirty="0"/>
              <a:t>Tento dotaz </a:t>
            </a:r>
            <a:r>
              <a:rPr lang="cs-CZ" dirty="0" err="1"/>
              <a:t>nevrati</a:t>
            </a:r>
            <a:r>
              <a:rPr lang="cs-CZ" dirty="0"/>
              <a:t> </a:t>
            </a:r>
            <a:r>
              <a:rPr lang="cs-CZ" dirty="0" err="1"/>
              <a:t>zadna</a:t>
            </a:r>
            <a:r>
              <a:rPr lang="cs-CZ" dirty="0"/>
              <a:t> data. </a:t>
            </a:r>
            <a:r>
              <a:rPr lang="cs-CZ" dirty="0" err="1"/>
              <a:t>Nasledne</a:t>
            </a:r>
            <a:r>
              <a:rPr lang="cs-CZ" dirty="0"/>
              <a:t> </a:t>
            </a:r>
            <a:r>
              <a:rPr lang="cs-CZ"/>
              <a:t>vytvorime </a:t>
            </a:r>
            <a:r>
              <a:rPr lang="cs-CZ" dirty="0" err="1"/>
              <a:t>zamestnance</a:t>
            </a:r>
            <a:r>
              <a:rPr lang="cs-CZ" dirty="0"/>
              <a:t>.</a:t>
            </a:r>
          </a:p>
        </p:txBody>
      </p:sp>
      <p:pic>
        <p:nvPicPr>
          <p:cNvPr id="4" name="Picture 283">
            <a:extLst>
              <a:ext uri="{FF2B5EF4-FFF2-40B4-BE49-F238E27FC236}">
                <a16:creationId xmlns:a16="http://schemas.microsoft.com/office/drawing/2014/main" id="{6DA1E0CB-F31B-490D-94FA-F91B753763B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7325139" cy="1752462"/>
          </a:xfrm>
          <a:prstGeom prst="rect">
            <a:avLst/>
          </a:prstGeom>
        </p:spPr>
      </p:pic>
      <p:pic>
        <p:nvPicPr>
          <p:cNvPr id="5" name="Picture 284">
            <a:extLst>
              <a:ext uri="{FF2B5EF4-FFF2-40B4-BE49-F238E27FC236}">
                <a16:creationId xmlns:a16="http://schemas.microsoft.com/office/drawing/2014/main" id="{00D7682D-4735-4F91-96FA-AB4F28A0363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960575" y="4496836"/>
            <a:ext cx="5957060" cy="2142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0530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D472B49-8A39-4551-A767-C17343A15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D53B1E27-E263-484C-87D1-5E8218E7F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Potom </a:t>
            </a:r>
            <a:r>
              <a:rPr lang="cs-CZ" dirty="0" err="1"/>
              <a:t>muzeme</a:t>
            </a:r>
            <a:r>
              <a:rPr lang="cs-CZ" dirty="0"/>
              <a:t> aktualizovat </a:t>
            </a:r>
            <a:r>
              <a:rPr lang="cs-CZ" dirty="0" err="1"/>
              <a:t>radek</a:t>
            </a:r>
            <a:endParaRPr lang="cs-CZ" dirty="0"/>
          </a:p>
        </p:txBody>
      </p:sp>
      <p:pic>
        <p:nvPicPr>
          <p:cNvPr id="4" name="Picture 285">
            <a:extLst>
              <a:ext uri="{FF2B5EF4-FFF2-40B4-BE49-F238E27FC236}">
                <a16:creationId xmlns:a16="http://schemas.microsoft.com/office/drawing/2014/main" id="{02CC0DCF-F48B-4B2E-ADDC-719ACBA5CE7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878080" y="2466974"/>
            <a:ext cx="5304597" cy="3032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4258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FE7C112-FB8F-4767-B520-9EB3C092C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720411B8-CE12-464A-9139-512997B974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/>
              <a:t>Potom </a:t>
            </a:r>
            <a:r>
              <a:rPr lang="cs-CZ" dirty="0" err="1"/>
              <a:t>radek</a:t>
            </a:r>
            <a:r>
              <a:rPr lang="cs-CZ" dirty="0"/>
              <a:t> </a:t>
            </a:r>
            <a:r>
              <a:rPr lang="cs-CZ" dirty="0" err="1"/>
              <a:t>smazeme</a:t>
            </a:r>
            <a:r>
              <a:rPr lang="cs-CZ" dirty="0"/>
              <a:t>.</a:t>
            </a:r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r>
              <a:rPr lang="cs-CZ" dirty="0" err="1"/>
              <a:t>Vysledek</a:t>
            </a:r>
            <a:r>
              <a:rPr lang="cs-CZ" dirty="0"/>
              <a:t> </a:t>
            </a:r>
            <a:r>
              <a:rPr lang="cs-CZ" dirty="0" err="1"/>
              <a:t>posledniho</a:t>
            </a:r>
            <a:r>
              <a:rPr lang="cs-CZ" dirty="0"/>
              <a:t> dotazu je </a:t>
            </a:r>
            <a:r>
              <a:rPr lang="cs-CZ" dirty="0" err="1"/>
              <a:t>dostupny</a:t>
            </a:r>
            <a:r>
              <a:rPr lang="cs-CZ" dirty="0"/>
              <a:t> pouze v </a:t>
            </a:r>
            <a:r>
              <a:rPr lang="cs-CZ" dirty="0" err="1"/>
              <a:t>ramci</a:t>
            </a:r>
            <a:r>
              <a:rPr lang="cs-CZ" dirty="0"/>
              <a:t> flashback dotazu, tedy v klauzuli </a:t>
            </a:r>
            <a:r>
              <a:rPr lang="cs-CZ" dirty="0" err="1"/>
              <a:t>version</a:t>
            </a:r>
            <a:r>
              <a:rPr lang="cs-CZ" dirty="0"/>
              <a:t>. </a:t>
            </a:r>
            <a:r>
              <a:rPr lang="cs-CZ" dirty="0" err="1"/>
              <a:t>Normalne</a:t>
            </a:r>
            <a:r>
              <a:rPr lang="cs-CZ" dirty="0"/>
              <a:t> </a:t>
            </a:r>
            <a:r>
              <a:rPr lang="cs-CZ" dirty="0" err="1"/>
              <a:t>nevrati</a:t>
            </a:r>
            <a:r>
              <a:rPr lang="cs-CZ" dirty="0"/>
              <a:t> </a:t>
            </a:r>
            <a:r>
              <a:rPr lang="cs-CZ" dirty="0" err="1"/>
              <a:t>zadny</a:t>
            </a:r>
            <a:r>
              <a:rPr lang="cs-CZ" dirty="0"/>
              <a:t> </a:t>
            </a:r>
            <a:r>
              <a:rPr lang="cs-CZ" dirty="0" err="1"/>
              <a:t>vysledek</a:t>
            </a:r>
            <a:r>
              <a:rPr lang="cs-CZ" dirty="0"/>
              <a:t>.</a:t>
            </a:r>
          </a:p>
        </p:txBody>
      </p:sp>
      <p:pic>
        <p:nvPicPr>
          <p:cNvPr id="4" name="Picture 286">
            <a:extLst>
              <a:ext uri="{FF2B5EF4-FFF2-40B4-BE49-F238E27FC236}">
                <a16:creationId xmlns:a16="http://schemas.microsoft.com/office/drawing/2014/main" id="{1534BFEC-33A9-4EC7-9013-8ADF76AB665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326873" y="2471737"/>
            <a:ext cx="5723283" cy="2643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083929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1223</Words>
  <Application>Microsoft Office PowerPoint</Application>
  <PresentationFormat>Širokoúhlá obrazovka</PresentationFormat>
  <Paragraphs>107</Paragraphs>
  <Slides>30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30</vt:i4>
      </vt:variant>
    </vt:vector>
  </HeadingPairs>
  <TitlesOfParts>
    <vt:vector size="34" baseType="lpstr">
      <vt:lpstr>Arial</vt:lpstr>
      <vt:lpstr>Calibri</vt:lpstr>
      <vt:lpstr>Calibri Light</vt:lpstr>
      <vt:lpstr>Motiv Office</vt:lpstr>
      <vt:lpstr>DDL</vt:lpstr>
      <vt:lpstr>Vytváření tabulek</vt:lpstr>
      <vt:lpstr>Databazova schemata</vt:lpstr>
      <vt:lpstr>Prezentace aplikace PowerPoint</vt:lpstr>
      <vt:lpstr>Prezentace aplikace PowerPoint</vt:lpstr>
      <vt:lpstr>Prezentace aplikace PowerPoint</vt:lpstr>
      <vt:lpstr>Vytvoreni tabulky</vt:lpstr>
      <vt:lpstr>Prezentace aplikace PowerPoint</vt:lpstr>
      <vt:lpstr>Prezentace aplikace PowerPoint</vt:lpstr>
      <vt:lpstr>Externí tabulky</vt:lpstr>
      <vt:lpstr>Prezentace aplikace PowerPoint</vt:lpstr>
      <vt:lpstr>Datovy slovnik</vt:lpstr>
      <vt:lpstr>Priklady tabulek datoveho slovniku USER_OBJECTS, USER_TABLES,...</vt:lpstr>
      <vt:lpstr>Pouzivani datovych typu</vt:lpstr>
      <vt:lpstr>Prezentace aplikace PowerPoint</vt:lpstr>
      <vt:lpstr>Modifikování tabulky</vt:lpstr>
      <vt:lpstr>Prezentace aplikace PowerPoint</vt:lpstr>
      <vt:lpstr>Prezentace aplikace PowerPoint</vt:lpstr>
      <vt:lpstr>Prezentace aplikace PowerPoint</vt:lpstr>
      <vt:lpstr>Set unused pro sloupec</vt:lpstr>
      <vt:lpstr>DROP table</vt:lpstr>
      <vt:lpstr>Tabulka flashback</vt:lpstr>
      <vt:lpstr>Prezentace aplikace PowerPoint</vt:lpstr>
      <vt:lpstr>Rename</vt:lpstr>
      <vt:lpstr>Truncate</vt:lpstr>
      <vt:lpstr>COMMENT ON TABLE </vt:lpstr>
      <vt:lpstr>FLASHBACK QUERY</vt:lpstr>
      <vt:lpstr>Prezentace aplikace PowerPoint</vt:lpstr>
      <vt:lpstr>Prezentace aplikace PowerPoint</vt:lpstr>
      <vt:lpstr>Prezentace aplikace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DDL</dc:title>
  <dc:creator>Veronika Hurtová</dc:creator>
  <cp:lastModifiedBy>Veronika</cp:lastModifiedBy>
  <cp:revision>9</cp:revision>
  <dcterms:created xsi:type="dcterms:W3CDTF">2018-01-21T20:50:35Z</dcterms:created>
  <dcterms:modified xsi:type="dcterms:W3CDTF">2019-03-01T06:54:21Z</dcterms:modified>
</cp:coreProperties>
</file>