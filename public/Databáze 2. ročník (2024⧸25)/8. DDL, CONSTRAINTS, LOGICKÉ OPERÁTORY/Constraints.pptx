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3BD684-E19A-40DC-AD35-30538AE97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E195FF9-A2CB-4007-AB47-A6F83D7A3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710C370-8A1E-4C67-8A1F-DF18430D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AA048CB-EBA2-467C-B2D7-88812386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4B20BB9-6D0F-49BA-AD30-F9EE19D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604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C4B3D4-1B64-4B50-8D36-590B2733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AFD610C-B912-4F2A-8D7B-C2940F566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3AAA3-59CD-4836-8C75-F97CE5785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A634AE1-42C4-43AF-9779-F22BA47D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0DDBF1-D8DF-4668-B7A3-CEE5CD20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49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DD23D0-1CE0-459D-A92D-DBACE71D7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3DE3B9B8-690A-4C73-8B8A-C3106F7AC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50D7C2A-B8DE-4829-9866-CFC4F8C38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E7766E6-5549-4081-B85B-603DBE85D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E3C8D85-40C4-4030-BBE3-F85B4CD3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845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F159ED-094A-4676-867D-FDA602A0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E237F68-594D-4EFA-B8B5-7DAD403558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406D014E-3B88-407D-BF43-957D56D5E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CBD3DB0-9DEA-491E-89D9-5320FF72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53E7601-4069-4278-A77D-96410A8F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6B17184-5C9C-452F-93AB-DB284C33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417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80892B-13AD-4324-A56F-F0FCCB920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F9962418-D56A-45BF-9C4C-AE8BC4DBE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F9D59EBC-11B9-49A3-964A-A64A2925E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D07E8A12-E413-42D0-82B0-05C6B49FE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BC6C4679-90FD-487D-B9A8-48729CC44A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C1D6E6F8-BADD-464A-8A2C-36D70E0F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596ECBF-0EFA-476E-90D5-B1B96239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F9B6FD8-F2FC-4314-A57A-FF5A13BF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984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E9FCDE-4E2C-41CF-A4E1-11FF51B7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435B0D2-A0E1-4406-8841-562ED1D44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AA3A4D8-C8D1-450C-91FE-B072F802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CB01643-9E12-418A-AFD4-09F31CC3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9663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EA11433-00B0-4443-9024-05ACCCD6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97EBA09-59EE-48B5-8D88-2F0E2147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AB10FB8-4E6B-4C13-AE7C-A4286D12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151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87074-99BA-455D-9577-CDDF6BFF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7CC276D-CAAB-4CC8-86FE-50ECCAB03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23960B4A-2213-4265-BDC5-2CED7574D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86B1FE6-AC20-4A8C-B160-944A6D6C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D705725-4F52-4CBA-A769-3809BC88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70010D2-8233-4D3C-8DE3-348D472C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8802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9FCF2E-08D6-48D6-B1AE-CD01A02A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4E6B3B7-4524-41A9-9142-48A420499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96BB348E-D362-4A79-960A-07BBCD3E8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6F53AA6-B78A-436D-A668-8470399D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0AD8154-1117-4633-B763-B105678E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A20ED30-B493-4ADE-8D08-A3D1E9B3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3323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94D188-5022-4898-8E69-FF0FF2A8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84A1977-5491-4790-A30F-5E0CE793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D1FF7F6-CB56-4E31-B2E1-49F87CD6F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DB3ED30-31CB-4BCA-A846-9DEC42FB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22C2DEB-0056-4CC0-B0DC-6FDC42BB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264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8BE8A75B-76F7-4392-B578-9F092E511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D791F85-FB25-486F-80D4-5A341D1B9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34DCA35-D9E9-4E66-BADE-9CE7D5D6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B531F03-56B9-49BF-ABDD-72CB3718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C74F1C3-B133-4EC1-95B4-5D856D6B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687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D2540F2-6255-488A-A00B-C603CCB6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31F93CD2-6BC6-4603-BACF-9D666568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00A9571-2A5A-4A7F-980E-2628B23DA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FF7C1-8401-4181-9F01-F51F7D35EF49}" type="datetimeFigureOut">
              <a:rPr lang="cs-CZ" smtClean="0"/>
              <a:t>24.01.2018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A4D8BD8-06D2-4824-A5A7-3382D5AD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04D0DF3-530F-410D-8BF9-75CCDA6C4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100E7-5B79-40BC-B8B5-E901958F832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205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395650-3A0A-4D44-B1DC-2BA584E44B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Constraints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6453D05-A25A-4CA4-8EE6-40513E3A9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NOT NULL a UNIQUE</a:t>
            </a:r>
          </a:p>
        </p:txBody>
      </p:sp>
    </p:spTree>
    <p:extLst>
      <p:ext uri="{BB962C8B-B14F-4D97-AF65-F5344CB8AC3E}">
        <p14:creationId xmlns:p14="http://schemas.microsoft.com/office/powerpoint/2010/main" val="221538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2FA4F3-2E6F-439A-A343-E55DCCC58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A649693-ED5E-4461-91F2-5680F43D7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Kdyz</a:t>
            </a:r>
            <a:r>
              <a:rPr lang="cs-CZ" dirty="0"/>
              <a:t> se </a:t>
            </a:r>
            <a:r>
              <a:rPr lang="cs-CZ" dirty="0" err="1"/>
              <a:t>zamyslite</a:t>
            </a:r>
            <a:r>
              <a:rPr lang="cs-CZ" dirty="0"/>
              <a:t>, jak by fungovala </a:t>
            </a:r>
            <a:r>
              <a:rPr lang="cs-CZ" dirty="0" err="1"/>
              <a:t>spolecnost</a:t>
            </a:r>
            <a:r>
              <a:rPr lang="cs-CZ" dirty="0"/>
              <a:t> bez pravidel? </a:t>
            </a:r>
            <a:r>
              <a:rPr lang="cs-CZ" dirty="0" err="1"/>
              <a:t>Napriklad</a:t>
            </a:r>
            <a:r>
              <a:rPr lang="cs-CZ" dirty="0"/>
              <a:t> bez pravidla zastavit na </a:t>
            </a:r>
            <a:r>
              <a:rPr lang="cs-CZ" dirty="0" err="1"/>
              <a:t>cervenou</a:t>
            </a:r>
            <a:r>
              <a:rPr lang="cs-CZ" dirty="0"/>
              <a:t>?  Bylo by pak </a:t>
            </a:r>
            <a:r>
              <a:rPr lang="cs-CZ" dirty="0" err="1"/>
              <a:t>bezpecne</a:t>
            </a:r>
            <a:r>
              <a:rPr lang="cs-CZ" dirty="0"/>
              <a:t> </a:t>
            </a:r>
            <a:r>
              <a:rPr lang="cs-CZ" dirty="0" err="1"/>
              <a:t>ridit</a:t>
            </a:r>
            <a:r>
              <a:rPr lang="cs-CZ" dirty="0"/>
              <a:t>, kdyby tato pravidla nebyla </a:t>
            </a:r>
            <a:r>
              <a:rPr lang="cs-CZ" dirty="0" err="1"/>
              <a:t>dodrzovana</a:t>
            </a:r>
            <a:r>
              <a:rPr lang="cs-CZ" dirty="0"/>
              <a:t>?</a:t>
            </a:r>
          </a:p>
          <a:p>
            <a:r>
              <a:rPr lang="cs-CZ" dirty="0" err="1"/>
              <a:t>Databaze</a:t>
            </a:r>
            <a:r>
              <a:rPr lang="cs-CZ" dirty="0"/>
              <a:t> je </a:t>
            </a:r>
            <a:r>
              <a:rPr lang="cs-CZ" dirty="0" err="1"/>
              <a:t>zodpovedna</a:t>
            </a:r>
            <a:r>
              <a:rPr lang="cs-CZ" dirty="0"/>
              <a:t> za data v ni </a:t>
            </a:r>
            <a:r>
              <a:rPr lang="cs-CZ" dirty="0" err="1"/>
              <a:t>ulozene</a:t>
            </a:r>
            <a:r>
              <a:rPr lang="cs-CZ" dirty="0"/>
              <a:t>,  omezeni </a:t>
            </a:r>
            <a:r>
              <a:rPr lang="cs-CZ" dirty="0" err="1"/>
              <a:t>slouzi</a:t>
            </a:r>
            <a:r>
              <a:rPr lang="cs-CZ" dirty="0"/>
              <a:t> k prevenci </a:t>
            </a:r>
            <a:r>
              <a:rPr lang="cs-CZ" dirty="0" err="1"/>
              <a:t>nevalidnich</a:t>
            </a:r>
            <a:r>
              <a:rPr lang="cs-CZ" dirty="0"/>
              <a:t> vstupu dat do tabulky.</a:t>
            </a:r>
          </a:p>
          <a:p>
            <a:r>
              <a:rPr lang="cs-CZ" dirty="0" err="1"/>
              <a:t>Davalo</a:t>
            </a:r>
            <a:r>
              <a:rPr lang="cs-CZ" dirty="0"/>
              <a:t> by smysl, kdyby byl vstupem </a:t>
            </a:r>
            <a:r>
              <a:rPr lang="cs-CZ" dirty="0" err="1"/>
              <a:t>negativni</a:t>
            </a:r>
            <a:r>
              <a:rPr lang="cs-CZ" dirty="0"/>
              <a:t> </a:t>
            </a:r>
            <a:r>
              <a:rPr lang="cs-CZ" dirty="0" err="1"/>
              <a:t>pocet</a:t>
            </a:r>
            <a:r>
              <a:rPr lang="cs-CZ" dirty="0"/>
              <a:t> studentu, </a:t>
            </a:r>
            <a:r>
              <a:rPr lang="cs-CZ" dirty="0" err="1"/>
              <a:t>zaporna</a:t>
            </a:r>
            <a:r>
              <a:rPr lang="cs-CZ" dirty="0"/>
              <a:t> mzda apod.? bez zavedeni omezeni, bychom nebyli schopni </a:t>
            </a:r>
            <a:r>
              <a:rPr lang="cs-CZ" dirty="0" err="1"/>
              <a:t>udrzovat</a:t>
            </a:r>
            <a:r>
              <a:rPr lang="cs-CZ" dirty="0"/>
              <a:t> integritu </a:t>
            </a:r>
            <a:r>
              <a:rPr lang="cs-CZ" dirty="0" err="1"/>
              <a:t>databaze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463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AED92-A3AE-4C87-9D70-1A0857EE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Obecne</a:t>
            </a:r>
            <a:r>
              <a:rPr lang="cs-CZ" dirty="0"/>
              <a:t> o </a:t>
            </a:r>
            <a:r>
              <a:rPr lang="cs-CZ" dirty="0" err="1"/>
              <a:t>omezenich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1F9568D-973C-4BEA-8729-4BCD87286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je </a:t>
            </a:r>
            <a:r>
              <a:rPr lang="cs-CZ" dirty="0" err="1"/>
              <a:t>presne</a:t>
            </a:r>
            <a:r>
              <a:rPr lang="cs-CZ" dirty="0"/>
              <a:t> omezeni? </a:t>
            </a:r>
            <a:r>
              <a:rPr lang="cs-CZ" dirty="0" err="1"/>
              <a:t>Premyslejsi</a:t>
            </a:r>
            <a:r>
              <a:rPr lang="cs-CZ" dirty="0"/>
              <a:t> o </a:t>
            </a:r>
            <a:r>
              <a:rPr lang="cs-CZ" dirty="0" err="1"/>
              <a:t>omezenich</a:t>
            </a:r>
            <a:r>
              <a:rPr lang="cs-CZ" dirty="0"/>
              <a:t> jako o </a:t>
            </a:r>
            <a:r>
              <a:rPr lang="cs-CZ" dirty="0" err="1"/>
              <a:t>databazovych</a:t>
            </a:r>
            <a:r>
              <a:rPr lang="cs-CZ" dirty="0"/>
              <a:t> pravidlech. </a:t>
            </a:r>
            <a:r>
              <a:rPr lang="cs-CZ" dirty="0" err="1"/>
              <a:t>Vsechny</a:t>
            </a:r>
            <a:r>
              <a:rPr lang="cs-CZ" dirty="0"/>
              <a:t> definice omezeni jsou </a:t>
            </a:r>
            <a:r>
              <a:rPr lang="cs-CZ" dirty="0" err="1"/>
              <a:t>ulozeny</a:t>
            </a:r>
            <a:r>
              <a:rPr lang="cs-CZ" dirty="0"/>
              <a:t> v </a:t>
            </a:r>
            <a:r>
              <a:rPr lang="cs-CZ" dirty="0" err="1"/>
              <a:t>datovem</a:t>
            </a:r>
            <a:r>
              <a:rPr lang="cs-CZ" dirty="0"/>
              <a:t> </a:t>
            </a:r>
            <a:r>
              <a:rPr lang="cs-CZ" dirty="0" err="1"/>
              <a:t>slovniku</a:t>
            </a:r>
            <a:r>
              <a:rPr lang="cs-CZ" dirty="0"/>
              <a:t>. </a:t>
            </a:r>
          </a:p>
          <a:p>
            <a:r>
              <a:rPr lang="cs-CZ" dirty="0"/>
              <a:t>Omezeni jsou prevenci </a:t>
            </a:r>
            <a:r>
              <a:rPr lang="cs-CZ" dirty="0" err="1"/>
              <a:t>vymazani</a:t>
            </a:r>
            <a:r>
              <a:rPr lang="cs-CZ" dirty="0"/>
              <a:t> tabulky, pokud zde jsou </a:t>
            </a:r>
            <a:r>
              <a:rPr lang="cs-CZ" dirty="0" err="1"/>
              <a:t>zavislosti</a:t>
            </a:r>
            <a:r>
              <a:rPr lang="cs-CZ" dirty="0"/>
              <a:t> z </a:t>
            </a:r>
            <a:r>
              <a:rPr lang="cs-CZ" dirty="0" err="1"/>
              <a:t>ostatnich</a:t>
            </a:r>
            <a:r>
              <a:rPr lang="cs-CZ" dirty="0"/>
              <a:t> tabulek. Omezeni nastavuji pravidla na data, kdykoliv je </a:t>
            </a:r>
            <a:r>
              <a:rPr lang="cs-CZ" dirty="0" err="1"/>
              <a:t>radek</a:t>
            </a:r>
            <a:r>
              <a:rPr lang="cs-CZ" dirty="0"/>
              <a:t> </a:t>
            </a:r>
            <a:r>
              <a:rPr lang="cs-CZ" dirty="0" err="1"/>
              <a:t>vkladan</a:t>
            </a:r>
            <a:r>
              <a:rPr lang="cs-CZ" dirty="0"/>
              <a:t>, </a:t>
            </a:r>
            <a:r>
              <a:rPr lang="cs-CZ" dirty="0" err="1"/>
              <a:t>aktualizovan</a:t>
            </a:r>
            <a:r>
              <a:rPr lang="cs-CZ" dirty="0"/>
              <a:t>, </a:t>
            </a:r>
            <a:r>
              <a:rPr lang="cs-CZ" dirty="0" err="1"/>
              <a:t>aktualizovan</a:t>
            </a:r>
            <a:r>
              <a:rPr lang="cs-CZ" dirty="0"/>
              <a:t> nebo </a:t>
            </a:r>
            <a:r>
              <a:rPr lang="cs-CZ" dirty="0" err="1"/>
              <a:t>vymazan</a:t>
            </a:r>
            <a:r>
              <a:rPr lang="cs-CZ" dirty="0"/>
              <a:t> z tabulky.</a:t>
            </a:r>
          </a:p>
        </p:txBody>
      </p:sp>
    </p:spTree>
    <p:extLst>
      <p:ext uri="{BB962C8B-B14F-4D97-AF65-F5344CB8AC3E}">
        <p14:creationId xmlns:p14="http://schemas.microsoft.com/office/powerpoint/2010/main" val="3705388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631438-58C5-4E2A-82B1-254C73221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CAA7E84-3CB5-4075-AAD7-F726D89E7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Omezeni jsou </a:t>
            </a:r>
            <a:r>
              <a:rPr lang="cs-CZ" dirty="0" err="1"/>
              <a:t>dulezita</a:t>
            </a:r>
            <a:r>
              <a:rPr lang="cs-CZ" dirty="0"/>
              <a:t> a </a:t>
            </a:r>
            <a:r>
              <a:rPr lang="cs-CZ" dirty="0" err="1"/>
              <a:t>pojmenovani</a:t>
            </a:r>
            <a:r>
              <a:rPr lang="cs-CZ" dirty="0"/>
              <a:t> je </a:t>
            </a:r>
            <a:r>
              <a:rPr lang="cs-CZ" dirty="0" err="1"/>
              <a:t>take</a:t>
            </a:r>
            <a:r>
              <a:rPr lang="cs-CZ" dirty="0"/>
              <a:t> </a:t>
            </a:r>
            <a:r>
              <a:rPr lang="cs-CZ" dirty="0" err="1"/>
              <a:t>dulezite</a:t>
            </a:r>
            <a:r>
              <a:rPr lang="cs-CZ" dirty="0"/>
              <a:t>. </a:t>
            </a:r>
            <a:r>
              <a:rPr lang="cs-CZ" dirty="0" err="1"/>
              <a:t>Kdyz</a:t>
            </a:r>
            <a:r>
              <a:rPr lang="cs-CZ" dirty="0"/>
              <a:t> si budete </a:t>
            </a:r>
            <a:r>
              <a:rPr lang="cs-CZ" dirty="0" err="1"/>
              <a:t>pojmenovavat</a:t>
            </a:r>
            <a:r>
              <a:rPr lang="cs-CZ" dirty="0"/>
              <a:t> omezeni_1, omezeni_2 potom bude velmi </a:t>
            </a:r>
            <a:r>
              <a:rPr lang="cs-CZ" dirty="0" err="1"/>
              <a:t>tezke</a:t>
            </a:r>
            <a:r>
              <a:rPr lang="cs-CZ" dirty="0"/>
              <a:t> </a:t>
            </a:r>
            <a:r>
              <a:rPr lang="cs-CZ" dirty="0" err="1"/>
              <a:t>odlisit</a:t>
            </a:r>
            <a:r>
              <a:rPr lang="cs-CZ" dirty="0"/>
              <a:t>, </a:t>
            </a:r>
            <a:r>
              <a:rPr lang="cs-CZ" dirty="0" err="1"/>
              <a:t>ktere</a:t>
            </a:r>
            <a:r>
              <a:rPr lang="cs-CZ" dirty="0"/>
              <a:t> omezeni je </a:t>
            </a:r>
            <a:r>
              <a:rPr lang="cs-CZ" dirty="0" err="1"/>
              <a:t>ktere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15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2E374F-0F03-4196-A5D9-252E7D2FE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Omezeni na </a:t>
            </a:r>
            <a:r>
              <a:rPr lang="cs-CZ" dirty="0" err="1"/>
              <a:t>urovni</a:t>
            </a:r>
            <a:r>
              <a:rPr lang="cs-CZ" dirty="0"/>
              <a:t> sloupce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513221A-29D2-456B-8A6A-2F043AA8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Toto omezeni se vztahuje na jeden sloupec. Pro nastaveni omezeni sloupce, omezeni </a:t>
            </a:r>
            <a:r>
              <a:rPr lang="cs-CZ" dirty="0" err="1"/>
              <a:t>musi</a:t>
            </a:r>
            <a:r>
              <a:rPr lang="cs-CZ" dirty="0"/>
              <a:t> byt </a:t>
            </a:r>
            <a:r>
              <a:rPr lang="cs-CZ" dirty="0" err="1"/>
              <a:t>definovano</a:t>
            </a:r>
            <a:r>
              <a:rPr lang="cs-CZ" dirty="0"/>
              <a:t> v </a:t>
            </a:r>
            <a:r>
              <a:rPr lang="cs-CZ" dirty="0" err="1"/>
              <a:t>prikazu</a:t>
            </a:r>
            <a:r>
              <a:rPr lang="cs-CZ" dirty="0"/>
              <a:t> CREATE TABLE jako </a:t>
            </a:r>
            <a:r>
              <a:rPr lang="cs-CZ" dirty="0" err="1"/>
              <a:t>soucast</a:t>
            </a:r>
            <a:r>
              <a:rPr lang="cs-CZ" dirty="0"/>
              <a:t> definice sloupce. 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 err="1"/>
              <a:t>Nazev</a:t>
            </a:r>
            <a:r>
              <a:rPr lang="cs-CZ" dirty="0"/>
              <a:t> omezeni je </a:t>
            </a:r>
            <a:r>
              <a:rPr lang="cs-CZ" dirty="0" err="1"/>
              <a:t>clients_client_num_pk</a:t>
            </a:r>
            <a:r>
              <a:rPr lang="cs-CZ" dirty="0"/>
              <a:t> a </a:t>
            </a:r>
            <a:r>
              <a:rPr lang="cs-CZ" dirty="0" err="1"/>
              <a:t>zajistuje</a:t>
            </a:r>
            <a:r>
              <a:rPr lang="cs-CZ" dirty="0"/>
              <a:t>, ze </a:t>
            </a:r>
            <a:r>
              <a:rPr lang="cs-CZ" dirty="0" err="1"/>
              <a:t>client_number</a:t>
            </a:r>
            <a:r>
              <a:rPr lang="cs-CZ" dirty="0"/>
              <a:t> je </a:t>
            </a:r>
            <a:r>
              <a:rPr lang="cs-CZ" dirty="0" err="1"/>
              <a:t>primarni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 tabulky klientu.</a:t>
            </a:r>
          </a:p>
        </p:txBody>
      </p:sp>
      <p:pic>
        <p:nvPicPr>
          <p:cNvPr id="4" name="Picture 287">
            <a:extLst>
              <a:ext uri="{FF2B5EF4-FFF2-40B4-BE49-F238E27FC236}">
                <a16:creationId xmlns:a16="http://schemas.microsoft.com/office/drawing/2014/main" id="{7D460961-AC7D-43B9-A6CF-14139767BC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0628" y="3429000"/>
            <a:ext cx="5941737" cy="143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6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333E0D-F63C-4FBD-90EA-38120D8F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Pojmenovavani</a:t>
            </a:r>
            <a:r>
              <a:rPr lang="cs-CZ" dirty="0"/>
              <a:t> omezeni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8554376-07FA-4055-835F-F253922B3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Kazde</a:t>
            </a:r>
            <a:r>
              <a:rPr lang="cs-CZ" dirty="0"/>
              <a:t> omezeni v </a:t>
            </a:r>
            <a:r>
              <a:rPr lang="cs-CZ" dirty="0" err="1"/>
              <a:t>databazi</a:t>
            </a:r>
            <a:r>
              <a:rPr lang="cs-CZ" dirty="0"/>
              <a:t> </a:t>
            </a:r>
            <a:r>
              <a:rPr lang="cs-CZ" dirty="0" err="1"/>
              <a:t>ma</a:t>
            </a:r>
            <a:r>
              <a:rPr lang="cs-CZ" dirty="0"/>
              <a:t> </a:t>
            </a:r>
            <a:r>
              <a:rPr lang="cs-CZ" dirty="0" err="1"/>
              <a:t>svuj</a:t>
            </a:r>
            <a:r>
              <a:rPr lang="cs-CZ" dirty="0"/>
              <a:t> </a:t>
            </a:r>
            <a:r>
              <a:rPr lang="cs-CZ" dirty="0" err="1"/>
              <a:t>nazev</a:t>
            </a:r>
            <a:r>
              <a:rPr lang="cs-CZ" dirty="0"/>
              <a:t>. </a:t>
            </a:r>
            <a:r>
              <a:rPr lang="cs-CZ" dirty="0" err="1"/>
              <a:t>Kdyz</a:t>
            </a:r>
            <a:r>
              <a:rPr lang="cs-CZ" dirty="0"/>
              <a:t> je omezeni </a:t>
            </a:r>
            <a:r>
              <a:rPr lang="cs-CZ" dirty="0" err="1"/>
              <a:t>vytvoreno</a:t>
            </a:r>
            <a:r>
              <a:rPr lang="cs-CZ" dirty="0"/>
              <a:t>, dostane </a:t>
            </a:r>
            <a:r>
              <a:rPr lang="cs-CZ" dirty="0" err="1"/>
              <a:t>nazev</a:t>
            </a:r>
            <a:r>
              <a:rPr lang="cs-CZ" dirty="0"/>
              <a:t> bud jako </a:t>
            </a:r>
            <a:r>
              <a:rPr lang="cs-CZ" b="1" dirty="0" err="1"/>
              <a:t>clients_client_num_pk</a:t>
            </a:r>
            <a:r>
              <a:rPr lang="cs-CZ" dirty="0"/>
              <a:t> nebo pokud </a:t>
            </a:r>
            <a:r>
              <a:rPr lang="cs-CZ" dirty="0" err="1"/>
              <a:t>neni</a:t>
            </a:r>
            <a:r>
              <a:rPr lang="cs-CZ" dirty="0"/>
              <a:t> </a:t>
            </a:r>
            <a:r>
              <a:rPr lang="cs-CZ" dirty="0" err="1"/>
              <a:t>zadano</a:t>
            </a:r>
            <a:r>
              <a:rPr lang="cs-CZ" dirty="0"/>
              <a:t>, dostane </a:t>
            </a:r>
            <a:r>
              <a:rPr lang="cs-CZ" dirty="0" err="1"/>
              <a:t>systemovy</a:t>
            </a:r>
            <a:r>
              <a:rPr lang="cs-CZ" dirty="0"/>
              <a:t> </a:t>
            </a:r>
            <a:r>
              <a:rPr lang="cs-CZ" dirty="0" err="1"/>
              <a:t>nazev</a:t>
            </a:r>
            <a:r>
              <a:rPr lang="cs-CZ" dirty="0"/>
              <a:t> jako </a:t>
            </a:r>
            <a:r>
              <a:rPr lang="cs-CZ" dirty="0" err="1"/>
              <a:t>treba</a:t>
            </a:r>
            <a:r>
              <a:rPr lang="cs-CZ" dirty="0"/>
              <a:t> </a:t>
            </a:r>
            <a:r>
              <a:rPr lang="cs-CZ" b="1" dirty="0"/>
              <a:t>sys_c05545151</a:t>
            </a:r>
            <a:r>
              <a:rPr lang="cs-CZ" dirty="0"/>
              <a:t>. konvence v </a:t>
            </a:r>
            <a:r>
              <a:rPr lang="cs-CZ" dirty="0" err="1"/>
              <a:t>pojmenovavani</a:t>
            </a:r>
            <a:r>
              <a:rPr lang="cs-CZ" dirty="0"/>
              <a:t> </a:t>
            </a:r>
            <a:r>
              <a:rPr lang="cs-CZ" dirty="0" err="1"/>
              <a:t>muze</a:t>
            </a:r>
            <a:r>
              <a:rPr lang="cs-CZ" dirty="0"/>
              <a:t> byt kombinace nazvu tabulky a nazvu sloupce, </a:t>
            </a:r>
            <a:r>
              <a:rPr lang="cs-CZ" dirty="0" err="1"/>
              <a:t>nasledovana</a:t>
            </a:r>
            <a:r>
              <a:rPr lang="cs-CZ" dirty="0"/>
              <a:t> typem omezeni.</a:t>
            </a:r>
          </a:p>
          <a:p>
            <a:r>
              <a:rPr lang="cs-CZ" dirty="0"/>
              <a:t>Pokud je </a:t>
            </a:r>
            <a:r>
              <a:rPr lang="cs-CZ" dirty="0" err="1"/>
              <a:t>pouzito</a:t>
            </a:r>
            <a:r>
              <a:rPr lang="cs-CZ" dirty="0"/>
              <a:t> </a:t>
            </a:r>
            <a:r>
              <a:rPr lang="cs-CZ" dirty="0" err="1"/>
              <a:t>klicove</a:t>
            </a:r>
            <a:r>
              <a:rPr lang="cs-CZ" dirty="0"/>
              <a:t> slovo </a:t>
            </a:r>
            <a:r>
              <a:rPr lang="cs-CZ" b="1" dirty="0"/>
              <a:t>CONSTRAINT</a:t>
            </a:r>
            <a:r>
              <a:rPr lang="cs-CZ" dirty="0"/>
              <a:t>, potom </a:t>
            </a:r>
            <a:r>
              <a:rPr lang="cs-CZ" dirty="0" err="1"/>
              <a:t>musime</a:t>
            </a:r>
            <a:r>
              <a:rPr lang="cs-CZ" dirty="0"/>
              <a:t> omezeni pojmenovat. </a:t>
            </a:r>
            <a:r>
              <a:rPr lang="cs-CZ" dirty="0" err="1"/>
              <a:t>Nazev</a:t>
            </a:r>
            <a:r>
              <a:rPr lang="cs-CZ" dirty="0"/>
              <a:t> </a:t>
            </a:r>
            <a:r>
              <a:rPr lang="cs-CZ" dirty="0" err="1"/>
              <a:t>smi</a:t>
            </a:r>
            <a:r>
              <a:rPr lang="cs-CZ" dirty="0"/>
              <a:t> obsahovat </a:t>
            </a:r>
            <a:r>
              <a:rPr lang="cs-CZ" dirty="0" err="1"/>
              <a:t>maximalne</a:t>
            </a:r>
            <a:r>
              <a:rPr lang="cs-CZ" dirty="0"/>
              <a:t> 30 znaku.</a:t>
            </a:r>
          </a:p>
        </p:txBody>
      </p:sp>
      <p:pic>
        <p:nvPicPr>
          <p:cNvPr id="4" name="Picture 127">
            <a:extLst>
              <a:ext uri="{FF2B5EF4-FFF2-40B4-BE49-F238E27FC236}">
                <a16:creationId xmlns:a16="http://schemas.microsoft.com/office/drawing/2014/main" id="{02F57259-4D0C-411F-84C2-9A54DAA71B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35814" y="4691684"/>
            <a:ext cx="4632463" cy="1126020"/>
          </a:xfrm>
          <a:prstGeom prst="rect">
            <a:avLst/>
          </a:prstGeom>
        </p:spPr>
      </p:pic>
      <p:pic>
        <p:nvPicPr>
          <p:cNvPr id="5" name="Picture 288">
            <a:extLst>
              <a:ext uri="{FF2B5EF4-FFF2-40B4-BE49-F238E27FC236}">
                <a16:creationId xmlns:a16="http://schemas.microsoft.com/office/drawing/2014/main" id="{D80C0B0F-FE7D-471B-A49B-004BD9F5089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77238" y="5606291"/>
            <a:ext cx="4504084" cy="101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52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C26E8E-AA0B-4CBA-8EE7-AD3CB50F8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Omezeni na </a:t>
            </a:r>
            <a:r>
              <a:rPr lang="cs-CZ" dirty="0" err="1"/>
              <a:t>urovni</a:t>
            </a:r>
            <a:r>
              <a:rPr lang="cs-CZ" dirty="0"/>
              <a:t> tabulky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0EB7EBA-A005-4B17-84D8-C1E8DB311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Tato omezeni jsou </a:t>
            </a:r>
            <a:r>
              <a:rPr lang="cs-CZ" dirty="0" err="1"/>
              <a:t>zapsana</a:t>
            </a:r>
            <a:r>
              <a:rPr lang="cs-CZ" dirty="0"/>
              <a:t> </a:t>
            </a:r>
            <a:r>
              <a:rPr lang="cs-CZ" dirty="0" err="1"/>
              <a:t>oddelene</a:t>
            </a:r>
            <a:r>
              <a:rPr lang="cs-CZ" dirty="0"/>
              <a:t> od definice </a:t>
            </a:r>
            <a:r>
              <a:rPr lang="cs-CZ" dirty="0" err="1"/>
              <a:t>sloupcu</a:t>
            </a:r>
            <a:r>
              <a:rPr lang="cs-CZ" dirty="0"/>
              <a:t> v </a:t>
            </a:r>
            <a:r>
              <a:rPr lang="cs-CZ" dirty="0" err="1"/>
              <a:t>prikazu</a:t>
            </a:r>
            <a:r>
              <a:rPr lang="cs-CZ" dirty="0"/>
              <a:t> </a:t>
            </a:r>
            <a:r>
              <a:rPr lang="cs-CZ" dirty="0" err="1"/>
              <a:t>create</a:t>
            </a:r>
            <a:r>
              <a:rPr lang="cs-CZ" dirty="0"/>
              <a:t> table.</a:t>
            </a:r>
          </a:p>
          <a:p>
            <a:r>
              <a:rPr lang="cs-CZ" dirty="0"/>
              <a:t>Jsou </a:t>
            </a:r>
            <a:r>
              <a:rPr lang="cs-CZ" dirty="0" err="1"/>
              <a:t>zapsana</a:t>
            </a:r>
            <a:r>
              <a:rPr lang="cs-CZ" dirty="0"/>
              <a:t> </a:t>
            </a:r>
            <a:r>
              <a:rPr lang="cs-CZ" dirty="0" err="1"/>
              <a:t>az</a:t>
            </a:r>
            <a:r>
              <a:rPr lang="cs-CZ" dirty="0"/>
              <a:t> po tom, co jsou </a:t>
            </a:r>
            <a:r>
              <a:rPr lang="cs-CZ" dirty="0" err="1"/>
              <a:t>definovany</a:t>
            </a:r>
            <a:r>
              <a:rPr lang="cs-CZ" dirty="0"/>
              <a:t> </a:t>
            </a:r>
            <a:r>
              <a:rPr lang="cs-CZ" dirty="0" err="1"/>
              <a:t>vsechny</a:t>
            </a:r>
            <a:r>
              <a:rPr lang="cs-CZ" dirty="0"/>
              <a:t> sloupce. </a:t>
            </a:r>
          </a:p>
          <a:p>
            <a:endParaRPr lang="cs-CZ" dirty="0"/>
          </a:p>
        </p:txBody>
      </p:sp>
      <p:pic>
        <p:nvPicPr>
          <p:cNvPr id="4" name="Picture 289">
            <a:extLst>
              <a:ext uri="{FF2B5EF4-FFF2-40B4-BE49-F238E27FC236}">
                <a16:creationId xmlns:a16="http://schemas.microsoft.com/office/drawing/2014/main" id="{7FE182ED-5EA6-4131-97B3-A8D568DC27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88935" y="3678927"/>
            <a:ext cx="6038230" cy="188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64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A13311-29AD-4C15-9BD7-2FF0358D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Zakladni</a:t>
            </a:r>
            <a:r>
              <a:rPr lang="cs-CZ" dirty="0"/>
              <a:t> pravidla pro omezeni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1C8BF5E-F04C-4298-803A-005BA3F1C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Omezeni, </a:t>
            </a:r>
            <a:r>
              <a:rPr lang="cs-CZ" dirty="0" err="1"/>
              <a:t>ktere</a:t>
            </a:r>
            <a:r>
              <a:rPr lang="cs-CZ" dirty="0"/>
              <a:t> odkazuje na vice </a:t>
            </a:r>
            <a:r>
              <a:rPr lang="cs-CZ" dirty="0" err="1"/>
              <a:t>nez</a:t>
            </a:r>
            <a:r>
              <a:rPr lang="cs-CZ" dirty="0"/>
              <a:t> jeden sloupec (</a:t>
            </a:r>
            <a:r>
              <a:rPr lang="cs-CZ" dirty="0" err="1"/>
              <a:t>slozeny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) </a:t>
            </a:r>
            <a:r>
              <a:rPr lang="cs-CZ" dirty="0" err="1"/>
              <a:t>musi</a:t>
            </a:r>
            <a:r>
              <a:rPr lang="cs-CZ" dirty="0"/>
              <a:t> byt </a:t>
            </a:r>
            <a:r>
              <a:rPr lang="cs-CZ" dirty="0" err="1"/>
              <a:t>definovany</a:t>
            </a:r>
            <a:r>
              <a:rPr lang="cs-CZ" dirty="0"/>
              <a:t> na </a:t>
            </a:r>
            <a:r>
              <a:rPr lang="cs-CZ" dirty="0" err="1"/>
              <a:t>urovni</a:t>
            </a:r>
            <a:r>
              <a:rPr lang="cs-CZ" dirty="0"/>
              <a:t> tabulky. Omezeni NOT NULL </a:t>
            </a:r>
            <a:r>
              <a:rPr lang="cs-CZ" dirty="0" err="1"/>
              <a:t>muze</a:t>
            </a:r>
            <a:r>
              <a:rPr lang="cs-CZ" dirty="0"/>
              <a:t> byt </a:t>
            </a:r>
            <a:r>
              <a:rPr lang="cs-CZ" dirty="0" err="1"/>
              <a:t>specifikovano</a:t>
            </a:r>
            <a:r>
              <a:rPr lang="cs-CZ" dirty="0"/>
              <a:t> jenom na </a:t>
            </a:r>
            <a:r>
              <a:rPr lang="cs-CZ" dirty="0" err="1"/>
              <a:t>urovni</a:t>
            </a:r>
            <a:r>
              <a:rPr lang="cs-CZ" dirty="0"/>
              <a:t> sloupce, nikoliv na </a:t>
            </a:r>
            <a:r>
              <a:rPr lang="cs-CZ" dirty="0" err="1"/>
              <a:t>urovni</a:t>
            </a:r>
            <a:r>
              <a:rPr lang="cs-CZ" dirty="0"/>
              <a:t> tabulky. </a:t>
            </a:r>
            <a:r>
              <a:rPr lang="cs-CZ" b="1" dirty="0"/>
              <a:t>UNIQUE, PRIMARY KEY, FOREIGN KEY </a:t>
            </a:r>
            <a:r>
              <a:rPr lang="cs-CZ" dirty="0"/>
              <a:t>a </a:t>
            </a:r>
            <a:r>
              <a:rPr lang="cs-CZ" b="1" dirty="0"/>
              <a:t>CHECK</a:t>
            </a:r>
            <a:r>
              <a:rPr lang="cs-CZ" dirty="0"/>
              <a:t> omezeni mohou byt </a:t>
            </a:r>
            <a:r>
              <a:rPr lang="cs-CZ" dirty="0" err="1"/>
              <a:t>definovany</a:t>
            </a:r>
            <a:r>
              <a:rPr lang="cs-CZ" dirty="0"/>
              <a:t> jak na </a:t>
            </a:r>
            <a:r>
              <a:rPr lang="cs-CZ" dirty="0" err="1"/>
              <a:t>urovni</a:t>
            </a:r>
            <a:r>
              <a:rPr lang="cs-CZ" dirty="0"/>
              <a:t> sloupce tak na </a:t>
            </a:r>
            <a:r>
              <a:rPr lang="cs-CZ" dirty="0" err="1"/>
              <a:t>urovni</a:t>
            </a:r>
            <a:r>
              <a:rPr lang="cs-CZ" dirty="0"/>
              <a:t> tabulky. </a:t>
            </a:r>
          </a:p>
        </p:txBody>
      </p:sp>
      <p:pic>
        <p:nvPicPr>
          <p:cNvPr id="4" name="Picture 290">
            <a:extLst>
              <a:ext uri="{FF2B5EF4-FFF2-40B4-BE49-F238E27FC236}">
                <a16:creationId xmlns:a16="http://schemas.microsoft.com/office/drawing/2014/main" id="{F893713B-4552-4160-9FB0-AF5A7C6321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12152" y="4001294"/>
            <a:ext cx="5748752" cy="23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7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81ECC6-6B07-4D81-9DE2-490E27F1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9A58FC6-0C42-4BC9-BA42-56D3EB27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291">
            <a:extLst>
              <a:ext uri="{FF2B5EF4-FFF2-40B4-BE49-F238E27FC236}">
                <a16:creationId xmlns:a16="http://schemas.microsoft.com/office/drawing/2014/main" id="{A7A6FAC6-4FDE-4CC9-820C-3BBD1CE214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24099" y="1388992"/>
            <a:ext cx="6740387" cy="407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5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ACD7C5-C8ED-413F-B2B5-692990DA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5 typu omezeni: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A27F228-61B2-4586-9046-44973285B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Not </a:t>
            </a:r>
            <a:r>
              <a:rPr lang="cs-CZ" b="1" dirty="0" err="1"/>
              <a:t>null</a:t>
            </a:r>
            <a:r>
              <a:rPr lang="cs-CZ" b="1" dirty="0"/>
              <a:t> </a:t>
            </a:r>
            <a:r>
              <a:rPr lang="cs-CZ" dirty="0"/>
              <a:t>– </a:t>
            </a:r>
            <a:r>
              <a:rPr lang="cs-CZ" dirty="0" err="1"/>
              <a:t>vyzaduje</a:t>
            </a:r>
            <a:r>
              <a:rPr lang="cs-CZ" dirty="0"/>
              <a:t>, aby </a:t>
            </a:r>
            <a:r>
              <a:rPr lang="cs-CZ" dirty="0" err="1"/>
              <a:t>kazdy</a:t>
            </a:r>
            <a:r>
              <a:rPr lang="cs-CZ" dirty="0"/>
              <a:t> </a:t>
            </a:r>
            <a:r>
              <a:rPr lang="cs-CZ" dirty="0" err="1"/>
              <a:t>radek</a:t>
            </a:r>
            <a:r>
              <a:rPr lang="cs-CZ" dirty="0"/>
              <a:t> </a:t>
            </a:r>
            <a:r>
              <a:rPr lang="cs-CZ" dirty="0" err="1"/>
              <a:t>vlozeny</a:t>
            </a:r>
            <a:r>
              <a:rPr lang="cs-CZ" dirty="0"/>
              <a:t> do tabulky obsahoval </a:t>
            </a:r>
            <a:r>
              <a:rPr lang="cs-CZ" dirty="0" err="1"/>
              <a:t>existujici</a:t>
            </a:r>
            <a:r>
              <a:rPr lang="cs-CZ" dirty="0"/>
              <a:t> hodnoty. Pro </a:t>
            </a:r>
            <a:r>
              <a:rPr lang="cs-CZ" dirty="0" err="1"/>
              <a:t>oznaceni</a:t>
            </a:r>
            <a:r>
              <a:rPr lang="cs-CZ" dirty="0"/>
              <a:t> se </a:t>
            </a:r>
            <a:r>
              <a:rPr lang="cs-CZ" dirty="0" err="1"/>
              <a:t>pouziva</a:t>
            </a:r>
            <a:r>
              <a:rPr lang="cs-CZ" dirty="0"/>
              <a:t> </a:t>
            </a:r>
            <a:r>
              <a:rPr lang="cs-CZ" dirty="0" err="1"/>
              <a:t>suffix</a:t>
            </a:r>
            <a:r>
              <a:rPr lang="cs-CZ" dirty="0"/>
              <a:t> </a:t>
            </a:r>
            <a:r>
              <a:rPr lang="cs-CZ" b="1" dirty="0"/>
              <a:t>_</a:t>
            </a:r>
            <a:r>
              <a:rPr lang="cs-CZ" b="1" dirty="0" err="1"/>
              <a:t>nn</a:t>
            </a:r>
            <a:r>
              <a:rPr lang="cs-CZ" dirty="0"/>
              <a:t>.</a:t>
            </a:r>
          </a:p>
          <a:p>
            <a:r>
              <a:rPr lang="cs-CZ" b="1" dirty="0" err="1"/>
              <a:t>Unique</a:t>
            </a:r>
            <a:r>
              <a:rPr lang="cs-CZ" dirty="0"/>
              <a:t> – </a:t>
            </a:r>
            <a:r>
              <a:rPr lang="cs-CZ" dirty="0" err="1"/>
              <a:t>vyzaduje</a:t>
            </a:r>
            <a:r>
              <a:rPr lang="cs-CZ" dirty="0"/>
              <a:t>, aby </a:t>
            </a:r>
            <a:r>
              <a:rPr lang="cs-CZ" dirty="0" err="1"/>
              <a:t>kazda</a:t>
            </a:r>
            <a:r>
              <a:rPr lang="cs-CZ" dirty="0"/>
              <a:t> </a:t>
            </a:r>
            <a:r>
              <a:rPr lang="cs-CZ" dirty="0" err="1"/>
              <a:t>zadana</a:t>
            </a:r>
            <a:r>
              <a:rPr lang="cs-CZ" dirty="0"/>
              <a:t> hodnota do sloupce nebo skupiny </a:t>
            </a:r>
            <a:r>
              <a:rPr lang="cs-CZ" dirty="0" err="1"/>
              <a:t>sloupcu</a:t>
            </a:r>
            <a:r>
              <a:rPr lang="cs-CZ" dirty="0"/>
              <a:t> byla </a:t>
            </a:r>
            <a:r>
              <a:rPr lang="cs-CZ" dirty="0" err="1"/>
              <a:t>unikatni</a:t>
            </a:r>
            <a:r>
              <a:rPr lang="cs-CZ" dirty="0"/>
              <a:t>, tedy aby </a:t>
            </a:r>
            <a:r>
              <a:rPr lang="cs-CZ" dirty="0" err="1"/>
              <a:t>zadne</a:t>
            </a:r>
            <a:r>
              <a:rPr lang="cs-CZ" dirty="0"/>
              <a:t> 2 </a:t>
            </a:r>
            <a:r>
              <a:rPr lang="cs-CZ" dirty="0" err="1"/>
              <a:t>radky</a:t>
            </a:r>
            <a:r>
              <a:rPr lang="cs-CZ" dirty="0"/>
              <a:t> </a:t>
            </a:r>
            <a:r>
              <a:rPr lang="cs-CZ" dirty="0" err="1"/>
              <a:t>nemely</a:t>
            </a:r>
            <a:r>
              <a:rPr lang="cs-CZ" dirty="0"/>
              <a:t> shodne hodnoty, </a:t>
            </a:r>
            <a:r>
              <a:rPr lang="cs-CZ" dirty="0" err="1"/>
              <a:t>vyuzuiti</a:t>
            </a:r>
            <a:r>
              <a:rPr lang="cs-CZ" dirty="0"/>
              <a:t> je </a:t>
            </a:r>
            <a:r>
              <a:rPr lang="cs-CZ" dirty="0" err="1"/>
              <a:t>naprikald</a:t>
            </a:r>
            <a:r>
              <a:rPr lang="cs-CZ" dirty="0"/>
              <a:t> tehdy, kdy se chceme ujistit, ze </a:t>
            </a:r>
            <a:r>
              <a:rPr lang="cs-CZ" dirty="0" err="1"/>
              <a:t>zadni</a:t>
            </a:r>
            <a:r>
              <a:rPr lang="cs-CZ" dirty="0"/>
              <a:t> dva </a:t>
            </a:r>
            <a:r>
              <a:rPr lang="cs-CZ" dirty="0" err="1"/>
              <a:t>zakaznici</a:t>
            </a:r>
            <a:r>
              <a:rPr lang="cs-CZ" dirty="0"/>
              <a:t> </a:t>
            </a:r>
            <a:r>
              <a:rPr lang="cs-CZ" dirty="0" err="1"/>
              <a:t>nemaji</a:t>
            </a:r>
            <a:r>
              <a:rPr lang="cs-CZ" dirty="0"/>
              <a:t> uveden </a:t>
            </a:r>
            <a:r>
              <a:rPr lang="cs-CZ" dirty="0" err="1"/>
              <a:t>shodny</a:t>
            </a:r>
            <a:r>
              <a:rPr lang="cs-CZ" dirty="0"/>
              <a:t> </a:t>
            </a:r>
            <a:r>
              <a:rPr lang="cs-CZ" dirty="0" err="1"/>
              <a:t>emailovy</a:t>
            </a:r>
            <a:r>
              <a:rPr lang="cs-CZ" dirty="0"/>
              <a:t> kontakt. Pro </a:t>
            </a:r>
            <a:r>
              <a:rPr lang="cs-CZ" dirty="0" err="1"/>
              <a:t>oznaceni</a:t>
            </a:r>
            <a:r>
              <a:rPr lang="cs-CZ" dirty="0"/>
              <a:t> se </a:t>
            </a:r>
            <a:r>
              <a:rPr lang="cs-CZ" dirty="0" err="1"/>
              <a:t>muze</a:t>
            </a:r>
            <a:r>
              <a:rPr lang="cs-CZ" dirty="0"/>
              <a:t> </a:t>
            </a:r>
            <a:r>
              <a:rPr lang="cs-CZ" dirty="0" err="1"/>
              <a:t>pouzivat</a:t>
            </a:r>
            <a:r>
              <a:rPr lang="cs-CZ" dirty="0"/>
              <a:t> </a:t>
            </a:r>
            <a:r>
              <a:rPr lang="cs-CZ" dirty="0" err="1"/>
              <a:t>suffix</a:t>
            </a:r>
            <a:r>
              <a:rPr lang="cs-CZ" dirty="0"/>
              <a:t> </a:t>
            </a:r>
            <a:r>
              <a:rPr lang="cs-CZ" b="1" dirty="0"/>
              <a:t>_</a:t>
            </a:r>
            <a:r>
              <a:rPr lang="cs-CZ" b="1" dirty="0" err="1"/>
              <a:t>uk</a:t>
            </a:r>
            <a:r>
              <a:rPr lang="cs-CZ" dirty="0"/>
              <a:t> (</a:t>
            </a:r>
            <a:r>
              <a:rPr lang="cs-CZ" dirty="0" err="1"/>
              <a:t>unique</a:t>
            </a:r>
            <a:r>
              <a:rPr lang="cs-CZ" dirty="0"/>
              <a:t> </a:t>
            </a:r>
            <a:r>
              <a:rPr lang="cs-CZ" dirty="0" err="1"/>
              <a:t>key</a:t>
            </a:r>
            <a:r>
              <a:rPr lang="cs-CZ" dirty="0"/>
              <a:t>).</a:t>
            </a:r>
          </a:p>
          <a:p>
            <a:endParaRPr lang="cs-CZ" dirty="0"/>
          </a:p>
        </p:txBody>
      </p:sp>
      <p:pic>
        <p:nvPicPr>
          <p:cNvPr id="4" name="Picture 292">
            <a:extLst>
              <a:ext uri="{FF2B5EF4-FFF2-40B4-BE49-F238E27FC236}">
                <a16:creationId xmlns:a16="http://schemas.microsoft.com/office/drawing/2014/main" id="{F7BAF54C-BCA8-4546-9DFF-8AF958D7D0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82678" y="4598504"/>
            <a:ext cx="4838079" cy="210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76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8B0251-AC61-4AFE-AC55-318A929F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A3A90FE-51F9-47B8-83F8-BE40B151B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Pokud chcete definovat </a:t>
            </a:r>
            <a:r>
              <a:rPr lang="cs-CZ" dirty="0" err="1"/>
              <a:t>slozeny</a:t>
            </a:r>
            <a:r>
              <a:rPr lang="cs-CZ" dirty="0"/>
              <a:t> </a:t>
            </a:r>
            <a:r>
              <a:rPr lang="cs-CZ" dirty="0" err="1"/>
              <a:t>unikatni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, potom omezeni </a:t>
            </a:r>
            <a:r>
              <a:rPr lang="cs-CZ" dirty="0" err="1"/>
              <a:t>musi</a:t>
            </a:r>
            <a:r>
              <a:rPr lang="cs-CZ" dirty="0"/>
              <a:t> byt </a:t>
            </a:r>
            <a:r>
              <a:rPr lang="cs-CZ" dirty="0" err="1"/>
              <a:t>definovano</a:t>
            </a:r>
            <a:r>
              <a:rPr lang="cs-CZ" dirty="0"/>
              <a:t> na </a:t>
            </a:r>
            <a:r>
              <a:rPr lang="cs-CZ" dirty="0" err="1"/>
              <a:t>urovni</a:t>
            </a:r>
            <a:r>
              <a:rPr lang="cs-CZ" dirty="0"/>
              <a:t> tabulky </a:t>
            </a:r>
            <a:r>
              <a:rPr lang="cs-CZ" dirty="0" err="1"/>
              <a:t>namisto</a:t>
            </a:r>
            <a:r>
              <a:rPr lang="cs-CZ" dirty="0"/>
              <a:t> </a:t>
            </a:r>
            <a:r>
              <a:rPr lang="cs-CZ" dirty="0" err="1"/>
              <a:t>urovne</a:t>
            </a:r>
            <a:r>
              <a:rPr lang="cs-CZ" dirty="0"/>
              <a:t> sloupce.</a:t>
            </a:r>
          </a:p>
          <a:p>
            <a:r>
              <a:rPr lang="cs-CZ" dirty="0" err="1"/>
              <a:t>Slozeny</a:t>
            </a:r>
            <a:r>
              <a:rPr lang="cs-CZ" dirty="0"/>
              <a:t> </a:t>
            </a:r>
            <a:r>
              <a:rPr lang="cs-CZ" dirty="0" err="1"/>
              <a:t>unikatni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 </a:t>
            </a:r>
            <a:r>
              <a:rPr lang="cs-CZ" dirty="0" err="1"/>
              <a:t>nam</a:t>
            </a:r>
            <a:r>
              <a:rPr lang="cs-CZ" dirty="0"/>
              <a:t> </a:t>
            </a:r>
            <a:r>
              <a:rPr lang="cs-CZ" dirty="0" err="1"/>
              <a:t>rika</a:t>
            </a:r>
            <a:r>
              <a:rPr lang="cs-CZ" dirty="0"/>
              <a:t>, ze kombinace hodnot ve </a:t>
            </a:r>
            <a:r>
              <a:rPr lang="cs-CZ" dirty="0" err="1"/>
              <a:t>sloupcich</a:t>
            </a:r>
            <a:r>
              <a:rPr lang="cs-CZ" dirty="0"/>
              <a:t> </a:t>
            </a:r>
            <a:r>
              <a:rPr lang="cs-CZ" dirty="0" err="1"/>
              <a:t>musi</a:t>
            </a:r>
            <a:r>
              <a:rPr lang="cs-CZ" dirty="0"/>
              <a:t> byt </a:t>
            </a:r>
            <a:r>
              <a:rPr lang="cs-CZ" dirty="0" err="1"/>
              <a:t>unikatni</a:t>
            </a:r>
            <a:r>
              <a:rPr lang="cs-CZ" dirty="0"/>
              <a:t>. Hodnoty </a:t>
            </a:r>
            <a:r>
              <a:rPr lang="cs-CZ" dirty="0" err="1"/>
              <a:t>null</a:t>
            </a:r>
            <a:r>
              <a:rPr lang="cs-CZ" dirty="0"/>
              <a:t> se berou jako </a:t>
            </a:r>
            <a:r>
              <a:rPr lang="cs-CZ" dirty="0" err="1"/>
              <a:t>unikatni</a:t>
            </a:r>
            <a:r>
              <a:rPr lang="cs-CZ" dirty="0"/>
              <a:t>. Pokud tedy </a:t>
            </a:r>
            <a:r>
              <a:rPr lang="cs-CZ" dirty="0" err="1"/>
              <a:t>vsechny</a:t>
            </a:r>
            <a:r>
              <a:rPr lang="cs-CZ" dirty="0"/>
              <a:t> sloupce, na </a:t>
            </a:r>
            <a:r>
              <a:rPr lang="cs-CZ" dirty="0" err="1"/>
              <a:t>ktere</a:t>
            </a:r>
            <a:r>
              <a:rPr lang="cs-CZ" dirty="0"/>
              <a:t> se omezeni vztahuje obsahuji hodnotu </a:t>
            </a:r>
            <a:r>
              <a:rPr lang="cs-CZ" dirty="0" err="1"/>
              <a:t>null</a:t>
            </a:r>
            <a:r>
              <a:rPr lang="cs-CZ" dirty="0"/>
              <a:t>, je </a:t>
            </a:r>
            <a:r>
              <a:rPr lang="cs-CZ" dirty="0" err="1"/>
              <a:t>podminka</a:t>
            </a:r>
            <a:r>
              <a:rPr lang="cs-CZ" dirty="0"/>
              <a:t> </a:t>
            </a:r>
            <a:r>
              <a:rPr lang="cs-CZ" dirty="0" err="1"/>
              <a:t>splnena</a:t>
            </a:r>
            <a:r>
              <a:rPr lang="cs-CZ" dirty="0"/>
              <a:t>.</a:t>
            </a:r>
          </a:p>
        </p:txBody>
      </p:sp>
      <p:pic>
        <p:nvPicPr>
          <p:cNvPr id="4" name="Picture 293">
            <a:extLst>
              <a:ext uri="{FF2B5EF4-FFF2-40B4-BE49-F238E27FC236}">
                <a16:creationId xmlns:a16="http://schemas.microsoft.com/office/drawing/2014/main" id="{C3454AEC-5AEA-4221-A120-2FBA3598C8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00537" y="4001294"/>
            <a:ext cx="4763950" cy="583958"/>
          </a:xfrm>
          <a:prstGeom prst="rect">
            <a:avLst/>
          </a:prstGeom>
        </p:spPr>
      </p:pic>
      <p:pic>
        <p:nvPicPr>
          <p:cNvPr id="5" name="Picture 294">
            <a:extLst>
              <a:ext uri="{FF2B5EF4-FFF2-40B4-BE49-F238E27FC236}">
                <a16:creationId xmlns:a16="http://schemas.microsoft.com/office/drawing/2014/main" id="{E6490A87-9394-484C-AAEF-35CB403374A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00536" y="4685781"/>
            <a:ext cx="4989237" cy="192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53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9D43E2-C2FC-4078-8283-3FF40A01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PRIMARNI KLIC, CIZI KLIC A CHECK OMEZENI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D16F7F4-5AB2-407A-9254-5F6822CCC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b="1" dirty="0"/>
              <a:t>PRIMARY KEY</a:t>
            </a:r>
          </a:p>
          <a:p>
            <a:pPr lvl="1"/>
            <a:r>
              <a:rPr lang="cs-CZ" dirty="0"/>
              <a:t>Toto omezeni je pravidlo, </a:t>
            </a:r>
            <a:r>
              <a:rPr lang="cs-CZ" dirty="0" err="1"/>
              <a:t>ktere</a:t>
            </a:r>
            <a:r>
              <a:rPr lang="cs-CZ" dirty="0"/>
              <a:t> </a:t>
            </a:r>
            <a:r>
              <a:rPr lang="cs-CZ" dirty="0" err="1"/>
              <a:t>rika</a:t>
            </a:r>
            <a:r>
              <a:rPr lang="cs-CZ" dirty="0"/>
              <a:t>, ze hodnoty ve sloupci nebo v kombinaci </a:t>
            </a:r>
            <a:r>
              <a:rPr lang="cs-CZ" dirty="0" err="1"/>
              <a:t>sloupcu</a:t>
            </a:r>
            <a:r>
              <a:rPr lang="cs-CZ" dirty="0"/>
              <a:t> </a:t>
            </a:r>
            <a:r>
              <a:rPr lang="cs-CZ" dirty="0" err="1"/>
              <a:t>musi</a:t>
            </a:r>
            <a:r>
              <a:rPr lang="cs-CZ" dirty="0"/>
              <a:t> byt </a:t>
            </a:r>
            <a:r>
              <a:rPr lang="cs-CZ" dirty="0" err="1"/>
              <a:t>unikatni</a:t>
            </a:r>
            <a:r>
              <a:rPr lang="cs-CZ" dirty="0"/>
              <a:t> a </a:t>
            </a:r>
            <a:r>
              <a:rPr lang="cs-CZ" dirty="0" err="1"/>
              <a:t>presne</a:t>
            </a:r>
            <a:r>
              <a:rPr lang="cs-CZ" dirty="0"/>
              <a:t> identifikovat </a:t>
            </a:r>
            <a:r>
              <a:rPr lang="cs-CZ" dirty="0" err="1"/>
              <a:t>kazdy</a:t>
            </a:r>
            <a:r>
              <a:rPr lang="cs-CZ" dirty="0"/>
              <a:t> </a:t>
            </a:r>
            <a:r>
              <a:rPr lang="cs-CZ" dirty="0" err="1"/>
              <a:t>radek</a:t>
            </a:r>
            <a:r>
              <a:rPr lang="cs-CZ" dirty="0"/>
              <a:t> tabulky.</a:t>
            </a:r>
          </a:p>
          <a:p>
            <a:pPr lvl="1"/>
            <a:r>
              <a:rPr lang="cs-CZ" dirty="0" err="1"/>
              <a:t>Zadny</a:t>
            </a:r>
            <a:r>
              <a:rPr lang="cs-CZ" dirty="0"/>
              <a:t> </a:t>
            </a:r>
            <a:r>
              <a:rPr lang="cs-CZ" dirty="0" err="1"/>
              <a:t>primarni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 se </a:t>
            </a:r>
            <a:r>
              <a:rPr lang="cs-CZ" dirty="0" err="1"/>
              <a:t>nemuze</a:t>
            </a:r>
            <a:r>
              <a:rPr lang="cs-CZ" dirty="0"/>
              <a:t> objevit v tabulce </a:t>
            </a:r>
            <a:r>
              <a:rPr lang="cs-CZ" dirty="0" err="1"/>
              <a:t>dvakrat</a:t>
            </a:r>
            <a:r>
              <a:rPr lang="cs-CZ" dirty="0"/>
              <a:t>. </a:t>
            </a:r>
          </a:p>
          <a:p>
            <a:pPr lvl="1"/>
            <a:r>
              <a:rPr lang="cs-CZ" dirty="0"/>
              <a:t>Pro </a:t>
            </a:r>
            <a:r>
              <a:rPr lang="cs-CZ" dirty="0" err="1"/>
              <a:t>splneni</a:t>
            </a:r>
            <a:r>
              <a:rPr lang="cs-CZ" dirty="0"/>
              <a:t> </a:t>
            </a:r>
            <a:r>
              <a:rPr lang="cs-CZ" dirty="0" err="1"/>
              <a:t>podminky</a:t>
            </a:r>
            <a:r>
              <a:rPr lang="cs-CZ" dirty="0"/>
              <a:t> </a:t>
            </a:r>
            <a:r>
              <a:rPr lang="cs-CZ" dirty="0" err="1"/>
              <a:t>primarniho</a:t>
            </a:r>
            <a:r>
              <a:rPr lang="cs-CZ" dirty="0"/>
              <a:t> klice, </a:t>
            </a:r>
            <a:r>
              <a:rPr lang="cs-CZ" dirty="0" err="1"/>
              <a:t>obe</a:t>
            </a:r>
            <a:r>
              <a:rPr lang="cs-CZ" dirty="0"/>
              <a:t> z </a:t>
            </a:r>
            <a:r>
              <a:rPr lang="cs-CZ" dirty="0" err="1"/>
              <a:t>nasledujicich</a:t>
            </a:r>
            <a:r>
              <a:rPr lang="cs-CZ" dirty="0"/>
              <a:t> </a:t>
            </a:r>
            <a:r>
              <a:rPr lang="cs-CZ" dirty="0" err="1"/>
              <a:t>podminek</a:t>
            </a:r>
            <a:r>
              <a:rPr lang="cs-CZ" dirty="0"/>
              <a:t> </a:t>
            </a:r>
            <a:r>
              <a:rPr lang="cs-CZ" dirty="0" err="1"/>
              <a:t>musi</a:t>
            </a:r>
            <a:r>
              <a:rPr lang="cs-CZ" dirty="0"/>
              <a:t> byt </a:t>
            </a:r>
            <a:r>
              <a:rPr lang="cs-CZ" dirty="0" err="1"/>
              <a:t>splneny</a:t>
            </a:r>
            <a:r>
              <a:rPr lang="cs-CZ" dirty="0"/>
              <a:t>: </a:t>
            </a:r>
            <a:r>
              <a:rPr lang="cs-CZ" dirty="0" err="1"/>
              <a:t>zadny</a:t>
            </a:r>
            <a:r>
              <a:rPr lang="cs-CZ" dirty="0"/>
              <a:t> ze </a:t>
            </a:r>
            <a:r>
              <a:rPr lang="cs-CZ" dirty="0" err="1"/>
              <a:t>sloupcu</a:t>
            </a:r>
            <a:r>
              <a:rPr lang="cs-CZ" dirty="0"/>
              <a:t>, </a:t>
            </a:r>
            <a:r>
              <a:rPr lang="cs-CZ" dirty="0" err="1"/>
              <a:t>ktery</a:t>
            </a:r>
            <a:r>
              <a:rPr lang="cs-CZ" dirty="0"/>
              <a:t> je </a:t>
            </a:r>
            <a:r>
              <a:rPr lang="cs-CZ" dirty="0" err="1"/>
              <a:t>soucasti</a:t>
            </a:r>
            <a:r>
              <a:rPr lang="cs-CZ" dirty="0"/>
              <a:t> </a:t>
            </a:r>
            <a:r>
              <a:rPr lang="cs-CZ" dirty="0" err="1"/>
              <a:t>primarniho</a:t>
            </a:r>
            <a:r>
              <a:rPr lang="cs-CZ" dirty="0"/>
              <a:t> klice </a:t>
            </a:r>
            <a:r>
              <a:rPr lang="cs-CZ" dirty="0" err="1"/>
              <a:t>nesmi</a:t>
            </a:r>
            <a:r>
              <a:rPr lang="cs-CZ" dirty="0"/>
              <a:t> obsahovat hodnotu </a:t>
            </a:r>
            <a:r>
              <a:rPr lang="cs-CZ" dirty="0" err="1"/>
              <a:t>null</a:t>
            </a:r>
            <a:r>
              <a:rPr lang="cs-CZ" dirty="0"/>
              <a:t>. </a:t>
            </a:r>
          </a:p>
          <a:p>
            <a:pPr lvl="1"/>
            <a:r>
              <a:rPr lang="cs-CZ" dirty="0"/>
              <a:t>Tabulka </a:t>
            </a:r>
            <a:r>
              <a:rPr lang="cs-CZ" dirty="0" err="1"/>
              <a:t>ma</a:t>
            </a:r>
            <a:r>
              <a:rPr lang="cs-CZ" dirty="0"/>
              <a:t> pouze jeden </a:t>
            </a:r>
            <a:r>
              <a:rPr lang="cs-CZ" dirty="0" err="1"/>
              <a:t>primarni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.</a:t>
            </a:r>
          </a:p>
          <a:p>
            <a:pPr lvl="1"/>
            <a:r>
              <a:rPr lang="cs-CZ" dirty="0"/>
              <a:t>Omezeni na </a:t>
            </a:r>
            <a:r>
              <a:rPr lang="cs-CZ" dirty="0" err="1"/>
              <a:t>primarni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 </a:t>
            </a:r>
            <a:r>
              <a:rPr lang="cs-CZ" dirty="0" err="1"/>
              <a:t>muze</a:t>
            </a:r>
            <a:r>
              <a:rPr lang="cs-CZ" dirty="0"/>
              <a:t> byt </a:t>
            </a:r>
            <a:r>
              <a:rPr lang="cs-CZ" dirty="0" err="1"/>
              <a:t>definovano</a:t>
            </a:r>
            <a:r>
              <a:rPr lang="cs-CZ" dirty="0"/>
              <a:t> jak na </a:t>
            </a:r>
            <a:r>
              <a:rPr lang="cs-CZ" dirty="0" err="1"/>
              <a:t>urovni</a:t>
            </a:r>
            <a:r>
              <a:rPr lang="cs-CZ" dirty="0"/>
              <a:t> sloupce tak na </a:t>
            </a:r>
            <a:r>
              <a:rPr lang="cs-CZ" dirty="0" err="1"/>
              <a:t>urovni</a:t>
            </a:r>
            <a:r>
              <a:rPr lang="cs-CZ" dirty="0"/>
              <a:t> tabulky. </a:t>
            </a:r>
            <a:r>
              <a:rPr lang="cs-CZ" dirty="0" err="1"/>
              <a:t>Nicmene</a:t>
            </a:r>
            <a:r>
              <a:rPr lang="cs-CZ" dirty="0"/>
              <a:t>, pokud </a:t>
            </a:r>
            <a:r>
              <a:rPr lang="cs-CZ" dirty="0" err="1"/>
              <a:t>pouzivame</a:t>
            </a:r>
            <a:r>
              <a:rPr lang="cs-CZ" dirty="0"/>
              <a:t> </a:t>
            </a:r>
            <a:r>
              <a:rPr lang="cs-CZ" dirty="0" err="1"/>
              <a:t>slozeny</a:t>
            </a:r>
            <a:r>
              <a:rPr lang="cs-CZ" dirty="0"/>
              <a:t> </a:t>
            </a:r>
            <a:r>
              <a:rPr lang="cs-CZ" dirty="0" err="1"/>
              <a:t>primarni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, potom </a:t>
            </a:r>
            <a:r>
              <a:rPr lang="cs-CZ" dirty="0" err="1"/>
              <a:t>musi</a:t>
            </a:r>
            <a:r>
              <a:rPr lang="cs-CZ" dirty="0"/>
              <a:t> byt </a:t>
            </a:r>
            <a:r>
              <a:rPr lang="cs-CZ" dirty="0" err="1"/>
              <a:t>definovan</a:t>
            </a:r>
            <a:r>
              <a:rPr lang="cs-CZ" dirty="0"/>
              <a:t> na </a:t>
            </a:r>
            <a:r>
              <a:rPr lang="cs-CZ" dirty="0" err="1"/>
              <a:t>urovni</a:t>
            </a:r>
            <a:r>
              <a:rPr lang="cs-CZ" dirty="0"/>
              <a:t> tabulky. Pro </a:t>
            </a:r>
            <a:r>
              <a:rPr lang="cs-CZ" dirty="0" err="1"/>
              <a:t>oznaceni</a:t>
            </a:r>
            <a:r>
              <a:rPr lang="cs-CZ" dirty="0"/>
              <a:t> je </a:t>
            </a:r>
            <a:r>
              <a:rPr lang="cs-CZ" dirty="0" err="1"/>
              <a:t>dobre</a:t>
            </a:r>
            <a:r>
              <a:rPr lang="cs-CZ" dirty="0"/>
              <a:t> </a:t>
            </a:r>
            <a:r>
              <a:rPr lang="cs-CZ" dirty="0" err="1"/>
              <a:t>pouzivat</a:t>
            </a:r>
            <a:r>
              <a:rPr lang="cs-CZ" dirty="0"/>
              <a:t> </a:t>
            </a:r>
            <a:r>
              <a:rPr lang="cs-CZ" dirty="0" err="1"/>
              <a:t>suffix</a:t>
            </a:r>
            <a:r>
              <a:rPr lang="cs-CZ" dirty="0"/>
              <a:t> </a:t>
            </a:r>
            <a:r>
              <a:rPr lang="cs-CZ" b="1" dirty="0"/>
              <a:t>_</a:t>
            </a:r>
            <a:r>
              <a:rPr lang="cs-CZ" b="1" dirty="0" err="1"/>
              <a:t>pk</a:t>
            </a:r>
            <a:r>
              <a:rPr lang="cs-CZ" b="1" dirty="0"/>
              <a:t> </a:t>
            </a:r>
            <a:r>
              <a:rPr lang="cs-CZ" dirty="0"/>
              <a:t>v nazvu omezeni.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182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7988FD-8DB3-463E-B163-F3BF8396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A27EA23-DC74-48B2-AC50-9FBC8F97F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295">
            <a:extLst>
              <a:ext uri="{FF2B5EF4-FFF2-40B4-BE49-F238E27FC236}">
                <a16:creationId xmlns:a16="http://schemas.microsoft.com/office/drawing/2014/main" id="{0DF8A3DD-A152-40B0-8AE3-E7C700E1C1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4581939" cy="1050097"/>
          </a:xfrm>
          <a:prstGeom prst="rect">
            <a:avLst/>
          </a:prstGeom>
        </p:spPr>
      </p:pic>
      <p:pic>
        <p:nvPicPr>
          <p:cNvPr id="5" name="Picture 296">
            <a:extLst>
              <a:ext uri="{FF2B5EF4-FFF2-40B4-BE49-F238E27FC236}">
                <a16:creationId xmlns:a16="http://schemas.microsoft.com/office/drawing/2014/main" id="{FAB0492A-BAC7-4E47-8EA5-210243F6954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00555" y="2875722"/>
            <a:ext cx="4925462" cy="1219200"/>
          </a:xfrm>
          <a:prstGeom prst="rect">
            <a:avLst/>
          </a:prstGeom>
        </p:spPr>
      </p:pic>
      <p:pic>
        <p:nvPicPr>
          <p:cNvPr id="6" name="Picture 297">
            <a:extLst>
              <a:ext uri="{FF2B5EF4-FFF2-40B4-BE49-F238E27FC236}">
                <a16:creationId xmlns:a16="http://schemas.microsoft.com/office/drawing/2014/main" id="{FB2011F0-22A5-4236-B8F2-E934520F1F2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505245" y="4001293"/>
            <a:ext cx="5732598" cy="139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92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A60CA-C6F3-48D7-A028-7D563873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FOREIGN KEY (</a:t>
            </a:r>
            <a:r>
              <a:rPr lang="cs-CZ" dirty="0" err="1"/>
              <a:t>referencni</a:t>
            </a:r>
            <a:r>
              <a:rPr lang="cs-CZ" dirty="0"/>
              <a:t> integrita)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6A64684-3C3A-460A-91E9-A019DA84F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Cizi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 je spojen s </a:t>
            </a:r>
            <a:r>
              <a:rPr lang="cs-CZ" dirty="0" err="1"/>
              <a:t>primarnim</a:t>
            </a:r>
            <a:r>
              <a:rPr lang="cs-CZ" dirty="0"/>
              <a:t> </a:t>
            </a:r>
            <a:r>
              <a:rPr lang="cs-CZ" dirty="0" err="1"/>
              <a:t>klicem</a:t>
            </a:r>
            <a:r>
              <a:rPr lang="cs-CZ" dirty="0"/>
              <a:t> jine tabulky, </a:t>
            </a:r>
            <a:r>
              <a:rPr lang="cs-CZ" dirty="0" err="1"/>
              <a:t>muze</a:t>
            </a:r>
            <a:r>
              <a:rPr lang="cs-CZ" dirty="0"/>
              <a:t> byt spojen </a:t>
            </a:r>
            <a:r>
              <a:rPr lang="cs-CZ" dirty="0" err="1"/>
              <a:t>take</a:t>
            </a:r>
            <a:r>
              <a:rPr lang="cs-CZ" dirty="0"/>
              <a:t> s </a:t>
            </a:r>
            <a:r>
              <a:rPr lang="cs-CZ" dirty="0" err="1"/>
              <a:t>unikatnim</a:t>
            </a:r>
            <a:r>
              <a:rPr lang="cs-CZ" dirty="0"/>
              <a:t> </a:t>
            </a:r>
            <a:r>
              <a:rPr lang="cs-CZ" dirty="0" err="1"/>
              <a:t>klicem</a:t>
            </a:r>
            <a:r>
              <a:rPr lang="cs-CZ" dirty="0"/>
              <a:t>, a </a:t>
            </a:r>
            <a:r>
              <a:rPr lang="cs-CZ" dirty="0" err="1"/>
              <a:t>vytvari</a:t>
            </a:r>
            <a:r>
              <a:rPr lang="cs-CZ" dirty="0"/>
              <a:t> tak </a:t>
            </a:r>
            <a:r>
              <a:rPr lang="cs-CZ" dirty="0" err="1"/>
              <a:t>zakladni</a:t>
            </a:r>
            <a:r>
              <a:rPr lang="cs-CZ" dirty="0"/>
              <a:t> vztahy mezi tabulkami.</a:t>
            </a:r>
          </a:p>
          <a:p>
            <a:r>
              <a:rPr lang="cs-CZ" dirty="0" err="1"/>
              <a:t>Nasledujici</a:t>
            </a:r>
            <a:r>
              <a:rPr lang="cs-CZ" dirty="0"/>
              <a:t> tabulka obsahuje </a:t>
            </a:r>
            <a:r>
              <a:rPr lang="cs-CZ" dirty="0" err="1"/>
              <a:t>cizi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, </a:t>
            </a:r>
            <a:r>
              <a:rPr lang="cs-CZ" dirty="0" err="1"/>
              <a:t>ktery</a:t>
            </a:r>
            <a:r>
              <a:rPr lang="cs-CZ" dirty="0"/>
              <a:t> je </a:t>
            </a:r>
            <a:r>
              <a:rPr lang="cs-CZ" dirty="0" err="1"/>
              <a:t>primarnim</a:t>
            </a:r>
            <a:r>
              <a:rPr lang="cs-CZ" dirty="0"/>
              <a:t> </a:t>
            </a:r>
            <a:r>
              <a:rPr lang="cs-CZ" dirty="0" err="1"/>
              <a:t>klicem</a:t>
            </a:r>
            <a:r>
              <a:rPr lang="cs-CZ" dirty="0"/>
              <a:t> tabulky potomka a </a:t>
            </a:r>
            <a:r>
              <a:rPr lang="cs-CZ" dirty="0" err="1"/>
              <a:t>referencovany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 </a:t>
            </a:r>
            <a:r>
              <a:rPr lang="cs-CZ" dirty="0" err="1"/>
              <a:t>rodicovske</a:t>
            </a:r>
            <a:r>
              <a:rPr lang="cs-CZ" dirty="0"/>
              <a:t> tabulky.</a:t>
            </a:r>
          </a:p>
          <a:p>
            <a:endParaRPr lang="cs-CZ" dirty="0"/>
          </a:p>
        </p:txBody>
      </p:sp>
      <p:pic>
        <p:nvPicPr>
          <p:cNvPr id="4" name="Picture 298">
            <a:extLst>
              <a:ext uri="{FF2B5EF4-FFF2-40B4-BE49-F238E27FC236}">
                <a16:creationId xmlns:a16="http://schemas.microsoft.com/office/drawing/2014/main" id="{EBB87F82-7532-477A-BA46-2DF7DD479A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49034" y="3625919"/>
            <a:ext cx="5551627" cy="286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7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423237-20C4-49A4-B574-42D54AFD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CFD7D3B-2936-4BC9-A98C-0A036C0D8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 </a:t>
            </a:r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videt</a:t>
            </a:r>
            <a:r>
              <a:rPr lang="cs-CZ" dirty="0"/>
              <a:t>, sloupec </a:t>
            </a:r>
            <a:r>
              <a:rPr lang="cs-CZ" dirty="0" err="1"/>
              <a:t>department_id</a:t>
            </a:r>
            <a:r>
              <a:rPr lang="cs-CZ" dirty="0"/>
              <a:t> se objevuje v tabulce potomka jako </a:t>
            </a:r>
            <a:r>
              <a:rPr lang="cs-CZ" dirty="0" err="1"/>
              <a:t>cizi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.</a:t>
            </a:r>
          </a:p>
        </p:txBody>
      </p:sp>
      <p:pic>
        <p:nvPicPr>
          <p:cNvPr id="4" name="Picture 299">
            <a:extLst>
              <a:ext uri="{FF2B5EF4-FFF2-40B4-BE49-F238E27FC236}">
                <a16:creationId xmlns:a16="http://schemas.microsoft.com/office/drawing/2014/main" id="{E34E3842-3C77-4370-B2DD-747F381BB8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28875" y="2628899"/>
            <a:ext cx="4899577" cy="251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20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C01DEC-6E9A-46BD-BBD2-1C93DDEA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0E66D44-B25E-41A0-96FC-F00D345B7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Aby byla </a:t>
            </a:r>
            <a:r>
              <a:rPr lang="cs-CZ" dirty="0" err="1"/>
              <a:t>zachovana</a:t>
            </a:r>
            <a:r>
              <a:rPr lang="cs-CZ" dirty="0"/>
              <a:t> </a:t>
            </a:r>
            <a:r>
              <a:rPr lang="cs-CZ" dirty="0" err="1"/>
              <a:t>referencni</a:t>
            </a:r>
            <a:r>
              <a:rPr lang="cs-CZ" dirty="0"/>
              <a:t> integrita, </a:t>
            </a:r>
            <a:r>
              <a:rPr lang="cs-CZ" dirty="0" err="1"/>
              <a:t>cizi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 </a:t>
            </a:r>
            <a:r>
              <a:rPr lang="cs-CZ" dirty="0" err="1"/>
              <a:t>musi</a:t>
            </a:r>
            <a:r>
              <a:rPr lang="cs-CZ" dirty="0"/>
              <a:t> </a:t>
            </a:r>
            <a:r>
              <a:rPr lang="cs-CZ" dirty="0" err="1"/>
              <a:t>vzdy</a:t>
            </a:r>
            <a:r>
              <a:rPr lang="cs-CZ" dirty="0"/>
              <a:t> obsahovat </a:t>
            </a:r>
            <a:r>
              <a:rPr lang="cs-CZ" dirty="0" err="1"/>
              <a:t>existujici</a:t>
            </a:r>
            <a:r>
              <a:rPr lang="cs-CZ" dirty="0"/>
              <a:t> hodnoty </a:t>
            </a:r>
            <a:r>
              <a:rPr lang="cs-CZ" dirty="0" err="1"/>
              <a:t>rodicovske</a:t>
            </a:r>
            <a:r>
              <a:rPr lang="cs-CZ" dirty="0"/>
              <a:t> tabulky nebo hodnoty </a:t>
            </a:r>
            <a:r>
              <a:rPr lang="cs-CZ" dirty="0" err="1"/>
              <a:t>null</a:t>
            </a:r>
            <a:r>
              <a:rPr lang="cs-CZ" dirty="0"/>
              <a:t>. </a:t>
            </a:r>
            <a:r>
              <a:rPr lang="cs-CZ" dirty="0" err="1"/>
              <a:t>Primarni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 </a:t>
            </a:r>
            <a:r>
              <a:rPr lang="cs-CZ" dirty="0" err="1"/>
              <a:t>smi</a:t>
            </a:r>
            <a:r>
              <a:rPr lang="cs-CZ" dirty="0"/>
              <a:t> existovat bez existence </a:t>
            </a:r>
            <a:r>
              <a:rPr lang="cs-CZ" dirty="0" err="1"/>
              <a:t>odpovidajiciho</a:t>
            </a:r>
            <a:r>
              <a:rPr lang="cs-CZ" dirty="0"/>
              <a:t> </a:t>
            </a:r>
            <a:r>
              <a:rPr lang="cs-CZ" dirty="0" err="1"/>
              <a:t>ciziho</a:t>
            </a:r>
            <a:r>
              <a:rPr lang="cs-CZ" dirty="0"/>
              <a:t> klice, </a:t>
            </a:r>
            <a:r>
              <a:rPr lang="cs-CZ" dirty="0" err="1"/>
              <a:t>nicmene</a:t>
            </a:r>
            <a:r>
              <a:rPr lang="cs-CZ" dirty="0"/>
              <a:t> </a:t>
            </a:r>
            <a:r>
              <a:rPr lang="cs-CZ" dirty="0" err="1"/>
              <a:t>cizi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 </a:t>
            </a:r>
            <a:r>
              <a:rPr lang="cs-CZ" dirty="0" err="1"/>
              <a:t>musi</a:t>
            </a:r>
            <a:r>
              <a:rPr lang="cs-CZ" dirty="0"/>
              <a:t> </a:t>
            </a:r>
            <a:r>
              <a:rPr lang="cs-CZ" dirty="0" err="1"/>
              <a:t>mit</a:t>
            </a:r>
            <a:r>
              <a:rPr lang="cs-CZ" dirty="0"/>
              <a:t> </a:t>
            </a:r>
            <a:r>
              <a:rPr lang="cs-CZ" dirty="0" err="1"/>
              <a:t>odpovidajici</a:t>
            </a:r>
            <a:r>
              <a:rPr lang="cs-CZ" dirty="0"/>
              <a:t> </a:t>
            </a:r>
            <a:r>
              <a:rPr lang="cs-CZ" dirty="0" err="1"/>
              <a:t>primarni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. </a:t>
            </a:r>
            <a:r>
              <a:rPr lang="cs-CZ" b="1" dirty="0"/>
              <a:t>NEJPRVE MUSITE MIT DEFINOVANY PRIMARNI KLIC PREDTIM NEZ VYTVORITE CIZI KLIC V TABULCE POTOMKA. </a:t>
            </a:r>
          </a:p>
        </p:txBody>
      </p:sp>
    </p:spTree>
    <p:extLst>
      <p:ext uri="{BB962C8B-B14F-4D97-AF65-F5344CB8AC3E}">
        <p14:creationId xmlns:p14="http://schemas.microsoft.com/office/powerpoint/2010/main" val="1958847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7AF3B8-3326-4F1B-93B2-EFC63509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74935C1-3314-437A-9933-64F3E71A8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300">
            <a:extLst>
              <a:ext uri="{FF2B5EF4-FFF2-40B4-BE49-F238E27FC236}">
                <a16:creationId xmlns:a16="http://schemas.microsoft.com/office/drawing/2014/main" id="{8731F8CF-2DCD-4F3D-B35C-3463661AEF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8584096" cy="368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11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89AD9C-9C52-4473-A7EC-67EE3108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3B13C03-AF7D-4BA4-9E60-2081F711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</a:t>
            </a:r>
            <a:r>
              <a:rPr lang="cs-CZ" dirty="0" err="1"/>
              <a:t>pojmenovani</a:t>
            </a:r>
            <a:r>
              <a:rPr lang="cs-CZ" dirty="0"/>
              <a:t> je </a:t>
            </a:r>
            <a:r>
              <a:rPr lang="cs-CZ" dirty="0" err="1"/>
              <a:t>vhodne</a:t>
            </a:r>
            <a:r>
              <a:rPr lang="cs-CZ" dirty="0"/>
              <a:t> </a:t>
            </a:r>
            <a:r>
              <a:rPr lang="cs-CZ" dirty="0" err="1"/>
              <a:t>pouzivat</a:t>
            </a:r>
            <a:r>
              <a:rPr lang="cs-CZ" dirty="0"/>
              <a:t> </a:t>
            </a:r>
            <a:r>
              <a:rPr lang="cs-CZ" dirty="0" err="1"/>
              <a:t>suffix</a:t>
            </a:r>
            <a:r>
              <a:rPr lang="cs-CZ" dirty="0"/>
              <a:t> _</a:t>
            </a:r>
            <a:r>
              <a:rPr lang="cs-CZ" dirty="0" err="1"/>
              <a:t>fk</a:t>
            </a:r>
            <a:r>
              <a:rPr lang="cs-CZ" dirty="0"/>
              <a:t>. Lze ho </a:t>
            </a:r>
            <a:r>
              <a:rPr lang="cs-CZ" dirty="0" err="1"/>
              <a:t>psat</a:t>
            </a:r>
            <a:r>
              <a:rPr lang="cs-CZ" dirty="0"/>
              <a:t> na </a:t>
            </a:r>
            <a:r>
              <a:rPr lang="cs-CZ" dirty="0" err="1"/>
              <a:t>urovni</a:t>
            </a:r>
            <a:r>
              <a:rPr lang="cs-CZ" dirty="0"/>
              <a:t> sloupce i tabulky, jak ukazuji </a:t>
            </a:r>
            <a:r>
              <a:rPr lang="cs-CZ" dirty="0" err="1"/>
              <a:t>nasledujici</a:t>
            </a:r>
            <a:r>
              <a:rPr lang="cs-CZ" dirty="0"/>
              <a:t> </a:t>
            </a:r>
            <a:r>
              <a:rPr lang="cs-CZ" dirty="0" err="1"/>
              <a:t>priklady</a:t>
            </a:r>
            <a:r>
              <a:rPr lang="cs-CZ" dirty="0"/>
              <a:t>.</a:t>
            </a:r>
          </a:p>
        </p:txBody>
      </p:sp>
      <p:pic>
        <p:nvPicPr>
          <p:cNvPr id="4" name="Picture 301">
            <a:extLst>
              <a:ext uri="{FF2B5EF4-FFF2-40B4-BE49-F238E27FC236}">
                <a16:creationId xmlns:a16="http://schemas.microsoft.com/office/drawing/2014/main" id="{B731D901-8BFD-4245-951B-9D22CCDF88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868888"/>
            <a:ext cx="5496339" cy="1570590"/>
          </a:xfrm>
          <a:prstGeom prst="rect">
            <a:avLst/>
          </a:prstGeom>
        </p:spPr>
      </p:pic>
      <p:pic>
        <p:nvPicPr>
          <p:cNvPr id="5" name="Picture 302">
            <a:extLst>
              <a:ext uri="{FF2B5EF4-FFF2-40B4-BE49-F238E27FC236}">
                <a16:creationId xmlns:a16="http://schemas.microsoft.com/office/drawing/2014/main" id="{A23DB427-7E0A-44DD-B6F7-885CCC8A8A4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60003" y="4317620"/>
            <a:ext cx="6034501" cy="199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2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899A6C-B613-4040-B8CE-CC6740BF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ON DELETE CASCADE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D2E2FEF-699F-4364-94A8-7826069A4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Tato moznost </a:t>
            </a:r>
            <a:r>
              <a:rPr lang="cs-CZ" dirty="0" err="1"/>
              <a:t>nam</a:t>
            </a:r>
            <a:r>
              <a:rPr lang="cs-CZ" dirty="0"/>
              <a:t> </a:t>
            </a:r>
            <a:r>
              <a:rPr lang="cs-CZ" dirty="0" err="1"/>
              <a:t>hlida</a:t>
            </a:r>
            <a:r>
              <a:rPr lang="cs-CZ" dirty="0"/>
              <a:t>, ze pokud je </a:t>
            </a:r>
            <a:r>
              <a:rPr lang="cs-CZ" dirty="0" err="1"/>
              <a:t>definovan</a:t>
            </a:r>
            <a:r>
              <a:rPr lang="cs-CZ" dirty="0"/>
              <a:t> </a:t>
            </a:r>
            <a:r>
              <a:rPr lang="cs-CZ" dirty="0" err="1"/>
              <a:t>cizi</a:t>
            </a:r>
            <a:r>
              <a:rPr lang="cs-CZ" dirty="0"/>
              <a:t> </a:t>
            </a:r>
            <a:r>
              <a:rPr lang="cs-CZ" dirty="0" err="1"/>
              <a:t>klic</a:t>
            </a:r>
            <a:r>
              <a:rPr lang="cs-CZ" dirty="0"/>
              <a:t>, potom pokud </a:t>
            </a:r>
            <a:r>
              <a:rPr lang="cs-CZ" dirty="0" err="1"/>
              <a:t>smazeme</a:t>
            </a:r>
            <a:r>
              <a:rPr lang="cs-CZ" dirty="0"/>
              <a:t> v tabulce </a:t>
            </a:r>
            <a:r>
              <a:rPr lang="cs-CZ" dirty="0" err="1"/>
              <a:t>rodice</a:t>
            </a:r>
            <a:r>
              <a:rPr lang="cs-CZ" dirty="0"/>
              <a:t> </a:t>
            </a:r>
            <a:r>
              <a:rPr lang="cs-CZ" dirty="0" err="1"/>
              <a:t>zaznam</a:t>
            </a:r>
            <a:r>
              <a:rPr lang="cs-CZ" dirty="0"/>
              <a:t>, jsou </a:t>
            </a:r>
            <a:r>
              <a:rPr lang="cs-CZ" dirty="0" err="1"/>
              <a:t>odstraneny</a:t>
            </a:r>
            <a:r>
              <a:rPr lang="cs-CZ" dirty="0"/>
              <a:t> </a:t>
            </a:r>
            <a:r>
              <a:rPr lang="cs-CZ" dirty="0" err="1"/>
              <a:t>take</a:t>
            </a:r>
            <a:r>
              <a:rPr lang="cs-CZ" dirty="0"/>
              <a:t> </a:t>
            </a:r>
            <a:r>
              <a:rPr lang="cs-CZ" dirty="0" err="1"/>
              <a:t>vsechny</a:t>
            </a:r>
            <a:r>
              <a:rPr lang="cs-CZ" dirty="0"/>
              <a:t> </a:t>
            </a:r>
            <a:r>
              <a:rPr lang="cs-CZ" dirty="0" err="1"/>
              <a:t>zaznamy</a:t>
            </a:r>
            <a:r>
              <a:rPr lang="cs-CZ" dirty="0"/>
              <a:t> v tabulce potomka.</a:t>
            </a:r>
          </a:p>
          <a:p>
            <a:r>
              <a:rPr lang="cs-CZ" dirty="0"/>
              <a:t>Pokud </a:t>
            </a:r>
            <a:r>
              <a:rPr lang="cs-CZ" dirty="0" err="1"/>
              <a:t>neni</a:t>
            </a:r>
            <a:r>
              <a:rPr lang="cs-CZ" dirty="0"/>
              <a:t> tato moznost zapnuta, </a:t>
            </a:r>
            <a:r>
              <a:rPr lang="cs-CZ" dirty="0" err="1"/>
              <a:t>odkazovane</a:t>
            </a:r>
            <a:r>
              <a:rPr lang="cs-CZ" dirty="0"/>
              <a:t> </a:t>
            </a:r>
            <a:r>
              <a:rPr lang="cs-CZ" dirty="0" err="1"/>
              <a:t>radky</a:t>
            </a:r>
            <a:r>
              <a:rPr lang="cs-CZ" dirty="0"/>
              <a:t> v tabulce potomka, </a:t>
            </a:r>
            <a:r>
              <a:rPr lang="cs-CZ" dirty="0" err="1"/>
              <a:t>rodicovska</a:t>
            </a:r>
            <a:r>
              <a:rPr lang="cs-CZ" dirty="0"/>
              <a:t> tabulka </a:t>
            </a:r>
            <a:r>
              <a:rPr lang="cs-CZ" dirty="0" err="1"/>
              <a:t>nemuze</a:t>
            </a:r>
            <a:r>
              <a:rPr lang="cs-CZ" dirty="0"/>
              <a:t> odstranit </a:t>
            </a:r>
            <a:r>
              <a:rPr lang="cs-CZ" dirty="0" err="1"/>
              <a:t>zaznam</a:t>
            </a:r>
            <a:r>
              <a:rPr lang="cs-CZ" dirty="0"/>
              <a:t>.</a:t>
            </a:r>
          </a:p>
        </p:txBody>
      </p:sp>
      <p:pic>
        <p:nvPicPr>
          <p:cNvPr id="4" name="Picture 303">
            <a:extLst>
              <a:ext uri="{FF2B5EF4-FFF2-40B4-BE49-F238E27FC236}">
                <a16:creationId xmlns:a16="http://schemas.microsoft.com/office/drawing/2014/main" id="{F819EFA3-84EE-4D0A-892C-0518E191BB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23967" y="4001293"/>
            <a:ext cx="4788798" cy="261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38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D07EAE-F3FF-4521-8BC2-5E073725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6EE3AB6-58BB-46A4-85A1-2AD61EB39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Pokud je tabulka </a:t>
            </a:r>
            <a:r>
              <a:rPr lang="cs-CZ" dirty="0" err="1"/>
              <a:t>vytvorena</a:t>
            </a:r>
            <a:r>
              <a:rPr lang="cs-CZ" dirty="0"/>
              <a:t> bez on </a:t>
            </a:r>
            <a:r>
              <a:rPr lang="cs-CZ" dirty="0" err="1"/>
              <a:t>delete</a:t>
            </a:r>
            <a:r>
              <a:rPr lang="cs-CZ" dirty="0"/>
              <a:t> </a:t>
            </a:r>
            <a:r>
              <a:rPr lang="cs-CZ" dirty="0" err="1"/>
              <a:t>cascade</a:t>
            </a:r>
            <a:r>
              <a:rPr lang="cs-CZ" dirty="0"/>
              <a:t>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Potom chcete-li vymazat </a:t>
            </a:r>
            <a:r>
              <a:rPr lang="cs-CZ" dirty="0" err="1"/>
              <a:t>oddeleni</a:t>
            </a:r>
            <a:r>
              <a:rPr lang="cs-CZ" dirty="0"/>
              <a:t> </a:t>
            </a:r>
            <a:r>
              <a:rPr lang="cs-CZ" dirty="0" err="1"/>
              <a:t>cislo</a:t>
            </a:r>
            <a:r>
              <a:rPr lang="cs-CZ" dirty="0"/>
              <a:t> 110 z tabulky </a:t>
            </a:r>
            <a:r>
              <a:rPr lang="cs-CZ" dirty="0" err="1"/>
              <a:t>departments</a:t>
            </a:r>
            <a:r>
              <a:rPr lang="cs-CZ" dirty="0"/>
              <a:t>, </a:t>
            </a:r>
            <a:r>
              <a:rPr lang="cs-CZ" dirty="0" err="1"/>
              <a:t>skonci</a:t>
            </a:r>
            <a:r>
              <a:rPr lang="cs-CZ" dirty="0"/>
              <a:t> to chybou, </a:t>
            </a:r>
            <a:r>
              <a:rPr lang="cs-CZ" dirty="0" err="1"/>
              <a:t>protoze</a:t>
            </a:r>
            <a:r>
              <a:rPr lang="cs-CZ" dirty="0"/>
              <a:t> jsou tu </a:t>
            </a:r>
            <a:r>
              <a:rPr lang="cs-CZ" dirty="0" err="1"/>
              <a:t>zavisle</a:t>
            </a:r>
            <a:r>
              <a:rPr lang="cs-CZ" dirty="0"/>
              <a:t> </a:t>
            </a:r>
            <a:r>
              <a:rPr lang="cs-CZ" dirty="0" err="1"/>
              <a:t>radky</a:t>
            </a:r>
            <a:r>
              <a:rPr lang="cs-CZ" dirty="0"/>
              <a:t> v tabulce </a:t>
            </a:r>
            <a:r>
              <a:rPr lang="cs-CZ" dirty="0" err="1"/>
              <a:t>employee</a:t>
            </a:r>
            <a:r>
              <a:rPr lang="cs-CZ" dirty="0"/>
              <a:t>.</a:t>
            </a:r>
          </a:p>
        </p:txBody>
      </p:sp>
      <p:pic>
        <p:nvPicPr>
          <p:cNvPr id="4" name="Picture 304">
            <a:extLst>
              <a:ext uri="{FF2B5EF4-FFF2-40B4-BE49-F238E27FC236}">
                <a16:creationId xmlns:a16="http://schemas.microsoft.com/office/drawing/2014/main" id="{32E9D9C1-9EAF-4D2E-AFAF-4C6A2E0102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09850" y="2285379"/>
            <a:ext cx="5473976" cy="1769786"/>
          </a:xfrm>
          <a:prstGeom prst="rect">
            <a:avLst/>
          </a:prstGeom>
        </p:spPr>
      </p:pic>
      <p:pic>
        <p:nvPicPr>
          <p:cNvPr id="5" name="Picture 305">
            <a:extLst>
              <a:ext uri="{FF2B5EF4-FFF2-40B4-BE49-F238E27FC236}">
                <a16:creationId xmlns:a16="http://schemas.microsoft.com/office/drawing/2014/main" id="{2EC03EDB-9CF7-446F-BDF9-AB117EC8855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09850" y="5499859"/>
            <a:ext cx="5169176" cy="67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01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3C1777-A2D0-463E-B348-6AC6E829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7235D77-18C8-47E1-AB2A-E76ED905B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Pokud je tabulka </a:t>
            </a:r>
            <a:r>
              <a:rPr lang="cs-CZ" dirty="0" err="1"/>
              <a:t>vytvorena</a:t>
            </a:r>
            <a:r>
              <a:rPr lang="cs-CZ" dirty="0"/>
              <a:t> s </a:t>
            </a:r>
            <a:r>
              <a:rPr lang="cs-CZ" dirty="0" err="1"/>
              <a:t>delete</a:t>
            </a:r>
            <a:r>
              <a:rPr lang="cs-CZ" dirty="0"/>
              <a:t> on </a:t>
            </a:r>
            <a:r>
              <a:rPr lang="cs-CZ" dirty="0" err="1"/>
              <a:t>cascade</a:t>
            </a:r>
            <a:r>
              <a:rPr lang="cs-CZ" dirty="0"/>
              <a:t>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Potom k </a:t>
            </a:r>
            <a:r>
              <a:rPr lang="cs-CZ" dirty="0" err="1"/>
              <a:t>odstraneni</a:t>
            </a:r>
            <a:r>
              <a:rPr lang="cs-CZ" dirty="0"/>
              <a:t> dojde.</a:t>
            </a:r>
          </a:p>
        </p:txBody>
      </p:sp>
      <p:pic>
        <p:nvPicPr>
          <p:cNvPr id="4" name="Picture 306">
            <a:extLst>
              <a:ext uri="{FF2B5EF4-FFF2-40B4-BE49-F238E27FC236}">
                <a16:creationId xmlns:a16="http://schemas.microsoft.com/office/drawing/2014/main" id="{06D615A0-45F2-4DBA-AC8B-FBA342530D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93040" y="2342115"/>
            <a:ext cx="5340211" cy="1805815"/>
          </a:xfrm>
          <a:prstGeom prst="rect">
            <a:avLst/>
          </a:prstGeom>
        </p:spPr>
      </p:pic>
      <p:pic>
        <p:nvPicPr>
          <p:cNvPr id="5" name="Picture 307">
            <a:extLst>
              <a:ext uri="{FF2B5EF4-FFF2-40B4-BE49-F238E27FC236}">
                <a16:creationId xmlns:a16="http://schemas.microsoft.com/office/drawing/2014/main" id="{868D79D4-A546-44D1-8AE4-2520C3F85D7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40470" y="5189261"/>
            <a:ext cx="2277303" cy="6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93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A10007-0DBA-4E63-9B43-B9190CAD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ON DELETE SET NULL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6B09725-9BB2-492A-B472-0D0A8130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Radeji</a:t>
            </a:r>
            <a:r>
              <a:rPr lang="cs-CZ" dirty="0"/>
              <a:t> </a:t>
            </a:r>
            <a:r>
              <a:rPr lang="cs-CZ" dirty="0" err="1"/>
              <a:t>nez</a:t>
            </a:r>
            <a:r>
              <a:rPr lang="cs-CZ" dirty="0"/>
              <a:t> </a:t>
            </a:r>
            <a:r>
              <a:rPr lang="cs-CZ" dirty="0" err="1"/>
              <a:t>vymazani</a:t>
            </a:r>
            <a:r>
              <a:rPr lang="cs-CZ" dirty="0"/>
              <a:t> </a:t>
            </a:r>
            <a:r>
              <a:rPr lang="cs-CZ" dirty="0" err="1"/>
              <a:t>radku</a:t>
            </a:r>
            <a:r>
              <a:rPr lang="cs-CZ" dirty="0"/>
              <a:t> v tabulce potomka je </a:t>
            </a:r>
            <a:r>
              <a:rPr lang="cs-CZ" dirty="0" err="1"/>
              <a:t>lepsi</a:t>
            </a:r>
            <a:r>
              <a:rPr lang="cs-CZ" dirty="0"/>
              <a:t> nastavit tyto hodnoty na </a:t>
            </a:r>
            <a:r>
              <a:rPr lang="cs-CZ" dirty="0" err="1"/>
              <a:t>null</a:t>
            </a:r>
            <a:r>
              <a:rPr lang="cs-CZ" dirty="0"/>
              <a:t>. Tohle </a:t>
            </a:r>
            <a:r>
              <a:rPr lang="cs-CZ" dirty="0" err="1"/>
              <a:t>muze</a:t>
            </a:r>
            <a:r>
              <a:rPr lang="cs-CZ" dirty="0"/>
              <a:t> byt </a:t>
            </a:r>
            <a:r>
              <a:rPr lang="cs-CZ" dirty="0" err="1"/>
              <a:t>uzitecne</a:t>
            </a:r>
            <a:r>
              <a:rPr lang="cs-CZ" dirty="0"/>
              <a:t> </a:t>
            </a:r>
            <a:r>
              <a:rPr lang="cs-CZ" dirty="0" err="1"/>
              <a:t>kdyz</a:t>
            </a:r>
            <a:r>
              <a:rPr lang="cs-CZ" dirty="0"/>
              <a:t> se v </a:t>
            </a:r>
            <a:r>
              <a:rPr lang="cs-CZ" dirty="0" err="1"/>
              <a:t>rodicovske</a:t>
            </a:r>
            <a:r>
              <a:rPr lang="cs-CZ" dirty="0"/>
              <a:t> tabulce </a:t>
            </a:r>
            <a:r>
              <a:rPr lang="cs-CZ" dirty="0" err="1"/>
              <a:t>zmeni</a:t>
            </a:r>
            <a:r>
              <a:rPr lang="cs-CZ" dirty="0"/>
              <a:t> hodnota na nove </a:t>
            </a:r>
            <a:r>
              <a:rPr lang="cs-CZ" dirty="0" err="1"/>
              <a:t>cislo</a:t>
            </a:r>
            <a:r>
              <a:rPr lang="cs-CZ" dirty="0"/>
              <a:t>, </a:t>
            </a:r>
            <a:r>
              <a:rPr lang="cs-CZ" dirty="0" err="1"/>
              <a:t>napriklad</a:t>
            </a:r>
            <a:r>
              <a:rPr lang="cs-CZ" dirty="0"/>
              <a:t> se </a:t>
            </a:r>
            <a:r>
              <a:rPr lang="cs-CZ" dirty="0" err="1"/>
              <a:t>zacne</a:t>
            </a:r>
            <a:r>
              <a:rPr lang="cs-CZ" dirty="0"/>
              <a:t> </a:t>
            </a:r>
            <a:r>
              <a:rPr lang="cs-CZ" dirty="0" err="1"/>
              <a:t>pouzivat</a:t>
            </a:r>
            <a:r>
              <a:rPr lang="cs-CZ" dirty="0"/>
              <a:t> jiny </a:t>
            </a:r>
            <a:r>
              <a:rPr lang="cs-CZ" dirty="0" err="1"/>
              <a:t>kod</a:t>
            </a:r>
            <a:r>
              <a:rPr lang="cs-CZ" dirty="0"/>
              <a:t> pro produkt. Asi nechcete odstranit </a:t>
            </a:r>
            <a:r>
              <a:rPr lang="cs-CZ" dirty="0" err="1"/>
              <a:t>vsechny</a:t>
            </a:r>
            <a:r>
              <a:rPr lang="cs-CZ" dirty="0"/>
              <a:t> </a:t>
            </a:r>
            <a:r>
              <a:rPr lang="cs-CZ" dirty="0" err="1"/>
              <a:t>zaznamy</a:t>
            </a:r>
            <a:r>
              <a:rPr lang="cs-CZ" dirty="0"/>
              <a:t> v tabulce potomka. </a:t>
            </a:r>
          </a:p>
        </p:txBody>
      </p:sp>
      <p:pic>
        <p:nvPicPr>
          <p:cNvPr id="4" name="Picture 308">
            <a:extLst>
              <a:ext uri="{FF2B5EF4-FFF2-40B4-BE49-F238E27FC236}">
                <a16:creationId xmlns:a16="http://schemas.microsoft.com/office/drawing/2014/main" id="{2D96FFCD-3D92-4C8C-8B8A-F8B751995F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91628" y="3701291"/>
            <a:ext cx="6406598" cy="226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97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9D10A0-6D49-41F0-BB76-3C02B608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CHECK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1CDDBCB-EDF7-40B5-8A16-ECCBFAFAF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Toto omezeni </a:t>
            </a:r>
            <a:r>
              <a:rPr lang="cs-CZ" dirty="0" err="1"/>
              <a:t>explicitne</a:t>
            </a:r>
            <a:r>
              <a:rPr lang="cs-CZ" dirty="0"/>
              <a:t> definuje </a:t>
            </a:r>
            <a:r>
              <a:rPr lang="cs-CZ" dirty="0" err="1"/>
              <a:t>podminky</a:t>
            </a:r>
            <a:r>
              <a:rPr lang="cs-CZ" dirty="0"/>
              <a:t>, </a:t>
            </a:r>
            <a:r>
              <a:rPr lang="cs-CZ" dirty="0" err="1"/>
              <a:t>ktere</a:t>
            </a:r>
            <a:r>
              <a:rPr lang="cs-CZ" dirty="0"/>
              <a:t> </a:t>
            </a:r>
            <a:r>
              <a:rPr lang="cs-CZ" dirty="0" err="1"/>
              <a:t>musi</a:t>
            </a:r>
            <a:r>
              <a:rPr lang="cs-CZ" dirty="0"/>
              <a:t> byt </a:t>
            </a:r>
            <a:r>
              <a:rPr lang="cs-CZ" dirty="0" err="1"/>
              <a:t>splneny</a:t>
            </a:r>
            <a:r>
              <a:rPr lang="cs-CZ" dirty="0"/>
              <a:t>. Pro </a:t>
            </a:r>
            <a:r>
              <a:rPr lang="cs-CZ" dirty="0" err="1"/>
              <a:t>splneni</a:t>
            </a:r>
            <a:r>
              <a:rPr lang="cs-CZ" dirty="0"/>
              <a:t> omezeni, </a:t>
            </a:r>
            <a:r>
              <a:rPr lang="cs-CZ" dirty="0" err="1"/>
              <a:t>kazdy</a:t>
            </a:r>
            <a:r>
              <a:rPr lang="cs-CZ" dirty="0"/>
              <a:t> </a:t>
            </a:r>
            <a:r>
              <a:rPr lang="cs-CZ" dirty="0" err="1"/>
              <a:t>radek</a:t>
            </a:r>
            <a:r>
              <a:rPr lang="cs-CZ" dirty="0"/>
              <a:t> v tabulce </a:t>
            </a:r>
            <a:r>
              <a:rPr lang="cs-CZ" dirty="0" err="1"/>
              <a:t>musi</a:t>
            </a:r>
            <a:r>
              <a:rPr lang="cs-CZ" dirty="0"/>
              <a:t> </a:t>
            </a:r>
            <a:r>
              <a:rPr lang="cs-CZ" dirty="0" err="1"/>
              <a:t>podminku</a:t>
            </a:r>
            <a:r>
              <a:rPr lang="cs-CZ" dirty="0"/>
              <a:t> splnit na </a:t>
            </a:r>
            <a:r>
              <a:rPr lang="cs-CZ" dirty="0" err="1"/>
              <a:t>true</a:t>
            </a:r>
            <a:r>
              <a:rPr lang="cs-CZ" dirty="0"/>
              <a:t> nebo na </a:t>
            </a:r>
            <a:r>
              <a:rPr lang="cs-CZ" dirty="0" err="1"/>
              <a:t>nezname</a:t>
            </a:r>
            <a:r>
              <a:rPr lang="cs-CZ" dirty="0"/>
              <a:t> (pokud obsahuje </a:t>
            </a:r>
            <a:r>
              <a:rPr lang="cs-CZ" dirty="0" err="1"/>
              <a:t>null</a:t>
            </a:r>
            <a:r>
              <a:rPr lang="cs-CZ" dirty="0"/>
              <a:t>). </a:t>
            </a:r>
            <a:r>
              <a:rPr lang="cs-CZ" dirty="0" err="1"/>
              <a:t>Podminka</a:t>
            </a:r>
            <a:r>
              <a:rPr lang="cs-CZ" dirty="0"/>
              <a:t> </a:t>
            </a:r>
            <a:r>
              <a:rPr lang="cs-CZ" dirty="0" err="1"/>
              <a:t>check</a:t>
            </a:r>
            <a:r>
              <a:rPr lang="cs-CZ" dirty="0"/>
              <a:t> </a:t>
            </a:r>
            <a:r>
              <a:rPr lang="cs-CZ" dirty="0" err="1"/>
              <a:t>muze</a:t>
            </a:r>
            <a:r>
              <a:rPr lang="cs-CZ" dirty="0"/>
              <a:t> odkazovat na </a:t>
            </a:r>
            <a:r>
              <a:rPr lang="cs-CZ" dirty="0" err="1"/>
              <a:t>libovolny</a:t>
            </a:r>
            <a:r>
              <a:rPr lang="cs-CZ" dirty="0"/>
              <a:t> sloupec ve </a:t>
            </a:r>
            <a:r>
              <a:rPr lang="cs-CZ" dirty="0" err="1"/>
              <a:t>specificke</a:t>
            </a:r>
            <a:r>
              <a:rPr lang="cs-CZ" dirty="0"/>
              <a:t> tabulce, ale ne na </a:t>
            </a:r>
            <a:r>
              <a:rPr lang="cs-CZ" dirty="0" err="1"/>
              <a:t>zadny</a:t>
            </a:r>
            <a:r>
              <a:rPr lang="cs-CZ" dirty="0"/>
              <a:t> sloupec v jine tabulce. Pokud </a:t>
            </a:r>
            <a:r>
              <a:rPr lang="cs-CZ" dirty="0" err="1"/>
              <a:t>podminka</a:t>
            </a:r>
            <a:r>
              <a:rPr lang="cs-CZ" dirty="0"/>
              <a:t> pracuje s vice sloupci v tabulce, </a:t>
            </a:r>
            <a:r>
              <a:rPr lang="cs-CZ" dirty="0" err="1"/>
              <a:t>musi</a:t>
            </a:r>
            <a:r>
              <a:rPr lang="cs-CZ" dirty="0"/>
              <a:t> byt </a:t>
            </a:r>
            <a:r>
              <a:rPr lang="cs-CZ" dirty="0" err="1"/>
              <a:t>definovana</a:t>
            </a:r>
            <a:r>
              <a:rPr lang="cs-CZ" dirty="0"/>
              <a:t> na </a:t>
            </a:r>
            <a:r>
              <a:rPr lang="cs-CZ" dirty="0" err="1"/>
              <a:t>urovni</a:t>
            </a:r>
            <a:r>
              <a:rPr lang="cs-CZ" dirty="0"/>
              <a:t> tabulky.</a:t>
            </a:r>
          </a:p>
        </p:txBody>
      </p:sp>
    </p:spTree>
    <p:extLst>
      <p:ext uri="{BB962C8B-B14F-4D97-AF65-F5344CB8AC3E}">
        <p14:creationId xmlns:p14="http://schemas.microsoft.com/office/powerpoint/2010/main" val="2138240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F63D14-1561-4BB4-92C0-806162F5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8AEAACE-D8F3-4C52-A6F2-A76C29C5D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309">
            <a:extLst>
              <a:ext uri="{FF2B5EF4-FFF2-40B4-BE49-F238E27FC236}">
                <a16:creationId xmlns:a16="http://schemas.microsoft.com/office/drawing/2014/main" id="{66822E4B-53CD-45EB-9AF0-5BC6E97032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6811" y="1436825"/>
            <a:ext cx="5545206" cy="1796705"/>
          </a:xfrm>
          <a:prstGeom prst="rect">
            <a:avLst/>
          </a:prstGeom>
        </p:spPr>
      </p:pic>
      <p:pic>
        <p:nvPicPr>
          <p:cNvPr id="5" name="Picture 310">
            <a:extLst>
              <a:ext uri="{FF2B5EF4-FFF2-40B4-BE49-F238E27FC236}">
                <a16:creationId xmlns:a16="http://schemas.microsoft.com/office/drawing/2014/main" id="{70F68564-C2D2-4F87-BACE-1D64F31A273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79529" y="3347934"/>
            <a:ext cx="5886036" cy="16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15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5DF854-46CF-4B0F-9548-3E87248B6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Správa omezení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A6C0C97-CAC3-48C5-B2BA-5C422F76E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Pro </a:t>
            </a:r>
            <a:r>
              <a:rPr lang="cs-CZ" dirty="0" err="1"/>
              <a:t>spravu</a:t>
            </a:r>
            <a:r>
              <a:rPr lang="cs-CZ" dirty="0"/>
              <a:t> se </a:t>
            </a:r>
            <a:r>
              <a:rPr lang="cs-CZ" dirty="0" err="1"/>
              <a:t>pouziva</a:t>
            </a:r>
            <a:r>
              <a:rPr lang="cs-CZ" dirty="0"/>
              <a:t> alter table, </a:t>
            </a:r>
            <a:r>
              <a:rPr lang="cs-CZ" dirty="0" err="1"/>
              <a:t>ktery</a:t>
            </a:r>
            <a:r>
              <a:rPr lang="cs-CZ" dirty="0"/>
              <a:t> </a:t>
            </a:r>
            <a:r>
              <a:rPr lang="cs-CZ" dirty="0" err="1"/>
              <a:t>muze</a:t>
            </a:r>
            <a:r>
              <a:rPr lang="cs-CZ" dirty="0"/>
              <a:t> </a:t>
            </a:r>
            <a:r>
              <a:rPr lang="cs-CZ" dirty="0" err="1"/>
              <a:t>menit</a:t>
            </a:r>
            <a:r>
              <a:rPr lang="cs-CZ" dirty="0"/>
              <a:t> omezeni na </a:t>
            </a:r>
            <a:r>
              <a:rPr lang="cs-CZ" dirty="0" err="1"/>
              <a:t>existujici</a:t>
            </a:r>
            <a:r>
              <a:rPr lang="cs-CZ" dirty="0"/>
              <a:t> tabulce. Tyto </a:t>
            </a:r>
            <a:r>
              <a:rPr lang="cs-CZ" dirty="0" err="1"/>
              <a:t>zmeny</a:t>
            </a:r>
            <a:r>
              <a:rPr lang="cs-CZ" dirty="0"/>
              <a:t> mohou zahrnovat </a:t>
            </a:r>
            <a:r>
              <a:rPr lang="cs-CZ" dirty="0" err="1"/>
              <a:t>pridani</a:t>
            </a:r>
            <a:r>
              <a:rPr lang="cs-CZ" dirty="0"/>
              <a:t> nebo </a:t>
            </a:r>
            <a:r>
              <a:rPr lang="cs-CZ" dirty="0" err="1"/>
              <a:t>odebirani</a:t>
            </a:r>
            <a:r>
              <a:rPr lang="cs-CZ" dirty="0"/>
              <a:t> omezeni, jejich zapnuti a vypnuti, </a:t>
            </a:r>
            <a:r>
              <a:rPr lang="cs-CZ" dirty="0" err="1"/>
              <a:t>pridavani</a:t>
            </a:r>
            <a:r>
              <a:rPr lang="cs-CZ" dirty="0"/>
              <a:t> not </a:t>
            </a:r>
            <a:r>
              <a:rPr lang="cs-CZ" dirty="0" err="1"/>
              <a:t>null</a:t>
            </a:r>
            <a:r>
              <a:rPr lang="cs-CZ" dirty="0"/>
              <a:t> omezeni do </a:t>
            </a:r>
            <a:r>
              <a:rPr lang="cs-CZ" dirty="0" err="1"/>
              <a:t>sloupcu</a:t>
            </a:r>
            <a:r>
              <a:rPr lang="cs-CZ" dirty="0"/>
              <a:t> apod.</a:t>
            </a:r>
          </a:p>
          <a:p>
            <a:r>
              <a:rPr lang="cs-CZ" dirty="0" err="1"/>
              <a:t>Navod</a:t>
            </a:r>
            <a:r>
              <a:rPr lang="cs-CZ" dirty="0"/>
              <a:t> na </a:t>
            </a:r>
            <a:r>
              <a:rPr lang="cs-CZ" dirty="0" err="1"/>
              <a:t>provadeni</a:t>
            </a:r>
            <a:r>
              <a:rPr lang="cs-CZ" dirty="0"/>
              <a:t> </a:t>
            </a:r>
            <a:r>
              <a:rPr lang="cs-CZ" dirty="0" err="1"/>
              <a:t>zmen</a:t>
            </a:r>
            <a:r>
              <a:rPr lang="cs-CZ" dirty="0"/>
              <a:t> v </a:t>
            </a:r>
            <a:r>
              <a:rPr lang="cs-CZ" dirty="0" err="1"/>
              <a:t>omezeneich</a:t>
            </a:r>
            <a:r>
              <a:rPr lang="cs-CZ" dirty="0"/>
              <a:t> jsou:</a:t>
            </a:r>
          </a:p>
          <a:p>
            <a:pPr lvl="1"/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pridavat</a:t>
            </a:r>
            <a:r>
              <a:rPr lang="cs-CZ" dirty="0"/>
              <a:t>, mazat, </a:t>
            </a:r>
            <a:r>
              <a:rPr lang="cs-CZ" dirty="0" err="1"/>
              <a:t>spouset</a:t>
            </a:r>
            <a:r>
              <a:rPr lang="cs-CZ" dirty="0"/>
              <a:t> nebo </a:t>
            </a:r>
            <a:r>
              <a:rPr lang="cs-CZ" dirty="0" err="1"/>
              <a:t>vypinat</a:t>
            </a:r>
            <a:r>
              <a:rPr lang="cs-CZ" dirty="0"/>
              <a:t> omezeni, ale </a:t>
            </a:r>
            <a:r>
              <a:rPr lang="cs-CZ" dirty="0" err="1"/>
              <a:t>nemuzete</a:t>
            </a:r>
            <a:r>
              <a:rPr lang="cs-CZ" dirty="0"/>
              <a:t> upravovat strukturu omezeni.</a:t>
            </a:r>
          </a:p>
          <a:p>
            <a:pPr lvl="1"/>
            <a:r>
              <a:rPr lang="cs-CZ" dirty="0" err="1"/>
              <a:t>Muete</a:t>
            </a:r>
            <a:r>
              <a:rPr lang="cs-CZ" dirty="0"/>
              <a:t> </a:t>
            </a:r>
            <a:r>
              <a:rPr lang="cs-CZ" dirty="0" err="1"/>
              <a:t>pridavat</a:t>
            </a:r>
            <a:r>
              <a:rPr lang="cs-CZ" dirty="0"/>
              <a:t> not </a:t>
            </a:r>
            <a:r>
              <a:rPr lang="cs-CZ" dirty="0" err="1"/>
              <a:t>null</a:t>
            </a:r>
            <a:r>
              <a:rPr lang="cs-CZ" dirty="0"/>
              <a:t> omezeni na </a:t>
            </a:r>
            <a:r>
              <a:rPr lang="cs-CZ" dirty="0" err="1"/>
              <a:t>existujici</a:t>
            </a:r>
            <a:r>
              <a:rPr lang="cs-CZ" dirty="0"/>
              <a:t> sloupec pomoci </a:t>
            </a:r>
            <a:r>
              <a:rPr lang="cs-CZ" dirty="0" err="1"/>
              <a:t>pouziti</a:t>
            </a:r>
            <a:r>
              <a:rPr lang="cs-CZ" dirty="0"/>
              <a:t> klauzule </a:t>
            </a:r>
            <a:r>
              <a:rPr lang="cs-CZ" dirty="0" err="1"/>
              <a:t>modify</a:t>
            </a:r>
            <a:r>
              <a:rPr lang="cs-CZ" dirty="0"/>
              <a:t> v alter table </a:t>
            </a:r>
            <a:r>
              <a:rPr lang="cs-CZ" dirty="0" err="1"/>
              <a:t>prikazu</a:t>
            </a:r>
            <a:endParaRPr lang="cs-CZ" dirty="0"/>
          </a:p>
          <a:p>
            <a:pPr lvl="1"/>
            <a:r>
              <a:rPr lang="cs-CZ" dirty="0" err="1"/>
              <a:t>Muzete</a:t>
            </a:r>
            <a:r>
              <a:rPr lang="cs-CZ" dirty="0"/>
              <a:t> definovat not </a:t>
            </a:r>
            <a:r>
              <a:rPr lang="cs-CZ" dirty="0" err="1"/>
              <a:t>null</a:t>
            </a:r>
            <a:r>
              <a:rPr lang="cs-CZ" dirty="0"/>
              <a:t> omezeni pouze pokud tabulka je </a:t>
            </a:r>
            <a:r>
              <a:rPr lang="cs-CZ" dirty="0" err="1"/>
              <a:t>prazdna</a:t>
            </a:r>
            <a:r>
              <a:rPr lang="cs-CZ" dirty="0"/>
              <a:t> nebo </a:t>
            </a:r>
            <a:r>
              <a:rPr lang="cs-CZ" dirty="0" err="1"/>
              <a:t>kazdy</a:t>
            </a:r>
            <a:r>
              <a:rPr lang="cs-CZ" dirty="0"/>
              <a:t> </a:t>
            </a:r>
            <a:r>
              <a:rPr lang="cs-CZ" dirty="0" err="1"/>
              <a:t>radek</a:t>
            </a:r>
            <a:r>
              <a:rPr lang="cs-CZ" dirty="0"/>
              <a:t> obsahuje hodnotu.</a:t>
            </a:r>
          </a:p>
          <a:p>
            <a:r>
              <a:rPr lang="cs-CZ" dirty="0" err="1"/>
              <a:t>Priklad</a:t>
            </a:r>
            <a:r>
              <a:rPr lang="cs-CZ" dirty="0"/>
              <a:t> </a:t>
            </a:r>
            <a:r>
              <a:rPr lang="cs-CZ" dirty="0" err="1"/>
              <a:t>prikazu</a:t>
            </a:r>
            <a:r>
              <a:rPr lang="cs-CZ" dirty="0"/>
              <a:t> alter table pro </a:t>
            </a:r>
            <a:r>
              <a:rPr lang="cs-CZ" dirty="0" err="1"/>
              <a:t>pridani</a:t>
            </a:r>
            <a:r>
              <a:rPr lang="cs-CZ" dirty="0"/>
              <a:t> omezeni.</a:t>
            </a:r>
          </a:p>
          <a:p>
            <a:endParaRPr lang="cs-CZ" dirty="0"/>
          </a:p>
        </p:txBody>
      </p:sp>
      <p:pic>
        <p:nvPicPr>
          <p:cNvPr id="4" name="Picture 311">
            <a:extLst>
              <a:ext uri="{FF2B5EF4-FFF2-40B4-BE49-F238E27FC236}">
                <a16:creationId xmlns:a16="http://schemas.microsoft.com/office/drawing/2014/main" id="{610A054A-100B-486D-B824-7711DFE2BA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28447" y="6102350"/>
            <a:ext cx="4655240" cy="62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76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CD194-43B0-42FF-AC40-C45D66A1C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Proc</a:t>
            </a:r>
            <a:r>
              <a:rPr lang="cs-CZ" dirty="0"/>
              <a:t> </a:t>
            </a:r>
            <a:r>
              <a:rPr lang="cs-CZ" dirty="0" err="1"/>
              <a:t>zneplatnovat</a:t>
            </a:r>
            <a:r>
              <a:rPr lang="cs-CZ" dirty="0"/>
              <a:t> omezeni?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4FC231A-25A1-45A9-A94D-4158B5B13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Napriklad</a:t>
            </a:r>
            <a:r>
              <a:rPr lang="cs-CZ" dirty="0"/>
              <a:t> </a:t>
            </a:r>
            <a:r>
              <a:rPr lang="cs-CZ" dirty="0" err="1"/>
              <a:t>pri</a:t>
            </a:r>
            <a:r>
              <a:rPr lang="cs-CZ" dirty="0"/>
              <a:t> </a:t>
            </a:r>
            <a:r>
              <a:rPr lang="cs-CZ" dirty="0" err="1"/>
              <a:t>situacich</a:t>
            </a:r>
            <a:r>
              <a:rPr lang="cs-CZ" dirty="0"/>
              <a:t>, kdy je </a:t>
            </a:r>
            <a:r>
              <a:rPr lang="cs-CZ" dirty="0" err="1"/>
              <a:t>nacitano</a:t>
            </a:r>
            <a:r>
              <a:rPr lang="cs-CZ" dirty="0"/>
              <a:t> do </a:t>
            </a:r>
            <a:r>
              <a:rPr lang="cs-CZ" dirty="0" err="1"/>
              <a:t>databaze</a:t>
            </a:r>
            <a:r>
              <a:rPr lang="cs-CZ" dirty="0"/>
              <a:t> </a:t>
            </a:r>
            <a:r>
              <a:rPr lang="cs-CZ" dirty="0" err="1"/>
              <a:t>velke</a:t>
            </a:r>
            <a:r>
              <a:rPr lang="cs-CZ" dirty="0"/>
              <a:t> </a:t>
            </a:r>
            <a:r>
              <a:rPr lang="cs-CZ" dirty="0" err="1"/>
              <a:t>mnozstvi</a:t>
            </a:r>
            <a:r>
              <a:rPr lang="cs-CZ" dirty="0"/>
              <a:t> dat, </a:t>
            </a:r>
            <a:r>
              <a:rPr lang="cs-CZ" dirty="0" err="1"/>
              <a:t>provadeni</a:t>
            </a:r>
            <a:r>
              <a:rPr lang="cs-CZ" dirty="0"/>
              <a:t> operaci, kdy jsou </a:t>
            </a:r>
            <a:r>
              <a:rPr lang="cs-CZ" dirty="0" err="1"/>
              <a:t>zmeny</a:t>
            </a:r>
            <a:r>
              <a:rPr lang="cs-CZ" dirty="0"/>
              <a:t> </a:t>
            </a:r>
            <a:r>
              <a:rPr lang="cs-CZ" dirty="0" err="1"/>
              <a:t>provadeny</a:t>
            </a:r>
            <a:r>
              <a:rPr lang="cs-CZ" dirty="0"/>
              <a:t> u </a:t>
            </a:r>
            <a:r>
              <a:rPr lang="cs-CZ" dirty="0" err="1"/>
              <a:t>vsech</a:t>
            </a:r>
            <a:r>
              <a:rPr lang="cs-CZ" dirty="0"/>
              <a:t> </a:t>
            </a:r>
            <a:r>
              <a:rPr lang="cs-CZ" dirty="0" err="1"/>
              <a:t>zaznamu</a:t>
            </a:r>
            <a:r>
              <a:rPr lang="cs-CZ" dirty="0"/>
              <a:t> (</a:t>
            </a:r>
            <a:r>
              <a:rPr lang="cs-CZ" dirty="0" err="1"/>
              <a:t>napriklad</a:t>
            </a:r>
            <a:r>
              <a:rPr lang="cs-CZ" dirty="0"/>
              <a:t> +1000 pro </a:t>
            </a:r>
            <a:r>
              <a:rPr lang="cs-CZ" dirty="0" err="1"/>
              <a:t>zamestnanecke</a:t>
            </a:r>
            <a:r>
              <a:rPr lang="cs-CZ" dirty="0"/>
              <a:t> id).</a:t>
            </a:r>
          </a:p>
          <a:p>
            <a:r>
              <a:rPr lang="cs-CZ" b="1" dirty="0" err="1"/>
              <a:t>Odstraneni</a:t>
            </a:r>
            <a:r>
              <a:rPr lang="cs-CZ" b="1" dirty="0"/>
              <a:t> omezeni</a:t>
            </a:r>
          </a:p>
          <a:p>
            <a:pPr lvl="1"/>
            <a:r>
              <a:rPr lang="cs-CZ" dirty="0"/>
              <a:t>Pro </a:t>
            </a:r>
            <a:r>
              <a:rPr lang="cs-CZ" dirty="0" err="1"/>
              <a:t>odstraneni</a:t>
            </a:r>
            <a:r>
              <a:rPr lang="cs-CZ" dirty="0"/>
              <a:t> omezeni </a:t>
            </a:r>
            <a:r>
              <a:rPr lang="cs-CZ" dirty="0" err="1"/>
              <a:t>musite</a:t>
            </a:r>
            <a:r>
              <a:rPr lang="cs-CZ" dirty="0"/>
              <a:t> </a:t>
            </a:r>
            <a:r>
              <a:rPr lang="cs-CZ" dirty="0" err="1"/>
              <a:t>znat</a:t>
            </a:r>
            <a:r>
              <a:rPr lang="cs-CZ" dirty="0"/>
              <a:t> </a:t>
            </a:r>
            <a:r>
              <a:rPr lang="cs-CZ" dirty="0" err="1"/>
              <a:t>nazev</a:t>
            </a:r>
            <a:r>
              <a:rPr lang="cs-CZ" dirty="0"/>
              <a:t> tohoto omezeni. Pokud ho </a:t>
            </a:r>
            <a:r>
              <a:rPr lang="cs-CZ" dirty="0" err="1"/>
              <a:t>nevite</a:t>
            </a:r>
            <a:r>
              <a:rPr lang="cs-CZ" dirty="0"/>
              <a:t>, </a:t>
            </a:r>
            <a:r>
              <a:rPr lang="cs-CZ" dirty="0" err="1"/>
              <a:t>muzete</a:t>
            </a:r>
            <a:r>
              <a:rPr lang="cs-CZ" dirty="0"/>
              <a:t> jej najit v </a:t>
            </a:r>
            <a:r>
              <a:rPr lang="cs-CZ" dirty="0" err="1"/>
              <a:t>datovem</a:t>
            </a:r>
            <a:r>
              <a:rPr lang="cs-CZ" dirty="0"/>
              <a:t> </a:t>
            </a:r>
            <a:r>
              <a:rPr lang="cs-CZ" dirty="0" err="1"/>
              <a:t>slovniku</a:t>
            </a:r>
            <a:r>
              <a:rPr lang="cs-CZ" dirty="0"/>
              <a:t> v </a:t>
            </a:r>
            <a:r>
              <a:rPr lang="cs-CZ" dirty="0" err="1"/>
              <a:t>tabulkach</a:t>
            </a:r>
            <a:r>
              <a:rPr lang="cs-CZ" dirty="0"/>
              <a:t> </a:t>
            </a:r>
            <a:r>
              <a:rPr lang="cs-CZ" dirty="0" err="1"/>
              <a:t>user_constraints</a:t>
            </a:r>
            <a:r>
              <a:rPr lang="cs-CZ" dirty="0"/>
              <a:t>. </a:t>
            </a:r>
          </a:p>
          <a:p>
            <a:pPr lvl="1"/>
            <a:r>
              <a:rPr lang="cs-CZ" dirty="0"/>
              <a:t>Moznost CASCADE klauzule DROP </a:t>
            </a:r>
            <a:r>
              <a:rPr lang="cs-CZ" dirty="0" err="1"/>
              <a:t>zpusobi</a:t>
            </a:r>
            <a:r>
              <a:rPr lang="cs-CZ" dirty="0"/>
              <a:t>, ze jsou </a:t>
            </a:r>
            <a:r>
              <a:rPr lang="cs-CZ" dirty="0" err="1"/>
              <a:t>odstranena</a:t>
            </a:r>
            <a:r>
              <a:rPr lang="cs-CZ" dirty="0"/>
              <a:t> </a:t>
            </a:r>
            <a:r>
              <a:rPr lang="cs-CZ" dirty="0" err="1"/>
              <a:t>vsechna</a:t>
            </a:r>
            <a:r>
              <a:rPr lang="cs-CZ" dirty="0"/>
              <a:t> </a:t>
            </a:r>
            <a:r>
              <a:rPr lang="cs-CZ" dirty="0" err="1"/>
              <a:t>zavisla</a:t>
            </a:r>
            <a:r>
              <a:rPr lang="cs-CZ" dirty="0"/>
              <a:t> omezeni. Pamatujte si, ze </a:t>
            </a:r>
            <a:r>
              <a:rPr lang="cs-CZ" dirty="0" err="1"/>
              <a:t>kdyz</a:t>
            </a:r>
            <a:r>
              <a:rPr lang="cs-CZ" dirty="0"/>
              <a:t> </a:t>
            </a:r>
            <a:r>
              <a:rPr lang="cs-CZ" dirty="0" err="1"/>
              <a:t>odstranite</a:t>
            </a:r>
            <a:r>
              <a:rPr lang="cs-CZ" dirty="0"/>
              <a:t> omezeni, </a:t>
            </a:r>
            <a:r>
              <a:rPr lang="cs-CZ" dirty="0" err="1"/>
              <a:t>neni</a:t>
            </a:r>
            <a:r>
              <a:rPr lang="cs-CZ" dirty="0"/>
              <a:t> pak </a:t>
            </a:r>
            <a:r>
              <a:rPr lang="cs-CZ" dirty="0" err="1"/>
              <a:t>uz</a:t>
            </a:r>
            <a:r>
              <a:rPr lang="cs-CZ" dirty="0"/>
              <a:t> </a:t>
            </a:r>
            <a:r>
              <a:rPr lang="cs-CZ" dirty="0" err="1"/>
              <a:t>dostupne</a:t>
            </a:r>
            <a:r>
              <a:rPr lang="cs-CZ" dirty="0"/>
              <a:t> na </a:t>
            </a:r>
            <a:r>
              <a:rPr lang="cs-CZ" dirty="0" err="1"/>
              <a:t>oracle</a:t>
            </a:r>
            <a:r>
              <a:rPr lang="cs-CZ" dirty="0"/>
              <a:t> serveru a </a:t>
            </a:r>
            <a:r>
              <a:rPr lang="cs-CZ" dirty="0" err="1"/>
              <a:t>neni</a:t>
            </a:r>
            <a:r>
              <a:rPr lang="cs-CZ" dirty="0"/>
              <a:t> </a:t>
            </a:r>
            <a:r>
              <a:rPr lang="cs-CZ" dirty="0" err="1"/>
              <a:t>dostupne</a:t>
            </a:r>
            <a:r>
              <a:rPr lang="cs-CZ" dirty="0"/>
              <a:t> ani v </a:t>
            </a:r>
            <a:r>
              <a:rPr lang="cs-CZ" dirty="0" err="1"/>
              <a:t>datovem</a:t>
            </a:r>
            <a:r>
              <a:rPr lang="cs-CZ" dirty="0"/>
              <a:t> </a:t>
            </a:r>
            <a:r>
              <a:rPr lang="cs-CZ" dirty="0" err="1"/>
              <a:t>slovniku</a:t>
            </a:r>
            <a:r>
              <a:rPr lang="cs-CZ" dirty="0"/>
              <a:t>.</a:t>
            </a:r>
          </a:p>
          <a:p>
            <a:pPr lvl="1"/>
            <a:r>
              <a:rPr lang="cs-CZ" dirty="0"/>
              <a:t>Nejsou </a:t>
            </a:r>
            <a:r>
              <a:rPr lang="cs-CZ" dirty="0" err="1"/>
              <a:t>odstranena</a:t>
            </a:r>
            <a:r>
              <a:rPr lang="cs-CZ" dirty="0"/>
              <a:t> </a:t>
            </a:r>
            <a:r>
              <a:rPr lang="cs-CZ" dirty="0" err="1"/>
              <a:t>zadna</a:t>
            </a:r>
            <a:r>
              <a:rPr lang="cs-CZ" dirty="0"/>
              <a:t> data z tabulky, nad kterou </a:t>
            </a:r>
            <a:r>
              <a:rPr lang="cs-CZ" dirty="0" err="1"/>
              <a:t>odstranujete</a:t>
            </a:r>
            <a:r>
              <a:rPr lang="cs-CZ" dirty="0"/>
              <a:t> omezeni.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96714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9C1FDE-712D-410F-B970-DE27DD53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2674059-6705-4258-90CB-65B3872E0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b="1" dirty="0" err="1"/>
              <a:t>Zneplatnovani</a:t>
            </a:r>
            <a:r>
              <a:rPr lang="cs-CZ" b="1" dirty="0"/>
              <a:t> omezeni</a:t>
            </a:r>
          </a:p>
          <a:p>
            <a:r>
              <a:rPr lang="cs-CZ" dirty="0"/>
              <a:t>Jakmile je omezeni </a:t>
            </a:r>
            <a:r>
              <a:rPr lang="cs-CZ" dirty="0" err="1"/>
              <a:t>vytvoreno</a:t>
            </a:r>
            <a:r>
              <a:rPr lang="cs-CZ" dirty="0"/>
              <a:t>, je automaticky </a:t>
            </a:r>
            <a:r>
              <a:rPr lang="cs-CZ" dirty="0" err="1"/>
              <a:t>spusteno</a:t>
            </a:r>
            <a:r>
              <a:rPr lang="cs-CZ" dirty="0"/>
              <a:t>. Lze jej vypnout pomoci DISABLE. Tato funkce </a:t>
            </a:r>
            <a:r>
              <a:rPr lang="cs-CZ" dirty="0" err="1"/>
              <a:t>umozni</a:t>
            </a:r>
            <a:r>
              <a:rPr lang="cs-CZ" dirty="0"/>
              <a:t> datum, aby byla </a:t>
            </a:r>
            <a:r>
              <a:rPr lang="cs-CZ" dirty="0" err="1"/>
              <a:t>pridana</a:t>
            </a:r>
            <a:r>
              <a:rPr lang="cs-CZ" dirty="0"/>
              <a:t> do tabulky potomka bez toho, </a:t>
            </a:r>
            <a:r>
              <a:rPr lang="cs-CZ" dirty="0" err="1"/>
              <a:t>aniz</a:t>
            </a:r>
            <a:r>
              <a:rPr lang="cs-CZ" dirty="0"/>
              <a:t> by existovala </a:t>
            </a:r>
            <a:r>
              <a:rPr lang="cs-CZ" dirty="0" err="1"/>
              <a:t>korespondujici</a:t>
            </a:r>
            <a:r>
              <a:rPr lang="cs-CZ" dirty="0"/>
              <a:t> data v </a:t>
            </a:r>
            <a:r>
              <a:rPr lang="cs-CZ" dirty="0" err="1"/>
              <a:t>rodicovske</a:t>
            </a:r>
            <a:r>
              <a:rPr lang="cs-CZ" dirty="0"/>
              <a:t> tabulce.</a:t>
            </a:r>
          </a:p>
          <a:p>
            <a:endParaRPr lang="cs-CZ" dirty="0"/>
          </a:p>
        </p:txBody>
      </p:sp>
      <p:pic>
        <p:nvPicPr>
          <p:cNvPr id="4" name="Picture 317">
            <a:extLst>
              <a:ext uri="{FF2B5EF4-FFF2-40B4-BE49-F238E27FC236}">
                <a16:creationId xmlns:a16="http://schemas.microsoft.com/office/drawing/2014/main" id="{A1ED5A23-AEA8-4816-A44A-F169CD1260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3121" y="1825624"/>
            <a:ext cx="6004270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11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F34E9C-DAD5-4058-9285-42271F4F8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47E20D7-501A-43F7-A2EF-689B911C2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b="1" dirty="0" err="1"/>
              <a:t>Spusteni</a:t>
            </a:r>
            <a:r>
              <a:rPr lang="cs-CZ" b="1" dirty="0"/>
              <a:t> omezeni </a:t>
            </a:r>
            <a:r>
              <a:rPr lang="cs-CZ" dirty="0"/>
              <a:t>– lze </a:t>
            </a:r>
            <a:r>
              <a:rPr lang="cs-CZ" dirty="0" err="1"/>
              <a:t>pouzit</a:t>
            </a:r>
            <a:r>
              <a:rPr lang="cs-CZ" dirty="0"/>
              <a:t> v </a:t>
            </a:r>
            <a:r>
              <a:rPr lang="cs-CZ" dirty="0" err="1"/>
              <a:t>prikazu</a:t>
            </a:r>
            <a:r>
              <a:rPr lang="cs-CZ" dirty="0"/>
              <a:t> alter i </a:t>
            </a:r>
            <a:r>
              <a:rPr lang="cs-CZ" dirty="0" err="1"/>
              <a:t>create</a:t>
            </a:r>
            <a:r>
              <a:rPr lang="cs-CZ" dirty="0"/>
              <a:t> table, POZOR! </a:t>
            </a:r>
            <a:r>
              <a:rPr lang="cs-CZ" dirty="0" err="1"/>
              <a:t>Pri</a:t>
            </a:r>
            <a:r>
              <a:rPr lang="cs-CZ" dirty="0"/>
              <a:t> </a:t>
            </a:r>
            <a:r>
              <a:rPr lang="cs-CZ" dirty="0" err="1"/>
              <a:t>spusteni</a:t>
            </a:r>
            <a:r>
              <a:rPr lang="cs-CZ" dirty="0"/>
              <a:t> </a:t>
            </a:r>
            <a:r>
              <a:rPr lang="cs-CZ" dirty="0" err="1"/>
              <a:t>podminky</a:t>
            </a:r>
            <a:r>
              <a:rPr lang="cs-CZ" dirty="0"/>
              <a:t> </a:t>
            </a:r>
            <a:r>
              <a:rPr lang="cs-CZ" dirty="0" err="1"/>
              <a:t>musi</a:t>
            </a:r>
            <a:r>
              <a:rPr lang="cs-CZ" dirty="0"/>
              <a:t> </a:t>
            </a:r>
            <a:r>
              <a:rPr lang="cs-CZ" dirty="0" err="1"/>
              <a:t>vsechna</a:t>
            </a:r>
            <a:r>
              <a:rPr lang="cs-CZ" dirty="0"/>
              <a:t> data v tabulce </a:t>
            </a:r>
            <a:r>
              <a:rPr lang="cs-CZ" dirty="0" err="1"/>
              <a:t>splnovat</a:t>
            </a:r>
            <a:r>
              <a:rPr lang="cs-CZ" dirty="0"/>
              <a:t> toto omezeni.</a:t>
            </a:r>
          </a:p>
        </p:txBody>
      </p:sp>
      <p:pic>
        <p:nvPicPr>
          <p:cNvPr id="4" name="Picture 318">
            <a:extLst>
              <a:ext uri="{FF2B5EF4-FFF2-40B4-BE49-F238E27FC236}">
                <a16:creationId xmlns:a16="http://schemas.microsoft.com/office/drawing/2014/main" id="{59BDB8D6-5A05-4040-8B08-CB9B3BE0CD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1835563"/>
            <a:ext cx="6105939" cy="2047323"/>
          </a:xfrm>
          <a:prstGeom prst="rect">
            <a:avLst/>
          </a:prstGeom>
        </p:spPr>
      </p:pic>
      <p:pic>
        <p:nvPicPr>
          <p:cNvPr id="5" name="Picture 320">
            <a:extLst>
              <a:ext uri="{FF2B5EF4-FFF2-40B4-BE49-F238E27FC236}">
                <a16:creationId xmlns:a16="http://schemas.microsoft.com/office/drawing/2014/main" id="{FE8279EF-E39E-457B-B55F-293678A7531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57674" y="4812091"/>
            <a:ext cx="5323647" cy="136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75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E02043-0F9E-4F2F-8F80-F5681C5C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Kontrola omezeni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EAB161C-44D8-40D1-8249-FBEC6A92C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Prikazem</a:t>
            </a:r>
            <a:r>
              <a:rPr lang="cs-CZ" dirty="0"/>
              <a:t> </a:t>
            </a:r>
            <a:r>
              <a:rPr lang="cs-CZ" dirty="0" err="1"/>
              <a:t>desribe</a:t>
            </a:r>
            <a:r>
              <a:rPr lang="cs-CZ" dirty="0"/>
              <a:t> ze zkontrolovat not </a:t>
            </a:r>
            <a:r>
              <a:rPr lang="cs-CZ" dirty="0" err="1"/>
              <a:t>null</a:t>
            </a:r>
            <a:r>
              <a:rPr lang="cs-CZ" dirty="0"/>
              <a:t> omezeni, to se </a:t>
            </a:r>
            <a:r>
              <a:rPr lang="cs-CZ" dirty="0" err="1"/>
              <a:t>tez</a:t>
            </a:r>
            <a:r>
              <a:rPr lang="cs-CZ" dirty="0"/>
              <a:t> </a:t>
            </a:r>
            <a:r>
              <a:rPr lang="cs-CZ" dirty="0" err="1"/>
              <a:t>objvi</a:t>
            </a:r>
            <a:r>
              <a:rPr lang="cs-CZ" dirty="0"/>
              <a:t> v </a:t>
            </a:r>
            <a:r>
              <a:rPr lang="cs-CZ" dirty="0" err="1"/>
              <a:t>datovem</a:t>
            </a:r>
            <a:r>
              <a:rPr lang="cs-CZ" dirty="0"/>
              <a:t> </a:t>
            </a:r>
            <a:r>
              <a:rPr lang="cs-CZ" dirty="0" err="1"/>
              <a:t>slovniku</a:t>
            </a:r>
            <a:r>
              <a:rPr lang="cs-CZ" dirty="0"/>
              <a:t> jako </a:t>
            </a:r>
            <a:r>
              <a:rPr lang="cs-CZ" dirty="0" err="1"/>
              <a:t>check</a:t>
            </a:r>
            <a:r>
              <a:rPr lang="cs-CZ" dirty="0"/>
              <a:t> omezeni. Dotazem do </a:t>
            </a:r>
            <a:r>
              <a:rPr lang="cs-CZ" dirty="0" err="1"/>
              <a:t>user_constraints</a:t>
            </a:r>
            <a:r>
              <a:rPr lang="cs-CZ" dirty="0"/>
              <a:t> lze zkontrolovat </a:t>
            </a:r>
            <a:r>
              <a:rPr lang="cs-CZ" dirty="0" err="1"/>
              <a:t>vsechna</a:t>
            </a:r>
            <a:r>
              <a:rPr lang="cs-CZ" dirty="0"/>
              <a:t> omezeni.</a:t>
            </a:r>
          </a:p>
        </p:txBody>
      </p:sp>
      <p:pic>
        <p:nvPicPr>
          <p:cNvPr id="4" name="Picture 322">
            <a:extLst>
              <a:ext uri="{FF2B5EF4-FFF2-40B4-BE49-F238E27FC236}">
                <a16:creationId xmlns:a16="http://schemas.microsoft.com/office/drawing/2014/main" id="{064BBFB8-BA47-4EA4-A9C6-8AE4AB1C902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38287" y="3319670"/>
            <a:ext cx="5856426" cy="2020956"/>
          </a:xfrm>
          <a:prstGeom prst="rect">
            <a:avLst/>
          </a:prstGeom>
        </p:spPr>
      </p:pic>
      <p:pic>
        <p:nvPicPr>
          <p:cNvPr id="5" name="Picture 323">
            <a:extLst>
              <a:ext uri="{FF2B5EF4-FFF2-40B4-BE49-F238E27FC236}">
                <a16:creationId xmlns:a16="http://schemas.microsoft.com/office/drawing/2014/main" id="{EC62AAF5-C8F8-485C-A373-5B4D1735104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38287" y="5310809"/>
            <a:ext cx="5604635" cy="86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9236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1326</Words>
  <Application>Microsoft Office PowerPoint</Application>
  <PresentationFormat>Širokoúhlá obrazovka</PresentationFormat>
  <Paragraphs>86</Paragraphs>
  <Slides>29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Motiv Office</vt:lpstr>
      <vt:lpstr>Constraints</vt:lpstr>
      <vt:lpstr>Prezentace aplikace PowerPoint</vt:lpstr>
      <vt:lpstr>Obecne o omezenich</vt:lpstr>
      <vt:lpstr>Prezentace aplikace PowerPoint</vt:lpstr>
      <vt:lpstr>Omezeni na urovni sloupce</vt:lpstr>
      <vt:lpstr>Pojmenovavani omezeni</vt:lpstr>
      <vt:lpstr>Omezeni na urovni tabulky</vt:lpstr>
      <vt:lpstr>Zakladni pravidla pro omezeni</vt:lpstr>
      <vt:lpstr>Prezentace aplikace PowerPoint</vt:lpstr>
      <vt:lpstr>5 typu omezeni:</vt:lpstr>
      <vt:lpstr>Prezentace aplikace PowerPoint</vt:lpstr>
      <vt:lpstr>PRIMARNI KLIC, CIZI KLIC A CHECK OMEZENI</vt:lpstr>
      <vt:lpstr>Prezentace aplikace PowerPoint</vt:lpstr>
      <vt:lpstr>FOREIGN KEY (referencni integrita)</vt:lpstr>
      <vt:lpstr>Prezentace aplikace PowerPoint</vt:lpstr>
      <vt:lpstr>Prezentace aplikace PowerPoint</vt:lpstr>
      <vt:lpstr>Prezentace aplikace PowerPoint</vt:lpstr>
      <vt:lpstr>Prezentace aplikace PowerPoint</vt:lpstr>
      <vt:lpstr>ON DELETE CASCADE</vt:lpstr>
      <vt:lpstr>Prezentace aplikace PowerPoint</vt:lpstr>
      <vt:lpstr>Prezentace aplikace PowerPoint</vt:lpstr>
      <vt:lpstr>ON DELETE SET NULL</vt:lpstr>
      <vt:lpstr>CHECK</vt:lpstr>
      <vt:lpstr>Prezentace aplikace PowerPoint</vt:lpstr>
      <vt:lpstr>Správa omezení</vt:lpstr>
      <vt:lpstr>Proc zneplatnovat omezeni?</vt:lpstr>
      <vt:lpstr>Prezentace aplikace PowerPoint</vt:lpstr>
      <vt:lpstr>Prezentace aplikace PowerPoint</vt:lpstr>
      <vt:lpstr>Kontrola omezeni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Constraints</dc:title>
  <dc:creator>Veronika Hurtová</dc:creator>
  <cp:lastModifiedBy>Veronika Hurtová</cp:lastModifiedBy>
  <cp:revision>7</cp:revision>
  <dcterms:created xsi:type="dcterms:W3CDTF">2018-01-24T07:25:42Z</dcterms:created>
  <dcterms:modified xsi:type="dcterms:W3CDTF">2018-01-24T07:49:36Z</dcterms:modified>
</cp:coreProperties>
</file>