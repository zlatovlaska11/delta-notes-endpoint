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91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7B6CBF-C199-4981-9FF1-AA123A0D9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D8CB392-5A6F-44ED-A94F-A2039EB73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4AE747-66A4-484A-9443-E3D445AB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FB5EAA3-00A4-4303-A297-0F7AB0A5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1A19C8-9185-4DEA-9EB1-165F98B5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189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AD1952-7E25-4687-8556-950AABF9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592A7AD-80C1-4E16-A1D3-182CCEFA7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5A5324E-29F4-4EF0-96E8-713D46C5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7C5E16D-B5EF-42DC-8A64-139E2C7B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C801D9C-8C5E-47E8-8117-C0F75D1D8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084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79E55A-2676-4989-A51F-5737473A4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5F1421F9-D578-4DAA-AF0A-D847A4AE9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0B52D90-E455-4CA7-9307-7148F78A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DB33D9E-1044-4321-A1EF-8DB770088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A02AEA0-884F-4C48-9768-AEF3EE69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361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8AC3CD-78F0-4A60-BD8C-8FBFEB72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937AEC2-25A3-4D86-BF01-3773EE9E3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2E9140B5-67B7-4E22-AAEA-B0D890E18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59AE0C7-90EB-421B-BECB-22EB8ADB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4709229-9004-49EE-B6B5-4ECB6745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9A305F9-C0D0-4F20-850A-A7671CD4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762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425F22-DC03-41CE-8DCB-F2EEB617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4DEDD3C0-5921-4499-A1FB-E7B7B734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617EF6B0-E97D-42F0-8517-C8FDB6FD9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4F75856E-74A2-4E11-B285-E2AB4128A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132F041D-FB6B-47FA-80D6-8FBB99B1B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7D468DA-C783-41A1-84D7-2FFAC939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87EECEB-B6B7-465F-B6BC-25AB03A05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9807C0A-7F44-4242-92C6-7141F195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79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3953FE-24F2-4490-B044-4B8D5D7E3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FD1AC0D-8B53-4A08-BF4B-A7C77BDF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396AF69-6CC9-4474-9AC9-6CAA87B0F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ED449EC-46C3-4EC7-AA25-046FDFFD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425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3B97634-2472-46DB-824F-E9BC00CA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0A9DE52-2DD3-478D-BF1F-C5E02811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065BFF3-0E6F-4989-83B3-88C05578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958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3A2F01-FCFB-4630-ACDB-E2262F3B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590B7DE-4C7A-4C7B-B2BC-EBDD742C7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A4AE7069-91CD-48F2-A735-EB1569EC0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9285DC8-4D28-41AA-88AD-5508BF60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5725A5B-2ABC-46BA-9709-A3335959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FA88BA7-9A56-42EF-9683-02C99E81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2032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CAB25B-2C94-4618-A9FD-1593E500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70622CF-62A8-4852-8868-FB4D0C90C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646852DC-5B2E-46FF-8365-5C85A262E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1A63F28-B33E-46B4-8EB6-CC8627EE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A495703-BE46-4E3C-B9E2-D430EE4F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9C77441-3FB5-4D9C-ABE5-E330D4B3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205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4D8AFE-2523-42E7-913F-F79DE7F9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8AC90A9-CE6D-45F6-B865-B25D73CA4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7D23984-A7B4-4D00-B035-C2BBD215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61387D6-08F0-4225-80BE-598DF6D7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1A6620A-C731-449E-85C3-020979D3B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743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D0691F1-9C8C-4171-BF98-8E65DCAB7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CC6B8F7-3025-40BC-BBB5-3A192D13F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3A5D3D5-BB41-4020-A914-973DAFD0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C156A2-772C-4A76-B348-D423A95D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429184C-E154-425E-8FAF-E967BD69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026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A8ADD39-7E48-4168-9D52-F9C807063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DB870FC-7DDD-47DF-A7E8-24F50022D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31DEF3-94E7-4124-889F-D2A235173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DC1C3-F4A9-420A-8A8E-CCCEDA52C14E}" type="datetimeFigureOut">
              <a:rPr lang="cs-CZ" smtClean="0"/>
              <a:t>02.01.2018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713A41D-FD67-484D-8CA7-394FCC8C1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3895889-A8BD-4718-959E-7EAA126FF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54E8D-CE37-4F40-AE69-E2D3176D970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444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42E56B-F5C5-4AB1-8977-AD2B211F37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Join</a:t>
            </a:r>
            <a:r>
              <a:rPr lang="cs-CZ" dirty="0"/>
              <a:t>… aneb spojujeme tabulky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FBF13A5-CD0C-4680-944F-D1EEE9564C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5196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FBADB7-4DF9-459A-AE4D-9D4E9930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Úvodem…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36E0387-93DE-4C72-9411-B12894F7A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 teď při používání SQL jste byli limitování dotazováním do jedné tabulky v daný čas. Tohle by nebyl problém, kdyby data byla ukládána v </a:t>
            </a:r>
            <a:r>
              <a:rPr lang="cs-CZ" dirty="0" err="1"/>
              <a:t>dtb</a:t>
            </a:r>
            <a:r>
              <a:rPr lang="cs-CZ" dirty="0"/>
              <a:t> jen do jedné tabulky. Naštěstí SQL poskytuje spojování tabulek na základě podmínek a výsledek je následně přiřazen do jednoho reportu.</a:t>
            </a:r>
          </a:p>
          <a:p>
            <a:r>
              <a:rPr lang="cs-CZ" dirty="0"/>
              <a:t>Jsou zde dvě skupiny příkazu nebo syntaxí, které mohou být použity pro vytvoření spojení mezi tabulkami v databázi - </a:t>
            </a:r>
            <a:r>
              <a:rPr lang="cs-CZ" dirty="0" err="1"/>
              <a:t>Oracle</a:t>
            </a:r>
            <a:r>
              <a:rPr lang="cs-CZ" dirty="0"/>
              <a:t> proprietární </a:t>
            </a:r>
            <a:r>
              <a:rPr lang="cs-CZ" dirty="0" err="1"/>
              <a:t>joiny</a:t>
            </a:r>
            <a:r>
              <a:rPr lang="cs-CZ" dirty="0"/>
              <a:t> a ANSI/ISO SQL 99 </a:t>
            </a:r>
            <a:r>
              <a:rPr lang="cs-CZ" dirty="0" err="1"/>
              <a:t>joiny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460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8F1A0-94F1-4D13-89FC-DE2D8477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Natural </a:t>
            </a:r>
            <a:r>
              <a:rPr lang="cs-CZ" dirty="0" err="1"/>
              <a:t>join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474414B-8D85-486B-92B6-2EA26E63F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Sql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klauzule slouží ke spojení 2 a více tabulek v relační databázi. Natural </a:t>
            </a:r>
            <a:r>
              <a:rPr lang="cs-CZ" dirty="0" err="1"/>
              <a:t>join</a:t>
            </a:r>
            <a:r>
              <a:rPr lang="cs-CZ" dirty="0"/>
              <a:t> je založen na </a:t>
            </a:r>
            <a:r>
              <a:rPr lang="cs-CZ" b="1" dirty="0"/>
              <a:t>všech sloupcích ve dvou tabulkách</a:t>
            </a:r>
            <a:r>
              <a:rPr lang="cs-CZ" dirty="0"/>
              <a:t>, které mají stejně názvy a vybírá řádky ze dvou tabulek, které mají shodné hodnoty ve všech sloupcích.</a:t>
            </a:r>
          </a:p>
          <a:p>
            <a:r>
              <a:rPr lang="cs-CZ" dirty="0"/>
              <a:t>Tabulka zaměstnanci má sloupec </a:t>
            </a:r>
            <a:r>
              <a:rPr lang="cs-CZ" b="1" dirty="0" err="1"/>
              <a:t>job_id</a:t>
            </a:r>
            <a:endParaRPr lang="cs-CZ" dirty="0"/>
          </a:p>
          <a:p>
            <a:r>
              <a:rPr lang="cs-CZ" dirty="0"/>
              <a:t>Tady je zobrazena reference na sloupec stejného názvu v tabulce </a:t>
            </a:r>
            <a:r>
              <a:rPr lang="cs-CZ" dirty="0" err="1"/>
              <a:t>job</a:t>
            </a:r>
            <a:r>
              <a:rPr lang="cs-CZ" dirty="0"/>
              <a:t>.</a:t>
            </a:r>
          </a:p>
        </p:txBody>
      </p:sp>
      <p:pic>
        <p:nvPicPr>
          <p:cNvPr id="4" name="Picture 126">
            <a:extLst>
              <a:ext uri="{FF2B5EF4-FFF2-40B4-BE49-F238E27FC236}">
                <a16:creationId xmlns:a16="http://schemas.microsoft.com/office/drawing/2014/main" id="{83DC70FB-6550-400D-9FF1-0F8CD16A4F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76910" y="4495415"/>
            <a:ext cx="5404409" cy="217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38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3EB1F3-F433-49F1-B7FB-EC5861BB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Natural </a:t>
            </a:r>
            <a:r>
              <a:rPr lang="cs-CZ" dirty="0" err="1"/>
              <a:t>join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2F17448-3DD7-4FB4-BD10-03CF631CE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Když používáte natural </a:t>
            </a:r>
            <a:r>
              <a:rPr lang="cs-CZ" b="1" dirty="0" err="1"/>
              <a:t>join</a:t>
            </a:r>
            <a:r>
              <a:rPr lang="cs-CZ" dirty="0"/>
              <a:t>, je možné spojovat tabulky bez toho, abyste explicitně specifikovali sloupce v korespondující tabulce. Nicméně názvy a datové typy na obou sloupcích musí být shodné.</a:t>
            </a:r>
          </a:p>
        </p:txBody>
      </p:sp>
      <p:pic>
        <p:nvPicPr>
          <p:cNvPr id="4" name="Picture 128">
            <a:extLst>
              <a:ext uri="{FF2B5EF4-FFF2-40B4-BE49-F238E27FC236}">
                <a16:creationId xmlns:a16="http://schemas.microsoft.com/office/drawing/2014/main" id="{EF6CD66E-54F6-40A6-A86D-9CF41C52FC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28153" y="3063081"/>
            <a:ext cx="6068712" cy="36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93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5D6A26-95F4-42F5-8908-3335BADB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Cross</a:t>
            </a:r>
            <a:r>
              <a:rPr lang="cs-CZ" dirty="0"/>
              <a:t> </a:t>
            </a:r>
            <a:r>
              <a:rPr lang="cs-CZ" dirty="0" err="1"/>
              <a:t>join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DB4960F-5045-466C-B9C0-466B6179F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Cross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spojuje každý řádek tabulky s každým řádkem v další tabulce. Výsledkem jsou všechny možné kombinace řádku že dvou tabulek, </a:t>
            </a:r>
            <a:r>
              <a:rPr lang="cs-CZ" b="1" dirty="0"/>
              <a:t>to mohou být obrovské rozsahy tabulek</a:t>
            </a:r>
            <a:r>
              <a:rPr lang="cs-CZ" dirty="0"/>
              <a:t>!</a:t>
            </a:r>
          </a:p>
          <a:p>
            <a:r>
              <a:rPr lang="cs-CZ" dirty="0"/>
              <a:t>Tabulka zaměstnanců obsahuje 20 řádku a tabulka oddělení 8 řádků. Takovýto </a:t>
            </a:r>
            <a:r>
              <a:rPr lang="cs-CZ" dirty="0" err="1"/>
              <a:t>cross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vrátí 160 řádku ve výsledku.</a:t>
            </a:r>
          </a:p>
        </p:txBody>
      </p:sp>
      <p:pic>
        <p:nvPicPr>
          <p:cNvPr id="1026" name="Picture 2" descr="Výsledek obrázku pro cross join">
            <a:extLst>
              <a:ext uri="{FF2B5EF4-FFF2-40B4-BE49-F238E27FC236}">
                <a16:creationId xmlns:a16="http://schemas.microsoft.com/office/drawing/2014/main" id="{0D2D49D9-9EE4-4087-8394-E831DB699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612" y="3904735"/>
            <a:ext cx="4488006" cy="295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82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5457A5-71BA-41A7-B0EC-6B3878BB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Klauzule USING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CDA3127-2057-4137-A251-AC616CD1C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natural </a:t>
            </a:r>
            <a:r>
              <a:rPr lang="cs-CZ" dirty="0" err="1"/>
              <a:t>joinu</a:t>
            </a:r>
            <a:r>
              <a:rPr lang="cs-CZ" dirty="0"/>
              <a:t>, pokud jsou dvě tabulky, které mají sloupce se stejným názvem, ale jiného datového typu, potom </a:t>
            </a:r>
            <a:r>
              <a:rPr lang="cs-CZ" dirty="0" err="1"/>
              <a:t>join</a:t>
            </a:r>
            <a:r>
              <a:rPr lang="cs-CZ" dirty="0"/>
              <a:t> způsobí </a:t>
            </a:r>
            <a:r>
              <a:rPr lang="cs-CZ" dirty="0" err="1"/>
              <a:t>error</a:t>
            </a:r>
            <a:r>
              <a:rPr lang="cs-CZ" dirty="0"/>
              <a:t>. </a:t>
            </a:r>
          </a:p>
          <a:p>
            <a:r>
              <a:rPr lang="cs-CZ" dirty="0"/>
              <a:t>K předcházení těchto situaci je klauzule </a:t>
            </a:r>
            <a:r>
              <a:rPr lang="cs-CZ" dirty="0" err="1"/>
              <a:t>join</a:t>
            </a:r>
            <a:r>
              <a:rPr lang="cs-CZ" dirty="0"/>
              <a:t> modifikována klauzulí </a:t>
            </a:r>
            <a:r>
              <a:rPr lang="cs-CZ" dirty="0" err="1"/>
              <a:t>using</a:t>
            </a:r>
            <a:r>
              <a:rPr lang="cs-CZ" dirty="0"/>
              <a:t>. Tato klauzule specifikuje sloupce, které by měli být použity na </a:t>
            </a:r>
            <a:r>
              <a:rPr lang="cs-CZ" dirty="0" err="1"/>
              <a:t>join</a:t>
            </a:r>
            <a:r>
              <a:rPr lang="cs-CZ" dirty="0"/>
              <a:t>.</a:t>
            </a:r>
          </a:p>
          <a:p>
            <a:r>
              <a:rPr lang="cs-CZ" dirty="0"/>
              <a:t>Dotaz zobrazuje příklad </a:t>
            </a:r>
            <a:r>
              <a:rPr lang="cs-CZ" dirty="0" err="1"/>
              <a:t>using</a:t>
            </a:r>
            <a:r>
              <a:rPr lang="cs-CZ" dirty="0"/>
              <a:t> klauzule.</a:t>
            </a:r>
          </a:p>
        </p:txBody>
      </p:sp>
      <p:pic>
        <p:nvPicPr>
          <p:cNvPr id="4" name="Picture 129">
            <a:extLst>
              <a:ext uri="{FF2B5EF4-FFF2-40B4-BE49-F238E27FC236}">
                <a16:creationId xmlns:a16="http://schemas.microsoft.com/office/drawing/2014/main" id="{D807FA08-2D2D-4655-B16C-678363633D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23125" y="4610100"/>
            <a:ext cx="5309416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EABBBE-D91C-469A-835A-D54B8405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Klauzule USING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6587E4C-BD31-427D-A728-07B36BC33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Použití této klauzule nám umožňuje použít </a:t>
            </a:r>
            <a:r>
              <a:rPr lang="cs-CZ" dirty="0" err="1"/>
              <a:t>where</a:t>
            </a:r>
            <a:r>
              <a:rPr lang="cs-CZ" dirty="0"/>
              <a:t> pro restrikci vybraných řádků z jedné nebo z obou tabulek.</a:t>
            </a:r>
          </a:p>
        </p:txBody>
      </p:sp>
      <p:pic>
        <p:nvPicPr>
          <p:cNvPr id="4" name="Picture 130">
            <a:extLst>
              <a:ext uri="{FF2B5EF4-FFF2-40B4-BE49-F238E27FC236}">
                <a16:creationId xmlns:a16="http://schemas.microsoft.com/office/drawing/2014/main" id="{10CFC4B7-0FB9-45BD-9036-59B88397E4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32432" y="2905919"/>
            <a:ext cx="7913860" cy="253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8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7FBAC3-E62B-482D-948A-F85DF1DA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Klauzule ON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792028A-1A2F-4FF8-B9DD-541623F4B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když budou mít sloupce ke spojení různé názvy nebo spojení používá neekvivalentní operátory jako BETWEEN nebo &lt;&gt; ? </a:t>
            </a:r>
          </a:p>
          <a:p>
            <a:r>
              <a:rPr lang="cs-CZ" dirty="0"/>
              <a:t>V tom případě nemůžeme použít USING, namísto toho můžeme použít klauzuli ON. To dovoluje větší varianci </a:t>
            </a:r>
            <a:r>
              <a:rPr lang="cs-CZ" dirty="0" err="1"/>
              <a:t>join</a:t>
            </a:r>
            <a:r>
              <a:rPr lang="cs-CZ" dirty="0"/>
              <a:t> podmínky. </a:t>
            </a:r>
          </a:p>
          <a:p>
            <a:r>
              <a:rPr lang="cs-CZ" dirty="0"/>
              <a:t>Klauzule ON také dovoluje použít </a:t>
            </a:r>
            <a:r>
              <a:rPr lang="cs-CZ" dirty="0" err="1"/>
              <a:t>where</a:t>
            </a:r>
            <a:r>
              <a:rPr lang="cs-CZ" dirty="0"/>
              <a:t> pro restrikci řádků z jedné nebo obou tabulek.</a:t>
            </a:r>
          </a:p>
        </p:txBody>
      </p:sp>
      <p:pic>
        <p:nvPicPr>
          <p:cNvPr id="4" name="Picture 131">
            <a:extLst>
              <a:ext uri="{FF2B5EF4-FFF2-40B4-BE49-F238E27FC236}">
                <a16:creationId xmlns:a16="http://schemas.microsoft.com/office/drawing/2014/main" id="{E9E51E2D-F2D3-4F6E-B57C-25C3FC5CEB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87795" y="4001294"/>
            <a:ext cx="5226908" cy="285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47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3B3A37-303D-4C3E-A700-2F5F61DA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Klauzule ON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84DD5E2-FBD9-46CA-8466-C255DC9F8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Někdy potřebujete získat data z tabulky, která neodpovídá přesně sloupcům v druhé tabulce. </a:t>
            </a:r>
          </a:p>
          <a:p>
            <a:r>
              <a:rPr lang="cs-CZ" dirty="0"/>
              <a:t>Například chceme vědět </a:t>
            </a:r>
            <a:r>
              <a:rPr lang="cs-CZ" dirty="0" err="1"/>
              <a:t>grade_level</a:t>
            </a:r>
            <a:r>
              <a:rPr lang="cs-CZ" dirty="0"/>
              <a:t> pro mzdu každého zaměstnance. Tabulka </a:t>
            </a:r>
            <a:r>
              <a:rPr lang="cs-CZ" dirty="0" err="1"/>
              <a:t>job:grades</a:t>
            </a:r>
            <a:r>
              <a:rPr lang="cs-CZ" dirty="0"/>
              <a:t> nemá příslušný sloupec v tabulce zaměstnanci.</a:t>
            </a:r>
          </a:p>
        </p:txBody>
      </p:sp>
      <p:pic>
        <p:nvPicPr>
          <p:cNvPr id="4" name="Picture 132">
            <a:extLst>
              <a:ext uri="{FF2B5EF4-FFF2-40B4-BE49-F238E27FC236}">
                <a16:creationId xmlns:a16="http://schemas.microsoft.com/office/drawing/2014/main" id="{478A2328-F28D-41FE-BCA9-23B2195473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22112" y="3550530"/>
            <a:ext cx="5246602" cy="297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44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594CB3-5195-4513-A1D2-695A375F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Spojování 3 tabulek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BBF117B-E0F5-4000-A076-1B0AC994F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Oboje, jak </a:t>
            </a:r>
            <a:r>
              <a:rPr lang="cs-CZ" dirty="0" err="1"/>
              <a:t>using</a:t>
            </a:r>
            <a:r>
              <a:rPr lang="cs-CZ" dirty="0"/>
              <a:t> nebo on je používáno pro spojení 3 nebo více tabulek.</a:t>
            </a:r>
          </a:p>
          <a:p>
            <a:endParaRPr lang="cs-CZ" dirty="0"/>
          </a:p>
        </p:txBody>
      </p:sp>
      <p:pic>
        <p:nvPicPr>
          <p:cNvPr id="4" name="Picture 133">
            <a:extLst>
              <a:ext uri="{FF2B5EF4-FFF2-40B4-BE49-F238E27FC236}">
                <a16:creationId xmlns:a16="http://schemas.microsoft.com/office/drawing/2014/main" id="{36293F81-317A-40F3-9041-39A9FC349D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94570" y="2435499"/>
            <a:ext cx="6402859" cy="388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25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89BE76-B596-4836-B09E-BD9EDC55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Vnitřní a vnější </a:t>
            </a:r>
            <a:r>
              <a:rPr lang="cs-CZ" dirty="0" err="1"/>
              <a:t>join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1FCFB58-96B6-4370-8666-B05C84243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Ve standardu ANSI </a:t>
            </a:r>
            <a:r>
              <a:rPr lang="cs-CZ" dirty="0" err="1"/>
              <a:t>join</a:t>
            </a:r>
            <a:r>
              <a:rPr lang="cs-CZ" dirty="0"/>
              <a:t> 2 nebo více tabulek vrací pouze odpovídající řádky a nazývá se </a:t>
            </a:r>
            <a:r>
              <a:rPr lang="cs-CZ" b="1" dirty="0"/>
              <a:t>vnitřní </a:t>
            </a:r>
            <a:r>
              <a:rPr lang="cs-CZ" b="1" dirty="0" err="1"/>
              <a:t>join</a:t>
            </a:r>
            <a:r>
              <a:rPr lang="cs-CZ" dirty="0"/>
              <a:t>. </a:t>
            </a:r>
          </a:p>
          <a:p>
            <a:r>
              <a:rPr lang="cs-CZ" dirty="0"/>
              <a:t>Když </a:t>
            </a:r>
            <a:r>
              <a:rPr lang="cs-CZ" dirty="0" err="1"/>
              <a:t>join</a:t>
            </a:r>
            <a:r>
              <a:rPr lang="cs-CZ" dirty="0"/>
              <a:t> vrací neodpovídající řádky, tak jako odpovídající řádky, potom se nazývá </a:t>
            </a:r>
            <a:r>
              <a:rPr lang="cs-CZ" b="1" dirty="0"/>
              <a:t>vnější </a:t>
            </a:r>
            <a:r>
              <a:rPr lang="cs-CZ" b="1" dirty="0" err="1"/>
              <a:t>join</a:t>
            </a:r>
            <a:r>
              <a:rPr lang="cs-CZ" dirty="0"/>
              <a:t>. </a:t>
            </a:r>
          </a:p>
          <a:p>
            <a:r>
              <a:rPr lang="cs-CZ" dirty="0"/>
              <a:t>Syntaxe vnějšího </a:t>
            </a:r>
            <a:r>
              <a:rPr lang="cs-CZ" dirty="0" err="1"/>
              <a:t>joinu</a:t>
            </a:r>
            <a:r>
              <a:rPr lang="cs-CZ" dirty="0"/>
              <a:t> používá termíny </a:t>
            </a:r>
            <a:r>
              <a:rPr lang="cs-CZ" b="1" dirty="0" err="1"/>
              <a:t>left</a:t>
            </a:r>
            <a:r>
              <a:rPr lang="cs-CZ" b="1" dirty="0"/>
              <a:t>, full a </a:t>
            </a:r>
            <a:r>
              <a:rPr lang="cs-CZ" b="1" dirty="0" err="1"/>
              <a:t>right</a:t>
            </a:r>
            <a:r>
              <a:rPr lang="cs-CZ" dirty="0"/>
              <a:t>. Tyto názvy jsou spojovány s pořadím názvu tabulek z klauzule FROM v příkazu SELECT.</a:t>
            </a:r>
          </a:p>
        </p:txBody>
      </p:sp>
    </p:spTree>
    <p:extLst>
      <p:ext uri="{BB962C8B-B14F-4D97-AF65-F5344CB8AC3E}">
        <p14:creationId xmlns:p14="http://schemas.microsoft.com/office/powerpoint/2010/main" val="290315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A1E2CA-1F2D-406E-A24C-E5FC286D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Left</a:t>
            </a:r>
            <a:r>
              <a:rPr lang="cs-CZ" dirty="0"/>
              <a:t>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A04B20C-CE52-45A7-9B06-BD7A55680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Tento dotaz vrátí všechny zaměstnance - jejich příjmení, kteří jsou přiděleny do oddělení i ti, kteří v žádném oddělení nejsou.</a:t>
            </a:r>
          </a:p>
        </p:txBody>
      </p:sp>
      <p:pic>
        <p:nvPicPr>
          <p:cNvPr id="4" name="Picture 134">
            <a:extLst>
              <a:ext uri="{FF2B5EF4-FFF2-40B4-BE49-F238E27FC236}">
                <a16:creationId xmlns:a16="http://schemas.microsoft.com/office/drawing/2014/main" id="{BB8DCB1C-5706-49AE-967E-4B309336A2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15697" y="2990335"/>
            <a:ext cx="7076303" cy="38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96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8CD618-F917-47DD-9CB6-4C50A6A3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Right</a:t>
            </a:r>
            <a:r>
              <a:rPr lang="cs-CZ" dirty="0"/>
              <a:t>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854507E-B36A-48ED-8ED5-B1B9CDC4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Right</a:t>
            </a:r>
            <a:r>
              <a:rPr lang="cs-CZ" dirty="0"/>
              <a:t>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vrátí všechny ID oddělení a názvy oddělení, pro ta oddělení, která mají zaměstnance přiřazené do oddělení i pro ty co nemají nikoho v přiděleni.</a:t>
            </a:r>
          </a:p>
        </p:txBody>
      </p:sp>
      <p:pic>
        <p:nvPicPr>
          <p:cNvPr id="4" name="Picture 135">
            <a:extLst>
              <a:ext uri="{FF2B5EF4-FFF2-40B4-BE49-F238E27FC236}">
                <a16:creationId xmlns:a16="http://schemas.microsoft.com/office/drawing/2014/main" id="{B6DA687D-7E45-45A0-B2DF-5DA4A2E653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6637" y="3059455"/>
            <a:ext cx="7770212" cy="356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98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FF3A46-7CD7-432C-8630-F14BCE45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Full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93565AC-6162-4690-BAAD-DF9F8D15A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možné vytvořit podmínku spojení pro získání všech odpovídajících řádku a všech neodpovídajících řádku v obou tabulkách. </a:t>
            </a:r>
          </a:p>
          <a:p>
            <a:r>
              <a:rPr lang="cs-CZ" dirty="0"/>
              <a:t>Tento problém řeší full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. Výsledkem je sada všech řádků z </a:t>
            </a:r>
            <a:r>
              <a:rPr lang="cs-CZ" dirty="0" err="1"/>
              <a:t>left</a:t>
            </a:r>
            <a:r>
              <a:rPr lang="cs-CZ" dirty="0"/>
              <a:t>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a všech z </a:t>
            </a:r>
            <a:r>
              <a:rPr lang="cs-CZ" dirty="0" err="1"/>
              <a:t>right</a:t>
            </a:r>
            <a:r>
              <a:rPr lang="cs-CZ" dirty="0"/>
              <a:t>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v kombinaci bez duplikace.</a:t>
            </a:r>
          </a:p>
        </p:txBody>
      </p:sp>
      <p:pic>
        <p:nvPicPr>
          <p:cNvPr id="4" name="Picture 136">
            <a:extLst>
              <a:ext uri="{FF2B5EF4-FFF2-40B4-BE49-F238E27FC236}">
                <a16:creationId xmlns:a16="http://schemas.microsoft.com/office/drawing/2014/main" id="{546AE0B6-9064-4528-8834-6822484F50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42360" y="3729424"/>
            <a:ext cx="6099348" cy="299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79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597D51-031E-4989-A4DC-A4EB85D8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8AD8060-A8B4-47D3-9C0F-0AB3924E5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050" name="Picture 2" descr="Výsledek obrázku pro cross join">
            <a:extLst>
              <a:ext uri="{FF2B5EF4-FFF2-40B4-BE49-F238E27FC236}">
                <a16:creationId xmlns:a16="http://schemas.microsoft.com/office/drawing/2014/main" id="{216BEA09-F56A-4546-917C-DF1FF45BD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0"/>
            <a:ext cx="8716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12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50B594-A1F2-4BA9-82CD-C0ABDF42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Self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a hierarchické dotazy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C1735A4-1C67-41AA-B43F-119AEA14D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 datovém modelování je občas nutno zobrazit vztah entity sama se sebou. Například když zaměstnanec může být zároveň manažerem.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  <a:p>
            <a:r>
              <a:rPr lang="cs-CZ" dirty="0"/>
              <a:t>Ke spojení tabulek sama se sebou, jsou daný tabulce </a:t>
            </a:r>
            <a:r>
              <a:rPr lang="cs-CZ" b="1" dirty="0"/>
              <a:t>dva názvy nebo </a:t>
            </a:r>
            <a:r>
              <a:rPr lang="cs-CZ" b="1" dirty="0" err="1"/>
              <a:t>aliasy</a:t>
            </a:r>
            <a:r>
              <a:rPr lang="cs-CZ" dirty="0"/>
              <a:t>. To zapříčiní, že si databáze myslí, že jsou zde dvě tabulky.</a:t>
            </a:r>
          </a:p>
        </p:txBody>
      </p:sp>
      <p:pic>
        <p:nvPicPr>
          <p:cNvPr id="4" name="Picture 138">
            <a:extLst>
              <a:ext uri="{FF2B5EF4-FFF2-40B4-BE49-F238E27FC236}">
                <a16:creationId xmlns:a16="http://schemas.microsoft.com/office/drawing/2014/main" id="{E0EAFD6A-D21E-4F6A-A892-768D50489D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671698"/>
            <a:ext cx="2176849" cy="2048583"/>
          </a:xfrm>
          <a:prstGeom prst="rect">
            <a:avLst/>
          </a:prstGeom>
        </p:spPr>
      </p:pic>
      <p:pic>
        <p:nvPicPr>
          <p:cNvPr id="5" name="Picture 139">
            <a:extLst>
              <a:ext uri="{FF2B5EF4-FFF2-40B4-BE49-F238E27FC236}">
                <a16:creationId xmlns:a16="http://schemas.microsoft.com/office/drawing/2014/main" id="{E2F9CA62-113A-4A9E-9AAF-EF2D7107904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51870" y="2671698"/>
            <a:ext cx="7201930" cy="175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70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E7BDEA-9BEE-40F2-970D-C7326A63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Self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a hierarchické dotazy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5786DED-870B-42CA-8D27-21009BE42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40">
            <a:extLst>
              <a:ext uri="{FF2B5EF4-FFF2-40B4-BE49-F238E27FC236}">
                <a16:creationId xmlns:a16="http://schemas.microsoft.com/office/drawing/2014/main" id="{5E3318DE-B58D-45C6-8DCC-57BB5777B7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9271" y="1690687"/>
            <a:ext cx="8535302" cy="424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93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CF7C89E-EC47-4BBB-B763-8F4848119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41">
            <a:extLst>
              <a:ext uri="{FF2B5EF4-FFF2-40B4-BE49-F238E27FC236}">
                <a16:creationId xmlns:a16="http://schemas.microsoft.com/office/drawing/2014/main" id="{E8609851-0A6A-42E5-B107-1E004353C3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885670" cy="4808966"/>
          </a:xfrm>
          <a:prstGeom prst="rect">
            <a:avLst/>
          </a:prstGeom>
        </p:spPr>
      </p:pic>
      <p:sp>
        <p:nvSpPr>
          <p:cNvPr id="5" name="Nadpis 1">
            <a:extLst>
              <a:ext uri="{FF2B5EF4-FFF2-40B4-BE49-F238E27FC236}">
                <a16:creationId xmlns:a16="http://schemas.microsoft.com/office/drawing/2014/main" id="{08558FF2-D969-46C1-9B63-320743B7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Self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a hierarchické dotazy III.</a:t>
            </a:r>
          </a:p>
        </p:txBody>
      </p:sp>
    </p:spTree>
    <p:extLst>
      <p:ext uri="{BB962C8B-B14F-4D97-AF65-F5344CB8AC3E}">
        <p14:creationId xmlns:p14="http://schemas.microsoft.com/office/powerpoint/2010/main" val="3677672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D00AA1-EE48-4DEB-B411-A71EB7B7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Self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a hierarchické dotazy IV.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C9EFB03-6D84-4578-B3EE-E25B48463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Velmi blízko k </a:t>
            </a:r>
            <a:r>
              <a:rPr lang="cs-CZ" dirty="0" err="1"/>
              <a:t>self-join</a:t>
            </a:r>
            <a:r>
              <a:rPr lang="cs-CZ" dirty="0"/>
              <a:t> mají hierarchické dotazy. Díky těmto dotazům můžete zobrazit organizační strukturu podniku. Použití hierarchického dotazu umožňuje získání dát v závislosti na hierarchickém vztahu mezi řádky v tabulce. </a:t>
            </a:r>
          </a:p>
          <a:p>
            <a:r>
              <a:rPr lang="cs-CZ" dirty="0"/>
              <a:t>Relační databáze neukládají záznamy v hierarchickém způsobu. Nicméně, kde existuje hierarchický vztah mezi řádky v jedné tabulce, proces se nazývá </a:t>
            </a:r>
            <a:r>
              <a:rPr lang="cs-CZ" dirty="0" err="1"/>
              <a:t>tree</a:t>
            </a:r>
            <a:r>
              <a:rPr lang="cs-CZ" dirty="0"/>
              <a:t> </a:t>
            </a:r>
            <a:r>
              <a:rPr lang="cs-CZ" dirty="0" err="1"/>
              <a:t>walking</a:t>
            </a:r>
            <a:r>
              <a:rPr lang="cs-CZ" dirty="0"/>
              <a:t> a slouží k vybudování hierarchie.</a:t>
            </a:r>
          </a:p>
          <a:p>
            <a:r>
              <a:rPr lang="cs-CZ" dirty="0"/>
              <a:t>Následuje příklad z tabulky zaměstnanci, dokážete manuálně projít celou tabulku a zjistit kdo pracuje pro koho počínaje u Stevena Kinga?</a:t>
            </a:r>
          </a:p>
        </p:txBody>
      </p:sp>
    </p:spTree>
    <p:extLst>
      <p:ext uri="{BB962C8B-B14F-4D97-AF65-F5344CB8AC3E}">
        <p14:creationId xmlns:p14="http://schemas.microsoft.com/office/powerpoint/2010/main" val="1945992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224431-5460-41F3-B40A-606F1A13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Self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a hierarchické dotazy 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0590E74-CE77-4B61-B364-DC8B47CC4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42">
            <a:extLst>
              <a:ext uri="{FF2B5EF4-FFF2-40B4-BE49-F238E27FC236}">
                <a16:creationId xmlns:a16="http://schemas.microsoft.com/office/drawing/2014/main" id="{EA1ED4DA-2147-47AF-B5BE-E8F959411C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5481" y="1825625"/>
            <a:ext cx="6981568" cy="2820516"/>
          </a:xfrm>
          <a:prstGeom prst="rect">
            <a:avLst/>
          </a:prstGeom>
        </p:spPr>
      </p:pic>
      <p:pic>
        <p:nvPicPr>
          <p:cNvPr id="5" name="Picture 143">
            <a:extLst>
              <a:ext uri="{FF2B5EF4-FFF2-40B4-BE49-F238E27FC236}">
                <a16:creationId xmlns:a16="http://schemas.microsoft.com/office/drawing/2014/main" id="{ADA2A2CE-AAD3-4E44-91CC-5EB5273BA1A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587048" y="4004790"/>
            <a:ext cx="4604951" cy="261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07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E5A0FE-74AA-4B9A-A374-5B052E94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START WITH, CONNECT BY, PRIOR, LEVEL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26A45A4-B280-4D2A-A224-C172D8BC4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Start </a:t>
            </a:r>
            <a:r>
              <a:rPr lang="cs-CZ" b="1" dirty="0" err="1"/>
              <a:t>with</a:t>
            </a:r>
            <a:r>
              <a:rPr lang="cs-CZ" b="1" dirty="0"/>
              <a:t> </a:t>
            </a:r>
            <a:r>
              <a:rPr lang="cs-CZ" dirty="0"/>
              <a:t>identifikuje které řádky jsou používány jako </a:t>
            </a:r>
            <a:r>
              <a:rPr lang="cs-CZ" dirty="0" err="1"/>
              <a:t>root</a:t>
            </a:r>
            <a:r>
              <a:rPr lang="cs-CZ" dirty="0"/>
              <a:t> stromu, </a:t>
            </a:r>
            <a:r>
              <a:rPr lang="cs-CZ" b="1" dirty="0" err="1"/>
              <a:t>connect</a:t>
            </a:r>
            <a:r>
              <a:rPr lang="cs-CZ" b="1" dirty="0"/>
              <a:t> by </a:t>
            </a:r>
            <a:r>
              <a:rPr lang="cs-CZ" dirty="0"/>
              <a:t>a </a:t>
            </a:r>
            <a:r>
              <a:rPr lang="cs-CZ" b="1" dirty="0"/>
              <a:t>prior</a:t>
            </a:r>
            <a:r>
              <a:rPr lang="cs-CZ" dirty="0"/>
              <a:t> vysvětluje jak dělat interní </a:t>
            </a:r>
            <a:r>
              <a:rPr lang="cs-CZ" dirty="0" err="1"/>
              <a:t>joiny</a:t>
            </a:r>
            <a:r>
              <a:rPr lang="cs-CZ" dirty="0"/>
              <a:t>, </a:t>
            </a:r>
            <a:r>
              <a:rPr lang="cs-CZ" b="1" dirty="0"/>
              <a:t>level</a:t>
            </a:r>
            <a:r>
              <a:rPr lang="cs-CZ" dirty="0"/>
              <a:t> specifikuje kolik větví hluboko je stromem </a:t>
            </a:r>
            <a:r>
              <a:rPr lang="cs-CZ" dirty="0" err="1"/>
              <a:t>protraverzováno</a:t>
            </a:r>
            <a:r>
              <a:rPr lang="cs-CZ" dirty="0"/>
              <a:t>.</a:t>
            </a:r>
          </a:p>
        </p:txBody>
      </p:sp>
      <p:pic>
        <p:nvPicPr>
          <p:cNvPr id="4" name="Picture 144">
            <a:extLst>
              <a:ext uri="{FF2B5EF4-FFF2-40B4-BE49-F238E27FC236}">
                <a16:creationId xmlns:a16="http://schemas.microsoft.com/office/drawing/2014/main" id="{AE7FC8FE-4834-480A-94F8-0E5DC80D9B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977356"/>
            <a:ext cx="6971270" cy="388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05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AB0928-82AE-40D6-A7BB-C48524B3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START WITH, CONNECT BY, PRIOR, LEVEL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DB4A450-ECA7-4EE4-B2DF-A56F17E8D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45">
            <a:extLst>
              <a:ext uri="{FF2B5EF4-FFF2-40B4-BE49-F238E27FC236}">
                <a16:creationId xmlns:a16="http://schemas.microsoft.com/office/drawing/2014/main" id="{716D18C8-BCD1-45D6-ADFB-E86179A0E3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454081" cy="495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76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0570BF-F26D-4FDD-979D-93ECB3E1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START WITH, CONNECT BY, PRIOR, LEVEL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94C9D25-1F8D-4E50-9EAC-A73FA5AE9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Level </a:t>
            </a:r>
            <a:r>
              <a:rPr lang="cs-CZ" dirty="0" err="1"/>
              <a:t>pseudosloupec</a:t>
            </a:r>
            <a:r>
              <a:rPr lang="cs-CZ" dirty="0"/>
              <a:t> je používán v hierarchických dotazech a počítá počet kroků, které byly provedeny od kořene stromu.</a:t>
            </a:r>
          </a:p>
        </p:txBody>
      </p:sp>
      <p:pic>
        <p:nvPicPr>
          <p:cNvPr id="4" name="Picture 146">
            <a:extLst>
              <a:ext uri="{FF2B5EF4-FFF2-40B4-BE49-F238E27FC236}">
                <a16:creationId xmlns:a16="http://schemas.microsoft.com/office/drawing/2014/main" id="{D8CB37E1-7A9C-4F44-92A6-4D74821F17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786706"/>
            <a:ext cx="7712676" cy="407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83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BC48B2-14DC-448A-9755-F462B592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START WITH, CONNECT BY, PRIOR, LEVEL IV.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AD38612-E62F-4DFC-B75B-B2D939C1C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Pokud chcete vytvořit report zobrazující úrovně managementu společnosti se začátkem od nejvyšší a následně identifikující každou z následujících úrovni, potom by bylo snadné použít level </a:t>
            </a:r>
            <a:r>
              <a:rPr lang="cs-CZ" dirty="0" err="1"/>
              <a:t>pseudo</a:t>
            </a:r>
            <a:r>
              <a:rPr lang="cs-CZ" dirty="0"/>
              <a:t> sloupec a LPAD funkci ke znázornění vzdálenosti jednotlivých úrovni.</a:t>
            </a:r>
          </a:p>
        </p:txBody>
      </p:sp>
      <p:pic>
        <p:nvPicPr>
          <p:cNvPr id="4" name="Picture 147">
            <a:extLst>
              <a:ext uri="{FF2B5EF4-FFF2-40B4-BE49-F238E27FC236}">
                <a16:creationId xmlns:a16="http://schemas.microsoft.com/office/drawing/2014/main" id="{8F1923EB-57EC-4957-A933-F8179215CC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8960" y="3464526"/>
            <a:ext cx="5736110" cy="339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90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181504-351E-463B-971B-C8A88E98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59" y="3676736"/>
            <a:ext cx="10515600" cy="1325563"/>
          </a:xfrm>
        </p:spPr>
        <p:txBody>
          <a:bodyPr/>
          <a:lstStyle/>
          <a:p>
            <a:r>
              <a:rPr lang="cs-CZ" dirty="0"/>
              <a:t>Porovnání rozdílností syntaxí </a:t>
            </a:r>
            <a:r>
              <a:rPr lang="cs-CZ" b="1" dirty="0"/>
              <a:t>ISO</a:t>
            </a:r>
            <a:r>
              <a:rPr lang="cs-CZ" dirty="0"/>
              <a:t> a </a:t>
            </a:r>
            <a:r>
              <a:rPr lang="cs-CZ" b="1" dirty="0"/>
              <a:t>ORACLE</a:t>
            </a:r>
          </a:p>
        </p:txBody>
      </p:sp>
    </p:spTree>
    <p:extLst>
      <p:ext uri="{BB962C8B-B14F-4D97-AF65-F5344CB8AC3E}">
        <p14:creationId xmlns:p14="http://schemas.microsoft.com/office/powerpoint/2010/main" val="1844675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8FBAAE-DB10-4406-893F-8365076ED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equijoin</a:t>
            </a:r>
            <a:r>
              <a:rPr lang="cs-CZ" dirty="0"/>
              <a:t> a kartézský součin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6330E26-6769-48E7-8C1E-A20A5A80E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Porovnání </a:t>
            </a:r>
            <a:r>
              <a:rPr lang="cs-CZ" dirty="0" err="1"/>
              <a:t>Oracle</a:t>
            </a:r>
            <a:r>
              <a:rPr lang="cs-CZ" dirty="0"/>
              <a:t> proprietárního </a:t>
            </a:r>
            <a:r>
              <a:rPr lang="cs-CZ" dirty="0" err="1"/>
              <a:t>join</a:t>
            </a:r>
            <a:r>
              <a:rPr lang="cs-CZ" dirty="0"/>
              <a:t> s SQL </a:t>
            </a:r>
            <a:r>
              <a:rPr lang="cs-CZ" dirty="0" err="1"/>
              <a:t>joinem</a:t>
            </a:r>
            <a:r>
              <a:rPr lang="cs-CZ" dirty="0"/>
              <a:t>.</a:t>
            </a:r>
          </a:p>
        </p:txBody>
      </p:sp>
      <p:pic>
        <p:nvPicPr>
          <p:cNvPr id="4" name="Picture 150">
            <a:extLst>
              <a:ext uri="{FF2B5EF4-FFF2-40B4-BE49-F238E27FC236}">
                <a16:creationId xmlns:a16="http://schemas.microsoft.com/office/drawing/2014/main" id="{4B13C723-CC59-47A3-B13E-86B1FA74FA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639326"/>
            <a:ext cx="6402859" cy="35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10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ECDE49-B946-497F-8DB3-087A82FE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proprietární </a:t>
            </a:r>
            <a:r>
              <a:rPr lang="cs-CZ" dirty="0" err="1"/>
              <a:t>join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AFAFB4C-6F7F-4111-B483-799879F0E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Pro získání dat z více než jedné tabulky se používá </a:t>
            </a:r>
            <a:r>
              <a:rPr lang="cs-CZ" dirty="0" err="1"/>
              <a:t>join</a:t>
            </a:r>
            <a:r>
              <a:rPr lang="cs-CZ" dirty="0"/>
              <a:t> podmínka v klauzuli </a:t>
            </a:r>
            <a:r>
              <a:rPr lang="cs-CZ" dirty="0" err="1"/>
              <a:t>where</a:t>
            </a:r>
            <a:r>
              <a:rPr lang="cs-CZ" dirty="0"/>
              <a:t>. Základní formát příkazu je: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Představte si teď problém, který nastane když máte 2 studenty ve stejně třídě se stejným příjmením. Když chcete mluvit s Jacksonem, učitel musí určit jasněji, který to je, pomoci jména. Aby se předcházelo takovýmto nedorozuměním, je vhodné používat i při </a:t>
            </a:r>
            <a:r>
              <a:rPr lang="cs-CZ" dirty="0" err="1"/>
              <a:t>joinu</a:t>
            </a:r>
            <a:r>
              <a:rPr lang="cs-CZ" dirty="0"/>
              <a:t> názvy tabulek a za tečkou název sloupce.</a:t>
            </a:r>
          </a:p>
        </p:txBody>
      </p:sp>
      <p:pic>
        <p:nvPicPr>
          <p:cNvPr id="4" name="Picture 151">
            <a:extLst>
              <a:ext uri="{FF2B5EF4-FFF2-40B4-BE49-F238E27FC236}">
                <a16:creationId xmlns:a16="http://schemas.microsoft.com/office/drawing/2014/main" id="{F7EA6340-0D39-4ED7-B816-D021B7594B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5770" y="2786835"/>
            <a:ext cx="5829300" cy="121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60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97C447-B222-460C-8964-32EAC648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Equijoin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9493538-9845-4E65-8B87-1C440A6D2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Někdy je nazýván jako jednoduchý nebo vnitřní </a:t>
            </a:r>
            <a:r>
              <a:rPr lang="cs-CZ" dirty="0" err="1"/>
              <a:t>join</a:t>
            </a:r>
            <a:r>
              <a:rPr lang="cs-CZ" dirty="0"/>
              <a:t>, </a:t>
            </a:r>
            <a:r>
              <a:rPr lang="cs-CZ" dirty="0" err="1"/>
              <a:t>equijoin</a:t>
            </a:r>
            <a:r>
              <a:rPr lang="cs-CZ" dirty="0"/>
              <a:t> je tabulkové spojení, které kombinuje řádky, které mají stejnou hodnotu ve specifikovaném sloupci. </a:t>
            </a:r>
            <a:r>
              <a:rPr lang="cs-CZ" dirty="0" err="1"/>
              <a:t>Equijoin</a:t>
            </a:r>
            <a:r>
              <a:rPr lang="cs-CZ" dirty="0"/>
              <a:t> je ekvivalentem k ANSI na natural </a:t>
            </a:r>
            <a:r>
              <a:rPr lang="cs-CZ" dirty="0" err="1"/>
              <a:t>join</a:t>
            </a:r>
            <a:r>
              <a:rPr lang="cs-CZ" dirty="0"/>
              <a:t>, </a:t>
            </a:r>
            <a:r>
              <a:rPr lang="cs-CZ" dirty="0" err="1"/>
              <a:t>join</a:t>
            </a:r>
            <a:r>
              <a:rPr lang="cs-CZ" dirty="0"/>
              <a:t> ... </a:t>
            </a:r>
            <a:r>
              <a:rPr lang="cs-CZ" dirty="0" err="1"/>
              <a:t>using</a:t>
            </a:r>
            <a:r>
              <a:rPr lang="cs-CZ" dirty="0"/>
              <a:t>, </a:t>
            </a:r>
            <a:r>
              <a:rPr lang="cs-CZ" dirty="0" err="1"/>
              <a:t>join</a:t>
            </a:r>
            <a:r>
              <a:rPr lang="cs-CZ" dirty="0"/>
              <a:t> ... on</a:t>
            </a:r>
          </a:p>
          <a:p>
            <a:r>
              <a:rPr lang="cs-CZ" b="1" dirty="0"/>
              <a:t>Co spojujeme? </a:t>
            </a:r>
            <a:r>
              <a:rPr lang="cs-CZ" dirty="0" err="1"/>
              <a:t>Selectem</a:t>
            </a:r>
            <a:r>
              <a:rPr lang="cs-CZ" dirty="0"/>
              <a:t> vybereme sloupce, které se mají zobrazit.</a:t>
            </a:r>
          </a:p>
          <a:p>
            <a:r>
              <a:rPr lang="cs-CZ" b="1" dirty="0"/>
              <a:t>Kde?</a:t>
            </a:r>
            <a:r>
              <a:rPr lang="cs-CZ" dirty="0"/>
              <a:t> Klauzule </a:t>
            </a:r>
            <a:r>
              <a:rPr lang="cs-CZ" dirty="0" err="1"/>
              <a:t>from</a:t>
            </a:r>
            <a:r>
              <a:rPr lang="cs-CZ" dirty="0"/>
              <a:t> specifikuje tabulky, do které databáze musí přistoupit, jsou odděleně čárkami</a:t>
            </a:r>
          </a:p>
          <a:p>
            <a:r>
              <a:rPr lang="cs-CZ" b="1" dirty="0"/>
              <a:t>Jak?</a:t>
            </a:r>
            <a:r>
              <a:rPr lang="cs-CZ" dirty="0"/>
              <a:t> Klauzule </a:t>
            </a:r>
            <a:r>
              <a:rPr lang="cs-CZ" dirty="0" err="1"/>
              <a:t>where</a:t>
            </a:r>
            <a:r>
              <a:rPr lang="cs-CZ" dirty="0"/>
              <a:t> specifikuje jak mají být tabulky spojeny.</a:t>
            </a:r>
          </a:p>
          <a:p>
            <a:r>
              <a:rPr lang="cs-CZ" dirty="0" err="1"/>
              <a:t>Equijoin</a:t>
            </a:r>
            <a:r>
              <a:rPr lang="cs-CZ" dirty="0"/>
              <a:t> používá </a:t>
            </a:r>
            <a:r>
              <a:rPr lang="cs-CZ" b="1" dirty="0"/>
              <a:t>rovnítko</a:t>
            </a:r>
            <a:r>
              <a:rPr lang="cs-CZ" dirty="0"/>
              <a:t> jako specifikaci spojovací podmínky.</a:t>
            </a:r>
          </a:p>
        </p:txBody>
      </p:sp>
    </p:spTree>
    <p:extLst>
      <p:ext uri="{BB962C8B-B14F-4D97-AF65-F5344CB8AC3E}">
        <p14:creationId xmlns:p14="http://schemas.microsoft.com/office/powerpoint/2010/main" val="1942992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CBD16E-934E-44A6-9A12-2212834E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Equijoin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4EB3AC3-64E1-4972-BC45-358272196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52">
            <a:extLst>
              <a:ext uri="{FF2B5EF4-FFF2-40B4-BE49-F238E27FC236}">
                <a16:creationId xmlns:a16="http://schemas.microsoft.com/office/drawing/2014/main" id="{EE4C089D-1650-40BC-9983-C624523166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690687"/>
            <a:ext cx="6647935" cy="3622717"/>
          </a:xfrm>
          <a:prstGeom prst="rect">
            <a:avLst/>
          </a:prstGeom>
        </p:spPr>
      </p:pic>
      <p:pic>
        <p:nvPicPr>
          <p:cNvPr id="5" name="Picture 153">
            <a:extLst>
              <a:ext uri="{FF2B5EF4-FFF2-40B4-BE49-F238E27FC236}">
                <a16:creationId xmlns:a16="http://schemas.microsoft.com/office/drawing/2014/main" id="{CB2DDB75-694F-4E62-A007-9736DB4CC5D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44281" y="3908476"/>
            <a:ext cx="5774724" cy="280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3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1AAAEE-45D3-4EC6-B3A9-A2DCAAD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Kartézský součin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FF0E1D6-4EF9-49C8-9E32-9407A4E6C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Pokud spojení dvou tabulek nemá žádnou spojovací podmínku specifikovanou v klauzuli </a:t>
            </a:r>
            <a:r>
              <a:rPr lang="cs-CZ" dirty="0" err="1"/>
              <a:t>where</a:t>
            </a:r>
            <a:r>
              <a:rPr lang="cs-CZ" dirty="0"/>
              <a:t> nebo je spojovací podmínka neplatná, </a:t>
            </a:r>
            <a:r>
              <a:rPr lang="cs-CZ" dirty="0" err="1"/>
              <a:t>oracle</a:t>
            </a:r>
            <a:r>
              <a:rPr lang="cs-CZ" dirty="0"/>
              <a:t> vrátí kartézský součin obou tabulek, což je </a:t>
            </a:r>
            <a:r>
              <a:rPr lang="cs-CZ" b="1" dirty="0"/>
              <a:t>kombinace každého řádku a každého sloupce</a:t>
            </a:r>
            <a:r>
              <a:rPr lang="cs-CZ" dirty="0"/>
              <a:t> v obou tabulkách. Je to ekvivalent </a:t>
            </a:r>
            <a:r>
              <a:rPr lang="cs-CZ" dirty="0" err="1"/>
              <a:t>cross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podle standardu ANSI. </a:t>
            </a:r>
          </a:p>
          <a:p>
            <a:r>
              <a:rPr lang="cs-CZ" dirty="0"/>
              <a:t>Pro to, abychom se vyhnuli provedení kartézského součinu je vždy nutné zahrnout správnou spojovací podmínku do klauzule </a:t>
            </a:r>
            <a:r>
              <a:rPr lang="cs-CZ" dirty="0" err="1"/>
              <a:t>where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3141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88640F-3E6E-41F4-A6FF-9C07C3E1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Kartézský součin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17BE6B9-C6F3-4497-9549-68F06058C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Příklad ukazuje neplatnou podmínku spojení.</a:t>
            </a:r>
          </a:p>
        </p:txBody>
      </p:sp>
      <p:pic>
        <p:nvPicPr>
          <p:cNvPr id="4" name="Picture 154">
            <a:extLst>
              <a:ext uri="{FF2B5EF4-FFF2-40B4-BE49-F238E27FC236}">
                <a16:creationId xmlns:a16="http://schemas.microsoft.com/office/drawing/2014/main" id="{8A9DA86A-241E-42CB-8225-8AF00FAEDE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1" y="2552699"/>
            <a:ext cx="7144264" cy="399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7B8740-E690-4627-B06F-5422F3AC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Kartézský součin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AE9972E-4160-4C64-B013-91B674C9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Stejně jako v běžném </a:t>
            </a:r>
            <a:r>
              <a:rPr lang="cs-CZ" dirty="0" err="1"/>
              <a:t>jednotabulkovem</a:t>
            </a:r>
            <a:r>
              <a:rPr lang="cs-CZ" dirty="0"/>
              <a:t> dotazů, můžeme i při spojování omezovat zobrazené řádky pomoci podmínek. To provádíme zřetězením operátorem AND.</a:t>
            </a:r>
          </a:p>
        </p:txBody>
      </p:sp>
      <p:pic>
        <p:nvPicPr>
          <p:cNvPr id="4" name="Picture 155">
            <a:extLst>
              <a:ext uri="{FF2B5EF4-FFF2-40B4-BE49-F238E27FC236}">
                <a16:creationId xmlns:a16="http://schemas.microsoft.com/office/drawing/2014/main" id="{0EF63D21-2B16-4526-B1A2-68DB2A52DF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3658758"/>
            <a:ext cx="6674708" cy="28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49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D5D504-7121-4014-B5E5-E986901F5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Aliasy</a:t>
            </a:r>
            <a:r>
              <a:rPr lang="cs-CZ" dirty="0"/>
              <a:t> tabulek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A46CFF3-7793-4458-984C-41905617F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Práce s dlouhými názvy sloupců může být velmi namáhavá. Naštěstí je zde možnost používat kratší názvy, tedy </a:t>
            </a:r>
            <a:r>
              <a:rPr lang="cs-CZ" dirty="0" err="1"/>
              <a:t>aliasy</a:t>
            </a:r>
            <a:r>
              <a:rPr lang="cs-CZ" dirty="0"/>
              <a:t>. Stejně tak jsou používány pro názvy tabulek k rozlišení sloupců s identickými názvy, ale nacházejícími se v rozdílných tabulkách. </a:t>
            </a:r>
          </a:p>
          <a:p>
            <a:r>
              <a:rPr lang="cs-CZ" dirty="0"/>
              <a:t>Alias tabulky je podobný k </a:t>
            </a:r>
            <a:r>
              <a:rPr lang="cs-CZ" dirty="0" err="1"/>
              <a:t>aliasu</a:t>
            </a:r>
            <a:r>
              <a:rPr lang="cs-CZ" dirty="0"/>
              <a:t> sloupce, tedy přejmenovává objekt.</a:t>
            </a:r>
          </a:p>
        </p:txBody>
      </p:sp>
      <p:pic>
        <p:nvPicPr>
          <p:cNvPr id="4" name="Picture 156">
            <a:extLst>
              <a:ext uri="{FF2B5EF4-FFF2-40B4-BE49-F238E27FC236}">
                <a16:creationId xmlns:a16="http://schemas.microsoft.com/office/drawing/2014/main" id="{B1C1441E-0056-4515-A481-B41CC8C04A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4212881"/>
            <a:ext cx="6897130" cy="245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71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F2B570-CFA1-4DC5-8FB0-164CF8B6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Aliasy</a:t>
            </a:r>
            <a:r>
              <a:rPr lang="cs-CZ" dirty="0"/>
              <a:t> tabulek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B169DA9-96BE-4E2E-9538-E41111039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Pozor! Jakmile jednou dáte tabulce alias, potom je nutné jej používat úplně všude.</a:t>
            </a:r>
          </a:p>
        </p:txBody>
      </p:sp>
      <p:pic>
        <p:nvPicPr>
          <p:cNvPr id="4" name="Picture 157">
            <a:extLst>
              <a:ext uri="{FF2B5EF4-FFF2-40B4-BE49-F238E27FC236}">
                <a16:creationId xmlns:a16="http://schemas.microsoft.com/office/drawing/2014/main" id="{22180E10-50CF-4399-ACBC-53E119F150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3058319"/>
            <a:ext cx="6773562" cy="163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80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7093D1-5F1A-4B4F-A0BC-7738E2F0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syntaxe </a:t>
            </a:r>
            <a:r>
              <a:rPr lang="cs-CZ" dirty="0" err="1"/>
              <a:t>join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756E502-B455-4B27-87D2-D31AE34CF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cs-CZ" dirty="0"/>
              <a:t>Pokud chcete spojit 3 tabulky dohromady, kolik </a:t>
            </a:r>
            <a:r>
              <a:rPr lang="cs-CZ" dirty="0" err="1"/>
              <a:t>joinu</a:t>
            </a:r>
            <a:r>
              <a:rPr lang="cs-CZ" dirty="0"/>
              <a:t> budete potřebovat? Kolik mostů je třeba ke spojení 3 ostrovů? Ke spojení 3 tabulek potřebujete přidat </a:t>
            </a:r>
            <a:r>
              <a:rPr lang="cs-CZ" dirty="0" err="1"/>
              <a:t>join</a:t>
            </a:r>
            <a:r>
              <a:rPr lang="cs-CZ" dirty="0"/>
              <a:t> podmínku do klauzule </a:t>
            </a:r>
            <a:r>
              <a:rPr lang="cs-CZ" dirty="0" err="1"/>
              <a:t>where</a:t>
            </a:r>
            <a:r>
              <a:rPr lang="cs-CZ" dirty="0"/>
              <a:t> a použít and operátor.</a:t>
            </a:r>
          </a:p>
        </p:txBody>
      </p:sp>
      <p:pic>
        <p:nvPicPr>
          <p:cNvPr id="4" name="Picture 158">
            <a:extLst>
              <a:ext uri="{FF2B5EF4-FFF2-40B4-BE49-F238E27FC236}">
                <a16:creationId xmlns:a16="http://schemas.microsoft.com/office/drawing/2014/main" id="{3DBBA670-871E-4AD8-B1D9-28DDC288C4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8864" y="3634581"/>
            <a:ext cx="3786573" cy="912705"/>
          </a:xfrm>
          <a:prstGeom prst="rect">
            <a:avLst/>
          </a:prstGeom>
        </p:spPr>
      </p:pic>
      <p:pic>
        <p:nvPicPr>
          <p:cNvPr id="5" name="Picture 159">
            <a:extLst>
              <a:ext uri="{FF2B5EF4-FFF2-40B4-BE49-F238E27FC236}">
                <a16:creationId xmlns:a16="http://schemas.microsoft.com/office/drawing/2014/main" id="{F749F508-D771-4F13-BB2C-837B54A549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75437" y="3603688"/>
            <a:ext cx="7427699" cy="289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63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DF61C4-0D00-4BF0-821B-A96A7F76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nonequijoin</a:t>
            </a:r>
            <a:r>
              <a:rPr lang="cs-CZ" dirty="0"/>
              <a:t> a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C3CC836-7A5E-4ABC-A80E-6435C7E27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se stane, když budeme chtít získat data z tabulky, která nemá žádný korespondující sloupec ve druhé tabulce? </a:t>
            </a:r>
          </a:p>
          <a:p>
            <a:r>
              <a:rPr lang="cs-CZ" dirty="0" err="1"/>
              <a:t>Joiny</a:t>
            </a:r>
            <a:r>
              <a:rPr lang="cs-CZ" dirty="0"/>
              <a:t>, které jsme probírali doteď vracely řádky, které měly shodné hodnoty v obou tabulkách. </a:t>
            </a:r>
          </a:p>
          <a:p>
            <a:r>
              <a:rPr lang="cs-CZ" dirty="0"/>
              <a:t>Řádky, které podmínku nesplňovaly byly zahozeny. Někdy však nicméně potřebujeme všechna data z jedné tabulky i když neodpovídají záznamům v tabulce druhé.</a:t>
            </a:r>
          </a:p>
        </p:txBody>
      </p:sp>
    </p:spTree>
    <p:extLst>
      <p:ext uri="{BB962C8B-B14F-4D97-AF65-F5344CB8AC3E}">
        <p14:creationId xmlns:p14="http://schemas.microsoft.com/office/powerpoint/2010/main" val="1942478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75AC6D-D1CE-437D-85A5-999D9E85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Nonequijoin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FD9A91E-8918-4C5F-B2A1-2EBCF9E61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Příklad, chceme vědět </a:t>
            </a:r>
            <a:r>
              <a:rPr lang="cs-CZ" dirty="0" err="1"/>
              <a:t>grade_level</a:t>
            </a:r>
            <a:r>
              <a:rPr lang="cs-CZ" dirty="0"/>
              <a:t> pro každou mzdu zaměstnance. Tabulka </a:t>
            </a:r>
            <a:r>
              <a:rPr lang="cs-CZ" dirty="0" err="1"/>
              <a:t>job:grades</a:t>
            </a:r>
            <a:r>
              <a:rPr lang="cs-CZ" dirty="0"/>
              <a:t> nemá žádný sloupec </a:t>
            </a:r>
            <a:r>
              <a:rPr lang="cs-CZ" dirty="0" err="1"/>
              <a:t>odpovidajici</a:t>
            </a:r>
            <a:r>
              <a:rPr lang="cs-CZ" dirty="0"/>
              <a:t> tabulce </a:t>
            </a:r>
            <a:r>
              <a:rPr lang="cs-CZ" dirty="0" err="1"/>
              <a:t>employees</a:t>
            </a:r>
            <a:r>
              <a:rPr lang="cs-CZ" dirty="0"/>
              <a:t>. I přesto jsme schopni tabulky spojit.</a:t>
            </a:r>
          </a:p>
          <a:p>
            <a:r>
              <a:rPr lang="cs-CZ" dirty="0"/>
              <a:t>Protože tu není žádná jasná spojitost mezi dvěma </a:t>
            </a:r>
            <a:br>
              <a:rPr lang="cs-CZ" dirty="0"/>
            </a:br>
            <a:r>
              <a:rPr lang="cs-CZ" dirty="0"/>
              <a:t>sloupci v tabulkách, nelze použít operátor =. I když </a:t>
            </a:r>
            <a:br>
              <a:rPr lang="cs-CZ" dirty="0"/>
            </a:br>
            <a:r>
              <a:rPr lang="cs-CZ" dirty="0"/>
              <a:t>mohou být použity operátory &gt;= nebo &lt;=, </a:t>
            </a:r>
            <a:br>
              <a:rPr lang="cs-CZ" dirty="0"/>
            </a:br>
            <a:r>
              <a:rPr lang="cs-CZ" dirty="0" err="1"/>
              <a:t>between</a:t>
            </a:r>
            <a:r>
              <a:rPr lang="cs-CZ" dirty="0"/>
              <a:t>...and je více efektivní způsob pro spuštění </a:t>
            </a:r>
            <a:br>
              <a:rPr lang="cs-CZ" dirty="0"/>
            </a:br>
            <a:r>
              <a:rPr lang="cs-CZ" dirty="0" err="1"/>
              <a:t>equijoinu</a:t>
            </a:r>
            <a:r>
              <a:rPr lang="cs-CZ" dirty="0"/>
              <a:t>. Je to ekvivalent k </a:t>
            </a:r>
            <a:r>
              <a:rPr lang="cs-CZ" dirty="0" err="1"/>
              <a:t>ansi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...on.</a:t>
            </a:r>
          </a:p>
        </p:txBody>
      </p:sp>
      <p:pic>
        <p:nvPicPr>
          <p:cNvPr id="4" name="Picture 160">
            <a:extLst>
              <a:ext uri="{FF2B5EF4-FFF2-40B4-BE49-F238E27FC236}">
                <a16:creationId xmlns:a16="http://schemas.microsoft.com/office/drawing/2014/main" id="{7CB3D8C8-6B1A-4E5B-8731-9A942BF59A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921578" y="3248819"/>
            <a:ext cx="2880283" cy="29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235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85475-E7D2-4F91-B453-07EE21A9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Nonequijoin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1EBFFF3-4EE7-4700-A150-27CA6FC95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61">
            <a:extLst>
              <a:ext uri="{FF2B5EF4-FFF2-40B4-BE49-F238E27FC236}">
                <a16:creationId xmlns:a16="http://schemas.microsoft.com/office/drawing/2014/main" id="{E5FB73BB-919F-440C-83FB-0E1A39F91D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701216" cy="462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273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E56907-DA40-4B82-A543-89B26952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49A90B2-6407-4CB2-A066-C03714B5B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Tento </a:t>
            </a:r>
            <a:r>
              <a:rPr lang="cs-CZ" dirty="0" err="1"/>
              <a:t>join</a:t>
            </a:r>
            <a:r>
              <a:rPr lang="cs-CZ" dirty="0"/>
              <a:t> je používán pro zobrazení řádku, které mají korespondující hodnotu v jiné tabulce plus ty řádky v jedné z tabulek, které nemají žádnou odpovídající hodnotu v jiné tabulce. </a:t>
            </a:r>
          </a:p>
          <a:p>
            <a:r>
              <a:rPr lang="cs-CZ" dirty="0"/>
              <a:t>Pro indikaci, která tabulka může mít chybějící data, přidejte znaménko + za název sloupce tabulky v klauzuli </a:t>
            </a:r>
            <a:r>
              <a:rPr lang="cs-CZ" dirty="0" err="1"/>
              <a:t>where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06397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9908BC-DC50-4395-8D6A-A00065F2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56BC3DA-9A60-481F-9F74-6F59DACA5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62">
            <a:extLst>
              <a:ext uri="{FF2B5EF4-FFF2-40B4-BE49-F238E27FC236}">
                <a16:creationId xmlns:a16="http://schemas.microsoft.com/office/drawing/2014/main" id="{E5AF6255-59F5-4EE3-89F8-F59C819AF1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984524" cy="480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44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237CBD-C422-4AC6-9DF5-01FC04F5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5BAFE35-D939-41A0-B1A8-F05498C6E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63">
            <a:extLst>
              <a:ext uri="{FF2B5EF4-FFF2-40B4-BE49-F238E27FC236}">
                <a16:creationId xmlns:a16="http://schemas.microsoft.com/office/drawing/2014/main" id="{BEF5159A-48C2-4B13-AB0C-E9E7B5E287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8682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466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27F293-40AA-4CAB-AC1A-F9514565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 IV.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5953D73-BBE9-4A37-99E1-F3D17C3E6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Není však možné přidat znaménko + na obě tabulky, abychom dostali ekvivalent full </a:t>
            </a:r>
            <a:r>
              <a:rPr lang="cs-CZ" dirty="0" err="1"/>
              <a:t>outer</a:t>
            </a:r>
            <a:r>
              <a:rPr lang="cs-CZ" dirty="0"/>
              <a:t> </a:t>
            </a:r>
            <a:r>
              <a:rPr lang="cs-CZ" dirty="0" err="1"/>
              <a:t>join</a:t>
            </a:r>
            <a:r>
              <a:rPr lang="cs-CZ" dirty="0"/>
              <a:t>. Výsledkem je </a:t>
            </a:r>
            <a:r>
              <a:rPr lang="cs-CZ" dirty="0" err="1"/>
              <a:t>error</a:t>
            </a:r>
            <a:r>
              <a:rPr lang="cs-CZ" dirty="0"/>
              <a:t>.</a:t>
            </a:r>
          </a:p>
        </p:txBody>
      </p:sp>
      <p:pic>
        <p:nvPicPr>
          <p:cNvPr id="4" name="Picture 164">
            <a:extLst>
              <a:ext uri="{FF2B5EF4-FFF2-40B4-BE49-F238E27FC236}">
                <a16:creationId xmlns:a16="http://schemas.microsoft.com/office/drawing/2014/main" id="{0FAAC064-A0EE-40AD-9C37-7DC778CCA4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907184"/>
            <a:ext cx="8305800" cy="218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09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9D694C-39C1-4C7B-A5B0-2E31C2FEB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Závěrečné porovnání mezi standardem ISO a ORACLE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B484F3B-DF95-4168-A634-A3491CD0C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65">
            <a:extLst>
              <a:ext uri="{FF2B5EF4-FFF2-40B4-BE49-F238E27FC236}">
                <a16:creationId xmlns:a16="http://schemas.microsoft.com/office/drawing/2014/main" id="{5F2E1401-7C5F-4367-8962-924D2947FB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727724" cy="472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3175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1543</Words>
  <Application>Microsoft Office PowerPoint</Application>
  <PresentationFormat>Širokoúhlá obrazovka</PresentationFormat>
  <Paragraphs>106</Paragraphs>
  <Slides>43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Motiv Office</vt:lpstr>
      <vt:lpstr>Join… aneb spojujeme tabulky</vt:lpstr>
      <vt:lpstr>Úvodem…</vt:lpstr>
      <vt:lpstr>Natural join I.</vt:lpstr>
      <vt:lpstr>Natural join II.</vt:lpstr>
      <vt:lpstr>Cross join</vt:lpstr>
      <vt:lpstr>Klauzule USING I.</vt:lpstr>
      <vt:lpstr>Klauzule USING II.</vt:lpstr>
      <vt:lpstr>Klauzule ON I.</vt:lpstr>
      <vt:lpstr>Klauzule ON II.</vt:lpstr>
      <vt:lpstr>Spojování 3 tabulek</vt:lpstr>
      <vt:lpstr>Vnitřní a vnější join</vt:lpstr>
      <vt:lpstr>Left outer join</vt:lpstr>
      <vt:lpstr>Right outer join</vt:lpstr>
      <vt:lpstr>Full outer join</vt:lpstr>
      <vt:lpstr>Prezentace aplikace PowerPoint</vt:lpstr>
      <vt:lpstr>Self join a hierarchické dotazy I.</vt:lpstr>
      <vt:lpstr>Self join a hierarchické dotazy II.</vt:lpstr>
      <vt:lpstr>Self join a hierarchické dotazy III.</vt:lpstr>
      <vt:lpstr>Self join a hierarchické dotazy IV.</vt:lpstr>
      <vt:lpstr>Self join a hierarchické dotazy V.</vt:lpstr>
      <vt:lpstr>START WITH, CONNECT BY, PRIOR, LEVEL I.</vt:lpstr>
      <vt:lpstr>START WITH, CONNECT BY, PRIOR, LEVEL II.</vt:lpstr>
      <vt:lpstr>START WITH, CONNECT BY, PRIOR, LEVEL III.</vt:lpstr>
      <vt:lpstr>START WITH, CONNECT BY, PRIOR, LEVEL IV.</vt:lpstr>
      <vt:lpstr>Porovnání rozdílností syntaxí ISO a ORACLE</vt:lpstr>
      <vt:lpstr>Oracle equijoin a kartézský součin</vt:lpstr>
      <vt:lpstr>Oracle proprietární join</vt:lpstr>
      <vt:lpstr>Equijoin I.</vt:lpstr>
      <vt:lpstr>Equijoin II.</vt:lpstr>
      <vt:lpstr>Kartézský součin I.</vt:lpstr>
      <vt:lpstr>Kartézský součin II.</vt:lpstr>
      <vt:lpstr>Kartézský součin III.</vt:lpstr>
      <vt:lpstr>Aliasy tabulek I.</vt:lpstr>
      <vt:lpstr>Aliasy tabulek II.</vt:lpstr>
      <vt:lpstr>Příklad syntaxe join</vt:lpstr>
      <vt:lpstr>Oracle nonequijoin a outer join</vt:lpstr>
      <vt:lpstr>Nonequijoin I.</vt:lpstr>
      <vt:lpstr>Nonequijoin II.</vt:lpstr>
      <vt:lpstr>Outer join I.</vt:lpstr>
      <vt:lpstr>Outer join II.</vt:lpstr>
      <vt:lpstr>Outer join III.</vt:lpstr>
      <vt:lpstr>Outer join IV.</vt:lpstr>
      <vt:lpstr>Závěrečné porovnání mezi standardem ISO a ORACLE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Join… aneb spojujeme tabulky</dc:title>
  <dc:creator>Veronika Hurtová</dc:creator>
  <cp:lastModifiedBy>Veronika Hurtová</cp:lastModifiedBy>
  <cp:revision>21</cp:revision>
  <dcterms:created xsi:type="dcterms:W3CDTF">2017-10-25T13:23:46Z</dcterms:created>
  <dcterms:modified xsi:type="dcterms:W3CDTF">2018-01-02T21:36:11Z</dcterms:modified>
</cp:coreProperties>
</file>