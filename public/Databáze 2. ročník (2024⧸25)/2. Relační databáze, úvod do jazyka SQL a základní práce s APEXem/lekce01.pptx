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5" d="100"/>
          <a:sy n="115" d="100"/>
        </p:scale>
        <p:origin x="4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28EA1E4-97A9-40FE-BFF4-1A12561442FD}"/>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086AD003-C231-47B5-B874-F30C5576B4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3A0AD7A0-6F9D-4C58-A1A5-D9CFDB553007}"/>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5" name="Zástupný symbol pro zápatí 4">
            <a:extLst>
              <a:ext uri="{FF2B5EF4-FFF2-40B4-BE49-F238E27FC236}">
                <a16:creationId xmlns:a16="http://schemas.microsoft.com/office/drawing/2014/main" id="{208E3FEB-E82C-4137-ADC3-6D1DE1DAD59C}"/>
              </a:ext>
            </a:extLst>
          </p:cNvPr>
          <p:cNvSpPr>
            <a:spLocks noGrp="1"/>
          </p:cNvSpPr>
          <p:nvPr>
            <p:ph type="ftr" sz="quarter" idx="11"/>
          </p:nvPr>
        </p:nvSpPr>
        <p:spPr/>
        <p:txBody>
          <a:bodyPr/>
          <a:lstStyle/>
          <a:p>
            <a:endParaRPr lang="en-US" dirty="0"/>
          </a:p>
        </p:txBody>
      </p:sp>
      <p:sp>
        <p:nvSpPr>
          <p:cNvPr id="6" name="Zástupný symbol pro číslo snímku 5">
            <a:extLst>
              <a:ext uri="{FF2B5EF4-FFF2-40B4-BE49-F238E27FC236}">
                <a16:creationId xmlns:a16="http://schemas.microsoft.com/office/drawing/2014/main" id="{EFB85B76-B80F-497F-817D-61926B917F9F}"/>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609077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4AEF8CB-6715-4993-8656-272144509DD7}"/>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CF26519C-1E16-4C69-A2FD-C34A51045A4C}"/>
              </a:ext>
            </a:extLst>
          </p:cNvPr>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9E1BC708-72B2-4C8E-BD07-1E41337B5D44}"/>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5" name="Zástupný symbol pro zápatí 4">
            <a:extLst>
              <a:ext uri="{FF2B5EF4-FFF2-40B4-BE49-F238E27FC236}">
                <a16:creationId xmlns:a16="http://schemas.microsoft.com/office/drawing/2014/main" id="{44D952AE-7DAB-44C1-B638-A30AE29176EB}"/>
              </a:ext>
            </a:extLst>
          </p:cNvPr>
          <p:cNvSpPr>
            <a:spLocks noGrp="1"/>
          </p:cNvSpPr>
          <p:nvPr>
            <p:ph type="ftr" sz="quarter" idx="11"/>
          </p:nvPr>
        </p:nvSpPr>
        <p:spPr/>
        <p:txBody>
          <a:bodyPr/>
          <a:lstStyle/>
          <a:p>
            <a:endParaRPr lang="en-US" dirty="0"/>
          </a:p>
        </p:txBody>
      </p:sp>
      <p:sp>
        <p:nvSpPr>
          <p:cNvPr id="6" name="Zástupný symbol pro číslo snímku 5">
            <a:extLst>
              <a:ext uri="{FF2B5EF4-FFF2-40B4-BE49-F238E27FC236}">
                <a16:creationId xmlns:a16="http://schemas.microsoft.com/office/drawing/2014/main" id="{736F8A72-2C68-40F9-92E2-0E739DEBC42C}"/>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970188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53F722E-F71B-4CB8-8F50-07AEB9AFC07E}"/>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symbol pro text 2">
            <a:extLst>
              <a:ext uri="{FF2B5EF4-FFF2-40B4-BE49-F238E27FC236}">
                <a16:creationId xmlns:a16="http://schemas.microsoft.com/office/drawing/2014/main" id="{CD55E07E-1500-45DB-82D0-9350FB0912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Upravte styly předlohy textu.</a:t>
            </a:r>
          </a:p>
        </p:txBody>
      </p:sp>
      <p:sp>
        <p:nvSpPr>
          <p:cNvPr id="4" name="Zástupný symbol pro datum 3">
            <a:extLst>
              <a:ext uri="{FF2B5EF4-FFF2-40B4-BE49-F238E27FC236}">
                <a16:creationId xmlns:a16="http://schemas.microsoft.com/office/drawing/2014/main" id="{94B6EA01-8E43-44C2-8105-0238E9064915}"/>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5" name="Zástupný symbol pro zápatí 4">
            <a:extLst>
              <a:ext uri="{FF2B5EF4-FFF2-40B4-BE49-F238E27FC236}">
                <a16:creationId xmlns:a16="http://schemas.microsoft.com/office/drawing/2014/main" id="{83BB9C5D-DEAA-440C-B254-4A4010C142F9}"/>
              </a:ext>
            </a:extLst>
          </p:cNvPr>
          <p:cNvSpPr>
            <a:spLocks noGrp="1"/>
          </p:cNvSpPr>
          <p:nvPr>
            <p:ph type="ftr" sz="quarter" idx="11"/>
          </p:nvPr>
        </p:nvSpPr>
        <p:spPr/>
        <p:txBody>
          <a:bodyPr/>
          <a:lstStyle/>
          <a:p>
            <a:endParaRPr lang="en-US" dirty="0"/>
          </a:p>
        </p:txBody>
      </p:sp>
      <p:sp>
        <p:nvSpPr>
          <p:cNvPr id="6" name="Zástupný symbol pro číslo snímku 5">
            <a:extLst>
              <a:ext uri="{FF2B5EF4-FFF2-40B4-BE49-F238E27FC236}">
                <a16:creationId xmlns:a16="http://schemas.microsoft.com/office/drawing/2014/main" id="{D83581A5-B2CE-4A14-BFD6-B2B665D9E30B}"/>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686824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BC948C8-6FF5-4FAE-A1A4-2CC2EA0AC1F3}"/>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86851CB6-C53C-4CB3-B22C-DD09E21EA163}"/>
              </a:ext>
            </a:extLst>
          </p:cNvPr>
          <p:cNvSpPr>
            <a:spLocks noGrp="1"/>
          </p:cNvSpPr>
          <p:nvPr>
            <p:ph sz="half" idx="1"/>
          </p:nvPr>
        </p:nvSpPr>
        <p:spPr>
          <a:xfrm>
            <a:off x="838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a:extLst>
              <a:ext uri="{FF2B5EF4-FFF2-40B4-BE49-F238E27FC236}">
                <a16:creationId xmlns:a16="http://schemas.microsoft.com/office/drawing/2014/main" id="{A86F2B0C-0A89-41E9-8B5C-FA34E0E46C9F}"/>
              </a:ext>
            </a:extLst>
          </p:cNvPr>
          <p:cNvSpPr>
            <a:spLocks noGrp="1"/>
          </p:cNvSpPr>
          <p:nvPr>
            <p:ph sz="half" idx="2"/>
          </p:nvPr>
        </p:nvSpPr>
        <p:spPr>
          <a:xfrm>
            <a:off x="6172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ED0DF93A-C0D7-400D-B622-FDC110322B31}"/>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6" name="Zástupný symbol pro zápatí 5">
            <a:extLst>
              <a:ext uri="{FF2B5EF4-FFF2-40B4-BE49-F238E27FC236}">
                <a16:creationId xmlns:a16="http://schemas.microsoft.com/office/drawing/2014/main" id="{49201F98-3639-448D-977D-9DCE6C268A76}"/>
              </a:ext>
            </a:extLst>
          </p:cNvPr>
          <p:cNvSpPr>
            <a:spLocks noGrp="1"/>
          </p:cNvSpPr>
          <p:nvPr>
            <p:ph type="ftr" sz="quarter" idx="11"/>
          </p:nvPr>
        </p:nvSpPr>
        <p:spPr/>
        <p:txBody>
          <a:bodyPr/>
          <a:lstStyle/>
          <a:p>
            <a:endParaRPr lang="en-US" dirty="0"/>
          </a:p>
        </p:txBody>
      </p:sp>
      <p:sp>
        <p:nvSpPr>
          <p:cNvPr id="7" name="Zástupný symbol pro číslo snímku 6">
            <a:extLst>
              <a:ext uri="{FF2B5EF4-FFF2-40B4-BE49-F238E27FC236}">
                <a16:creationId xmlns:a16="http://schemas.microsoft.com/office/drawing/2014/main" id="{E1F0F7B4-C4E6-4368-8131-CF8A56AF07B0}"/>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179960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6B26511-F43A-4CB7-8FB9-68E162951E44}"/>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symbol pro text 2">
            <a:extLst>
              <a:ext uri="{FF2B5EF4-FFF2-40B4-BE49-F238E27FC236}">
                <a16:creationId xmlns:a16="http://schemas.microsoft.com/office/drawing/2014/main" id="{D35081BA-3A67-428C-BF15-0B3B4B2BC8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Zástupný symbol pro obsah 3">
            <a:extLst>
              <a:ext uri="{FF2B5EF4-FFF2-40B4-BE49-F238E27FC236}">
                <a16:creationId xmlns:a16="http://schemas.microsoft.com/office/drawing/2014/main" id="{A1657EA9-E39A-46B5-BC63-DDEB09AC5C1C}"/>
              </a:ext>
            </a:extLst>
          </p:cNvPr>
          <p:cNvSpPr>
            <a:spLocks noGrp="1"/>
          </p:cNvSpPr>
          <p:nvPr>
            <p:ph sz="half" idx="2"/>
          </p:nvPr>
        </p:nvSpPr>
        <p:spPr>
          <a:xfrm>
            <a:off x="839788" y="2505075"/>
            <a:ext cx="5157787"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a:extLst>
              <a:ext uri="{FF2B5EF4-FFF2-40B4-BE49-F238E27FC236}">
                <a16:creationId xmlns:a16="http://schemas.microsoft.com/office/drawing/2014/main" id="{AB9DD57F-93D0-4D60-A1C9-A3F0027B34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6" name="Zástupný symbol pro obsah 5">
            <a:extLst>
              <a:ext uri="{FF2B5EF4-FFF2-40B4-BE49-F238E27FC236}">
                <a16:creationId xmlns:a16="http://schemas.microsoft.com/office/drawing/2014/main" id="{E69F5D9F-5974-452A-90BD-DC64EE06404E}"/>
              </a:ext>
            </a:extLst>
          </p:cNvPr>
          <p:cNvSpPr>
            <a:spLocks noGrp="1"/>
          </p:cNvSpPr>
          <p:nvPr>
            <p:ph sz="quarter" idx="4"/>
          </p:nvPr>
        </p:nvSpPr>
        <p:spPr>
          <a:xfrm>
            <a:off x="6172200" y="2505075"/>
            <a:ext cx="5183188"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7502F028-D7C7-49E1-A64A-B9647C8BB9B0}"/>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8" name="Zástupný symbol pro zápatí 7">
            <a:extLst>
              <a:ext uri="{FF2B5EF4-FFF2-40B4-BE49-F238E27FC236}">
                <a16:creationId xmlns:a16="http://schemas.microsoft.com/office/drawing/2014/main" id="{35153F31-37BD-45F2-8A06-EE76F69DFC87}"/>
              </a:ext>
            </a:extLst>
          </p:cNvPr>
          <p:cNvSpPr>
            <a:spLocks noGrp="1"/>
          </p:cNvSpPr>
          <p:nvPr>
            <p:ph type="ftr" sz="quarter" idx="11"/>
          </p:nvPr>
        </p:nvSpPr>
        <p:spPr/>
        <p:txBody>
          <a:bodyPr/>
          <a:lstStyle/>
          <a:p>
            <a:endParaRPr lang="en-US" dirty="0"/>
          </a:p>
        </p:txBody>
      </p:sp>
      <p:sp>
        <p:nvSpPr>
          <p:cNvPr id="9" name="Zástupný symbol pro číslo snímku 8">
            <a:extLst>
              <a:ext uri="{FF2B5EF4-FFF2-40B4-BE49-F238E27FC236}">
                <a16:creationId xmlns:a16="http://schemas.microsoft.com/office/drawing/2014/main" id="{A00EEF66-132C-43E4-9F6A-05F5B87D3110}"/>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898977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AC865EB-D80A-40B8-8D52-1E99AFB5E930}"/>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AEDAD202-5863-419D-A61F-059A3E96A767}"/>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4" name="Zástupný symbol pro zápatí 3">
            <a:extLst>
              <a:ext uri="{FF2B5EF4-FFF2-40B4-BE49-F238E27FC236}">
                <a16:creationId xmlns:a16="http://schemas.microsoft.com/office/drawing/2014/main" id="{7D3969D3-37BD-4583-B257-9C6C0CBDD37F}"/>
              </a:ext>
            </a:extLst>
          </p:cNvPr>
          <p:cNvSpPr>
            <a:spLocks noGrp="1"/>
          </p:cNvSpPr>
          <p:nvPr>
            <p:ph type="ftr" sz="quarter" idx="11"/>
          </p:nvPr>
        </p:nvSpPr>
        <p:spPr/>
        <p:txBody>
          <a:bodyPr/>
          <a:lstStyle/>
          <a:p>
            <a:endParaRPr lang="en-US" dirty="0"/>
          </a:p>
        </p:txBody>
      </p:sp>
      <p:sp>
        <p:nvSpPr>
          <p:cNvPr id="5" name="Zástupný symbol pro číslo snímku 4">
            <a:extLst>
              <a:ext uri="{FF2B5EF4-FFF2-40B4-BE49-F238E27FC236}">
                <a16:creationId xmlns:a16="http://schemas.microsoft.com/office/drawing/2014/main" id="{38959200-811E-4CDF-BD23-C6D19CFA8903}"/>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99643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CC749E78-FE7F-48C5-B31C-0CA5E74F8049}"/>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3" name="Zástupný symbol pro zápatí 2">
            <a:extLst>
              <a:ext uri="{FF2B5EF4-FFF2-40B4-BE49-F238E27FC236}">
                <a16:creationId xmlns:a16="http://schemas.microsoft.com/office/drawing/2014/main" id="{5AFE52D5-765F-44E4-98BB-E92EA9DC7698}"/>
              </a:ext>
            </a:extLst>
          </p:cNvPr>
          <p:cNvSpPr>
            <a:spLocks noGrp="1"/>
          </p:cNvSpPr>
          <p:nvPr>
            <p:ph type="ftr" sz="quarter" idx="11"/>
          </p:nvPr>
        </p:nvSpPr>
        <p:spPr/>
        <p:txBody>
          <a:bodyPr/>
          <a:lstStyle/>
          <a:p>
            <a:endParaRPr lang="en-US" dirty="0"/>
          </a:p>
        </p:txBody>
      </p:sp>
      <p:sp>
        <p:nvSpPr>
          <p:cNvPr id="4" name="Zástupný symbol pro číslo snímku 3">
            <a:extLst>
              <a:ext uri="{FF2B5EF4-FFF2-40B4-BE49-F238E27FC236}">
                <a16:creationId xmlns:a16="http://schemas.microsoft.com/office/drawing/2014/main" id="{2E6E0674-B632-43A9-996C-E0877E622B02}"/>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008405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D003E4B-882D-4AFF-9560-98E07638C11F}"/>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pro obsah 2">
            <a:extLst>
              <a:ext uri="{FF2B5EF4-FFF2-40B4-BE49-F238E27FC236}">
                <a16:creationId xmlns:a16="http://schemas.microsoft.com/office/drawing/2014/main" id="{0746EF52-2B40-4554-9D5F-5DFBC16A93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a:extLst>
              <a:ext uri="{FF2B5EF4-FFF2-40B4-BE49-F238E27FC236}">
                <a16:creationId xmlns:a16="http://schemas.microsoft.com/office/drawing/2014/main" id="{FD1F7302-0EA9-4D57-93C2-79983D3C2A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E4C0C38C-1B21-4E25-A366-962D1FC293CF}"/>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6" name="Zástupný symbol pro zápatí 5">
            <a:extLst>
              <a:ext uri="{FF2B5EF4-FFF2-40B4-BE49-F238E27FC236}">
                <a16:creationId xmlns:a16="http://schemas.microsoft.com/office/drawing/2014/main" id="{55BCE7F6-A868-48A1-A0A1-4CE3577AAFD7}"/>
              </a:ext>
            </a:extLst>
          </p:cNvPr>
          <p:cNvSpPr>
            <a:spLocks noGrp="1"/>
          </p:cNvSpPr>
          <p:nvPr>
            <p:ph type="ftr" sz="quarter" idx="11"/>
          </p:nvPr>
        </p:nvSpPr>
        <p:spPr/>
        <p:txBody>
          <a:bodyPr/>
          <a:lstStyle/>
          <a:p>
            <a:endParaRPr lang="en-US" dirty="0"/>
          </a:p>
        </p:txBody>
      </p:sp>
      <p:sp>
        <p:nvSpPr>
          <p:cNvPr id="7" name="Zástupný symbol pro číslo snímku 6">
            <a:extLst>
              <a:ext uri="{FF2B5EF4-FFF2-40B4-BE49-F238E27FC236}">
                <a16:creationId xmlns:a16="http://schemas.microsoft.com/office/drawing/2014/main" id="{4B881729-C6A6-46A7-8023-C021B2D0633D}"/>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665942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CE28689-5BFD-47E1-AACB-EAC43A964AFE}"/>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D4418C7C-4786-457E-840C-F5F235D0DF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a:extLst>
              <a:ext uri="{FF2B5EF4-FFF2-40B4-BE49-F238E27FC236}">
                <a16:creationId xmlns:a16="http://schemas.microsoft.com/office/drawing/2014/main" id="{F99990CB-BB0F-4BAB-97D5-BC7AE2A4B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A2FE8912-50F9-4A4D-8D8D-081A2E27FB05}"/>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6" name="Zástupný symbol pro zápatí 5">
            <a:extLst>
              <a:ext uri="{FF2B5EF4-FFF2-40B4-BE49-F238E27FC236}">
                <a16:creationId xmlns:a16="http://schemas.microsoft.com/office/drawing/2014/main" id="{B0AFAD27-0C18-4D33-9D15-93FEB8A52B29}"/>
              </a:ext>
            </a:extLst>
          </p:cNvPr>
          <p:cNvSpPr>
            <a:spLocks noGrp="1"/>
          </p:cNvSpPr>
          <p:nvPr>
            <p:ph type="ftr" sz="quarter" idx="11"/>
          </p:nvPr>
        </p:nvSpPr>
        <p:spPr/>
        <p:txBody>
          <a:bodyPr/>
          <a:lstStyle/>
          <a:p>
            <a:endParaRPr lang="en-US" dirty="0"/>
          </a:p>
        </p:txBody>
      </p:sp>
      <p:sp>
        <p:nvSpPr>
          <p:cNvPr id="7" name="Zástupný symbol pro číslo snímku 6">
            <a:extLst>
              <a:ext uri="{FF2B5EF4-FFF2-40B4-BE49-F238E27FC236}">
                <a16:creationId xmlns:a16="http://schemas.microsoft.com/office/drawing/2014/main" id="{FA475182-2AF0-4EF0-9941-43070A85FB99}"/>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503678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067087E-904C-47D4-A931-8E64327722EE}"/>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54414639-2687-49F9-8989-3119B5A590B6}"/>
              </a:ext>
            </a:extLst>
          </p:cNvPr>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10545791-376E-43DF-B814-53C0ECEEDCF9}"/>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5" name="Zástupný symbol pro zápatí 4">
            <a:extLst>
              <a:ext uri="{FF2B5EF4-FFF2-40B4-BE49-F238E27FC236}">
                <a16:creationId xmlns:a16="http://schemas.microsoft.com/office/drawing/2014/main" id="{ECAA318E-BE7F-4E20-9912-2403605D66B2}"/>
              </a:ext>
            </a:extLst>
          </p:cNvPr>
          <p:cNvSpPr>
            <a:spLocks noGrp="1"/>
          </p:cNvSpPr>
          <p:nvPr>
            <p:ph type="ftr" sz="quarter" idx="11"/>
          </p:nvPr>
        </p:nvSpPr>
        <p:spPr/>
        <p:txBody>
          <a:bodyPr/>
          <a:lstStyle/>
          <a:p>
            <a:endParaRPr lang="en-US" dirty="0"/>
          </a:p>
        </p:txBody>
      </p:sp>
      <p:sp>
        <p:nvSpPr>
          <p:cNvPr id="6" name="Zástupný symbol pro číslo snímku 5">
            <a:extLst>
              <a:ext uri="{FF2B5EF4-FFF2-40B4-BE49-F238E27FC236}">
                <a16:creationId xmlns:a16="http://schemas.microsoft.com/office/drawing/2014/main" id="{11957760-3EDB-4146-AA69-AB50489D006A}"/>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474220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A2C64866-9E69-42DC-90DE-17356D524C9C}"/>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2537BE35-8FDC-455B-A276-0B30D76F3D6E}"/>
              </a:ext>
            </a:extLst>
          </p:cNvPr>
          <p:cNvSpPr>
            <a:spLocks noGrp="1"/>
          </p:cNvSpPr>
          <p:nvPr>
            <p:ph type="body" orient="vert" idx="1"/>
          </p:nvPr>
        </p:nvSpPr>
        <p:spPr>
          <a:xfrm>
            <a:off x="838200" y="365125"/>
            <a:ext cx="7734300" cy="5811838"/>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F1497C65-8DF6-4F60-B6E5-E95859873A45}"/>
              </a:ext>
            </a:extLst>
          </p:cNvPr>
          <p:cNvSpPr>
            <a:spLocks noGrp="1"/>
          </p:cNvSpPr>
          <p:nvPr>
            <p:ph type="dt" sz="half" idx="10"/>
          </p:nvPr>
        </p:nvSpPr>
        <p:spPr/>
        <p:txBody>
          <a:bodyPr/>
          <a:lstStyle/>
          <a:p>
            <a:fld id="{87DE6118-2437-4B30-8E3C-4D2BE6020583}" type="datetimeFigureOut">
              <a:rPr lang="en-US" smtClean="0"/>
              <a:pPr/>
              <a:t>9/16/2021</a:t>
            </a:fld>
            <a:endParaRPr lang="en-US" dirty="0"/>
          </a:p>
        </p:txBody>
      </p:sp>
      <p:sp>
        <p:nvSpPr>
          <p:cNvPr id="5" name="Zástupný symbol pro zápatí 4">
            <a:extLst>
              <a:ext uri="{FF2B5EF4-FFF2-40B4-BE49-F238E27FC236}">
                <a16:creationId xmlns:a16="http://schemas.microsoft.com/office/drawing/2014/main" id="{62CE5F00-F6FA-48D0-899A-1C6E2631268B}"/>
              </a:ext>
            </a:extLst>
          </p:cNvPr>
          <p:cNvSpPr>
            <a:spLocks noGrp="1"/>
          </p:cNvSpPr>
          <p:nvPr>
            <p:ph type="ftr" sz="quarter" idx="11"/>
          </p:nvPr>
        </p:nvSpPr>
        <p:spPr/>
        <p:txBody>
          <a:bodyPr/>
          <a:lstStyle/>
          <a:p>
            <a:endParaRPr lang="en-US" dirty="0"/>
          </a:p>
        </p:txBody>
      </p:sp>
      <p:sp>
        <p:nvSpPr>
          <p:cNvPr id="6" name="Zástupný symbol pro číslo snímku 5">
            <a:extLst>
              <a:ext uri="{FF2B5EF4-FFF2-40B4-BE49-F238E27FC236}">
                <a16:creationId xmlns:a16="http://schemas.microsoft.com/office/drawing/2014/main" id="{795F0019-0182-4DB3-8393-4C639B4D47D0}"/>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995739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07D32DCA-A81F-442D-8D61-425B0A9FE1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symbol pro text 2">
            <a:extLst>
              <a:ext uri="{FF2B5EF4-FFF2-40B4-BE49-F238E27FC236}">
                <a16:creationId xmlns:a16="http://schemas.microsoft.com/office/drawing/2014/main" id="{76F6B011-8C42-4EE9-B85A-C849048C9B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D0CB89BD-8267-4411-ACBA-4A957EE1A6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DE6118-2437-4B30-8E3C-4D2BE6020583}" type="datetimeFigureOut">
              <a:rPr lang="en-US" smtClean="0"/>
              <a:pPr/>
              <a:t>9/16/2021</a:t>
            </a:fld>
            <a:endParaRPr lang="en-US" dirty="0"/>
          </a:p>
        </p:txBody>
      </p:sp>
      <p:sp>
        <p:nvSpPr>
          <p:cNvPr id="5" name="Zástupný symbol pro zápatí 4">
            <a:extLst>
              <a:ext uri="{FF2B5EF4-FFF2-40B4-BE49-F238E27FC236}">
                <a16:creationId xmlns:a16="http://schemas.microsoft.com/office/drawing/2014/main" id="{58FDB5FF-69AB-4ADF-A7E4-7E85062A6E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Zástupný symbol pro číslo snímku 5">
            <a:extLst>
              <a:ext uri="{FF2B5EF4-FFF2-40B4-BE49-F238E27FC236}">
                <a16:creationId xmlns:a16="http://schemas.microsoft.com/office/drawing/2014/main" id="{64BE8116-35ED-4BBB-B7CF-70EEA9417A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54431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cs-CZ" dirty="0"/>
              <a:t>Databázové systémy</a:t>
            </a:r>
          </a:p>
        </p:txBody>
      </p:sp>
      <p:sp>
        <p:nvSpPr>
          <p:cNvPr id="3" name="Subtitle 2"/>
          <p:cNvSpPr>
            <a:spLocks noGrp="1"/>
          </p:cNvSpPr>
          <p:nvPr>
            <p:ph type="subTitle" idx="1"/>
          </p:nvPr>
        </p:nvSpPr>
        <p:spPr/>
        <p:txBody>
          <a:bodyPr/>
          <a:lstStyle/>
          <a:p>
            <a:r>
              <a:rPr lang="cs-CZ" dirty="0"/>
              <a:t>Úvodní hodina, lekce 01</a:t>
            </a:r>
          </a:p>
        </p:txBody>
      </p:sp>
    </p:spTree>
    <p:extLst>
      <p:ext uri="{BB962C8B-B14F-4D97-AF65-F5344CB8AC3E}">
        <p14:creationId xmlns:p14="http://schemas.microsoft.com/office/powerpoint/2010/main" val="4166952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Proč databáze</a:t>
            </a:r>
          </a:p>
        </p:txBody>
      </p:sp>
      <p:sp>
        <p:nvSpPr>
          <p:cNvPr id="3" name="Zástupný symbol pro obsah 2"/>
          <p:cNvSpPr>
            <a:spLocks noGrp="1"/>
          </p:cNvSpPr>
          <p:nvPr>
            <p:ph idx="1"/>
          </p:nvPr>
        </p:nvSpPr>
        <p:spPr/>
        <p:txBody>
          <a:bodyPr/>
          <a:lstStyle/>
          <a:p>
            <a:r>
              <a:rPr lang="cs-CZ" dirty="0"/>
              <a:t>Všechny druhy informací (školní záznamy, telefonní kontakty, seznamy zboží apod.) jsou ukládány v databázích. </a:t>
            </a:r>
          </a:p>
          <a:p>
            <a:r>
              <a:rPr lang="cs-CZ" dirty="0"/>
              <a:t>Pracujeme s databázemi každý den, ať vědomě, či nevědomě. Je důležité pochopit, co je v databázi uloženo a jak to můžeme získávat.</a:t>
            </a:r>
          </a:p>
          <a:p>
            <a:r>
              <a:rPr lang="cs-CZ" dirty="0"/>
              <a:t>Když pracujete v IT průmyslu, je základem pochopit, jak jsou data modelována a uložena v databázi. </a:t>
            </a:r>
          </a:p>
          <a:p>
            <a:r>
              <a:rPr lang="cs-CZ" dirty="0"/>
              <a:t>Když pracujete v jiném průmyslu, nejspíše budete pracovat s daty uloženými někde na počítači a pravděpodobně budete požadovat data pro vytváření reportů nebo rozhodování.</a:t>
            </a:r>
          </a:p>
        </p:txBody>
      </p:sp>
    </p:spTree>
    <p:extLst>
      <p:ext uri="{BB962C8B-B14F-4D97-AF65-F5344CB8AC3E}">
        <p14:creationId xmlns:p14="http://schemas.microsoft.com/office/powerpoint/2010/main" val="940431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Data </a:t>
            </a:r>
            <a:r>
              <a:rPr lang="cs-CZ" dirty="0" err="1"/>
              <a:t>vs</a:t>
            </a:r>
            <a:r>
              <a:rPr lang="cs-CZ" dirty="0"/>
              <a:t> informace I.</a:t>
            </a:r>
          </a:p>
        </p:txBody>
      </p:sp>
      <p:sp>
        <p:nvSpPr>
          <p:cNvPr id="3" name="Zástupný symbol pro obsah 2"/>
          <p:cNvSpPr>
            <a:spLocks noGrp="1"/>
          </p:cNvSpPr>
          <p:nvPr>
            <p:ph idx="1"/>
          </p:nvPr>
        </p:nvSpPr>
        <p:spPr/>
        <p:txBody>
          <a:bodyPr>
            <a:normAutofit fontScale="92500" lnSpcReduction="10000"/>
          </a:bodyPr>
          <a:lstStyle/>
          <a:p>
            <a:r>
              <a:rPr lang="cs-CZ" dirty="0"/>
              <a:t>Slova data a informace jsou často používány jako kdyby to byla synonyma. Nicméně, obě slova mají rozdílný význam. </a:t>
            </a:r>
          </a:p>
          <a:p>
            <a:r>
              <a:rPr lang="cs-CZ" b="1" dirty="0"/>
              <a:t>DATA</a:t>
            </a:r>
            <a:r>
              <a:rPr lang="cs-CZ" dirty="0"/>
              <a:t> = surový, nezpracovaný materiál.</a:t>
            </a:r>
          </a:p>
          <a:p>
            <a:r>
              <a:rPr lang="cs-CZ" b="1" dirty="0"/>
              <a:t>INFORMACE</a:t>
            </a:r>
            <a:r>
              <a:rPr lang="cs-CZ" dirty="0"/>
              <a:t> = znalosti, inteligence, určitý kousek dat se speciálním významem nebo funkcí. Informace jsou často výsledkem kombinování, porovnávání, analýzy nebo provádění výpočtů na datech.</a:t>
            </a:r>
          </a:p>
          <a:p>
            <a:r>
              <a:rPr lang="cs-CZ" dirty="0"/>
              <a:t>Mějme informační systém školy, kde jsou evidovány známky jednotlivých studentů. Díky centrální evidenci lze spočítat průměr celé třídy a z jednotlivých průměrů tříd potom průměr za celou školu.</a:t>
            </a:r>
          </a:p>
          <a:p>
            <a:r>
              <a:rPr lang="cs-CZ" dirty="0" err="1"/>
              <a:t>Oracle</a:t>
            </a:r>
            <a:r>
              <a:rPr lang="cs-CZ" dirty="0"/>
              <a:t> databázový software transformuje nahraná/uložená data a statistiky do užitečných informací.</a:t>
            </a:r>
          </a:p>
          <a:p>
            <a:endParaRPr lang="cs-CZ" dirty="0"/>
          </a:p>
        </p:txBody>
      </p:sp>
    </p:spTree>
    <p:extLst>
      <p:ext uri="{BB962C8B-B14F-4D97-AF65-F5344CB8AC3E}">
        <p14:creationId xmlns:p14="http://schemas.microsoft.com/office/powerpoint/2010/main" val="2076433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Data </a:t>
            </a:r>
            <a:r>
              <a:rPr lang="cs-CZ" dirty="0" err="1"/>
              <a:t>vs</a:t>
            </a:r>
            <a:r>
              <a:rPr lang="cs-CZ" dirty="0"/>
              <a:t> informace II.</a:t>
            </a:r>
          </a:p>
        </p:txBody>
      </p:sp>
      <p:sp>
        <p:nvSpPr>
          <p:cNvPr id="3" name="Zástupný symbol pro obsah 2"/>
          <p:cNvSpPr>
            <a:spLocks noGrp="1"/>
          </p:cNvSpPr>
          <p:nvPr>
            <p:ph idx="1"/>
          </p:nvPr>
        </p:nvSpPr>
        <p:spPr>
          <a:xfrm>
            <a:off x="909687" y="1766151"/>
            <a:ext cx="9601200" cy="3581400"/>
          </a:xfrm>
        </p:spPr>
        <p:txBody>
          <a:bodyPr/>
          <a:lstStyle/>
          <a:p>
            <a:r>
              <a:rPr lang="cs-CZ" b="1" dirty="0"/>
              <a:t>Data</a:t>
            </a:r>
            <a:r>
              <a:rPr lang="cs-CZ" dirty="0"/>
              <a:t> -&gt; výsledek testu studenta.</a:t>
            </a:r>
          </a:p>
          <a:p>
            <a:r>
              <a:rPr lang="cs-CZ" b="1" dirty="0"/>
              <a:t>Informace</a:t>
            </a:r>
            <a:r>
              <a:rPr lang="cs-CZ" dirty="0"/>
              <a:t> -&gt; průměr celé třídy nebo průměr celé školy.</a:t>
            </a:r>
          </a:p>
          <a:p>
            <a:pPr marL="0" indent="0">
              <a:buNone/>
            </a:pPr>
            <a:endParaRPr lang="cs-CZ" dirty="0"/>
          </a:p>
        </p:txBody>
      </p:sp>
      <p:pic>
        <p:nvPicPr>
          <p:cNvPr id="1026"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1369" y="3111547"/>
            <a:ext cx="3940220" cy="3546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428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Co je to databáze?</a:t>
            </a:r>
          </a:p>
        </p:txBody>
      </p:sp>
      <p:sp>
        <p:nvSpPr>
          <p:cNvPr id="3" name="Zástupný symbol pro obsah 2"/>
          <p:cNvSpPr>
            <a:spLocks noGrp="1"/>
          </p:cNvSpPr>
          <p:nvPr>
            <p:ph idx="1"/>
          </p:nvPr>
        </p:nvSpPr>
        <p:spPr/>
        <p:txBody>
          <a:bodyPr>
            <a:normAutofit fontScale="92500" lnSpcReduction="10000"/>
          </a:bodyPr>
          <a:lstStyle/>
          <a:p>
            <a:r>
              <a:rPr lang="cs-CZ" b="1" dirty="0"/>
              <a:t>Centralizovaná a strukturovaná sada dat </a:t>
            </a:r>
            <a:r>
              <a:rPr lang="cs-CZ" dirty="0"/>
              <a:t>uložených na počítačovém systému. </a:t>
            </a:r>
          </a:p>
          <a:p>
            <a:r>
              <a:rPr lang="cs-CZ" dirty="0"/>
              <a:t>Poskytuje nástroje pro získávání, přidávání, modifikaci a mazání dat, když je potřeba.</a:t>
            </a:r>
          </a:p>
          <a:p>
            <a:r>
              <a:rPr lang="cs-CZ" dirty="0"/>
              <a:t>Také poskytuje nástroje pro transformaci získaných dat do použitelných informací.</a:t>
            </a:r>
          </a:p>
          <a:p>
            <a:r>
              <a:rPr lang="cs-CZ" dirty="0"/>
              <a:t>Databáze je obvykle spravována </a:t>
            </a:r>
            <a:r>
              <a:rPr lang="cs-CZ" b="1" dirty="0"/>
              <a:t>databázovým administrátorem </a:t>
            </a:r>
            <a:r>
              <a:rPr lang="cs-CZ" dirty="0"/>
              <a:t>(DBA).</a:t>
            </a:r>
          </a:p>
          <a:p>
            <a:r>
              <a:rPr lang="cs-CZ" dirty="0"/>
              <a:t>Ve většině moderních databází můžete ukládat a získávat rozdílné dokumenty a data. </a:t>
            </a:r>
          </a:p>
          <a:p>
            <a:r>
              <a:rPr lang="cs-CZ" dirty="0"/>
              <a:t>Uvnitř databáze jsou data uložena v surové podobě. Když jsou data vyžadována, jsou transformována do použitelné informace.</a:t>
            </a:r>
          </a:p>
        </p:txBody>
      </p:sp>
    </p:spTree>
    <p:extLst>
      <p:ext uri="{BB962C8B-B14F-4D97-AF65-F5344CB8AC3E}">
        <p14:creationId xmlns:p14="http://schemas.microsoft.com/office/powerpoint/2010/main" val="2980113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Historie databází I.</a:t>
            </a:r>
          </a:p>
        </p:txBody>
      </p:sp>
      <p:sp>
        <p:nvSpPr>
          <p:cNvPr id="3" name="Zástupný symbol pro obsah 2"/>
          <p:cNvSpPr>
            <a:spLocks noGrp="1"/>
          </p:cNvSpPr>
          <p:nvPr>
            <p:ph idx="1"/>
          </p:nvPr>
        </p:nvSpPr>
        <p:spPr/>
        <p:txBody>
          <a:bodyPr>
            <a:normAutofit fontScale="92500" lnSpcReduction="10000"/>
          </a:bodyPr>
          <a:lstStyle/>
          <a:p>
            <a:r>
              <a:rPr lang="cs-CZ" b="1" dirty="0"/>
              <a:t>1960</a:t>
            </a:r>
            <a:r>
              <a:rPr lang="cs-CZ" dirty="0"/>
              <a:t> – počítače se staly efektivní pro ušetření peněz pro soukromé podniky a vzrůstala úložná kapacita.</a:t>
            </a:r>
          </a:p>
          <a:p>
            <a:r>
              <a:rPr lang="cs-CZ" b="1" dirty="0"/>
              <a:t>1970 – 1972 </a:t>
            </a:r>
            <a:r>
              <a:rPr lang="cs-CZ" dirty="0"/>
              <a:t>– E. F. </a:t>
            </a:r>
            <a:r>
              <a:rPr lang="cs-CZ" dirty="0" err="1"/>
              <a:t>Codd</a:t>
            </a:r>
            <a:r>
              <a:rPr lang="cs-CZ" dirty="0"/>
              <a:t> objevil relační model databází, odpojil tak logickou organizaci od fyzického uložení na paměťovém médiu.</a:t>
            </a:r>
          </a:p>
          <a:p>
            <a:r>
              <a:rPr lang="cs-CZ" b="1" dirty="0"/>
              <a:t>1976</a:t>
            </a:r>
            <a:r>
              <a:rPr lang="cs-CZ" dirty="0"/>
              <a:t> – P. </a:t>
            </a:r>
            <a:r>
              <a:rPr lang="cs-CZ" dirty="0" err="1"/>
              <a:t>Chen</a:t>
            </a:r>
            <a:r>
              <a:rPr lang="cs-CZ" dirty="0"/>
              <a:t> objevil ERM (entity </a:t>
            </a:r>
            <a:r>
              <a:rPr lang="cs-CZ" dirty="0" err="1"/>
              <a:t>relationship</a:t>
            </a:r>
            <a:r>
              <a:rPr lang="cs-CZ" dirty="0"/>
              <a:t> model) pro databázový design.</a:t>
            </a:r>
          </a:p>
          <a:p>
            <a:r>
              <a:rPr lang="cs-CZ" b="1" dirty="0"/>
              <a:t>Rané 1980 </a:t>
            </a:r>
            <a:r>
              <a:rPr lang="cs-CZ" dirty="0"/>
              <a:t>– první komerční databáze založené na relačním přístupu. Začaly se objevovat v počátcích roku 1980 s </a:t>
            </a:r>
            <a:r>
              <a:rPr lang="cs-CZ" dirty="0" err="1"/>
              <a:t>Oracle</a:t>
            </a:r>
            <a:r>
              <a:rPr lang="cs-CZ" dirty="0"/>
              <a:t> verze 2.</a:t>
            </a:r>
          </a:p>
          <a:p>
            <a:r>
              <a:rPr lang="cs-CZ" b="1" dirty="0"/>
              <a:t>Polovina 1980 </a:t>
            </a:r>
            <a:r>
              <a:rPr lang="cs-CZ" dirty="0"/>
              <a:t>– SQL se stalo „intergalaktickým“ standardem.</a:t>
            </a:r>
          </a:p>
          <a:p>
            <a:r>
              <a:rPr lang="cs-CZ" b="1" dirty="0"/>
              <a:t>Počátek 1990 </a:t>
            </a:r>
            <a:r>
              <a:rPr lang="cs-CZ" dirty="0"/>
              <a:t>– průmyslový otřes začal s málo přeživšími firmami, </a:t>
            </a:r>
            <a:r>
              <a:rPr lang="cs-CZ" dirty="0" err="1"/>
              <a:t>Oracle</a:t>
            </a:r>
            <a:r>
              <a:rPr lang="cs-CZ" dirty="0"/>
              <a:t> přežil.</a:t>
            </a:r>
          </a:p>
        </p:txBody>
      </p:sp>
    </p:spTree>
    <p:extLst>
      <p:ext uri="{BB962C8B-B14F-4D97-AF65-F5344CB8AC3E}">
        <p14:creationId xmlns:p14="http://schemas.microsoft.com/office/powerpoint/2010/main" val="2535703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Historie databází II.</a:t>
            </a:r>
          </a:p>
        </p:txBody>
      </p:sp>
      <p:sp>
        <p:nvSpPr>
          <p:cNvPr id="3" name="Zástupný symbol pro obsah 2"/>
          <p:cNvSpPr>
            <a:spLocks noGrp="1"/>
          </p:cNvSpPr>
          <p:nvPr>
            <p:ph idx="1"/>
          </p:nvPr>
        </p:nvSpPr>
        <p:spPr/>
        <p:txBody>
          <a:bodyPr/>
          <a:lstStyle/>
          <a:p>
            <a:r>
              <a:rPr lang="cs-CZ" b="1" dirty="0"/>
              <a:t>Polovina 1990 </a:t>
            </a:r>
            <a:r>
              <a:rPr lang="cs-CZ" dirty="0"/>
              <a:t>– objevení WWW. </a:t>
            </a:r>
          </a:p>
          <a:p>
            <a:r>
              <a:rPr lang="cs-CZ" b="1" dirty="0"/>
              <a:t>Pozdní 1990 </a:t>
            </a:r>
            <a:r>
              <a:rPr lang="cs-CZ" dirty="0"/>
              <a:t>– obrovská investice internetových podniků pomohla vytvořit nástroje pro trh, vznik DB konektorů.</a:t>
            </a:r>
          </a:p>
          <a:p>
            <a:r>
              <a:rPr lang="cs-CZ" b="1" dirty="0"/>
              <a:t>Rané 21. století </a:t>
            </a:r>
            <a:r>
              <a:rPr lang="cs-CZ" dirty="0"/>
              <a:t>– růst databázových aplikací pokračuje, databáze začínají využívat například yahoo.com, </a:t>
            </a:r>
            <a:r>
              <a:rPr lang="cs-CZ" dirty="0" err="1"/>
              <a:t>amazon</a:t>
            </a:r>
            <a:r>
              <a:rPr lang="cs-CZ" dirty="0"/>
              <a:t>, </a:t>
            </a:r>
            <a:r>
              <a:rPr lang="cs-CZ" dirty="0" err="1"/>
              <a:t>google</a:t>
            </a:r>
            <a:r>
              <a:rPr lang="cs-CZ" dirty="0"/>
              <a:t>, vláda, ...</a:t>
            </a:r>
          </a:p>
        </p:txBody>
      </p:sp>
    </p:spTree>
    <p:extLst>
      <p:ext uri="{BB962C8B-B14F-4D97-AF65-F5344CB8AC3E}">
        <p14:creationId xmlns:p14="http://schemas.microsoft.com/office/powerpoint/2010/main" val="2801422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Jak je spojeno datové modelování a databáze?</a:t>
            </a:r>
          </a:p>
        </p:txBody>
      </p:sp>
      <p:sp>
        <p:nvSpPr>
          <p:cNvPr id="3" name="Zástupný symbol pro obsah 2"/>
          <p:cNvSpPr>
            <a:spLocks noGrp="1"/>
          </p:cNvSpPr>
          <p:nvPr>
            <p:ph idx="1"/>
          </p:nvPr>
        </p:nvSpPr>
        <p:spPr/>
        <p:txBody>
          <a:bodyPr/>
          <a:lstStyle/>
          <a:p>
            <a:r>
              <a:rPr lang="cs-CZ" dirty="0"/>
              <a:t>Datové modelování je prvním krokem procesu vývoje databáze. </a:t>
            </a:r>
          </a:p>
          <a:p>
            <a:r>
              <a:rPr lang="cs-CZ" dirty="0"/>
              <a:t>Zahrnuje sběr a analýzu dat, které podnik potřebuje sledovat a následné modelování diagramu ERD.</a:t>
            </a:r>
          </a:p>
          <a:p>
            <a:pPr marL="0" indent="0">
              <a:buNone/>
            </a:pPr>
            <a:endParaRPr lang="cs-CZ" dirty="0"/>
          </a:p>
        </p:txBody>
      </p:sp>
      <p:pic>
        <p:nvPicPr>
          <p:cNvPr id="205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5731" y="3244352"/>
            <a:ext cx="2958737" cy="3488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9054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Proces vývoje databáze I.</a:t>
            </a:r>
          </a:p>
        </p:txBody>
      </p:sp>
      <p:sp>
        <p:nvSpPr>
          <p:cNvPr id="3" name="Zástupný symbol pro obsah 2"/>
          <p:cNvSpPr>
            <a:spLocks noGrp="1"/>
          </p:cNvSpPr>
          <p:nvPr>
            <p:ph idx="1"/>
          </p:nvPr>
        </p:nvSpPr>
        <p:spPr/>
        <p:txBody>
          <a:bodyPr>
            <a:normAutofit fontScale="92500" lnSpcReduction="20000"/>
          </a:bodyPr>
          <a:lstStyle/>
          <a:p>
            <a:r>
              <a:rPr lang="cs-CZ" dirty="0"/>
              <a:t>Datové modelování začíná průzkumem informačních požadavků podniku. </a:t>
            </a:r>
          </a:p>
          <a:p>
            <a:r>
              <a:rPr lang="cs-CZ" dirty="0"/>
              <a:t>Příklad:</a:t>
            </a:r>
          </a:p>
          <a:p>
            <a:pPr lvl="1"/>
            <a:r>
              <a:rPr lang="cs-CZ" dirty="0"/>
              <a:t>Spravuji oddělení lidských zdrojů ve velké společnosti. Potřebujeme ukládat data o každém zaměstnanci. Potřebujeme sledovat jméno, příjmení, pozici, datum nástupu a plat. Pro každého zaměstnance provizi také potřebujeme sledovat jeho potenciální provize. Každý zaměstnanec je opatřen unikátním číselným identifikátorem. Naše společnost je rozdělena na oddělení. Každý zaměstnanec spadá do oddělení, například účtárna, prodeje, vývoj. Potřebujeme vědět, které oddělení je za zaměstnance odpovědné a umístění oddělení. Každé oddělení má unikátní identifikátor. Někteří zaměstnanci jsou manažeři. Potřebujeme vědět pro každého zaměstnance jeho manažera a také určit všechny zaměstnance spadající pod vybraného manažera.</a:t>
            </a:r>
          </a:p>
          <a:p>
            <a:r>
              <a:rPr lang="cs-CZ" dirty="0"/>
              <a:t>ERD by měl kompletně odrážet model organizace a všechny informace a funkce podniku.</a:t>
            </a:r>
          </a:p>
        </p:txBody>
      </p:sp>
    </p:spTree>
    <p:extLst>
      <p:ext uri="{BB962C8B-B14F-4D97-AF65-F5344CB8AC3E}">
        <p14:creationId xmlns:p14="http://schemas.microsoft.com/office/powerpoint/2010/main" val="3213502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Co z toho dlouhého zadání vznikne?</a:t>
            </a:r>
          </a:p>
        </p:txBody>
      </p:sp>
      <p:sp>
        <p:nvSpPr>
          <p:cNvPr id="3" name="Zástupný symbol pro obsah 2"/>
          <p:cNvSpPr>
            <a:spLocks noGrp="1"/>
          </p:cNvSpPr>
          <p:nvPr>
            <p:ph idx="1"/>
          </p:nvPr>
        </p:nvSpPr>
        <p:spPr/>
        <p:txBody>
          <a:bodyPr/>
          <a:lstStyle/>
          <a:p>
            <a:pPr marL="0" indent="0">
              <a:buNone/>
            </a:pPr>
            <a:endParaRPr lang="cs-CZ" dirty="0"/>
          </a:p>
        </p:txBody>
      </p:sp>
      <p:pic>
        <p:nvPicPr>
          <p:cNvPr id="307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855" y="1572306"/>
            <a:ext cx="5115877" cy="4895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4918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Proces vývoje databáze II.</a:t>
            </a:r>
          </a:p>
        </p:txBody>
      </p:sp>
      <p:sp>
        <p:nvSpPr>
          <p:cNvPr id="3" name="Zástupný symbol pro obsah 2"/>
          <p:cNvSpPr>
            <a:spLocks noGrp="1"/>
          </p:cNvSpPr>
          <p:nvPr>
            <p:ph idx="1"/>
          </p:nvPr>
        </p:nvSpPr>
        <p:spPr/>
        <p:txBody>
          <a:bodyPr>
            <a:normAutofit lnSpcReduction="10000"/>
          </a:bodyPr>
          <a:lstStyle/>
          <a:p>
            <a:r>
              <a:rPr lang="cs-CZ" dirty="0"/>
              <a:t>Krokem 2 v databázovém designu je </a:t>
            </a:r>
            <a:r>
              <a:rPr lang="cs-CZ" b="1" dirty="0"/>
              <a:t>fáze vývojového procesu</a:t>
            </a:r>
            <a:r>
              <a:rPr lang="cs-CZ" dirty="0"/>
              <a:t>, překladu modelovaných informací v ERD do relačního diagramu.</a:t>
            </a:r>
          </a:p>
          <a:p>
            <a:r>
              <a:rPr lang="cs-CZ" dirty="0"/>
              <a:t>Seznam instancí jmenuje specifikace informací a má následující komponenty:</a:t>
            </a:r>
          </a:p>
          <a:p>
            <a:pPr lvl="1"/>
            <a:r>
              <a:rPr lang="cs-CZ" b="1" dirty="0"/>
              <a:t>název tabulky</a:t>
            </a:r>
            <a:r>
              <a:rPr lang="cs-CZ" dirty="0"/>
              <a:t>,</a:t>
            </a:r>
          </a:p>
          <a:p>
            <a:pPr lvl="1"/>
            <a:r>
              <a:rPr lang="cs-CZ" b="1" dirty="0"/>
              <a:t>názvy sloupců</a:t>
            </a:r>
            <a:r>
              <a:rPr lang="cs-CZ" dirty="0"/>
              <a:t>,</a:t>
            </a:r>
          </a:p>
          <a:p>
            <a:pPr lvl="1"/>
            <a:r>
              <a:rPr lang="cs-CZ" b="1" dirty="0"/>
              <a:t>klíče</a:t>
            </a:r>
            <a:r>
              <a:rPr lang="cs-CZ" dirty="0"/>
              <a:t> – primární klíče (unikátní identifikátor každého řádku dat), cizí klíč (spoj dat v jedné tabulce k datům ve druhé tabulce),</a:t>
            </a:r>
          </a:p>
          <a:p>
            <a:pPr lvl="1"/>
            <a:r>
              <a:rPr lang="cs-CZ" b="1" dirty="0" err="1"/>
              <a:t>null</a:t>
            </a:r>
            <a:r>
              <a:rPr lang="cs-CZ" dirty="0"/>
              <a:t> – indikuje, zda sloupec musí obsahovat hodnoty,</a:t>
            </a:r>
          </a:p>
          <a:p>
            <a:pPr lvl="1"/>
            <a:r>
              <a:rPr lang="cs-CZ" b="1" dirty="0" err="1"/>
              <a:t>unique</a:t>
            </a:r>
            <a:r>
              <a:rPr lang="cs-CZ" dirty="0"/>
              <a:t> – indikuje, zda hodnota obsažená ve sloupci je unikátní  rámci tabulky,</a:t>
            </a:r>
          </a:p>
          <a:p>
            <a:pPr lvl="1"/>
            <a:r>
              <a:rPr lang="cs-CZ" b="1" dirty="0"/>
              <a:t>datový typ </a:t>
            </a:r>
            <a:r>
              <a:rPr lang="cs-CZ" dirty="0"/>
              <a:t>– identifikuje definici a formát dat uložených v každém ze sloupců.</a:t>
            </a:r>
          </a:p>
          <a:p>
            <a:endParaRPr lang="cs-CZ" dirty="0"/>
          </a:p>
        </p:txBody>
      </p:sp>
    </p:spTree>
    <p:extLst>
      <p:ext uri="{BB962C8B-B14F-4D97-AF65-F5344CB8AC3E}">
        <p14:creationId xmlns:p14="http://schemas.microsoft.com/office/powerpoint/2010/main" val="835886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Proces vývoje databáze III.</a:t>
            </a:r>
          </a:p>
        </p:txBody>
      </p:sp>
      <p:sp>
        <p:nvSpPr>
          <p:cNvPr id="3" name="Zástupný symbol pro obsah 2"/>
          <p:cNvSpPr>
            <a:spLocks noGrp="1"/>
          </p:cNvSpPr>
          <p:nvPr>
            <p:ph idx="1"/>
          </p:nvPr>
        </p:nvSpPr>
        <p:spPr/>
        <p:txBody>
          <a:bodyPr/>
          <a:lstStyle/>
          <a:p>
            <a:r>
              <a:rPr lang="cs-CZ" b="1" dirty="0"/>
              <a:t>SQL</a:t>
            </a:r>
            <a:r>
              <a:rPr lang="cs-CZ" dirty="0"/>
              <a:t> (strukturovaný dotazovací jazyk) jsou příkazy, které jsou použity k vybudování fyzické struktury databáze.</a:t>
            </a:r>
          </a:p>
          <a:p>
            <a:pPr marL="0" indent="0">
              <a:buNone/>
            </a:pPr>
            <a:endParaRPr lang="cs-CZ" dirty="0"/>
          </a:p>
        </p:txBody>
      </p:sp>
      <p:pic>
        <p:nvPicPr>
          <p:cNvPr id="409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013257"/>
            <a:ext cx="4332105" cy="384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1777" y="3009899"/>
            <a:ext cx="4101126" cy="3843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8470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Klíčové pojmy výpočetní techniky</a:t>
            </a:r>
          </a:p>
        </p:txBody>
      </p:sp>
      <p:sp>
        <p:nvSpPr>
          <p:cNvPr id="3" name="Zástupný symbol pro obsah 2"/>
          <p:cNvSpPr>
            <a:spLocks noGrp="1"/>
          </p:cNvSpPr>
          <p:nvPr>
            <p:ph idx="1"/>
          </p:nvPr>
        </p:nvSpPr>
        <p:spPr/>
        <p:txBody>
          <a:bodyPr>
            <a:normAutofit fontScale="92500"/>
          </a:bodyPr>
          <a:lstStyle/>
          <a:p>
            <a:r>
              <a:rPr lang="cs-CZ" b="1" dirty="0"/>
              <a:t>Hardware</a:t>
            </a:r>
            <a:r>
              <a:rPr lang="cs-CZ" dirty="0"/>
              <a:t> = fyzické bity a kousky počítače, jako je klávesnice, displej, myš, paměť apod.</a:t>
            </a:r>
          </a:p>
          <a:p>
            <a:r>
              <a:rPr lang="cs-CZ" b="1" dirty="0"/>
              <a:t>Software</a:t>
            </a:r>
            <a:r>
              <a:rPr lang="cs-CZ" dirty="0"/>
              <a:t> = programy (sady instrukcí), které říkají hardwaru, co má dělat.</a:t>
            </a:r>
          </a:p>
          <a:p>
            <a:r>
              <a:rPr lang="cs-CZ" b="1" dirty="0"/>
              <a:t>Operační systém </a:t>
            </a:r>
            <a:r>
              <a:rPr lang="cs-CZ" dirty="0"/>
              <a:t>= software, který přímo kontroluje a spravuje hardware (Windows, Linux, ...)</a:t>
            </a:r>
          </a:p>
          <a:p>
            <a:r>
              <a:rPr lang="cs-CZ" b="1" dirty="0"/>
              <a:t>Aplikace</a:t>
            </a:r>
            <a:r>
              <a:rPr lang="cs-CZ" dirty="0"/>
              <a:t> = software, který přináší řešení specifických úloh.</a:t>
            </a:r>
          </a:p>
          <a:p>
            <a:r>
              <a:rPr lang="cs-CZ" b="1" dirty="0"/>
              <a:t>Klient</a:t>
            </a:r>
            <a:r>
              <a:rPr lang="cs-CZ" dirty="0"/>
              <a:t> = pracovní stanice nebo stolní počítač zahrnující displej, klávesnici, myš. Klient pracuje přímo s člověkem.</a:t>
            </a:r>
          </a:p>
          <a:p>
            <a:r>
              <a:rPr lang="cs-CZ" b="1" dirty="0"/>
              <a:t>Server</a:t>
            </a:r>
            <a:r>
              <a:rPr lang="cs-CZ" dirty="0"/>
              <a:t> = více výkonný počítač, který přijímá požadavky od klientů, zpracovává každý požadavek a posílá výsledky zpět ke klientovi.</a:t>
            </a:r>
          </a:p>
          <a:p>
            <a:endParaRPr lang="cs-CZ" dirty="0"/>
          </a:p>
        </p:txBody>
      </p:sp>
    </p:spTree>
    <p:extLst>
      <p:ext uri="{BB962C8B-B14F-4D97-AF65-F5344CB8AC3E}">
        <p14:creationId xmlns:p14="http://schemas.microsoft.com/office/powerpoint/2010/main" val="1589296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Hlavní milníky počítačových systémů I.</a:t>
            </a:r>
          </a:p>
        </p:txBody>
      </p:sp>
      <p:sp>
        <p:nvSpPr>
          <p:cNvPr id="3" name="Zástupný symbol pro obsah 2"/>
          <p:cNvSpPr>
            <a:spLocks noGrp="1"/>
          </p:cNvSpPr>
          <p:nvPr>
            <p:ph idx="1"/>
          </p:nvPr>
        </p:nvSpPr>
        <p:spPr>
          <a:xfrm>
            <a:off x="838200" y="1495687"/>
            <a:ext cx="10515600" cy="4351338"/>
          </a:xfrm>
        </p:spPr>
        <p:txBody>
          <a:bodyPr/>
          <a:lstStyle/>
          <a:p>
            <a:r>
              <a:rPr lang="cs-CZ" b="1" dirty="0"/>
              <a:t>1970</a:t>
            </a:r>
            <a:r>
              <a:rPr lang="cs-CZ" dirty="0"/>
              <a:t> – databázový software byl provozován na </a:t>
            </a:r>
            <a:r>
              <a:rPr lang="cs-CZ" dirty="0" err="1"/>
              <a:t>mainfraimových</a:t>
            </a:r>
            <a:r>
              <a:rPr lang="cs-CZ" dirty="0"/>
              <a:t> počítačích. Téměř všechny výpočetní procesy byly prováděny na těchto velkých </a:t>
            </a:r>
            <a:r>
              <a:rPr lang="cs-CZ" dirty="0" err="1"/>
              <a:t>mainframových</a:t>
            </a:r>
            <a:r>
              <a:rPr lang="cs-CZ" dirty="0"/>
              <a:t> počítačích. Některé z nich byly dokonce větší než třída. Menší počítače byly používány na přístup k velkému mainframu a provádění příkazů. Terminály závisely na mainframu a zobrazovaly výsledky po tom, co byl výpočet na mainframu dokončen. Sami terminály neměli kapacitu pro vlastní výpočty.</a:t>
            </a:r>
          </a:p>
        </p:txBody>
      </p:sp>
      <p:pic>
        <p:nvPicPr>
          <p:cNvPr id="5122"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757" y="4238992"/>
            <a:ext cx="3548334" cy="2619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9917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Hlavní milníky počítačových systémů II.</a:t>
            </a:r>
          </a:p>
        </p:txBody>
      </p:sp>
      <p:sp>
        <p:nvSpPr>
          <p:cNvPr id="3" name="Zástupný symbol pro obsah 2"/>
          <p:cNvSpPr>
            <a:spLocks noGrp="1"/>
          </p:cNvSpPr>
          <p:nvPr>
            <p:ph idx="1"/>
          </p:nvPr>
        </p:nvSpPr>
        <p:spPr>
          <a:xfrm>
            <a:off x="649664" y="1618235"/>
            <a:ext cx="10515600" cy="4351338"/>
          </a:xfrm>
        </p:spPr>
        <p:txBody>
          <a:bodyPr/>
          <a:lstStyle/>
          <a:p>
            <a:r>
              <a:rPr lang="cs-CZ" b="1" dirty="0"/>
              <a:t>1980</a:t>
            </a:r>
            <a:r>
              <a:rPr lang="cs-CZ" dirty="0"/>
              <a:t> – osobní počítače (PC) se stávají rychlejší a dostupnější. Výpočetní procesy se přesunuly z mainframů na PC. Protože PC měly jejich vlastní sw a byly schopné provádět některé výpočty osamoceně, začaly se nazývat malí klienti nebo pracovní stanice. Mnoho dnes velmi používaných aplikací jako Word, Excel, PT, ... pochází z této doby díky nástupu GUI.</a:t>
            </a:r>
          </a:p>
        </p:txBody>
      </p:sp>
      <p:pic>
        <p:nvPicPr>
          <p:cNvPr id="6146"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0534" y="3646976"/>
            <a:ext cx="3391580" cy="3255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1302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Hlavní milníky počítačových systémů III.</a:t>
            </a:r>
          </a:p>
        </p:txBody>
      </p:sp>
      <p:sp>
        <p:nvSpPr>
          <p:cNvPr id="3" name="Zástupný symbol pro obsah 2"/>
          <p:cNvSpPr>
            <a:spLocks noGrp="1"/>
          </p:cNvSpPr>
          <p:nvPr>
            <p:ph idx="1"/>
          </p:nvPr>
        </p:nvSpPr>
        <p:spPr>
          <a:xfrm>
            <a:off x="649664" y="1618235"/>
            <a:ext cx="10515600" cy="4351338"/>
          </a:xfrm>
        </p:spPr>
        <p:txBody>
          <a:bodyPr/>
          <a:lstStyle/>
          <a:p>
            <a:r>
              <a:rPr lang="cs-CZ" b="1" dirty="0"/>
              <a:t>Problém izolovaných, neintegrovaných systémů. - </a:t>
            </a:r>
            <a:r>
              <a:rPr lang="cs-CZ" dirty="0"/>
              <a:t>To že máme vícero klientských stanic přineslo nové problémy. V tomto případě rozdílný sw na rozdílných systémech vyžaduje integraci. </a:t>
            </a:r>
          </a:p>
          <a:p>
            <a:pPr lvl="1"/>
            <a:r>
              <a:rPr lang="cs-CZ" i="0" dirty="0"/>
              <a:t>Integrace je obvykle problémová a drahá. Pokud je prováděn upgrade sw aplikace, každý a úplně každý server i klient musí být aktualizován. Co ve chvíli, kdy je potřeba změnit informace na každém jednotlivém PC? Bez integrovaných systémů by to byl velmi bolestivý proces. </a:t>
            </a:r>
            <a:endParaRPr lang="cs-CZ" b="1" dirty="0"/>
          </a:p>
          <a:p>
            <a:pPr lvl="1"/>
            <a:endParaRPr lang="cs-CZ" b="1" dirty="0"/>
          </a:p>
        </p:txBody>
      </p:sp>
      <p:pic>
        <p:nvPicPr>
          <p:cNvPr id="717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0087" y="4213269"/>
            <a:ext cx="2292713" cy="2644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39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Hlavní milníky počítačových systémů IV.</a:t>
            </a:r>
          </a:p>
        </p:txBody>
      </p:sp>
      <p:sp>
        <p:nvSpPr>
          <p:cNvPr id="3" name="Zástupný symbol pro obsah 2"/>
          <p:cNvSpPr>
            <a:spLocks noGrp="1"/>
          </p:cNvSpPr>
          <p:nvPr>
            <p:ph idx="1"/>
          </p:nvPr>
        </p:nvSpPr>
        <p:spPr>
          <a:xfrm>
            <a:off x="508262" y="1391992"/>
            <a:ext cx="10515600" cy="4351338"/>
          </a:xfrm>
        </p:spPr>
        <p:txBody>
          <a:bodyPr/>
          <a:lstStyle/>
          <a:p>
            <a:r>
              <a:rPr lang="cs-CZ" b="1" dirty="0"/>
              <a:t>1990 a déle </a:t>
            </a:r>
            <a:r>
              <a:rPr lang="cs-CZ" dirty="0"/>
              <a:t>– úloha </a:t>
            </a:r>
            <a:r>
              <a:rPr lang="cs-CZ" dirty="0" err="1"/>
              <a:t>Oracle</a:t>
            </a:r>
            <a:r>
              <a:rPr lang="cs-CZ" dirty="0"/>
              <a:t> je používat internet a rychlé servery pro splnění potřeb organizací v rámci ukládání dat a produkci informací. Software, který spravuje data se nachází na databázovém serveru. Aplikace pro podnikové operace se nachází na aplikačním serveru. Klienti poskytují přístup k vizuálnímu zobrazení informací na serveru. Klienti mohou mít aplikace sami o sobě a přistupují k podnikovým aplikací skrze internetové připojení.</a:t>
            </a:r>
          </a:p>
          <a:p>
            <a:endParaRPr lang="cs-CZ" dirty="0"/>
          </a:p>
        </p:txBody>
      </p:sp>
      <p:pic>
        <p:nvPicPr>
          <p:cNvPr id="819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2341" y="3792603"/>
            <a:ext cx="3553096" cy="297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362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Hlavní milníky počítačových systémů V.</a:t>
            </a:r>
          </a:p>
        </p:txBody>
      </p:sp>
      <p:sp>
        <p:nvSpPr>
          <p:cNvPr id="3" name="Zástupný symbol pro obsah 2"/>
          <p:cNvSpPr>
            <a:spLocks noGrp="1"/>
          </p:cNvSpPr>
          <p:nvPr>
            <p:ph idx="1"/>
          </p:nvPr>
        </p:nvSpPr>
        <p:spPr>
          <a:xfrm>
            <a:off x="743932" y="1542821"/>
            <a:ext cx="10515600" cy="4351338"/>
          </a:xfrm>
        </p:spPr>
        <p:txBody>
          <a:bodyPr/>
          <a:lstStyle/>
          <a:p>
            <a:r>
              <a:rPr lang="cs-CZ" dirty="0"/>
              <a:t>Nový model </a:t>
            </a:r>
            <a:r>
              <a:rPr lang="cs-CZ" b="1" dirty="0" err="1"/>
              <a:t>grid</a:t>
            </a:r>
            <a:r>
              <a:rPr lang="cs-CZ" b="1" dirty="0"/>
              <a:t> </a:t>
            </a:r>
            <a:r>
              <a:rPr lang="cs-CZ" b="1" dirty="0" err="1"/>
              <a:t>computing</a:t>
            </a:r>
            <a:r>
              <a:rPr lang="cs-CZ" b="1" dirty="0"/>
              <a:t> </a:t>
            </a:r>
            <a:r>
              <a:rPr lang="cs-CZ" dirty="0"/>
              <a:t>- v tomto modelu, všechny počítače organizace v rozdílných umístěních mohou být použity pouze jako pool počítačových zdrojů. Tento model vytváří softwarovou infrastrukturu, která běží na velkém počtu síťových serverů. Uživatel vytvoří požadavek na informaci nebo výpočet z jeho pracovní stanice a tento požadavek je zpracován někde v poli serverů na nejlepším místě.</a:t>
            </a:r>
          </a:p>
          <a:p>
            <a:pPr marL="0" indent="0">
              <a:buNone/>
            </a:pPr>
            <a:endParaRPr lang="cs-CZ" dirty="0"/>
          </a:p>
        </p:txBody>
      </p:sp>
      <p:pic>
        <p:nvPicPr>
          <p:cNvPr id="921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4876" y="3950819"/>
            <a:ext cx="3339329" cy="290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4045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Hlavní milníky počítačových systémů VI.</a:t>
            </a:r>
          </a:p>
        </p:txBody>
      </p:sp>
      <p:sp>
        <p:nvSpPr>
          <p:cNvPr id="3" name="Zástupný symbol pro obsah 2"/>
          <p:cNvSpPr>
            <a:spLocks noGrp="1"/>
          </p:cNvSpPr>
          <p:nvPr>
            <p:ph idx="1"/>
          </p:nvPr>
        </p:nvSpPr>
        <p:spPr/>
        <p:txBody>
          <a:bodyPr/>
          <a:lstStyle/>
          <a:p>
            <a:r>
              <a:rPr lang="cs-CZ" b="1" dirty="0"/>
              <a:t>Cloud </a:t>
            </a:r>
            <a:r>
              <a:rPr lang="cs-CZ" b="1" dirty="0" err="1"/>
              <a:t>computing</a:t>
            </a:r>
            <a:r>
              <a:rPr lang="cs-CZ" b="1" dirty="0"/>
              <a:t> </a:t>
            </a:r>
            <a:r>
              <a:rPr lang="cs-CZ" dirty="0"/>
              <a:t>- tento způsob umožňuje podnikům přistupovat k hw a sw skrze cloudového poskytovatele. Tyto služby jsou umístěny odděleně a poskytovány uživatelům skrze webové technologie.</a:t>
            </a:r>
          </a:p>
          <a:p>
            <a:pPr marL="0" indent="0">
              <a:buNone/>
            </a:pPr>
            <a:endParaRPr lang="cs-CZ" dirty="0"/>
          </a:p>
        </p:txBody>
      </p:sp>
      <p:pic>
        <p:nvPicPr>
          <p:cNvPr id="10242"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7274" y="3337359"/>
            <a:ext cx="3912326" cy="3520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0901600"/>
      </p:ext>
    </p:extLst>
  </p:cSld>
  <p:clrMapOvr>
    <a:masterClrMapping/>
  </p:clrMapOvr>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196</TotalTime>
  <Words>1316</Words>
  <Application>Microsoft Office PowerPoint</Application>
  <PresentationFormat>Širokoúhlá obrazovka</PresentationFormat>
  <Paragraphs>74</Paragraphs>
  <Slides>19</Slides>
  <Notes>0</Notes>
  <HiddenSlides>0</HiddenSlides>
  <MMClips>0</MMClips>
  <ScaleCrop>false</ScaleCrop>
  <HeadingPairs>
    <vt:vector size="6" baseType="variant">
      <vt:variant>
        <vt:lpstr>Použitá písma</vt:lpstr>
      </vt:variant>
      <vt:variant>
        <vt:i4>3</vt:i4>
      </vt:variant>
      <vt:variant>
        <vt:lpstr>Motiv</vt:lpstr>
      </vt:variant>
      <vt:variant>
        <vt:i4>1</vt:i4>
      </vt:variant>
      <vt:variant>
        <vt:lpstr>Nadpisy snímků</vt:lpstr>
      </vt:variant>
      <vt:variant>
        <vt:i4>19</vt:i4>
      </vt:variant>
    </vt:vector>
  </HeadingPairs>
  <TitlesOfParts>
    <vt:vector size="23" baseType="lpstr">
      <vt:lpstr>Arial</vt:lpstr>
      <vt:lpstr>Calibri</vt:lpstr>
      <vt:lpstr>Calibri Light</vt:lpstr>
      <vt:lpstr>Motiv Office</vt:lpstr>
      <vt:lpstr>Databázové systémy</vt:lpstr>
      <vt:lpstr>Proč databáze</vt:lpstr>
      <vt:lpstr>Data vs informace I.</vt:lpstr>
      <vt:lpstr>Data vs informace II.</vt:lpstr>
      <vt:lpstr>Co je to databáze?</vt:lpstr>
      <vt:lpstr>Historie databází I.</vt:lpstr>
      <vt:lpstr>Historie databází II.</vt:lpstr>
      <vt:lpstr>Jak je spojeno datové modelování a databáze?</vt:lpstr>
      <vt:lpstr>Proces vývoje databáze I.</vt:lpstr>
      <vt:lpstr>Co z toho dlouhého zadání vznikne?</vt:lpstr>
      <vt:lpstr>Proces vývoje databáze II.</vt:lpstr>
      <vt:lpstr>Proces vývoje databáze III.</vt:lpstr>
      <vt:lpstr>Klíčové pojmy výpočetní techniky</vt:lpstr>
      <vt:lpstr>Hlavní milníky počítačových systémů I.</vt:lpstr>
      <vt:lpstr>Hlavní milníky počítačových systémů II.</vt:lpstr>
      <vt:lpstr>Hlavní milníky počítačových systémů III.</vt:lpstr>
      <vt:lpstr>Hlavní milníky počítačových systémů IV.</vt:lpstr>
      <vt:lpstr>Hlavní milníky počítačových systémů V.</vt:lpstr>
      <vt:lpstr>Hlavní milníky počítačových systémů VI.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Databázové systémy</dc:title>
  <dc:creator>Veronika Hurtová</dc:creator>
  <cp:lastModifiedBy>Uživatel</cp:lastModifiedBy>
  <cp:revision>20</cp:revision>
  <dcterms:created xsi:type="dcterms:W3CDTF">2017-09-01T10:12:56Z</dcterms:created>
  <dcterms:modified xsi:type="dcterms:W3CDTF">2021-09-16T15:06:51Z</dcterms:modified>
</cp:coreProperties>
</file>