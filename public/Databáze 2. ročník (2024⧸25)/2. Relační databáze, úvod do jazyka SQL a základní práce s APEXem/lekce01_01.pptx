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8" autoAdjust="0"/>
    <p:restoredTop sz="94660"/>
  </p:normalViewPr>
  <p:slideViewPr>
    <p:cSldViewPr snapToGrid="0">
      <p:cViewPr varScale="1">
        <p:scale>
          <a:sx n="68" d="100"/>
          <a:sy n="68" d="100"/>
        </p:scale>
        <p:origin x="4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D6C4C97-58B1-4447-B23C-89F86D2AB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00BCC7E-624B-4F10-ADFC-92FCA05EC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E1F7A16-32B1-4C66-AC43-1589C679C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08530-3D1A-4774-B8EA-7BA581961029}" type="datetimeFigureOut">
              <a:rPr lang="cs-CZ" smtClean="0"/>
              <a:t>21.11.2018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16A7D8C-6CC8-4C5F-9BE9-10619288D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05B8803-D95E-4EBA-8A7D-54ACDF0D7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395A0-8683-4C7E-9C93-4F272680095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23966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20652CC-B3E1-4F2E-9CE2-519215C33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BCB53C59-130B-4DF7-9FBA-2B35DACCC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039524F-41CB-4EC1-9BB7-2C3BF9449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08530-3D1A-4774-B8EA-7BA581961029}" type="datetimeFigureOut">
              <a:rPr lang="cs-CZ" smtClean="0"/>
              <a:t>21.11.2018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5543268-D716-4B72-A9BD-AF2623A10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A38BD30-992B-4FC7-9FFF-A1AFE8966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395A0-8683-4C7E-9C93-4F272680095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79471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DCEF41-322D-4BAD-AF14-796D6AD41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11B12065-ACD6-4E64-9576-E99F778CD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C1534FE-2EBF-4919-B99B-AEC40FD91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08530-3D1A-4774-B8EA-7BA581961029}" type="datetimeFigureOut">
              <a:rPr lang="cs-CZ" smtClean="0"/>
              <a:t>21.11.2018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61E925F-ACEB-4CE2-9188-147A8CF7B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B399D60-24E5-49CC-8D6E-ADCAB773D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395A0-8683-4C7E-9C93-4F272680095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49520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06DD1B-C530-4DB6-B496-936D3540C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FD882AAB-7870-4865-87AE-218CA49E88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BC7C04C2-874A-4D75-9488-8DED485B98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1519DC7-7169-4C87-907B-53012620E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08530-3D1A-4774-B8EA-7BA581961029}" type="datetimeFigureOut">
              <a:rPr lang="cs-CZ" smtClean="0"/>
              <a:t>21.11.2018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16A6029-B0A3-4DF9-B7A6-3079FE574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0409C4B-DAB0-4197-9DD6-2EC111EAE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395A0-8683-4C7E-9C93-4F272680095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54741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A1E3044-E8EE-4944-AE15-4D8068853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2DAA8C45-CB38-4C60-AEBB-DBD4DC44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C0145ABC-AB5C-47B1-A54F-1020C6C52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B8303B71-45A2-474E-8C30-5C8551B14A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C2693AC7-C701-4F29-A293-79F130D757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83AA8833-E37A-47C1-A346-B6952621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08530-3D1A-4774-B8EA-7BA581961029}" type="datetimeFigureOut">
              <a:rPr lang="cs-CZ" smtClean="0"/>
              <a:t>21.11.2018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F75EA8D0-141D-4904-AE2D-829DB2CDB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2B20504F-12DC-4B2C-AAC6-7BD413F99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395A0-8683-4C7E-9C93-4F272680095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55898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3AB049-B10D-4E73-892A-EC26ABD12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B458C05A-E898-4EB6-8C5C-A7999A529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08530-3D1A-4774-B8EA-7BA581961029}" type="datetimeFigureOut">
              <a:rPr lang="cs-CZ" smtClean="0"/>
              <a:t>21.11.2018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DC818EE7-AAC5-4996-93CA-847A87194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1175B463-CE9F-477A-83B5-7C99A7E41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395A0-8683-4C7E-9C93-4F272680095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75809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F5A962D4-6B10-4EEC-966A-79C3B7305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08530-3D1A-4774-B8EA-7BA581961029}" type="datetimeFigureOut">
              <a:rPr lang="cs-CZ" smtClean="0"/>
              <a:t>21.11.2018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9590315C-BD03-4B8A-B39D-E2C628A2A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676CAB1-F3F3-4F18-B5B3-ABABC7DF8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395A0-8683-4C7E-9C93-4F272680095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40861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C9DCEA-0625-40D4-943C-3261489C4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E56E152D-9A92-49D7-B107-3146EABE7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7F545497-6304-42A1-BF7B-9AE42ABBF6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E6DD351-72E0-44B6-B730-EFDDBC82F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08530-3D1A-4774-B8EA-7BA581961029}" type="datetimeFigureOut">
              <a:rPr lang="cs-CZ" smtClean="0"/>
              <a:t>21.11.2018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0DC68B2-9A9D-4778-B62D-2A350C562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D6A5D5B-E79D-4EE8-95D4-6A95A5427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395A0-8683-4C7E-9C93-4F272680095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85775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1B42953-35C9-4E81-86B5-EF316F176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596E3833-A841-4ECF-BAE1-7024D7545F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132F88AF-2382-4D37-86DD-6E7FB18202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985F3048-191F-45DC-81D0-9467B5E10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08530-3D1A-4774-B8EA-7BA581961029}" type="datetimeFigureOut">
              <a:rPr lang="cs-CZ" smtClean="0"/>
              <a:t>21.11.2018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55B5B49-EF86-496C-A4C8-43E03B0DE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F7DC1CC-94C4-4307-8119-4E4159A0C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395A0-8683-4C7E-9C93-4F272680095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0713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3096B6-8BF0-4D3B-9E0F-F9C391CAC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CC36D03C-FDAF-4A20-8BDB-E79452C24C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5809954-E674-431F-B2AF-F7570C509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08530-3D1A-4774-B8EA-7BA581961029}" type="datetimeFigureOut">
              <a:rPr lang="cs-CZ" smtClean="0"/>
              <a:t>21.11.2018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2CA73C9-29D5-49AB-8F9C-B9CD38474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0D0E3CE-148C-41E8-8885-D0635CE05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395A0-8683-4C7E-9C93-4F272680095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15128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A2DED3AF-5633-4A36-B101-04DF8B9AFC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13781B10-92D3-4C06-BA51-81FBD92BDE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1B3E448-F75A-4998-9FCC-198AC202A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08530-3D1A-4774-B8EA-7BA581961029}" type="datetimeFigureOut">
              <a:rPr lang="cs-CZ" smtClean="0"/>
              <a:t>21.11.2018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083D886-A687-4ADB-8EDB-D07105DB0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B82A284-3224-46CA-BBEE-C923AB171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395A0-8683-4C7E-9C93-4F272680095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23723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97B97BB3-5EDB-4FA4-9182-773E1CEAA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2453C32C-80B8-4FBC-8D6A-C6428A4AB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F73F581-1EDE-4252-95DF-B9D70BB826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308530-3D1A-4774-B8EA-7BA581961029}" type="datetimeFigureOut">
              <a:rPr lang="cs-CZ" smtClean="0"/>
              <a:t>21.11.2018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24A5C03-B0C2-4C04-B129-1DD1CF0B55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02C461E-0BAC-4157-9670-C500223B1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395A0-8683-4C7E-9C93-4F2726800958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10087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68C7C47-B4AA-431C-8967-B577D9C5EE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SQL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85104A7-5E03-4ED9-B740-0F03C47C21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03047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857E312-C097-4C4B-9FA8-305F7BF26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Oracle</a:t>
            </a:r>
            <a:r>
              <a:rPr lang="cs-CZ" dirty="0"/>
              <a:t> </a:t>
            </a:r>
            <a:r>
              <a:rPr lang="cs-CZ" dirty="0" err="1"/>
              <a:t>Application</a:t>
            </a:r>
            <a:r>
              <a:rPr lang="cs-CZ" dirty="0"/>
              <a:t> Express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20B06D1D-919D-4900-A2BF-9C8DF74A3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Jedná se o aplikační program, což je program umožňující koncovému uživateli, aby byl schopný zakoupit si plně vyvinutý a připravený </a:t>
            </a:r>
            <a:br>
              <a:rPr lang="cs-CZ" dirty="0"/>
            </a:br>
            <a:r>
              <a:rPr lang="cs-CZ" dirty="0"/>
              <a:t>program. </a:t>
            </a:r>
          </a:p>
          <a:p>
            <a:r>
              <a:rPr lang="cs-CZ" dirty="0"/>
              <a:t>Není potřeba vědět, jak program pracuje, stačí vědět, co od něj </a:t>
            </a:r>
            <a:br>
              <a:rPr lang="cs-CZ" dirty="0"/>
            </a:br>
            <a:r>
              <a:rPr lang="cs-CZ" dirty="0"/>
              <a:t>můžeme očekávat.</a:t>
            </a:r>
          </a:p>
          <a:p>
            <a:r>
              <a:rPr lang="cs-CZ" dirty="0"/>
              <a:t>Aplikační sw je rozdílný od systémového sw. Systémový sw se skládá z </a:t>
            </a:r>
            <a:r>
              <a:rPr lang="cs-CZ" dirty="0" err="1"/>
              <a:t>nízkoúrovňových</a:t>
            </a:r>
            <a:r>
              <a:rPr lang="cs-CZ" dirty="0"/>
              <a:t> programů, které jsou navrženy na interakci s hw. </a:t>
            </a:r>
          </a:p>
          <a:p>
            <a:r>
              <a:rPr lang="cs-CZ" dirty="0"/>
              <a:t>Operační systémy, kompilátory a systémové utility jsou příklady systémového sw. V porovnání k aplikačnímu sw, neobsahuji systémové sw zpracování textu, databáze, hry, emaily ani grafiku.</a:t>
            </a:r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08725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438576-94D6-4CE6-A795-9D13F637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Oracle</a:t>
            </a:r>
            <a:r>
              <a:rPr lang="cs-CZ" dirty="0"/>
              <a:t> </a:t>
            </a:r>
            <a:r>
              <a:rPr lang="cs-CZ" dirty="0" err="1"/>
              <a:t>Application</a:t>
            </a:r>
            <a:r>
              <a:rPr lang="cs-CZ" dirty="0"/>
              <a:t> Express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D9785ED-F6BE-4C0C-AF77-B7A80FDB2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dirty="0"/>
              <a:t>Yahoo.com používá </a:t>
            </a:r>
            <a:r>
              <a:rPr lang="cs-CZ" dirty="0" err="1"/>
              <a:t>Oracle</a:t>
            </a:r>
            <a:r>
              <a:rPr lang="cs-CZ" dirty="0"/>
              <a:t> </a:t>
            </a:r>
            <a:r>
              <a:rPr lang="cs-CZ" i="1" dirty="0"/>
              <a:t>databázi</a:t>
            </a:r>
            <a:r>
              <a:rPr lang="cs-CZ" dirty="0"/>
              <a:t> pro ukládání dat. Každý raději dá </a:t>
            </a:r>
            <a:br>
              <a:rPr lang="cs-CZ" dirty="0"/>
            </a:br>
            <a:r>
              <a:rPr lang="cs-CZ" dirty="0"/>
              <a:t>jenom přihlášení do emailu a vidí všechny uložené emaily na rozdíl od požadavků pomocí SQL dotazu přímo do databáze.</a:t>
            </a:r>
          </a:p>
          <a:p>
            <a:r>
              <a:rPr lang="cs-CZ" dirty="0"/>
              <a:t>Jedním kliknutím myši mají uživatelé plný přístup ke všem informací, které potřebují.</a:t>
            </a:r>
          </a:p>
          <a:p>
            <a:r>
              <a:rPr lang="cs-CZ" dirty="0"/>
              <a:t>Aplikace jsou jako auta, když řídíte auto potřebujete vědět jenom to </a:t>
            </a:r>
            <a:br>
              <a:rPr lang="cs-CZ" dirty="0"/>
            </a:br>
            <a:r>
              <a:rPr lang="cs-CZ" dirty="0"/>
              <a:t>nejdůležitější pro vás, tedy jak ho ovládat. </a:t>
            </a:r>
          </a:p>
          <a:p>
            <a:r>
              <a:rPr lang="cs-CZ" dirty="0"/>
              <a:t>Auto má uživatelsky přívětivou kapotu, která zakrývá všechny </a:t>
            </a:r>
            <a:br>
              <a:rPr lang="cs-CZ" dirty="0"/>
            </a:br>
            <a:r>
              <a:rPr lang="cs-CZ" dirty="0"/>
              <a:t>věci u kterých nepotřebujete vědět jak fungují, jako fungování motoru </a:t>
            </a:r>
            <a:br>
              <a:rPr lang="cs-CZ" dirty="0"/>
            </a:br>
            <a:r>
              <a:rPr lang="cs-CZ" dirty="0"/>
              <a:t>apod.</a:t>
            </a:r>
          </a:p>
          <a:p>
            <a:r>
              <a:rPr lang="cs-CZ" dirty="0"/>
              <a:t>Mohli byste získat řidičák, kdyby jste měli demonstrovat, jak každý ze </a:t>
            </a:r>
            <a:br>
              <a:rPr lang="cs-CZ" dirty="0"/>
            </a:br>
            <a:r>
              <a:rPr lang="cs-CZ" dirty="0"/>
              <a:t>systémů auta, jako elektrický, hydraulický apod. funguje?</a:t>
            </a:r>
          </a:p>
        </p:txBody>
      </p:sp>
    </p:spTree>
    <p:extLst>
      <p:ext uri="{BB962C8B-B14F-4D97-AF65-F5344CB8AC3E}">
        <p14:creationId xmlns:p14="http://schemas.microsoft.com/office/powerpoint/2010/main" val="1232896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6251F0-7344-45D6-ADD9-71029FAE0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Oracle</a:t>
            </a:r>
            <a:r>
              <a:rPr lang="cs-CZ" dirty="0"/>
              <a:t> </a:t>
            </a:r>
            <a:r>
              <a:rPr lang="cs-CZ" dirty="0" err="1"/>
              <a:t>Application</a:t>
            </a:r>
            <a:r>
              <a:rPr lang="cs-CZ" dirty="0"/>
              <a:t> Express III.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28C7E36-40E0-43B0-863C-023554245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V rámci tohoto kurzu budeme pracovat s </a:t>
            </a:r>
            <a:r>
              <a:rPr lang="cs-CZ" dirty="0" err="1"/>
              <a:t>Oracle</a:t>
            </a:r>
            <a:r>
              <a:rPr lang="cs-CZ" dirty="0"/>
              <a:t> </a:t>
            </a:r>
            <a:r>
              <a:rPr lang="cs-CZ" dirty="0" err="1"/>
              <a:t>Application</a:t>
            </a:r>
            <a:r>
              <a:rPr lang="cs-CZ" dirty="0"/>
              <a:t> Express.</a:t>
            </a:r>
          </a:p>
          <a:p>
            <a:r>
              <a:rPr lang="cs-CZ" dirty="0"/>
              <a:t>Tato aplikace umožňuje mnoho návrhářům vystavět a přistupovat k aplikacím, jako by běžely na rozdělených databázích.</a:t>
            </a:r>
          </a:p>
          <a:p>
            <a:r>
              <a:rPr lang="en-US" dirty="0"/>
              <a:t>App express </a:t>
            </a:r>
            <a:r>
              <a:rPr lang="en-US" dirty="0" err="1"/>
              <a:t>má</a:t>
            </a:r>
            <a:r>
              <a:rPr lang="en-US" dirty="0"/>
              <a:t> 3 </a:t>
            </a:r>
            <a:r>
              <a:rPr lang="en-US" dirty="0" err="1"/>
              <a:t>komponenty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sql</a:t>
            </a:r>
            <a:r>
              <a:rPr lang="en-US" dirty="0"/>
              <a:t> workshop,</a:t>
            </a:r>
          </a:p>
          <a:p>
            <a:pPr lvl="1"/>
            <a:r>
              <a:rPr lang="en-US" dirty="0" err="1"/>
              <a:t>aplication</a:t>
            </a:r>
            <a:r>
              <a:rPr lang="en-US" dirty="0"/>
              <a:t> builder,</a:t>
            </a:r>
          </a:p>
          <a:p>
            <a:pPr lvl="1"/>
            <a:r>
              <a:rPr lang="en-US" dirty="0"/>
              <a:t>object browser.</a:t>
            </a:r>
          </a:p>
          <a:p>
            <a:r>
              <a:rPr lang="cs-CZ" dirty="0"/>
              <a:t>Abyste se naučili SQL, budete používat SQL workshop komponentů, pro design aplikací potom </a:t>
            </a:r>
            <a:r>
              <a:rPr lang="cs-CZ" dirty="0" err="1"/>
              <a:t>aplication</a:t>
            </a:r>
            <a:r>
              <a:rPr lang="cs-CZ" dirty="0"/>
              <a:t> </a:t>
            </a:r>
            <a:r>
              <a:rPr lang="cs-CZ" dirty="0" err="1"/>
              <a:t>builder</a:t>
            </a:r>
            <a:r>
              <a:rPr lang="cs-CZ" dirty="0"/>
              <a:t>.</a:t>
            </a:r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68851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F43CE66-C9DE-4F9D-9832-94242EA44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Oracle</a:t>
            </a:r>
            <a:r>
              <a:rPr lang="cs-CZ" dirty="0"/>
              <a:t> </a:t>
            </a:r>
            <a:r>
              <a:rPr lang="cs-CZ" dirty="0" err="1"/>
              <a:t>Application</a:t>
            </a:r>
            <a:r>
              <a:rPr lang="cs-CZ" dirty="0"/>
              <a:t> Express IV.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1D61B58D-E774-4733-BB9E-FA28F8C12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APEX je nástroj, který budeme používat pro výstavbu tabulek a získávání informací z ORACLE databáze. </a:t>
            </a:r>
          </a:p>
          <a:p>
            <a:r>
              <a:rPr lang="cs-CZ" dirty="0"/>
              <a:t>Když získáváme informace z databáze, je často potřeba najít podmnožinu dat na základě vyhledávacích kritérií. To že se spřátelíte s jazykem SQL vám pomůže rychleji najít hledané informace.</a:t>
            </a:r>
          </a:p>
          <a:p>
            <a:r>
              <a:rPr lang="cs-CZ" dirty="0"/>
              <a:t>APEX je v základu vytvořen s čistým účtem, nejsou zde žádné tabulky, pro jejich nahrání je potřeba využít script, který najdete v sekci 0, zdroje kurzu, </a:t>
            </a:r>
            <a:r>
              <a:rPr lang="cs-CZ" b="1" dirty="0"/>
              <a:t>apex </a:t>
            </a:r>
            <a:r>
              <a:rPr lang="cs-CZ" b="1" dirty="0" err="1"/>
              <a:t>scripts</a:t>
            </a:r>
            <a:r>
              <a:rPr lang="cs-CZ" b="1" dirty="0"/>
              <a:t> </a:t>
            </a:r>
            <a:r>
              <a:rPr lang="cs-CZ" dirty="0"/>
              <a:t>a </a:t>
            </a:r>
            <a:r>
              <a:rPr lang="cs-CZ" b="1" dirty="0"/>
              <a:t>user </a:t>
            </a:r>
            <a:r>
              <a:rPr lang="cs-CZ" b="1" dirty="0" err="1"/>
              <a:t>guides</a:t>
            </a:r>
            <a:r>
              <a:rPr lang="cs-CZ" dirty="0"/>
              <a:t>.</a:t>
            </a:r>
          </a:p>
          <a:p>
            <a:r>
              <a:rPr lang="cs-CZ" dirty="0"/>
              <a:t>Po spuštění skriptu se nahrají tabulky a data na základě tohoto kurzu, které budete potřebovat do vašeho schématu.</a:t>
            </a:r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005644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EF62E8-530C-4B52-97B6-09E3305EA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Oracle</a:t>
            </a:r>
            <a:r>
              <a:rPr lang="cs-CZ" dirty="0"/>
              <a:t> </a:t>
            </a:r>
            <a:r>
              <a:rPr lang="cs-CZ" dirty="0" err="1"/>
              <a:t>Application</a:t>
            </a:r>
            <a:r>
              <a:rPr lang="cs-CZ" dirty="0"/>
              <a:t> Express V.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8EF84BF-2664-4A8E-816C-2E427D8AA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212831E0-EF7E-4740-9DEE-15C5A01540B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801018"/>
            <a:ext cx="9569824" cy="505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709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B5A946C-3A9B-40CE-A507-D8F22899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 začínáme </a:t>
            </a:r>
            <a:r>
              <a:rPr lang="cs-CZ" dirty="0" err="1"/>
              <a:t>selectem</a:t>
            </a:r>
            <a:r>
              <a:rPr lang="cs-CZ" dirty="0"/>
              <a:t>…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23A4E3E9-DBAE-47D7-AD78-B232E1CEB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Select</a:t>
            </a:r>
            <a:r>
              <a:rPr lang="cs-CZ" dirty="0"/>
              <a:t> * je příkaz, který vrátí celý obsah tabulky.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Když zadáváte SQL příkaz, je důležité používat správné </a:t>
            </a:r>
            <a:r>
              <a:rPr lang="cs-CZ" dirty="0" err="1"/>
              <a:t>spelování</a:t>
            </a:r>
            <a:r>
              <a:rPr lang="cs-CZ" dirty="0"/>
              <a:t>.</a:t>
            </a:r>
          </a:p>
          <a:p>
            <a:endParaRPr lang="cs-CZ" dirty="0"/>
          </a:p>
          <a:p>
            <a:endParaRPr lang="cs-CZ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738D23F-AD54-46D2-B446-3212600A058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114144" y="2555501"/>
            <a:ext cx="5878327" cy="17206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BC724D-1D6F-4A99-B963-D981BDC88C3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114144" y="4997449"/>
            <a:ext cx="5313550" cy="1645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626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1E4BBC8-EDF6-4975-9501-E5C081BF1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Select</a:t>
            </a:r>
            <a:r>
              <a:rPr lang="cs-CZ" dirty="0"/>
              <a:t>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388A665-34A7-493D-B48A-B5D9AE5A1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Stejně tak musíte dávat pozor na překlepy v názvech tabulek </a:t>
            </a:r>
            <a:br>
              <a:rPr lang="cs-CZ" dirty="0"/>
            </a:br>
            <a:r>
              <a:rPr lang="cs-CZ" dirty="0"/>
              <a:t>a sloupců.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BAA45F5B-551C-42FD-AB01-01189EA3E57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2956111"/>
            <a:ext cx="5912224" cy="142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496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6613AE5-EF06-4172-92C1-0F8A362EE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Technologie relačních databází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E7477B5B-E11E-4C5C-A3A5-23615E86B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Databáze jsou součástí každodenního života i když si to po většinu času vůbec neuvědomujeme. </a:t>
            </a:r>
          </a:p>
          <a:p>
            <a:r>
              <a:rPr lang="cs-CZ" dirty="0"/>
              <a:t>Kdykoliv jste používali rezervace letenek, volali z telefonu, apod. potřebovali jste použít databáze. Popravdě mnoho měst používá i pro řízení dopravy databáze.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57480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8A39C20-655D-4D8A-B17F-CA6115C6B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Relační databáze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98EA68C-2C69-431B-8A53-94BA81D60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Relační databáze umožňují tabulkám obsahovat pole podle nějakého obsahu. Jako relační databáze je považováno nejméně jedno pole společné ve 2 tabulkách.</a:t>
            </a:r>
          </a:p>
          <a:p>
            <a:r>
              <a:rPr lang="cs-CZ" dirty="0"/>
              <a:t>Abyste pochopili, jak důležité jsou databáze v dnešním světě:</a:t>
            </a:r>
          </a:p>
          <a:p>
            <a:pPr lvl="1"/>
            <a:r>
              <a:rPr lang="cs-CZ" dirty="0"/>
              <a:t>Aktuálně je 20% světových dat uloženo v relačních </a:t>
            </a:r>
            <a:r>
              <a:rPr lang="cs-CZ" dirty="0" err="1"/>
              <a:t>dtb</a:t>
            </a:r>
            <a:r>
              <a:rPr lang="cs-CZ" dirty="0"/>
              <a:t> (</a:t>
            </a:r>
            <a:r>
              <a:rPr lang="cs-CZ" dirty="0" err="1"/>
              <a:t>rdbms</a:t>
            </a:r>
            <a:r>
              <a:rPr lang="cs-CZ" dirty="0"/>
              <a:t>).</a:t>
            </a:r>
          </a:p>
          <a:p>
            <a:pPr lvl="1"/>
            <a:r>
              <a:rPr lang="cs-CZ" dirty="0"/>
              <a:t>V dalších 2 letech se očekává, že databáze budou dosahovat velikostí větších </a:t>
            </a:r>
            <a:br>
              <a:rPr lang="cs-CZ" dirty="0"/>
            </a:br>
            <a:r>
              <a:rPr lang="cs-CZ" dirty="0"/>
              <a:t>než 100 </a:t>
            </a:r>
            <a:r>
              <a:rPr lang="cs-CZ" dirty="0" err="1"/>
              <a:t>terabytů</a:t>
            </a:r>
            <a:r>
              <a:rPr lang="cs-CZ" dirty="0"/>
              <a:t>, databáze takto veliké mohou obsahovat 100000 kopií </a:t>
            </a:r>
            <a:br>
              <a:rPr lang="cs-CZ" dirty="0"/>
            </a:br>
            <a:r>
              <a:rPr lang="cs-CZ" dirty="0"/>
              <a:t>encyklopedie </a:t>
            </a:r>
            <a:r>
              <a:rPr lang="cs-CZ" dirty="0" err="1"/>
              <a:t>britannica</a:t>
            </a:r>
            <a:r>
              <a:rPr lang="cs-CZ" dirty="0"/>
              <a:t> nebo 200000 hodin hudby nebo 10 bilionů webových stránek.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083949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F5D6904-38DA-42E0-8E49-39ADA1C4B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Pojmy – změny oproti konceptuálnímu modelu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76D9AE2A-5553-44F6-994E-1A4816885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dirty="0"/>
              <a:t>tabulka</a:t>
            </a:r>
            <a:r>
              <a:rPr lang="cs-CZ" dirty="0"/>
              <a:t> = základní úložná struktura (entita)</a:t>
            </a:r>
          </a:p>
          <a:p>
            <a:r>
              <a:rPr lang="cs-CZ" b="1" dirty="0"/>
              <a:t>sloupec</a:t>
            </a:r>
            <a:r>
              <a:rPr lang="cs-CZ" dirty="0"/>
              <a:t> = jeden druh dat v tabulce (atribut)</a:t>
            </a:r>
          </a:p>
          <a:p>
            <a:r>
              <a:rPr lang="cs-CZ" b="1" dirty="0"/>
              <a:t>řádek</a:t>
            </a:r>
            <a:r>
              <a:rPr lang="cs-CZ" dirty="0"/>
              <a:t> = data pro jednu instanci tabulky (instance)</a:t>
            </a:r>
          </a:p>
          <a:p>
            <a:r>
              <a:rPr lang="cs-CZ" b="1" dirty="0"/>
              <a:t>pole</a:t>
            </a:r>
            <a:r>
              <a:rPr lang="cs-CZ" dirty="0"/>
              <a:t> = jedna hodnota v průsečíku řádku a sloupce (hodnota)</a:t>
            </a:r>
          </a:p>
          <a:p>
            <a:r>
              <a:rPr lang="cs-CZ" b="1" dirty="0"/>
              <a:t>primární klíč </a:t>
            </a:r>
            <a:r>
              <a:rPr lang="cs-CZ" dirty="0"/>
              <a:t>= unikátní identifikátor každého řádku (unikátní identifikátor)</a:t>
            </a:r>
          </a:p>
          <a:p>
            <a:r>
              <a:rPr lang="cs-CZ" b="1" dirty="0"/>
              <a:t>cizí klíč </a:t>
            </a:r>
            <a:r>
              <a:rPr lang="cs-CZ" dirty="0"/>
              <a:t>= sloupec, který odkazuje na primární klíč v jiné tabulce (relace)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87064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C380BA2-8E07-4815-A7E5-8F1F53CB2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Pravidla tabulek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32F3C34-5762-4531-B232-D982C3AA2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Je tu 6 pravidel pro tabulky v relačních databázích</a:t>
            </a:r>
          </a:p>
          <a:p>
            <a:pPr lvl="1"/>
            <a:r>
              <a:rPr lang="cs-CZ" dirty="0"/>
              <a:t>Vstupy ve sloupcích jsou </a:t>
            </a:r>
            <a:r>
              <a:rPr lang="cs-CZ" dirty="0" err="1"/>
              <a:t>jednohodnotové</a:t>
            </a:r>
            <a:r>
              <a:rPr lang="cs-CZ" dirty="0"/>
              <a:t>.</a:t>
            </a:r>
          </a:p>
          <a:p>
            <a:pPr lvl="1"/>
            <a:r>
              <a:rPr lang="cs-CZ" dirty="0"/>
              <a:t>Vstupy sloupců jsou jednoho typu.</a:t>
            </a:r>
          </a:p>
          <a:p>
            <a:pPr lvl="1"/>
            <a:r>
              <a:rPr lang="cs-CZ" dirty="0"/>
              <a:t>Každý řádek je unikátní.</a:t>
            </a:r>
          </a:p>
          <a:p>
            <a:pPr lvl="1"/>
            <a:r>
              <a:rPr lang="cs-CZ" dirty="0"/>
              <a:t>Sekvence sloupců je nevýznamná.</a:t>
            </a:r>
          </a:p>
          <a:p>
            <a:pPr lvl="1"/>
            <a:r>
              <a:rPr lang="cs-CZ" dirty="0"/>
              <a:t>Sekvence řádku je nevýznamná.</a:t>
            </a:r>
          </a:p>
          <a:p>
            <a:pPr lvl="1"/>
            <a:r>
              <a:rPr lang="cs-CZ" dirty="0"/>
              <a:t>Každý sloupec má unikátní název.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316990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85A1AC-EEDC-4A29-8EC5-8708978E9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/>
              <a:t>Přístup k datům v RDBMS (</a:t>
            </a:r>
            <a:r>
              <a:rPr lang="cs-CZ" dirty="0" err="1"/>
              <a:t>relational</a:t>
            </a:r>
            <a:r>
              <a:rPr lang="cs-CZ" dirty="0"/>
              <a:t> database- management systém)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2193C538-27E0-4D16-B174-EE55C6A1E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Pro přístup k datům v databázi nepotřebujete vědět jejich fyzické </a:t>
            </a:r>
            <a:br>
              <a:rPr lang="cs-CZ" dirty="0"/>
            </a:br>
            <a:r>
              <a:rPr lang="cs-CZ" dirty="0"/>
              <a:t>uložení, potřebuje vědět a specifikovat přístupovou cestu k tabulce Jednoduše lze použít strukturovaný dotazovací jazyk SQL a jeho </a:t>
            </a:r>
            <a:br>
              <a:rPr lang="cs-CZ" dirty="0"/>
            </a:br>
            <a:r>
              <a:rPr lang="cs-CZ" dirty="0"/>
              <a:t>operátory a dotazy.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886814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6730A8B-95F2-4072-B46D-AAF90A54B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Komunikace s databází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10B49C6-BD07-40F1-9D13-3C25DC952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Práce s databází je velmi podobná volání s kamarádem po telefonu, nejprve musíte vybrat metodu komunikace (telefon), potom když jste spojeni se zeptat kamaráda na váš dotaz a v odpovědi na váš dotaz získáte kamarádovu odpověď. Velmi jednoduché a mnoho z nás jsou v tom experti, že?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761449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0824CB4-CE43-4B41-A4F7-46E1429E8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Komunikace s databází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2443D119-F761-472D-BB6F-FD98BA378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V tomto kurzu bude komunikace probíhat přes APEX kterému vy dáte dotaz a on vám odpoví.</a:t>
            </a:r>
          </a:p>
          <a:p>
            <a:r>
              <a:rPr lang="cs-CZ" dirty="0"/>
              <a:t>Jak je znázorněno v diagramu, komunikace s RDBMS je založena na zadání SQL příkazu </a:t>
            </a:r>
            <a:r>
              <a:rPr lang="cs-CZ" dirty="0" err="1"/>
              <a:t>APEXu</a:t>
            </a:r>
            <a:r>
              <a:rPr lang="cs-CZ" dirty="0"/>
              <a:t>.</a:t>
            </a:r>
          </a:p>
          <a:p>
            <a:r>
              <a:rPr lang="cs-CZ" dirty="0"/>
              <a:t>Žádost je následně odeslána na </a:t>
            </a:r>
            <a:r>
              <a:rPr lang="cs-CZ" dirty="0" err="1"/>
              <a:t>Oracle</a:t>
            </a:r>
            <a:r>
              <a:rPr lang="cs-CZ" dirty="0"/>
              <a:t> server (databáze běžící na počítači), </a:t>
            </a:r>
          </a:p>
          <a:p>
            <a:r>
              <a:rPr lang="cs-CZ" dirty="0"/>
              <a:t>žádost je zpracována a výsledek </a:t>
            </a:r>
            <a:br>
              <a:rPr lang="cs-CZ" dirty="0"/>
            </a:br>
            <a:r>
              <a:rPr lang="cs-CZ" dirty="0"/>
              <a:t>odeslán zpět. Ve velkých </a:t>
            </a:r>
            <a:br>
              <a:rPr lang="cs-CZ" dirty="0"/>
            </a:br>
            <a:r>
              <a:rPr lang="cs-CZ" dirty="0"/>
              <a:t>databázích přistupuje k systému </a:t>
            </a:r>
            <a:br>
              <a:rPr lang="cs-CZ" dirty="0"/>
            </a:br>
            <a:r>
              <a:rPr lang="cs-CZ" dirty="0"/>
              <a:t>mnoho uživatelů, </a:t>
            </a:r>
            <a:r>
              <a:rPr lang="cs-CZ"/>
              <a:t>serverů </a:t>
            </a:r>
            <a:br>
              <a:rPr lang="cs-CZ"/>
            </a:br>
            <a:r>
              <a:rPr lang="cs-CZ"/>
              <a:t>a </a:t>
            </a:r>
            <a:r>
              <a:rPr lang="cs-CZ" dirty="0"/>
              <a:t>tabulek.</a:t>
            </a:r>
          </a:p>
          <a:p>
            <a:endParaRPr lang="cs-CZ" dirty="0"/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168BEFEC-DAC7-4B04-BD03-B634FF47641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970494" y="4061012"/>
            <a:ext cx="6221506" cy="279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07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93E093-34AE-44F4-941D-2E6532AAD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Kategorizace SQL příkazu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E1FDF6A-C7B3-43ED-988B-62A22928F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Příkazy jsou členěny do několika kategorií na základě funkce, kterou vykonávají.</a:t>
            </a:r>
          </a:p>
          <a:p>
            <a:r>
              <a:rPr lang="cs-CZ" dirty="0"/>
              <a:t>Například získávací příkazy jsou označovány klíčovým slovem </a:t>
            </a:r>
            <a:r>
              <a:rPr lang="cs-CZ" dirty="0" err="1"/>
              <a:t>select</a:t>
            </a:r>
            <a:r>
              <a:rPr lang="cs-CZ" dirty="0"/>
              <a:t>.</a:t>
            </a:r>
          </a:p>
          <a:p>
            <a:r>
              <a:rPr lang="cs-CZ" dirty="0"/>
              <a:t>Máme 4 základní kategorie SQL příkazu:</a:t>
            </a:r>
          </a:p>
          <a:p>
            <a:pPr lvl="1"/>
            <a:r>
              <a:rPr lang="cs-CZ" b="1" dirty="0"/>
              <a:t>DML</a:t>
            </a:r>
            <a:r>
              <a:rPr lang="cs-CZ" dirty="0"/>
              <a:t> – manipulace s daty, insert, update, </a:t>
            </a:r>
            <a:r>
              <a:rPr lang="cs-CZ" dirty="0" err="1"/>
              <a:t>delete</a:t>
            </a:r>
            <a:r>
              <a:rPr lang="cs-CZ" dirty="0"/>
              <a:t>, </a:t>
            </a:r>
            <a:r>
              <a:rPr lang="cs-CZ" dirty="0" err="1"/>
              <a:t>merge</a:t>
            </a:r>
            <a:endParaRPr lang="cs-CZ" dirty="0"/>
          </a:p>
          <a:p>
            <a:pPr lvl="1"/>
            <a:r>
              <a:rPr lang="cs-CZ" b="1" dirty="0"/>
              <a:t>DDL</a:t>
            </a:r>
            <a:r>
              <a:rPr lang="cs-CZ" dirty="0"/>
              <a:t> – </a:t>
            </a:r>
            <a:r>
              <a:rPr lang="cs-CZ" dirty="0" err="1"/>
              <a:t>crate</a:t>
            </a:r>
            <a:r>
              <a:rPr lang="cs-CZ" dirty="0"/>
              <a:t>, alter, drop, </a:t>
            </a:r>
            <a:r>
              <a:rPr lang="cs-CZ" dirty="0" err="1"/>
              <a:t>rename</a:t>
            </a:r>
            <a:endParaRPr lang="cs-CZ" dirty="0"/>
          </a:p>
          <a:p>
            <a:pPr lvl="1"/>
            <a:r>
              <a:rPr lang="cs-CZ" b="1" dirty="0"/>
              <a:t>TCL</a:t>
            </a:r>
            <a:r>
              <a:rPr lang="cs-CZ" dirty="0"/>
              <a:t> – </a:t>
            </a:r>
            <a:r>
              <a:rPr lang="cs-CZ" dirty="0" err="1"/>
              <a:t>commit</a:t>
            </a:r>
            <a:r>
              <a:rPr lang="cs-CZ" dirty="0"/>
              <a:t>, </a:t>
            </a:r>
            <a:r>
              <a:rPr lang="cs-CZ" dirty="0" err="1"/>
              <a:t>rollback</a:t>
            </a:r>
            <a:r>
              <a:rPr lang="cs-CZ" dirty="0"/>
              <a:t>, </a:t>
            </a:r>
            <a:r>
              <a:rPr lang="cs-CZ" dirty="0" err="1"/>
              <a:t>savepoint</a:t>
            </a:r>
            <a:endParaRPr lang="cs-CZ" dirty="0"/>
          </a:p>
          <a:p>
            <a:pPr lvl="1"/>
            <a:r>
              <a:rPr lang="cs-CZ" b="1" dirty="0"/>
              <a:t>DCL</a:t>
            </a:r>
            <a:r>
              <a:rPr lang="cs-CZ" dirty="0"/>
              <a:t> – grant, </a:t>
            </a:r>
            <a:r>
              <a:rPr lang="cs-CZ" dirty="0" err="1"/>
              <a:t>revoke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88651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3DD69F-7842-4033-8770-D5A17370F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Anatomie SQL příkazu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0D361B1E-9023-416C-AD31-EB0FCC475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Select</a:t>
            </a:r>
            <a:r>
              <a:rPr lang="cs-CZ" dirty="0"/>
              <a:t> je jeden z nejvýznamnějších, možná nejvýznamnější klíčové slovo v SQL.</a:t>
            </a:r>
          </a:p>
          <a:p>
            <a:r>
              <a:rPr lang="cs-CZ" dirty="0" err="1"/>
              <a:t>Select</a:t>
            </a:r>
            <a:r>
              <a:rPr lang="cs-CZ" dirty="0"/>
              <a:t> je příkaz pro získávání informací a pokud víte jak ho používat, máte otevřené dveře do databáze. </a:t>
            </a:r>
          </a:p>
          <a:p>
            <a:r>
              <a:rPr lang="cs-CZ" dirty="0"/>
              <a:t>Syntaxe </a:t>
            </a:r>
            <a:r>
              <a:rPr lang="cs-CZ" dirty="0" err="1"/>
              <a:t>selectu</a:t>
            </a:r>
            <a:r>
              <a:rPr lang="cs-CZ" dirty="0"/>
              <a:t> je následující:</a:t>
            </a:r>
          </a:p>
          <a:p>
            <a:endParaRPr lang="cs-CZ" dirty="0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E5EA62DA-C6CA-4384-BFAA-92743A581D8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934975" y="4336396"/>
            <a:ext cx="5756743" cy="90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6477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1E7724A-1F58-4375-B1A9-5F6853700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Anatomie SQL příkazu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6CC251AD-9F81-4EA6-82A4-7F414CFAE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Klíčové slovo ukazuje na typ </a:t>
            </a:r>
            <a:r>
              <a:rPr lang="cs-CZ" dirty="0" err="1"/>
              <a:t>sql</a:t>
            </a:r>
            <a:r>
              <a:rPr lang="cs-CZ" dirty="0"/>
              <a:t> dotazu, například </a:t>
            </a:r>
            <a:r>
              <a:rPr lang="cs-CZ" dirty="0" err="1"/>
              <a:t>select</a:t>
            </a:r>
            <a:r>
              <a:rPr lang="cs-CZ" dirty="0"/>
              <a:t> a </a:t>
            </a:r>
            <a:r>
              <a:rPr lang="cs-CZ" dirty="0" err="1"/>
              <a:t>from</a:t>
            </a:r>
            <a:endParaRPr lang="cs-CZ" dirty="0"/>
          </a:p>
          <a:p>
            <a:pPr lvl="1"/>
            <a:r>
              <a:rPr lang="cs-CZ" b="1" dirty="0"/>
              <a:t>Klauzule</a:t>
            </a:r>
            <a:r>
              <a:rPr lang="cs-CZ" dirty="0"/>
              <a:t> je část </a:t>
            </a:r>
            <a:r>
              <a:rPr lang="cs-CZ" dirty="0" err="1"/>
              <a:t>sql</a:t>
            </a:r>
            <a:r>
              <a:rPr lang="cs-CZ" dirty="0"/>
              <a:t> příkazů (například </a:t>
            </a:r>
            <a:r>
              <a:rPr lang="cs-CZ" b="1" dirty="0" err="1"/>
              <a:t>select</a:t>
            </a:r>
            <a:r>
              <a:rPr lang="cs-CZ" b="1" dirty="0"/>
              <a:t> </a:t>
            </a:r>
            <a:r>
              <a:rPr lang="cs-CZ" b="1" dirty="0" err="1"/>
              <a:t>last_name</a:t>
            </a:r>
            <a:r>
              <a:rPr lang="cs-CZ" b="1" dirty="0"/>
              <a:t> </a:t>
            </a:r>
            <a:r>
              <a:rPr lang="cs-CZ" dirty="0"/>
              <a:t>je klauzule)</a:t>
            </a:r>
          </a:p>
          <a:p>
            <a:pPr lvl="1"/>
            <a:r>
              <a:rPr lang="cs-CZ" b="1" dirty="0"/>
              <a:t>dotaz</a:t>
            </a:r>
            <a:r>
              <a:rPr lang="cs-CZ" dirty="0"/>
              <a:t> je kombinace dvou nebo více klauzulí.</a:t>
            </a:r>
          </a:p>
          <a:p>
            <a:r>
              <a:rPr lang="cs-CZ" dirty="0"/>
              <a:t>Například </a:t>
            </a:r>
            <a:r>
              <a:rPr lang="cs-CZ" b="1" dirty="0" err="1"/>
              <a:t>select</a:t>
            </a:r>
            <a:r>
              <a:rPr lang="cs-CZ" b="1" dirty="0"/>
              <a:t> </a:t>
            </a:r>
            <a:r>
              <a:rPr lang="cs-CZ" b="1" dirty="0" err="1"/>
              <a:t>last_name</a:t>
            </a:r>
            <a:r>
              <a:rPr lang="cs-CZ" b="1" dirty="0"/>
              <a:t> </a:t>
            </a:r>
            <a:r>
              <a:rPr lang="cs-CZ" b="1" dirty="0" err="1"/>
              <a:t>from</a:t>
            </a:r>
            <a:r>
              <a:rPr lang="cs-CZ" b="1" dirty="0"/>
              <a:t> </a:t>
            </a:r>
            <a:r>
              <a:rPr lang="cs-CZ" b="1" dirty="0" err="1"/>
              <a:t>employees</a:t>
            </a:r>
            <a:r>
              <a:rPr lang="cs-CZ" b="1" dirty="0"/>
              <a:t> </a:t>
            </a:r>
            <a:r>
              <a:rPr lang="cs-CZ" dirty="0"/>
              <a:t>je dotaz.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834739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B2EFBF-94EE-44D3-83B7-20C2ECE33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Schopnosti příkazu SELECT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6A5F5744-45BD-44C9-9ABE-9B75819C4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 dirty="0"/>
              <a:t>Projekce</a:t>
            </a:r>
            <a:r>
              <a:rPr lang="cs-CZ" dirty="0"/>
              <a:t>: vybírá sloupce v tabulce</a:t>
            </a:r>
          </a:p>
          <a:p>
            <a:r>
              <a:rPr lang="cs-CZ" b="1" dirty="0"/>
              <a:t>Selekce</a:t>
            </a:r>
            <a:r>
              <a:rPr lang="cs-CZ" dirty="0"/>
              <a:t>: vybírá řádky v tabulce</a:t>
            </a:r>
          </a:p>
          <a:p>
            <a:endParaRPr lang="cs-CZ" dirty="0"/>
          </a:p>
        </p:txBody>
      </p:sp>
      <p:pic>
        <p:nvPicPr>
          <p:cNvPr id="4" name="Picture 9">
            <a:extLst>
              <a:ext uri="{FF2B5EF4-FFF2-40B4-BE49-F238E27FC236}">
                <a16:creationId xmlns:a16="http://schemas.microsoft.com/office/drawing/2014/main" id="{0B178018-57F6-45D1-8AD1-C1581D120C6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2898121"/>
            <a:ext cx="5159188" cy="3018585"/>
          </a:xfrm>
          <a:prstGeom prst="rect">
            <a:avLst/>
          </a:prstGeom>
        </p:spPr>
      </p:pic>
      <p:pic>
        <p:nvPicPr>
          <p:cNvPr id="5" name="Picture 10">
            <a:extLst>
              <a:ext uri="{FF2B5EF4-FFF2-40B4-BE49-F238E27FC236}">
                <a16:creationId xmlns:a16="http://schemas.microsoft.com/office/drawing/2014/main" id="{DA4F3169-AEDF-406B-A327-3706E4D8D6C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5997388" y="2898121"/>
            <a:ext cx="5593977" cy="301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003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668D6C8-E74D-4E7F-A5DB-D6460693F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Select</a:t>
            </a:r>
            <a:r>
              <a:rPr lang="cs-CZ" dirty="0"/>
              <a:t>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342AD1D-FEFF-4201-BC66-82CACC2A0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Výběr všech sloupců je proveden * za klíčovým slovem </a:t>
            </a:r>
            <a:r>
              <a:rPr lang="cs-CZ" dirty="0" err="1"/>
              <a:t>select</a:t>
            </a:r>
            <a:r>
              <a:rPr lang="cs-CZ" dirty="0"/>
              <a:t>.</a:t>
            </a:r>
          </a:p>
          <a:p>
            <a:endParaRPr lang="cs-CZ" dirty="0"/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4F8C0717-D756-4D99-9BBB-8D89B7B6797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2566987"/>
            <a:ext cx="5912224" cy="326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9586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43F5355-65BC-4E87-81E1-2555862F8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Select</a:t>
            </a:r>
            <a:r>
              <a:rPr lang="cs-CZ" dirty="0"/>
              <a:t>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46E0A48A-17A8-4455-91B7-0F5F64FA1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Zároveň je můžete zobrazit jejich individuálním vypsáním.</a:t>
            </a: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CC42C01D-926C-44E9-A122-F8E7DF530C7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199" y="2305844"/>
            <a:ext cx="5777753" cy="312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937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C428901-B79A-4D9C-8FC7-B075EFA2E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Projekce specifických sloupců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F85F8A8B-1036-4AC6-96D0-8954ED9BD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Pro zobrazení jenom některých sloupců stačí napsat jejich názvy na klíčové slovo </a:t>
            </a:r>
            <a:r>
              <a:rPr lang="cs-CZ" dirty="0" err="1"/>
              <a:t>select</a:t>
            </a:r>
            <a:r>
              <a:rPr lang="cs-CZ" dirty="0"/>
              <a:t>.</a:t>
            </a:r>
          </a:p>
          <a:p>
            <a:endParaRPr lang="cs-CZ" dirty="0"/>
          </a:p>
        </p:txBody>
      </p:sp>
      <p:pic>
        <p:nvPicPr>
          <p:cNvPr id="4" name="Picture 13">
            <a:extLst>
              <a:ext uri="{FF2B5EF4-FFF2-40B4-BE49-F238E27FC236}">
                <a16:creationId xmlns:a16="http://schemas.microsoft.com/office/drawing/2014/main" id="{D2EB8112-04C8-4ADA-B1A0-E57CC51ED2D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2891677"/>
            <a:ext cx="6450106" cy="289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6171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F1A946-CC37-48CD-BB46-48BEF2B15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Použití aritmetických operací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6C75B07B-70C3-4BCA-A278-90DC9FE6F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14">
            <a:extLst>
              <a:ext uri="{FF2B5EF4-FFF2-40B4-BE49-F238E27FC236}">
                <a16:creationId xmlns:a16="http://schemas.microsoft.com/office/drawing/2014/main" id="{D2028628-14B6-4DDC-8148-51677414516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858169"/>
            <a:ext cx="9327776" cy="445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0965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88C72F-FE3C-4347-99E7-C3CA34F4F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Použití aritmetických operací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E5A14AC1-AB41-4985-8FC8-03071F346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 err="1"/>
              <a:t>Oracle</a:t>
            </a:r>
            <a:r>
              <a:rPr lang="cs-CZ" dirty="0"/>
              <a:t> vyhodnocuje operátory zleva doprava. Pořadí operátorů je * / + - (My </a:t>
            </a:r>
            <a:r>
              <a:rPr lang="cs-CZ" dirty="0" err="1"/>
              <a:t>Dear</a:t>
            </a:r>
            <a:r>
              <a:rPr lang="cs-CZ" dirty="0"/>
              <a:t> </a:t>
            </a:r>
            <a:r>
              <a:rPr lang="cs-CZ" dirty="0" err="1"/>
              <a:t>Aunt</a:t>
            </a:r>
            <a:r>
              <a:rPr lang="cs-CZ" dirty="0"/>
              <a:t> Sally), když potřebuje jejich pořadí nějak upravovat nezapomínejte používat závorky. </a:t>
            </a:r>
          </a:p>
          <a:p>
            <a:endParaRPr lang="cs-CZ" dirty="0"/>
          </a:p>
        </p:txBody>
      </p:sp>
      <p:pic>
        <p:nvPicPr>
          <p:cNvPr id="4" name="Picture 15">
            <a:extLst>
              <a:ext uri="{FF2B5EF4-FFF2-40B4-BE49-F238E27FC236}">
                <a16:creationId xmlns:a16="http://schemas.microsoft.com/office/drawing/2014/main" id="{6088DA66-47DF-494F-9644-FBD3D565507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3176867"/>
            <a:ext cx="7014882" cy="349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7833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32EE21D-6C46-45A9-AD12-6A53CCA85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NULL hodnoty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7A5CA2C4-DB8A-472C-ACC3-11F333109E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NULL je v SQL zajímavá hodnota, abyste ji pochopili, je důležité vědět co je a co není </a:t>
            </a:r>
            <a:r>
              <a:rPr lang="cs-CZ" dirty="0" err="1"/>
              <a:t>null</a:t>
            </a:r>
            <a:r>
              <a:rPr lang="cs-CZ" dirty="0"/>
              <a:t>. </a:t>
            </a:r>
          </a:p>
          <a:p>
            <a:r>
              <a:rPr lang="cs-CZ" dirty="0" err="1"/>
              <a:t>Null</a:t>
            </a:r>
            <a:r>
              <a:rPr lang="cs-CZ" dirty="0"/>
              <a:t> je hodnota </a:t>
            </a:r>
            <a:r>
              <a:rPr lang="cs-CZ" b="1" dirty="0"/>
              <a:t>nedostupná, nepřiřazená, neznámá </a:t>
            </a:r>
            <a:r>
              <a:rPr lang="cs-CZ" dirty="0"/>
              <a:t>nebo </a:t>
            </a:r>
            <a:r>
              <a:rPr lang="cs-CZ" b="1" dirty="0"/>
              <a:t>nedosažitelná</a:t>
            </a:r>
            <a:r>
              <a:rPr lang="cs-CZ" dirty="0"/>
              <a:t>. Není to to samé jako nula nebo mezera. V SQL je nula číslo a mezera znak.</a:t>
            </a:r>
          </a:p>
          <a:p>
            <a:r>
              <a:rPr lang="cs-CZ" dirty="0"/>
              <a:t>Někdy nevíte hodnotu pro daný sloupec. V databázi můžete ukládat neznámé hodnoty.</a:t>
            </a:r>
          </a:p>
          <a:p>
            <a:endParaRPr lang="cs-CZ" dirty="0"/>
          </a:p>
        </p:txBody>
      </p:sp>
      <p:pic>
        <p:nvPicPr>
          <p:cNvPr id="4" name="Picture 16">
            <a:extLst>
              <a:ext uri="{FF2B5EF4-FFF2-40B4-BE49-F238E27FC236}">
                <a16:creationId xmlns:a16="http://schemas.microsoft.com/office/drawing/2014/main" id="{5F8BFB3E-A773-4014-B3C7-42611DB1943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019366" y="4437529"/>
            <a:ext cx="4652682" cy="2420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8924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CA56298-CA78-4C5C-8DE5-EA061E8DB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Aliasy</a:t>
            </a:r>
            <a:r>
              <a:rPr lang="cs-CZ" dirty="0"/>
              <a:t>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E5C65125-38B7-4F4E-BF46-CBB7D62A7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Je to způsob přejmenování záhlaví ve výpisu. Bez </a:t>
            </a:r>
            <a:r>
              <a:rPr lang="cs-CZ" dirty="0" err="1"/>
              <a:t>aliasu</a:t>
            </a:r>
            <a:r>
              <a:rPr lang="cs-CZ" dirty="0"/>
              <a:t> by některé výstupy vypadaly dost nepřehledně, jelikož by se například záhlaví jmenovala jako opis aritmetických operací. </a:t>
            </a:r>
          </a:p>
          <a:p>
            <a:r>
              <a:rPr lang="cs-CZ" dirty="0"/>
              <a:t>Je zde několik pravidel pro použití </a:t>
            </a:r>
            <a:r>
              <a:rPr lang="cs-CZ" dirty="0" err="1"/>
              <a:t>aliasu</a:t>
            </a:r>
            <a:r>
              <a:rPr lang="cs-CZ" dirty="0"/>
              <a:t> k formátování výstupu.</a:t>
            </a:r>
          </a:p>
          <a:p>
            <a:pPr lvl="1"/>
            <a:r>
              <a:rPr lang="cs-CZ" dirty="0"/>
              <a:t>Přejmenovává záhlaví sloupce.</a:t>
            </a:r>
          </a:p>
          <a:p>
            <a:pPr lvl="1"/>
            <a:r>
              <a:rPr lang="cs-CZ" dirty="0"/>
              <a:t>Je užitelný při kalkulacích.</a:t>
            </a:r>
          </a:p>
          <a:p>
            <a:pPr lvl="1"/>
            <a:r>
              <a:rPr lang="cs-CZ" dirty="0"/>
              <a:t>Následuje hned za názvem sloupce.</a:t>
            </a:r>
          </a:p>
          <a:p>
            <a:pPr lvl="1"/>
            <a:r>
              <a:rPr lang="cs-CZ" dirty="0"/>
              <a:t>Může být uveden klíčovým slovem as mezi názvem sloupce a </a:t>
            </a:r>
            <a:r>
              <a:rPr lang="cs-CZ" dirty="0" err="1"/>
              <a:t>aliasem</a:t>
            </a:r>
            <a:r>
              <a:rPr lang="cs-CZ" dirty="0"/>
              <a:t>.</a:t>
            </a:r>
          </a:p>
          <a:p>
            <a:pPr lvl="1"/>
            <a:r>
              <a:rPr lang="cs-CZ" dirty="0"/>
              <a:t>Je uveden v uvozovkách.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094305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3E0F01-622F-4138-863B-BD8BA4531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Aliasy</a:t>
            </a:r>
            <a:r>
              <a:rPr lang="cs-CZ" dirty="0"/>
              <a:t>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083CE6F1-C3D2-4526-A819-04D75E62E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17">
            <a:extLst>
              <a:ext uri="{FF2B5EF4-FFF2-40B4-BE49-F238E27FC236}">
                <a16:creationId xmlns:a16="http://schemas.microsoft.com/office/drawing/2014/main" id="{17C142E0-387F-4B1E-8971-3E0140DFCDC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827890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908452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907</Words>
  <Application>Microsoft Office PowerPoint</Application>
  <PresentationFormat>Širokoúhlá obrazovka</PresentationFormat>
  <Paragraphs>109</Paragraphs>
  <Slides>27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27</vt:i4>
      </vt:variant>
    </vt:vector>
  </HeadingPairs>
  <TitlesOfParts>
    <vt:vector size="31" baseType="lpstr">
      <vt:lpstr>Arial</vt:lpstr>
      <vt:lpstr>Calibri</vt:lpstr>
      <vt:lpstr>Calibri Light</vt:lpstr>
      <vt:lpstr>Motiv Office</vt:lpstr>
      <vt:lpstr>SQL</vt:lpstr>
      <vt:lpstr>Oracle Application Express I.</vt:lpstr>
      <vt:lpstr>Oracle Application Express II.</vt:lpstr>
      <vt:lpstr>Oracle Application Express III.</vt:lpstr>
      <vt:lpstr>Oracle Application Express IV.</vt:lpstr>
      <vt:lpstr>Oracle Application Express V.</vt:lpstr>
      <vt:lpstr>A začínáme selectem…</vt:lpstr>
      <vt:lpstr>Select II.</vt:lpstr>
      <vt:lpstr>Technologie relačních databází</vt:lpstr>
      <vt:lpstr>Relační databáze</vt:lpstr>
      <vt:lpstr>Pojmy – změny oproti konceptuálnímu modelu</vt:lpstr>
      <vt:lpstr>Pravidla tabulek</vt:lpstr>
      <vt:lpstr>Přístup k datům v RDBMS (relational database- management systém)</vt:lpstr>
      <vt:lpstr>Komunikace s databází I.</vt:lpstr>
      <vt:lpstr>Komunikace s databází II.</vt:lpstr>
      <vt:lpstr>Kategorizace SQL příkazu</vt:lpstr>
      <vt:lpstr>Anatomie SQL příkazu I.</vt:lpstr>
      <vt:lpstr>Anatomie SQL příkazu II.</vt:lpstr>
      <vt:lpstr>Schopnosti příkazu SELECT</vt:lpstr>
      <vt:lpstr>Select I.</vt:lpstr>
      <vt:lpstr>Select II.</vt:lpstr>
      <vt:lpstr>Projekce specifických sloupců</vt:lpstr>
      <vt:lpstr>Použití aritmetických operací I.</vt:lpstr>
      <vt:lpstr>Použití aritmetických operací II.</vt:lpstr>
      <vt:lpstr>NULL hodnoty</vt:lpstr>
      <vt:lpstr>Aliasy I.</vt:lpstr>
      <vt:lpstr>Aliasy II.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</dc:title>
  <dc:creator>Veronika Hurtová</dc:creator>
  <cp:lastModifiedBy>Veronika</cp:lastModifiedBy>
  <cp:revision>16</cp:revision>
  <dcterms:created xsi:type="dcterms:W3CDTF">2017-10-09T05:50:17Z</dcterms:created>
  <dcterms:modified xsi:type="dcterms:W3CDTF">2018-11-21T12:21:08Z</dcterms:modified>
</cp:coreProperties>
</file>