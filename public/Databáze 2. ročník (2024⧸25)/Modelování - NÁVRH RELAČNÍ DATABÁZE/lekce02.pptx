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  <p:sldId id="269" r:id="rId11"/>
    <p:sldId id="270" r:id="rId12"/>
    <p:sldId id="266" r:id="rId13"/>
    <p:sldId id="264" r:id="rId14"/>
    <p:sldId id="271" r:id="rId15"/>
    <p:sldId id="272" r:id="rId16"/>
    <p:sldId id="273" r:id="rId17"/>
    <p:sldId id="274" r:id="rId18"/>
    <p:sldId id="267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Databázové systémy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6410" y="3920316"/>
            <a:ext cx="6831673" cy="1086237"/>
          </a:xfrm>
        </p:spPr>
        <p:txBody>
          <a:bodyPr/>
          <a:lstStyle/>
          <a:p>
            <a:r>
              <a:rPr lang="cs-CZ" dirty="0"/>
              <a:t>KONCEPTUÁLNÍ A FYZICKÝ MODEL</a:t>
            </a:r>
          </a:p>
        </p:txBody>
      </p:sp>
    </p:spTree>
    <p:extLst>
      <p:ext uri="{BB962C8B-B14F-4D97-AF65-F5344CB8AC3E}">
        <p14:creationId xmlns:p14="http://schemas.microsoft.com/office/powerpoint/2010/main" val="416695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04F9CB-51C0-40B3-AB13-FF5A7358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7EF0FD5-2704-4EB4-9563-9D3D59971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Když jste schopni rozpoznat a analyzovat informace, můžete lépe porozumět, jak věci pracují a potencionálně je můžete také vylepšovat. </a:t>
            </a:r>
          </a:p>
          <a:p>
            <a:r>
              <a:rPr lang="cs-CZ" dirty="0"/>
              <a:t>Například: jak úspěšně vyměnit položku v obchodě, jak organizovat a uchovávat seznamy rozrůstajících se kolekcí CD. </a:t>
            </a:r>
          </a:p>
          <a:p>
            <a:r>
              <a:rPr lang="cs-CZ" dirty="0"/>
              <a:t>Také rozpoznání a analýza informací pomáhá předcházet omylům a nesrozumitelnostem. </a:t>
            </a:r>
          </a:p>
          <a:p>
            <a:r>
              <a:rPr lang="cs-CZ" dirty="0"/>
              <a:t>Pro podnik je toto důležité z důvodu úspory času a peněz.</a:t>
            </a:r>
          </a:p>
          <a:p>
            <a:r>
              <a:rPr lang="cs-CZ" dirty="0"/>
              <a:t>Datové modelování zahrnuje potřeby podniku, takže výsledná databáze je použitelná pro všechny. Konečný produkt je </a:t>
            </a:r>
            <a:r>
              <a:rPr lang="cs-CZ" b="1" dirty="0"/>
              <a:t>datový model </a:t>
            </a:r>
            <a:r>
              <a:rPr lang="cs-CZ" dirty="0"/>
              <a:t>nebo více specifický </a:t>
            </a:r>
            <a:r>
              <a:rPr lang="cs-CZ" b="1" dirty="0"/>
              <a:t>konceptuální model</a:t>
            </a:r>
            <a:r>
              <a:rPr lang="cs-CZ" dirty="0"/>
              <a:t>, známý také jako Entity </a:t>
            </a:r>
            <a:r>
              <a:rPr lang="cs-CZ" dirty="0" err="1"/>
              <a:t>Relationship</a:t>
            </a:r>
            <a:r>
              <a:rPr lang="cs-CZ" dirty="0"/>
              <a:t> diagram.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7726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177496-857A-4AB6-A098-92D91D95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Otázka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B5A77E6-4DC0-470A-9957-D61C35FF5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Kdyby jste byli manažery fast-food restaurace, proč byste chtěli získávat informace o tom, jak zrychlovat proces prodeje?</a:t>
            </a:r>
          </a:p>
          <a:p>
            <a:r>
              <a:rPr lang="cs-CZ" sz="1800" dirty="0"/>
              <a:t>Čím rychleji obsloužíte lidi, tím rychleji máte zisk.</a:t>
            </a:r>
          </a:p>
          <a:p>
            <a:r>
              <a:rPr lang="cs-CZ" sz="1800" dirty="0"/>
              <a:t>Jaký by byl asi zisk, kdybyste mohli obsloužit jednoho</a:t>
            </a:r>
            <a:br>
              <a:rPr lang="cs-CZ" sz="1800" dirty="0"/>
            </a:br>
            <a:r>
              <a:rPr lang="cs-CZ" sz="1800" dirty="0"/>
              <a:t>zákazníka za hodinu?</a:t>
            </a:r>
          </a:p>
          <a:p>
            <a:r>
              <a:rPr lang="cs-CZ" sz="1800" dirty="0"/>
              <a:t>Nebyli byste konkurenceschopní.</a:t>
            </a:r>
          </a:p>
        </p:txBody>
      </p:sp>
      <p:pic>
        <p:nvPicPr>
          <p:cNvPr id="1028" name="Picture 4" descr="Výsledek obrázku pro fast food">
            <a:extLst>
              <a:ext uri="{FF2B5EF4-FFF2-40B4-BE49-F238E27FC236}">
                <a16:creationId xmlns:a16="http://schemas.microsoft.com/office/drawing/2014/main" id="{100851AC-A974-46FB-93C4-4547CF081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41" y="3583459"/>
            <a:ext cx="6142337" cy="368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28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EE9646-E9E1-4C72-924A-0C96EFF7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konceptuální model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74BD15B-CEC3-443D-A74F-A7DE47195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Datový model, obvykle reprezentovaný </a:t>
            </a:r>
            <a:r>
              <a:rPr lang="cs-CZ" dirty="0" err="1"/>
              <a:t>entitně</a:t>
            </a:r>
            <a:r>
              <a:rPr lang="cs-CZ" dirty="0"/>
              <a:t>-relačním diagramem.</a:t>
            </a:r>
          </a:p>
          <a:p>
            <a:r>
              <a:rPr lang="cs-CZ" dirty="0"/>
              <a:t>Zohledňuje funkční a informační požadavky podniku.</a:t>
            </a:r>
          </a:p>
          <a:p>
            <a:r>
              <a:rPr lang="cs-CZ" dirty="0"/>
              <a:t>Je založen na aktuálních potřebách ale reflektuje také budoucí potřeby.</a:t>
            </a:r>
          </a:p>
          <a:p>
            <a:r>
              <a:rPr lang="cs-CZ" dirty="0"/>
              <a:t>Zahrnuje vše, co je konceptuálně ideální, nestará se o implementaci.</a:t>
            </a:r>
          </a:p>
          <a:p>
            <a:r>
              <a:rPr lang="cs-CZ" dirty="0"/>
              <a:t>Nazývá se také </a:t>
            </a:r>
            <a:r>
              <a:rPr lang="cs-CZ" b="1" dirty="0" err="1"/>
              <a:t>entitně</a:t>
            </a:r>
            <a:r>
              <a:rPr lang="cs-CZ" b="1" dirty="0"/>
              <a:t>-relační model</a:t>
            </a:r>
            <a:r>
              <a:rPr lang="cs-CZ" dirty="0"/>
              <a:t>.</a:t>
            </a:r>
          </a:p>
          <a:p>
            <a:r>
              <a:rPr lang="cs-CZ" dirty="0"/>
              <a:t>Je zobrazován pomocí </a:t>
            </a:r>
            <a:r>
              <a:rPr lang="cs-CZ" b="1" dirty="0"/>
              <a:t>ERD</a:t>
            </a:r>
            <a:r>
              <a:rPr lang="cs-CZ" dirty="0"/>
              <a:t> (entity </a:t>
            </a:r>
            <a:r>
              <a:rPr lang="cs-CZ" dirty="0" err="1"/>
              <a:t>relationship</a:t>
            </a:r>
            <a:r>
              <a:rPr lang="cs-CZ" dirty="0"/>
              <a:t> diagram).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6881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A772D5-CF24-4F34-9FE6-E9FB1591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je konceptuální model důležitý pro podnik?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D09147C-2704-4339-8C46-ABA06CDF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Popisuje přesně informační potřeby podniku,</a:t>
            </a:r>
          </a:p>
          <a:p>
            <a:r>
              <a:rPr lang="cs-CZ" dirty="0"/>
              <a:t>diskuse o dostupných řešeních,</a:t>
            </a:r>
          </a:p>
          <a:p>
            <a:r>
              <a:rPr lang="cs-CZ" dirty="0"/>
              <a:t>je prevencí omylů a nedorozumění,</a:t>
            </a:r>
          </a:p>
          <a:p>
            <a:r>
              <a:rPr lang="cs-CZ" dirty="0"/>
              <a:t>formuje důležitou dokumentaci „ideálního systému“,</a:t>
            </a:r>
          </a:p>
          <a:p>
            <a:r>
              <a:rPr lang="cs-CZ" dirty="0"/>
              <a:t>formuje podobu základního fyzického databázového designu,</a:t>
            </a:r>
          </a:p>
          <a:p>
            <a:r>
              <a:rPr lang="cs-CZ" dirty="0"/>
              <a:t>dokumentuje procesy (podniková pravidla),</a:t>
            </a:r>
          </a:p>
          <a:p>
            <a:r>
              <a:rPr lang="cs-CZ" dirty="0"/>
              <a:t>zahrnuje a zohledňuje regulace a zákony vlády na dané podnikání.</a:t>
            </a:r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7790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572D57-538F-4AE6-9F3A-7245DD81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Konceptuální a fyzický model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6ED1579-F830-4DB2-8E85-F5204CF86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umění návrhu, vývoje a komunikace, který umožňuje skupině lidí pracovat dohromady za účelem dosažení požadovaného výstupu.</a:t>
            </a:r>
          </a:p>
          <a:p>
            <a:r>
              <a:rPr lang="cs-CZ" dirty="0"/>
              <a:t>Datové modelování je proces zahrnování potřeb podniku, současně s omezováním zákony a pravidly a následně jejich vizuálním zobrazením do diagramu.</a:t>
            </a:r>
          </a:p>
          <a:p>
            <a:r>
              <a:rPr lang="cs-CZ" dirty="0"/>
              <a:t>Tento diagram se stává předlohou pro vývoj fyzické databáze.</a:t>
            </a:r>
          </a:p>
          <a:p>
            <a:r>
              <a:rPr lang="cs-CZ" dirty="0"/>
              <a:t>Klientský sen (</a:t>
            </a:r>
            <a:r>
              <a:rPr lang="cs-CZ" b="1" dirty="0"/>
              <a:t>konceptuální model</a:t>
            </a:r>
            <a:r>
              <a:rPr lang="cs-CZ" dirty="0"/>
              <a:t>) se stane fyzickou realitou (</a:t>
            </a:r>
            <a:r>
              <a:rPr lang="cs-CZ" b="1" dirty="0"/>
              <a:t>fyzický model</a:t>
            </a:r>
            <a:r>
              <a:rPr lang="cs-CZ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7320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C8CDA2-37D7-448A-AFA1-A5417631A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448" y="3651422"/>
            <a:ext cx="9601200" cy="1485900"/>
          </a:xfrm>
        </p:spPr>
        <p:txBody>
          <a:bodyPr/>
          <a:lstStyle/>
          <a:p>
            <a:r>
              <a:rPr lang="cs-CZ" dirty="0"/>
              <a:t>Entity, instance, atributy, identifikátory</a:t>
            </a:r>
          </a:p>
        </p:txBody>
      </p:sp>
    </p:spTree>
    <p:extLst>
      <p:ext uri="{BB962C8B-B14F-4D97-AF65-F5344CB8AC3E}">
        <p14:creationId xmlns:p14="http://schemas.microsoft.com/office/powerpoint/2010/main" val="222754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E3EE8D-2475-4EA0-830E-977FDFC0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Entity a jejich účel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D0468AB-1107-4F2B-BE23-746585D89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Znalost toho, jak klasifikovat data vytváří možnost zobrazit použitelné závěry o na první pohled náhodných faktech,</a:t>
            </a:r>
          </a:p>
          <a:p>
            <a:r>
              <a:rPr lang="cs-CZ" dirty="0"/>
              <a:t>náš na technologie bohatý svět produkuje mnoho faktů o struktuře,</a:t>
            </a:r>
          </a:p>
          <a:p>
            <a:r>
              <a:rPr lang="cs-CZ" dirty="0"/>
              <a:t>je důležité pochopit entity, protože to jsou věci, které nám ukládají data,</a:t>
            </a:r>
          </a:p>
          <a:p>
            <a:r>
              <a:rPr lang="cs-CZ" dirty="0"/>
              <a:t>například ve škole potřebujeme ukládat data o studentech, učitelích, kurzech, místnostech, prospěchu,…</a:t>
            </a:r>
          </a:p>
        </p:txBody>
      </p:sp>
    </p:spTree>
    <p:extLst>
      <p:ext uri="{BB962C8B-B14F-4D97-AF65-F5344CB8AC3E}">
        <p14:creationId xmlns:p14="http://schemas.microsoft.com/office/powerpoint/2010/main" val="1415899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9FA6B7-E7A1-4FE8-93B8-6FBD0284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Definice entity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F0684BA-F553-485D-B7F2-500F1D23F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Něco, co je specifické pro podnik, něco o čem musí být evidována data,</a:t>
            </a:r>
          </a:p>
          <a:p>
            <a:r>
              <a:rPr lang="cs-CZ" dirty="0"/>
              <a:t>název pro skupinu podobných věcí, které můžeme seskupovat,</a:t>
            </a:r>
          </a:p>
          <a:p>
            <a:r>
              <a:rPr lang="cs-CZ" dirty="0"/>
              <a:t>obvykle </a:t>
            </a:r>
            <a:r>
              <a:rPr lang="cs-CZ" b="1" dirty="0"/>
              <a:t>podstatné jméno</a:t>
            </a:r>
            <a:r>
              <a:rPr lang="cs-CZ" dirty="0"/>
              <a:t>,</a:t>
            </a:r>
          </a:p>
          <a:p>
            <a:r>
              <a:rPr lang="cs-CZ" dirty="0"/>
              <a:t>objekty, události, lidé,</a:t>
            </a:r>
          </a:p>
          <a:p>
            <a:r>
              <a:rPr lang="cs-CZ" dirty="0"/>
              <a:t>entity mají </a:t>
            </a:r>
            <a:r>
              <a:rPr lang="cs-CZ" b="1" dirty="0"/>
              <a:t>instance</a:t>
            </a:r>
            <a:r>
              <a:rPr lang="cs-CZ" dirty="0"/>
              <a:t>,</a:t>
            </a:r>
          </a:p>
          <a:p>
            <a:r>
              <a:rPr lang="cs-CZ" dirty="0"/>
              <a:t>instance je jeden výskyt entity.</a:t>
            </a:r>
          </a:p>
        </p:txBody>
      </p:sp>
    </p:spTree>
    <p:extLst>
      <p:ext uri="{BB962C8B-B14F-4D97-AF65-F5344CB8AC3E}">
        <p14:creationId xmlns:p14="http://schemas.microsoft.com/office/powerpoint/2010/main" val="53410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EBF229-6DB5-40FE-B5EA-645AAED4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F14A131-A462-4EDB-84AC-8D6A79D3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47925"/>
            <a:ext cx="9601200" cy="3581400"/>
          </a:xfrm>
        </p:spPr>
        <p:txBody>
          <a:bodyPr/>
          <a:lstStyle/>
          <a:p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D2ECCB2-2179-4594-BC53-BE3C4665A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85800"/>
            <a:ext cx="9601200" cy="5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9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9D7E10-041C-49F3-9F98-E74266D6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 pes instance nebo entita?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C36B72F-D945-43FF-9E73-751B7D94A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Když bereme v úvahu všechny možná zvířata, je pes instancí od entity zvíře,</a:t>
            </a:r>
            <a:br>
              <a:rPr lang="cs-CZ" dirty="0"/>
            </a:br>
            <a:r>
              <a:rPr lang="cs-CZ" dirty="0"/>
              <a:t>dalšími entitami mi byla kočka, myš, kůň.</a:t>
            </a:r>
          </a:p>
          <a:p>
            <a:r>
              <a:rPr lang="cs-CZ" dirty="0"/>
              <a:t>Pokud uvažujeme však například podnik, který se zbývá výrobou</a:t>
            </a:r>
            <a:br>
              <a:rPr lang="cs-CZ" dirty="0"/>
            </a:br>
            <a:r>
              <a:rPr lang="cs-CZ" dirty="0"/>
              <a:t>krmiv pro psy, potom je potřeba je dále členit, tedy bude to entita.</a:t>
            </a:r>
          </a:p>
        </p:txBody>
      </p:sp>
      <p:pic>
        <p:nvPicPr>
          <p:cNvPr id="1026" name="Picture 2" descr="Výsledek obrázku pro pes">
            <a:extLst>
              <a:ext uri="{FF2B5EF4-FFF2-40B4-BE49-F238E27FC236}">
                <a16:creationId xmlns:a16="http://schemas.microsoft.com/office/drawing/2014/main" id="{A53483F7-DC92-42D3-8DFF-FDED5EA28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263" y="2790069"/>
            <a:ext cx="2547937" cy="389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89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F834CC-CE79-43D7-AF77-85037A17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Jaké druhy informací potřebujete znát…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35C1753-89BD-4101-BF89-BB489EE5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/>
              <a:t>Když pracujete v těchto profesích:	</a:t>
            </a:r>
          </a:p>
          <a:p>
            <a:pPr lvl="1"/>
            <a:r>
              <a:rPr lang="cs-CZ" sz="2800" dirty="0"/>
              <a:t>IT programátor</a:t>
            </a:r>
          </a:p>
          <a:p>
            <a:pPr lvl="1"/>
            <a:r>
              <a:rPr lang="cs-CZ" sz="2800" dirty="0"/>
              <a:t>bankovní manažer,</a:t>
            </a:r>
          </a:p>
          <a:p>
            <a:pPr lvl="1"/>
            <a:r>
              <a:rPr lang="cs-CZ" sz="2800" dirty="0"/>
              <a:t>číšník v restauraci,</a:t>
            </a:r>
          </a:p>
          <a:p>
            <a:pPr lvl="1"/>
            <a:r>
              <a:rPr lang="cs-CZ" sz="2800" dirty="0"/>
              <a:t>herec,</a:t>
            </a:r>
          </a:p>
          <a:p>
            <a:pPr lvl="1"/>
            <a:r>
              <a:rPr lang="cs-CZ" sz="2800" dirty="0"/>
              <a:t>rodič.</a:t>
            </a:r>
          </a:p>
        </p:txBody>
      </p:sp>
    </p:spTree>
    <p:extLst>
      <p:ext uri="{BB962C8B-B14F-4D97-AF65-F5344CB8AC3E}">
        <p14:creationId xmlns:p14="http://schemas.microsoft.com/office/powerpoint/2010/main" val="3108036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907B08-780E-48F4-B7D5-F57C7C66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Účel atributů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2EF7173-B1E7-4584-8244-38A9C44D7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Poskytují rozšířené informace o entitách</a:t>
            </a:r>
          </a:p>
          <a:p>
            <a:r>
              <a:rPr lang="cs-CZ" dirty="0"/>
              <a:t>pomáhají nám rozlišovat mezi jednotlivými instancemi díky rozdílům v entitách</a:t>
            </a:r>
          </a:p>
          <a:p>
            <a:r>
              <a:rPr lang="cs-CZ" dirty="0"/>
              <a:t>např.: v restauraci jsou odlišeny jednotlivě položky objednávky zákazníka na účtence.</a:t>
            </a:r>
          </a:p>
        </p:txBody>
      </p:sp>
    </p:spTree>
    <p:extLst>
      <p:ext uri="{BB962C8B-B14F-4D97-AF65-F5344CB8AC3E}">
        <p14:creationId xmlns:p14="http://schemas.microsoft.com/office/powerpoint/2010/main" val="2542323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B67D4D-0F19-43A8-B83E-4DC5039D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atribut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ABE81FC-48FF-46E2-BDFD-4F4A48F07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Stejně jako entita specifikuje i atribut něco specifického pro podnik,</a:t>
            </a:r>
          </a:p>
          <a:p>
            <a:r>
              <a:rPr lang="cs-CZ" dirty="0"/>
              <a:t>atribut je specifická informace, která pomáhá: popsat entitu, kvantifikovat entitu, kvalifikovat entitu, klasifikovat entitu, specifikovat entitu,</a:t>
            </a:r>
          </a:p>
          <a:p>
            <a:r>
              <a:rPr lang="cs-CZ" dirty="0"/>
              <a:t>každý atribut má jednu jedinou hodnotu,</a:t>
            </a:r>
          </a:p>
          <a:p>
            <a:r>
              <a:rPr lang="cs-CZ" dirty="0"/>
              <a:t>atributy mají </a:t>
            </a:r>
            <a:r>
              <a:rPr lang="cs-CZ" b="1" dirty="0"/>
              <a:t>hodnoty</a:t>
            </a:r>
            <a:r>
              <a:rPr lang="cs-CZ" dirty="0"/>
              <a:t> - hodnotou atributu může být číslo, znak nebo řetězec, stejně tak jako zvuk, obrázek apod.</a:t>
            </a:r>
          </a:p>
          <a:p>
            <a:r>
              <a:rPr lang="cs-CZ" dirty="0"/>
              <a:t>tyto hodnoty jsou nazývány </a:t>
            </a:r>
            <a:r>
              <a:rPr lang="cs-CZ" b="1" dirty="0"/>
              <a:t>datovými typy </a:t>
            </a:r>
            <a:r>
              <a:rPr lang="cs-CZ" dirty="0"/>
              <a:t>nebo formáty a každý z atributů zaznamenává pouze hodnoty daného datového typu,</a:t>
            </a:r>
          </a:p>
          <a:p>
            <a:r>
              <a:rPr lang="cs-CZ" dirty="0"/>
              <a:t>některé atributy mohou mít hodnoty, které se konstantně mění -&gt; ty se nazývají volitelný atribut.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2521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ADDF48-AC06-4465-A77E-51ADF0BB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atribut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10A88F5-44F7-45EE-A9E9-411E431F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Každá entita má alespoň jeden atribut,</a:t>
            </a:r>
          </a:p>
          <a:p>
            <a:r>
              <a:rPr lang="cs-CZ" dirty="0"/>
              <a:t>Obvykle je zde pro každou entitu mnoho atributů, ale musíme dávat pozor, že se zaměřujeme jenom na ty atributy, které jsou důležité pro podnik.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EC98A75-23AE-4EC2-9DC5-86912F1AA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848" y="3627608"/>
            <a:ext cx="7757984" cy="308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5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F6AAA4-9C7E-41F3-AFE8-C9C8815A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atribut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3BF10EC-6590-49C7-A987-FFE326C3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Jaké budou datové typy každého atributu pro entitu zákazník?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E7DA88C-4057-4B25-8F20-524358BCC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10" y="2925205"/>
            <a:ext cx="8553579" cy="333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3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80355C-660A-47E1-BF11-DD7898B0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atribut IV.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3F981A9-9C74-456F-81EC-F0E78C408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Některé atributy musí obsahovat hodnotu – </a:t>
            </a:r>
            <a:r>
              <a:rPr lang="cs-CZ" b="1" dirty="0"/>
              <a:t>povinné atributy</a:t>
            </a:r>
            <a:r>
              <a:rPr lang="cs-CZ" dirty="0"/>
              <a:t>,</a:t>
            </a:r>
          </a:p>
          <a:p>
            <a:r>
              <a:rPr lang="cs-CZ" dirty="0"/>
              <a:t>Některé mohou obsahovat hodnotu nebo mohou být </a:t>
            </a:r>
            <a:r>
              <a:rPr lang="cs-CZ" dirty="0" err="1"/>
              <a:t>null</a:t>
            </a:r>
            <a:r>
              <a:rPr lang="cs-CZ" dirty="0"/>
              <a:t> – </a:t>
            </a:r>
            <a:r>
              <a:rPr lang="cs-CZ" b="1" dirty="0"/>
              <a:t>volitelné atributy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Pokud bychom modelovaly schéma pro lidské zdroje, měli bychom data zaměstnanců, souhrnně pod entitou zaměstnanci. Jaké atributy byste evidovali?</a:t>
            </a:r>
          </a:p>
        </p:txBody>
      </p:sp>
    </p:spTree>
    <p:extLst>
      <p:ext uri="{BB962C8B-B14F-4D97-AF65-F5344CB8AC3E}">
        <p14:creationId xmlns:p14="http://schemas.microsoft.com/office/powerpoint/2010/main" val="209496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59178A-9B57-48AD-A796-CF4DD64C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Účel unikátních identifikátorů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9DD624F-53C4-4016-BE59-6B5D23981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Jsou rozdílem mezi jednotlivými instancemi entit, odlišují jednotlivé instance,</a:t>
            </a:r>
          </a:p>
          <a:p>
            <a:pPr lvl="0"/>
            <a:r>
              <a:rPr lang="cs-CZ" dirty="0"/>
              <a:t>např.: ve třídě je nutno rozlišit studenty, v kolekci CD je nutné jednotlivá CD rozlišovat</a:t>
            </a:r>
          </a:p>
          <a:p>
            <a:r>
              <a:rPr lang="cs-CZ" dirty="0"/>
              <a:t>Například zaměstnanci mají unikátní identifikátor (UID), což je jeden atribut nebo kombinace více atributů, které odlišují jednoho zaměstnance od druhého.</a:t>
            </a:r>
          </a:p>
          <a:p>
            <a:r>
              <a:rPr lang="cs-CZ" dirty="0"/>
              <a:t>Co může jasně identifikovat zaměstnance?</a:t>
            </a:r>
          </a:p>
          <a:p>
            <a:r>
              <a:rPr lang="cs-CZ" dirty="0"/>
              <a:t>Co může jasně identifikovat studenta ve škole?</a:t>
            </a:r>
          </a:p>
        </p:txBody>
      </p:sp>
      <p:pic>
        <p:nvPicPr>
          <p:cNvPr id="2050" name="Picture 2" descr="Výsledek obrázku pro student">
            <a:extLst>
              <a:ext uri="{FF2B5EF4-FFF2-40B4-BE49-F238E27FC236}">
                <a16:creationId xmlns:a16="http://schemas.microsoft.com/office/drawing/2014/main" id="{57B9B625-6F32-4FED-8E47-04A8EE21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176" y="3311611"/>
            <a:ext cx="5833916" cy="400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395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E3A66E-8124-46D7-B596-C464AC03F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887" y="3849130"/>
            <a:ext cx="9601200" cy="1485900"/>
          </a:xfrm>
        </p:spPr>
        <p:txBody>
          <a:bodyPr/>
          <a:lstStyle/>
          <a:p>
            <a:r>
              <a:rPr lang="cs-CZ" dirty="0"/>
              <a:t>ERD a modelování</a:t>
            </a:r>
          </a:p>
        </p:txBody>
      </p:sp>
    </p:spTree>
    <p:extLst>
      <p:ext uri="{BB962C8B-B14F-4D97-AF65-F5344CB8AC3E}">
        <p14:creationId xmlns:p14="http://schemas.microsoft.com/office/powerpoint/2010/main" val="4211969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627CA4-BE2E-4798-AD0B-BF172ADB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a ERD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F10742D-F43B-4DFB-9BD3-182A50F08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ERD je nástroj pro diskusi, zejména když navrhujeme systém. Dává možnost nám i zákazníkovi reagovat, validovat a opravovat požadavky na systém.</a:t>
            </a:r>
          </a:p>
          <a:p>
            <a:r>
              <a:rPr lang="cs-CZ" dirty="0"/>
              <a:t>Obrázek vždycky pomůže, jak byste si třeba snadno nechali udělat účes od kadeřnice, který jste viděli v časopisu? Nejjednodušší je ukázat obrázek.</a:t>
            </a:r>
          </a:p>
          <a:p>
            <a:r>
              <a:rPr lang="cs-CZ" b="1" dirty="0"/>
              <a:t>ERD</a:t>
            </a:r>
            <a:r>
              <a:rPr lang="cs-CZ" dirty="0"/>
              <a:t> je nástroj, pomocí kterého lze reprezentovat požadavky na data, bez ohledu na jejich budoucí implementaci. Dokonce nemusí ani existovat databáze.</a:t>
            </a:r>
          </a:p>
        </p:txBody>
      </p:sp>
    </p:spTree>
    <p:extLst>
      <p:ext uri="{BB962C8B-B14F-4D97-AF65-F5344CB8AC3E}">
        <p14:creationId xmlns:p14="http://schemas.microsoft.com/office/powerpoint/2010/main" val="414041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3A69A3-D97C-41BF-8109-4F95298F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Bezimplementační</a:t>
            </a:r>
            <a:r>
              <a:rPr lang="cs-CZ" dirty="0"/>
              <a:t> modely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0EC7907-C58C-403A-A134-621A8B941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dobrý konceptuální model zůstává stejný bez ohledu na typ databáze nebo její výstavbu -&gt; to znamená, že se jedná o </a:t>
            </a:r>
            <a:r>
              <a:rPr lang="cs-CZ" b="1" dirty="0" err="1"/>
              <a:t>bezimplementační</a:t>
            </a:r>
            <a:r>
              <a:rPr lang="cs-CZ" b="1" dirty="0"/>
              <a:t> model.</a:t>
            </a:r>
          </a:p>
          <a:p>
            <a:r>
              <a:rPr lang="cs-CZ" dirty="0"/>
              <a:t>datový model by měl zůstat stejný i v případě, že </a:t>
            </a:r>
            <a:r>
              <a:rPr lang="cs-CZ" b="1" dirty="0"/>
              <a:t>není použita databáze </a:t>
            </a:r>
            <a:r>
              <a:rPr lang="cs-CZ" dirty="0"/>
              <a:t>(např. když by data byla zaznamenávána na papír).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11113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0950AE-29E8-427A-BCCF-B679145E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ER model?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86F01FF-AD9A-4465-86D4-F688D876F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je to seznam všech entit, stejně tak jako relací mezi těmito entitami,</a:t>
            </a:r>
          </a:p>
          <a:p>
            <a:pPr lvl="0"/>
            <a:r>
              <a:rPr lang="cs-CZ" dirty="0"/>
              <a:t>poskytuje pozadí informaci jako je popis entit, datové typy a omezení,</a:t>
            </a:r>
          </a:p>
          <a:p>
            <a:pPr lvl="0"/>
            <a:r>
              <a:rPr lang="cs-CZ" dirty="0"/>
              <a:t>tenhle model obvykle nepotřebuje ani diagram, ale diagram je typicky velmi užitečným nástrojem.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30873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1F5A2-2533-4B48-962C-EF2544DD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ER modelování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DC18410-D092-4D30-82D2-397EE2297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zahrnuje všechny informace,</a:t>
            </a:r>
          </a:p>
          <a:p>
            <a:pPr lvl="0"/>
            <a:r>
              <a:rPr lang="cs-CZ" dirty="0"/>
              <a:t>zajišťuje, že všechny informace se vyskytují pouze 1x,</a:t>
            </a:r>
          </a:p>
          <a:p>
            <a:pPr lvl="0"/>
            <a:r>
              <a:rPr lang="cs-CZ" dirty="0"/>
              <a:t>nemodeluje informace, které je možné odvodit z již zaznamenaných informací,</a:t>
            </a:r>
          </a:p>
          <a:p>
            <a:pPr lvl="0"/>
            <a:r>
              <a:rPr lang="cs-CZ" dirty="0"/>
              <a:t>lokalizuje informace prediktivní, logicky uspořádané.</a:t>
            </a:r>
          </a:p>
          <a:p>
            <a:endParaRPr lang="cs-CZ" dirty="0"/>
          </a:p>
          <a:p>
            <a:r>
              <a:rPr lang="cs-CZ" dirty="0"/>
              <a:t>např.: záznamy o studentech po celou dobu jejich studia, jako jsou známky, absence, zkoušky.... vše je potřeba mít logicky uspořádané tak, aby to umožňovalo přistupovat a aktualizovat efektivně a snadno data = cíle datového modelování toto umožňují</a:t>
            </a:r>
          </a:p>
        </p:txBody>
      </p:sp>
    </p:spTree>
    <p:extLst>
      <p:ext uri="{BB962C8B-B14F-4D97-AF65-F5344CB8AC3E}">
        <p14:creationId xmlns:p14="http://schemas.microsoft.com/office/powerpoint/2010/main" val="755755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7DF8AC-4CAE-4FE2-99C2-C2B48394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HR oddělení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3C97160-ABD0-4ACE-9046-DFD10F65E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Spravuji HR odděleni ve velké společnosti. Potřebujeme ukládat data o každém zaměstnanci naši společnosti. Potřebujeme mapovat jejich jméno, příjmení, práci nebo pozici, datum nástupu a mzdu. Pro každého zaměstnance s provizí, také jejich potenciální provize. Každý zaměstnanec je označen unikátním číslem zaměstnance.</a:t>
            </a:r>
          </a:p>
          <a:p>
            <a:r>
              <a:rPr lang="cs-CZ" dirty="0"/>
              <a:t>Naše společnost je rozdělena na oddělení. Každý zaměstnanec spadá do oddělení (</a:t>
            </a:r>
            <a:r>
              <a:rPr lang="cs-CZ" dirty="0" err="1"/>
              <a:t>napr</a:t>
            </a:r>
            <a:r>
              <a:rPr lang="cs-CZ" dirty="0"/>
              <a:t>. účetní, prodeje nebo vývoj). Potřebujeme vědět oddělení odpovědné za každého zaměstnance a umístění oddělení. Každé oddělení má unikátní číslo. </a:t>
            </a:r>
          </a:p>
          <a:p>
            <a:r>
              <a:rPr lang="cs-CZ" dirty="0"/>
              <a:t>Někteří zaměstnanci jsou manažeři. Potřebujeme vědět každého manažera zaměstnance a všechny zaměstnance spadající pod daného manažera.</a:t>
            </a:r>
          </a:p>
        </p:txBody>
      </p:sp>
    </p:spTree>
    <p:extLst>
      <p:ext uri="{BB962C8B-B14F-4D97-AF65-F5344CB8AC3E}">
        <p14:creationId xmlns:p14="http://schemas.microsoft.com/office/powerpoint/2010/main" val="708540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D8BA31-BA71-4F31-905D-7BD34440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194E1FF-64FF-4146-8C5E-88A046EA9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22F7F65-486F-4805-A346-FEA985313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856" y="365918"/>
            <a:ext cx="9336944" cy="622377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876932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174</TotalTime>
  <Words>1095</Words>
  <Application>Microsoft Office PowerPoint</Application>
  <PresentationFormat>Širokoúhlá obrazovka</PresentationFormat>
  <Paragraphs>107</Paragraphs>
  <Slides>25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27" baseType="lpstr">
      <vt:lpstr>Franklin Gothic Book</vt:lpstr>
      <vt:lpstr>Crop</vt:lpstr>
      <vt:lpstr>Databázové systémy</vt:lpstr>
      <vt:lpstr>Motivace</vt:lpstr>
      <vt:lpstr>Otázka</vt:lpstr>
      <vt:lpstr>Co je to konceptuální model</vt:lpstr>
      <vt:lpstr>Proč je konceptuální model důležitý pro podnik?</vt:lpstr>
      <vt:lpstr>Konceptuální a fyzický model</vt:lpstr>
      <vt:lpstr>Entity, instance, atributy, identifikátory</vt:lpstr>
      <vt:lpstr>Entity a jejich účel</vt:lpstr>
      <vt:lpstr>Definice entity</vt:lpstr>
      <vt:lpstr>Prezentace aplikace PowerPoint</vt:lpstr>
      <vt:lpstr>Je pes instance nebo entita?</vt:lpstr>
      <vt:lpstr>Jaké druhy informací potřebujete znát…</vt:lpstr>
      <vt:lpstr>Účel atributů</vt:lpstr>
      <vt:lpstr>Co je to atribut I.</vt:lpstr>
      <vt:lpstr>Co je to atribut II.</vt:lpstr>
      <vt:lpstr>Co je to atribut III.</vt:lpstr>
      <vt:lpstr>Co je to atribut IV.</vt:lpstr>
      <vt:lpstr>Účel unikátních identifikátorů</vt:lpstr>
      <vt:lpstr>ERD a modelování</vt:lpstr>
      <vt:lpstr>Modelování a ERD</vt:lpstr>
      <vt:lpstr>Bezimplementační modely</vt:lpstr>
      <vt:lpstr>Co je to ER model?</vt:lpstr>
      <vt:lpstr>Cíle ER modelování</vt:lpstr>
      <vt:lpstr>HR oddělení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Databázové systémy</dc:title>
  <dc:creator>Veronika Hurtová</dc:creator>
  <cp:lastModifiedBy>Veronika Hurtová</cp:lastModifiedBy>
  <cp:revision>31</cp:revision>
  <dcterms:created xsi:type="dcterms:W3CDTF">2017-09-01T10:12:56Z</dcterms:created>
  <dcterms:modified xsi:type="dcterms:W3CDTF">2017-09-26T09:47:39Z</dcterms:modified>
</cp:coreProperties>
</file>