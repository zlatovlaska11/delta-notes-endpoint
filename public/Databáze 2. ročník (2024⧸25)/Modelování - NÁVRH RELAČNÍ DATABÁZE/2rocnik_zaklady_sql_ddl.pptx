
<file path=[Content_Types].xml><?xml version="1.0" encoding="utf-8"?>
<Types xmlns="http://schemas.openxmlformats.org/package/2006/content-types">
  <Default Extension="bin" ContentType="application/vnd.openxmlformats-officedocument.oleObject"/>
  <Default Extension="png" ContentType="image/png"/>
  <Default Extension="emf" ContentType="image/x-emf"/>
  <Default Extension="jpeg" ContentType="image/jpeg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963" r:id="rId1"/>
  </p:sldMasterIdLst>
  <p:notesMasterIdLst>
    <p:notesMasterId r:id="rId60"/>
  </p:notesMasterIdLst>
  <p:sldIdLst>
    <p:sldId id="256" r:id="rId2"/>
    <p:sldId id="397" r:id="rId3"/>
    <p:sldId id="446" r:id="rId4"/>
    <p:sldId id="447" r:id="rId5"/>
    <p:sldId id="448" r:id="rId6"/>
    <p:sldId id="449" r:id="rId7"/>
    <p:sldId id="450" r:id="rId8"/>
    <p:sldId id="451" r:id="rId9"/>
    <p:sldId id="452" r:id="rId10"/>
    <p:sldId id="453" r:id="rId11"/>
    <p:sldId id="454" r:id="rId12"/>
    <p:sldId id="455" r:id="rId13"/>
    <p:sldId id="456" r:id="rId14"/>
    <p:sldId id="457" r:id="rId15"/>
    <p:sldId id="458" r:id="rId16"/>
    <p:sldId id="459" r:id="rId17"/>
    <p:sldId id="460" r:id="rId18"/>
    <p:sldId id="461" r:id="rId19"/>
    <p:sldId id="462" r:id="rId20"/>
    <p:sldId id="463" r:id="rId21"/>
    <p:sldId id="464" r:id="rId22"/>
    <p:sldId id="465" r:id="rId23"/>
    <p:sldId id="466" r:id="rId24"/>
    <p:sldId id="468" r:id="rId25"/>
    <p:sldId id="469" r:id="rId26"/>
    <p:sldId id="470" r:id="rId27"/>
    <p:sldId id="472" r:id="rId28"/>
    <p:sldId id="473" r:id="rId29"/>
    <p:sldId id="474" r:id="rId30"/>
    <p:sldId id="475" r:id="rId31"/>
    <p:sldId id="476" r:id="rId32"/>
    <p:sldId id="477" r:id="rId33"/>
    <p:sldId id="478" r:id="rId34"/>
    <p:sldId id="479" r:id="rId35"/>
    <p:sldId id="480" r:id="rId36"/>
    <p:sldId id="481" r:id="rId37"/>
    <p:sldId id="482" r:id="rId38"/>
    <p:sldId id="483" r:id="rId39"/>
    <p:sldId id="484" r:id="rId40"/>
    <p:sldId id="485" r:id="rId41"/>
    <p:sldId id="486" r:id="rId42"/>
    <p:sldId id="487" r:id="rId43"/>
    <p:sldId id="488" r:id="rId44"/>
    <p:sldId id="489" r:id="rId45"/>
    <p:sldId id="490" r:id="rId46"/>
    <p:sldId id="491" r:id="rId47"/>
    <p:sldId id="492" r:id="rId48"/>
    <p:sldId id="493" r:id="rId49"/>
    <p:sldId id="494" r:id="rId50"/>
    <p:sldId id="495" r:id="rId51"/>
    <p:sldId id="496" r:id="rId52"/>
    <p:sldId id="497" r:id="rId53"/>
    <p:sldId id="498" r:id="rId54"/>
    <p:sldId id="499" r:id="rId55"/>
    <p:sldId id="500" r:id="rId56"/>
    <p:sldId id="501" r:id="rId57"/>
    <p:sldId id="502" r:id="rId58"/>
    <p:sldId id="394" r:id="rId59"/>
  </p:sldIdLst>
  <p:sldSz cx="9144000" cy="6858000" type="screen4x3"/>
  <p:notesSz cx="6858000" cy="9144000"/>
  <p:defaultTextStyle>
    <a:defPPr>
      <a:defRPr lang="cs-CZ"/>
    </a:defPPr>
    <a:lvl1pPr algn="l" rtl="0" fontAlgn="base">
      <a:spcBef>
        <a:spcPct val="0"/>
      </a:spcBef>
      <a:spcAft>
        <a:spcPct val="0"/>
      </a:spcAft>
      <a:defRPr sz="1200" kern="1200">
        <a:solidFill>
          <a:schemeClr val="tx1"/>
        </a:solidFill>
        <a:latin typeface="Tahoma" panose="020B0604030504040204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1200" kern="1200">
        <a:solidFill>
          <a:schemeClr val="tx1"/>
        </a:solidFill>
        <a:latin typeface="Tahoma" panose="020B0604030504040204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1200" kern="1200">
        <a:solidFill>
          <a:schemeClr val="tx1"/>
        </a:solidFill>
        <a:latin typeface="Tahoma" panose="020B0604030504040204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1200" kern="1200">
        <a:solidFill>
          <a:schemeClr val="tx1"/>
        </a:solidFill>
        <a:latin typeface="Tahoma" panose="020B0604030504040204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1200" kern="1200">
        <a:solidFill>
          <a:schemeClr val="tx1"/>
        </a:solidFill>
        <a:latin typeface="Tahoma" panose="020B0604030504040204" pitchFamily="34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Tahoma" panose="020B0604030504040204" pitchFamily="34" charset="0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Tahoma" panose="020B0604030504040204" pitchFamily="34" charset="0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Tahoma" panose="020B0604030504040204" pitchFamily="34" charset="0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Tahoma" panose="020B060403050404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99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řední styl 2 – zvýraznění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8162" autoAdjust="0"/>
    <p:restoredTop sz="74186" autoAdjust="0"/>
  </p:normalViewPr>
  <p:slideViewPr>
    <p:cSldViewPr>
      <p:cViewPr varScale="1">
        <p:scale>
          <a:sx n="85" d="100"/>
          <a:sy n="85" d="100"/>
        </p:scale>
        <p:origin x="2796" y="9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5" Type="http://schemas.openxmlformats.org/officeDocument/2006/relationships/slide" Target="slides/slide4.xml"/><Relationship Id="rId61" Type="http://schemas.openxmlformats.org/officeDocument/2006/relationships/presProps" Target="presProps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tableStyles" Target="tableStyle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>
                <a:latin typeface="Arial" charset="0"/>
              </a:defRPr>
            </a:lvl1pPr>
          </a:lstStyle>
          <a:p>
            <a:pPr>
              <a:defRPr/>
            </a:pPr>
            <a:endParaRPr lang="cs-CZ"/>
          </a:p>
        </p:txBody>
      </p:sp>
      <p:sp>
        <p:nvSpPr>
          <p:cNvPr id="25603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>
                <a:latin typeface="Arial" charset="0"/>
              </a:defRPr>
            </a:lvl1pPr>
          </a:lstStyle>
          <a:p>
            <a:pPr>
              <a:defRPr/>
            </a:pPr>
            <a:endParaRPr lang="cs-CZ"/>
          </a:p>
        </p:txBody>
      </p:sp>
      <p:sp>
        <p:nvSpPr>
          <p:cNvPr id="15364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5605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cs-CZ" noProof="0"/>
              <a:t>Klepnutím lze upravit styly předlohy textu.</a:t>
            </a:r>
          </a:p>
          <a:p>
            <a:pPr lvl="1"/>
            <a:r>
              <a:rPr lang="cs-CZ" noProof="0"/>
              <a:t>Druhá úroveň</a:t>
            </a:r>
          </a:p>
          <a:p>
            <a:pPr lvl="2"/>
            <a:r>
              <a:rPr lang="cs-CZ" noProof="0"/>
              <a:t>Třetí úroveň</a:t>
            </a:r>
          </a:p>
          <a:p>
            <a:pPr lvl="3"/>
            <a:r>
              <a:rPr lang="cs-CZ" noProof="0"/>
              <a:t>Čtvrtá úroveň</a:t>
            </a:r>
          </a:p>
          <a:p>
            <a:pPr lvl="4"/>
            <a:r>
              <a:rPr lang="cs-CZ" noProof="0"/>
              <a:t>Pátá úroveň</a:t>
            </a:r>
          </a:p>
        </p:txBody>
      </p:sp>
      <p:sp>
        <p:nvSpPr>
          <p:cNvPr id="25606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>
                <a:latin typeface="Arial" charset="0"/>
              </a:defRPr>
            </a:lvl1pPr>
          </a:lstStyle>
          <a:p>
            <a:pPr>
              <a:defRPr/>
            </a:pPr>
            <a:endParaRPr lang="cs-CZ"/>
          </a:p>
        </p:txBody>
      </p:sp>
      <p:sp>
        <p:nvSpPr>
          <p:cNvPr id="25607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>
                <a:latin typeface="Arial" panose="020B0604020202020204" pitchFamily="34" charset="0"/>
              </a:defRPr>
            </a:lvl1pPr>
          </a:lstStyle>
          <a:p>
            <a:fld id="{5016749B-89E1-44F9-AD38-BE41078F45A4}" type="slidenum">
              <a:rPr lang="cs-CZ" altLang="cs-CZ"/>
              <a:pPr/>
              <a:t>‹#›</a:t>
            </a:fld>
            <a:endParaRPr lang="cs-CZ" altLang="cs-CZ"/>
          </a:p>
        </p:txBody>
      </p:sp>
    </p:spTree>
    <p:extLst>
      <p:ext uri="{BB962C8B-B14F-4D97-AF65-F5344CB8AC3E}">
        <p14:creationId xmlns:p14="http://schemas.microsoft.com/office/powerpoint/2010/main" val="3751693090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obrázek snímk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Zástupný symbol pro poznámky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cs-CZ" dirty="0"/>
          </a:p>
        </p:txBody>
      </p:sp>
      <p:sp>
        <p:nvSpPr>
          <p:cNvPr id="4" name="Zástupný symbol pro číslo snímku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016749B-89E1-44F9-AD38-BE41078F45A4}" type="slidenum">
              <a:rPr lang="cs-CZ" altLang="cs-CZ" smtClean="0"/>
              <a:pPr/>
              <a:t>2</a:t>
            </a:fld>
            <a:endParaRPr lang="cs-CZ" altLang="cs-CZ"/>
          </a:p>
        </p:txBody>
      </p:sp>
    </p:spTree>
    <p:extLst>
      <p:ext uri="{BB962C8B-B14F-4D97-AF65-F5344CB8AC3E}">
        <p14:creationId xmlns:p14="http://schemas.microsoft.com/office/powerpoint/2010/main" val="427307123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73630E0E-9FFD-4C1C-A0BD-93774A3896D1}" type="slidenum">
              <a:rPr lang="cs-CZ" altLang="cs-CZ"/>
              <a:pPr>
                <a:spcBef>
                  <a:spcPct val="0"/>
                </a:spcBef>
              </a:pPr>
              <a:t>23</a:t>
            </a:fld>
            <a:endParaRPr lang="cs-CZ" altLang="cs-CZ"/>
          </a:p>
        </p:txBody>
      </p:sp>
      <p:sp>
        <p:nvSpPr>
          <p:cNvPr id="3379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379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cs-CZ" altLang="cs-CZ" sz="900">
              <a:latin typeface="Arial" panose="020B0604020202020204" pitchFamily="34" charset="0"/>
            </a:endParaRPr>
          </a:p>
          <a:p>
            <a:pPr eaLnBrk="1" hangingPunct="1"/>
            <a:endParaRPr lang="cs-CZ" altLang="cs-CZ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5770492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2B904AC2-2D95-43D0-A16B-69B73D46C601}" type="slidenum">
              <a:rPr lang="cs-CZ" altLang="cs-CZ"/>
              <a:pPr>
                <a:spcBef>
                  <a:spcPct val="0"/>
                </a:spcBef>
              </a:pPr>
              <a:t>24</a:t>
            </a:fld>
            <a:endParaRPr lang="cs-CZ" altLang="cs-CZ"/>
          </a:p>
        </p:txBody>
      </p:sp>
      <p:sp>
        <p:nvSpPr>
          <p:cNvPr id="3789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789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cs-CZ" altLang="cs-CZ" sz="900">
              <a:latin typeface="Arial" panose="020B0604020202020204" pitchFamily="34" charset="0"/>
            </a:endParaRPr>
          </a:p>
          <a:p>
            <a:pPr eaLnBrk="1" hangingPunct="1"/>
            <a:endParaRPr lang="cs-CZ" altLang="cs-CZ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0196868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7E80BACA-420E-4EE5-A5BE-624E11A0F559}" type="slidenum">
              <a:rPr lang="cs-CZ" altLang="cs-CZ"/>
              <a:pPr>
                <a:spcBef>
                  <a:spcPct val="0"/>
                </a:spcBef>
              </a:pPr>
              <a:t>25</a:t>
            </a:fld>
            <a:endParaRPr lang="cs-CZ" altLang="cs-CZ"/>
          </a:p>
        </p:txBody>
      </p:sp>
      <p:sp>
        <p:nvSpPr>
          <p:cNvPr id="3993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994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cs-CZ" altLang="cs-CZ" sz="900">
              <a:latin typeface="Arial" panose="020B0604020202020204" pitchFamily="34" charset="0"/>
            </a:endParaRPr>
          </a:p>
          <a:p>
            <a:pPr eaLnBrk="1" hangingPunct="1"/>
            <a:endParaRPr lang="cs-CZ" altLang="cs-CZ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7284605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EDE11596-838D-4D7B-9171-5188B8173804}" type="slidenum">
              <a:rPr lang="cs-CZ" altLang="cs-CZ"/>
              <a:pPr>
                <a:spcBef>
                  <a:spcPct val="0"/>
                </a:spcBef>
              </a:pPr>
              <a:t>26</a:t>
            </a:fld>
            <a:endParaRPr lang="cs-CZ" altLang="cs-CZ"/>
          </a:p>
        </p:txBody>
      </p:sp>
      <p:sp>
        <p:nvSpPr>
          <p:cNvPr id="4198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198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cs-CZ" altLang="cs-CZ" sz="900">
              <a:latin typeface="Arial" panose="020B0604020202020204" pitchFamily="34" charset="0"/>
            </a:endParaRPr>
          </a:p>
          <a:p>
            <a:pPr eaLnBrk="1" hangingPunct="1"/>
            <a:endParaRPr lang="cs-CZ" altLang="cs-CZ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2624612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8EB84560-E4D1-4BA1-B929-A003D7D249F7}" type="slidenum">
              <a:rPr lang="cs-CZ" altLang="cs-CZ"/>
              <a:pPr>
                <a:spcBef>
                  <a:spcPct val="0"/>
                </a:spcBef>
              </a:pPr>
              <a:t>27</a:t>
            </a:fld>
            <a:endParaRPr lang="cs-CZ" altLang="cs-CZ"/>
          </a:p>
        </p:txBody>
      </p:sp>
      <p:sp>
        <p:nvSpPr>
          <p:cNvPr id="4608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608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cs-CZ" altLang="cs-CZ" sz="900">
              <a:latin typeface="Arial" panose="020B0604020202020204" pitchFamily="34" charset="0"/>
            </a:endParaRPr>
          </a:p>
          <a:p>
            <a:pPr eaLnBrk="1" hangingPunct="1"/>
            <a:endParaRPr lang="cs-CZ" altLang="cs-CZ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7278363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8362EED6-98FB-40B5-9708-864DD6B58398}" type="slidenum">
              <a:rPr lang="cs-CZ" altLang="cs-CZ"/>
              <a:pPr>
                <a:spcBef>
                  <a:spcPct val="0"/>
                </a:spcBef>
              </a:pPr>
              <a:t>28</a:t>
            </a:fld>
            <a:endParaRPr lang="cs-CZ" altLang="cs-CZ"/>
          </a:p>
        </p:txBody>
      </p:sp>
      <p:sp>
        <p:nvSpPr>
          <p:cNvPr id="4813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813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cs-CZ" altLang="cs-CZ" sz="900">
              <a:latin typeface="Arial" panose="020B0604020202020204" pitchFamily="34" charset="0"/>
            </a:endParaRPr>
          </a:p>
          <a:p>
            <a:pPr eaLnBrk="1" hangingPunct="1"/>
            <a:endParaRPr lang="cs-CZ" altLang="cs-CZ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4040118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C848F38F-41CF-475F-97CD-9AE9434566C4}" type="slidenum">
              <a:rPr lang="cs-CZ" altLang="cs-CZ"/>
              <a:pPr>
                <a:spcBef>
                  <a:spcPct val="0"/>
                </a:spcBef>
              </a:pPr>
              <a:t>29</a:t>
            </a:fld>
            <a:endParaRPr lang="cs-CZ" altLang="cs-CZ"/>
          </a:p>
        </p:txBody>
      </p:sp>
      <p:sp>
        <p:nvSpPr>
          <p:cNvPr id="501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018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cs-CZ" altLang="cs-CZ" sz="900">
              <a:latin typeface="Arial" panose="020B0604020202020204" pitchFamily="34" charset="0"/>
            </a:endParaRPr>
          </a:p>
          <a:p>
            <a:pPr eaLnBrk="1" hangingPunct="1"/>
            <a:endParaRPr lang="cs-CZ" altLang="cs-CZ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4169424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56E4349D-8A65-402A-97FA-B5513D73ED34}" type="slidenum">
              <a:rPr lang="cs-CZ" altLang="cs-CZ"/>
              <a:pPr>
                <a:spcBef>
                  <a:spcPct val="0"/>
                </a:spcBef>
              </a:pPr>
              <a:t>30</a:t>
            </a:fld>
            <a:endParaRPr lang="cs-CZ" altLang="cs-CZ"/>
          </a:p>
        </p:txBody>
      </p:sp>
      <p:sp>
        <p:nvSpPr>
          <p:cNvPr id="5222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222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cs-CZ" altLang="cs-CZ" sz="900">
              <a:latin typeface="Arial" panose="020B0604020202020204" pitchFamily="34" charset="0"/>
            </a:endParaRPr>
          </a:p>
          <a:p>
            <a:pPr eaLnBrk="1" hangingPunct="1"/>
            <a:endParaRPr lang="cs-CZ" altLang="cs-CZ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5909813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E0FA5E03-A3BB-4895-87CF-5A3ECB9E292A}" type="slidenum">
              <a:rPr lang="cs-CZ" altLang="cs-CZ"/>
              <a:pPr>
                <a:spcBef>
                  <a:spcPct val="0"/>
                </a:spcBef>
              </a:pPr>
              <a:t>31</a:t>
            </a:fld>
            <a:endParaRPr lang="cs-CZ" altLang="cs-CZ"/>
          </a:p>
        </p:txBody>
      </p:sp>
      <p:sp>
        <p:nvSpPr>
          <p:cNvPr id="5427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427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cs-CZ" altLang="cs-CZ" sz="900">
              <a:latin typeface="Arial" panose="020B0604020202020204" pitchFamily="34" charset="0"/>
            </a:endParaRPr>
          </a:p>
          <a:p>
            <a:pPr eaLnBrk="1" hangingPunct="1"/>
            <a:endParaRPr lang="cs-CZ" altLang="cs-CZ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4962470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DDAB7257-2EC9-4D49-BCA1-B048B1F97E6C}" type="slidenum">
              <a:rPr lang="cs-CZ" altLang="cs-CZ"/>
              <a:pPr>
                <a:spcBef>
                  <a:spcPct val="0"/>
                </a:spcBef>
              </a:pPr>
              <a:t>32</a:t>
            </a:fld>
            <a:endParaRPr lang="cs-CZ" altLang="cs-CZ"/>
          </a:p>
        </p:txBody>
      </p:sp>
      <p:sp>
        <p:nvSpPr>
          <p:cNvPr id="5632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632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cs-CZ" altLang="cs-CZ" sz="900">
              <a:latin typeface="Arial" panose="020B0604020202020204" pitchFamily="34" charset="0"/>
            </a:endParaRPr>
          </a:p>
          <a:p>
            <a:pPr eaLnBrk="1" hangingPunct="1"/>
            <a:endParaRPr lang="cs-CZ" altLang="cs-CZ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1233615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58638D2E-6D70-4CA5-96D7-C5C02E214E71}" type="slidenum">
              <a:rPr lang="cs-CZ" altLang="cs-CZ"/>
              <a:pPr>
                <a:spcBef>
                  <a:spcPct val="0"/>
                </a:spcBef>
              </a:pPr>
              <a:t>33</a:t>
            </a:fld>
            <a:endParaRPr lang="cs-CZ" altLang="cs-CZ"/>
          </a:p>
        </p:txBody>
      </p:sp>
      <p:sp>
        <p:nvSpPr>
          <p:cNvPr id="5837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837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cs-CZ" altLang="cs-CZ" sz="900">
              <a:latin typeface="Arial" panose="020B0604020202020204" pitchFamily="34" charset="0"/>
            </a:endParaRPr>
          </a:p>
          <a:p>
            <a:pPr eaLnBrk="1" hangingPunct="1"/>
            <a:endParaRPr lang="cs-CZ" altLang="cs-CZ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6890541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6B542488-FCE3-48C2-883D-059F2DFF52AD}" type="slidenum">
              <a:rPr lang="cs-CZ" altLang="cs-CZ"/>
              <a:pPr>
                <a:spcBef>
                  <a:spcPct val="0"/>
                </a:spcBef>
              </a:pPr>
              <a:t>34</a:t>
            </a:fld>
            <a:endParaRPr lang="cs-CZ" altLang="cs-CZ"/>
          </a:p>
        </p:txBody>
      </p:sp>
      <p:sp>
        <p:nvSpPr>
          <p:cNvPr id="6041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042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cs-CZ" altLang="cs-CZ" sz="900">
              <a:latin typeface="Arial" panose="020B0604020202020204" pitchFamily="34" charset="0"/>
            </a:endParaRPr>
          </a:p>
          <a:p>
            <a:pPr eaLnBrk="1" hangingPunct="1"/>
            <a:endParaRPr lang="cs-CZ" altLang="cs-CZ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958126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A360165F-9A94-4605-ADE1-3B619BEF1A5B}" type="slidenum">
              <a:rPr lang="cs-CZ" altLang="cs-CZ"/>
              <a:pPr>
                <a:spcBef>
                  <a:spcPct val="0"/>
                </a:spcBef>
              </a:pPr>
              <a:t>35</a:t>
            </a:fld>
            <a:endParaRPr lang="cs-CZ" altLang="cs-CZ"/>
          </a:p>
        </p:txBody>
      </p:sp>
      <p:sp>
        <p:nvSpPr>
          <p:cNvPr id="6246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246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cs-CZ" altLang="cs-CZ" sz="900">
              <a:latin typeface="Arial" panose="020B0604020202020204" pitchFamily="34" charset="0"/>
            </a:endParaRPr>
          </a:p>
          <a:p>
            <a:pPr eaLnBrk="1" hangingPunct="1"/>
            <a:endParaRPr lang="cs-CZ" altLang="cs-CZ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51167207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F3AD1443-5037-4426-B380-6E4207C93EC5}" type="slidenum">
              <a:rPr lang="cs-CZ" altLang="cs-CZ"/>
              <a:pPr>
                <a:spcBef>
                  <a:spcPct val="0"/>
                </a:spcBef>
              </a:pPr>
              <a:t>36</a:t>
            </a:fld>
            <a:endParaRPr lang="cs-CZ" altLang="cs-CZ"/>
          </a:p>
        </p:txBody>
      </p:sp>
      <p:sp>
        <p:nvSpPr>
          <p:cNvPr id="645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451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cs-CZ" altLang="cs-CZ" sz="900">
              <a:latin typeface="Arial" panose="020B0604020202020204" pitchFamily="34" charset="0"/>
            </a:endParaRPr>
          </a:p>
          <a:p>
            <a:pPr eaLnBrk="1" hangingPunct="1"/>
            <a:endParaRPr lang="cs-CZ" altLang="cs-CZ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31236115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339D6604-2D3C-4897-B677-AF8762CCE0AD}" type="slidenum">
              <a:rPr lang="cs-CZ" altLang="cs-CZ"/>
              <a:pPr>
                <a:spcBef>
                  <a:spcPct val="0"/>
                </a:spcBef>
              </a:pPr>
              <a:t>37</a:t>
            </a:fld>
            <a:endParaRPr lang="cs-CZ" altLang="cs-CZ"/>
          </a:p>
        </p:txBody>
      </p:sp>
      <p:sp>
        <p:nvSpPr>
          <p:cNvPr id="6656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656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cs-CZ" altLang="cs-CZ" sz="900">
              <a:latin typeface="Arial" panose="020B0604020202020204" pitchFamily="34" charset="0"/>
            </a:endParaRPr>
          </a:p>
          <a:p>
            <a:pPr eaLnBrk="1" hangingPunct="1"/>
            <a:endParaRPr lang="cs-CZ" altLang="cs-CZ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63442008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E72F11F0-60D6-4726-BC4A-4F403B5B14C4}" type="slidenum">
              <a:rPr lang="cs-CZ" altLang="cs-CZ"/>
              <a:pPr>
                <a:spcBef>
                  <a:spcPct val="0"/>
                </a:spcBef>
              </a:pPr>
              <a:t>38</a:t>
            </a:fld>
            <a:endParaRPr lang="cs-CZ" altLang="cs-CZ"/>
          </a:p>
        </p:txBody>
      </p:sp>
      <p:sp>
        <p:nvSpPr>
          <p:cNvPr id="6861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861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cs-CZ" altLang="cs-CZ" sz="900">
              <a:latin typeface="Arial" panose="020B0604020202020204" pitchFamily="34" charset="0"/>
            </a:endParaRPr>
          </a:p>
          <a:p>
            <a:pPr eaLnBrk="1" hangingPunct="1"/>
            <a:endParaRPr lang="cs-CZ" altLang="cs-CZ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70101582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70852B2E-F766-410E-A166-45C04DCA04B6}" type="slidenum">
              <a:rPr lang="cs-CZ" altLang="cs-CZ"/>
              <a:pPr>
                <a:spcBef>
                  <a:spcPct val="0"/>
                </a:spcBef>
              </a:pPr>
              <a:t>39</a:t>
            </a:fld>
            <a:endParaRPr lang="cs-CZ" altLang="cs-CZ"/>
          </a:p>
        </p:txBody>
      </p:sp>
      <p:sp>
        <p:nvSpPr>
          <p:cNvPr id="7065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066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cs-CZ" altLang="cs-CZ" sz="900">
              <a:latin typeface="Arial" panose="020B0604020202020204" pitchFamily="34" charset="0"/>
            </a:endParaRPr>
          </a:p>
          <a:p>
            <a:pPr eaLnBrk="1" hangingPunct="1"/>
            <a:endParaRPr lang="cs-CZ" altLang="cs-CZ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54089397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53DD66F2-F87F-41F8-9C4B-511673D31870}" type="slidenum">
              <a:rPr lang="cs-CZ" altLang="cs-CZ"/>
              <a:pPr>
                <a:spcBef>
                  <a:spcPct val="0"/>
                </a:spcBef>
              </a:pPr>
              <a:t>42</a:t>
            </a:fld>
            <a:endParaRPr lang="cs-CZ" altLang="cs-CZ"/>
          </a:p>
        </p:txBody>
      </p:sp>
      <p:sp>
        <p:nvSpPr>
          <p:cNvPr id="7475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475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>
              <a:lnSpc>
                <a:spcPct val="80000"/>
              </a:lnSpc>
            </a:pPr>
            <a:endParaRPr lang="cs-CZ" altLang="cs-CZ" sz="80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00557787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18699B92-4932-482F-B598-56E570C29F4A}" type="slidenum">
              <a:rPr lang="cs-CZ" altLang="cs-CZ"/>
              <a:pPr>
                <a:spcBef>
                  <a:spcPct val="0"/>
                </a:spcBef>
              </a:pPr>
              <a:t>44</a:t>
            </a:fld>
            <a:endParaRPr lang="cs-CZ" altLang="cs-CZ"/>
          </a:p>
        </p:txBody>
      </p:sp>
      <p:sp>
        <p:nvSpPr>
          <p:cNvPr id="7782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782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>
              <a:lnSpc>
                <a:spcPct val="80000"/>
              </a:lnSpc>
            </a:pPr>
            <a:endParaRPr lang="cs-CZ" altLang="cs-CZ" sz="80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76751839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8E1C119D-57C2-4014-8A35-F45774333726}" type="slidenum">
              <a:rPr lang="cs-CZ" altLang="cs-CZ"/>
              <a:pPr>
                <a:spcBef>
                  <a:spcPct val="0"/>
                </a:spcBef>
              </a:pPr>
              <a:t>45</a:t>
            </a:fld>
            <a:endParaRPr lang="cs-CZ" altLang="cs-CZ"/>
          </a:p>
        </p:txBody>
      </p:sp>
      <p:sp>
        <p:nvSpPr>
          <p:cNvPr id="7987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987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>
              <a:lnSpc>
                <a:spcPct val="80000"/>
              </a:lnSpc>
            </a:pPr>
            <a:endParaRPr lang="cs-CZ" altLang="cs-CZ" sz="80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045360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2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6B28FF15-2CDA-4A33-9B5E-5273DC929B74}" type="slidenum">
              <a:rPr lang="cs-CZ" altLang="cs-CZ"/>
              <a:pPr>
                <a:spcBef>
                  <a:spcPct val="0"/>
                </a:spcBef>
              </a:pPr>
              <a:t>46</a:t>
            </a:fld>
            <a:endParaRPr lang="cs-CZ" altLang="cs-CZ"/>
          </a:p>
        </p:txBody>
      </p:sp>
      <p:sp>
        <p:nvSpPr>
          <p:cNvPr id="8192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192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>
              <a:lnSpc>
                <a:spcPct val="80000"/>
              </a:lnSpc>
            </a:pPr>
            <a:endParaRPr lang="cs-CZ" altLang="cs-CZ" sz="80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19028894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7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03C3E2CE-5C0C-48BF-8A91-6D5690CC1D1C}" type="slidenum">
              <a:rPr lang="cs-CZ" altLang="cs-CZ"/>
              <a:pPr>
                <a:spcBef>
                  <a:spcPct val="0"/>
                </a:spcBef>
              </a:pPr>
              <a:t>47</a:t>
            </a:fld>
            <a:endParaRPr lang="cs-CZ" altLang="cs-CZ"/>
          </a:p>
        </p:txBody>
      </p:sp>
      <p:sp>
        <p:nvSpPr>
          <p:cNvPr id="8397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397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>
              <a:lnSpc>
                <a:spcPct val="80000"/>
              </a:lnSpc>
            </a:pPr>
            <a:endParaRPr lang="cs-CZ" altLang="cs-CZ" sz="80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23214648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1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BA222BD8-3102-48EF-9127-B7B7A071BC8A}" type="slidenum">
              <a:rPr lang="cs-CZ" altLang="cs-CZ"/>
              <a:pPr>
                <a:spcBef>
                  <a:spcPct val="0"/>
                </a:spcBef>
              </a:pPr>
              <a:t>48</a:t>
            </a:fld>
            <a:endParaRPr lang="cs-CZ" altLang="cs-CZ"/>
          </a:p>
        </p:txBody>
      </p:sp>
      <p:sp>
        <p:nvSpPr>
          <p:cNvPr id="8601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602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>
              <a:lnSpc>
                <a:spcPct val="80000"/>
              </a:lnSpc>
            </a:pPr>
            <a:endParaRPr lang="cs-CZ" altLang="cs-CZ" sz="80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239834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21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A9BCD128-F0D3-4CAA-8F68-35B9AE36A012}" type="slidenum">
              <a:rPr lang="cs-CZ" altLang="cs-CZ"/>
              <a:pPr>
                <a:spcBef>
                  <a:spcPct val="0"/>
                </a:spcBef>
              </a:pPr>
              <a:t>55</a:t>
            </a:fld>
            <a:endParaRPr lang="cs-CZ" altLang="cs-CZ"/>
          </a:p>
        </p:txBody>
      </p:sp>
      <p:sp>
        <p:nvSpPr>
          <p:cNvPr id="9421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421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cs-CZ" altLang="cs-CZ">
                <a:latin typeface="Arial" panose="020B0604020202020204" pitchFamily="34" charset="0"/>
              </a:rPr>
              <a:t>CREATE TABLE produkty</a:t>
            </a:r>
          </a:p>
          <a:p>
            <a:pPr eaLnBrk="1" hangingPunct="1"/>
            <a:r>
              <a:rPr lang="cs-CZ" altLang="cs-CZ">
                <a:latin typeface="Arial" panose="020B0604020202020204" pitchFamily="34" charset="0"/>
              </a:rPr>
              <a:t>    ( 	produkt_id 	number(8) 	PRIMARY KEY,</a:t>
            </a:r>
          </a:p>
          <a:p>
            <a:pPr eaLnBrk="1" hangingPunct="1"/>
            <a:r>
              <a:rPr lang="cs-CZ" altLang="cs-CZ">
                <a:latin typeface="Arial" panose="020B0604020202020204" pitchFamily="34" charset="0"/>
              </a:rPr>
              <a:t>	oznaceni 		varchar2(30) not null,</a:t>
            </a:r>
          </a:p>
          <a:p>
            <a:pPr eaLnBrk="1" hangingPunct="1"/>
            <a:r>
              <a:rPr lang="cs-CZ" altLang="cs-CZ">
                <a:latin typeface="Arial" panose="020B0604020202020204" pitchFamily="34" charset="0"/>
              </a:rPr>
              <a:t>    	dodavatel_id 	number(4) 	REFERENCES dodavatele,</a:t>
            </a:r>
          </a:p>
          <a:p>
            <a:pPr eaLnBrk="1" hangingPunct="1"/>
            <a:r>
              <a:rPr lang="cs-CZ" altLang="cs-CZ">
                <a:latin typeface="Arial" panose="020B0604020202020204" pitchFamily="34" charset="0"/>
              </a:rPr>
              <a:t>	cena number(6)</a:t>
            </a:r>
          </a:p>
          <a:p>
            <a:pPr eaLnBrk="1" hangingPunct="1"/>
            <a:r>
              <a:rPr lang="cs-CZ" altLang="cs-CZ">
                <a:latin typeface="Arial" panose="020B0604020202020204" pitchFamily="34" charset="0"/>
              </a:rPr>
              <a:t>    );</a:t>
            </a:r>
          </a:p>
          <a:p>
            <a:pPr eaLnBrk="1" hangingPunct="1"/>
            <a:endParaRPr lang="cs-CZ" altLang="cs-CZ">
              <a:latin typeface="Arial" panose="020B0604020202020204" pitchFamily="34" charset="0"/>
            </a:endParaRPr>
          </a:p>
          <a:p>
            <a:pPr eaLnBrk="1" hangingPunct="1"/>
            <a:r>
              <a:rPr lang="cs-CZ" altLang="cs-CZ">
                <a:latin typeface="Arial" panose="020B0604020202020204" pitchFamily="34" charset="0"/>
              </a:rPr>
              <a:t>INSERT INTO Dodavatele (dodavatel_id, nazev, zastoupeni) select dodavatel_id, nazev, zastoupeni from dodavatele_old;</a:t>
            </a:r>
          </a:p>
          <a:p>
            <a:pPr eaLnBrk="1" hangingPunct="1"/>
            <a:endParaRPr lang="cs-CZ" altLang="cs-CZ">
              <a:latin typeface="Arial" panose="020B0604020202020204" pitchFamily="34" charset="0"/>
            </a:endParaRPr>
          </a:p>
          <a:p>
            <a:pPr eaLnBrk="1" hangingPunct="1"/>
            <a:r>
              <a:rPr lang="cs-CZ" altLang="cs-CZ">
                <a:latin typeface="Arial" panose="020B0604020202020204" pitchFamily="34" charset="0"/>
              </a:rPr>
              <a:t>INSERT INTO Produkty (produkt_id, oznaceni, dodavatel_id) select produkt_id, oznaceni, dodavatel_id from produkty_old;</a:t>
            </a:r>
          </a:p>
          <a:p>
            <a:pPr eaLnBrk="1" hangingPunct="1"/>
            <a:endParaRPr lang="cs-CZ" altLang="cs-CZ">
              <a:latin typeface="Arial" panose="020B0604020202020204" pitchFamily="34" charset="0"/>
            </a:endParaRPr>
          </a:p>
          <a:p>
            <a:pPr eaLnBrk="1" hangingPunct="1"/>
            <a:r>
              <a:rPr lang="cs-CZ" altLang="cs-CZ">
                <a:latin typeface="Arial" panose="020B0604020202020204" pitchFamily="34" charset="0"/>
              </a:rPr>
              <a:t>UPDATE DODAVATELE SET dodavatel_id=5 where nazev LIKE 'Asus'</a:t>
            </a:r>
            <a:r>
              <a:rPr lang="en-US" altLang="cs-CZ">
                <a:latin typeface="Arial" panose="020B0604020202020204" pitchFamily="34" charset="0"/>
              </a:rPr>
              <a:t>;</a:t>
            </a:r>
            <a:endParaRPr lang="cs-CZ" altLang="cs-CZ">
              <a:latin typeface="Arial" panose="020B0604020202020204" pitchFamily="34" charset="0"/>
            </a:endParaRPr>
          </a:p>
          <a:p>
            <a:pPr eaLnBrk="1" hangingPunct="1"/>
            <a:endParaRPr lang="cs-CZ" altLang="cs-CZ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7531733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Úvodní sníme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Podnadpis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cs-CZ"/>
              <a:t>Kliknutím lze upravit styl předlohy.</a:t>
            </a:r>
          </a:p>
        </p:txBody>
      </p:sp>
      <p:sp>
        <p:nvSpPr>
          <p:cNvPr id="4" name="Zástupný symbol pro datum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09616B-0849-459A-898E-B87E5364772F}" type="datetimeFigureOut">
              <a:rPr lang="cs-CZ" smtClean="0">
                <a:solidFill>
                  <a:prstClr val="black">
                    <a:tint val="75000"/>
                  </a:prstClr>
                </a:solidFill>
              </a:rPr>
              <a:pPr/>
              <a:t>05.06.2020</a:t>
            </a:fld>
            <a:endParaRPr lang="cs-CZ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Zástupný symbol pro zápatí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Zástupný symbol pro číslo snímk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4A9A7C-3CB1-4B02-9A36-B0F9ED3D011B}" type="slidenum">
              <a:rPr lang="cs-CZ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cs-CZ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6888043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Nadpis a obsa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cs-CZ"/>
              <a:t>Kliknutím lze upravit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symbol pro datum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09616B-0849-459A-898E-B87E5364772F}" type="datetimeFigureOut">
              <a:rPr lang="cs-CZ" smtClean="0">
                <a:solidFill>
                  <a:prstClr val="black">
                    <a:tint val="75000"/>
                  </a:prstClr>
                </a:solidFill>
              </a:rPr>
              <a:pPr/>
              <a:t>05.06.2020</a:t>
            </a:fld>
            <a:endParaRPr lang="cs-CZ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Zástupný symbol pro zápatí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Zástupný symbol pro číslo snímk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4A9A7C-3CB1-4B02-9A36-B0F9ED3D011B}" type="slidenum">
              <a:rPr lang="cs-CZ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cs-CZ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707498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Záhlaví čás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cs-CZ"/>
              <a:t>Kliknutím lze upravit styl.</a:t>
            </a:r>
          </a:p>
        </p:txBody>
      </p:sp>
      <p:sp>
        <p:nvSpPr>
          <p:cNvPr id="3" name="Zástupný symbol pro text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cs-CZ"/>
              <a:t>Kliknutím lze upravit styly předlohy textu.</a:t>
            </a:r>
          </a:p>
        </p:txBody>
      </p:sp>
      <p:sp>
        <p:nvSpPr>
          <p:cNvPr id="4" name="Zástupný symbol pro datum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09616B-0849-459A-898E-B87E5364772F}" type="datetimeFigureOut">
              <a:rPr lang="cs-CZ" smtClean="0">
                <a:solidFill>
                  <a:prstClr val="black">
                    <a:tint val="75000"/>
                  </a:prstClr>
                </a:solidFill>
              </a:rPr>
              <a:pPr/>
              <a:t>05.06.2020</a:t>
            </a:fld>
            <a:endParaRPr lang="cs-CZ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Zástupný symbol pro zápatí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Zástupný symbol pro číslo snímk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4A9A7C-3CB1-4B02-9A36-B0F9ED3D011B}" type="slidenum">
              <a:rPr lang="cs-CZ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cs-CZ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086478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Obj" preserve="1">
  <p:cSld name="Dva obsah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symbol pro obsah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cs-CZ"/>
              <a:t>Kliknutím lze upravit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symbol pro obsah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cs-CZ"/>
              <a:t>Kliknutím lze upravit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5" name="Zástupný symbol pro datum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09616B-0849-459A-898E-B87E5364772F}" type="datetimeFigureOut">
              <a:rPr lang="cs-CZ" smtClean="0">
                <a:solidFill>
                  <a:prstClr val="black">
                    <a:tint val="75000"/>
                  </a:prstClr>
                </a:solidFill>
              </a:rPr>
              <a:pPr/>
              <a:t>05.06.2020</a:t>
            </a:fld>
            <a:endParaRPr lang="cs-CZ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Zástupný symbol pro zápatí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Zástupný symbol pro číslo snímku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4A9A7C-3CB1-4B02-9A36-B0F9ED3D011B}" type="slidenum">
              <a:rPr lang="cs-CZ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cs-CZ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1902083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Porovnání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cs-CZ"/>
              <a:t>Kliknutím lze upravit styl.</a:t>
            </a:r>
          </a:p>
        </p:txBody>
      </p:sp>
      <p:sp>
        <p:nvSpPr>
          <p:cNvPr id="3" name="Zástupný symbol pro text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cs-CZ"/>
              <a:t>Kliknutím lze upravit styly předlohy textu.</a:t>
            </a:r>
          </a:p>
        </p:txBody>
      </p:sp>
      <p:sp>
        <p:nvSpPr>
          <p:cNvPr id="4" name="Zástupný symbol pro obsah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cs-CZ"/>
              <a:t>Kliknutím lze upravit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5" name="Zástupný symbol pro text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cs-CZ"/>
              <a:t>Kliknutím lze upravit styly předlohy textu.</a:t>
            </a:r>
          </a:p>
        </p:txBody>
      </p:sp>
      <p:sp>
        <p:nvSpPr>
          <p:cNvPr id="6" name="Zástupný symbol pro obsah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cs-CZ"/>
              <a:t>Kliknutím lze upravit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7" name="Zástupný symbol pro datum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09616B-0849-459A-898E-B87E5364772F}" type="datetimeFigureOut">
              <a:rPr lang="cs-CZ" smtClean="0">
                <a:solidFill>
                  <a:prstClr val="black">
                    <a:tint val="75000"/>
                  </a:prstClr>
                </a:solidFill>
              </a:rPr>
              <a:pPr/>
              <a:t>05.06.2020</a:t>
            </a:fld>
            <a:endParaRPr lang="cs-CZ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Zástupný symbol pro zápatí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Zástupný symbol pro číslo snímku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4A9A7C-3CB1-4B02-9A36-B0F9ED3D011B}" type="slidenum">
              <a:rPr lang="cs-CZ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cs-CZ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9765853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 preserve="1">
  <p:cSld name="Pouze nadp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symbol pro datum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09616B-0849-459A-898E-B87E5364772F}" type="datetimeFigureOut">
              <a:rPr lang="cs-CZ" smtClean="0">
                <a:solidFill>
                  <a:prstClr val="black">
                    <a:tint val="75000"/>
                  </a:prstClr>
                </a:solidFill>
              </a:rPr>
              <a:pPr/>
              <a:t>05.06.2020</a:t>
            </a:fld>
            <a:endParaRPr lang="cs-CZ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Zástupný symbol pro zápatí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Zástupný symbol pro číslo snímku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4A9A7C-3CB1-4B02-9A36-B0F9ED3D011B}" type="slidenum">
              <a:rPr lang="cs-CZ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cs-CZ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363731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Prázdn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datum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09616B-0849-459A-898E-B87E5364772F}" type="datetimeFigureOut">
              <a:rPr lang="cs-CZ" smtClean="0">
                <a:solidFill>
                  <a:prstClr val="black">
                    <a:tint val="75000"/>
                  </a:prstClr>
                </a:solidFill>
              </a:rPr>
              <a:pPr/>
              <a:t>05.06.2020</a:t>
            </a:fld>
            <a:endParaRPr lang="cs-CZ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Zástupný symbol pro zápatí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Zástupný symbol pro číslo snímku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4A9A7C-3CB1-4B02-9A36-B0F9ED3D011B}" type="slidenum">
              <a:rPr lang="cs-CZ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cs-CZ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1319102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Obsah s titulk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cs-CZ"/>
              <a:t>Kliknutím lze upravit styl.</a:t>
            </a:r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cs-CZ"/>
              <a:t>Kliknutím lze upravit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symbol pro text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cs-CZ"/>
              <a:t>Kliknutím lze upravit styly předlohy textu.</a:t>
            </a:r>
          </a:p>
        </p:txBody>
      </p:sp>
      <p:sp>
        <p:nvSpPr>
          <p:cNvPr id="5" name="Zástupný symbol pro datum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09616B-0849-459A-898E-B87E5364772F}" type="datetimeFigureOut">
              <a:rPr lang="cs-CZ" smtClean="0">
                <a:solidFill>
                  <a:prstClr val="black">
                    <a:tint val="75000"/>
                  </a:prstClr>
                </a:solidFill>
              </a:rPr>
              <a:pPr/>
              <a:t>05.06.2020</a:t>
            </a:fld>
            <a:endParaRPr lang="cs-CZ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Zástupný symbol pro zápatí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Zástupný symbol pro číslo snímku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4A9A7C-3CB1-4B02-9A36-B0F9ED3D011B}" type="slidenum">
              <a:rPr lang="cs-CZ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cs-CZ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4851057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Obrázek s titulk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cs-CZ"/>
              <a:t>Kliknutím lze upravit styl.</a:t>
            </a:r>
          </a:p>
        </p:txBody>
      </p:sp>
      <p:sp>
        <p:nvSpPr>
          <p:cNvPr id="3" name="Zástupný symbol pro obrázek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cs-CZ"/>
              <a:t>Kliknutím na ikonu přidáte obrázek.</a:t>
            </a:r>
          </a:p>
        </p:txBody>
      </p:sp>
      <p:sp>
        <p:nvSpPr>
          <p:cNvPr id="4" name="Zástupný symbol pro text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cs-CZ"/>
              <a:t>Kliknutím lze upravit styly předlohy textu.</a:t>
            </a:r>
          </a:p>
        </p:txBody>
      </p:sp>
      <p:sp>
        <p:nvSpPr>
          <p:cNvPr id="5" name="Zástupný symbol pro datum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09616B-0849-459A-898E-B87E5364772F}" type="datetimeFigureOut">
              <a:rPr lang="cs-CZ" smtClean="0">
                <a:solidFill>
                  <a:prstClr val="black">
                    <a:tint val="75000"/>
                  </a:prstClr>
                </a:solidFill>
              </a:rPr>
              <a:pPr/>
              <a:t>05.06.2020</a:t>
            </a:fld>
            <a:endParaRPr lang="cs-CZ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Zástupný symbol pro zápatí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Zástupný symbol pro číslo snímku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4A9A7C-3CB1-4B02-9A36-B0F9ED3D011B}" type="slidenum">
              <a:rPr lang="cs-CZ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cs-CZ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7452405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x" preserve="1">
  <p:cSld name="Nadpis a svislý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symbol pro svislý text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cs-CZ"/>
              <a:t>Kliknutím lze upravit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symbol pro datum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09616B-0849-459A-898E-B87E5364772F}" type="datetimeFigureOut">
              <a:rPr lang="cs-CZ" smtClean="0">
                <a:solidFill>
                  <a:prstClr val="black">
                    <a:tint val="75000"/>
                  </a:prstClr>
                </a:solidFill>
              </a:rPr>
              <a:pPr/>
              <a:t>05.06.2020</a:t>
            </a:fld>
            <a:endParaRPr lang="cs-CZ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Zástupný symbol pro zápatí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Zástupný symbol pro číslo snímk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4A9A7C-3CB1-4B02-9A36-B0F9ED3D011B}" type="slidenum">
              <a:rPr lang="cs-CZ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cs-CZ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36825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Svislý nadpis a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vislý nadpis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symbol pro svislý text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cs-CZ"/>
              <a:t>Kliknutím lze upravit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symbol pro datum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09616B-0849-459A-898E-B87E5364772F}" type="datetimeFigureOut">
              <a:rPr lang="cs-CZ" smtClean="0">
                <a:solidFill>
                  <a:prstClr val="black">
                    <a:tint val="75000"/>
                  </a:prstClr>
                </a:solidFill>
              </a:rPr>
              <a:pPr/>
              <a:t>05.06.2020</a:t>
            </a:fld>
            <a:endParaRPr lang="cs-CZ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Zástupný symbol pro zápatí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Zástupný symbol pro číslo snímk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4A9A7C-3CB1-4B02-9A36-B0F9ED3D011B}" type="slidenum">
              <a:rPr lang="cs-CZ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cs-CZ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3926632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nadpis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symbol pro text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cs-CZ"/>
              <a:t>Kliknutím lze upravit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symbol pro datum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fontAlgn="auto">
              <a:spcBef>
                <a:spcPts val="0"/>
              </a:spcBef>
              <a:spcAft>
                <a:spcPts val="0"/>
              </a:spcAft>
            </a:pPr>
            <a:fld id="{8109616B-0849-459A-898E-B87E5364772F}" type="datetimeFigureOut">
              <a:rPr lang="cs-CZ" smtClean="0">
                <a:solidFill>
                  <a:prstClr val="black">
                    <a:tint val="75000"/>
                  </a:prstClr>
                </a:solidFill>
                <a:latin typeface="Calibri"/>
              </a:rPr>
              <a:pPr fontAlgn="auto">
                <a:spcBef>
                  <a:spcPts val="0"/>
                </a:spcBef>
                <a:spcAft>
                  <a:spcPts val="0"/>
                </a:spcAft>
              </a:pPr>
              <a:t>05.06.2020</a:t>
            </a:fld>
            <a:endParaRPr lang="cs-CZ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  <p:sp>
        <p:nvSpPr>
          <p:cNvPr id="5" name="Zástupný symbol pro zápatí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fontAlgn="auto">
              <a:spcBef>
                <a:spcPts val="0"/>
              </a:spcBef>
              <a:spcAft>
                <a:spcPts val="0"/>
              </a:spcAft>
            </a:pPr>
            <a:endParaRPr lang="cs-CZ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  <p:sp>
        <p:nvSpPr>
          <p:cNvPr id="6" name="Zástupný symbol pro číslo snímku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fontAlgn="auto">
              <a:spcBef>
                <a:spcPts val="0"/>
              </a:spcBef>
              <a:spcAft>
                <a:spcPts val="0"/>
              </a:spcAft>
            </a:pPr>
            <a:fld id="{3D4A9A7C-3CB1-4B02-9A36-B0F9ED3D011B}" type="slidenum">
              <a:rPr lang="cs-CZ" smtClean="0">
                <a:solidFill>
                  <a:prstClr val="black">
                    <a:tint val="75000"/>
                  </a:prstClr>
                </a:solidFill>
                <a:latin typeface="Calibri"/>
              </a:rPr>
              <a:pPr fontAlgn="auto">
                <a:spcBef>
                  <a:spcPts val="0"/>
                </a:spcBef>
                <a:spcAft>
                  <a:spcPts val="0"/>
                </a:spcAft>
              </a:pPr>
              <a:t>‹#›</a:t>
            </a:fld>
            <a:endParaRPr lang="cs-CZ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42542486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64" r:id="rId1"/>
    <p:sldLayoutId id="2147483965" r:id="rId2"/>
    <p:sldLayoutId id="2147483966" r:id="rId3"/>
    <p:sldLayoutId id="2147483967" r:id="rId4"/>
    <p:sldLayoutId id="2147483968" r:id="rId5"/>
    <p:sldLayoutId id="2147483969" r:id="rId6"/>
    <p:sldLayoutId id="2147483970" r:id="rId7"/>
    <p:sldLayoutId id="2147483971" r:id="rId8"/>
    <p:sldLayoutId id="2147483972" r:id="rId9"/>
    <p:sldLayoutId id="2147483973" r:id="rId10"/>
    <p:sldLayoutId id="2147483974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cs-CZ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4" Type="http://schemas.openxmlformats.org/officeDocument/2006/relationships/image" Target="../media/image1.emf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pPr eaLnBrk="1" hangingPunct="1"/>
            <a:r>
              <a:rPr lang="cs-CZ" altLang="cs-CZ" dirty="0"/>
              <a:t>Databázové </a:t>
            </a:r>
            <a:r>
              <a:rPr lang="cs-CZ" altLang="cs-CZ" dirty="0" smtClean="0"/>
              <a:t>systémy</a:t>
            </a:r>
            <a:endParaRPr lang="cs-CZ" altLang="cs-CZ" dirty="0"/>
          </a:p>
        </p:txBody>
      </p:sp>
      <p:sp>
        <p:nvSpPr>
          <p:cNvPr id="6" name="TextovéPole 5"/>
          <p:cNvSpPr txBox="1"/>
          <p:nvPr/>
        </p:nvSpPr>
        <p:spPr>
          <a:xfrm>
            <a:off x="3183639" y="3861048"/>
            <a:ext cx="2451312" cy="4924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cs-CZ" sz="2600" dirty="0" smtClean="0"/>
              <a:t>DDL, DML, DCL</a:t>
            </a:r>
            <a:endParaRPr lang="cs-CZ" sz="26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662"/>
            <a:ext cx="8229600" cy="765799"/>
          </a:xfrm>
        </p:spPr>
        <p:txBody>
          <a:bodyPr/>
          <a:lstStyle/>
          <a:p>
            <a:pPr algn="l" eaLnBrk="1" hangingPunct="1"/>
            <a:r>
              <a:rPr lang="cs-CZ" altLang="cs-CZ" dirty="0"/>
              <a:t>Obsah</a:t>
            </a:r>
          </a:p>
        </p:txBody>
      </p:sp>
      <p:sp>
        <p:nvSpPr>
          <p:cNvPr id="3075" name="Rectangle 3"/>
          <p:cNvSpPr>
            <a:spLocks noGrp="1" noChangeArrowheads="1"/>
          </p:cNvSpPr>
          <p:nvPr>
            <p:ph idx="1"/>
          </p:nvPr>
        </p:nvSpPr>
        <p:spPr>
          <a:xfrm>
            <a:off x="379249" y="1228693"/>
            <a:ext cx="7972425" cy="4654464"/>
          </a:xfrm>
        </p:spPr>
        <p:txBody>
          <a:bodyPr>
            <a:noAutofit/>
          </a:bodyPr>
          <a:lstStyle/>
          <a:p>
            <a:pPr marL="457200" indent="-457200"/>
            <a:r>
              <a:rPr lang="cs-CZ" altLang="cs-CZ" sz="2800" dirty="0" smtClean="0"/>
              <a:t>Opakování – fáze návrhu databáze</a:t>
            </a:r>
          </a:p>
          <a:p>
            <a:pPr marL="457200" indent="-457200"/>
            <a:r>
              <a:rPr lang="cs-CZ" altLang="cs-CZ" sz="2800" dirty="0" smtClean="0"/>
              <a:t>Logický návrh databáze</a:t>
            </a:r>
          </a:p>
          <a:p>
            <a:pPr marL="457200" indent="-457200"/>
            <a:r>
              <a:rPr lang="cs-CZ" altLang="cs-CZ" sz="2800" dirty="0" smtClean="0"/>
              <a:t>Fyzický návrh databáze</a:t>
            </a:r>
          </a:p>
          <a:p>
            <a:pPr marL="457200" indent="-457200"/>
            <a:r>
              <a:rPr lang="cs-CZ" altLang="cs-CZ" sz="2800" dirty="0" smtClean="0"/>
              <a:t>Úvod do SQL</a:t>
            </a:r>
          </a:p>
          <a:p>
            <a:pPr marL="457200" indent="-457200"/>
            <a:r>
              <a:rPr lang="cs-CZ" altLang="cs-CZ" sz="2800" dirty="0" smtClean="0"/>
              <a:t>DDL</a:t>
            </a:r>
            <a:endParaRPr lang="cs-CZ" altLang="cs-CZ" sz="2800" dirty="0"/>
          </a:p>
        </p:txBody>
      </p:sp>
      <p:sp>
        <p:nvSpPr>
          <p:cNvPr id="3076" name="Zástupný symbol pro zápatí 1"/>
          <p:cNvSpPr>
            <a:spLocks noGrp="1"/>
          </p:cNvSpPr>
          <p:nvPr>
            <p:ph type="ftr" sz="quarter" idx="1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 sz="1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12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12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12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12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r>
              <a:rPr lang="cs-CZ" altLang="cs-CZ">
                <a:solidFill>
                  <a:schemeClr val="bg1"/>
                </a:solidFill>
              </a:rPr>
              <a:t>IDAS2 - Cvičení II</a:t>
            </a:r>
          </a:p>
        </p:txBody>
      </p:sp>
      <p:sp>
        <p:nvSpPr>
          <p:cNvPr id="3077" name="Zástupný symbol pro číslo snímku 1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1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12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12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12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12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fld id="{D9500279-C86B-4D0B-B87A-0C99D5D0A2EA}" type="slidenum">
              <a:rPr lang="cs-CZ" altLang="cs-CZ">
                <a:solidFill>
                  <a:schemeClr val="bg1"/>
                </a:solidFill>
              </a:rPr>
              <a:pPr eaLnBrk="1" hangingPunct="1"/>
              <a:t>2</a:t>
            </a:fld>
            <a:endParaRPr lang="cs-CZ" altLang="cs-CZ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843841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810423"/>
          </a:xfrm>
        </p:spPr>
        <p:txBody>
          <a:bodyPr>
            <a:normAutofit/>
          </a:bodyPr>
          <a:lstStyle/>
          <a:p>
            <a:pPr algn="l" eaLnBrk="1" hangingPunct="1">
              <a:defRPr/>
            </a:pPr>
            <a:r>
              <a:rPr lang="cs-CZ" dirty="0" smtClean="0"/>
              <a:t>Návrhové fáze vývoje databáze</a:t>
            </a:r>
            <a:endParaRPr lang="cs-CZ" dirty="0"/>
          </a:p>
        </p:txBody>
      </p:sp>
      <p:graphicFrame>
        <p:nvGraphicFramePr>
          <p:cNvPr id="11" name="Objekt 3"/>
          <p:cNvGraphicFramePr>
            <a:graphicFrameLocks noGrp="1" noChangeAspect="1"/>
          </p:cNvGraphicFramePr>
          <p:nvPr>
            <p:ph idx="1"/>
            <p:extLst>
              <p:ext uri="{D42A27DB-BD31-4B8C-83A1-F6EECF244321}">
                <p14:modId xmlns:p14="http://schemas.microsoft.com/office/powerpoint/2010/main" val="98988468"/>
              </p:ext>
            </p:extLst>
          </p:nvPr>
        </p:nvGraphicFramePr>
        <p:xfrm>
          <a:off x="2700338" y="1125538"/>
          <a:ext cx="3082925" cy="49831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31" name="Visio" r:id="rId3" imgW="3329118" imgH="5381100" progId="Visio.Drawing.11">
                  <p:embed/>
                </p:oleObj>
              </mc:Choice>
              <mc:Fallback>
                <p:oleObj name="Visio" r:id="rId3" imgW="3329118" imgH="5381100" progId="Visio.Drawing.11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00338" y="1125538"/>
                        <a:ext cx="3082925" cy="49831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9220" name="Zástupný symbol pro zápatí 1"/>
          <p:cNvSpPr>
            <a:spLocks noGrp="1"/>
          </p:cNvSpPr>
          <p:nvPr>
            <p:ph type="ftr" sz="quarter" idx="1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cs-CZ" altLang="cs-CZ" sz="1200" smtClean="0">
                <a:solidFill>
                  <a:schemeClr val="bg1"/>
                </a:solidFill>
                <a:latin typeface="Tahoma" panose="020B0604030504040204" pitchFamily="34" charset="0"/>
              </a:rPr>
              <a:t>Databázové systémy 1 - př. 2</a:t>
            </a:r>
          </a:p>
        </p:txBody>
      </p:sp>
    </p:spTree>
    <p:extLst>
      <p:ext uri="{BB962C8B-B14F-4D97-AF65-F5344CB8AC3E}">
        <p14:creationId xmlns:p14="http://schemas.microsoft.com/office/powerpoint/2010/main" val="35886049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810423"/>
          </a:xfrm>
        </p:spPr>
        <p:txBody>
          <a:bodyPr>
            <a:normAutofit/>
          </a:bodyPr>
          <a:lstStyle/>
          <a:p>
            <a:pPr algn="l" eaLnBrk="1" hangingPunct="1">
              <a:defRPr/>
            </a:pPr>
            <a:r>
              <a:rPr lang="cs-CZ" dirty="0" smtClean="0"/>
              <a:t>Logický návrh databáze</a:t>
            </a:r>
            <a:endParaRPr lang="cs-CZ" dirty="0"/>
          </a:p>
        </p:txBody>
      </p:sp>
      <p:sp>
        <p:nvSpPr>
          <p:cNvPr id="5123" name="Rectangle 4"/>
          <p:cNvSpPr>
            <a:spLocks noGrp="1" noChangeArrowheads="1"/>
          </p:cNvSpPr>
          <p:nvPr>
            <p:ph idx="1"/>
          </p:nvPr>
        </p:nvSpPr>
        <p:spPr>
          <a:xfrm>
            <a:off x="179512" y="1268760"/>
            <a:ext cx="8229600" cy="4114800"/>
          </a:xfrm>
        </p:spPr>
        <p:txBody>
          <a:bodyPr>
            <a:normAutofit/>
          </a:bodyPr>
          <a:lstStyle/>
          <a:p>
            <a:pPr>
              <a:buFont typeface="Arial" charset="0"/>
              <a:buChar char="•"/>
              <a:defRPr/>
            </a:pPr>
            <a:r>
              <a:rPr lang="cs-CZ" sz="2000" dirty="0"/>
              <a:t>Z konceptuálního modelu se dostáváme do prostředí relačních databází.</a:t>
            </a:r>
          </a:p>
          <a:p>
            <a:pPr>
              <a:buFont typeface="Arial" charset="0"/>
              <a:buChar char="•"/>
              <a:defRPr/>
            </a:pPr>
            <a:r>
              <a:rPr lang="cs-CZ" sz="2000" b="1" dirty="0"/>
              <a:t>Dosud </a:t>
            </a:r>
            <a:r>
              <a:rPr lang="cs-CZ" sz="2000" b="1" dirty="0" smtClean="0"/>
              <a:t>není známa </a:t>
            </a:r>
            <a:r>
              <a:rPr lang="cs-CZ" sz="2000" b="1" dirty="0"/>
              <a:t>konkrétní </a:t>
            </a:r>
            <a:r>
              <a:rPr lang="cs-CZ" sz="2000" b="1" dirty="0" smtClean="0"/>
              <a:t>cílová platforma.</a:t>
            </a:r>
            <a:endParaRPr lang="cs-CZ" sz="2000" b="1" dirty="0"/>
          </a:p>
          <a:p>
            <a:pPr>
              <a:buFont typeface="Arial" charset="0"/>
              <a:buChar char="•"/>
              <a:defRPr/>
            </a:pPr>
            <a:r>
              <a:rPr lang="cs-CZ" sz="2000" dirty="0"/>
              <a:t>Dochází ke změně terminologie.</a:t>
            </a:r>
          </a:p>
        </p:txBody>
      </p:sp>
      <p:sp>
        <p:nvSpPr>
          <p:cNvPr id="9220" name="Zástupný symbol pro zápatí 1"/>
          <p:cNvSpPr>
            <a:spLocks noGrp="1"/>
          </p:cNvSpPr>
          <p:nvPr>
            <p:ph type="ftr" sz="quarter" idx="1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cs-CZ" altLang="cs-CZ" sz="1200" smtClean="0">
                <a:solidFill>
                  <a:schemeClr val="bg1"/>
                </a:solidFill>
                <a:latin typeface="Tahoma" panose="020B0604030504040204" pitchFamily="34" charset="0"/>
              </a:rPr>
              <a:t>Databázové systémy 1 - př. 2</a:t>
            </a:r>
          </a:p>
        </p:txBody>
      </p:sp>
    </p:spTree>
    <p:extLst>
      <p:ext uri="{BB962C8B-B14F-4D97-AF65-F5344CB8AC3E}">
        <p14:creationId xmlns:p14="http://schemas.microsoft.com/office/powerpoint/2010/main" val="26116820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810423"/>
          </a:xfrm>
        </p:spPr>
        <p:txBody>
          <a:bodyPr>
            <a:normAutofit/>
          </a:bodyPr>
          <a:lstStyle/>
          <a:p>
            <a:pPr algn="l">
              <a:defRPr/>
            </a:pPr>
            <a:r>
              <a:rPr lang="cs-CZ" dirty="0"/>
              <a:t>Terminologie logického modelu</a:t>
            </a:r>
          </a:p>
        </p:txBody>
      </p:sp>
      <p:pic>
        <p:nvPicPr>
          <p:cNvPr id="2" name="Zástupný symbol pro obsah 1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50050" y="1795645"/>
            <a:ext cx="8229600" cy="30747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938148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810423"/>
          </a:xfrm>
        </p:spPr>
        <p:txBody>
          <a:bodyPr>
            <a:normAutofit/>
          </a:bodyPr>
          <a:lstStyle/>
          <a:p>
            <a:pPr algn="l">
              <a:defRPr/>
            </a:pPr>
            <a:r>
              <a:rPr lang="cs-CZ" sz="3600" dirty="0" smtClean="0"/>
              <a:t>Mapování </a:t>
            </a:r>
            <a:r>
              <a:rPr lang="cs-CZ" sz="3600" dirty="0"/>
              <a:t>konceptuálního modelu do logického</a:t>
            </a:r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>
          <a:xfrm>
            <a:off x="453570" y="1196752"/>
            <a:ext cx="8229600" cy="4525963"/>
          </a:xfrm>
        </p:spPr>
        <p:txBody>
          <a:bodyPr/>
          <a:lstStyle/>
          <a:p>
            <a:r>
              <a:rPr lang="cs-CZ" altLang="cs-CZ" dirty="0"/>
              <a:t>Entity se stanou tabulkami</a:t>
            </a:r>
          </a:p>
          <a:p>
            <a:pPr lvl="1"/>
            <a:r>
              <a:rPr lang="cs-CZ" altLang="cs-CZ" dirty="0"/>
              <a:t>Pojmenování z entity se změní z jednotného čísla na množné</a:t>
            </a:r>
          </a:p>
          <a:p>
            <a:r>
              <a:rPr lang="cs-CZ" altLang="cs-CZ" dirty="0"/>
              <a:t>Atributy se stanou sloupci tabulky</a:t>
            </a:r>
          </a:p>
          <a:p>
            <a:pPr lvl="1"/>
            <a:r>
              <a:rPr lang="cs-CZ" altLang="cs-CZ" dirty="0"/>
              <a:t>Je třeba definovat datové typy</a:t>
            </a:r>
          </a:p>
          <a:p>
            <a:r>
              <a:rPr lang="cs-CZ" altLang="cs-CZ" dirty="0"/>
              <a:t>Relace se stanou cizími klíči</a:t>
            </a:r>
          </a:p>
          <a:p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36355272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810423"/>
          </a:xfrm>
        </p:spPr>
        <p:txBody>
          <a:bodyPr>
            <a:normAutofit/>
          </a:bodyPr>
          <a:lstStyle/>
          <a:p>
            <a:pPr algn="l">
              <a:defRPr/>
            </a:pPr>
            <a:r>
              <a:rPr lang="cs-CZ" sz="3600" dirty="0" smtClean="0"/>
              <a:t>Mapování </a:t>
            </a:r>
            <a:r>
              <a:rPr lang="cs-CZ" sz="3600" dirty="0"/>
              <a:t>konceptuálního modelu do logického</a:t>
            </a:r>
          </a:p>
        </p:txBody>
      </p:sp>
      <p:pic>
        <p:nvPicPr>
          <p:cNvPr id="11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707" y="2628452"/>
            <a:ext cx="1438275" cy="1990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graphicFrame>
        <p:nvGraphicFramePr>
          <p:cNvPr id="12" name="Tabulka 1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81933469"/>
              </p:ext>
            </p:extLst>
          </p:nvPr>
        </p:nvGraphicFramePr>
        <p:xfrm>
          <a:off x="2075757" y="2099814"/>
          <a:ext cx="3529013" cy="304800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88225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7130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7545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38897">
                <a:tc gridSpan="3">
                  <a:txBody>
                    <a:bodyPr/>
                    <a:lstStyle/>
                    <a:p>
                      <a:r>
                        <a:rPr lang="cs-CZ" sz="1400" dirty="0"/>
                        <a:t>STUDENTI</a:t>
                      </a:r>
                    </a:p>
                  </a:txBody>
                  <a:tcPr marL="91456" marR="91456"/>
                </a:tc>
                <a:tc hMerge="1">
                  <a:txBody>
                    <a:bodyPr/>
                    <a:lstStyle/>
                    <a:p>
                      <a:endParaRPr lang="cs-CZ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cs-CZ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38897">
                <a:tc>
                  <a:txBody>
                    <a:bodyPr/>
                    <a:lstStyle/>
                    <a:p>
                      <a:r>
                        <a:rPr lang="cs-CZ" sz="1400" dirty="0"/>
                        <a:t>Typ klíče</a:t>
                      </a:r>
                    </a:p>
                  </a:txBody>
                  <a:tcPr marL="91456" marR="91456"/>
                </a:tc>
                <a:tc>
                  <a:txBody>
                    <a:bodyPr/>
                    <a:lstStyle/>
                    <a:p>
                      <a:r>
                        <a:rPr lang="cs-CZ" sz="1400" dirty="0"/>
                        <a:t>Volitelnost</a:t>
                      </a:r>
                    </a:p>
                  </a:txBody>
                  <a:tcPr marL="91456" marR="91456"/>
                </a:tc>
                <a:tc>
                  <a:txBody>
                    <a:bodyPr/>
                    <a:lstStyle/>
                    <a:p>
                      <a:r>
                        <a:rPr lang="cs-CZ" sz="1400" dirty="0"/>
                        <a:t>Sloupec</a:t>
                      </a:r>
                    </a:p>
                  </a:txBody>
                  <a:tcPr marL="91456" marR="91456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38897">
                <a:tc>
                  <a:txBody>
                    <a:bodyPr/>
                    <a:lstStyle/>
                    <a:p>
                      <a:r>
                        <a:rPr lang="cs-CZ" sz="1400" dirty="0"/>
                        <a:t>PK</a:t>
                      </a:r>
                    </a:p>
                  </a:txBody>
                  <a:tcPr marL="91456" marR="91456"/>
                </a:tc>
                <a:tc>
                  <a:txBody>
                    <a:bodyPr/>
                    <a:lstStyle/>
                    <a:p>
                      <a:r>
                        <a:rPr lang="cs-CZ" sz="1400" dirty="0"/>
                        <a:t>*</a:t>
                      </a:r>
                    </a:p>
                  </a:txBody>
                  <a:tcPr marL="91456" marR="91456"/>
                </a:tc>
                <a:tc>
                  <a:txBody>
                    <a:bodyPr/>
                    <a:lstStyle/>
                    <a:p>
                      <a:r>
                        <a:rPr lang="cs-CZ" sz="1400" dirty="0"/>
                        <a:t>ID</a:t>
                      </a:r>
                    </a:p>
                  </a:txBody>
                  <a:tcPr marL="91456" marR="91456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38897">
                <a:tc>
                  <a:txBody>
                    <a:bodyPr/>
                    <a:lstStyle/>
                    <a:p>
                      <a:endParaRPr lang="cs-CZ" sz="1400"/>
                    </a:p>
                  </a:txBody>
                  <a:tcPr marL="91456" marR="91456"/>
                </a:tc>
                <a:tc>
                  <a:txBody>
                    <a:bodyPr/>
                    <a:lstStyle/>
                    <a:p>
                      <a:r>
                        <a:rPr lang="cs-CZ" sz="1400" dirty="0"/>
                        <a:t>*</a:t>
                      </a:r>
                    </a:p>
                  </a:txBody>
                  <a:tcPr marL="91456" marR="91456"/>
                </a:tc>
                <a:tc>
                  <a:txBody>
                    <a:bodyPr/>
                    <a:lstStyle/>
                    <a:p>
                      <a:r>
                        <a:rPr lang="cs-CZ" sz="1400" dirty="0" err="1"/>
                        <a:t>Jmeno</a:t>
                      </a:r>
                      <a:endParaRPr lang="cs-CZ" sz="1400" dirty="0"/>
                    </a:p>
                  </a:txBody>
                  <a:tcPr marL="91456" marR="91456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38897">
                <a:tc>
                  <a:txBody>
                    <a:bodyPr/>
                    <a:lstStyle/>
                    <a:p>
                      <a:endParaRPr lang="cs-CZ" sz="1400"/>
                    </a:p>
                  </a:txBody>
                  <a:tcPr marL="91456" marR="91456"/>
                </a:tc>
                <a:tc>
                  <a:txBody>
                    <a:bodyPr/>
                    <a:lstStyle/>
                    <a:p>
                      <a:r>
                        <a:rPr lang="cs-CZ" sz="1400" dirty="0"/>
                        <a:t>*</a:t>
                      </a:r>
                    </a:p>
                  </a:txBody>
                  <a:tcPr marL="91456" marR="91456"/>
                </a:tc>
                <a:tc>
                  <a:txBody>
                    <a:bodyPr/>
                    <a:lstStyle/>
                    <a:p>
                      <a:r>
                        <a:rPr lang="cs-CZ" sz="1400" dirty="0" err="1"/>
                        <a:t>Prijmeni</a:t>
                      </a:r>
                      <a:endParaRPr lang="cs-CZ" sz="1400" dirty="0"/>
                    </a:p>
                  </a:txBody>
                  <a:tcPr marL="91456" marR="91456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38897">
                <a:tc>
                  <a:txBody>
                    <a:bodyPr/>
                    <a:lstStyle/>
                    <a:p>
                      <a:endParaRPr lang="cs-CZ" sz="1400"/>
                    </a:p>
                  </a:txBody>
                  <a:tcPr marL="91456" marR="91456"/>
                </a:tc>
                <a:tc>
                  <a:txBody>
                    <a:bodyPr/>
                    <a:lstStyle/>
                    <a:p>
                      <a:r>
                        <a:rPr lang="cs-CZ" sz="1400" dirty="0"/>
                        <a:t>*</a:t>
                      </a:r>
                    </a:p>
                  </a:txBody>
                  <a:tcPr marL="91456" marR="91456"/>
                </a:tc>
                <a:tc>
                  <a:txBody>
                    <a:bodyPr/>
                    <a:lstStyle/>
                    <a:p>
                      <a:r>
                        <a:rPr lang="cs-CZ" sz="1400" dirty="0"/>
                        <a:t>Ulice</a:t>
                      </a:r>
                    </a:p>
                  </a:txBody>
                  <a:tcPr marL="91456" marR="91456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38897">
                <a:tc>
                  <a:txBody>
                    <a:bodyPr/>
                    <a:lstStyle/>
                    <a:p>
                      <a:endParaRPr lang="cs-CZ" sz="1400"/>
                    </a:p>
                  </a:txBody>
                  <a:tcPr marL="91456" marR="91456"/>
                </a:tc>
                <a:tc>
                  <a:txBody>
                    <a:bodyPr/>
                    <a:lstStyle/>
                    <a:p>
                      <a:r>
                        <a:rPr lang="cs-CZ" sz="1400" dirty="0"/>
                        <a:t>*</a:t>
                      </a:r>
                    </a:p>
                  </a:txBody>
                  <a:tcPr marL="91456" marR="91456"/>
                </a:tc>
                <a:tc>
                  <a:txBody>
                    <a:bodyPr/>
                    <a:lstStyle/>
                    <a:p>
                      <a:r>
                        <a:rPr lang="cs-CZ" sz="1400" dirty="0"/>
                        <a:t>Město</a:t>
                      </a:r>
                    </a:p>
                  </a:txBody>
                  <a:tcPr marL="91456" marR="91456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38897">
                <a:tc>
                  <a:txBody>
                    <a:bodyPr/>
                    <a:lstStyle/>
                    <a:p>
                      <a:endParaRPr lang="cs-CZ" sz="1400"/>
                    </a:p>
                  </a:txBody>
                  <a:tcPr marL="91456" marR="91456"/>
                </a:tc>
                <a:tc>
                  <a:txBody>
                    <a:bodyPr/>
                    <a:lstStyle/>
                    <a:p>
                      <a:r>
                        <a:rPr lang="cs-CZ" sz="1400" dirty="0"/>
                        <a:t>*</a:t>
                      </a:r>
                    </a:p>
                  </a:txBody>
                  <a:tcPr marL="91456" marR="91456"/>
                </a:tc>
                <a:tc>
                  <a:txBody>
                    <a:bodyPr/>
                    <a:lstStyle/>
                    <a:p>
                      <a:r>
                        <a:rPr lang="cs-CZ" sz="1400" dirty="0" err="1"/>
                        <a:t>Stat</a:t>
                      </a:r>
                      <a:endParaRPr lang="cs-CZ" sz="1400" dirty="0"/>
                    </a:p>
                  </a:txBody>
                  <a:tcPr marL="91456" marR="91456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38897">
                <a:tc>
                  <a:txBody>
                    <a:bodyPr/>
                    <a:lstStyle/>
                    <a:p>
                      <a:endParaRPr lang="cs-CZ" sz="1400" dirty="0"/>
                    </a:p>
                  </a:txBody>
                  <a:tcPr marL="91456" marR="91456"/>
                </a:tc>
                <a:tc>
                  <a:txBody>
                    <a:bodyPr/>
                    <a:lstStyle/>
                    <a:p>
                      <a:r>
                        <a:rPr lang="cs-CZ" sz="1400" dirty="0"/>
                        <a:t>*</a:t>
                      </a:r>
                    </a:p>
                  </a:txBody>
                  <a:tcPr marL="91456" marR="91456"/>
                </a:tc>
                <a:tc>
                  <a:txBody>
                    <a:bodyPr/>
                    <a:lstStyle/>
                    <a:p>
                      <a:r>
                        <a:rPr lang="cs-CZ" sz="1400" dirty="0" err="1"/>
                        <a:t>Psc</a:t>
                      </a:r>
                      <a:endParaRPr lang="cs-CZ" sz="1400" dirty="0"/>
                    </a:p>
                  </a:txBody>
                  <a:tcPr marL="91456" marR="91456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98199">
                <a:tc>
                  <a:txBody>
                    <a:bodyPr/>
                    <a:lstStyle/>
                    <a:p>
                      <a:endParaRPr lang="cs-CZ" sz="1400"/>
                    </a:p>
                  </a:txBody>
                  <a:tcPr marL="91456" marR="91456"/>
                </a:tc>
                <a:tc>
                  <a:txBody>
                    <a:bodyPr/>
                    <a:lstStyle/>
                    <a:p>
                      <a:r>
                        <a:rPr lang="cs-CZ" sz="1400" dirty="0"/>
                        <a:t>*</a:t>
                      </a:r>
                    </a:p>
                  </a:txBody>
                  <a:tcPr marL="91456" marR="91456"/>
                </a:tc>
                <a:tc>
                  <a:txBody>
                    <a:bodyPr/>
                    <a:lstStyle/>
                    <a:p>
                      <a:r>
                        <a:rPr lang="cs-CZ" sz="1400" dirty="0" err="1"/>
                        <a:t>Datum_narozeni</a:t>
                      </a:r>
                      <a:endParaRPr lang="cs-CZ" sz="1400" dirty="0"/>
                    </a:p>
                  </a:txBody>
                  <a:tcPr marL="91456" marR="91456"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pic>
        <p:nvPicPr>
          <p:cNvPr id="13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52470" y="2479227"/>
            <a:ext cx="2781300" cy="2247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14" name="Přímá spojnice se šipkou 13"/>
          <p:cNvCxnSpPr/>
          <p:nvPr/>
        </p:nvCxnSpPr>
        <p:spPr>
          <a:xfrm>
            <a:off x="1462982" y="3628577"/>
            <a:ext cx="506413" cy="0"/>
          </a:xfrm>
          <a:prstGeom prst="straightConnector1">
            <a:avLst/>
          </a:prstGeom>
          <a:ln>
            <a:tailEnd type="arrow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5" name="Přímá spojnice se šipkou 14"/>
          <p:cNvCxnSpPr/>
          <p:nvPr/>
        </p:nvCxnSpPr>
        <p:spPr>
          <a:xfrm>
            <a:off x="5695257" y="3603177"/>
            <a:ext cx="506413" cy="0"/>
          </a:xfrm>
          <a:prstGeom prst="straightConnector1">
            <a:avLst/>
          </a:prstGeom>
          <a:ln>
            <a:tailEnd type="arrow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794340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810423"/>
          </a:xfrm>
        </p:spPr>
        <p:txBody>
          <a:bodyPr>
            <a:normAutofit/>
          </a:bodyPr>
          <a:lstStyle/>
          <a:p>
            <a:pPr algn="l">
              <a:defRPr/>
            </a:pPr>
            <a:r>
              <a:rPr lang="cs-CZ" sz="3600" dirty="0" smtClean="0"/>
              <a:t>Mapování relací</a:t>
            </a:r>
            <a:endParaRPr lang="cs-CZ" sz="3600" dirty="0"/>
          </a:p>
        </p:txBody>
      </p:sp>
      <p:sp>
        <p:nvSpPr>
          <p:cNvPr id="2" name="Obdélník 1"/>
          <p:cNvSpPr/>
          <p:nvPr/>
        </p:nvSpPr>
        <p:spPr>
          <a:xfrm>
            <a:off x="63832" y="831026"/>
            <a:ext cx="3050259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cs-CZ" altLang="cs-CZ" sz="2000" b="1" dirty="0">
                <a:solidFill>
                  <a:srgbClr val="FF0000"/>
                </a:solidFill>
                <a:latin typeface="+mj-lt"/>
              </a:rPr>
              <a:t>Relace se stávají cizími klíči</a:t>
            </a:r>
          </a:p>
        </p:txBody>
      </p:sp>
      <p:pic>
        <p:nvPicPr>
          <p:cNvPr id="1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3969" y="1416599"/>
            <a:ext cx="5616103" cy="241393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7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7465" y="3635276"/>
            <a:ext cx="6153150" cy="2181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2804953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810423"/>
          </a:xfrm>
        </p:spPr>
        <p:txBody>
          <a:bodyPr>
            <a:normAutofit/>
          </a:bodyPr>
          <a:lstStyle/>
          <a:p>
            <a:pPr algn="l">
              <a:defRPr/>
            </a:pPr>
            <a:r>
              <a:rPr lang="cs-CZ" sz="3600" dirty="0" smtClean="0"/>
              <a:t>Relace – nepovinné relace</a:t>
            </a:r>
            <a:endParaRPr lang="cs-CZ" sz="3600" dirty="0"/>
          </a:p>
        </p:txBody>
      </p:sp>
      <p:sp>
        <p:nvSpPr>
          <p:cNvPr id="11" name="Zástupný symbol pro obsah 2"/>
          <p:cNvSpPr>
            <a:spLocks noGrp="1"/>
          </p:cNvSpPr>
          <p:nvPr>
            <p:ph idx="1"/>
          </p:nvPr>
        </p:nvSpPr>
        <p:spPr>
          <a:xfrm>
            <a:off x="475764" y="1196325"/>
            <a:ext cx="8229600" cy="4525963"/>
          </a:xfrm>
        </p:spPr>
        <p:txBody>
          <a:bodyPr/>
          <a:lstStyle/>
          <a:p>
            <a:r>
              <a:rPr lang="cs-CZ" altLang="cs-CZ" dirty="0"/>
              <a:t>Nepovinné relace se stávají cizími klíči, které jsou označeny jako nepovinné.</a:t>
            </a:r>
          </a:p>
        </p:txBody>
      </p:sp>
      <p:pic>
        <p:nvPicPr>
          <p:cNvPr id="1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50204" y="2597221"/>
            <a:ext cx="5784642" cy="151216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3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48653" y="4291951"/>
            <a:ext cx="6235400" cy="1593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159006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810423"/>
          </a:xfrm>
        </p:spPr>
        <p:txBody>
          <a:bodyPr>
            <a:normAutofit/>
          </a:bodyPr>
          <a:lstStyle/>
          <a:p>
            <a:pPr algn="l">
              <a:defRPr/>
            </a:pPr>
            <a:r>
              <a:rPr lang="cs-CZ" sz="3600" dirty="0" smtClean="0"/>
              <a:t>Relace – nepřenositelné relace</a:t>
            </a:r>
            <a:endParaRPr lang="cs-CZ" sz="3600" dirty="0"/>
          </a:p>
        </p:txBody>
      </p:sp>
      <p:sp>
        <p:nvSpPr>
          <p:cNvPr id="14" name="Zástupný symbol pro obsah 2"/>
          <p:cNvSpPr txBox="1">
            <a:spLocks/>
          </p:cNvSpPr>
          <p:nvPr/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auto">
              <a:spcAft>
                <a:spcPts val="0"/>
              </a:spcAft>
            </a:pPr>
            <a:r>
              <a:rPr lang="cs-CZ" altLang="cs-CZ" dirty="0" smtClean="0"/>
              <a:t>Přenositelné/nepřenositelné relace je třeba řešit programově</a:t>
            </a:r>
            <a:endParaRPr lang="cs-CZ" altLang="cs-CZ" dirty="0"/>
          </a:p>
        </p:txBody>
      </p:sp>
      <p:pic>
        <p:nvPicPr>
          <p:cNvPr id="15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20787" y="2979738"/>
            <a:ext cx="4781550" cy="1371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6" name="Picture 5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5950" y="4581525"/>
            <a:ext cx="5991225" cy="1438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7" name="TextovéPole 16"/>
          <p:cNvSpPr txBox="1"/>
          <p:nvPr/>
        </p:nvSpPr>
        <p:spPr>
          <a:xfrm>
            <a:off x="6607175" y="3716338"/>
            <a:ext cx="1738168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eaLnBrk="1" hangingPunct="1">
              <a:defRPr/>
            </a:pPr>
            <a:r>
              <a:rPr lang="cs-CZ" sz="1600" dirty="0">
                <a:solidFill>
                  <a:schemeClr val="accent6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Atribut nesmí být</a:t>
            </a:r>
          </a:p>
          <a:p>
            <a:pPr eaLnBrk="1" hangingPunct="1">
              <a:defRPr/>
            </a:pPr>
            <a:r>
              <a:rPr lang="cs-CZ" sz="1600" dirty="0">
                <a:solidFill>
                  <a:schemeClr val="accent6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měněn</a:t>
            </a:r>
          </a:p>
        </p:txBody>
      </p:sp>
      <p:cxnSp>
        <p:nvCxnSpPr>
          <p:cNvPr id="18" name="Přímá spojnice se šipkou 17"/>
          <p:cNvCxnSpPr/>
          <p:nvPr/>
        </p:nvCxnSpPr>
        <p:spPr>
          <a:xfrm flipH="1">
            <a:off x="5724527" y="4301113"/>
            <a:ext cx="1151729" cy="1144012"/>
          </a:xfrm>
          <a:prstGeom prst="straightConnector1">
            <a:avLst/>
          </a:prstGeom>
          <a:ln>
            <a:tailEnd type="arrow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348942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810423"/>
          </a:xfrm>
        </p:spPr>
        <p:txBody>
          <a:bodyPr>
            <a:normAutofit/>
          </a:bodyPr>
          <a:lstStyle/>
          <a:p>
            <a:pPr algn="l">
              <a:defRPr/>
            </a:pPr>
            <a:r>
              <a:rPr lang="cs-CZ" sz="3600" dirty="0" smtClean="0"/>
              <a:t>Relace – identifikující relace</a:t>
            </a:r>
            <a:endParaRPr lang="cs-CZ" sz="3600" dirty="0"/>
          </a:p>
        </p:txBody>
      </p:sp>
      <p:sp>
        <p:nvSpPr>
          <p:cNvPr id="13" name="Zástupný symbol pro obsah 2"/>
          <p:cNvSpPr>
            <a:spLocks noGrp="1"/>
          </p:cNvSpPr>
          <p:nvPr>
            <p:ph idx="1"/>
          </p:nvPr>
        </p:nvSpPr>
        <p:spPr>
          <a:xfrm>
            <a:off x="251520" y="1268760"/>
            <a:ext cx="8568952" cy="4525963"/>
          </a:xfrm>
        </p:spPr>
        <p:txBody>
          <a:bodyPr/>
          <a:lstStyle/>
          <a:p>
            <a:r>
              <a:rPr lang="cs-CZ" altLang="cs-CZ" dirty="0"/>
              <a:t>Relace se stane cizím klíč a tento cizí klíč se stane součástí primárního klíče dceřiné tabulky</a:t>
            </a:r>
          </a:p>
        </p:txBody>
      </p:sp>
      <p:pic>
        <p:nvPicPr>
          <p:cNvPr id="19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0020" y="2841521"/>
            <a:ext cx="4667250" cy="11144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0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1408" y="4253260"/>
            <a:ext cx="5324475" cy="1343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1804057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810423"/>
          </a:xfrm>
        </p:spPr>
        <p:txBody>
          <a:bodyPr>
            <a:normAutofit/>
          </a:bodyPr>
          <a:lstStyle/>
          <a:p>
            <a:pPr algn="l">
              <a:defRPr/>
            </a:pPr>
            <a:r>
              <a:rPr lang="cs-CZ" sz="3600" dirty="0" smtClean="0"/>
              <a:t>Relace – M:M</a:t>
            </a:r>
            <a:endParaRPr lang="cs-CZ" sz="3600" dirty="0"/>
          </a:p>
        </p:txBody>
      </p:sp>
      <p:sp>
        <p:nvSpPr>
          <p:cNvPr id="13" name="Zástupný symbol pro obsah 2"/>
          <p:cNvSpPr>
            <a:spLocks noGrp="1"/>
          </p:cNvSpPr>
          <p:nvPr>
            <p:ph idx="1"/>
          </p:nvPr>
        </p:nvSpPr>
        <p:spPr>
          <a:xfrm>
            <a:off x="251520" y="953583"/>
            <a:ext cx="8229600" cy="4909285"/>
          </a:xfrm>
        </p:spPr>
        <p:txBody>
          <a:bodyPr/>
          <a:lstStyle/>
          <a:p>
            <a:r>
              <a:rPr lang="cs-CZ" altLang="cs-CZ" dirty="0"/>
              <a:t>Relace M:M se musí řešit pomocí průnikové </a:t>
            </a:r>
            <a:r>
              <a:rPr lang="cs-CZ" altLang="cs-CZ" dirty="0" smtClean="0"/>
              <a:t>nebo také označované jako vazební tabulky</a:t>
            </a:r>
            <a:endParaRPr lang="cs-CZ" altLang="cs-CZ" dirty="0"/>
          </a:p>
          <a:p>
            <a:endParaRPr lang="cs-CZ" altLang="cs-CZ" dirty="0"/>
          </a:p>
        </p:txBody>
      </p:sp>
      <p:pic>
        <p:nvPicPr>
          <p:cNvPr id="11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99792" y="2323478"/>
            <a:ext cx="4019550" cy="1000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2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1179" y="3474416"/>
            <a:ext cx="5857875" cy="2771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902505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810423"/>
          </a:xfrm>
        </p:spPr>
        <p:txBody>
          <a:bodyPr>
            <a:normAutofit/>
          </a:bodyPr>
          <a:lstStyle/>
          <a:p>
            <a:pPr algn="l">
              <a:defRPr/>
            </a:pPr>
            <a:r>
              <a:rPr lang="cs-CZ" sz="3600" dirty="0" smtClean="0"/>
              <a:t>Mapování </a:t>
            </a:r>
            <a:r>
              <a:rPr lang="cs-CZ" sz="3600" dirty="0" err="1" smtClean="0"/>
              <a:t>supertypů</a:t>
            </a:r>
            <a:r>
              <a:rPr lang="cs-CZ" sz="3600" dirty="0" smtClean="0"/>
              <a:t> a podtypů</a:t>
            </a:r>
            <a:endParaRPr lang="cs-CZ" sz="3600" dirty="0"/>
          </a:p>
        </p:txBody>
      </p:sp>
      <p:sp>
        <p:nvSpPr>
          <p:cNvPr id="13" name="Zástupný symbol pro obsah 2"/>
          <p:cNvSpPr>
            <a:spLocks noGrp="1"/>
          </p:cNvSpPr>
          <p:nvPr>
            <p:ph idx="1"/>
          </p:nvPr>
        </p:nvSpPr>
        <p:spPr>
          <a:xfrm>
            <a:off x="251520" y="953583"/>
            <a:ext cx="8229600" cy="4909285"/>
          </a:xfrm>
        </p:spPr>
        <p:txBody>
          <a:bodyPr/>
          <a:lstStyle/>
          <a:p>
            <a:r>
              <a:rPr lang="cs-CZ" altLang="cs-CZ" sz="2800" dirty="0"/>
              <a:t>Mapování </a:t>
            </a:r>
            <a:r>
              <a:rPr lang="cs-CZ" altLang="cs-CZ" sz="2800" dirty="0" err="1"/>
              <a:t>supertypů</a:t>
            </a:r>
            <a:r>
              <a:rPr lang="cs-CZ" altLang="cs-CZ" sz="2800" dirty="0"/>
              <a:t> a podtypů je možné realizovat více způsoby.</a:t>
            </a:r>
          </a:p>
          <a:p>
            <a:r>
              <a:rPr lang="cs-CZ" altLang="cs-CZ" sz="2800" dirty="0"/>
              <a:t>1. sloučení do jedné tabulky</a:t>
            </a:r>
          </a:p>
          <a:p>
            <a:pPr lvl="1"/>
            <a:r>
              <a:rPr lang="cs-CZ" altLang="cs-CZ" sz="2400" dirty="0"/>
              <a:t>Sloučení volíme pokud:</a:t>
            </a:r>
          </a:p>
          <a:p>
            <a:pPr lvl="2"/>
            <a:r>
              <a:rPr lang="cs-CZ" altLang="cs-CZ" sz="2000" dirty="0"/>
              <a:t>Většina atributů je v </a:t>
            </a:r>
            <a:r>
              <a:rPr lang="cs-CZ" altLang="cs-CZ" sz="2000" dirty="0" err="1"/>
              <a:t>supertypu</a:t>
            </a:r>
            <a:endParaRPr lang="cs-CZ" altLang="cs-CZ" sz="2000" dirty="0"/>
          </a:p>
          <a:p>
            <a:pPr lvl="2"/>
            <a:r>
              <a:rPr lang="cs-CZ" altLang="cs-CZ" sz="2000" dirty="0"/>
              <a:t>Většina relací je na </a:t>
            </a:r>
            <a:r>
              <a:rPr lang="cs-CZ" altLang="cs-CZ" sz="2000" dirty="0" err="1"/>
              <a:t>supertypu</a:t>
            </a:r>
            <a:endParaRPr lang="cs-CZ" altLang="cs-CZ" sz="2000" dirty="0"/>
          </a:p>
          <a:p>
            <a:pPr lvl="2"/>
            <a:r>
              <a:rPr lang="cs-CZ" altLang="cs-CZ" sz="2000" dirty="0" err="1"/>
              <a:t>Bussines</a:t>
            </a:r>
            <a:r>
              <a:rPr lang="cs-CZ" altLang="cs-CZ" sz="2000" dirty="0"/>
              <a:t> pravidla jsou stejná pro</a:t>
            </a:r>
            <a:br>
              <a:rPr lang="cs-CZ" altLang="cs-CZ" sz="2000" dirty="0"/>
            </a:br>
            <a:r>
              <a:rPr lang="cs-CZ" altLang="cs-CZ" sz="2000" dirty="0" err="1"/>
              <a:t>supertyp</a:t>
            </a:r>
            <a:r>
              <a:rPr lang="cs-CZ" altLang="cs-CZ" sz="2000" dirty="0"/>
              <a:t> a </a:t>
            </a:r>
            <a:r>
              <a:rPr lang="cs-CZ" altLang="cs-CZ" sz="2000" dirty="0" smtClean="0"/>
              <a:t>podtyp.</a:t>
            </a:r>
            <a:endParaRPr lang="cs-CZ" altLang="cs-CZ" sz="2000" dirty="0"/>
          </a:p>
          <a:p>
            <a:endParaRPr lang="cs-CZ" altLang="cs-CZ" dirty="0"/>
          </a:p>
        </p:txBody>
      </p:sp>
      <p:pic>
        <p:nvPicPr>
          <p:cNvPr id="1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11145" y="3186618"/>
            <a:ext cx="2477399" cy="276885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7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36096" y="1598609"/>
            <a:ext cx="2831412" cy="16967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5837581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810423"/>
          </a:xfrm>
        </p:spPr>
        <p:txBody>
          <a:bodyPr>
            <a:normAutofit/>
          </a:bodyPr>
          <a:lstStyle/>
          <a:p>
            <a:pPr algn="l">
              <a:defRPr/>
            </a:pPr>
            <a:r>
              <a:rPr lang="cs-CZ" sz="3600" dirty="0" smtClean="0"/>
              <a:t>Mapování </a:t>
            </a:r>
            <a:r>
              <a:rPr lang="cs-CZ" sz="3600" dirty="0" err="1" smtClean="0"/>
              <a:t>supertypů</a:t>
            </a:r>
            <a:r>
              <a:rPr lang="cs-CZ" sz="3600" dirty="0" smtClean="0"/>
              <a:t> a podtypů</a:t>
            </a:r>
            <a:endParaRPr lang="cs-CZ" sz="3600" dirty="0"/>
          </a:p>
        </p:txBody>
      </p:sp>
      <p:sp>
        <p:nvSpPr>
          <p:cNvPr id="13" name="Zástupný symbol pro obsah 2"/>
          <p:cNvSpPr>
            <a:spLocks noGrp="1"/>
          </p:cNvSpPr>
          <p:nvPr>
            <p:ph idx="1"/>
          </p:nvPr>
        </p:nvSpPr>
        <p:spPr>
          <a:xfrm>
            <a:off x="251520" y="953583"/>
            <a:ext cx="8229600" cy="4909285"/>
          </a:xfrm>
        </p:spPr>
        <p:txBody>
          <a:bodyPr/>
          <a:lstStyle/>
          <a:p>
            <a:r>
              <a:rPr lang="cs-CZ" altLang="cs-CZ" sz="2800" dirty="0"/>
              <a:t>Mapování </a:t>
            </a:r>
            <a:r>
              <a:rPr lang="cs-CZ" altLang="cs-CZ" sz="2800" dirty="0" err="1"/>
              <a:t>supertypů</a:t>
            </a:r>
            <a:r>
              <a:rPr lang="cs-CZ" altLang="cs-CZ" sz="2800" dirty="0"/>
              <a:t> a podtypů je možné realizovat více způsoby.</a:t>
            </a:r>
          </a:p>
          <a:p>
            <a:r>
              <a:rPr lang="cs-CZ" altLang="cs-CZ" sz="2800" dirty="0"/>
              <a:t>2. použití více tabulek</a:t>
            </a:r>
          </a:p>
          <a:p>
            <a:pPr marL="0" indent="0">
              <a:buNone/>
            </a:pPr>
            <a:endParaRPr lang="cs-CZ" altLang="cs-CZ" dirty="0"/>
          </a:p>
        </p:txBody>
      </p:sp>
      <p:pic>
        <p:nvPicPr>
          <p:cNvPr id="11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11960" y="2276872"/>
            <a:ext cx="3197053" cy="37395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2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59632" y="2379020"/>
            <a:ext cx="2621831" cy="3726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0917117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810423"/>
          </a:xfrm>
        </p:spPr>
        <p:txBody>
          <a:bodyPr>
            <a:normAutofit/>
          </a:bodyPr>
          <a:lstStyle/>
          <a:p>
            <a:pPr algn="l">
              <a:defRPr/>
            </a:pPr>
            <a:r>
              <a:rPr lang="cs-CZ" sz="3600" dirty="0" smtClean="0"/>
              <a:t>Mapování </a:t>
            </a:r>
            <a:r>
              <a:rPr lang="cs-CZ" sz="3600" dirty="0" err="1" smtClean="0"/>
              <a:t>supertypů</a:t>
            </a:r>
            <a:r>
              <a:rPr lang="cs-CZ" sz="3600" dirty="0" smtClean="0"/>
              <a:t> a podtypů</a:t>
            </a:r>
            <a:endParaRPr lang="cs-CZ" sz="3600" dirty="0"/>
          </a:p>
        </p:txBody>
      </p:sp>
      <p:sp>
        <p:nvSpPr>
          <p:cNvPr id="13" name="Zástupný symbol pro obsah 2"/>
          <p:cNvSpPr>
            <a:spLocks noGrp="1"/>
          </p:cNvSpPr>
          <p:nvPr>
            <p:ph idx="1"/>
          </p:nvPr>
        </p:nvSpPr>
        <p:spPr>
          <a:xfrm>
            <a:off x="251520" y="953583"/>
            <a:ext cx="8229600" cy="4909285"/>
          </a:xfrm>
        </p:spPr>
        <p:txBody>
          <a:bodyPr/>
          <a:lstStyle/>
          <a:p>
            <a:r>
              <a:rPr lang="cs-CZ" altLang="cs-CZ" sz="2800" dirty="0"/>
              <a:t>Mapování </a:t>
            </a:r>
            <a:r>
              <a:rPr lang="cs-CZ" altLang="cs-CZ" sz="2800" dirty="0" err="1"/>
              <a:t>supertypů</a:t>
            </a:r>
            <a:r>
              <a:rPr lang="cs-CZ" altLang="cs-CZ" sz="2800" dirty="0"/>
              <a:t> a podtypů je možné realizovat více způsoby.</a:t>
            </a:r>
          </a:p>
          <a:p>
            <a:r>
              <a:rPr lang="cs-CZ" altLang="cs-CZ" sz="2800" dirty="0" smtClean="0"/>
              <a:t>3. </a:t>
            </a:r>
            <a:r>
              <a:rPr lang="cs-CZ" altLang="cs-CZ" sz="2800" dirty="0"/>
              <a:t>použití </a:t>
            </a:r>
            <a:r>
              <a:rPr lang="cs-CZ" altLang="cs-CZ" sz="2800" dirty="0" smtClean="0"/>
              <a:t>výlučných relací</a:t>
            </a:r>
          </a:p>
          <a:p>
            <a:endParaRPr lang="cs-CZ" altLang="cs-CZ" dirty="0"/>
          </a:p>
        </p:txBody>
      </p:sp>
      <p:pic>
        <p:nvPicPr>
          <p:cNvPr id="14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4144" y="2738384"/>
            <a:ext cx="2305050" cy="3276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5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59832" y="2478034"/>
            <a:ext cx="5162550" cy="3648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5036392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810423"/>
          </a:xfrm>
        </p:spPr>
        <p:txBody>
          <a:bodyPr>
            <a:normAutofit/>
          </a:bodyPr>
          <a:lstStyle/>
          <a:p>
            <a:pPr algn="l">
              <a:defRPr/>
            </a:pPr>
            <a:r>
              <a:rPr lang="cs-CZ" sz="3600" dirty="0" smtClean="0"/>
              <a:t>Fyzický návrh databáze</a:t>
            </a:r>
            <a:endParaRPr lang="cs-CZ" sz="3600" dirty="0"/>
          </a:p>
        </p:txBody>
      </p:sp>
      <p:sp>
        <p:nvSpPr>
          <p:cNvPr id="13" name="Zástupný symbol pro obsah 2"/>
          <p:cNvSpPr>
            <a:spLocks noGrp="1"/>
          </p:cNvSpPr>
          <p:nvPr>
            <p:ph idx="1"/>
          </p:nvPr>
        </p:nvSpPr>
        <p:spPr>
          <a:xfrm>
            <a:off x="251520" y="953583"/>
            <a:ext cx="8229600" cy="4909285"/>
          </a:xfrm>
        </p:spPr>
        <p:txBody>
          <a:bodyPr/>
          <a:lstStyle/>
          <a:p>
            <a:pPr>
              <a:defRPr/>
            </a:pPr>
            <a:r>
              <a:rPr lang="cs-CZ" sz="2400" dirty="0"/>
              <a:t>V posledním stádiu (tzv. </a:t>
            </a:r>
            <a:r>
              <a:rPr lang="cs-CZ" sz="2400" b="1" dirty="0"/>
              <a:t>fyzickém návrhu</a:t>
            </a:r>
            <a:r>
              <a:rPr lang="cs-CZ" sz="2400" dirty="0"/>
              <a:t>) se zabýváme pro konkrétní databázový systém přesnou definicí </a:t>
            </a:r>
          </a:p>
          <a:p>
            <a:pPr lvl="1">
              <a:defRPr/>
            </a:pPr>
            <a:r>
              <a:rPr lang="cs-CZ" sz="2000" dirty="0"/>
              <a:t>datových typů jednotlivých atributů, </a:t>
            </a:r>
          </a:p>
          <a:p>
            <a:pPr lvl="1">
              <a:defRPr/>
            </a:pPr>
            <a:r>
              <a:rPr lang="cs-CZ" sz="2000" dirty="0"/>
              <a:t>integritní omezení, </a:t>
            </a:r>
          </a:p>
          <a:p>
            <a:pPr lvl="1">
              <a:defRPr/>
            </a:pPr>
            <a:r>
              <a:rPr lang="cs-CZ" sz="2000" dirty="0"/>
              <a:t>vytváříme indexy pro rychlejší přístup k datům a</a:t>
            </a:r>
          </a:p>
          <a:p>
            <a:pPr lvl="1">
              <a:defRPr/>
            </a:pPr>
            <a:r>
              <a:rPr lang="cs-CZ" sz="2000" dirty="0"/>
              <a:t>provádíme další optimalizace a</a:t>
            </a:r>
          </a:p>
          <a:p>
            <a:pPr lvl="1">
              <a:defRPr/>
            </a:pPr>
            <a:r>
              <a:rPr lang="cs-CZ" sz="2000" dirty="0"/>
              <a:t>definice pravidel bezpečnosti.</a:t>
            </a:r>
          </a:p>
          <a:p>
            <a:endParaRPr lang="cs-CZ" altLang="cs-CZ" dirty="0"/>
          </a:p>
        </p:txBody>
      </p:sp>
    </p:spTree>
    <p:extLst>
      <p:ext uri="{BB962C8B-B14F-4D97-AF65-F5344CB8AC3E}">
        <p14:creationId xmlns:p14="http://schemas.microsoft.com/office/powerpoint/2010/main" val="27682959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810423"/>
          </a:xfrm>
        </p:spPr>
        <p:txBody>
          <a:bodyPr>
            <a:normAutofit/>
          </a:bodyPr>
          <a:lstStyle/>
          <a:p>
            <a:pPr algn="l">
              <a:defRPr/>
            </a:pPr>
            <a:r>
              <a:rPr lang="cs-CZ" sz="3600" dirty="0" smtClean="0"/>
              <a:t>Integrita dat</a:t>
            </a:r>
            <a:endParaRPr lang="cs-CZ" sz="3600" dirty="0"/>
          </a:p>
        </p:txBody>
      </p:sp>
      <p:sp>
        <p:nvSpPr>
          <p:cNvPr id="11" name="Rectangle 3"/>
          <p:cNvSpPr>
            <a:spLocks noChangeArrowheads="1"/>
          </p:cNvSpPr>
          <p:nvPr/>
        </p:nvSpPr>
        <p:spPr bwMode="auto">
          <a:xfrm>
            <a:off x="221541" y="998915"/>
            <a:ext cx="8483823" cy="387798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marL="285750" indent="-285750">
              <a:spcBef>
                <a:spcPct val="0"/>
              </a:spcBef>
            </a:pPr>
            <a:r>
              <a:rPr lang="cs-CZ" altLang="cs-CZ" sz="1800" dirty="0">
                <a:latin typeface="+mj-lt"/>
              </a:rPr>
              <a:t>Integrita dat = fakt, že data věrně (tj. </a:t>
            </a:r>
            <a:r>
              <a:rPr lang="cs-CZ" altLang="cs-CZ" sz="1800" b="1" dirty="0">
                <a:latin typeface="+mj-lt"/>
              </a:rPr>
              <a:t>přesně a konzistentně</a:t>
            </a:r>
            <a:r>
              <a:rPr lang="cs-CZ" altLang="cs-CZ" sz="1800" dirty="0">
                <a:latin typeface="+mj-lt"/>
              </a:rPr>
              <a:t>) zobrazují reálný stav, který popisují.</a:t>
            </a:r>
          </a:p>
          <a:p>
            <a:pPr marL="285750" indent="-285750">
              <a:spcBef>
                <a:spcPct val="0"/>
              </a:spcBef>
            </a:pPr>
            <a:endParaRPr lang="cs-CZ" altLang="cs-CZ" sz="1800" dirty="0">
              <a:latin typeface="+mj-lt"/>
            </a:endParaRPr>
          </a:p>
          <a:p>
            <a:pPr marL="285750" indent="-285750">
              <a:spcBef>
                <a:spcPct val="0"/>
              </a:spcBef>
            </a:pPr>
            <a:r>
              <a:rPr lang="cs-CZ" altLang="cs-CZ" sz="1800" dirty="0">
                <a:latin typeface="+mj-lt"/>
              </a:rPr>
              <a:t>Základním předpokladem je kvalitně navržená datová základna, která omezí duplicity dat (ty jsou vždy vysokým rizikem pro vznik nekonzistencí).</a:t>
            </a:r>
          </a:p>
          <a:p>
            <a:pPr marL="285750" indent="-285750">
              <a:spcBef>
                <a:spcPct val="0"/>
              </a:spcBef>
            </a:pPr>
            <a:endParaRPr lang="cs-CZ" altLang="cs-CZ" sz="1800" dirty="0">
              <a:latin typeface="+mj-lt"/>
            </a:endParaRPr>
          </a:p>
          <a:p>
            <a:pPr marL="285750" indent="-285750">
              <a:spcBef>
                <a:spcPct val="0"/>
              </a:spcBef>
            </a:pPr>
            <a:r>
              <a:rPr lang="cs-CZ" altLang="cs-CZ" sz="1800" dirty="0">
                <a:latin typeface="+mj-lt"/>
              </a:rPr>
              <a:t>Důvody vzniků </a:t>
            </a:r>
            <a:r>
              <a:rPr lang="cs-CZ" altLang="cs-CZ" sz="1800" dirty="0" smtClean="0">
                <a:latin typeface="+mj-lt"/>
              </a:rPr>
              <a:t>nekonzistencí</a:t>
            </a:r>
          </a:p>
          <a:p>
            <a:pPr marL="742950" lvl="1" indent="-285750">
              <a:spcBef>
                <a:spcPct val="0"/>
              </a:spcBef>
            </a:pPr>
            <a:r>
              <a:rPr lang="cs-CZ" altLang="cs-CZ" sz="1400" b="1" dirty="0">
                <a:latin typeface="+mj-lt"/>
              </a:rPr>
              <a:t>nedostatečná aktualizace dat</a:t>
            </a:r>
            <a:r>
              <a:rPr lang="cs-CZ" altLang="cs-CZ" sz="1400" dirty="0">
                <a:latin typeface="+mj-lt"/>
              </a:rPr>
              <a:t> - data se stávají neaktuálními, tj. nelze přidat/zrušit řádek nebo jej </a:t>
            </a:r>
            <a:r>
              <a:rPr lang="cs-CZ" altLang="cs-CZ" sz="1400" dirty="0" smtClean="0">
                <a:latin typeface="+mj-lt"/>
              </a:rPr>
              <a:t>aktualizovat</a:t>
            </a:r>
          </a:p>
          <a:p>
            <a:pPr marL="742950" lvl="1" indent="-285750">
              <a:spcBef>
                <a:spcPct val="0"/>
              </a:spcBef>
            </a:pPr>
            <a:r>
              <a:rPr lang="cs-CZ" altLang="cs-CZ" sz="1400" b="1" dirty="0" smtClean="0">
                <a:latin typeface="+mj-lt"/>
              </a:rPr>
              <a:t>vložení </a:t>
            </a:r>
            <a:r>
              <a:rPr lang="cs-CZ" altLang="cs-CZ" sz="1400" b="1" dirty="0">
                <a:latin typeface="+mj-lt"/>
              </a:rPr>
              <a:t>nesprávných hodnot </a:t>
            </a:r>
            <a:r>
              <a:rPr lang="cs-CZ" altLang="cs-CZ" sz="1400" dirty="0">
                <a:latin typeface="+mj-lt"/>
              </a:rPr>
              <a:t>- vložená data neodpovídají realitě a tím znehodnocují celkovou informační </a:t>
            </a:r>
            <a:r>
              <a:rPr lang="cs-CZ" altLang="cs-CZ" sz="1400" dirty="0" smtClean="0">
                <a:latin typeface="+mj-lt"/>
              </a:rPr>
              <a:t>hodnotu.</a:t>
            </a:r>
          </a:p>
          <a:p>
            <a:pPr marL="742950" lvl="1" indent="-285750">
              <a:spcBef>
                <a:spcPct val="0"/>
              </a:spcBef>
            </a:pPr>
            <a:r>
              <a:rPr lang="cs-CZ" altLang="cs-CZ" sz="1400" b="1" dirty="0">
                <a:latin typeface="+mj-lt"/>
              </a:rPr>
              <a:t>r</a:t>
            </a:r>
            <a:r>
              <a:rPr lang="cs-CZ" altLang="cs-CZ" sz="1400" b="1" dirty="0" smtClean="0">
                <a:latin typeface="+mj-lt"/>
              </a:rPr>
              <a:t>eferenční </a:t>
            </a:r>
            <a:r>
              <a:rPr lang="cs-CZ" altLang="cs-CZ" sz="1400" b="1" dirty="0">
                <a:latin typeface="+mj-lt"/>
              </a:rPr>
              <a:t>integrita </a:t>
            </a:r>
            <a:r>
              <a:rPr lang="cs-CZ" altLang="cs-CZ" sz="1400" dirty="0">
                <a:latin typeface="+mj-lt"/>
              </a:rPr>
              <a:t>- při rušení řádku v jedné tabulce může nastat situace, kdy v jiné tabulce zůstanou informace, které se k tomuto řádku vztahují (odkazují).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endParaRPr lang="cs-CZ" altLang="cs-CZ" sz="1800" dirty="0">
              <a:latin typeface="+mj-lt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endParaRPr lang="cs-CZ" altLang="cs-CZ" sz="1800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24805251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810423"/>
          </a:xfrm>
        </p:spPr>
        <p:txBody>
          <a:bodyPr>
            <a:normAutofit/>
          </a:bodyPr>
          <a:lstStyle/>
          <a:p>
            <a:pPr algn="l">
              <a:defRPr/>
            </a:pPr>
            <a:r>
              <a:rPr lang="cs-CZ" sz="3600" dirty="0" smtClean="0"/>
              <a:t>Zajištění integrity dat</a:t>
            </a:r>
            <a:endParaRPr lang="cs-CZ" sz="3600" dirty="0"/>
          </a:p>
        </p:txBody>
      </p:sp>
      <p:sp>
        <p:nvSpPr>
          <p:cNvPr id="11" name="Rectangle 3"/>
          <p:cNvSpPr>
            <a:spLocks noChangeArrowheads="1"/>
          </p:cNvSpPr>
          <p:nvPr/>
        </p:nvSpPr>
        <p:spPr bwMode="auto">
          <a:xfrm>
            <a:off x="221541" y="998915"/>
            <a:ext cx="8483823" cy="50783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cs-CZ" altLang="cs-CZ" sz="1800" dirty="0">
                <a:latin typeface="+mj-lt"/>
              </a:rPr>
              <a:t>Integrita dat se zajišťuje vytvářením omezení.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endParaRPr lang="cs-CZ" altLang="cs-CZ" sz="1800" dirty="0">
              <a:latin typeface="+mj-lt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cs-CZ" altLang="cs-CZ" sz="1800" b="1" dirty="0">
                <a:latin typeface="+mj-lt"/>
              </a:rPr>
              <a:t>Omezení</a:t>
            </a:r>
            <a:r>
              <a:rPr lang="cs-CZ" altLang="cs-CZ" sz="1800" dirty="0">
                <a:latin typeface="+mj-lt"/>
              </a:rPr>
              <a:t> (</a:t>
            </a:r>
            <a:r>
              <a:rPr lang="cs-CZ" altLang="cs-CZ" sz="1800" dirty="0" err="1">
                <a:latin typeface="+mj-lt"/>
              </a:rPr>
              <a:t>constraint</a:t>
            </a:r>
            <a:r>
              <a:rPr lang="cs-CZ" altLang="cs-CZ" sz="1800" dirty="0">
                <a:latin typeface="+mj-lt"/>
              </a:rPr>
              <a:t>) – objekt v relační databázi, který klade určitá pravidla na vkládaná data do určitého sloupce tabulky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endParaRPr lang="cs-CZ" altLang="cs-CZ" sz="1800" dirty="0">
              <a:latin typeface="+mj-lt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cs-CZ" altLang="cs-CZ" sz="1800" dirty="0">
                <a:latin typeface="+mj-lt"/>
              </a:rPr>
              <a:t>Integritní omezení může být definováno nad jedním nebo více sloupci.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cs-CZ" altLang="cs-CZ" sz="1800" dirty="0">
                <a:latin typeface="+mj-lt"/>
              </a:rPr>
              <a:t>Nad jedním sloupcem/sloupci může být definováno více integritních omezení.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endParaRPr lang="cs-CZ" altLang="cs-CZ" sz="1800" dirty="0">
              <a:latin typeface="+mj-lt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cs-CZ" altLang="cs-CZ" sz="1800" dirty="0">
                <a:latin typeface="+mj-lt"/>
              </a:rPr>
              <a:t>Pro každý sloupec je tedy nezbytné definovat seznam omezení která dovolí, aby mohla být zadávána </a:t>
            </a:r>
            <a:r>
              <a:rPr lang="cs-CZ" altLang="cs-CZ" sz="1800" dirty="0" smtClean="0">
                <a:latin typeface="+mj-lt"/>
              </a:rPr>
              <a:t>data: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endParaRPr lang="cs-CZ" altLang="cs-CZ" sz="1800" dirty="0">
              <a:latin typeface="+mj-lt"/>
            </a:endParaRPr>
          </a:p>
          <a:p>
            <a:pPr eaLnBrk="1" hangingPunct="1">
              <a:spcBef>
                <a:spcPct val="0"/>
              </a:spcBef>
              <a:buFontTx/>
              <a:buChar char="-"/>
            </a:pPr>
            <a:r>
              <a:rPr lang="cs-CZ" altLang="cs-CZ" sz="1800" dirty="0">
                <a:latin typeface="+mj-lt"/>
              </a:rPr>
              <a:t> pouze určitých typů (např. číselná),</a:t>
            </a:r>
          </a:p>
          <a:p>
            <a:pPr eaLnBrk="1" hangingPunct="1">
              <a:spcBef>
                <a:spcPct val="0"/>
              </a:spcBef>
              <a:buFontTx/>
              <a:buChar char="-"/>
            </a:pPr>
            <a:r>
              <a:rPr lang="cs-CZ" altLang="cs-CZ" sz="1800" dirty="0">
                <a:latin typeface="+mj-lt"/>
              </a:rPr>
              <a:t> pouze určitých délek (např. 12 znaků),</a:t>
            </a:r>
          </a:p>
          <a:p>
            <a:pPr eaLnBrk="1" hangingPunct="1">
              <a:spcBef>
                <a:spcPct val="0"/>
              </a:spcBef>
              <a:buFontTx/>
              <a:buChar char="-"/>
            </a:pPr>
            <a:r>
              <a:rPr lang="cs-CZ" altLang="cs-CZ" sz="1800" dirty="0">
                <a:latin typeface="+mj-lt"/>
              </a:rPr>
              <a:t> pouze určitých hodnot (výčet hodnot, interval, …),</a:t>
            </a:r>
          </a:p>
          <a:p>
            <a:pPr eaLnBrk="1" hangingPunct="1">
              <a:spcBef>
                <a:spcPct val="0"/>
              </a:spcBef>
              <a:buFontTx/>
              <a:buChar char="-"/>
            </a:pPr>
            <a:r>
              <a:rPr lang="cs-CZ" altLang="cs-CZ" sz="1800" dirty="0">
                <a:latin typeface="+mj-lt"/>
              </a:rPr>
              <a:t> jedinečná v rámci tabulky,</a:t>
            </a:r>
          </a:p>
          <a:p>
            <a:pPr eaLnBrk="1" hangingPunct="1">
              <a:spcBef>
                <a:spcPct val="0"/>
              </a:spcBef>
              <a:buFontTx/>
              <a:buChar char="-"/>
            </a:pPr>
            <a:r>
              <a:rPr lang="cs-CZ" altLang="cs-CZ" sz="1800" dirty="0">
                <a:latin typeface="+mj-lt"/>
              </a:rPr>
              <a:t> odkazující na jinou tabulku,</a:t>
            </a:r>
          </a:p>
          <a:p>
            <a:pPr eaLnBrk="1" hangingPunct="1">
              <a:spcBef>
                <a:spcPct val="0"/>
              </a:spcBef>
              <a:buFontTx/>
              <a:buChar char="-"/>
            </a:pPr>
            <a:r>
              <a:rPr lang="cs-CZ" altLang="cs-CZ" sz="1800" dirty="0">
                <a:latin typeface="+mj-lt"/>
              </a:rPr>
              <a:t> uvedená (NOT NULL).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endParaRPr lang="cs-CZ" altLang="cs-CZ" sz="1800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5776562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810423"/>
          </a:xfrm>
        </p:spPr>
        <p:txBody>
          <a:bodyPr>
            <a:normAutofit/>
          </a:bodyPr>
          <a:lstStyle/>
          <a:p>
            <a:pPr algn="l">
              <a:defRPr/>
            </a:pPr>
            <a:r>
              <a:rPr lang="cs-CZ" sz="3600" dirty="0" smtClean="0"/>
              <a:t>Zajištění integrity dat</a:t>
            </a:r>
            <a:endParaRPr lang="cs-CZ" sz="3600" dirty="0"/>
          </a:p>
        </p:txBody>
      </p:sp>
      <p:sp>
        <p:nvSpPr>
          <p:cNvPr id="11" name="Rectangle 3"/>
          <p:cNvSpPr>
            <a:spLocks noChangeArrowheads="1"/>
          </p:cNvSpPr>
          <p:nvPr/>
        </p:nvSpPr>
        <p:spPr bwMode="auto">
          <a:xfrm>
            <a:off x="221541" y="998915"/>
            <a:ext cx="8483823" cy="397031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cs-CZ" altLang="cs-CZ" sz="1800" dirty="0">
                <a:latin typeface="+mj-lt"/>
              </a:rPr>
              <a:t>Realizace omezení:</a:t>
            </a:r>
          </a:p>
          <a:p>
            <a:pPr eaLnBrk="1" hangingPunct="1">
              <a:spcBef>
                <a:spcPct val="0"/>
              </a:spcBef>
              <a:buFontTx/>
              <a:buChar char="-"/>
            </a:pPr>
            <a:endParaRPr lang="cs-CZ" altLang="cs-CZ" sz="1800" dirty="0">
              <a:latin typeface="+mj-lt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cs-CZ" altLang="cs-CZ" sz="1800" dirty="0">
                <a:latin typeface="+mj-lt"/>
              </a:rPr>
              <a:t>1) Volba správného </a:t>
            </a:r>
            <a:r>
              <a:rPr lang="cs-CZ" altLang="cs-CZ" sz="1800" b="1" dirty="0">
                <a:latin typeface="+mj-lt"/>
              </a:rPr>
              <a:t>datového typu </a:t>
            </a:r>
            <a:r>
              <a:rPr lang="cs-CZ" altLang="cs-CZ" sz="1800" dirty="0">
                <a:latin typeface="+mj-lt"/>
              </a:rPr>
              <a:t>sloupce řeší omezení</a:t>
            </a:r>
          </a:p>
          <a:p>
            <a:pPr eaLnBrk="1" hangingPunct="1">
              <a:spcBef>
                <a:spcPct val="0"/>
              </a:spcBef>
              <a:buFontTx/>
              <a:buChar char="-"/>
            </a:pPr>
            <a:r>
              <a:rPr lang="cs-CZ" altLang="cs-CZ" sz="1800" dirty="0">
                <a:latin typeface="+mj-lt"/>
              </a:rPr>
              <a:t> pouze určitých typů (např. číselná)</a:t>
            </a:r>
          </a:p>
          <a:p>
            <a:pPr eaLnBrk="1" hangingPunct="1">
              <a:spcBef>
                <a:spcPct val="0"/>
              </a:spcBef>
              <a:buFontTx/>
              <a:buChar char="-"/>
            </a:pPr>
            <a:r>
              <a:rPr lang="cs-CZ" altLang="cs-CZ" sz="1800" dirty="0">
                <a:latin typeface="+mj-lt"/>
              </a:rPr>
              <a:t> pouze určitých délek (např. 12 znaků)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cs-CZ" altLang="cs-CZ" sz="1800" dirty="0">
                <a:latin typeface="+mj-lt"/>
              </a:rPr>
              <a:t>2) Kontrola vztahů s jinou tabulkou se řeší použitím cizích klíčů </a:t>
            </a:r>
            <a:br>
              <a:rPr lang="cs-CZ" altLang="cs-CZ" sz="1800" dirty="0">
                <a:latin typeface="+mj-lt"/>
              </a:rPr>
            </a:br>
            <a:r>
              <a:rPr lang="cs-CZ" altLang="cs-CZ" sz="1800" dirty="0">
                <a:latin typeface="+mj-lt"/>
              </a:rPr>
              <a:t>(</a:t>
            </a:r>
            <a:r>
              <a:rPr lang="cs-CZ" altLang="cs-CZ" sz="1800" b="1" dirty="0">
                <a:latin typeface="+mj-lt"/>
              </a:rPr>
              <a:t>FOREIGN KEY</a:t>
            </a:r>
            <a:r>
              <a:rPr lang="cs-CZ" altLang="cs-CZ" sz="1800" dirty="0">
                <a:latin typeface="+mj-lt"/>
              </a:rPr>
              <a:t>), které se odkazují na primární sloupec v odkazované tabulce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cs-CZ" altLang="cs-CZ" sz="1800" dirty="0">
                <a:latin typeface="+mj-lt"/>
              </a:rPr>
              <a:t>3) Kontrola jedinečnosti </a:t>
            </a:r>
            <a:r>
              <a:rPr lang="cs-CZ" altLang="cs-CZ" sz="1800" b="1" dirty="0">
                <a:latin typeface="+mj-lt"/>
              </a:rPr>
              <a:t>UNIQUE</a:t>
            </a:r>
          </a:p>
          <a:p>
            <a:pPr eaLnBrk="1" hangingPunct="1">
              <a:spcBef>
                <a:spcPct val="0"/>
              </a:spcBef>
              <a:buNone/>
            </a:pPr>
            <a:r>
              <a:rPr lang="cs-CZ" altLang="cs-CZ" sz="1800" dirty="0">
                <a:latin typeface="+mj-lt"/>
              </a:rPr>
              <a:t>4) Kontrola uvedení dat </a:t>
            </a:r>
            <a:r>
              <a:rPr lang="cs-CZ" altLang="cs-CZ" sz="1800" b="1" dirty="0">
                <a:latin typeface="+mj-lt"/>
              </a:rPr>
              <a:t>NOT NULL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cs-CZ" altLang="cs-CZ" sz="1800" dirty="0">
                <a:latin typeface="+mj-lt"/>
              </a:rPr>
              <a:t>5) Jednoznačná identifikace řádku v tabulce pomocí primárního klíče </a:t>
            </a:r>
            <a:r>
              <a:rPr lang="cs-CZ" altLang="cs-CZ" sz="1800" b="1" dirty="0">
                <a:latin typeface="+mj-lt"/>
              </a:rPr>
              <a:t>PRIMARY KEY</a:t>
            </a:r>
            <a:r>
              <a:rPr lang="cs-CZ" altLang="cs-CZ" sz="1800" dirty="0">
                <a:latin typeface="+mj-lt"/>
              </a:rPr>
              <a:t> – tj. omezení </a:t>
            </a:r>
            <a:r>
              <a:rPr lang="cs-CZ" altLang="cs-CZ" sz="1800" b="1" dirty="0">
                <a:latin typeface="+mj-lt"/>
              </a:rPr>
              <a:t>UNIQUE</a:t>
            </a:r>
            <a:r>
              <a:rPr lang="cs-CZ" altLang="cs-CZ" sz="1800" dirty="0">
                <a:latin typeface="+mj-lt"/>
              </a:rPr>
              <a:t> a </a:t>
            </a:r>
            <a:r>
              <a:rPr lang="cs-CZ" altLang="cs-CZ" sz="1800" b="1" dirty="0">
                <a:latin typeface="+mj-lt"/>
              </a:rPr>
              <a:t>NOT NULL </a:t>
            </a:r>
            <a:r>
              <a:rPr lang="cs-CZ" altLang="cs-CZ" sz="1800" dirty="0">
                <a:latin typeface="+mj-lt"/>
              </a:rPr>
              <a:t>současně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cs-CZ" altLang="cs-CZ" sz="1800" dirty="0">
                <a:latin typeface="+mj-lt"/>
              </a:rPr>
              <a:t>5) Kontrola vkládaných hodnot klauzulí </a:t>
            </a:r>
            <a:r>
              <a:rPr lang="cs-CZ" altLang="cs-CZ" sz="1800" b="1" dirty="0">
                <a:latin typeface="+mj-lt"/>
              </a:rPr>
              <a:t>CHECK</a:t>
            </a:r>
          </a:p>
          <a:p>
            <a:pPr eaLnBrk="1" hangingPunct="1">
              <a:spcBef>
                <a:spcPct val="0"/>
              </a:spcBef>
              <a:buNone/>
            </a:pPr>
            <a:r>
              <a:rPr lang="cs-CZ" altLang="cs-CZ" sz="1800" dirty="0">
                <a:latin typeface="+mj-lt"/>
              </a:rPr>
              <a:t>6) Integrita s využitím </a:t>
            </a:r>
            <a:r>
              <a:rPr lang="cs-CZ" altLang="cs-CZ" sz="1800" dirty="0" err="1">
                <a:latin typeface="+mj-lt"/>
              </a:rPr>
              <a:t>triggerů</a:t>
            </a:r>
            <a:endParaRPr lang="cs-CZ" altLang="cs-CZ" sz="1800" dirty="0">
              <a:latin typeface="+mj-lt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endParaRPr lang="cs-CZ" altLang="cs-CZ" sz="1800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22740137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810423"/>
          </a:xfrm>
        </p:spPr>
        <p:txBody>
          <a:bodyPr>
            <a:normAutofit/>
          </a:bodyPr>
          <a:lstStyle/>
          <a:p>
            <a:pPr algn="l">
              <a:defRPr/>
            </a:pPr>
            <a:r>
              <a:rPr lang="cs-CZ" sz="3600" dirty="0" smtClean="0"/>
              <a:t>Správa omezení</a:t>
            </a:r>
            <a:endParaRPr lang="cs-CZ" sz="3600" dirty="0"/>
          </a:p>
        </p:txBody>
      </p:sp>
      <p:sp>
        <p:nvSpPr>
          <p:cNvPr id="11" name="Rectangle 3"/>
          <p:cNvSpPr>
            <a:spLocks noChangeArrowheads="1"/>
          </p:cNvSpPr>
          <p:nvPr/>
        </p:nvSpPr>
        <p:spPr bwMode="auto">
          <a:xfrm>
            <a:off x="221541" y="998915"/>
            <a:ext cx="8483823" cy="31393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cs-CZ" altLang="cs-CZ" sz="1800" dirty="0">
                <a:latin typeface="+mj-lt"/>
              </a:rPr>
              <a:t>Realizace omezení</a:t>
            </a:r>
          </a:p>
          <a:p>
            <a:pPr eaLnBrk="1" hangingPunct="1">
              <a:spcBef>
                <a:spcPct val="0"/>
              </a:spcBef>
              <a:buFontTx/>
              <a:buChar char="-"/>
            </a:pPr>
            <a:r>
              <a:rPr lang="cs-CZ" altLang="cs-CZ" sz="1800" dirty="0">
                <a:latin typeface="+mj-lt"/>
              </a:rPr>
              <a:t> Při vytváření tabulky příkazem CREATE TABLE</a:t>
            </a:r>
          </a:p>
          <a:p>
            <a:pPr eaLnBrk="1" hangingPunct="1">
              <a:spcBef>
                <a:spcPct val="0"/>
              </a:spcBef>
              <a:buFontTx/>
              <a:buChar char="-"/>
            </a:pPr>
            <a:r>
              <a:rPr lang="cs-CZ" altLang="cs-CZ" sz="1800" dirty="0">
                <a:latin typeface="+mj-lt"/>
              </a:rPr>
              <a:t> úpravou struktury tabulky příkazem ALTER TABLE</a:t>
            </a:r>
          </a:p>
          <a:p>
            <a:pPr eaLnBrk="1" hangingPunct="1">
              <a:spcBef>
                <a:spcPct val="0"/>
              </a:spcBef>
              <a:buFontTx/>
              <a:buChar char="-"/>
            </a:pPr>
            <a:endParaRPr lang="cs-CZ" altLang="cs-CZ" sz="1800" dirty="0">
              <a:latin typeface="+mj-lt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cs-CZ" altLang="cs-CZ" sz="1800" dirty="0">
                <a:latin typeface="+mj-lt"/>
              </a:rPr>
              <a:t>Nutno dodržet správné pořadí, tj. například před použitím cizího klíče musí být definován primární klíč v tabulce, na níž se odkazuje.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endParaRPr lang="cs-CZ" altLang="cs-CZ" sz="1800" dirty="0">
              <a:latin typeface="+mj-lt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cs-CZ" altLang="cs-CZ" sz="1800" dirty="0">
                <a:latin typeface="+mj-lt"/>
              </a:rPr>
              <a:t>Totéž platí pro příkazy DROP TABLE a podobně.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endParaRPr lang="cs-CZ" altLang="cs-CZ" sz="1800" dirty="0">
              <a:latin typeface="+mj-lt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cs-CZ" altLang="cs-CZ" sz="1800" dirty="0">
                <a:latin typeface="+mj-lt"/>
              </a:rPr>
              <a:t>Stejný typ se týká i dat – nejdříve musí existovat řádek v tabulce rodičů a teprve poté je možné vložit/upravit řádek v tabulce potomků.</a:t>
            </a:r>
          </a:p>
        </p:txBody>
      </p:sp>
    </p:spTree>
    <p:extLst>
      <p:ext uri="{BB962C8B-B14F-4D97-AF65-F5344CB8AC3E}">
        <p14:creationId xmlns:p14="http://schemas.microsoft.com/office/powerpoint/2010/main" val="24218911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810423"/>
          </a:xfrm>
        </p:spPr>
        <p:txBody>
          <a:bodyPr>
            <a:normAutofit/>
          </a:bodyPr>
          <a:lstStyle/>
          <a:p>
            <a:pPr algn="l">
              <a:defRPr/>
            </a:pPr>
            <a:r>
              <a:rPr lang="cs-CZ" sz="3600" dirty="0" smtClean="0"/>
              <a:t>Databáze nikoli výpis dat</a:t>
            </a:r>
            <a:endParaRPr lang="cs-CZ" sz="3600" dirty="0"/>
          </a:p>
        </p:txBody>
      </p:sp>
      <p:sp>
        <p:nvSpPr>
          <p:cNvPr id="11" name="Rectangle 3"/>
          <p:cNvSpPr>
            <a:spLocks noChangeArrowheads="1"/>
          </p:cNvSpPr>
          <p:nvPr/>
        </p:nvSpPr>
        <p:spPr bwMode="auto">
          <a:xfrm>
            <a:off x="221541" y="998915"/>
            <a:ext cx="8483823" cy="424731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cs-CZ" altLang="cs-CZ" sz="1800" dirty="0">
                <a:latin typeface="+mj-lt"/>
              </a:rPr>
              <a:t>Někteří návrháři nepoužívají omezení na úrovni tabulek, ale snaží se ošetřit integritní omezení na úrovni aplikace. Vede je k tomu pocit, že např. cizí klíče zpomalují práci s databází.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endParaRPr lang="cs-CZ" altLang="cs-CZ" sz="1800" dirty="0">
              <a:latin typeface="+mj-lt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cs-CZ" altLang="cs-CZ" sz="1800" b="1" dirty="0">
                <a:latin typeface="+mj-lt"/>
              </a:rPr>
              <a:t>Argumenty na implementaci přímo v databázovém řešení</a:t>
            </a:r>
            <a:r>
              <a:rPr lang="cs-CZ" altLang="cs-CZ" sz="1800" dirty="0">
                <a:latin typeface="+mj-lt"/>
              </a:rPr>
              <a:t> jsou</a:t>
            </a:r>
            <a:r>
              <a:rPr lang="cs-CZ" altLang="cs-CZ" sz="1800" dirty="0" smtClean="0">
                <a:latin typeface="+mj-lt"/>
              </a:rPr>
              <a:t>: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endParaRPr lang="cs-CZ" altLang="cs-CZ" sz="1800" dirty="0">
              <a:latin typeface="+mj-lt"/>
            </a:endParaRPr>
          </a:p>
          <a:p>
            <a:pPr marL="285750" indent="-285750">
              <a:spcBef>
                <a:spcPct val="0"/>
              </a:spcBef>
            </a:pPr>
            <a:r>
              <a:rPr lang="cs-CZ" altLang="cs-CZ" sz="1800" b="1" dirty="0" smtClean="0">
                <a:latin typeface="+mj-lt"/>
              </a:rPr>
              <a:t>Nemusí </a:t>
            </a:r>
            <a:r>
              <a:rPr lang="cs-CZ" altLang="cs-CZ" sz="1800" b="1" dirty="0">
                <a:latin typeface="+mj-lt"/>
              </a:rPr>
              <a:t>jít o jedinou aplikaci</a:t>
            </a:r>
            <a:r>
              <a:rPr lang="cs-CZ" altLang="cs-CZ" sz="1800" dirty="0">
                <a:latin typeface="+mj-lt"/>
              </a:rPr>
              <a:t>, která bude přistupovat k datům, zejména s časem přibývá dalších aplikací pracujících se stejnými </a:t>
            </a:r>
            <a:r>
              <a:rPr lang="cs-CZ" altLang="cs-CZ" sz="1800" dirty="0" smtClean="0">
                <a:latin typeface="+mj-lt"/>
              </a:rPr>
              <a:t>daty.</a:t>
            </a:r>
            <a:endParaRPr lang="cs-CZ" altLang="cs-CZ" sz="1800" dirty="0">
              <a:latin typeface="+mj-lt"/>
            </a:endParaRPr>
          </a:p>
          <a:p>
            <a:pPr marL="285750" indent="-285750">
              <a:spcBef>
                <a:spcPct val="0"/>
              </a:spcBef>
            </a:pPr>
            <a:r>
              <a:rPr lang="cs-CZ" altLang="cs-CZ" sz="1800" b="1" dirty="0" smtClean="0">
                <a:latin typeface="+mj-lt"/>
              </a:rPr>
              <a:t>Celková </a:t>
            </a:r>
            <a:r>
              <a:rPr lang="cs-CZ" altLang="cs-CZ" sz="1800" b="1" dirty="0">
                <a:latin typeface="+mj-lt"/>
              </a:rPr>
              <a:t>doba odezvy se nezrychlí</a:t>
            </a:r>
            <a:r>
              <a:rPr lang="cs-CZ" altLang="cs-CZ" sz="1800" dirty="0">
                <a:latin typeface="+mj-lt"/>
              </a:rPr>
              <a:t>, neboť kontrola bude probíhat na straně aplikace (to může vyžadovat ukládání informací do </a:t>
            </a:r>
            <a:r>
              <a:rPr lang="cs-CZ" altLang="cs-CZ" sz="1800" dirty="0" err="1">
                <a:latin typeface="+mj-lt"/>
              </a:rPr>
              <a:t>mezipaměti</a:t>
            </a:r>
            <a:r>
              <a:rPr lang="cs-CZ" altLang="cs-CZ" sz="1800" dirty="0">
                <a:latin typeface="+mj-lt"/>
              </a:rPr>
              <a:t>, generování dalších dotazů pro kontrolu integrity a podobně</a:t>
            </a:r>
            <a:r>
              <a:rPr lang="cs-CZ" altLang="cs-CZ" sz="1800" dirty="0" smtClean="0">
                <a:latin typeface="+mj-lt"/>
              </a:rPr>
              <a:t>).</a:t>
            </a:r>
            <a:endParaRPr lang="cs-CZ" altLang="cs-CZ" sz="1800" dirty="0">
              <a:latin typeface="+mj-lt"/>
            </a:endParaRPr>
          </a:p>
          <a:p>
            <a:pPr marL="285750" indent="-285750">
              <a:spcBef>
                <a:spcPct val="0"/>
              </a:spcBef>
            </a:pPr>
            <a:r>
              <a:rPr lang="cs-CZ" altLang="cs-CZ" sz="1800" b="1" dirty="0" smtClean="0">
                <a:latin typeface="+mj-lt"/>
              </a:rPr>
              <a:t>Řešení </a:t>
            </a:r>
            <a:r>
              <a:rPr lang="cs-CZ" altLang="cs-CZ" sz="1800" b="1" dirty="0">
                <a:latin typeface="+mj-lt"/>
              </a:rPr>
              <a:t>je rychlejší a stabilnější</a:t>
            </a:r>
            <a:r>
              <a:rPr lang="cs-CZ" altLang="cs-CZ" sz="1800" dirty="0">
                <a:latin typeface="+mj-lt"/>
              </a:rPr>
              <a:t>, stejně tak případná úprava těchto </a:t>
            </a:r>
            <a:r>
              <a:rPr lang="cs-CZ" altLang="cs-CZ" sz="1800" dirty="0" smtClean="0">
                <a:latin typeface="+mj-lt"/>
              </a:rPr>
              <a:t>omezení.</a:t>
            </a:r>
            <a:endParaRPr lang="cs-CZ" altLang="cs-CZ" sz="1800" dirty="0">
              <a:latin typeface="+mj-lt"/>
            </a:endParaRPr>
          </a:p>
          <a:p>
            <a:pPr marL="285750" indent="-285750">
              <a:spcBef>
                <a:spcPct val="0"/>
              </a:spcBef>
            </a:pPr>
            <a:r>
              <a:rPr lang="cs-CZ" altLang="cs-CZ" sz="1800" b="1" dirty="0">
                <a:latin typeface="+mj-lt"/>
              </a:rPr>
              <a:t>S</a:t>
            </a:r>
            <a:r>
              <a:rPr lang="cs-CZ" altLang="cs-CZ" sz="1800" b="1" dirty="0" smtClean="0">
                <a:latin typeface="+mj-lt"/>
              </a:rPr>
              <a:t>práva </a:t>
            </a:r>
            <a:r>
              <a:rPr lang="cs-CZ" altLang="cs-CZ" sz="1800" b="1" dirty="0">
                <a:latin typeface="+mj-lt"/>
              </a:rPr>
              <a:t>integrity v aplikaci vyžaduje vytvoření řádově daleko většího množství kódu </a:t>
            </a:r>
            <a:r>
              <a:rPr lang="cs-CZ" altLang="cs-CZ" sz="1800" dirty="0">
                <a:latin typeface="+mj-lt"/>
              </a:rPr>
              <a:t>(s čímž roste i riziko více chyb</a:t>
            </a:r>
            <a:r>
              <a:rPr lang="cs-CZ" altLang="cs-CZ" sz="1800" dirty="0" smtClean="0">
                <a:latin typeface="+mj-lt"/>
              </a:rPr>
              <a:t>).</a:t>
            </a:r>
            <a:endParaRPr lang="cs-CZ" altLang="cs-CZ" sz="1800" dirty="0">
              <a:latin typeface="+mj-lt"/>
            </a:endParaRPr>
          </a:p>
          <a:p>
            <a:pPr marL="285750" indent="-285750">
              <a:spcBef>
                <a:spcPct val="0"/>
              </a:spcBef>
            </a:pPr>
            <a:r>
              <a:rPr lang="cs-CZ" altLang="cs-CZ" sz="1800" dirty="0" smtClean="0">
                <a:latin typeface="+mj-lt"/>
              </a:rPr>
              <a:t>Databázový </a:t>
            </a:r>
            <a:r>
              <a:rPr lang="cs-CZ" altLang="cs-CZ" sz="1800" dirty="0">
                <a:latin typeface="+mj-lt"/>
              </a:rPr>
              <a:t>systém je více </a:t>
            </a:r>
            <a:r>
              <a:rPr lang="cs-CZ" altLang="cs-CZ" sz="1800" b="1" dirty="0" err="1" smtClean="0">
                <a:latin typeface="+mj-lt"/>
              </a:rPr>
              <a:t>samodokumentujícím</a:t>
            </a:r>
            <a:r>
              <a:rPr lang="cs-CZ" altLang="cs-CZ" sz="1800" b="1" dirty="0" smtClean="0">
                <a:latin typeface="+mj-lt"/>
              </a:rPr>
              <a:t>.</a:t>
            </a:r>
            <a:endParaRPr lang="cs-CZ" altLang="cs-CZ" sz="1800" b="1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10598043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810423"/>
          </a:xfrm>
        </p:spPr>
        <p:txBody>
          <a:bodyPr>
            <a:normAutofit/>
          </a:bodyPr>
          <a:lstStyle/>
          <a:p>
            <a:pPr algn="l">
              <a:defRPr/>
            </a:pPr>
            <a:r>
              <a:rPr lang="cs-CZ" sz="3600" dirty="0" smtClean="0"/>
              <a:t>Databáze nikoli výpis dat</a:t>
            </a:r>
            <a:endParaRPr lang="cs-CZ" sz="3600" dirty="0"/>
          </a:p>
        </p:txBody>
      </p:sp>
      <p:sp>
        <p:nvSpPr>
          <p:cNvPr id="11" name="Rectangle 3"/>
          <p:cNvSpPr>
            <a:spLocks noChangeArrowheads="1"/>
          </p:cNvSpPr>
          <p:nvPr/>
        </p:nvSpPr>
        <p:spPr bwMode="auto">
          <a:xfrm>
            <a:off x="221541" y="1124744"/>
            <a:ext cx="8483823" cy="36009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cs-CZ" altLang="cs-CZ" sz="2200" dirty="0">
                <a:latin typeface="+mj-lt"/>
              </a:rPr>
              <a:t>Kontrola integrity dat na straně klienta může být vhodným </a:t>
            </a:r>
            <a:r>
              <a:rPr lang="cs-CZ" altLang="cs-CZ" sz="2200" b="1" dirty="0">
                <a:latin typeface="+mj-lt"/>
              </a:rPr>
              <a:t>doplněním</a:t>
            </a:r>
            <a:r>
              <a:rPr lang="cs-CZ" altLang="cs-CZ" sz="2200" dirty="0">
                <a:latin typeface="+mj-lt"/>
              </a:rPr>
              <a:t> (nikoli nahrazením) integritních omezení, prováděných na serveru.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endParaRPr lang="cs-CZ" altLang="cs-CZ" sz="2200" dirty="0">
              <a:latin typeface="+mj-lt"/>
            </a:endParaRPr>
          </a:p>
          <a:p>
            <a:pPr eaLnBrk="1" hangingPunct="1">
              <a:spcBef>
                <a:spcPct val="0"/>
              </a:spcBef>
              <a:spcAft>
                <a:spcPts val="1200"/>
              </a:spcAft>
              <a:buFontTx/>
              <a:buNone/>
            </a:pPr>
            <a:r>
              <a:rPr lang="cs-CZ" altLang="cs-CZ" sz="2200" dirty="0">
                <a:latin typeface="+mj-lt"/>
              </a:rPr>
              <a:t>Důvodem může být</a:t>
            </a:r>
          </a:p>
          <a:p>
            <a:pPr marL="342900" indent="-342900">
              <a:spcBef>
                <a:spcPct val="0"/>
              </a:spcBef>
              <a:spcAft>
                <a:spcPts val="1200"/>
              </a:spcAft>
            </a:pPr>
            <a:r>
              <a:rPr lang="cs-CZ" altLang="cs-CZ" sz="2200" dirty="0" smtClean="0">
                <a:latin typeface="+mj-lt"/>
              </a:rPr>
              <a:t>Lepší </a:t>
            </a:r>
            <a:r>
              <a:rPr lang="cs-CZ" altLang="cs-CZ" sz="2200" dirty="0">
                <a:latin typeface="+mj-lt"/>
              </a:rPr>
              <a:t>dojem uživatele (data jsou kontrolována již v okamžiku psaní, nikoli až po odeslání</a:t>
            </a:r>
            <a:r>
              <a:rPr lang="cs-CZ" altLang="cs-CZ" sz="2200" dirty="0" smtClean="0">
                <a:latin typeface="+mj-lt"/>
              </a:rPr>
              <a:t>).</a:t>
            </a:r>
            <a:endParaRPr lang="cs-CZ" altLang="cs-CZ" sz="2200" dirty="0">
              <a:latin typeface="+mj-lt"/>
            </a:endParaRPr>
          </a:p>
          <a:p>
            <a:pPr marL="342900" indent="-342900">
              <a:spcBef>
                <a:spcPct val="0"/>
              </a:spcBef>
              <a:spcAft>
                <a:spcPts val="1200"/>
              </a:spcAft>
            </a:pPr>
            <a:r>
              <a:rPr lang="cs-CZ" altLang="cs-CZ" sz="2200" dirty="0" smtClean="0">
                <a:latin typeface="+mj-lt"/>
              </a:rPr>
              <a:t>Omezení </a:t>
            </a:r>
            <a:r>
              <a:rPr lang="cs-CZ" altLang="cs-CZ" sz="2200" dirty="0">
                <a:latin typeface="+mj-lt"/>
              </a:rPr>
              <a:t>práce serveru (není kontrolován balast od uživatelů</a:t>
            </a:r>
            <a:r>
              <a:rPr lang="cs-CZ" altLang="cs-CZ" sz="2200" dirty="0" smtClean="0">
                <a:latin typeface="+mj-lt"/>
              </a:rPr>
              <a:t>).</a:t>
            </a:r>
            <a:endParaRPr lang="cs-CZ" altLang="cs-CZ" sz="2200" dirty="0">
              <a:latin typeface="+mj-lt"/>
            </a:endParaRPr>
          </a:p>
          <a:p>
            <a:pPr marL="342900" indent="-342900">
              <a:spcBef>
                <a:spcPct val="0"/>
              </a:spcBef>
              <a:spcAft>
                <a:spcPts val="1200"/>
              </a:spcAft>
            </a:pPr>
            <a:r>
              <a:rPr lang="cs-CZ" altLang="cs-CZ" sz="2200" dirty="0" smtClean="0">
                <a:latin typeface="+mj-lt"/>
              </a:rPr>
              <a:t>Nedostatkem </a:t>
            </a:r>
            <a:r>
              <a:rPr lang="cs-CZ" altLang="cs-CZ" sz="2200" dirty="0">
                <a:latin typeface="+mj-lt"/>
              </a:rPr>
              <a:t>dvojí kontroly je pak nutnost zachovat soulad mezi oběma omezeními (tj. dobrá správa konfigurací</a:t>
            </a:r>
            <a:r>
              <a:rPr lang="cs-CZ" altLang="cs-CZ" sz="2200" dirty="0" smtClean="0">
                <a:latin typeface="+mj-lt"/>
              </a:rPr>
              <a:t>).</a:t>
            </a:r>
            <a:endParaRPr lang="cs-CZ" altLang="cs-CZ" sz="2200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22054888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1" name="Rectangle 3"/>
          <p:cNvSpPr>
            <a:spLocks noChangeArrowheads="1"/>
          </p:cNvSpPr>
          <p:nvPr/>
        </p:nvSpPr>
        <p:spPr bwMode="auto">
          <a:xfrm>
            <a:off x="107504" y="1196752"/>
            <a:ext cx="8353425" cy="563231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marL="285750" indent="-285750">
              <a:spcBef>
                <a:spcPct val="0"/>
              </a:spcBef>
            </a:pPr>
            <a:r>
              <a:rPr lang="cs-CZ" altLang="cs-CZ" sz="2000" dirty="0">
                <a:latin typeface="+mj-lt"/>
              </a:rPr>
              <a:t>1974-75 výzkum v IBM ohledně možnosti využití relačních databází -</a:t>
            </a:r>
            <a:r>
              <a:rPr lang="en-US" altLang="cs-CZ" sz="2000" dirty="0">
                <a:latin typeface="+mj-lt"/>
              </a:rPr>
              <a:t>&gt; </a:t>
            </a:r>
            <a:r>
              <a:rPr lang="cs-CZ" altLang="cs-CZ" sz="2000" dirty="0">
                <a:latin typeface="+mj-lt"/>
              </a:rPr>
              <a:t>vytvoření sady příkazů -</a:t>
            </a:r>
            <a:r>
              <a:rPr lang="en-US" altLang="cs-CZ" sz="2000" dirty="0">
                <a:latin typeface="+mj-lt"/>
              </a:rPr>
              <a:t>&gt;</a:t>
            </a:r>
            <a:r>
              <a:rPr lang="cs-CZ" altLang="cs-CZ" sz="2000" dirty="0">
                <a:latin typeface="+mj-lt"/>
              </a:rPr>
              <a:t> jazyk SEQUEL (</a:t>
            </a:r>
            <a:r>
              <a:rPr lang="cs-CZ" altLang="cs-CZ" sz="2000" dirty="0" err="1">
                <a:latin typeface="+mj-lt"/>
              </a:rPr>
              <a:t>Structured</a:t>
            </a:r>
            <a:r>
              <a:rPr lang="cs-CZ" altLang="cs-CZ" sz="2000" dirty="0">
                <a:latin typeface="+mj-lt"/>
              </a:rPr>
              <a:t> </a:t>
            </a:r>
            <a:r>
              <a:rPr lang="cs-CZ" altLang="cs-CZ" sz="2000" dirty="0" err="1">
                <a:latin typeface="+mj-lt"/>
              </a:rPr>
              <a:t>English</a:t>
            </a:r>
            <a:r>
              <a:rPr lang="cs-CZ" altLang="cs-CZ" sz="2000" dirty="0">
                <a:latin typeface="+mj-lt"/>
              </a:rPr>
              <a:t> </a:t>
            </a:r>
            <a:r>
              <a:rPr lang="cs-CZ" altLang="cs-CZ" sz="2000" dirty="0" err="1">
                <a:latin typeface="+mj-lt"/>
              </a:rPr>
              <a:t>Query</a:t>
            </a:r>
            <a:r>
              <a:rPr lang="cs-CZ" altLang="cs-CZ" sz="2000" dirty="0">
                <a:latin typeface="+mj-lt"/>
              </a:rPr>
              <a:t> </a:t>
            </a:r>
            <a:r>
              <a:rPr lang="cs-CZ" altLang="cs-CZ" sz="2000" dirty="0" err="1">
                <a:latin typeface="+mj-lt"/>
              </a:rPr>
              <a:t>Language</a:t>
            </a:r>
            <a:r>
              <a:rPr lang="cs-CZ" altLang="cs-CZ" sz="2000" dirty="0">
                <a:latin typeface="+mj-lt"/>
              </a:rPr>
              <a:t>)</a:t>
            </a:r>
          </a:p>
          <a:p>
            <a:pPr marL="285750" indent="-285750">
              <a:spcBef>
                <a:spcPct val="0"/>
              </a:spcBef>
            </a:pPr>
            <a:r>
              <a:rPr lang="cs-CZ" altLang="cs-CZ" sz="2000" dirty="0">
                <a:latin typeface="+mj-lt"/>
              </a:rPr>
              <a:t>1979 </a:t>
            </a:r>
            <a:r>
              <a:rPr lang="cs-CZ" altLang="cs-CZ" sz="2000" dirty="0" err="1">
                <a:latin typeface="+mj-lt"/>
              </a:rPr>
              <a:t>Relational</a:t>
            </a:r>
            <a:r>
              <a:rPr lang="cs-CZ" altLang="cs-CZ" sz="2000" dirty="0">
                <a:latin typeface="+mj-lt"/>
              </a:rPr>
              <a:t> Software (dnes Oracle </a:t>
            </a:r>
            <a:r>
              <a:rPr lang="cs-CZ" altLang="cs-CZ" sz="2000" dirty="0" err="1">
                <a:latin typeface="+mj-lt"/>
              </a:rPr>
              <a:t>Corporation</a:t>
            </a:r>
            <a:r>
              <a:rPr lang="cs-CZ" altLang="cs-CZ" sz="2000" dirty="0">
                <a:latin typeface="+mj-lt"/>
              </a:rPr>
              <a:t>)	Oracle</a:t>
            </a:r>
          </a:p>
          <a:p>
            <a:pPr marL="285750" indent="-285750">
              <a:spcBef>
                <a:spcPct val="0"/>
              </a:spcBef>
            </a:pPr>
            <a:r>
              <a:rPr lang="cs-CZ" altLang="cs-CZ" sz="2000" dirty="0">
                <a:latin typeface="+mj-lt"/>
              </a:rPr>
              <a:t>Obdobně IBM SQL/DS, </a:t>
            </a:r>
            <a:r>
              <a:rPr lang="cs-CZ" altLang="cs-CZ" sz="2000" dirty="0" err="1">
                <a:latin typeface="+mj-lt"/>
              </a:rPr>
              <a:t>Progress</a:t>
            </a:r>
            <a:r>
              <a:rPr lang="cs-CZ" altLang="cs-CZ" sz="2000" dirty="0">
                <a:latin typeface="+mj-lt"/>
              </a:rPr>
              <a:t>, Informix, </a:t>
            </a:r>
            <a:r>
              <a:rPr lang="cs-CZ" altLang="cs-CZ" sz="2000" dirty="0" err="1">
                <a:latin typeface="+mj-lt"/>
              </a:rPr>
              <a:t>SyBase</a:t>
            </a:r>
            <a:endParaRPr lang="cs-CZ" altLang="cs-CZ" sz="2000" dirty="0">
              <a:latin typeface="+mj-lt"/>
            </a:endParaRPr>
          </a:p>
          <a:p>
            <a:pPr marL="285750" indent="-285750">
              <a:spcBef>
                <a:spcPct val="0"/>
              </a:spcBef>
            </a:pPr>
            <a:r>
              <a:rPr lang="cs-CZ" altLang="cs-CZ" sz="2000" dirty="0">
                <a:latin typeface="+mj-lt"/>
              </a:rPr>
              <a:t>Přejmenování SEQUEL -</a:t>
            </a:r>
            <a:r>
              <a:rPr lang="en-US" altLang="cs-CZ" sz="2000" dirty="0">
                <a:latin typeface="+mj-lt"/>
              </a:rPr>
              <a:t>&gt;</a:t>
            </a:r>
            <a:r>
              <a:rPr lang="cs-CZ" altLang="cs-CZ" sz="2000" dirty="0">
                <a:latin typeface="+mj-lt"/>
              </a:rPr>
              <a:t> SQL (</a:t>
            </a:r>
            <a:r>
              <a:rPr lang="cs-CZ" altLang="cs-CZ" sz="2000" dirty="0" err="1">
                <a:latin typeface="+mj-lt"/>
              </a:rPr>
              <a:t>Structured</a:t>
            </a:r>
            <a:r>
              <a:rPr lang="cs-CZ" altLang="cs-CZ" sz="2000" dirty="0">
                <a:latin typeface="+mj-lt"/>
              </a:rPr>
              <a:t> </a:t>
            </a:r>
            <a:r>
              <a:rPr lang="cs-CZ" altLang="cs-CZ" sz="2000" dirty="0" err="1">
                <a:latin typeface="+mj-lt"/>
              </a:rPr>
              <a:t>Query</a:t>
            </a:r>
            <a:r>
              <a:rPr lang="cs-CZ" altLang="cs-CZ" sz="2000" dirty="0">
                <a:latin typeface="+mj-lt"/>
              </a:rPr>
              <a:t> </a:t>
            </a:r>
            <a:r>
              <a:rPr lang="cs-CZ" altLang="cs-CZ" sz="2000" dirty="0" err="1" smtClean="0">
                <a:latin typeface="+mj-lt"/>
              </a:rPr>
              <a:t>Language</a:t>
            </a:r>
            <a:r>
              <a:rPr lang="cs-CZ" altLang="cs-CZ" sz="2000" dirty="0" smtClean="0">
                <a:latin typeface="+mj-lt"/>
              </a:rPr>
              <a:t>)</a:t>
            </a:r>
          </a:p>
          <a:p>
            <a:pPr marL="285750" indent="-285750">
              <a:spcBef>
                <a:spcPct val="0"/>
              </a:spcBef>
            </a:pPr>
            <a:r>
              <a:rPr lang="cs-CZ" sz="2000" dirty="0" smtClean="0">
                <a:latin typeface="+mj-lt"/>
              </a:rPr>
              <a:t>1986 - ANSI </a:t>
            </a:r>
            <a:r>
              <a:rPr lang="cs-CZ" sz="2000" dirty="0">
                <a:latin typeface="+mj-lt"/>
              </a:rPr>
              <a:t>– standardizace SQL86 (první </a:t>
            </a:r>
            <a:r>
              <a:rPr lang="cs-CZ" sz="2000" dirty="0" smtClean="0">
                <a:latin typeface="+mj-lt"/>
              </a:rPr>
              <a:t>verze)</a:t>
            </a:r>
          </a:p>
          <a:p>
            <a:pPr marL="285750" indent="-285750">
              <a:spcBef>
                <a:spcPct val="0"/>
              </a:spcBef>
            </a:pPr>
            <a:r>
              <a:rPr lang="cs-CZ" sz="2000" dirty="0" smtClean="0">
                <a:latin typeface="+mj-lt"/>
              </a:rPr>
              <a:t>1992 - V </a:t>
            </a:r>
            <a:r>
              <a:rPr lang="cs-CZ" sz="2000" dirty="0">
                <a:latin typeface="+mj-lt"/>
              </a:rPr>
              <a:t>dalších letech se ukázalo, že SQL-86 obsahuje některé nedostatky a naopak v něm nejsou obsaženy některé důležité prvky týkající se převážně integrity databáze - nový standard SQL-92 (zkráceně </a:t>
            </a:r>
            <a:r>
              <a:rPr lang="cs-CZ" sz="2000" dirty="0" smtClean="0">
                <a:latin typeface="+mj-lt"/>
              </a:rPr>
              <a:t>SQL2)</a:t>
            </a:r>
          </a:p>
          <a:p>
            <a:pPr marL="285750" indent="-285750">
              <a:spcBef>
                <a:spcPct val="0"/>
              </a:spcBef>
            </a:pPr>
            <a:r>
              <a:rPr lang="cs-CZ" sz="2000" dirty="0" smtClean="0">
                <a:latin typeface="+mj-lt"/>
              </a:rPr>
              <a:t>1999 - Standard </a:t>
            </a:r>
            <a:r>
              <a:rPr lang="cs-CZ" sz="2000" i="1" dirty="0">
                <a:latin typeface="+mj-lt"/>
              </a:rPr>
              <a:t>SQL3</a:t>
            </a:r>
            <a:r>
              <a:rPr lang="cs-CZ" sz="2000" dirty="0">
                <a:latin typeface="+mj-lt"/>
              </a:rPr>
              <a:t> (</a:t>
            </a:r>
            <a:r>
              <a:rPr lang="cs-CZ" sz="2000" i="1" dirty="0">
                <a:latin typeface="+mj-lt"/>
              </a:rPr>
              <a:t>SQL:1999</a:t>
            </a:r>
            <a:r>
              <a:rPr lang="cs-CZ" sz="2000" dirty="0">
                <a:latin typeface="+mj-lt"/>
              </a:rPr>
              <a:t>) reaguje na potřeby nejmodernějších </a:t>
            </a:r>
            <a:r>
              <a:rPr lang="cs-CZ" sz="2000" dirty="0" smtClean="0">
                <a:latin typeface="+mj-lt"/>
              </a:rPr>
              <a:t>databází s objektovými prvky, </a:t>
            </a:r>
            <a:r>
              <a:rPr lang="cs-CZ" sz="2000" dirty="0">
                <a:latin typeface="+mj-lt"/>
              </a:rPr>
              <a:t>doplněny regulární výrazy, </a:t>
            </a:r>
            <a:r>
              <a:rPr lang="cs-CZ" sz="2000" dirty="0" smtClean="0">
                <a:latin typeface="+mj-lt"/>
              </a:rPr>
              <a:t>rekurzivní dotazy</a:t>
            </a:r>
            <a:r>
              <a:rPr lang="cs-CZ" sz="2000" dirty="0">
                <a:latin typeface="+mj-lt"/>
              </a:rPr>
              <a:t>, podpora procedur, </a:t>
            </a:r>
            <a:r>
              <a:rPr lang="cs-CZ" sz="2000" dirty="0" smtClean="0">
                <a:latin typeface="+mj-lt"/>
              </a:rPr>
              <a:t>..</a:t>
            </a:r>
          </a:p>
          <a:p>
            <a:pPr marL="285750" indent="-285750">
              <a:spcBef>
                <a:spcPct val="0"/>
              </a:spcBef>
            </a:pPr>
            <a:r>
              <a:rPr lang="cs-CZ" sz="2000" dirty="0" smtClean="0">
                <a:latin typeface="+mj-lt"/>
              </a:rPr>
              <a:t>2003 - Standard </a:t>
            </a:r>
            <a:r>
              <a:rPr lang="cs-CZ" sz="2000" i="1" dirty="0">
                <a:latin typeface="+mj-lt"/>
              </a:rPr>
              <a:t>SQL 2003</a:t>
            </a:r>
            <a:r>
              <a:rPr lang="cs-CZ" sz="2000" dirty="0">
                <a:latin typeface="+mj-lt"/>
              </a:rPr>
              <a:t> doplněny XML funkce, </a:t>
            </a:r>
            <a:r>
              <a:rPr lang="cs-CZ" sz="2000" dirty="0" smtClean="0">
                <a:latin typeface="+mj-lt"/>
              </a:rPr>
              <a:t>sekvence, sloupce </a:t>
            </a:r>
            <a:r>
              <a:rPr lang="cs-CZ" sz="2000" dirty="0">
                <a:latin typeface="+mj-lt"/>
              </a:rPr>
              <a:t>s automaticky </a:t>
            </a:r>
            <a:r>
              <a:rPr lang="cs-CZ" sz="2000" dirty="0" smtClean="0">
                <a:latin typeface="+mj-lt"/>
              </a:rPr>
              <a:t>generovanými hodnotami</a:t>
            </a:r>
          </a:p>
          <a:p>
            <a:pPr marL="285750" indent="-285750">
              <a:spcBef>
                <a:spcPct val="0"/>
              </a:spcBef>
            </a:pPr>
            <a:r>
              <a:rPr lang="cs-CZ" sz="2000" dirty="0" smtClean="0">
                <a:latin typeface="+mj-lt"/>
              </a:rPr>
              <a:t>2006 - Standard </a:t>
            </a:r>
            <a:r>
              <a:rPr lang="cs-CZ" sz="2000" dirty="0">
                <a:latin typeface="+mj-lt"/>
              </a:rPr>
              <a:t>SQL 2006 definuje způsoby pro konverzi </a:t>
            </a:r>
            <a:r>
              <a:rPr lang="cs-CZ" sz="2000" dirty="0" smtClean="0">
                <a:latin typeface="+mj-lt"/>
              </a:rPr>
              <a:t>dat mezi </a:t>
            </a:r>
            <a:r>
              <a:rPr lang="cs-CZ" sz="2000" dirty="0">
                <a:latin typeface="+mj-lt"/>
              </a:rPr>
              <a:t>SQL a XML formou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endParaRPr lang="cs-CZ" altLang="cs-CZ" sz="2000" dirty="0">
              <a:latin typeface="+mj-lt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endParaRPr lang="cs-CZ" altLang="cs-CZ" sz="2000" dirty="0">
              <a:solidFill>
                <a:schemeClr val="hlink"/>
              </a:solidFill>
              <a:latin typeface="+mj-lt"/>
            </a:endParaRPr>
          </a:p>
        </p:txBody>
      </p:sp>
      <p:sp>
        <p:nvSpPr>
          <p:cNvPr id="7" name="Rectangle 2"/>
          <p:cNvSpPr txBox="1">
            <a:spLocks noChangeArrowheads="1"/>
          </p:cNvSpPr>
          <p:nvPr/>
        </p:nvSpPr>
        <p:spPr>
          <a:xfrm>
            <a:off x="0" y="0"/>
            <a:ext cx="9144000" cy="81042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 fontAlgn="auto">
              <a:spcAft>
                <a:spcPts val="0"/>
              </a:spcAft>
              <a:defRPr/>
            </a:pPr>
            <a:r>
              <a:rPr lang="cs-CZ" sz="3600" dirty="0" smtClean="0"/>
              <a:t>Databázový jazyk SQL</a:t>
            </a:r>
            <a:endParaRPr lang="cs-CZ" sz="3600" dirty="0"/>
          </a:p>
        </p:txBody>
      </p:sp>
    </p:spTree>
    <p:extLst>
      <p:ext uri="{BB962C8B-B14F-4D97-AF65-F5344CB8AC3E}">
        <p14:creationId xmlns:p14="http://schemas.microsoft.com/office/powerpoint/2010/main" val="3473693397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7" name="Rectangle 3"/>
          <p:cNvSpPr>
            <a:spLocks noChangeArrowheads="1"/>
          </p:cNvSpPr>
          <p:nvPr/>
        </p:nvSpPr>
        <p:spPr bwMode="auto">
          <a:xfrm>
            <a:off x="323528" y="1268760"/>
            <a:ext cx="8104187" cy="30781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ts val="1200"/>
              </a:spcBef>
            </a:pPr>
            <a:r>
              <a:rPr lang="cs-CZ" altLang="cs-CZ" sz="2400" dirty="0">
                <a:latin typeface="Tahoma" panose="020B0604030504040204" pitchFamily="34" charset="0"/>
              </a:rPr>
              <a:t> Definici dat </a:t>
            </a:r>
            <a:r>
              <a:rPr lang="cs-CZ" altLang="cs-CZ" sz="2000" dirty="0">
                <a:latin typeface="Tahoma" panose="020B0604030504040204" pitchFamily="34" charset="0"/>
              </a:rPr>
              <a:t>(struktury a organizace dat a vztahů mezi nimi)</a:t>
            </a:r>
            <a:endParaRPr lang="cs-CZ" altLang="cs-CZ" sz="2400" dirty="0">
              <a:latin typeface="Tahoma" panose="020B0604030504040204" pitchFamily="34" charset="0"/>
            </a:endParaRPr>
          </a:p>
          <a:p>
            <a:pPr eaLnBrk="1" hangingPunct="1">
              <a:spcBef>
                <a:spcPts val="1200"/>
              </a:spcBef>
            </a:pPr>
            <a:r>
              <a:rPr lang="cs-CZ" altLang="cs-CZ" sz="2400" dirty="0">
                <a:latin typeface="Tahoma" panose="020B0604030504040204" pitchFamily="34" charset="0"/>
              </a:rPr>
              <a:t> Získávání dat</a:t>
            </a:r>
          </a:p>
          <a:p>
            <a:pPr eaLnBrk="1" hangingPunct="1">
              <a:spcBef>
                <a:spcPts val="1200"/>
              </a:spcBef>
            </a:pPr>
            <a:r>
              <a:rPr lang="cs-CZ" altLang="cs-CZ" sz="2400" dirty="0">
                <a:latin typeface="Tahoma" panose="020B0604030504040204" pitchFamily="34" charset="0"/>
              </a:rPr>
              <a:t> Manipulaci s daty</a:t>
            </a:r>
          </a:p>
          <a:p>
            <a:pPr eaLnBrk="1" hangingPunct="1">
              <a:spcBef>
                <a:spcPts val="1200"/>
              </a:spcBef>
            </a:pPr>
            <a:r>
              <a:rPr lang="cs-CZ" altLang="cs-CZ" sz="2400" dirty="0">
                <a:latin typeface="Tahoma" panose="020B0604030504040204" pitchFamily="34" charset="0"/>
              </a:rPr>
              <a:t> Řízení přístupu</a:t>
            </a:r>
          </a:p>
          <a:p>
            <a:pPr eaLnBrk="1" hangingPunct="1">
              <a:spcBef>
                <a:spcPts val="1200"/>
              </a:spcBef>
            </a:pPr>
            <a:r>
              <a:rPr lang="cs-CZ" altLang="cs-CZ" sz="2400" dirty="0">
                <a:latin typeface="Tahoma" panose="020B0604030504040204" pitchFamily="34" charset="0"/>
              </a:rPr>
              <a:t> Sdílení dat</a:t>
            </a:r>
          </a:p>
          <a:p>
            <a:pPr eaLnBrk="1" hangingPunct="1">
              <a:spcBef>
                <a:spcPts val="1200"/>
              </a:spcBef>
            </a:pPr>
            <a:r>
              <a:rPr lang="cs-CZ" altLang="cs-CZ" sz="2400" dirty="0">
                <a:latin typeface="Tahoma" panose="020B0604030504040204" pitchFamily="34" charset="0"/>
              </a:rPr>
              <a:t> Integrita dat</a:t>
            </a:r>
          </a:p>
        </p:txBody>
      </p:sp>
      <p:sp>
        <p:nvSpPr>
          <p:cNvPr id="7" name="Rectangle 2"/>
          <p:cNvSpPr txBox="1">
            <a:spLocks noChangeArrowheads="1"/>
          </p:cNvSpPr>
          <p:nvPr/>
        </p:nvSpPr>
        <p:spPr>
          <a:xfrm>
            <a:off x="0" y="0"/>
            <a:ext cx="9144000" cy="81042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 fontAlgn="auto">
              <a:spcAft>
                <a:spcPts val="0"/>
              </a:spcAft>
              <a:defRPr/>
            </a:pPr>
            <a:r>
              <a:rPr lang="cs-CZ" sz="3600" dirty="0" smtClean="0"/>
              <a:t>Jazyk SQL slouží k</a:t>
            </a:r>
            <a:endParaRPr lang="cs-CZ" sz="3600" dirty="0"/>
          </a:p>
        </p:txBody>
      </p:sp>
    </p:spTree>
    <p:extLst>
      <p:ext uri="{BB962C8B-B14F-4D97-AF65-F5344CB8AC3E}">
        <p14:creationId xmlns:p14="http://schemas.microsoft.com/office/powerpoint/2010/main" val="1976367950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5" name="Rectangle 3"/>
          <p:cNvSpPr>
            <a:spLocks noChangeArrowheads="1"/>
          </p:cNvSpPr>
          <p:nvPr/>
        </p:nvSpPr>
        <p:spPr bwMode="auto">
          <a:xfrm>
            <a:off x="107504" y="1412776"/>
            <a:ext cx="8104187" cy="406265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marL="342900" indent="-342900">
              <a:spcBef>
                <a:spcPts val="1200"/>
              </a:spcBef>
            </a:pPr>
            <a:r>
              <a:rPr lang="cs-CZ" altLang="cs-CZ" sz="2200" dirty="0">
                <a:latin typeface="+mn-lt"/>
              </a:rPr>
              <a:t>Interaktivní dotazovací jazyk (pro uživatele</a:t>
            </a:r>
            <a:r>
              <a:rPr lang="cs-CZ" altLang="cs-CZ" sz="2200" dirty="0" smtClean="0">
                <a:latin typeface="+mn-lt"/>
              </a:rPr>
              <a:t>)</a:t>
            </a:r>
          </a:p>
          <a:p>
            <a:pPr marL="342900" indent="-342900">
              <a:spcBef>
                <a:spcPts val="1200"/>
              </a:spcBef>
            </a:pPr>
            <a:r>
              <a:rPr lang="cs-CZ" altLang="cs-CZ" sz="2200" dirty="0" smtClean="0">
                <a:latin typeface="+mn-lt"/>
              </a:rPr>
              <a:t>Databázový </a:t>
            </a:r>
            <a:r>
              <a:rPr lang="cs-CZ" altLang="cs-CZ" sz="2200" dirty="0">
                <a:latin typeface="+mn-lt"/>
              </a:rPr>
              <a:t>programovací jazyk </a:t>
            </a:r>
            <a:r>
              <a:rPr lang="cs-CZ" altLang="cs-CZ" sz="2200" dirty="0" smtClean="0">
                <a:latin typeface="+mn-lt"/>
              </a:rPr>
              <a:t>(</a:t>
            </a:r>
            <a:r>
              <a:rPr lang="cs-CZ" altLang="cs-CZ" sz="2200" dirty="0">
                <a:latin typeface="+mn-lt"/>
                <a:ea typeface="+mj-ea"/>
                <a:cs typeface="+mj-cs"/>
              </a:rPr>
              <a:t>začlenění</a:t>
            </a:r>
            <a:r>
              <a:rPr lang="cs-CZ" altLang="cs-CZ" sz="2200" dirty="0">
                <a:latin typeface="+mn-lt"/>
              </a:rPr>
              <a:t> SQL kódu do aplikačních </a:t>
            </a:r>
            <a:r>
              <a:rPr lang="cs-CZ" altLang="cs-CZ" sz="2200" dirty="0" smtClean="0">
                <a:latin typeface="+mn-lt"/>
              </a:rPr>
              <a:t>programů)</a:t>
            </a:r>
          </a:p>
          <a:p>
            <a:pPr marL="342900" indent="-342900">
              <a:spcBef>
                <a:spcPts val="1200"/>
              </a:spcBef>
            </a:pPr>
            <a:r>
              <a:rPr lang="cs-CZ" altLang="cs-CZ" sz="2200" dirty="0" smtClean="0">
                <a:latin typeface="+mn-lt"/>
              </a:rPr>
              <a:t>Administrační </a:t>
            </a:r>
            <a:r>
              <a:rPr lang="cs-CZ" altLang="cs-CZ" sz="2200" dirty="0">
                <a:latin typeface="+mn-lt"/>
              </a:rPr>
              <a:t>databázový jazyk (správa </a:t>
            </a:r>
            <a:r>
              <a:rPr lang="cs-CZ" altLang="cs-CZ" sz="2200" dirty="0" smtClean="0">
                <a:latin typeface="+mn-lt"/>
              </a:rPr>
              <a:t>databáze)</a:t>
            </a:r>
          </a:p>
          <a:p>
            <a:pPr marL="342900" indent="-342900">
              <a:spcBef>
                <a:spcPts val="1200"/>
              </a:spcBef>
            </a:pPr>
            <a:r>
              <a:rPr lang="cs-CZ" altLang="cs-CZ" sz="2200" dirty="0" smtClean="0">
                <a:latin typeface="+mn-lt"/>
              </a:rPr>
              <a:t>Jazyk </a:t>
            </a:r>
            <a:r>
              <a:rPr lang="cs-CZ" altLang="cs-CZ" sz="2200" dirty="0">
                <a:latin typeface="+mn-lt"/>
              </a:rPr>
              <a:t>aplikací typu </a:t>
            </a:r>
            <a:r>
              <a:rPr lang="cs-CZ" altLang="cs-CZ" sz="2200" dirty="0" smtClean="0">
                <a:latin typeface="+mn-lt"/>
              </a:rPr>
              <a:t>klient/server</a:t>
            </a:r>
          </a:p>
          <a:p>
            <a:pPr marL="342900" indent="-342900">
              <a:spcBef>
                <a:spcPts val="1200"/>
              </a:spcBef>
            </a:pPr>
            <a:r>
              <a:rPr lang="cs-CZ" altLang="cs-CZ" sz="2200" dirty="0" smtClean="0">
                <a:latin typeface="+mn-lt"/>
              </a:rPr>
              <a:t>Jazyk </a:t>
            </a:r>
            <a:r>
              <a:rPr lang="cs-CZ" altLang="cs-CZ" sz="2200" dirty="0">
                <a:latin typeface="+mn-lt"/>
              </a:rPr>
              <a:t>pro přístup k datům na </a:t>
            </a:r>
            <a:r>
              <a:rPr lang="cs-CZ" altLang="cs-CZ" sz="2200" dirty="0" smtClean="0">
                <a:latin typeface="+mn-lt"/>
              </a:rPr>
              <a:t>internetu</a:t>
            </a:r>
          </a:p>
          <a:p>
            <a:pPr marL="342900" indent="-342900">
              <a:spcBef>
                <a:spcPts val="1200"/>
              </a:spcBef>
            </a:pPr>
            <a:r>
              <a:rPr lang="cs-CZ" altLang="cs-CZ" sz="2200" dirty="0" smtClean="0">
                <a:latin typeface="+mn-lt"/>
              </a:rPr>
              <a:t>Distribuovaný </a:t>
            </a:r>
            <a:r>
              <a:rPr lang="cs-CZ" altLang="cs-CZ" sz="2200" dirty="0">
                <a:latin typeface="+mn-lt"/>
              </a:rPr>
              <a:t>databázový jazyk </a:t>
            </a:r>
            <a:r>
              <a:rPr lang="cs-CZ" altLang="cs-CZ" sz="2200" dirty="0" smtClean="0">
                <a:latin typeface="+mn-lt"/>
              </a:rPr>
              <a:t>(</a:t>
            </a:r>
            <a:r>
              <a:rPr lang="cs-CZ" altLang="cs-CZ" sz="2200" dirty="0">
                <a:latin typeface="+mn-lt"/>
              </a:rPr>
              <a:t>provoz distribuovaných </a:t>
            </a:r>
            <a:r>
              <a:rPr lang="cs-CZ" altLang="cs-CZ" sz="2200" dirty="0" smtClean="0">
                <a:latin typeface="+mn-lt"/>
              </a:rPr>
              <a:t>databází)</a:t>
            </a:r>
          </a:p>
          <a:p>
            <a:pPr marL="342900" indent="-342900">
              <a:spcBef>
                <a:spcPts val="1200"/>
              </a:spcBef>
            </a:pPr>
            <a:r>
              <a:rPr lang="cs-CZ" altLang="cs-CZ" sz="2200" dirty="0" smtClean="0">
                <a:latin typeface="+mn-lt"/>
              </a:rPr>
              <a:t>Jazyk </a:t>
            </a:r>
            <a:r>
              <a:rPr lang="cs-CZ" altLang="cs-CZ" sz="2200" dirty="0">
                <a:latin typeface="+mn-lt"/>
              </a:rPr>
              <a:t>pro databázové brány (umožňuje jednomu druhu databázového systému komunikovat s jiným)</a:t>
            </a:r>
          </a:p>
        </p:txBody>
      </p:sp>
      <p:sp>
        <p:nvSpPr>
          <p:cNvPr id="7" name="Rectangle 2"/>
          <p:cNvSpPr txBox="1">
            <a:spLocks noChangeArrowheads="1"/>
          </p:cNvSpPr>
          <p:nvPr/>
        </p:nvSpPr>
        <p:spPr>
          <a:xfrm>
            <a:off x="0" y="0"/>
            <a:ext cx="9144000" cy="81042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 fontAlgn="auto">
              <a:spcAft>
                <a:spcPts val="0"/>
              </a:spcAft>
              <a:defRPr/>
            </a:pPr>
            <a:r>
              <a:rPr lang="cs-CZ" sz="3600" dirty="0" smtClean="0"/>
              <a:t>Úloha jazyka SQL</a:t>
            </a:r>
            <a:endParaRPr lang="cs-CZ" sz="3600" dirty="0"/>
          </a:p>
        </p:txBody>
      </p:sp>
    </p:spTree>
    <p:extLst>
      <p:ext uri="{BB962C8B-B14F-4D97-AF65-F5344CB8AC3E}">
        <p14:creationId xmlns:p14="http://schemas.microsoft.com/office/powerpoint/2010/main" val="2999787762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979" name="Rectangle 3"/>
          <p:cNvSpPr>
            <a:spLocks noChangeArrowheads="1"/>
          </p:cNvSpPr>
          <p:nvPr/>
        </p:nvSpPr>
        <p:spPr bwMode="auto">
          <a:xfrm>
            <a:off x="179512" y="980728"/>
            <a:ext cx="8104187" cy="517064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1" hangingPunct="1">
              <a:spcAft>
                <a:spcPts val="1200"/>
              </a:spcAft>
              <a:defRPr/>
            </a:pPr>
            <a:r>
              <a:rPr lang="cs-CZ" sz="1800" dirty="0">
                <a:solidFill>
                  <a:schemeClr val="tx1"/>
                </a:solidFill>
                <a:latin typeface="+mn-lt"/>
              </a:rPr>
              <a:t>Důvody, které komplikují přenositelnost SQL kódu mezi </a:t>
            </a:r>
            <a:r>
              <a:rPr lang="cs-CZ" sz="1800" dirty="0" smtClean="0">
                <a:solidFill>
                  <a:schemeClr val="tx1"/>
                </a:solidFill>
                <a:latin typeface="+mn-lt"/>
              </a:rPr>
              <a:t>databázovými systémy:</a:t>
            </a:r>
            <a:endParaRPr lang="cs-CZ" sz="1800" dirty="0">
              <a:solidFill>
                <a:schemeClr val="tx1"/>
              </a:solidFill>
              <a:latin typeface="+mn-lt"/>
            </a:endParaRPr>
          </a:p>
          <a:p>
            <a:pPr marL="285750" indent="-285750" eaLnBrk="1" hangingPunct="1">
              <a:spcAft>
                <a:spcPts val="1200"/>
              </a:spcAft>
              <a:buFont typeface="Arial" pitchFamily="34" charset="0"/>
              <a:buChar char="•"/>
              <a:defRPr/>
            </a:pPr>
            <a:r>
              <a:rPr lang="cs-CZ" sz="1800" dirty="0">
                <a:solidFill>
                  <a:schemeClr val="tx1"/>
                </a:solidFill>
                <a:latin typeface="+mn-lt"/>
              </a:rPr>
              <a:t>SQL standard je složitý a tak ne všichni implementátoři podporují celý standard.</a:t>
            </a:r>
          </a:p>
          <a:p>
            <a:pPr marL="285750" indent="-285750" eaLnBrk="1" hangingPunct="1">
              <a:spcAft>
                <a:spcPts val="1200"/>
              </a:spcAft>
              <a:buFont typeface="Arial" pitchFamily="34" charset="0"/>
              <a:buChar char="•"/>
              <a:defRPr/>
            </a:pPr>
            <a:r>
              <a:rPr lang="cs-CZ" sz="1800" dirty="0">
                <a:solidFill>
                  <a:schemeClr val="tx1"/>
                </a:solidFill>
                <a:latin typeface="+mn-lt"/>
              </a:rPr>
              <a:t>Norma nespecifikuje chování databáze v několika důležitých oblastech (např. indexy, ukládání souborů ...), takže implementátoři se mohou rozhodnout, jak tyto činnosti implementovat.</a:t>
            </a:r>
          </a:p>
          <a:p>
            <a:pPr marL="285750" indent="-285750" eaLnBrk="1" hangingPunct="1">
              <a:spcAft>
                <a:spcPts val="1200"/>
              </a:spcAft>
              <a:buFont typeface="Arial" pitchFamily="34" charset="0"/>
              <a:buChar char="•"/>
              <a:defRPr/>
            </a:pPr>
            <a:r>
              <a:rPr lang="cs-CZ" sz="1800" dirty="0">
                <a:solidFill>
                  <a:schemeClr val="tx1"/>
                </a:solidFill>
                <a:latin typeface="+mn-lt"/>
              </a:rPr>
              <a:t>SQL standard přesně specifikuje syntaxi, kterou musí kompatibilní databáze splnit. Standardní specifikace pro sémantiku jazyka je méně dobře definovaná, což vede k </a:t>
            </a:r>
            <a:r>
              <a:rPr lang="cs-CZ" sz="1800" dirty="0" smtClean="0">
                <a:solidFill>
                  <a:schemeClr val="tx1"/>
                </a:solidFill>
                <a:latin typeface="+mn-lt"/>
              </a:rPr>
              <a:t>nejasnostem.</a:t>
            </a:r>
          </a:p>
          <a:p>
            <a:pPr marL="285750" indent="-285750" eaLnBrk="1" hangingPunct="1">
              <a:spcAft>
                <a:spcPts val="1200"/>
              </a:spcAft>
              <a:buFont typeface="Arial" pitchFamily="34" charset="0"/>
              <a:buChar char="•"/>
              <a:defRPr/>
            </a:pPr>
            <a:r>
              <a:rPr lang="cs-CZ" altLang="cs-CZ" sz="1800" dirty="0" smtClean="0">
                <a:latin typeface="+mn-lt"/>
              </a:rPr>
              <a:t>Mnoho </a:t>
            </a:r>
            <a:r>
              <a:rPr lang="cs-CZ" altLang="cs-CZ" sz="1800" dirty="0">
                <a:latin typeface="+mn-lt"/>
              </a:rPr>
              <a:t>prodejců databázových systémů má velké existující zákaznické základny, kde SQL standard se střetává s předchozím chováním databáze a prodejce může být neochotný ztratit zpětnou </a:t>
            </a:r>
            <a:r>
              <a:rPr lang="cs-CZ" altLang="cs-CZ" sz="1800" dirty="0" smtClean="0">
                <a:latin typeface="+mn-lt"/>
              </a:rPr>
              <a:t>kompatibilitu.</a:t>
            </a:r>
          </a:p>
          <a:p>
            <a:pPr marL="285750" indent="-285750" eaLnBrk="1" hangingPunct="1">
              <a:spcAft>
                <a:spcPts val="1200"/>
              </a:spcAft>
              <a:buFont typeface="Arial" pitchFamily="34" charset="0"/>
              <a:buChar char="•"/>
              <a:defRPr/>
            </a:pPr>
            <a:r>
              <a:rPr lang="cs-CZ" altLang="cs-CZ" sz="1800" dirty="0" smtClean="0">
                <a:latin typeface="+mn-lt"/>
              </a:rPr>
              <a:t>V</a:t>
            </a:r>
            <a:r>
              <a:rPr lang="cs-CZ" altLang="cs-CZ" sz="1800" dirty="0">
                <a:latin typeface="+mn-lt"/>
              </a:rPr>
              <a:t> některých případech mají prodejci zájem vytvořit či zachovat nekompatibility s jinými produkty, protože zajišťují silnou motivaci pro stávající uživatele zůstat loajální.</a:t>
            </a:r>
          </a:p>
          <a:p>
            <a:pPr marL="285750" indent="-285750" eaLnBrk="1" hangingPunct="1">
              <a:spcAft>
                <a:spcPts val="1200"/>
              </a:spcAft>
              <a:buFont typeface="Arial" pitchFamily="34" charset="0"/>
              <a:buChar char="•"/>
              <a:defRPr/>
            </a:pPr>
            <a:endParaRPr lang="cs-CZ" sz="1800" dirty="0">
              <a:solidFill>
                <a:schemeClr val="tx1"/>
              </a:solidFill>
              <a:latin typeface="+mn-lt"/>
            </a:endParaRPr>
          </a:p>
        </p:txBody>
      </p:sp>
      <p:sp>
        <p:nvSpPr>
          <p:cNvPr id="7" name="Rectangle 2"/>
          <p:cNvSpPr txBox="1">
            <a:spLocks noChangeArrowheads="1"/>
          </p:cNvSpPr>
          <p:nvPr/>
        </p:nvSpPr>
        <p:spPr>
          <a:xfrm>
            <a:off x="0" y="0"/>
            <a:ext cx="9144000" cy="81042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 fontAlgn="auto">
              <a:spcAft>
                <a:spcPts val="0"/>
              </a:spcAft>
              <a:defRPr/>
            </a:pPr>
            <a:r>
              <a:rPr lang="cs-CZ" sz="3600" dirty="0" smtClean="0"/>
              <a:t>Přenositelnost jazyka SQL</a:t>
            </a:r>
            <a:endParaRPr lang="cs-CZ" sz="3600" dirty="0"/>
          </a:p>
        </p:txBody>
      </p:sp>
    </p:spTree>
    <p:extLst>
      <p:ext uri="{BB962C8B-B14F-4D97-AF65-F5344CB8AC3E}">
        <p14:creationId xmlns:p14="http://schemas.microsoft.com/office/powerpoint/2010/main" val="2449138207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315" name="Rectangle 3"/>
          <p:cNvSpPr>
            <a:spLocks noChangeArrowheads="1"/>
          </p:cNvSpPr>
          <p:nvPr/>
        </p:nvSpPr>
        <p:spPr bwMode="auto">
          <a:xfrm>
            <a:off x="360959" y="1196752"/>
            <a:ext cx="7632700" cy="41544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marL="342900" indent="-342900" eaLnBrk="1" hangingPunct="1">
              <a:defRPr/>
            </a:pPr>
            <a:r>
              <a:rPr lang="cs-CZ" sz="2400" b="1" dirty="0">
                <a:solidFill>
                  <a:schemeClr val="tx1"/>
                </a:solidFill>
                <a:latin typeface="+mj-lt"/>
              </a:rPr>
              <a:t>Standardní příkazy dělíme do skupin:</a:t>
            </a:r>
          </a:p>
          <a:p>
            <a:pPr marL="342900" indent="-342900" eaLnBrk="1" hangingPunct="1">
              <a:defRPr/>
            </a:pPr>
            <a:endParaRPr lang="cs-CZ" sz="2400" b="1" dirty="0">
              <a:solidFill>
                <a:schemeClr val="tx1"/>
              </a:solidFill>
              <a:latin typeface="+mj-lt"/>
            </a:endParaRPr>
          </a:p>
          <a:p>
            <a:pPr marL="1257300" lvl="2" indent="-342900" eaLnBrk="1" hangingPunct="1">
              <a:buFontTx/>
              <a:buAutoNum type="arabicPeriod"/>
              <a:defRPr/>
            </a:pPr>
            <a:r>
              <a:rPr lang="cs-CZ" sz="2400" b="1" dirty="0">
                <a:solidFill>
                  <a:schemeClr val="tx1"/>
                </a:solidFill>
                <a:latin typeface="+mj-lt"/>
              </a:rPr>
              <a:t>Příkazy pro definici dat 		(DDL)</a:t>
            </a:r>
            <a:r>
              <a:rPr lang="cs-CZ" sz="2400" dirty="0">
                <a:solidFill>
                  <a:schemeClr val="tx1"/>
                </a:solidFill>
                <a:latin typeface="+mj-lt"/>
              </a:rPr>
              <a:t> </a:t>
            </a:r>
          </a:p>
          <a:p>
            <a:pPr marL="1257300" lvl="2" indent="-342900" eaLnBrk="1" hangingPunct="1">
              <a:buFontTx/>
              <a:buAutoNum type="arabicPeriod"/>
              <a:defRPr/>
            </a:pPr>
            <a:endParaRPr lang="cs-CZ" sz="2400" dirty="0">
              <a:solidFill>
                <a:schemeClr val="tx1"/>
              </a:solidFill>
              <a:latin typeface="+mj-lt"/>
            </a:endParaRPr>
          </a:p>
          <a:p>
            <a:pPr marL="1257300" lvl="2" indent="-342900" eaLnBrk="1" hangingPunct="1">
              <a:defRPr/>
            </a:pPr>
            <a:r>
              <a:rPr lang="cs-CZ" sz="2400" b="1" dirty="0">
                <a:solidFill>
                  <a:schemeClr val="tx1"/>
                </a:solidFill>
                <a:latin typeface="+mj-lt"/>
              </a:rPr>
              <a:t>2. Příkazy pro manipulaci s daty 	(DML)</a:t>
            </a:r>
            <a:endParaRPr lang="cs-CZ" sz="2400" dirty="0">
              <a:solidFill>
                <a:schemeClr val="tx1"/>
              </a:solidFill>
              <a:latin typeface="+mj-lt"/>
            </a:endParaRPr>
          </a:p>
          <a:p>
            <a:pPr marL="1257300" lvl="2" indent="-342900" eaLnBrk="1" hangingPunct="1">
              <a:defRPr/>
            </a:pPr>
            <a:endParaRPr lang="cs-CZ" sz="2400" dirty="0">
              <a:solidFill>
                <a:schemeClr val="tx1"/>
              </a:solidFill>
              <a:latin typeface="+mj-lt"/>
            </a:endParaRPr>
          </a:p>
          <a:p>
            <a:pPr marL="1257300" lvl="2" indent="-342900" eaLnBrk="1" hangingPunct="1">
              <a:defRPr/>
            </a:pPr>
            <a:r>
              <a:rPr lang="cs-CZ" sz="2400" b="1" dirty="0">
                <a:solidFill>
                  <a:schemeClr val="tx1"/>
                </a:solidFill>
                <a:latin typeface="+mj-lt"/>
              </a:rPr>
              <a:t>3. Příkazy pro řízení dat</a:t>
            </a:r>
            <a:r>
              <a:rPr lang="cs-CZ" sz="2400" dirty="0">
                <a:solidFill>
                  <a:schemeClr val="tx1"/>
                </a:solidFill>
                <a:latin typeface="+mj-lt"/>
              </a:rPr>
              <a:t> 		</a:t>
            </a:r>
            <a:r>
              <a:rPr lang="cs-CZ" sz="2400" b="1" dirty="0">
                <a:solidFill>
                  <a:schemeClr val="tx1"/>
                </a:solidFill>
                <a:latin typeface="+mj-lt"/>
              </a:rPr>
              <a:t>(DCL)</a:t>
            </a:r>
          </a:p>
          <a:p>
            <a:pPr marL="1257300" lvl="2" indent="-342900" eaLnBrk="1" hangingPunct="1">
              <a:defRPr/>
            </a:pPr>
            <a:endParaRPr lang="cs-CZ" sz="2400" b="1" dirty="0">
              <a:solidFill>
                <a:schemeClr val="tx1"/>
              </a:solidFill>
              <a:latin typeface="+mj-lt"/>
            </a:endParaRPr>
          </a:p>
          <a:p>
            <a:pPr marL="1257300" lvl="2" indent="-342900" eaLnBrk="1" hangingPunct="1">
              <a:defRPr/>
            </a:pPr>
            <a:r>
              <a:rPr lang="cs-CZ" sz="2400" b="1" dirty="0">
                <a:solidFill>
                  <a:schemeClr val="tx1"/>
                </a:solidFill>
                <a:latin typeface="+mj-lt"/>
              </a:rPr>
              <a:t>4.  Ostatní příkazy</a:t>
            </a:r>
            <a:r>
              <a:rPr lang="cs-CZ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</a:rPr>
              <a:t>			</a:t>
            </a:r>
          </a:p>
          <a:p>
            <a:pPr marL="342900" indent="-342900" eaLnBrk="1" hangingPunct="1">
              <a:defRPr/>
            </a:pPr>
            <a:endParaRPr lang="cs-CZ" sz="24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j-lt"/>
            </a:endParaRPr>
          </a:p>
          <a:p>
            <a:pPr marL="342900" indent="-342900" eaLnBrk="1" hangingPunct="1">
              <a:defRPr/>
            </a:pPr>
            <a:endParaRPr lang="cs-CZ" sz="24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j-lt"/>
            </a:endParaRPr>
          </a:p>
        </p:txBody>
      </p:sp>
      <p:sp>
        <p:nvSpPr>
          <p:cNvPr id="7" name="Rectangle 2"/>
          <p:cNvSpPr txBox="1">
            <a:spLocks noChangeArrowheads="1"/>
          </p:cNvSpPr>
          <p:nvPr/>
        </p:nvSpPr>
        <p:spPr>
          <a:xfrm>
            <a:off x="0" y="0"/>
            <a:ext cx="9144000" cy="81042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 fontAlgn="auto">
              <a:spcAft>
                <a:spcPts val="0"/>
              </a:spcAft>
              <a:defRPr/>
            </a:pPr>
            <a:r>
              <a:rPr lang="cs-CZ" sz="3600" dirty="0" smtClean="0"/>
              <a:t>Popis jazyka SQL</a:t>
            </a:r>
            <a:endParaRPr lang="cs-CZ" sz="3600" dirty="0"/>
          </a:p>
        </p:txBody>
      </p:sp>
    </p:spTree>
    <p:extLst>
      <p:ext uri="{BB962C8B-B14F-4D97-AF65-F5344CB8AC3E}">
        <p14:creationId xmlns:p14="http://schemas.microsoft.com/office/powerpoint/2010/main" val="2028040352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7" name="Rectangle 3"/>
          <p:cNvSpPr>
            <a:spLocks noChangeArrowheads="1"/>
          </p:cNvSpPr>
          <p:nvPr/>
        </p:nvSpPr>
        <p:spPr bwMode="auto">
          <a:xfrm>
            <a:off x="107504" y="1124744"/>
            <a:ext cx="7632700" cy="452431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cs-CZ" altLang="cs-CZ" sz="2400" b="1" dirty="0">
                <a:latin typeface="+mj-lt"/>
              </a:rPr>
              <a:t>Příkazy pro definici dat 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endParaRPr lang="cs-CZ" altLang="cs-CZ" sz="2400" b="1" dirty="0">
              <a:latin typeface="+mj-lt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cs-CZ" altLang="cs-CZ" sz="2400" dirty="0">
                <a:latin typeface="+mj-lt"/>
              </a:rPr>
              <a:t>Těmito příkazy se vytvářejí struktury databáze – tabulky, indexy, pohledy a další objekty. Vytvořené struktury lze také upravovat, doplňovat a mazat. Tato skupina příkazů se nazývá zkráceně </a:t>
            </a:r>
            <a:r>
              <a:rPr lang="cs-CZ" altLang="cs-CZ" sz="2400" b="1" dirty="0">
                <a:latin typeface="+mj-lt"/>
              </a:rPr>
              <a:t>DDL</a:t>
            </a:r>
            <a:r>
              <a:rPr lang="cs-CZ" altLang="cs-CZ" sz="2400" dirty="0">
                <a:latin typeface="+mj-lt"/>
              </a:rPr>
              <a:t> – </a:t>
            </a:r>
            <a:r>
              <a:rPr lang="cs-CZ" altLang="cs-CZ" sz="2400" i="1" dirty="0" smtClean="0">
                <a:latin typeface="+mj-lt"/>
              </a:rPr>
              <a:t>Data </a:t>
            </a:r>
            <a:r>
              <a:rPr lang="cs-CZ" altLang="cs-CZ" sz="2400" i="1" dirty="0">
                <a:latin typeface="+mj-lt"/>
              </a:rPr>
              <a:t>Definition </a:t>
            </a:r>
            <a:r>
              <a:rPr lang="cs-CZ" altLang="cs-CZ" sz="2400" i="1" dirty="0" err="1">
                <a:latin typeface="+mj-lt"/>
              </a:rPr>
              <a:t>Language</a:t>
            </a:r>
            <a:r>
              <a:rPr lang="cs-CZ" altLang="cs-CZ" sz="2400" dirty="0">
                <a:latin typeface="+mj-lt"/>
              </a:rPr>
              <a:t> („jazyk pro definici dat“). 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endParaRPr lang="cs-CZ" altLang="cs-CZ" sz="2400" dirty="0">
              <a:latin typeface="+mj-lt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cs-CZ" altLang="cs-CZ" sz="2400" b="1" dirty="0">
                <a:latin typeface="+mj-lt"/>
              </a:rPr>
              <a:t>CREATE </a:t>
            </a:r>
            <a:r>
              <a:rPr lang="cs-CZ" altLang="cs-CZ" sz="2400" dirty="0">
                <a:latin typeface="+mj-lt"/>
              </a:rPr>
              <a:t>– vytváření nových objektů. 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cs-CZ" altLang="cs-CZ" sz="2400" b="1" dirty="0">
                <a:latin typeface="+mj-lt"/>
              </a:rPr>
              <a:t>ALTER</a:t>
            </a:r>
            <a:r>
              <a:rPr lang="cs-CZ" altLang="cs-CZ" sz="2400" dirty="0">
                <a:latin typeface="+mj-lt"/>
              </a:rPr>
              <a:t> – změny existujících objektů. 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cs-CZ" altLang="cs-CZ" sz="2400" b="1" dirty="0">
                <a:latin typeface="+mj-lt"/>
              </a:rPr>
              <a:t>DROP</a:t>
            </a:r>
            <a:r>
              <a:rPr lang="cs-CZ" altLang="cs-CZ" sz="2400" dirty="0">
                <a:latin typeface="+mj-lt"/>
              </a:rPr>
              <a:t> – odstraňování objektů. 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endParaRPr lang="cs-CZ" altLang="cs-CZ" sz="2400" b="1" dirty="0">
              <a:solidFill>
                <a:schemeClr val="hlink"/>
              </a:solidFill>
              <a:latin typeface="+mj-lt"/>
            </a:endParaRPr>
          </a:p>
        </p:txBody>
      </p:sp>
      <p:sp>
        <p:nvSpPr>
          <p:cNvPr id="7" name="Rectangle 2"/>
          <p:cNvSpPr txBox="1">
            <a:spLocks noChangeArrowheads="1"/>
          </p:cNvSpPr>
          <p:nvPr/>
        </p:nvSpPr>
        <p:spPr>
          <a:xfrm>
            <a:off x="0" y="0"/>
            <a:ext cx="9144000" cy="81042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 fontAlgn="auto">
              <a:spcAft>
                <a:spcPts val="0"/>
              </a:spcAft>
              <a:defRPr/>
            </a:pPr>
            <a:r>
              <a:rPr lang="cs-CZ" sz="3600" dirty="0" smtClean="0"/>
              <a:t>Popis jazyka SQL</a:t>
            </a:r>
            <a:endParaRPr lang="cs-CZ" sz="3600" dirty="0"/>
          </a:p>
        </p:txBody>
      </p:sp>
    </p:spTree>
    <p:extLst>
      <p:ext uri="{BB962C8B-B14F-4D97-AF65-F5344CB8AC3E}">
        <p14:creationId xmlns:p14="http://schemas.microsoft.com/office/powerpoint/2010/main" val="2414632787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5" name="Rectangle 3"/>
          <p:cNvSpPr>
            <a:spLocks noChangeArrowheads="1"/>
          </p:cNvSpPr>
          <p:nvPr/>
        </p:nvSpPr>
        <p:spPr bwMode="auto">
          <a:xfrm>
            <a:off x="107504" y="1052736"/>
            <a:ext cx="8856984" cy="440120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cs-CZ" altLang="cs-CZ" sz="2400" b="1" dirty="0">
                <a:latin typeface="+mj-lt"/>
              </a:rPr>
              <a:t>Příkazy pro manipulaci s daty 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endParaRPr lang="cs-CZ" altLang="cs-CZ" sz="2400" b="1" dirty="0">
              <a:latin typeface="+mj-lt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cs-CZ" altLang="cs-CZ" sz="2400" dirty="0">
                <a:latin typeface="+mj-lt"/>
              </a:rPr>
              <a:t>příkazy pro získání dat z databáze a pro jejich úpravy se označují zkráceně DML (data </a:t>
            </a:r>
            <a:r>
              <a:rPr lang="cs-CZ" altLang="cs-CZ" sz="2400" dirty="0" err="1">
                <a:latin typeface="+mj-lt"/>
              </a:rPr>
              <a:t>Manipulation</a:t>
            </a:r>
            <a:r>
              <a:rPr lang="cs-CZ" altLang="cs-CZ" sz="2400" dirty="0">
                <a:latin typeface="+mj-lt"/>
              </a:rPr>
              <a:t> </a:t>
            </a:r>
            <a:r>
              <a:rPr lang="cs-CZ" altLang="cs-CZ" sz="2400" dirty="0" err="1">
                <a:latin typeface="+mj-lt"/>
              </a:rPr>
              <a:t>Language</a:t>
            </a:r>
            <a:r>
              <a:rPr lang="cs-CZ" altLang="cs-CZ" sz="2400" dirty="0">
                <a:latin typeface="+mj-lt"/>
              </a:rPr>
              <a:t>)</a:t>
            </a:r>
            <a:endParaRPr lang="en-US" altLang="cs-CZ" sz="2400" dirty="0">
              <a:latin typeface="+mj-lt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endParaRPr lang="cs-CZ" altLang="cs-CZ" sz="2400" dirty="0">
              <a:latin typeface="+mj-lt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cs-CZ" altLang="cs-CZ" sz="2400" b="1" dirty="0">
                <a:latin typeface="+mj-lt"/>
              </a:rPr>
              <a:t>SELECT</a:t>
            </a:r>
            <a:r>
              <a:rPr lang="cs-CZ" altLang="cs-CZ" sz="2400" dirty="0">
                <a:latin typeface="+mj-lt"/>
              </a:rPr>
              <a:t> – vybírá data z databáze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cs-CZ" altLang="cs-CZ" sz="2400" b="1" dirty="0">
                <a:latin typeface="+mj-lt"/>
              </a:rPr>
              <a:t>INSERT</a:t>
            </a:r>
            <a:r>
              <a:rPr lang="cs-CZ" altLang="cs-CZ" sz="2400" dirty="0">
                <a:latin typeface="+mj-lt"/>
              </a:rPr>
              <a:t> – vkládá do databáze nová data. 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cs-CZ" altLang="cs-CZ" sz="2400" b="1" dirty="0">
                <a:latin typeface="+mj-lt"/>
              </a:rPr>
              <a:t>UPDATE</a:t>
            </a:r>
            <a:r>
              <a:rPr lang="cs-CZ" altLang="cs-CZ" sz="2400" dirty="0">
                <a:latin typeface="+mj-lt"/>
              </a:rPr>
              <a:t> – mění data v databázi (editace). 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cs-CZ" altLang="cs-CZ" sz="2400" b="1" dirty="0">
                <a:latin typeface="+mj-lt"/>
              </a:rPr>
              <a:t>DELETE</a:t>
            </a:r>
            <a:r>
              <a:rPr lang="cs-CZ" altLang="cs-CZ" sz="2400" dirty="0">
                <a:latin typeface="+mj-lt"/>
              </a:rPr>
              <a:t> – odstraňuje data (záznamy) z databáze. </a:t>
            </a:r>
            <a:endParaRPr lang="cs-CZ" altLang="cs-CZ" sz="2400" dirty="0" smtClean="0">
              <a:latin typeface="+mj-lt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endParaRPr lang="cs-CZ" altLang="cs-CZ" sz="2400" dirty="0">
              <a:latin typeface="+mj-lt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cs-CZ" altLang="cs-CZ" sz="2000" dirty="0">
                <a:latin typeface="+mj-lt"/>
              </a:rPr>
              <a:t>EXPLAIN PLAN FOR – speciální příkaz, který zobrazuje postup zpracování SQL příkazu. Pomáhá uživateli optimalizovat příkazy tak, aby byly rychlejší. </a:t>
            </a:r>
          </a:p>
        </p:txBody>
      </p:sp>
      <p:sp>
        <p:nvSpPr>
          <p:cNvPr id="7" name="Rectangle 2"/>
          <p:cNvSpPr txBox="1">
            <a:spLocks noChangeArrowheads="1"/>
          </p:cNvSpPr>
          <p:nvPr/>
        </p:nvSpPr>
        <p:spPr>
          <a:xfrm>
            <a:off x="0" y="0"/>
            <a:ext cx="9144000" cy="81042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 fontAlgn="auto">
              <a:spcAft>
                <a:spcPts val="0"/>
              </a:spcAft>
              <a:defRPr/>
            </a:pPr>
            <a:r>
              <a:rPr lang="cs-CZ" sz="3600" dirty="0" smtClean="0"/>
              <a:t>Popis jazyka SQL</a:t>
            </a:r>
            <a:endParaRPr lang="cs-CZ" sz="3600" dirty="0"/>
          </a:p>
        </p:txBody>
      </p:sp>
    </p:spTree>
    <p:extLst>
      <p:ext uri="{BB962C8B-B14F-4D97-AF65-F5344CB8AC3E}">
        <p14:creationId xmlns:p14="http://schemas.microsoft.com/office/powerpoint/2010/main" val="3518146285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3" name="Rectangle 3"/>
          <p:cNvSpPr>
            <a:spLocks noChangeArrowheads="1"/>
          </p:cNvSpPr>
          <p:nvPr/>
        </p:nvSpPr>
        <p:spPr bwMode="auto">
          <a:xfrm>
            <a:off x="315395" y="1124744"/>
            <a:ext cx="8064500" cy="526297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cs-CZ" altLang="cs-CZ" sz="2400" b="1" dirty="0">
                <a:latin typeface="+mj-lt"/>
              </a:rPr>
              <a:t>Příkazy pro řízení dat 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endParaRPr lang="cs-CZ" altLang="cs-CZ" sz="2400" b="1" dirty="0">
              <a:latin typeface="+mj-lt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cs-CZ" altLang="cs-CZ" sz="2400" dirty="0">
                <a:latin typeface="+mj-lt"/>
              </a:rPr>
              <a:t>Do této skupiny patří příkazy pro nastavování přístupových práv, řízení provozu a údržby databáze transakcí. Označují se jako </a:t>
            </a:r>
            <a:r>
              <a:rPr lang="cs-CZ" altLang="cs-CZ" sz="2400" b="1" dirty="0">
                <a:latin typeface="+mj-lt"/>
              </a:rPr>
              <a:t>DCL</a:t>
            </a:r>
            <a:r>
              <a:rPr lang="cs-CZ" altLang="cs-CZ" sz="2400" dirty="0">
                <a:latin typeface="+mj-lt"/>
              </a:rPr>
              <a:t> – </a:t>
            </a:r>
            <a:r>
              <a:rPr lang="cs-CZ" altLang="cs-CZ" sz="2400" i="1" dirty="0">
                <a:latin typeface="+mj-lt"/>
              </a:rPr>
              <a:t>Data Control </a:t>
            </a:r>
            <a:r>
              <a:rPr lang="cs-CZ" altLang="cs-CZ" sz="2400" i="1" dirty="0" err="1">
                <a:latin typeface="+mj-lt"/>
              </a:rPr>
              <a:t>Language</a:t>
            </a:r>
            <a:r>
              <a:rPr lang="cs-CZ" altLang="cs-CZ" sz="2400" dirty="0">
                <a:latin typeface="+mj-lt"/>
              </a:rPr>
              <a:t> („jazyk pro ovládání dat“), 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endParaRPr lang="cs-CZ" altLang="cs-CZ" sz="2400" dirty="0">
              <a:latin typeface="+mj-lt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cs-CZ" altLang="cs-CZ" sz="2400" b="1" dirty="0">
                <a:latin typeface="+mj-lt"/>
              </a:rPr>
              <a:t>GRANT</a:t>
            </a:r>
            <a:r>
              <a:rPr lang="cs-CZ" altLang="cs-CZ" sz="2400" dirty="0">
                <a:latin typeface="+mj-lt"/>
              </a:rPr>
              <a:t> 	– příkaz pro přidělení oprávnění uživateli </a:t>
            </a:r>
            <a:br>
              <a:rPr lang="cs-CZ" altLang="cs-CZ" sz="2400" dirty="0">
                <a:latin typeface="+mj-lt"/>
              </a:rPr>
            </a:br>
            <a:r>
              <a:rPr lang="cs-CZ" altLang="cs-CZ" sz="2400" dirty="0">
                <a:latin typeface="+mj-lt"/>
              </a:rPr>
              <a:t>			k určitým objektům. 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cs-CZ" altLang="cs-CZ" sz="2400" b="1" dirty="0">
                <a:latin typeface="+mj-lt"/>
              </a:rPr>
              <a:t>REVOKE</a:t>
            </a:r>
            <a:r>
              <a:rPr lang="cs-CZ" altLang="cs-CZ" sz="2400" dirty="0">
                <a:latin typeface="+mj-lt"/>
              </a:rPr>
              <a:t> 	– příkaz pro odnětí práv uživateli. 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cs-CZ" altLang="cs-CZ" sz="2400" b="1" dirty="0">
                <a:latin typeface="+mj-lt"/>
              </a:rPr>
              <a:t>ALTER USER </a:t>
            </a:r>
            <a:r>
              <a:rPr lang="cs-CZ" altLang="cs-CZ" sz="2400" dirty="0">
                <a:latin typeface="+mj-lt"/>
              </a:rPr>
              <a:t>	– změna uživatele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cs-CZ" altLang="cs-CZ" sz="2400" b="1" dirty="0">
                <a:latin typeface="+mj-lt"/>
              </a:rPr>
              <a:t>DROP USER </a:t>
            </a:r>
            <a:r>
              <a:rPr lang="cs-CZ" altLang="cs-CZ" sz="2400" dirty="0">
                <a:latin typeface="+mj-lt"/>
              </a:rPr>
              <a:t>	– odstranění  uživatele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endParaRPr lang="cs-CZ" altLang="cs-CZ" sz="2400" dirty="0">
              <a:latin typeface="+mj-lt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endParaRPr lang="cs-CZ" altLang="cs-CZ" sz="2400" dirty="0">
              <a:solidFill>
                <a:schemeClr val="hlink"/>
              </a:solidFill>
              <a:latin typeface="+mj-lt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endParaRPr lang="cs-CZ" altLang="cs-CZ" sz="2400" b="1" dirty="0">
              <a:solidFill>
                <a:schemeClr val="hlink"/>
              </a:solidFill>
              <a:latin typeface="+mj-lt"/>
            </a:endParaRPr>
          </a:p>
        </p:txBody>
      </p:sp>
      <p:sp>
        <p:nvSpPr>
          <p:cNvPr id="7" name="Rectangle 2"/>
          <p:cNvSpPr txBox="1">
            <a:spLocks noChangeArrowheads="1"/>
          </p:cNvSpPr>
          <p:nvPr/>
        </p:nvSpPr>
        <p:spPr>
          <a:xfrm>
            <a:off x="0" y="0"/>
            <a:ext cx="9144000" cy="81042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 fontAlgn="auto">
              <a:spcAft>
                <a:spcPts val="0"/>
              </a:spcAft>
              <a:defRPr/>
            </a:pPr>
            <a:r>
              <a:rPr lang="cs-CZ" sz="3600" dirty="0" smtClean="0"/>
              <a:t>Popis jazyka SQL</a:t>
            </a:r>
            <a:endParaRPr lang="cs-CZ" sz="3600" dirty="0"/>
          </a:p>
        </p:txBody>
      </p:sp>
    </p:spTree>
    <p:extLst>
      <p:ext uri="{BB962C8B-B14F-4D97-AF65-F5344CB8AC3E}">
        <p14:creationId xmlns:p14="http://schemas.microsoft.com/office/powerpoint/2010/main" val="2531593746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1" name="Rectangle 3"/>
          <p:cNvSpPr>
            <a:spLocks noChangeArrowheads="1"/>
          </p:cNvSpPr>
          <p:nvPr/>
        </p:nvSpPr>
        <p:spPr bwMode="auto">
          <a:xfrm>
            <a:off x="179512" y="995376"/>
            <a:ext cx="8318500" cy="563231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cs-CZ" altLang="cs-CZ" sz="2400" b="1" dirty="0">
                <a:latin typeface="+mj-lt"/>
              </a:rPr>
              <a:t>Příkazy pro řízení dat – skupina příkazů pro řízení transakcí  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endParaRPr lang="cs-CZ" altLang="cs-CZ" sz="2400" b="1" dirty="0">
              <a:latin typeface="+mj-lt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cs-CZ" altLang="cs-CZ" sz="2400" dirty="0">
                <a:latin typeface="+mj-lt"/>
              </a:rPr>
              <a:t>Označují se </a:t>
            </a:r>
            <a:r>
              <a:rPr lang="cs-CZ" altLang="cs-CZ" sz="2400" b="1" dirty="0">
                <a:latin typeface="+mj-lt"/>
              </a:rPr>
              <a:t>TCC</a:t>
            </a:r>
            <a:r>
              <a:rPr lang="cs-CZ" altLang="cs-CZ" sz="2400" dirty="0">
                <a:latin typeface="+mj-lt"/>
              </a:rPr>
              <a:t> – </a:t>
            </a:r>
            <a:r>
              <a:rPr lang="cs-CZ" altLang="cs-CZ" sz="2400" i="1" dirty="0" err="1">
                <a:latin typeface="+mj-lt"/>
              </a:rPr>
              <a:t>Transaction</a:t>
            </a:r>
            <a:r>
              <a:rPr lang="cs-CZ" altLang="cs-CZ" sz="2400" i="1" dirty="0">
                <a:latin typeface="+mj-lt"/>
              </a:rPr>
              <a:t> Control </a:t>
            </a:r>
            <a:r>
              <a:rPr lang="cs-CZ" altLang="cs-CZ" sz="2400" i="1" dirty="0" err="1">
                <a:latin typeface="+mj-lt"/>
              </a:rPr>
              <a:t>Commands</a:t>
            </a:r>
            <a:r>
              <a:rPr lang="cs-CZ" altLang="cs-CZ" sz="2400" dirty="0">
                <a:latin typeface="+mj-lt"/>
              </a:rPr>
              <a:t> </a:t>
            </a:r>
            <a:br>
              <a:rPr lang="cs-CZ" altLang="cs-CZ" sz="2400" dirty="0">
                <a:latin typeface="+mj-lt"/>
              </a:rPr>
            </a:br>
            <a:r>
              <a:rPr lang="cs-CZ" altLang="cs-CZ" sz="2400" dirty="0">
                <a:latin typeface="+mj-lt"/>
              </a:rPr>
              <a:t>(„jazyk pro ovládání transakcí"). 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endParaRPr lang="cs-CZ" altLang="cs-CZ" sz="2400" dirty="0">
              <a:latin typeface="+mj-lt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cs-CZ" altLang="cs-CZ" sz="2400" b="1" dirty="0">
                <a:latin typeface="+mj-lt"/>
              </a:rPr>
              <a:t>COMMIT</a:t>
            </a:r>
            <a:r>
              <a:rPr lang="cs-CZ" altLang="cs-CZ" sz="2400" dirty="0">
                <a:latin typeface="+mj-lt"/>
              </a:rPr>
              <a:t> – potvrzení transakce. 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cs-CZ" altLang="cs-CZ" sz="2400" b="1" dirty="0">
                <a:latin typeface="+mj-lt"/>
              </a:rPr>
              <a:t>ROLLBACK </a:t>
            </a:r>
            <a:r>
              <a:rPr lang="cs-CZ" altLang="cs-CZ" sz="2400" dirty="0">
                <a:latin typeface="+mj-lt"/>
              </a:rPr>
              <a:t>– zrušení transakce, návrat do původního stavu. 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cs-CZ" altLang="cs-CZ" sz="2400" b="1" dirty="0">
                <a:latin typeface="+mj-lt"/>
              </a:rPr>
              <a:t>SAVEPOINT</a:t>
            </a:r>
          </a:p>
          <a:p>
            <a:pPr>
              <a:spcBef>
                <a:spcPct val="0"/>
              </a:spcBef>
              <a:buNone/>
            </a:pPr>
            <a:r>
              <a:rPr lang="cs-CZ" altLang="cs-CZ" sz="2400" b="1" dirty="0">
                <a:latin typeface="+mj-lt"/>
              </a:rPr>
              <a:t>SET TRANSACTION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endParaRPr lang="cs-CZ" altLang="cs-CZ" sz="2400" b="1" dirty="0">
              <a:solidFill>
                <a:schemeClr val="hlink"/>
              </a:solidFill>
              <a:latin typeface="+mj-lt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endParaRPr lang="cs-CZ" altLang="cs-CZ" sz="2400" b="1" dirty="0">
              <a:solidFill>
                <a:schemeClr val="hlink"/>
              </a:solidFill>
              <a:latin typeface="+mj-lt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endParaRPr lang="cs-CZ" altLang="cs-CZ" sz="2400" dirty="0">
              <a:solidFill>
                <a:schemeClr val="hlink"/>
              </a:solidFill>
              <a:latin typeface="+mj-lt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endParaRPr lang="cs-CZ" altLang="cs-CZ" sz="2400" b="1" dirty="0">
              <a:solidFill>
                <a:schemeClr val="hlink"/>
              </a:solidFill>
              <a:latin typeface="+mj-lt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endParaRPr lang="cs-CZ" altLang="cs-CZ" sz="2400" b="1" dirty="0">
              <a:solidFill>
                <a:schemeClr val="hlink"/>
              </a:solidFill>
              <a:latin typeface="+mj-lt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endParaRPr lang="cs-CZ" altLang="cs-CZ" sz="2400" b="1" dirty="0">
              <a:solidFill>
                <a:schemeClr val="hlink"/>
              </a:solidFill>
              <a:latin typeface="+mj-lt"/>
            </a:endParaRPr>
          </a:p>
        </p:txBody>
      </p:sp>
      <p:sp>
        <p:nvSpPr>
          <p:cNvPr id="7" name="Rectangle 2"/>
          <p:cNvSpPr txBox="1">
            <a:spLocks noChangeArrowheads="1"/>
          </p:cNvSpPr>
          <p:nvPr/>
        </p:nvSpPr>
        <p:spPr>
          <a:xfrm>
            <a:off x="0" y="0"/>
            <a:ext cx="9144000" cy="81042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 fontAlgn="auto">
              <a:spcAft>
                <a:spcPts val="0"/>
              </a:spcAft>
              <a:defRPr/>
            </a:pPr>
            <a:r>
              <a:rPr lang="cs-CZ" sz="3600" dirty="0" smtClean="0"/>
              <a:t>Popis jazyka SQL</a:t>
            </a:r>
            <a:endParaRPr lang="cs-CZ" sz="3600" dirty="0"/>
          </a:p>
        </p:txBody>
      </p:sp>
    </p:spTree>
    <p:extLst>
      <p:ext uri="{BB962C8B-B14F-4D97-AF65-F5344CB8AC3E}">
        <p14:creationId xmlns:p14="http://schemas.microsoft.com/office/powerpoint/2010/main" val="3479014805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9" name="Rectangle 3"/>
          <p:cNvSpPr>
            <a:spLocks noChangeArrowheads="1"/>
          </p:cNvSpPr>
          <p:nvPr/>
        </p:nvSpPr>
        <p:spPr bwMode="auto">
          <a:xfrm>
            <a:off x="318843" y="1136255"/>
            <a:ext cx="8064500" cy="48942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cs-CZ" altLang="cs-CZ" sz="2400" b="1" dirty="0">
                <a:latin typeface="+mj-lt"/>
              </a:rPr>
              <a:t>Ostatní příkazy 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endParaRPr lang="cs-CZ" altLang="cs-CZ" sz="2400" b="1" dirty="0">
              <a:latin typeface="+mj-lt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cs-CZ" altLang="cs-CZ" sz="2400" dirty="0">
                <a:latin typeface="+mj-lt"/>
              </a:rPr>
              <a:t>Do této skupiny patří příkazy pro správu databáze. Pomocí nich lze nastavovat systémové parametry (kódování znaků, způsob řazení, formáty data a času apod.). Tato skupina není standardizována a konkrétní syntaxe příkazů je závislá na databázovém systému. </a:t>
            </a:r>
            <a:br>
              <a:rPr lang="cs-CZ" altLang="cs-CZ" sz="2400" dirty="0">
                <a:latin typeface="+mj-lt"/>
              </a:rPr>
            </a:br>
            <a:endParaRPr lang="cs-CZ" altLang="cs-CZ" sz="2400" b="1" dirty="0">
              <a:latin typeface="+mj-lt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endParaRPr lang="cs-CZ" altLang="cs-CZ" sz="2400" b="1" dirty="0">
              <a:solidFill>
                <a:schemeClr val="hlink"/>
              </a:solidFill>
              <a:latin typeface="+mj-lt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endParaRPr lang="cs-CZ" altLang="cs-CZ" sz="2400" dirty="0">
              <a:solidFill>
                <a:schemeClr val="hlink"/>
              </a:solidFill>
              <a:latin typeface="+mj-lt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endParaRPr lang="cs-CZ" altLang="cs-CZ" sz="2400" b="1" dirty="0">
              <a:solidFill>
                <a:schemeClr val="hlink"/>
              </a:solidFill>
              <a:latin typeface="+mj-lt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endParaRPr lang="cs-CZ" altLang="cs-CZ" sz="2400" b="1" dirty="0">
              <a:solidFill>
                <a:schemeClr val="hlink"/>
              </a:solidFill>
              <a:latin typeface="+mj-lt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endParaRPr lang="cs-CZ" altLang="cs-CZ" sz="2400" b="1" dirty="0">
              <a:solidFill>
                <a:schemeClr val="hlink"/>
              </a:solidFill>
              <a:latin typeface="+mj-lt"/>
            </a:endParaRPr>
          </a:p>
        </p:txBody>
      </p:sp>
      <p:sp>
        <p:nvSpPr>
          <p:cNvPr id="7" name="Rectangle 2"/>
          <p:cNvSpPr txBox="1">
            <a:spLocks noChangeArrowheads="1"/>
          </p:cNvSpPr>
          <p:nvPr/>
        </p:nvSpPr>
        <p:spPr>
          <a:xfrm>
            <a:off x="0" y="0"/>
            <a:ext cx="9144000" cy="81042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 fontAlgn="auto">
              <a:spcAft>
                <a:spcPts val="0"/>
              </a:spcAft>
              <a:defRPr/>
            </a:pPr>
            <a:r>
              <a:rPr lang="cs-CZ" sz="3600" dirty="0" smtClean="0"/>
              <a:t>Popis jazyka SQL</a:t>
            </a:r>
            <a:endParaRPr lang="cs-CZ" sz="3600" dirty="0"/>
          </a:p>
        </p:txBody>
      </p:sp>
    </p:spTree>
    <p:extLst>
      <p:ext uri="{BB962C8B-B14F-4D97-AF65-F5344CB8AC3E}">
        <p14:creationId xmlns:p14="http://schemas.microsoft.com/office/powerpoint/2010/main" val="589849107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7" name="Rectangle 3"/>
          <p:cNvSpPr>
            <a:spLocks noChangeArrowheads="1"/>
          </p:cNvSpPr>
          <p:nvPr/>
        </p:nvSpPr>
        <p:spPr bwMode="auto">
          <a:xfrm>
            <a:off x="251520" y="1288890"/>
            <a:ext cx="8353425" cy="458587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cs-CZ" altLang="cs-CZ" sz="2000" b="1" u="sng" dirty="0" smtClean="0">
                <a:latin typeface="+mj-lt"/>
              </a:rPr>
              <a:t>Číselné datové typy (výběr)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endParaRPr lang="cs-CZ" altLang="cs-CZ" sz="1800" dirty="0">
              <a:latin typeface="+mj-lt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cs-CZ" altLang="cs-CZ" sz="1800" b="1" dirty="0">
                <a:latin typeface="+mj-lt"/>
              </a:rPr>
              <a:t>DECIMAL</a:t>
            </a:r>
            <a:r>
              <a:rPr lang="cs-CZ" altLang="cs-CZ" sz="1800" dirty="0">
                <a:latin typeface="+mj-lt"/>
              </a:rPr>
              <a:t> (</a:t>
            </a:r>
            <a:r>
              <a:rPr lang="en-US" altLang="cs-CZ" sz="1800" dirty="0">
                <a:latin typeface="+mj-lt"/>
              </a:rPr>
              <a:t>&lt;</a:t>
            </a:r>
            <a:r>
              <a:rPr lang="cs-CZ" altLang="cs-CZ" sz="1800" dirty="0">
                <a:latin typeface="+mj-lt"/>
              </a:rPr>
              <a:t>celé číslo1</a:t>
            </a:r>
            <a:r>
              <a:rPr lang="en-US" altLang="cs-CZ" sz="1800" dirty="0">
                <a:latin typeface="+mj-lt"/>
              </a:rPr>
              <a:t>&gt;</a:t>
            </a:r>
            <a:r>
              <a:rPr lang="cs-CZ" altLang="cs-CZ" sz="1800" dirty="0">
                <a:latin typeface="+mj-lt"/>
              </a:rPr>
              <a:t>, </a:t>
            </a:r>
            <a:r>
              <a:rPr lang="en-US" altLang="cs-CZ" sz="1800" dirty="0">
                <a:latin typeface="+mj-lt"/>
              </a:rPr>
              <a:t>&lt;</a:t>
            </a:r>
            <a:r>
              <a:rPr lang="cs-CZ" altLang="cs-CZ" sz="1800" dirty="0">
                <a:latin typeface="+mj-lt"/>
              </a:rPr>
              <a:t>celé číslo2</a:t>
            </a:r>
            <a:r>
              <a:rPr lang="en-US" altLang="cs-CZ" sz="1800" dirty="0">
                <a:latin typeface="+mj-lt"/>
              </a:rPr>
              <a:t>&gt;</a:t>
            </a:r>
            <a:r>
              <a:rPr lang="cs-CZ" altLang="cs-CZ" sz="1800" dirty="0">
                <a:latin typeface="+mj-lt"/>
              </a:rPr>
              <a:t>)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cs-CZ" altLang="cs-CZ" sz="1800" dirty="0">
                <a:latin typeface="+mj-lt"/>
              </a:rPr>
              <a:t>Desetinné číslo s celkovým počtem </a:t>
            </a:r>
            <a:r>
              <a:rPr lang="en-US" altLang="cs-CZ" sz="1800" dirty="0">
                <a:latin typeface="+mj-lt"/>
              </a:rPr>
              <a:t>&lt;</a:t>
            </a:r>
            <a:r>
              <a:rPr lang="cs-CZ" altLang="cs-CZ" sz="1800" dirty="0">
                <a:latin typeface="+mj-lt"/>
              </a:rPr>
              <a:t>celé číslo1</a:t>
            </a:r>
            <a:r>
              <a:rPr lang="en-US" altLang="cs-CZ" sz="1800" dirty="0">
                <a:latin typeface="+mj-lt"/>
              </a:rPr>
              <a:t>&gt;</a:t>
            </a:r>
            <a:r>
              <a:rPr lang="cs-CZ" altLang="cs-CZ" sz="1800" dirty="0">
                <a:latin typeface="+mj-lt"/>
              </a:rPr>
              <a:t> číslic a s počtem </a:t>
            </a:r>
            <a:r>
              <a:rPr lang="en-US" altLang="cs-CZ" sz="1800" dirty="0">
                <a:latin typeface="+mj-lt"/>
              </a:rPr>
              <a:t>&lt;</a:t>
            </a:r>
            <a:r>
              <a:rPr lang="cs-CZ" altLang="cs-CZ" sz="1800" dirty="0">
                <a:latin typeface="+mj-lt"/>
              </a:rPr>
              <a:t>celé číslo2</a:t>
            </a:r>
            <a:r>
              <a:rPr lang="en-US" altLang="cs-CZ" sz="1800" dirty="0">
                <a:latin typeface="+mj-lt"/>
              </a:rPr>
              <a:t>&gt;</a:t>
            </a:r>
            <a:r>
              <a:rPr lang="cs-CZ" altLang="cs-CZ" sz="1800" dirty="0">
                <a:latin typeface="+mj-lt"/>
              </a:rPr>
              <a:t> za desetinnou čárkou. Stejný typ je NUMERIC.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cs-CZ" altLang="cs-CZ" sz="1800" b="1" dirty="0">
                <a:latin typeface="+mj-lt"/>
              </a:rPr>
              <a:t>FLOAT</a:t>
            </a:r>
            <a:r>
              <a:rPr lang="cs-CZ" altLang="cs-CZ" sz="1800" dirty="0">
                <a:latin typeface="+mj-lt"/>
              </a:rPr>
              <a:t> (</a:t>
            </a:r>
            <a:r>
              <a:rPr lang="en-US" altLang="cs-CZ" sz="1800" dirty="0">
                <a:latin typeface="+mj-lt"/>
              </a:rPr>
              <a:t>&lt;</a:t>
            </a:r>
            <a:r>
              <a:rPr lang="cs-CZ" altLang="cs-CZ" sz="1800" dirty="0">
                <a:latin typeface="+mj-lt"/>
              </a:rPr>
              <a:t>celé číslo</a:t>
            </a:r>
            <a:r>
              <a:rPr lang="en-US" altLang="cs-CZ" sz="1800" dirty="0">
                <a:latin typeface="+mj-lt"/>
              </a:rPr>
              <a:t>&gt;</a:t>
            </a:r>
            <a:r>
              <a:rPr lang="cs-CZ" altLang="cs-CZ" sz="1800" dirty="0">
                <a:latin typeface="+mj-lt"/>
              </a:rPr>
              <a:t>)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cs-CZ" altLang="cs-CZ" sz="1800" dirty="0">
                <a:latin typeface="+mj-lt"/>
              </a:rPr>
              <a:t>Desetinné číslo s plovoucí desetinnou tečkou. Parametr udává počet platných číslic (max. 38) 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cs-CZ" altLang="cs-CZ" sz="1800" b="1" dirty="0">
                <a:latin typeface="+mj-lt"/>
              </a:rPr>
              <a:t>REAL</a:t>
            </a:r>
            <a:r>
              <a:rPr lang="cs-CZ" altLang="cs-CZ" sz="1800" dirty="0">
                <a:latin typeface="+mj-lt"/>
              </a:rPr>
              <a:t> (</a:t>
            </a:r>
            <a:r>
              <a:rPr lang="en-US" altLang="cs-CZ" sz="1800" dirty="0">
                <a:latin typeface="+mj-lt"/>
              </a:rPr>
              <a:t>&lt;</a:t>
            </a:r>
            <a:r>
              <a:rPr lang="cs-CZ" altLang="cs-CZ" sz="1800" dirty="0">
                <a:latin typeface="+mj-lt"/>
              </a:rPr>
              <a:t>celé číslo</a:t>
            </a:r>
            <a:r>
              <a:rPr lang="en-US" altLang="cs-CZ" sz="1800" dirty="0">
                <a:latin typeface="+mj-lt"/>
              </a:rPr>
              <a:t>&gt;</a:t>
            </a:r>
            <a:r>
              <a:rPr lang="cs-CZ" altLang="cs-CZ" sz="1800" dirty="0">
                <a:latin typeface="+mj-lt"/>
              </a:rPr>
              <a:t>)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cs-CZ" altLang="cs-CZ" sz="1800" dirty="0">
                <a:latin typeface="+mj-lt"/>
              </a:rPr>
              <a:t>Desetinné číslo s plovoucí desetinnou tečkou. Parametr udává počet platných číslic (max. 18) 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cs-CZ" altLang="cs-CZ" sz="1800" b="1" dirty="0">
                <a:latin typeface="+mj-lt"/>
              </a:rPr>
              <a:t>INTEGER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cs-CZ" altLang="cs-CZ" sz="1800" dirty="0">
                <a:latin typeface="+mj-lt"/>
              </a:rPr>
              <a:t>Celé číslo v rozsahu – 2 147 483 648 až 2 147 483 647.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cs-CZ" altLang="cs-CZ" sz="1800" b="1" dirty="0">
                <a:latin typeface="+mj-lt"/>
              </a:rPr>
              <a:t>SMALLINT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cs-CZ" altLang="cs-CZ" sz="1800" dirty="0">
                <a:latin typeface="+mj-lt"/>
              </a:rPr>
              <a:t>Celé číslo v rozsahu – 32 768 až  32 767.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endParaRPr lang="cs-CZ" altLang="cs-CZ" sz="2000" dirty="0">
              <a:solidFill>
                <a:schemeClr val="hlink"/>
              </a:solidFill>
              <a:latin typeface="+mj-lt"/>
            </a:endParaRPr>
          </a:p>
        </p:txBody>
      </p:sp>
      <p:sp>
        <p:nvSpPr>
          <p:cNvPr id="7" name="Rectangle 2"/>
          <p:cNvSpPr txBox="1">
            <a:spLocks noChangeArrowheads="1"/>
          </p:cNvSpPr>
          <p:nvPr/>
        </p:nvSpPr>
        <p:spPr>
          <a:xfrm>
            <a:off x="0" y="0"/>
            <a:ext cx="9144000" cy="81042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 fontAlgn="auto">
              <a:spcAft>
                <a:spcPts val="0"/>
              </a:spcAft>
              <a:defRPr/>
            </a:pPr>
            <a:r>
              <a:rPr lang="cs-CZ" sz="3600" dirty="0" smtClean="0"/>
              <a:t>Standardní datové typy SQL</a:t>
            </a:r>
            <a:endParaRPr lang="cs-CZ" sz="3600" dirty="0"/>
          </a:p>
        </p:txBody>
      </p:sp>
    </p:spTree>
    <p:extLst>
      <p:ext uri="{BB962C8B-B14F-4D97-AF65-F5344CB8AC3E}">
        <p14:creationId xmlns:p14="http://schemas.microsoft.com/office/powerpoint/2010/main" val="145490271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5" name="Rectangle 3"/>
          <p:cNvSpPr>
            <a:spLocks noChangeArrowheads="1"/>
          </p:cNvSpPr>
          <p:nvPr/>
        </p:nvSpPr>
        <p:spPr bwMode="auto">
          <a:xfrm>
            <a:off x="395684" y="1093421"/>
            <a:ext cx="7632700" cy="50784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cs-CZ" altLang="cs-CZ" sz="2000" b="1" u="sng" dirty="0">
                <a:latin typeface="+mj-lt"/>
              </a:rPr>
              <a:t>Znakové datové typy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endParaRPr lang="cs-CZ" altLang="cs-CZ" sz="2000" dirty="0">
              <a:latin typeface="+mj-lt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cs-CZ" altLang="cs-CZ" sz="2000" b="1" dirty="0">
                <a:latin typeface="+mj-lt"/>
              </a:rPr>
              <a:t>CHAR</a:t>
            </a:r>
            <a:r>
              <a:rPr lang="cs-CZ" altLang="cs-CZ" sz="2000" dirty="0">
                <a:latin typeface="+mj-lt"/>
              </a:rPr>
              <a:t> (</a:t>
            </a:r>
            <a:r>
              <a:rPr lang="en-US" altLang="cs-CZ" sz="2000" dirty="0">
                <a:latin typeface="+mj-lt"/>
              </a:rPr>
              <a:t>&lt;</a:t>
            </a:r>
            <a:r>
              <a:rPr lang="cs-CZ" altLang="cs-CZ" sz="2000" dirty="0">
                <a:latin typeface="+mj-lt"/>
              </a:rPr>
              <a:t>celé číslo</a:t>
            </a:r>
            <a:r>
              <a:rPr lang="en-US" altLang="cs-CZ" sz="2000" dirty="0">
                <a:latin typeface="+mj-lt"/>
              </a:rPr>
              <a:t>&gt;</a:t>
            </a:r>
            <a:r>
              <a:rPr lang="cs-CZ" altLang="cs-CZ" sz="2000" dirty="0">
                <a:latin typeface="+mj-lt"/>
              </a:rPr>
              <a:t>)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cs-CZ" altLang="cs-CZ" sz="2000" dirty="0">
                <a:latin typeface="+mj-lt"/>
              </a:rPr>
              <a:t>Řetězec znaků pevné délky </a:t>
            </a:r>
            <a:r>
              <a:rPr lang="en-US" altLang="cs-CZ" sz="2000" dirty="0">
                <a:latin typeface="+mj-lt"/>
              </a:rPr>
              <a:t>&lt;</a:t>
            </a:r>
            <a:r>
              <a:rPr lang="cs-CZ" altLang="cs-CZ" sz="2000" dirty="0">
                <a:latin typeface="+mj-lt"/>
              </a:rPr>
              <a:t>celé číslo</a:t>
            </a:r>
            <a:r>
              <a:rPr lang="en-US" altLang="cs-CZ" sz="2000" dirty="0">
                <a:latin typeface="+mj-lt"/>
              </a:rPr>
              <a:t>&gt;</a:t>
            </a:r>
            <a:r>
              <a:rPr lang="cs-CZ" altLang="cs-CZ" sz="2000" dirty="0">
                <a:latin typeface="+mj-lt"/>
              </a:rPr>
              <a:t> znaků.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cs-CZ" altLang="cs-CZ" sz="2000" dirty="0">
                <a:latin typeface="+mj-lt"/>
              </a:rPr>
              <a:t>Maximální délka bývá 255 znaků.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endParaRPr lang="cs-CZ" altLang="cs-CZ" sz="2000" dirty="0">
              <a:latin typeface="+mj-lt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cs-CZ" altLang="cs-CZ" sz="2000" b="1" dirty="0">
                <a:latin typeface="+mj-lt"/>
              </a:rPr>
              <a:t>VARCHAR</a:t>
            </a:r>
            <a:r>
              <a:rPr lang="cs-CZ" altLang="cs-CZ" sz="2000" dirty="0">
                <a:latin typeface="+mj-lt"/>
              </a:rPr>
              <a:t> (</a:t>
            </a:r>
            <a:r>
              <a:rPr lang="en-US" altLang="cs-CZ" sz="2000" dirty="0">
                <a:latin typeface="+mj-lt"/>
              </a:rPr>
              <a:t>&lt;</a:t>
            </a:r>
            <a:r>
              <a:rPr lang="cs-CZ" altLang="cs-CZ" sz="2000" dirty="0">
                <a:latin typeface="+mj-lt"/>
              </a:rPr>
              <a:t>celé číslo</a:t>
            </a:r>
            <a:r>
              <a:rPr lang="en-US" altLang="cs-CZ" sz="2000" dirty="0">
                <a:latin typeface="+mj-lt"/>
              </a:rPr>
              <a:t>&gt;</a:t>
            </a:r>
            <a:r>
              <a:rPr lang="cs-CZ" altLang="cs-CZ" sz="2000" dirty="0">
                <a:latin typeface="+mj-lt"/>
              </a:rPr>
              <a:t>)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cs-CZ" altLang="cs-CZ" sz="2000" dirty="0">
                <a:latin typeface="+mj-lt"/>
              </a:rPr>
              <a:t>Řetězec znaků proměnlivé délky, maximálně </a:t>
            </a:r>
            <a:r>
              <a:rPr lang="en-US" altLang="cs-CZ" sz="2000" dirty="0">
                <a:latin typeface="+mj-lt"/>
              </a:rPr>
              <a:t>&lt;</a:t>
            </a:r>
            <a:r>
              <a:rPr lang="cs-CZ" altLang="cs-CZ" sz="2000" dirty="0">
                <a:latin typeface="+mj-lt"/>
              </a:rPr>
              <a:t>celé číslo</a:t>
            </a:r>
            <a:r>
              <a:rPr lang="en-US" altLang="cs-CZ" sz="2000" dirty="0">
                <a:latin typeface="+mj-lt"/>
              </a:rPr>
              <a:t>&gt;</a:t>
            </a:r>
            <a:r>
              <a:rPr lang="cs-CZ" altLang="cs-CZ" sz="2000" dirty="0">
                <a:latin typeface="+mj-lt"/>
              </a:rPr>
              <a:t> znaků.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cs-CZ" altLang="cs-CZ" sz="2000" dirty="0">
                <a:latin typeface="+mj-lt"/>
              </a:rPr>
              <a:t>Maximální délka bývá delší než u typu </a:t>
            </a:r>
            <a:r>
              <a:rPr lang="cs-CZ" altLang="cs-CZ" sz="2000" b="1" dirty="0">
                <a:latin typeface="+mj-lt"/>
              </a:rPr>
              <a:t>CHAR</a:t>
            </a:r>
            <a:r>
              <a:rPr lang="cs-CZ" altLang="cs-CZ" sz="2000" dirty="0">
                <a:latin typeface="+mj-lt"/>
              </a:rPr>
              <a:t>.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endParaRPr lang="cs-CZ" altLang="cs-CZ" sz="2000" dirty="0">
              <a:latin typeface="+mj-lt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endParaRPr lang="cs-CZ" altLang="cs-CZ" sz="2000" dirty="0">
              <a:latin typeface="+mj-lt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cs-CZ" altLang="cs-CZ" sz="2000" dirty="0">
                <a:latin typeface="+mj-lt"/>
              </a:rPr>
              <a:t>Oba datové typy mohou být ve variantě s národními znaky </a:t>
            </a:r>
            <a:br>
              <a:rPr lang="cs-CZ" altLang="cs-CZ" sz="2000" dirty="0">
                <a:latin typeface="+mj-lt"/>
              </a:rPr>
            </a:br>
            <a:r>
              <a:rPr lang="cs-CZ" altLang="cs-CZ" sz="2000" dirty="0">
                <a:latin typeface="+mj-lt"/>
              </a:rPr>
              <a:t>jako </a:t>
            </a:r>
            <a:r>
              <a:rPr lang="cs-CZ" altLang="cs-CZ" sz="2000" b="1" dirty="0">
                <a:latin typeface="+mj-lt"/>
              </a:rPr>
              <a:t>NCHAR</a:t>
            </a:r>
            <a:r>
              <a:rPr lang="cs-CZ" altLang="cs-CZ" sz="2000" dirty="0">
                <a:latin typeface="+mj-lt"/>
              </a:rPr>
              <a:t> či </a:t>
            </a:r>
            <a:r>
              <a:rPr lang="cs-CZ" altLang="cs-CZ" sz="2000" b="1" dirty="0">
                <a:latin typeface="+mj-lt"/>
              </a:rPr>
              <a:t>NVARCHAR</a:t>
            </a:r>
            <a:r>
              <a:rPr lang="cs-CZ" altLang="cs-CZ" sz="2000" dirty="0">
                <a:latin typeface="+mj-lt"/>
              </a:rPr>
              <a:t>.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endParaRPr lang="cs-CZ" altLang="cs-CZ" sz="2000" dirty="0">
              <a:solidFill>
                <a:schemeClr val="hlink"/>
              </a:solidFill>
              <a:latin typeface="+mj-lt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endParaRPr lang="cs-CZ" altLang="cs-CZ" sz="2000" dirty="0">
              <a:solidFill>
                <a:schemeClr val="hlink"/>
              </a:solidFill>
              <a:latin typeface="+mj-lt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endParaRPr lang="cs-CZ" altLang="cs-CZ" sz="2000" dirty="0">
              <a:solidFill>
                <a:schemeClr val="hlink"/>
              </a:solidFill>
              <a:latin typeface="+mj-lt"/>
            </a:endParaRPr>
          </a:p>
        </p:txBody>
      </p:sp>
      <p:sp>
        <p:nvSpPr>
          <p:cNvPr id="7" name="Rectangle 2"/>
          <p:cNvSpPr txBox="1">
            <a:spLocks noChangeArrowheads="1"/>
          </p:cNvSpPr>
          <p:nvPr/>
        </p:nvSpPr>
        <p:spPr>
          <a:xfrm>
            <a:off x="0" y="0"/>
            <a:ext cx="9144000" cy="81042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 fontAlgn="auto">
              <a:spcAft>
                <a:spcPts val="0"/>
              </a:spcAft>
              <a:defRPr/>
            </a:pPr>
            <a:r>
              <a:rPr lang="cs-CZ" sz="3600" dirty="0" smtClean="0"/>
              <a:t>Standardní datové typy SQL</a:t>
            </a:r>
            <a:endParaRPr lang="cs-CZ" sz="3600" dirty="0"/>
          </a:p>
        </p:txBody>
      </p:sp>
    </p:spTree>
    <p:extLst>
      <p:ext uri="{BB962C8B-B14F-4D97-AF65-F5344CB8AC3E}">
        <p14:creationId xmlns:p14="http://schemas.microsoft.com/office/powerpoint/2010/main" val="1078762763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3" name="Rectangle 3"/>
          <p:cNvSpPr>
            <a:spLocks noChangeArrowheads="1"/>
          </p:cNvSpPr>
          <p:nvPr/>
        </p:nvSpPr>
        <p:spPr bwMode="auto">
          <a:xfrm>
            <a:off x="243132" y="1154747"/>
            <a:ext cx="7632700" cy="50783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cs-CZ" altLang="cs-CZ" sz="2000" b="1" u="sng" dirty="0">
                <a:latin typeface="+mj-lt"/>
              </a:rPr>
              <a:t>Datové typy pro datum a čas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endParaRPr lang="cs-CZ" altLang="cs-CZ" sz="2000" dirty="0">
              <a:latin typeface="+mj-lt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cs-CZ" altLang="cs-CZ" sz="2000" b="1" dirty="0">
                <a:latin typeface="+mj-lt"/>
              </a:rPr>
              <a:t>DATE</a:t>
            </a:r>
            <a:r>
              <a:rPr lang="cs-CZ" altLang="cs-CZ" sz="2000" dirty="0">
                <a:latin typeface="+mj-lt"/>
              </a:rPr>
              <a:t> - Vyjádření datumu.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endParaRPr lang="cs-CZ" altLang="cs-CZ" sz="2000" dirty="0">
              <a:latin typeface="+mj-lt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cs-CZ" altLang="cs-CZ" sz="2000" b="1" dirty="0">
                <a:latin typeface="+mj-lt"/>
              </a:rPr>
              <a:t>TIME</a:t>
            </a:r>
            <a:r>
              <a:rPr lang="cs-CZ" altLang="cs-CZ" sz="2000" dirty="0">
                <a:latin typeface="+mj-lt"/>
              </a:rPr>
              <a:t> - Vyjádření času.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endParaRPr lang="cs-CZ" altLang="cs-CZ" sz="2000" dirty="0">
              <a:latin typeface="+mj-lt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cs-CZ" altLang="cs-CZ" sz="2000" b="1" dirty="0">
                <a:latin typeface="+mj-lt"/>
              </a:rPr>
              <a:t>TIMESTAMP</a:t>
            </a:r>
            <a:r>
              <a:rPr lang="cs-CZ" altLang="cs-CZ" sz="2000" dirty="0">
                <a:latin typeface="+mj-lt"/>
              </a:rPr>
              <a:t> - Struktura obsahující datum a čas.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endParaRPr lang="cs-CZ" altLang="cs-CZ" sz="2000" dirty="0">
              <a:latin typeface="+mj-lt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cs-CZ" altLang="cs-CZ" sz="2000" b="1" dirty="0">
                <a:latin typeface="+mj-lt"/>
              </a:rPr>
              <a:t>INTERVAL</a:t>
            </a:r>
            <a:r>
              <a:rPr lang="cs-CZ" altLang="cs-CZ" sz="2000" dirty="0">
                <a:latin typeface="+mj-lt"/>
              </a:rPr>
              <a:t> - Časové intervaly.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endParaRPr lang="cs-CZ" altLang="cs-CZ" sz="2000" dirty="0">
              <a:latin typeface="+mj-lt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cs-CZ" altLang="cs-CZ" sz="2000" dirty="0">
                <a:latin typeface="+mj-lt"/>
              </a:rPr>
              <a:t>Čas a časové razítko mohou být doplněny i o informace o časové zóně:</a:t>
            </a:r>
            <a:br>
              <a:rPr lang="cs-CZ" altLang="cs-CZ" sz="2000" dirty="0">
                <a:latin typeface="+mj-lt"/>
              </a:rPr>
            </a:br>
            <a:r>
              <a:rPr lang="cs-CZ" altLang="cs-CZ" sz="2000" dirty="0">
                <a:latin typeface="+mj-lt"/>
              </a:rPr>
              <a:t>TIMESTAMP(přesnost) WITH TIME ZONE 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cs-CZ" altLang="cs-CZ" sz="2000" dirty="0">
                <a:latin typeface="+mj-lt"/>
              </a:rPr>
              <a:t>TIME WITH TIME ZONE </a:t>
            </a:r>
            <a:r>
              <a:rPr lang="cs-CZ" altLang="cs-CZ" sz="2000" dirty="0">
                <a:solidFill>
                  <a:schemeClr val="hlink"/>
                </a:solidFill>
                <a:latin typeface="+mj-lt"/>
              </a:rPr>
              <a:t/>
            </a:r>
            <a:br>
              <a:rPr lang="cs-CZ" altLang="cs-CZ" sz="2000" dirty="0">
                <a:solidFill>
                  <a:schemeClr val="hlink"/>
                </a:solidFill>
                <a:latin typeface="+mj-lt"/>
              </a:rPr>
            </a:br>
            <a:endParaRPr lang="cs-CZ" altLang="cs-CZ" sz="2000" dirty="0">
              <a:solidFill>
                <a:schemeClr val="hlink"/>
              </a:solidFill>
              <a:latin typeface="+mj-lt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endParaRPr lang="cs-CZ" altLang="cs-CZ" sz="2000" dirty="0">
              <a:solidFill>
                <a:schemeClr val="hlink"/>
              </a:solidFill>
              <a:latin typeface="+mj-lt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endParaRPr lang="cs-CZ" altLang="cs-CZ" sz="2000" dirty="0">
              <a:solidFill>
                <a:schemeClr val="hlink"/>
              </a:solidFill>
              <a:latin typeface="+mj-lt"/>
            </a:endParaRPr>
          </a:p>
        </p:txBody>
      </p:sp>
      <p:sp>
        <p:nvSpPr>
          <p:cNvPr id="7" name="Rectangle 2"/>
          <p:cNvSpPr txBox="1">
            <a:spLocks noChangeArrowheads="1"/>
          </p:cNvSpPr>
          <p:nvPr/>
        </p:nvSpPr>
        <p:spPr>
          <a:xfrm>
            <a:off x="0" y="0"/>
            <a:ext cx="9144000" cy="81042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 fontAlgn="auto">
              <a:spcAft>
                <a:spcPts val="0"/>
              </a:spcAft>
              <a:defRPr/>
            </a:pPr>
            <a:r>
              <a:rPr lang="cs-CZ" sz="3600" dirty="0" smtClean="0"/>
              <a:t>Standardní datové typy SQL</a:t>
            </a:r>
            <a:endParaRPr lang="cs-CZ" sz="3600" dirty="0"/>
          </a:p>
        </p:txBody>
      </p:sp>
    </p:spTree>
    <p:extLst>
      <p:ext uri="{BB962C8B-B14F-4D97-AF65-F5344CB8AC3E}">
        <p14:creationId xmlns:p14="http://schemas.microsoft.com/office/powerpoint/2010/main" val="1692058254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1" name="Rectangle 3"/>
          <p:cNvSpPr>
            <a:spLocks noChangeArrowheads="1"/>
          </p:cNvSpPr>
          <p:nvPr/>
        </p:nvSpPr>
        <p:spPr bwMode="auto">
          <a:xfrm>
            <a:off x="269875" y="1196752"/>
            <a:ext cx="8604250" cy="455509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cs-CZ" altLang="cs-CZ" sz="2000" b="1" u="sng" dirty="0">
                <a:latin typeface="+mj-lt"/>
              </a:rPr>
              <a:t>Číselné datové typy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endParaRPr lang="cs-CZ" altLang="cs-CZ" sz="1800" dirty="0">
              <a:latin typeface="+mj-lt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cs-CZ" altLang="cs-CZ" sz="1800" b="1" dirty="0">
                <a:latin typeface="+mj-lt"/>
              </a:rPr>
              <a:t>NUMBER</a:t>
            </a:r>
            <a:r>
              <a:rPr lang="cs-CZ" altLang="cs-CZ" sz="1800" dirty="0">
                <a:latin typeface="+mj-lt"/>
              </a:rPr>
              <a:t> (</a:t>
            </a:r>
            <a:r>
              <a:rPr lang="en-US" altLang="cs-CZ" sz="1800" dirty="0">
                <a:latin typeface="+mj-lt"/>
              </a:rPr>
              <a:t>&lt;</a:t>
            </a:r>
            <a:r>
              <a:rPr lang="cs-CZ" altLang="cs-CZ" sz="1800" dirty="0">
                <a:latin typeface="+mj-lt"/>
              </a:rPr>
              <a:t>celé číslo1</a:t>
            </a:r>
            <a:r>
              <a:rPr lang="en-US" altLang="cs-CZ" sz="1800" dirty="0">
                <a:latin typeface="+mj-lt"/>
              </a:rPr>
              <a:t>&gt;</a:t>
            </a:r>
            <a:r>
              <a:rPr lang="cs-CZ" altLang="cs-CZ" sz="1800" dirty="0">
                <a:latin typeface="+mj-lt"/>
              </a:rPr>
              <a:t>, </a:t>
            </a:r>
            <a:r>
              <a:rPr lang="en-US" altLang="cs-CZ" sz="1800" dirty="0">
                <a:latin typeface="+mj-lt"/>
              </a:rPr>
              <a:t>&lt;</a:t>
            </a:r>
            <a:r>
              <a:rPr lang="cs-CZ" altLang="cs-CZ" sz="1800" dirty="0">
                <a:latin typeface="+mj-lt"/>
              </a:rPr>
              <a:t>celé číslo2</a:t>
            </a:r>
            <a:r>
              <a:rPr lang="en-US" altLang="cs-CZ" sz="1800" dirty="0">
                <a:latin typeface="+mj-lt"/>
              </a:rPr>
              <a:t>&gt;</a:t>
            </a:r>
            <a:r>
              <a:rPr lang="cs-CZ" altLang="cs-CZ" sz="1800" dirty="0">
                <a:latin typeface="+mj-lt"/>
              </a:rPr>
              <a:t>)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cs-CZ" altLang="cs-CZ" sz="1800" dirty="0">
                <a:latin typeface="+mj-lt"/>
              </a:rPr>
              <a:t>Desetinné číslo s celkovým počtem </a:t>
            </a:r>
            <a:r>
              <a:rPr lang="en-US" altLang="cs-CZ" sz="1800" dirty="0">
                <a:latin typeface="+mj-lt"/>
              </a:rPr>
              <a:t>&lt;</a:t>
            </a:r>
            <a:r>
              <a:rPr lang="cs-CZ" altLang="cs-CZ" sz="1800" dirty="0">
                <a:latin typeface="+mj-lt"/>
              </a:rPr>
              <a:t>celé číslo1</a:t>
            </a:r>
            <a:r>
              <a:rPr lang="en-US" altLang="cs-CZ" sz="1800" dirty="0">
                <a:latin typeface="+mj-lt"/>
              </a:rPr>
              <a:t>&gt;</a:t>
            </a:r>
            <a:r>
              <a:rPr lang="cs-CZ" altLang="cs-CZ" sz="1800" dirty="0">
                <a:latin typeface="+mj-lt"/>
              </a:rPr>
              <a:t> číslic a s počtem </a:t>
            </a:r>
            <a:r>
              <a:rPr lang="en-US" altLang="cs-CZ" sz="1800" dirty="0">
                <a:latin typeface="+mj-lt"/>
              </a:rPr>
              <a:t>&lt;</a:t>
            </a:r>
            <a:r>
              <a:rPr lang="cs-CZ" altLang="cs-CZ" sz="1800" dirty="0">
                <a:latin typeface="+mj-lt"/>
              </a:rPr>
              <a:t>celé číslo2</a:t>
            </a:r>
            <a:r>
              <a:rPr lang="en-US" altLang="cs-CZ" sz="1800" dirty="0">
                <a:latin typeface="+mj-lt"/>
              </a:rPr>
              <a:t>&gt;</a:t>
            </a:r>
            <a:r>
              <a:rPr lang="cs-CZ" altLang="cs-CZ" sz="1800" dirty="0">
                <a:latin typeface="+mj-lt"/>
              </a:rPr>
              <a:t/>
            </a:r>
            <a:br>
              <a:rPr lang="cs-CZ" altLang="cs-CZ" sz="1800" dirty="0">
                <a:latin typeface="+mj-lt"/>
              </a:rPr>
            </a:br>
            <a:r>
              <a:rPr lang="cs-CZ" altLang="cs-CZ" sz="1800" dirty="0">
                <a:latin typeface="+mj-lt"/>
              </a:rPr>
              <a:t>číslic za desetinnou čárkou. 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endParaRPr lang="cs-CZ" altLang="cs-CZ" sz="1800" dirty="0">
              <a:latin typeface="+mj-lt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cs-CZ" altLang="cs-CZ" sz="1800" dirty="0">
                <a:latin typeface="+mj-lt"/>
              </a:rPr>
              <a:t>Příklady: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cs-CZ" altLang="cs-CZ" sz="1800" b="1" dirty="0">
                <a:latin typeface="+mj-lt"/>
              </a:rPr>
              <a:t>NUMBER</a:t>
            </a:r>
            <a:r>
              <a:rPr lang="cs-CZ" altLang="cs-CZ" sz="1800" dirty="0">
                <a:latin typeface="+mj-lt"/>
              </a:rPr>
              <a:t>		číslo s pohyblivou řádovou čárkou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cs-CZ" altLang="cs-CZ" sz="1800" b="1" dirty="0">
                <a:latin typeface="+mj-lt"/>
              </a:rPr>
              <a:t>NUMBER</a:t>
            </a:r>
            <a:r>
              <a:rPr lang="cs-CZ" altLang="cs-CZ" sz="1800" dirty="0">
                <a:latin typeface="+mj-lt"/>
              </a:rPr>
              <a:t> (9)  	celé číslo s přesností na 9 číslic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cs-CZ" altLang="cs-CZ" sz="1800" b="1" dirty="0">
                <a:latin typeface="+mj-lt"/>
              </a:rPr>
              <a:t>NUMBER</a:t>
            </a:r>
            <a:r>
              <a:rPr lang="cs-CZ" altLang="cs-CZ" sz="1800" dirty="0">
                <a:latin typeface="+mj-lt"/>
              </a:rPr>
              <a:t> (9,2)	desetinné číslo s pevnou řádovou čárkou s přesností na 			9 číslic, z toho 2 za desetinnou čárkou (setiny)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cs-CZ" altLang="cs-CZ" sz="1800" b="1" dirty="0">
                <a:latin typeface="+mj-lt"/>
              </a:rPr>
              <a:t>NUMBER</a:t>
            </a:r>
            <a:r>
              <a:rPr lang="cs-CZ" altLang="cs-CZ" sz="1800" dirty="0">
                <a:latin typeface="+mj-lt"/>
              </a:rPr>
              <a:t> (7,-2)	desetinné číslo s pevnou řádovou čárkou s přesností na 			7 číslic počínaje 2. před desetinnou čárkou (</a:t>
            </a:r>
            <a:r>
              <a:rPr lang="cs-CZ" altLang="cs-CZ" sz="1800" dirty="0" err="1">
                <a:latin typeface="+mj-lt"/>
              </a:rPr>
              <a:t>zaokr</a:t>
            </a:r>
            <a:r>
              <a:rPr lang="cs-CZ" altLang="cs-CZ" sz="1800" dirty="0">
                <a:latin typeface="+mj-lt"/>
              </a:rPr>
              <a:t>. na stovky)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cs-CZ" altLang="cs-CZ" sz="1800" b="1" dirty="0">
                <a:latin typeface="+mj-lt"/>
              </a:rPr>
              <a:t>NUMBER</a:t>
            </a:r>
            <a:r>
              <a:rPr lang="cs-CZ" altLang="cs-CZ" sz="1800" dirty="0">
                <a:latin typeface="+mj-lt"/>
              </a:rPr>
              <a:t> (4,5)	desetinné číslo s pevnou řádovou čárkou s přesností na 			4 číslice počínaje 5. za desetinnou čárkou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endParaRPr lang="cs-CZ" altLang="cs-CZ" sz="1800" dirty="0">
              <a:latin typeface="+mj-lt"/>
            </a:endParaRPr>
          </a:p>
        </p:txBody>
      </p:sp>
      <p:sp>
        <p:nvSpPr>
          <p:cNvPr id="7" name="Rectangle 2"/>
          <p:cNvSpPr txBox="1">
            <a:spLocks noChangeArrowheads="1"/>
          </p:cNvSpPr>
          <p:nvPr/>
        </p:nvSpPr>
        <p:spPr>
          <a:xfrm>
            <a:off x="0" y="0"/>
            <a:ext cx="9144000" cy="81042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 fontAlgn="auto">
              <a:spcAft>
                <a:spcPts val="0"/>
              </a:spcAft>
              <a:defRPr/>
            </a:pPr>
            <a:r>
              <a:rPr lang="cs-CZ" sz="3600" dirty="0" smtClean="0"/>
              <a:t>Datové typy </a:t>
            </a:r>
            <a:r>
              <a:rPr lang="cs-CZ" sz="3600" dirty="0" err="1" smtClean="0"/>
              <a:t>Oracle</a:t>
            </a:r>
            <a:endParaRPr lang="cs-CZ" sz="3600" dirty="0"/>
          </a:p>
        </p:txBody>
      </p:sp>
    </p:spTree>
    <p:extLst>
      <p:ext uri="{BB962C8B-B14F-4D97-AF65-F5344CB8AC3E}">
        <p14:creationId xmlns:p14="http://schemas.microsoft.com/office/powerpoint/2010/main" val="3242603022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5" name="Rectangle 3"/>
          <p:cNvSpPr>
            <a:spLocks noChangeArrowheads="1"/>
          </p:cNvSpPr>
          <p:nvPr/>
        </p:nvSpPr>
        <p:spPr bwMode="auto">
          <a:xfrm>
            <a:off x="179512" y="1170177"/>
            <a:ext cx="7991475" cy="513986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eaLnBrk="1" hangingPunct="1">
              <a:defRPr/>
            </a:pPr>
            <a:r>
              <a:rPr lang="cs-CZ" sz="2000" b="1" u="sng" dirty="0">
                <a:solidFill>
                  <a:schemeClr val="tx1"/>
                </a:solidFill>
                <a:latin typeface="+mj-lt"/>
              </a:rPr>
              <a:t>Znakové datové typy</a:t>
            </a:r>
          </a:p>
          <a:p>
            <a:pPr eaLnBrk="1" hangingPunct="1">
              <a:defRPr/>
            </a:pPr>
            <a:endParaRPr lang="cs-CZ" sz="1800" dirty="0">
              <a:solidFill>
                <a:schemeClr val="tx1"/>
              </a:solidFill>
              <a:latin typeface="+mj-lt"/>
            </a:endParaRPr>
          </a:p>
          <a:p>
            <a:pPr eaLnBrk="1" hangingPunct="1">
              <a:defRPr/>
            </a:pPr>
            <a:r>
              <a:rPr lang="cs-CZ" sz="1800" b="1" dirty="0">
                <a:solidFill>
                  <a:schemeClr val="tx1"/>
                </a:solidFill>
                <a:latin typeface="+mj-lt"/>
              </a:rPr>
              <a:t>CHAR</a:t>
            </a:r>
            <a:r>
              <a:rPr lang="cs-CZ" sz="1800" dirty="0">
                <a:solidFill>
                  <a:schemeClr val="tx1"/>
                </a:solidFill>
                <a:latin typeface="+mj-lt"/>
              </a:rPr>
              <a:t> (</a:t>
            </a:r>
            <a:r>
              <a:rPr lang="en-US" sz="1800" dirty="0">
                <a:solidFill>
                  <a:schemeClr val="tx1"/>
                </a:solidFill>
                <a:latin typeface="+mj-lt"/>
              </a:rPr>
              <a:t>&lt;</a:t>
            </a:r>
            <a:r>
              <a:rPr lang="cs-CZ" sz="1800" dirty="0">
                <a:solidFill>
                  <a:schemeClr val="tx1"/>
                </a:solidFill>
                <a:latin typeface="+mj-lt"/>
              </a:rPr>
              <a:t>celé číslo</a:t>
            </a:r>
            <a:r>
              <a:rPr lang="en-US" sz="1800" dirty="0">
                <a:solidFill>
                  <a:schemeClr val="tx1"/>
                </a:solidFill>
                <a:latin typeface="+mj-lt"/>
              </a:rPr>
              <a:t>&gt;</a:t>
            </a:r>
            <a:r>
              <a:rPr lang="cs-CZ" sz="1800" dirty="0">
                <a:solidFill>
                  <a:schemeClr val="tx1"/>
                </a:solidFill>
                <a:latin typeface="+mj-lt"/>
              </a:rPr>
              <a:t>)</a:t>
            </a:r>
          </a:p>
          <a:p>
            <a:pPr eaLnBrk="1" hangingPunct="1">
              <a:defRPr/>
            </a:pPr>
            <a:r>
              <a:rPr lang="cs-CZ" sz="1800" dirty="0">
                <a:solidFill>
                  <a:schemeClr val="tx1"/>
                </a:solidFill>
                <a:latin typeface="+mj-lt"/>
              </a:rPr>
              <a:t>Řetězec znaků pevné délky </a:t>
            </a:r>
            <a:r>
              <a:rPr lang="en-US" sz="1800" dirty="0">
                <a:solidFill>
                  <a:schemeClr val="tx1"/>
                </a:solidFill>
                <a:latin typeface="+mj-lt"/>
              </a:rPr>
              <a:t>&lt;</a:t>
            </a:r>
            <a:r>
              <a:rPr lang="cs-CZ" sz="1800" dirty="0">
                <a:solidFill>
                  <a:schemeClr val="tx1"/>
                </a:solidFill>
                <a:latin typeface="+mj-lt"/>
              </a:rPr>
              <a:t>celé číslo</a:t>
            </a:r>
            <a:r>
              <a:rPr lang="en-US" sz="1800" dirty="0">
                <a:solidFill>
                  <a:schemeClr val="tx1"/>
                </a:solidFill>
                <a:latin typeface="+mj-lt"/>
              </a:rPr>
              <a:t>&gt;</a:t>
            </a:r>
            <a:r>
              <a:rPr lang="cs-CZ" sz="1800" dirty="0">
                <a:solidFill>
                  <a:schemeClr val="tx1"/>
                </a:solidFill>
                <a:latin typeface="+mj-lt"/>
              </a:rPr>
              <a:t> znaků.</a:t>
            </a:r>
          </a:p>
          <a:p>
            <a:pPr eaLnBrk="1" hangingPunct="1">
              <a:defRPr/>
            </a:pPr>
            <a:r>
              <a:rPr lang="cs-CZ" sz="1800" dirty="0">
                <a:solidFill>
                  <a:schemeClr val="tx1"/>
                </a:solidFill>
                <a:latin typeface="+mj-lt"/>
              </a:rPr>
              <a:t>Maximální délka 2000 znaků, default je 1.</a:t>
            </a:r>
          </a:p>
          <a:p>
            <a:pPr eaLnBrk="1" hangingPunct="1">
              <a:defRPr/>
            </a:pPr>
            <a:endParaRPr lang="cs-CZ" sz="1800" dirty="0">
              <a:solidFill>
                <a:schemeClr val="tx1"/>
              </a:solidFill>
              <a:latin typeface="+mj-lt"/>
            </a:endParaRPr>
          </a:p>
          <a:p>
            <a:pPr eaLnBrk="1" hangingPunct="1">
              <a:defRPr/>
            </a:pPr>
            <a:r>
              <a:rPr lang="cs-CZ" sz="1800" b="1" dirty="0">
                <a:solidFill>
                  <a:schemeClr val="tx1"/>
                </a:solidFill>
                <a:latin typeface="+mj-lt"/>
              </a:rPr>
              <a:t>VARCHAR2</a:t>
            </a:r>
            <a:r>
              <a:rPr lang="cs-CZ" sz="1800" dirty="0">
                <a:solidFill>
                  <a:schemeClr val="tx1"/>
                </a:solidFill>
                <a:latin typeface="+mj-lt"/>
              </a:rPr>
              <a:t> (</a:t>
            </a:r>
            <a:r>
              <a:rPr lang="en-US" sz="1800" dirty="0">
                <a:solidFill>
                  <a:schemeClr val="tx1"/>
                </a:solidFill>
                <a:latin typeface="+mj-lt"/>
              </a:rPr>
              <a:t>&lt;</a:t>
            </a:r>
            <a:r>
              <a:rPr lang="cs-CZ" sz="1800" dirty="0">
                <a:solidFill>
                  <a:schemeClr val="tx1"/>
                </a:solidFill>
                <a:latin typeface="+mj-lt"/>
              </a:rPr>
              <a:t>celé číslo</a:t>
            </a:r>
            <a:r>
              <a:rPr lang="en-US" sz="1800" dirty="0">
                <a:solidFill>
                  <a:schemeClr val="tx1"/>
                </a:solidFill>
                <a:latin typeface="+mj-lt"/>
              </a:rPr>
              <a:t>&gt;</a:t>
            </a:r>
            <a:r>
              <a:rPr lang="cs-CZ" sz="1800" dirty="0">
                <a:solidFill>
                  <a:schemeClr val="tx1"/>
                </a:solidFill>
                <a:latin typeface="+mj-lt"/>
              </a:rPr>
              <a:t>)</a:t>
            </a:r>
          </a:p>
          <a:p>
            <a:pPr eaLnBrk="1" hangingPunct="1">
              <a:defRPr/>
            </a:pPr>
            <a:r>
              <a:rPr lang="cs-CZ" sz="1800" dirty="0">
                <a:solidFill>
                  <a:schemeClr val="tx1"/>
                </a:solidFill>
                <a:latin typeface="+mj-lt"/>
              </a:rPr>
              <a:t>Řetězec znaků proměnlivé délky, maximálně </a:t>
            </a:r>
            <a:r>
              <a:rPr lang="en-US" sz="1800" dirty="0">
                <a:solidFill>
                  <a:schemeClr val="tx1"/>
                </a:solidFill>
                <a:latin typeface="+mj-lt"/>
              </a:rPr>
              <a:t>&lt;</a:t>
            </a:r>
            <a:r>
              <a:rPr lang="cs-CZ" sz="1800" dirty="0">
                <a:solidFill>
                  <a:schemeClr val="tx1"/>
                </a:solidFill>
                <a:latin typeface="+mj-lt"/>
              </a:rPr>
              <a:t>celé číslo</a:t>
            </a:r>
            <a:r>
              <a:rPr lang="en-US" sz="1800" dirty="0">
                <a:solidFill>
                  <a:schemeClr val="tx1"/>
                </a:solidFill>
                <a:latin typeface="+mj-lt"/>
              </a:rPr>
              <a:t>&gt;</a:t>
            </a:r>
            <a:r>
              <a:rPr lang="cs-CZ" sz="1800" dirty="0">
                <a:solidFill>
                  <a:schemeClr val="tx1"/>
                </a:solidFill>
                <a:latin typeface="+mj-lt"/>
              </a:rPr>
              <a:t> znaků či bytů.</a:t>
            </a:r>
          </a:p>
          <a:p>
            <a:pPr eaLnBrk="1" hangingPunct="1">
              <a:defRPr/>
            </a:pPr>
            <a:r>
              <a:rPr lang="cs-CZ" sz="1800" dirty="0">
                <a:solidFill>
                  <a:schemeClr val="tx1"/>
                </a:solidFill>
                <a:latin typeface="+mj-lt"/>
              </a:rPr>
              <a:t>Maximální délka je 4000, default je 1</a:t>
            </a:r>
            <a:r>
              <a:rPr lang="cs-CZ" sz="1800" dirty="0" smtClean="0">
                <a:solidFill>
                  <a:schemeClr val="tx1"/>
                </a:solidFill>
                <a:latin typeface="+mj-lt"/>
              </a:rPr>
              <a:t>.</a:t>
            </a:r>
          </a:p>
          <a:p>
            <a:pPr eaLnBrk="1" hangingPunct="1">
              <a:defRPr/>
            </a:pPr>
            <a:endParaRPr lang="cs-CZ" sz="1800" dirty="0">
              <a:solidFill>
                <a:schemeClr val="tx1"/>
              </a:solidFill>
              <a:latin typeface="+mj-lt"/>
            </a:endParaRPr>
          </a:p>
          <a:p>
            <a:pPr>
              <a:defRPr/>
            </a:pPr>
            <a:r>
              <a:rPr lang="cs-CZ" sz="2000" b="1" u="sng" dirty="0">
                <a:latin typeface="+mj-lt"/>
              </a:rPr>
              <a:t>Upřesnění:</a:t>
            </a:r>
          </a:p>
          <a:p>
            <a:pPr eaLnBrk="1" hangingPunct="1">
              <a:defRPr/>
            </a:pPr>
            <a:r>
              <a:rPr lang="cs-CZ" sz="1800" dirty="0">
                <a:solidFill>
                  <a:schemeClr val="tx1"/>
                </a:solidFill>
                <a:latin typeface="+mj-lt"/>
              </a:rPr>
              <a:t>VARCHAR2(20 CHAR) - řetězec znaků proměnlivé délky, maximálně 20 znaků</a:t>
            </a:r>
          </a:p>
          <a:p>
            <a:pPr eaLnBrk="1" hangingPunct="1">
              <a:defRPr/>
            </a:pPr>
            <a:r>
              <a:rPr lang="cs-CZ" sz="1800" dirty="0">
                <a:solidFill>
                  <a:schemeClr val="tx1"/>
                </a:solidFill>
                <a:latin typeface="+mj-lt"/>
              </a:rPr>
              <a:t>VARCHAR2(20 BYTE) - řetězec znaků proměnlivé délky, maximálně 20 bytů</a:t>
            </a:r>
          </a:p>
          <a:p>
            <a:pPr eaLnBrk="1" hangingPunct="1">
              <a:defRPr/>
            </a:pPr>
            <a:r>
              <a:rPr lang="cs-CZ" sz="1800" dirty="0">
                <a:solidFill>
                  <a:schemeClr val="tx1"/>
                </a:solidFill>
                <a:latin typeface="+mj-lt"/>
              </a:rPr>
              <a:t>Rozdíl vzniká v případech znaků národních abeced, které potřebují 2-4 B na svoje uložení. Defaultní hodnota zda BYTE či CHAR závisí na nastavení serveru a prostředí.</a:t>
            </a:r>
          </a:p>
          <a:p>
            <a:pPr eaLnBrk="1" hangingPunct="1">
              <a:defRPr/>
            </a:pPr>
            <a:endParaRPr lang="cs-CZ" sz="1800" dirty="0">
              <a:solidFill>
                <a:schemeClr val="tx1"/>
              </a:solidFill>
              <a:latin typeface="+mj-lt"/>
            </a:endParaRPr>
          </a:p>
          <a:p>
            <a:pPr eaLnBrk="1" hangingPunct="1">
              <a:defRPr/>
            </a:pPr>
            <a:r>
              <a:rPr lang="cs-CZ" sz="1800" b="1" dirty="0">
                <a:solidFill>
                  <a:schemeClr val="tx1"/>
                </a:solidFill>
                <a:latin typeface="+mj-lt"/>
              </a:rPr>
              <a:t>LONG</a:t>
            </a:r>
          </a:p>
          <a:p>
            <a:pPr eaLnBrk="1" hangingPunct="1">
              <a:defRPr/>
            </a:pPr>
            <a:r>
              <a:rPr lang="cs-CZ" sz="1800" dirty="0">
                <a:solidFill>
                  <a:schemeClr val="tx1"/>
                </a:solidFill>
                <a:latin typeface="+mj-lt"/>
              </a:rPr>
              <a:t>Řetězec znaků proměnlivé délky, max. 2 GB.</a:t>
            </a:r>
          </a:p>
        </p:txBody>
      </p:sp>
      <p:sp>
        <p:nvSpPr>
          <p:cNvPr id="7" name="Rectangle 2"/>
          <p:cNvSpPr txBox="1">
            <a:spLocks noChangeArrowheads="1"/>
          </p:cNvSpPr>
          <p:nvPr/>
        </p:nvSpPr>
        <p:spPr>
          <a:xfrm>
            <a:off x="0" y="0"/>
            <a:ext cx="9144000" cy="81042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 fontAlgn="auto">
              <a:spcAft>
                <a:spcPts val="0"/>
              </a:spcAft>
              <a:defRPr/>
            </a:pPr>
            <a:r>
              <a:rPr lang="cs-CZ" sz="3600" dirty="0" smtClean="0"/>
              <a:t>Datové typy </a:t>
            </a:r>
            <a:r>
              <a:rPr lang="cs-CZ" sz="3600" dirty="0" err="1" smtClean="0"/>
              <a:t>Oracle</a:t>
            </a:r>
            <a:endParaRPr lang="cs-CZ" sz="3600" dirty="0"/>
          </a:p>
        </p:txBody>
      </p:sp>
    </p:spTree>
    <p:extLst>
      <p:ext uri="{BB962C8B-B14F-4D97-AF65-F5344CB8AC3E}">
        <p14:creationId xmlns:p14="http://schemas.microsoft.com/office/powerpoint/2010/main" val="1124163539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7" name="Rectangle 3"/>
          <p:cNvSpPr>
            <a:spLocks noChangeArrowheads="1"/>
          </p:cNvSpPr>
          <p:nvPr/>
        </p:nvSpPr>
        <p:spPr bwMode="auto">
          <a:xfrm>
            <a:off x="107504" y="1197267"/>
            <a:ext cx="7632700" cy="501675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cs-CZ" altLang="cs-CZ" sz="1600" b="1" u="sng" dirty="0">
                <a:latin typeface="+mj-lt"/>
              </a:rPr>
              <a:t>Datové typy pro kalendářní a časové hodnoty</a:t>
            </a:r>
          </a:p>
          <a:p>
            <a:pPr lvl="1" eaLnBrk="1" hangingPunct="1">
              <a:spcBef>
                <a:spcPct val="0"/>
              </a:spcBef>
              <a:buFontTx/>
              <a:buChar char="-"/>
            </a:pPr>
            <a:r>
              <a:rPr lang="cs-CZ" altLang="cs-CZ" sz="1600" dirty="0">
                <a:latin typeface="+mj-lt"/>
              </a:rPr>
              <a:t> datum a čas</a:t>
            </a:r>
          </a:p>
          <a:p>
            <a:pPr lvl="1" eaLnBrk="1" hangingPunct="1">
              <a:spcBef>
                <a:spcPct val="0"/>
              </a:spcBef>
              <a:buFontTx/>
              <a:buChar char="-"/>
            </a:pPr>
            <a:r>
              <a:rPr lang="cs-CZ" altLang="cs-CZ" sz="1600" dirty="0">
                <a:latin typeface="+mj-lt"/>
              </a:rPr>
              <a:t> datový a časový interval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cs-CZ" altLang="cs-CZ" sz="1600" dirty="0">
                <a:latin typeface="+mj-lt"/>
              </a:rPr>
              <a:t>Oba typy se skládají z polí YEAR, MONTH, DAY, HOUR, MINUTE, SECOND, TIMEZONE_HOUR, TIMEZONE_MINUTE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endParaRPr lang="cs-CZ" altLang="cs-CZ" sz="1600" dirty="0">
              <a:latin typeface="+mj-lt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cs-CZ" altLang="cs-CZ" sz="1600" b="1" dirty="0">
                <a:latin typeface="+mj-lt"/>
              </a:rPr>
              <a:t>DATE 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cs-CZ" altLang="cs-CZ" sz="1600" dirty="0">
                <a:latin typeface="+mj-lt"/>
              </a:rPr>
              <a:t>Vyjádření konkrétního datumu a času s přesností na sekundy, rozsah je od 1.1.4712 př.n.l. do 31.12.9999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endParaRPr lang="cs-CZ" altLang="cs-CZ" sz="1600" dirty="0">
              <a:latin typeface="+mj-lt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cs-CZ" altLang="cs-CZ" sz="1600" b="1" dirty="0">
                <a:latin typeface="+mj-lt"/>
              </a:rPr>
              <a:t>TIMESTAMP</a:t>
            </a:r>
            <a:r>
              <a:rPr lang="cs-CZ" altLang="cs-CZ" sz="1600" dirty="0">
                <a:latin typeface="+mj-lt"/>
              </a:rPr>
              <a:t> (</a:t>
            </a:r>
            <a:r>
              <a:rPr lang="en-US" altLang="cs-CZ" sz="1600" dirty="0">
                <a:latin typeface="+mj-lt"/>
              </a:rPr>
              <a:t>&lt;</a:t>
            </a:r>
            <a:r>
              <a:rPr lang="cs-CZ" altLang="cs-CZ" sz="1600" dirty="0">
                <a:latin typeface="+mj-lt"/>
              </a:rPr>
              <a:t>přesnost sekund</a:t>
            </a:r>
            <a:r>
              <a:rPr lang="en-US" altLang="cs-CZ" sz="1600" dirty="0">
                <a:latin typeface="+mj-lt"/>
              </a:rPr>
              <a:t>&gt;</a:t>
            </a:r>
            <a:r>
              <a:rPr lang="cs-CZ" altLang="cs-CZ" sz="1600" dirty="0">
                <a:latin typeface="+mj-lt"/>
              </a:rPr>
              <a:t>)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cs-CZ" altLang="cs-CZ" sz="1600" dirty="0">
                <a:latin typeface="+mj-lt"/>
              </a:rPr>
              <a:t>Struktura obsahující datum a čas s požadovanou přesností (až na miliontiny sekundy pro hodnotu parametru </a:t>
            </a:r>
            <a:r>
              <a:rPr lang="en-US" altLang="cs-CZ" sz="1600" dirty="0">
                <a:latin typeface="+mj-lt"/>
              </a:rPr>
              <a:t>&lt;</a:t>
            </a:r>
            <a:r>
              <a:rPr lang="cs-CZ" altLang="cs-CZ" sz="1600" dirty="0">
                <a:latin typeface="+mj-lt"/>
              </a:rPr>
              <a:t>přesnost sekund</a:t>
            </a:r>
            <a:r>
              <a:rPr lang="en-US" altLang="cs-CZ" sz="1600" dirty="0">
                <a:latin typeface="+mj-lt"/>
              </a:rPr>
              <a:t>&gt;</a:t>
            </a:r>
            <a:r>
              <a:rPr lang="cs-CZ" altLang="cs-CZ" sz="1600" dirty="0">
                <a:latin typeface="+mj-lt"/>
              </a:rPr>
              <a:t>=6).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endParaRPr lang="cs-CZ" altLang="cs-CZ" sz="1600" dirty="0">
              <a:latin typeface="+mj-lt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cs-CZ" altLang="cs-CZ" sz="1600" b="1" dirty="0">
                <a:latin typeface="+mj-lt"/>
              </a:rPr>
              <a:t>INTERVAL YEAR </a:t>
            </a:r>
            <a:r>
              <a:rPr lang="cs-CZ" altLang="cs-CZ" sz="1600" dirty="0">
                <a:latin typeface="+mj-lt"/>
              </a:rPr>
              <a:t>(</a:t>
            </a:r>
            <a:r>
              <a:rPr lang="en-US" altLang="cs-CZ" sz="1600" dirty="0">
                <a:latin typeface="+mj-lt"/>
              </a:rPr>
              <a:t>&lt;</a:t>
            </a:r>
            <a:r>
              <a:rPr lang="cs-CZ" altLang="cs-CZ" sz="1600" dirty="0">
                <a:latin typeface="+mj-lt"/>
              </a:rPr>
              <a:t>rozsah roků</a:t>
            </a:r>
            <a:r>
              <a:rPr lang="en-US" altLang="cs-CZ" sz="1600" dirty="0">
                <a:latin typeface="+mj-lt"/>
              </a:rPr>
              <a:t>&gt;</a:t>
            </a:r>
            <a:r>
              <a:rPr lang="cs-CZ" altLang="cs-CZ" sz="1600" dirty="0">
                <a:latin typeface="+mj-lt"/>
              </a:rPr>
              <a:t>) </a:t>
            </a:r>
            <a:r>
              <a:rPr lang="cs-CZ" altLang="cs-CZ" sz="1600" b="1" dirty="0">
                <a:latin typeface="+mj-lt"/>
              </a:rPr>
              <a:t>TO MONTH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cs-CZ" altLang="cs-CZ" sz="1600" dirty="0">
                <a:latin typeface="+mj-lt"/>
              </a:rPr>
              <a:t>K vyjádření delšího časového intervalu.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endParaRPr lang="cs-CZ" altLang="cs-CZ" sz="1600" dirty="0">
              <a:latin typeface="+mj-lt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cs-CZ" altLang="cs-CZ" sz="1600" b="1" dirty="0">
                <a:latin typeface="+mj-lt"/>
              </a:rPr>
              <a:t>INTERVAL DAY </a:t>
            </a:r>
            <a:r>
              <a:rPr lang="cs-CZ" altLang="cs-CZ" sz="1600" dirty="0">
                <a:latin typeface="+mj-lt"/>
              </a:rPr>
              <a:t>(</a:t>
            </a:r>
            <a:r>
              <a:rPr lang="en-US" altLang="cs-CZ" sz="1600" dirty="0">
                <a:latin typeface="+mj-lt"/>
              </a:rPr>
              <a:t>&lt;</a:t>
            </a:r>
            <a:r>
              <a:rPr lang="cs-CZ" altLang="cs-CZ" sz="1600" dirty="0">
                <a:latin typeface="+mj-lt"/>
              </a:rPr>
              <a:t>rozsah dní</a:t>
            </a:r>
            <a:r>
              <a:rPr lang="en-US" altLang="cs-CZ" sz="1600" dirty="0">
                <a:latin typeface="+mj-lt"/>
              </a:rPr>
              <a:t>&gt;</a:t>
            </a:r>
            <a:r>
              <a:rPr lang="cs-CZ" altLang="cs-CZ" sz="1600" dirty="0">
                <a:latin typeface="+mj-lt"/>
              </a:rPr>
              <a:t>) </a:t>
            </a:r>
            <a:r>
              <a:rPr lang="cs-CZ" altLang="cs-CZ" sz="1600" b="1" dirty="0">
                <a:latin typeface="+mj-lt"/>
              </a:rPr>
              <a:t>TO SECOND </a:t>
            </a:r>
            <a:r>
              <a:rPr lang="cs-CZ" altLang="cs-CZ" sz="1600" dirty="0">
                <a:latin typeface="+mj-lt"/>
              </a:rPr>
              <a:t>(</a:t>
            </a:r>
            <a:r>
              <a:rPr lang="en-US" altLang="cs-CZ" sz="1600" dirty="0">
                <a:latin typeface="+mj-lt"/>
              </a:rPr>
              <a:t>&lt;</a:t>
            </a:r>
            <a:r>
              <a:rPr lang="cs-CZ" altLang="cs-CZ" sz="1600" dirty="0">
                <a:latin typeface="+mj-lt"/>
              </a:rPr>
              <a:t>přesnost sekund</a:t>
            </a:r>
            <a:r>
              <a:rPr lang="en-US" altLang="cs-CZ" sz="1600" dirty="0">
                <a:latin typeface="+mj-lt"/>
              </a:rPr>
              <a:t>&gt;</a:t>
            </a:r>
            <a:r>
              <a:rPr lang="cs-CZ" altLang="cs-CZ" sz="1600" dirty="0">
                <a:latin typeface="+mj-lt"/>
              </a:rPr>
              <a:t>)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cs-CZ" altLang="cs-CZ" sz="1600" dirty="0">
                <a:latin typeface="+mj-lt"/>
              </a:rPr>
              <a:t>K vyjádření relativně kratšího časového intervalu.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endParaRPr lang="cs-CZ" altLang="cs-CZ" sz="1600" dirty="0">
              <a:latin typeface="+mj-lt"/>
            </a:endParaRPr>
          </a:p>
        </p:txBody>
      </p:sp>
      <p:sp>
        <p:nvSpPr>
          <p:cNvPr id="7" name="Rectangle 2"/>
          <p:cNvSpPr txBox="1">
            <a:spLocks noChangeArrowheads="1"/>
          </p:cNvSpPr>
          <p:nvPr/>
        </p:nvSpPr>
        <p:spPr>
          <a:xfrm>
            <a:off x="0" y="0"/>
            <a:ext cx="9144000" cy="81042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 fontAlgn="auto">
              <a:spcAft>
                <a:spcPts val="0"/>
              </a:spcAft>
              <a:defRPr/>
            </a:pPr>
            <a:r>
              <a:rPr lang="cs-CZ" sz="3600" dirty="0" smtClean="0"/>
              <a:t>Datové typy </a:t>
            </a:r>
            <a:r>
              <a:rPr lang="cs-CZ" sz="3600" dirty="0" err="1" smtClean="0"/>
              <a:t>Oracle</a:t>
            </a:r>
            <a:endParaRPr lang="cs-CZ" sz="3600" dirty="0"/>
          </a:p>
        </p:txBody>
      </p:sp>
    </p:spTree>
    <p:extLst>
      <p:ext uri="{BB962C8B-B14F-4D97-AF65-F5344CB8AC3E}">
        <p14:creationId xmlns:p14="http://schemas.microsoft.com/office/powerpoint/2010/main" val="2108486338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5" name="Rectangle 3"/>
          <p:cNvSpPr>
            <a:spLocks noChangeArrowheads="1"/>
          </p:cNvSpPr>
          <p:nvPr/>
        </p:nvSpPr>
        <p:spPr bwMode="auto">
          <a:xfrm>
            <a:off x="157626" y="1671473"/>
            <a:ext cx="7632700" cy="3540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cs-CZ" altLang="cs-CZ" sz="2400" b="1" u="sng" dirty="0">
                <a:latin typeface="+mj-lt"/>
              </a:rPr>
              <a:t>Datové typy pro objemná data</a:t>
            </a:r>
          </a:p>
          <a:p>
            <a:pPr lvl="1" eaLnBrk="1" hangingPunct="1">
              <a:spcBef>
                <a:spcPct val="0"/>
              </a:spcBef>
              <a:buFontTx/>
              <a:buChar char="-"/>
            </a:pPr>
            <a:r>
              <a:rPr lang="cs-CZ" altLang="cs-CZ" sz="2000" dirty="0">
                <a:latin typeface="+mj-lt"/>
              </a:rPr>
              <a:t> long </a:t>
            </a:r>
            <a:r>
              <a:rPr lang="cs-CZ" altLang="cs-CZ" sz="2000" dirty="0" err="1">
                <a:latin typeface="+mj-lt"/>
              </a:rPr>
              <a:t>object</a:t>
            </a:r>
            <a:r>
              <a:rPr lang="cs-CZ" altLang="cs-CZ" sz="2000" dirty="0">
                <a:latin typeface="+mj-lt"/>
              </a:rPr>
              <a:t> </a:t>
            </a:r>
            <a:r>
              <a:rPr lang="cs-CZ" altLang="cs-CZ" sz="2000" dirty="0" err="1">
                <a:latin typeface="+mj-lt"/>
              </a:rPr>
              <a:t>block</a:t>
            </a:r>
            <a:r>
              <a:rPr lang="cs-CZ" altLang="cs-CZ" sz="2000" dirty="0">
                <a:latin typeface="+mj-lt"/>
              </a:rPr>
              <a:t> (LOB)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endParaRPr lang="cs-CZ" altLang="cs-CZ" sz="2000" dirty="0">
              <a:latin typeface="+mj-lt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cs-CZ" altLang="cs-CZ" sz="2000" b="1" dirty="0">
                <a:latin typeface="+mj-lt"/>
              </a:rPr>
              <a:t>BLOB</a:t>
            </a:r>
            <a:r>
              <a:rPr lang="cs-CZ" altLang="cs-CZ" sz="2000" dirty="0">
                <a:latin typeface="+mj-lt"/>
              </a:rPr>
              <a:t> - binární objekty do 4GB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endParaRPr lang="cs-CZ" altLang="cs-CZ" sz="2000" dirty="0">
              <a:latin typeface="+mj-lt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cs-CZ" altLang="cs-CZ" sz="2000" b="1" dirty="0">
                <a:latin typeface="+mj-lt"/>
              </a:rPr>
              <a:t>CLOB</a:t>
            </a:r>
            <a:r>
              <a:rPr lang="cs-CZ" altLang="cs-CZ" sz="2000" dirty="0">
                <a:latin typeface="+mj-lt"/>
              </a:rPr>
              <a:t> – textové (CHAR) objekty do 4GB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endParaRPr lang="cs-CZ" altLang="cs-CZ" sz="2000" dirty="0">
              <a:latin typeface="+mj-lt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cs-CZ" altLang="cs-CZ" sz="2000" b="1" dirty="0">
                <a:latin typeface="+mj-lt"/>
              </a:rPr>
              <a:t>NCLOB</a:t>
            </a:r>
            <a:r>
              <a:rPr lang="cs-CZ" altLang="cs-CZ" sz="2000" dirty="0">
                <a:latin typeface="+mj-lt"/>
              </a:rPr>
              <a:t> - textové objekty v národních sadách do 4GB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endParaRPr lang="cs-CZ" altLang="cs-CZ" sz="2000" dirty="0">
              <a:solidFill>
                <a:schemeClr val="hlink"/>
              </a:solidFill>
              <a:latin typeface="+mj-lt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endParaRPr lang="cs-CZ" altLang="cs-CZ" sz="2000" dirty="0">
              <a:solidFill>
                <a:schemeClr val="hlink"/>
              </a:solidFill>
              <a:latin typeface="+mj-lt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endParaRPr lang="cs-CZ" altLang="cs-CZ" sz="2000" dirty="0">
              <a:solidFill>
                <a:schemeClr val="hlink"/>
              </a:solidFill>
              <a:latin typeface="+mj-lt"/>
            </a:endParaRPr>
          </a:p>
        </p:txBody>
      </p:sp>
      <p:sp>
        <p:nvSpPr>
          <p:cNvPr id="7" name="Rectangle 2"/>
          <p:cNvSpPr txBox="1">
            <a:spLocks noChangeArrowheads="1"/>
          </p:cNvSpPr>
          <p:nvPr/>
        </p:nvSpPr>
        <p:spPr>
          <a:xfrm>
            <a:off x="0" y="0"/>
            <a:ext cx="9144000" cy="81042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 fontAlgn="auto">
              <a:spcAft>
                <a:spcPts val="0"/>
              </a:spcAft>
              <a:defRPr/>
            </a:pPr>
            <a:r>
              <a:rPr lang="cs-CZ" sz="3600" dirty="0" smtClean="0"/>
              <a:t>Datové typy </a:t>
            </a:r>
            <a:r>
              <a:rPr lang="cs-CZ" sz="3600" dirty="0" err="1" smtClean="0"/>
              <a:t>Oracle</a:t>
            </a:r>
            <a:endParaRPr lang="cs-CZ" sz="3600" dirty="0"/>
          </a:p>
        </p:txBody>
      </p:sp>
    </p:spTree>
    <p:extLst>
      <p:ext uri="{BB962C8B-B14F-4D97-AF65-F5344CB8AC3E}">
        <p14:creationId xmlns:p14="http://schemas.microsoft.com/office/powerpoint/2010/main" val="2289916975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3" name="Rectangle 3"/>
          <p:cNvSpPr>
            <a:spLocks noGrp="1" noChangeArrowheads="1"/>
          </p:cNvSpPr>
          <p:nvPr>
            <p:ph idx="1"/>
          </p:nvPr>
        </p:nvSpPr>
        <p:spPr>
          <a:xfrm>
            <a:off x="89694" y="1052736"/>
            <a:ext cx="8964612" cy="4679950"/>
          </a:xfrm>
        </p:spPr>
        <p:txBody>
          <a:bodyPr>
            <a:normAutofit/>
          </a:bodyPr>
          <a:lstStyle/>
          <a:p>
            <a:pPr marL="609600" indent="-609600" eaLnBrk="1" hangingPunct="1">
              <a:lnSpc>
                <a:spcPct val="90000"/>
              </a:lnSpc>
              <a:buFontTx/>
              <a:buNone/>
            </a:pPr>
            <a:r>
              <a:rPr lang="en-US" altLang="cs-CZ" sz="2400" dirty="0">
                <a:latin typeface="+mj-lt"/>
                <a:ea typeface="+mj-ea"/>
                <a:cs typeface="+mj-cs"/>
              </a:rPr>
              <a:t>&lt;</a:t>
            </a:r>
            <a:r>
              <a:rPr lang="cs-CZ" altLang="cs-CZ" sz="2400" dirty="0">
                <a:latin typeface="+mj-lt"/>
                <a:ea typeface="+mj-ea"/>
                <a:cs typeface="+mj-cs"/>
              </a:rPr>
              <a:t> par </a:t>
            </a:r>
            <a:r>
              <a:rPr lang="en-US" altLang="cs-CZ" sz="2400" dirty="0">
                <a:latin typeface="+mj-lt"/>
                <a:ea typeface="+mj-ea"/>
                <a:cs typeface="+mj-cs"/>
              </a:rPr>
              <a:t>&gt;</a:t>
            </a:r>
            <a:r>
              <a:rPr lang="cs-CZ" altLang="cs-CZ" sz="2400" dirty="0"/>
              <a:t>	</a:t>
            </a:r>
            <a:r>
              <a:rPr lang="cs-CZ" altLang="cs-CZ" sz="2000" dirty="0"/>
              <a:t>	parametr, za který se dosazuje konkrétní hodnota</a:t>
            </a:r>
          </a:p>
          <a:p>
            <a:pPr marL="609600" indent="-609600" eaLnBrk="1" hangingPunct="1">
              <a:lnSpc>
                <a:spcPct val="90000"/>
              </a:lnSpc>
              <a:buFontTx/>
              <a:buNone/>
            </a:pPr>
            <a:endParaRPr lang="cs-CZ" altLang="cs-CZ" sz="2000" dirty="0"/>
          </a:p>
          <a:p>
            <a:pPr marL="609600" indent="-609600" eaLnBrk="1" hangingPunct="1">
              <a:lnSpc>
                <a:spcPct val="90000"/>
              </a:lnSpc>
              <a:buFontTx/>
              <a:buNone/>
            </a:pPr>
            <a:r>
              <a:rPr lang="en-US" altLang="cs-CZ" sz="2400" dirty="0">
                <a:latin typeface="+mj-lt"/>
                <a:ea typeface="+mj-ea"/>
                <a:cs typeface="+mj-cs"/>
              </a:rPr>
              <a:t>{</a:t>
            </a:r>
            <a:r>
              <a:rPr lang="cs-CZ" altLang="cs-CZ" sz="2400" dirty="0">
                <a:latin typeface="+mj-lt"/>
                <a:ea typeface="+mj-ea"/>
                <a:cs typeface="+mj-cs"/>
              </a:rPr>
              <a:t>A</a:t>
            </a:r>
            <a:r>
              <a:rPr lang="en-US" altLang="cs-CZ" sz="2400" dirty="0">
                <a:latin typeface="+mj-lt"/>
                <a:ea typeface="+mj-ea"/>
                <a:cs typeface="+mj-cs"/>
              </a:rPr>
              <a:t>|</a:t>
            </a:r>
            <a:r>
              <a:rPr lang="cs-CZ" altLang="cs-CZ" sz="2400" dirty="0">
                <a:latin typeface="+mj-lt"/>
                <a:ea typeface="+mj-ea"/>
                <a:cs typeface="+mj-cs"/>
              </a:rPr>
              <a:t>B</a:t>
            </a:r>
            <a:r>
              <a:rPr lang="en-US" altLang="cs-CZ" sz="2400" dirty="0">
                <a:latin typeface="+mj-lt"/>
                <a:ea typeface="+mj-ea"/>
                <a:cs typeface="+mj-cs"/>
              </a:rPr>
              <a:t>|</a:t>
            </a:r>
            <a:r>
              <a:rPr lang="cs-CZ" altLang="cs-CZ" sz="2400" dirty="0">
                <a:latin typeface="+mj-lt"/>
                <a:ea typeface="+mj-ea"/>
                <a:cs typeface="+mj-cs"/>
              </a:rPr>
              <a:t>C</a:t>
            </a:r>
            <a:r>
              <a:rPr lang="en-US" altLang="cs-CZ" sz="2400" dirty="0">
                <a:latin typeface="+mj-lt"/>
                <a:ea typeface="+mj-ea"/>
                <a:cs typeface="+mj-cs"/>
              </a:rPr>
              <a:t>}</a:t>
            </a:r>
            <a:r>
              <a:rPr lang="cs-CZ" altLang="cs-CZ" sz="2400" dirty="0">
                <a:latin typeface="+mj-lt"/>
                <a:ea typeface="+mj-ea"/>
                <a:cs typeface="+mj-cs"/>
              </a:rPr>
              <a:t>	</a:t>
            </a:r>
            <a:r>
              <a:rPr lang="cs-CZ" altLang="cs-CZ" sz="2000" dirty="0"/>
              <a:t>	povinná volba jedné z uvedených možností</a:t>
            </a:r>
          </a:p>
          <a:p>
            <a:pPr marL="609600" indent="-609600" eaLnBrk="1" hangingPunct="1">
              <a:lnSpc>
                <a:spcPct val="90000"/>
              </a:lnSpc>
              <a:buFontTx/>
              <a:buNone/>
            </a:pPr>
            <a:endParaRPr lang="cs-CZ" altLang="cs-CZ" sz="2000" dirty="0"/>
          </a:p>
          <a:p>
            <a:pPr marL="609600" indent="-609600" eaLnBrk="1" hangingPunct="1">
              <a:lnSpc>
                <a:spcPct val="90000"/>
              </a:lnSpc>
              <a:buFontTx/>
              <a:buNone/>
            </a:pPr>
            <a:r>
              <a:rPr lang="cs-CZ" altLang="cs-CZ" sz="2000" dirty="0"/>
              <a:t>	</a:t>
            </a:r>
            <a:r>
              <a:rPr lang="en-US" altLang="cs-CZ" sz="2400" dirty="0">
                <a:latin typeface="+mj-lt"/>
                <a:ea typeface="+mj-ea"/>
                <a:cs typeface="+mj-cs"/>
              </a:rPr>
              <a:t>|</a:t>
            </a:r>
            <a:r>
              <a:rPr lang="cs-CZ" altLang="cs-CZ" sz="2000" dirty="0"/>
              <a:t>		oddělení variant</a:t>
            </a:r>
          </a:p>
          <a:p>
            <a:pPr marL="609600" indent="-609600" eaLnBrk="1" hangingPunct="1">
              <a:lnSpc>
                <a:spcPct val="90000"/>
              </a:lnSpc>
              <a:buFontTx/>
              <a:buNone/>
            </a:pPr>
            <a:endParaRPr lang="cs-CZ" altLang="cs-CZ" sz="2000" dirty="0"/>
          </a:p>
          <a:p>
            <a:pPr marL="990600" lvl="1" indent="-533400" eaLnBrk="1" hangingPunct="1">
              <a:lnSpc>
                <a:spcPct val="90000"/>
              </a:lnSpc>
              <a:buFont typeface="Tahoma" panose="020B0604030504040204" pitchFamily="34" charset="0"/>
              <a:buNone/>
            </a:pPr>
            <a:r>
              <a:rPr lang="en-US" altLang="cs-CZ" sz="2400" dirty="0">
                <a:latin typeface="+mj-lt"/>
                <a:ea typeface="+mj-ea"/>
                <a:cs typeface="+mj-cs"/>
              </a:rPr>
              <a:t>[</a:t>
            </a:r>
            <a:r>
              <a:rPr lang="cs-CZ" altLang="cs-CZ" sz="2400" dirty="0">
                <a:latin typeface="+mj-lt"/>
                <a:ea typeface="+mj-ea"/>
                <a:cs typeface="+mj-cs"/>
              </a:rPr>
              <a:t>   </a:t>
            </a:r>
            <a:r>
              <a:rPr lang="en-US" altLang="cs-CZ" sz="2400" dirty="0">
                <a:latin typeface="+mj-lt"/>
                <a:ea typeface="+mj-ea"/>
                <a:cs typeface="+mj-cs"/>
              </a:rPr>
              <a:t>]</a:t>
            </a:r>
            <a:r>
              <a:rPr lang="cs-CZ" altLang="cs-CZ" sz="2000" dirty="0"/>
              <a:t>		nepovinná část</a:t>
            </a:r>
          </a:p>
          <a:p>
            <a:pPr marL="990600" lvl="1" indent="-533400" eaLnBrk="1" hangingPunct="1">
              <a:lnSpc>
                <a:spcPct val="90000"/>
              </a:lnSpc>
              <a:buFont typeface="Tahoma" panose="020B0604030504040204" pitchFamily="34" charset="0"/>
              <a:buNone/>
            </a:pPr>
            <a:endParaRPr lang="cs-CZ" altLang="cs-CZ" sz="2000" dirty="0"/>
          </a:p>
          <a:p>
            <a:pPr marL="990600" lvl="1" indent="-533400" eaLnBrk="1" hangingPunct="1">
              <a:lnSpc>
                <a:spcPct val="90000"/>
              </a:lnSpc>
              <a:buFont typeface="Tahoma" panose="020B0604030504040204" pitchFamily="34" charset="0"/>
              <a:buNone/>
            </a:pPr>
            <a:r>
              <a:rPr lang="cs-CZ" altLang="cs-CZ" sz="2400" dirty="0">
                <a:latin typeface="+mj-lt"/>
                <a:ea typeface="+mj-ea"/>
                <a:cs typeface="+mj-cs"/>
              </a:rPr>
              <a:t>  …</a:t>
            </a:r>
            <a:r>
              <a:rPr lang="cs-CZ" altLang="cs-CZ" sz="2000" dirty="0"/>
              <a:t>		možnost opakování</a:t>
            </a:r>
          </a:p>
          <a:p>
            <a:pPr marL="990600" lvl="1" indent="-533400" eaLnBrk="1" hangingPunct="1">
              <a:lnSpc>
                <a:spcPct val="90000"/>
              </a:lnSpc>
              <a:buFont typeface="Tahoma" panose="020B0604030504040204" pitchFamily="34" charset="0"/>
              <a:buNone/>
            </a:pPr>
            <a:endParaRPr lang="cs-CZ" altLang="cs-CZ" sz="2000" dirty="0"/>
          </a:p>
          <a:p>
            <a:pPr marL="990600" lvl="1" indent="-533400" eaLnBrk="1" hangingPunct="1">
              <a:lnSpc>
                <a:spcPct val="90000"/>
              </a:lnSpc>
              <a:buFont typeface="Tahoma" panose="020B0604030504040204" pitchFamily="34" charset="0"/>
              <a:buNone/>
            </a:pPr>
            <a:r>
              <a:rPr lang="cs-CZ" altLang="cs-CZ" sz="2400" dirty="0">
                <a:latin typeface="+mj-lt"/>
                <a:ea typeface="+mj-ea"/>
                <a:cs typeface="+mj-cs"/>
              </a:rPr>
              <a:t>   </a:t>
            </a:r>
            <a:r>
              <a:rPr lang="en-US" altLang="cs-CZ" sz="2400" dirty="0">
                <a:latin typeface="+mj-lt"/>
                <a:ea typeface="+mj-ea"/>
                <a:cs typeface="+mj-cs"/>
              </a:rPr>
              <a:t>’</a:t>
            </a:r>
            <a:r>
              <a:rPr lang="en-US" altLang="cs-CZ" sz="2000" dirty="0"/>
              <a:t>		o</a:t>
            </a:r>
            <a:r>
              <a:rPr lang="cs-CZ" altLang="cs-CZ" sz="2000" dirty="0"/>
              <a:t>značení konstant typu řetězec znaků</a:t>
            </a:r>
          </a:p>
          <a:p>
            <a:pPr marL="990600" lvl="1" indent="-533400" eaLnBrk="1" hangingPunct="1">
              <a:lnSpc>
                <a:spcPct val="90000"/>
              </a:lnSpc>
              <a:buFont typeface="Tahoma" panose="020B0604030504040204" pitchFamily="34" charset="0"/>
              <a:buNone/>
            </a:pPr>
            <a:endParaRPr lang="cs-CZ" altLang="cs-CZ" sz="2000" dirty="0"/>
          </a:p>
          <a:p>
            <a:pPr marL="609600" indent="-609600" eaLnBrk="1" hangingPunct="1">
              <a:lnSpc>
                <a:spcPct val="90000"/>
              </a:lnSpc>
              <a:buFontTx/>
              <a:buNone/>
            </a:pPr>
            <a:endParaRPr lang="cs-CZ" altLang="cs-CZ" sz="2000" dirty="0">
              <a:solidFill>
                <a:schemeClr val="hlink"/>
              </a:solidFill>
            </a:endParaRPr>
          </a:p>
          <a:p>
            <a:pPr marL="609600" indent="-609600" eaLnBrk="1" hangingPunct="1">
              <a:lnSpc>
                <a:spcPct val="90000"/>
              </a:lnSpc>
              <a:buFontTx/>
              <a:buNone/>
            </a:pPr>
            <a:endParaRPr lang="cs-CZ" altLang="cs-CZ" sz="2000" dirty="0">
              <a:solidFill>
                <a:schemeClr val="hlink"/>
              </a:solidFill>
            </a:endParaRPr>
          </a:p>
          <a:p>
            <a:pPr marL="609600" indent="-609600" eaLnBrk="1" hangingPunct="1">
              <a:lnSpc>
                <a:spcPct val="90000"/>
              </a:lnSpc>
              <a:buFontTx/>
              <a:buNone/>
            </a:pPr>
            <a:endParaRPr lang="cs-CZ" altLang="cs-CZ" sz="2000" dirty="0"/>
          </a:p>
        </p:txBody>
      </p:sp>
      <p:sp>
        <p:nvSpPr>
          <p:cNvPr id="7" name="Rectangle 2"/>
          <p:cNvSpPr txBox="1">
            <a:spLocks noChangeArrowheads="1"/>
          </p:cNvSpPr>
          <p:nvPr/>
        </p:nvSpPr>
        <p:spPr>
          <a:xfrm>
            <a:off x="0" y="0"/>
            <a:ext cx="9144000" cy="81042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 fontAlgn="auto">
              <a:spcAft>
                <a:spcPts val="0"/>
              </a:spcAft>
              <a:defRPr/>
            </a:pPr>
            <a:r>
              <a:rPr lang="cs-CZ" sz="3600" dirty="0" smtClean="0"/>
              <a:t>Jak pochopit zápisy syntaxí</a:t>
            </a:r>
            <a:endParaRPr lang="cs-CZ" sz="3600" dirty="0"/>
          </a:p>
        </p:txBody>
      </p:sp>
    </p:spTree>
    <p:extLst>
      <p:ext uri="{BB962C8B-B14F-4D97-AF65-F5344CB8AC3E}">
        <p14:creationId xmlns:p14="http://schemas.microsoft.com/office/powerpoint/2010/main" val="37168282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7" name="Rectangle 3"/>
          <p:cNvSpPr>
            <a:spLocks noGrp="1" noChangeArrowheads="1"/>
          </p:cNvSpPr>
          <p:nvPr>
            <p:ph idx="1"/>
          </p:nvPr>
        </p:nvSpPr>
        <p:spPr>
          <a:xfrm>
            <a:off x="228600" y="1117672"/>
            <a:ext cx="8686800" cy="4968875"/>
          </a:xfrm>
        </p:spPr>
        <p:txBody>
          <a:bodyPr>
            <a:normAutofit/>
          </a:bodyPr>
          <a:lstStyle/>
          <a:p>
            <a:pPr marL="609600" indent="-609600" eaLnBrk="1" hangingPunct="1">
              <a:lnSpc>
                <a:spcPct val="90000"/>
              </a:lnSpc>
              <a:buFontTx/>
              <a:buNone/>
            </a:pPr>
            <a:r>
              <a:rPr lang="cs-CZ" altLang="cs-CZ" sz="2400" b="1" dirty="0">
                <a:latin typeface="+mj-lt"/>
                <a:ea typeface="+mj-ea"/>
                <a:cs typeface="+mj-cs"/>
              </a:rPr>
              <a:t>CREATE TABLE </a:t>
            </a:r>
            <a:r>
              <a:rPr lang="en-US" altLang="cs-CZ" sz="2400" b="1" dirty="0">
                <a:latin typeface="+mj-lt"/>
                <a:ea typeface="+mj-ea"/>
                <a:cs typeface="+mj-cs"/>
              </a:rPr>
              <a:t>&lt;</a:t>
            </a:r>
            <a:r>
              <a:rPr lang="cs-CZ" altLang="cs-CZ" sz="2400" b="1" dirty="0">
                <a:latin typeface="+mj-lt"/>
                <a:ea typeface="+mj-ea"/>
                <a:cs typeface="+mj-cs"/>
              </a:rPr>
              <a:t>název tabulky</a:t>
            </a:r>
            <a:r>
              <a:rPr lang="en-US" altLang="cs-CZ" sz="2400" b="1" dirty="0">
                <a:latin typeface="+mj-lt"/>
                <a:ea typeface="+mj-ea"/>
                <a:cs typeface="+mj-cs"/>
              </a:rPr>
              <a:t>&gt;</a:t>
            </a:r>
            <a:r>
              <a:rPr lang="cs-CZ" altLang="cs-CZ" sz="2400" b="1" dirty="0">
                <a:latin typeface="+mj-lt"/>
                <a:ea typeface="+mj-ea"/>
                <a:cs typeface="+mj-cs"/>
              </a:rPr>
              <a:t> </a:t>
            </a:r>
          </a:p>
          <a:p>
            <a:pPr marL="609600" indent="-609600" eaLnBrk="1" hangingPunct="1">
              <a:lnSpc>
                <a:spcPct val="90000"/>
              </a:lnSpc>
              <a:buFontTx/>
              <a:buNone/>
            </a:pPr>
            <a:r>
              <a:rPr lang="cs-CZ" altLang="cs-CZ" sz="2400" b="1" dirty="0">
                <a:latin typeface="+mj-lt"/>
                <a:ea typeface="+mj-ea"/>
                <a:cs typeface="+mj-cs"/>
              </a:rPr>
              <a:t>(</a:t>
            </a:r>
            <a:r>
              <a:rPr lang="en-US" altLang="cs-CZ" sz="2400" b="1" dirty="0">
                <a:latin typeface="+mj-lt"/>
                <a:ea typeface="+mj-ea"/>
                <a:cs typeface="+mj-cs"/>
              </a:rPr>
              <a:t>&lt;</a:t>
            </a:r>
            <a:r>
              <a:rPr lang="cs-CZ" altLang="cs-CZ" sz="2400" b="1" dirty="0">
                <a:latin typeface="+mj-lt"/>
                <a:ea typeface="+mj-ea"/>
                <a:cs typeface="+mj-cs"/>
              </a:rPr>
              <a:t>specifikace sloupce</a:t>
            </a:r>
            <a:r>
              <a:rPr lang="en-US" altLang="cs-CZ" sz="2400" b="1" dirty="0">
                <a:latin typeface="+mj-lt"/>
                <a:ea typeface="+mj-ea"/>
                <a:cs typeface="+mj-cs"/>
              </a:rPr>
              <a:t>&gt;</a:t>
            </a:r>
            <a:endParaRPr lang="cs-CZ" altLang="cs-CZ" sz="2400" b="1" dirty="0">
              <a:latin typeface="+mj-lt"/>
              <a:ea typeface="+mj-ea"/>
              <a:cs typeface="+mj-cs"/>
            </a:endParaRPr>
          </a:p>
          <a:p>
            <a:pPr marL="609600" indent="-609600" eaLnBrk="1" hangingPunct="1">
              <a:lnSpc>
                <a:spcPct val="90000"/>
              </a:lnSpc>
              <a:buFontTx/>
              <a:buNone/>
            </a:pPr>
            <a:r>
              <a:rPr lang="en-US" altLang="cs-CZ" sz="2400" b="1" dirty="0">
                <a:latin typeface="+mj-lt"/>
                <a:ea typeface="+mj-ea"/>
                <a:cs typeface="+mj-cs"/>
              </a:rPr>
              <a:t>[</a:t>
            </a:r>
            <a:r>
              <a:rPr lang="cs-CZ" altLang="cs-CZ" sz="2400" b="1" dirty="0">
                <a:latin typeface="+mj-lt"/>
                <a:ea typeface="+mj-ea"/>
                <a:cs typeface="+mj-cs"/>
              </a:rPr>
              <a:t>, </a:t>
            </a:r>
            <a:r>
              <a:rPr lang="en-US" altLang="cs-CZ" sz="2400" b="1" dirty="0">
                <a:latin typeface="+mj-lt"/>
                <a:ea typeface="+mj-ea"/>
                <a:cs typeface="+mj-cs"/>
              </a:rPr>
              <a:t>&lt;</a:t>
            </a:r>
            <a:r>
              <a:rPr lang="cs-CZ" altLang="cs-CZ" sz="2400" b="1" dirty="0">
                <a:latin typeface="+mj-lt"/>
                <a:ea typeface="+mj-ea"/>
                <a:cs typeface="+mj-cs"/>
              </a:rPr>
              <a:t>název sloupce1</a:t>
            </a:r>
            <a:r>
              <a:rPr lang="en-US" altLang="cs-CZ" sz="2400" b="1" dirty="0">
                <a:latin typeface="+mj-lt"/>
                <a:ea typeface="+mj-ea"/>
                <a:cs typeface="+mj-cs"/>
              </a:rPr>
              <a:t>&gt;</a:t>
            </a:r>
            <a:r>
              <a:rPr lang="cs-CZ" altLang="cs-CZ" sz="2400" b="1" dirty="0">
                <a:latin typeface="+mj-lt"/>
                <a:ea typeface="+mj-ea"/>
                <a:cs typeface="+mj-cs"/>
              </a:rPr>
              <a:t> = </a:t>
            </a:r>
            <a:r>
              <a:rPr lang="en-US" altLang="cs-CZ" sz="2400" b="1" dirty="0">
                <a:latin typeface="+mj-lt"/>
                <a:ea typeface="+mj-ea"/>
                <a:cs typeface="+mj-cs"/>
              </a:rPr>
              <a:t>&lt;</a:t>
            </a:r>
            <a:r>
              <a:rPr lang="cs-CZ" altLang="cs-CZ" sz="2400" b="1" dirty="0">
                <a:latin typeface="+mj-lt"/>
                <a:ea typeface="+mj-ea"/>
                <a:cs typeface="+mj-cs"/>
              </a:rPr>
              <a:t>výraz1</a:t>
            </a:r>
            <a:r>
              <a:rPr lang="en-US" altLang="cs-CZ" sz="2400" b="1" dirty="0">
                <a:latin typeface="+mj-lt"/>
                <a:ea typeface="+mj-ea"/>
                <a:cs typeface="+mj-cs"/>
              </a:rPr>
              <a:t>&gt; [</a:t>
            </a:r>
            <a:r>
              <a:rPr lang="cs-CZ" altLang="cs-CZ" sz="2400" b="1" dirty="0">
                <a:latin typeface="+mj-lt"/>
                <a:ea typeface="+mj-ea"/>
                <a:cs typeface="+mj-cs"/>
              </a:rPr>
              <a:t>, … </a:t>
            </a:r>
            <a:r>
              <a:rPr lang="en-US" altLang="cs-CZ" sz="2400" b="1" dirty="0">
                <a:latin typeface="+mj-lt"/>
                <a:ea typeface="+mj-ea"/>
                <a:cs typeface="+mj-cs"/>
              </a:rPr>
              <a:t>] ]</a:t>
            </a:r>
            <a:r>
              <a:rPr lang="cs-CZ" altLang="cs-CZ" sz="2400" b="1" dirty="0">
                <a:latin typeface="+mj-lt"/>
                <a:ea typeface="+mj-ea"/>
                <a:cs typeface="+mj-cs"/>
              </a:rPr>
              <a:t>)</a:t>
            </a:r>
          </a:p>
          <a:p>
            <a:pPr marL="609600" indent="-609600" eaLnBrk="1" hangingPunct="1">
              <a:spcBef>
                <a:spcPct val="0"/>
              </a:spcBef>
              <a:buFontTx/>
              <a:buNone/>
            </a:pPr>
            <a:endParaRPr lang="cs-CZ" altLang="cs-CZ" sz="2000" dirty="0">
              <a:latin typeface="+mj-lt"/>
            </a:endParaRPr>
          </a:p>
          <a:p>
            <a:pPr marL="609600" indent="-609600" eaLnBrk="1" hangingPunct="1">
              <a:spcBef>
                <a:spcPct val="0"/>
              </a:spcBef>
              <a:buFontTx/>
              <a:buNone/>
            </a:pPr>
            <a:r>
              <a:rPr lang="en-US" altLang="cs-CZ" sz="2000" dirty="0">
                <a:latin typeface="+mj-lt"/>
              </a:rPr>
              <a:t>&lt;</a:t>
            </a:r>
            <a:r>
              <a:rPr lang="cs-CZ" altLang="cs-CZ" sz="2000" dirty="0">
                <a:latin typeface="+mj-lt"/>
              </a:rPr>
              <a:t>specifikace sloupce</a:t>
            </a:r>
            <a:r>
              <a:rPr lang="en-US" altLang="cs-CZ" sz="2000" dirty="0">
                <a:latin typeface="+mj-lt"/>
              </a:rPr>
              <a:t>&gt;</a:t>
            </a:r>
            <a:r>
              <a:rPr lang="cs-CZ" altLang="cs-CZ" sz="2000" dirty="0">
                <a:latin typeface="+mj-lt"/>
              </a:rPr>
              <a:t> =</a:t>
            </a:r>
          </a:p>
          <a:p>
            <a:pPr marL="609600" indent="-609600" eaLnBrk="1" hangingPunct="1">
              <a:lnSpc>
                <a:spcPct val="90000"/>
              </a:lnSpc>
              <a:buFontTx/>
              <a:buNone/>
            </a:pPr>
            <a:r>
              <a:rPr lang="en-US" altLang="cs-CZ" sz="2000" dirty="0">
                <a:latin typeface="+mj-lt"/>
              </a:rPr>
              <a:t>{&lt;</a:t>
            </a:r>
            <a:r>
              <a:rPr lang="cs-CZ" altLang="cs-CZ" sz="2000" dirty="0">
                <a:latin typeface="+mj-lt"/>
              </a:rPr>
              <a:t>název sloupce</a:t>
            </a:r>
            <a:r>
              <a:rPr lang="en-US" altLang="cs-CZ" sz="2000" dirty="0">
                <a:latin typeface="+mj-lt"/>
              </a:rPr>
              <a:t>&gt;</a:t>
            </a:r>
            <a:r>
              <a:rPr lang="cs-CZ" altLang="cs-CZ" sz="2000" dirty="0">
                <a:latin typeface="+mj-lt"/>
              </a:rPr>
              <a:t> </a:t>
            </a:r>
            <a:r>
              <a:rPr lang="en-US" altLang="cs-CZ" sz="2000" dirty="0">
                <a:latin typeface="+mj-lt"/>
              </a:rPr>
              <a:t>&lt;</a:t>
            </a:r>
            <a:r>
              <a:rPr lang="cs-CZ" altLang="cs-CZ" sz="2000" dirty="0">
                <a:latin typeface="+mj-lt"/>
              </a:rPr>
              <a:t>datový typ</a:t>
            </a:r>
            <a:r>
              <a:rPr lang="en-US" altLang="cs-CZ" sz="2000" dirty="0">
                <a:latin typeface="+mj-lt"/>
              </a:rPr>
              <a:t>&gt;</a:t>
            </a:r>
            <a:r>
              <a:rPr lang="cs-CZ" altLang="cs-CZ" sz="2000" dirty="0">
                <a:latin typeface="+mj-lt"/>
              </a:rPr>
              <a:t> </a:t>
            </a:r>
            <a:r>
              <a:rPr lang="en-US" altLang="cs-CZ" sz="2000" dirty="0">
                <a:latin typeface="+mj-lt"/>
              </a:rPr>
              <a:t>[&lt;</a:t>
            </a:r>
            <a:r>
              <a:rPr lang="cs-CZ" altLang="cs-CZ" sz="2000" dirty="0">
                <a:latin typeface="+mj-lt"/>
              </a:rPr>
              <a:t>omezení sloupce</a:t>
            </a:r>
            <a:r>
              <a:rPr lang="en-US" altLang="cs-CZ" sz="2000" dirty="0">
                <a:latin typeface="+mj-lt"/>
              </a:rPr>
              <a:t>&gt;]</a:t>
            </a:r>
            <a:r>
              <a:rPr lang="cs-CZ" altLang="cs-CZ" sz="2000" dirty="0">
                <a:latin typeface="+mj-lt"/>
              </a:rPr>
              <a:t> </a:t>
            </a:r>
            <a:r>
              <a:rPr lang="en-US" altLang="cs-CZ" sz="2000" dirty="0">
                <a:latin typeface="+mj-lt"/>
              </a:rPr>
              <a:t>|</a:t>
            </a:r>
            <a:endParaRPr lang="cs-CZ" altLang="cs-CZ" sz="2000" dirty="0">
              <a:latin typeface="+mj-lt"/>
            </a:endParaRPr>
          </a:p>
          <a:p>
            <a:pPr marL="609600" indent="-609600" eaLnBrk="1" hangingPunct="1">
              <a:lnSpc>
                <a:spcPct val="90000"/>
              </a:lnSpc>
              <a:buFontTx/>
              <a:buNone/>
            </a:pPr>
            <a:r>
              <a:rPr lang="en-US" altLang="cs-CZ" sz="2000" dirty="0">
                <a:latin typeface="+mj-lt"/>
              </a:rPr>
              <a:t>&lt;</a:t>
            </a:r>
            <a:r>
              <a:rPr lang="cs-CZ" altLang="cs-CZ" sz="2000" dirty="0">
                <a:latin typeface="+mj-lt"/>
              </a:rPr>
              <a:t>omezení </a:t>
            </a:r>
            <a:r>
              <a:rPr lang="en-US" altLang="cs-CZ" sz="2000" dirty="0" err="1">
                <a:latin typeface="+mj-lt"/>
              </a:rPr>
              <a:t>tabulky</a:t>
            </a:r>
            <a:r>
              <a:rPr lang="en-US" altLang="cs-CZ" sz="2000" dirty="0">
                <a:latin typeface="+mj-lt"/>
              </a:rPr>
              <a:t>&gt;</a:t>
            </a:r>
            <a:r>
              <a:rPr lang="cs-CZ" altLang="cs-CZ" sz="2000" dirty="0">
                <a:latin typeface="+mj-lt"/>
              </a:rPr>
              <a:t> </a:t>
            </a:r>
            <a:r>
              <a:rPr lang="en-US" altLang="cs-CZ" sz="2000" dirty="0">
                <a:latin typeface="+mj-lt"/>
              </a:rPr>
              <a:t>}</a:t>
            </a:r>
          </a:p>
          <a:p>
            <a:pPr marL="609600" indent="-609600" eaLnBrk="1" hangingPunct="1">
              <a:lnSpc>
                <a:spcPct val="90000"/>
              </a:lnSpc>
              <a:buFontTx/>
              <a:buNone/>
            </a:pPr>
            <a:endParaRPr lang="cs-CZ" altLang="cs-CZ" sz="2000" dirty="0">
              <a:latin typeface="+mj-lt"/>
            </a:endParaRPr>
          </a:p>
          <a:p>
            <a:pPr marL="609600" indent="-609600" eaLnBrk="1" hangingPunct="1">
              <a:spcBef>
                <a:spcPct val="0"/>
              </a:spcBef>
              <a:buFontTx/>
              <a:buNone/>
            </a:pPr>
            <a:r>
              <a:rPr lang="en-US" altLang="cs-CZ" sz="2000" dirty="0">
                <a:latin typeface="+mj-lt"/>
              </a:rPr>
              <a:t>&lt; </a:t>
            </a:r>
            <a:r>
              <a:rPr lang="cs-CZ" altLang="cs-CZ" sz="2000" dirty="0">
                <a:latin typeface="+mj-lt"/>
              </a:rPr>
              <a:t>omezení sloupce</a:t>
            </a:r>
            <a:r>
              <a:rPr lang="en-US" altLang="cs-CZ" sz="2000" dirty="0">
                <a:latin typeface="+mj-lt"/>
              </a:rPr>
              <a:t>&gt;</a:t>
            </a:r>
            <a:r>
              <a:rPr lang="cs-CZ" altLang="cs-CZ" sz="2000" dirty="0">
                <a:latin typeface="+mj-lt"/>
              </a:rPr>
              <a:t> =</a:t>
            </a:r>
            <a:endParaRPr lang="en-US" altLang="cs-CZ" sz="2000" dirty="0">
              <a:latin typeface="+mj-lt"/>
            </a:endParaRPr>
          </a:p>
          <a:p>
            <a:pPr marL="609600" indent="-609600" eaLnBrk="1" hangingPunct="1">
              <a:spcBef>
                <a:spcPct val="0"/>
              </a:spcBef>
              <a:buFontTx/>
              <a:buNone/>
            </a:pPr>
            <a:r>
              <a:rPr lang="en-US" altLang="cs-CZ" sz="2000" dirty="0">
                <a:latin typeface="+mj-lt"/>
              </a:rPr>
              <a:t>[CONSTRAINT &lt;</a:t>
            </a:r>
            <a:r>
              <a:rPr lang="cs-CZ" altLang="cs-CZ" sz="2000" dirty="0">
                <a:latin typeface="+mj-lt"/>
              </a:rPr>
              <a:t>název</a:t>
            </a:r>
            <a:r>
              <a:rPr lang="en-US" altLang="cs-CZ" sz="2000" dirty="0">
                <a:latin typeface="+mj-lt"/>
              </a:rPr>
              <a:t> </a:t>
            </a:r>
            <a:r>
              <a:rPr lang="cs-CZ" altLang="cs-CZ" sz="2000" dirty="0">
                <a:latin typeface="+mj-lt"/>
              </a:rPr>
              <a:t>omezení</a:t>
            </a:r>
            <a:r>
              <a:rPr lang="en-US" altLang="cs-CZ" sz="2000" dirty="0">
                <a:latin typeface="+mj-lt"/>
              </a:rPr>
              <a:t>&gt;</a:t>
            </a:r>
            <a:r>
              <a:rPr lang="cs-CZ" altLang="cs-CZ" sz="2000" dirty="0">
                <a:latin typeface="+mj-lt"/>
              </a:rPr>
              <a:t> </a:t>
            </a:r>
            <a:r>
              <a:rPr lang="en-US" altLang="cs-CZ" sz="2000" dirty="0">
                <a:latin typeface="+mj-lt"/>
              </a:rPr>
              <a:t>]</a:t>
            </a:r>
            <a:endParaRPr lang="cs-CZ" altLang="cs-CZ" sz="2000" dirty="0">
              <a:latin typeface="+mj-lt"/>
            </a:endParaRPr>
          </a:p>
          <a:p>
            <a:pPr marL="609600" indent="-609600" eaLnBrk="1" hangingPunct="1">
              <a:lnSpc>
                <a:spcPct val="90000"/>
              </a:lnSpc>
              <a:buFontTx/>
              <a:buNone/>
            </a:pPr>
            <a:r>
              <a:rPr lang="cs-CZ" altLang="cs-CZ" sz="2000" dirty="0">
                <a:latin typeface="+mj-lt"/>
              </a:rPr>
              <a:t>     </a:t>
            </a:r>
            <a:r>
              <a:rPr lang="en-US" altLang="cs-CZ" sz="2000" dirty="0">
                <a:latin typeface="+mj-lt"/>
              </a:rPr>
              <a:t>{</a:t>
            </a:r>
            <a:r>
              <a:rPr lang="cs-CZ" altLang="cs-CZ" sz="2000" dirty="0">
                <a:latin typeface="+mj-lt"/>
              </a:rPr>
              <a:t> </a:t>
            </a:r>
            <a:r>
              <a:rPr lang="en-US" altLang="cs-CZ" sz="2000" dirty="0">
                <a:latin typeface="+mj-lt"/>
              </a:rPr>
              <a:t>[NOT] NULL |</a:t>
            </a:r>
            <a:r>
              <a:rPr lang="cs-CZ" altLang="cs-CZ" sz="2000" dirty="0">
                <a:latin typeface="+mj-lt"/>
              </a:rPr>
              <a:t> </a:t>
            </a:r>
            <a:br>
              <a:rPr lang="cs-CZ" altLang="cs-CZ" sz="2000" dirty="0">
                <a:latin typeface="+mj-lt"/>
              </a:rPr>
            </a:br>
            <a:r>
              <a:rPr lang="en-US" altLang="cs-CZ" sz="2000" dirty="0">
                <a:latin typeface="+mj-lt"/>
              </a:rPr>
              <a:t>[NOT</a:t>
            </a:r>
            <a:r>
              <a:rPr lang="cs-CZ" altLang="cs-CZ" sz="2000" dirty="0">
                <a:latin typeface="+mj-lt"/>
              </a:rPr>
              <a:t> </a:t>
            </a:r>
            <a:r>
              <a:rPr lang="en-US" altLang="cs-CZ" sz="2000" dirty="0">
                <a:latin typeface="+mj-lt"/>
              </a:rPr>
              <a:t>NULL] </a:t>
            </a:r>
            <a:r>
              <a:rPr lang="cs-CZ" altLang="cs-CZ" sz="2000" dirty="0">
                <a:latin typeface="+mj-lt"/>
              </a:rPr>
              <a:t>UNIQUE </a:t>
            </a:r>
            <a:r>
              <a:rPr lang="en-US" altLang="cs-CZ" sz="2000" dirty="0">
                <a:latin typeface="+mj-lt"/>
              </a:rPr>
              <a:t>|</a:t>
            </a:r>
            <a:r>
              <a:rPr lang="cs-CZ" altLang="cs-CZ" sz="2000" dirty="0">
                <a:latin typeface="+mj-lt"/>
              </a:rPr>
              <a:t> </a:t>
            </a:r>
            <a:br>
              <a:rPr lang="cs-CZ" altLang="cs-CZ" sz="2000" dirty="0">
                <a:latin typeface="+mj-lt"/>
              </a:rPr>
            </a:br>
            <a:r>
              <a:rPr lang="en-US" altLang="cs-CZ" sz="2000" dirty="0">
                <a:latin typeface="+mj-lt"/>
              </a:rPr>
              <a:t>[NOT</a:t>
            </a:r>
            <a:r>
              <a:rPr lang="cs-CZ" altLang="cs-CZ" sz="2000" dirty="0">
                <a:latin typeface="+mj-lt"/>
              </a:rPr>
              <a:t> </a:t>
            </a:r>
            <a:r>
              <a:rPr lang="en-US" altLang="cs-CZ" sz="2000" dirty="0">
                <a:latin typeface="+mj-lt"/>
              </a:rPr>
              <a:t>NULL] </a:t>
            </a:r>
            <a:r>
              <a:rPr lang="cs-CZ" altLang="cs-CZ" sz="2000" dirty="0">
                <a:latin typeface="+mj-lt"/>
              </a:rPr>
              <a:t>PRIMARY KEY </a:t>
            </a:r>
            <a:r>
              <a:rPr lang="en-US" altLang="cs-CZ" sz="2000" dirty="0">
                <a:latin typeface="+mj-lt"/>
              </a:rPr>
              <a:t>| </a:t>
            </a:r>
            <a:r>
              <a:rPr lang="cs-CZ" altLang="cs-CZ" sz="2000" dirty="0">
                <a:latin typeface="+mj-lt"/>
              </a:rPr>
              <a:t/>
            </a:r>
            <a:br>
              <a:rPr lang="cs-CZ" altLang="cs-CZ" sz="2000" dirty="0">
                <a:latin typeface="+mj-lt"/>
              </a:rPr>
            </a:br>
            <a:r>
              <a:rPr lang="cs-CZ" altLang="cs-CZ" sz="2000" dirty="0">
                <a:latin typeface="+mj-lt"/>
              </a:rPr>
              <a:t>REFERENCES </a:t>
            </a:r>
            <a:r>
              <a:rPr lang="en-US" altLang="cs-CZ" sz="2000" dirty="0">
                <a:latin typeface="+mj-lt"/>
              </a:rPr>
              <a:t>&lt;</a:t>
            </a:r>
            <a:r>
              <a:rPr lang="cs-CZ" altLang="cs-CZ" sz="2000" dirty="0">
                <a:latin typeface="+mj-lt"/>
              </a:rPr>
              <a:t>název tabulky</a:t>
            </a:r>
            <a:r>
              <a:rPr lang="en-US" altLang="cs-CZ" sz="2000" dirty="0">
                <a:latin typeface="+mj-lt"/>
              </a:rPr>
              <a:t>&gt;</a:t>
            </a:r>
            <a:r>
              <a:rPr lang="cs-CZ" altLang="cs-CZ" sz="2000" dirty="0">
                <a:latin typeface="+mj-lt"/>
              </a:rPr>
              <a:t>  </a:t>
            </a:r>
            <a:r>
              <a:rPr lang="en-US" altLang="cs-CZ" sz="2000" dirty="0">
                <a:latin typeface="+mj-lt"/>
              </a:rPr>
              <a:t>[</a:t>
            </a:r>
            <a:r>
              <a:rPr lang="cs-CZ" altLang="cs-CZ" sz="2000" dirty="0">
                <a:latin typeface="+mj-lt"/>
              </a:rPr>
              <a:t>(</a:t>
            </a:r>
            <a:r>
              <a:rPr lang="en-US" altLang="cs-CZ" sz="2000" dirty="0">
                <a:latin typeface="+mj-lt"/>
              </a:rPr>
              <a:t>&lt;</a:t>
            </a:r>
            <a:r>
              <a:rPr lang="cs-CZ" altLang="cs-CZ" sz="2000" dirty="0">
                <a:latin typeface="+mj-lt"/>
              </a:rPr>
              <a:t>název sloupce</a:t>
            </a:r>
            <a:r>
              <a:rPr lang="en-US" altLang="cs-CZ" sz="2000" dirty="0">
                <a:latin typeface="+mj-lt"/>
              </a:rPr>
              <a:t>&gt;</a:t>
            </a:r>
            <a:r>
              <a:rPr lang="cs-CZ" altLang="cs-CZ" sz="2000" dirty="0">
                <a:latin typeface="+mj-lt"/>
              </a:rPr>
              <a:t>)</a:t>
            </a:r>
            <a:r>
              <a:rPr lang="en-US" altLang="cs-CZ" sz="2000" dirty="0">
                <a:latin typeface="+mj-lt"/>
              </a:rPr>
              <a:t>] | </a:t>
            </a:r>
            <a:r>
              <a:rPr lang="cs-CZ" altLang="cs-CZ" sz="2000" dirty="0">
                <a:latin typeface="+mj-lt"/>
              </a:rPr>
              <a:t/>
            </a:r>
            <a:br>
              <a:rPr lang="cs-CZ" altLang="cs-CZ" sz="2000" dirty="0">
                <a:latin typeface="+mj-lt"/>
              </a:rPr>
            </a:br>
            <a:r>
              <a:rPr lang="en-US" altLang="cs-CZ" sz="2000" dirty="0">
                <a:latin typeface="+mj-lt"/>
              </a:rPr>
              <a:t>CHECK </a:t>
            </a:r>
            <a:r>
              <a:rPr lang="cs-CZ" altLang="cs-CZ" sz="2000" dirty="0">
                <a:latin typeface="+mj-lt"/>
              </a:rPr>
              <a:t>(</a:t>
            </a:r>
            <a:r>
              <a:rPr lang="en-US" altLang="cs-CZ" sz="2000" dirty="0">
                <a:latin typeface="+mj-lt"/>
              </a:rPr>
              <a:t>&lt;</a:t>
            </a:r>
            <a:r>
              <a:rPr lang="cs-CZ" altLang="cs-CZ" sz="2000" dirty="0">
                <a:latin typeface="+mj-lt"/>
              </a:rPr>
              <a:t>podmínka</a:t>
            </a:r>
            <a:r>
              <a:rPr lang="en-US" altLang="cs-CZ" sz="2000" dirty="0">
                <a:latin typeface="+mj-lt"/>
              </a:rPr>
              <a:t>&gt;</a:t>
            </a:r>
            <a:r>
              <a:rPr lang="cs-CZ" altLang="cs-CZ" sz="2000" dirty="0">
                <a:latin typeface="+mj-lt"/>
              </a:rPr>
              <a:t>)</a:t>
            </a:r>
            <a:r>
              <a:rPr lang="en-US" altLang="cs-CZ" sz="2000" dirty="0">
                <a:latin typeface="+mj-lt"/>
              </a:rPr>
              <a:t>}</a:t>
            </a:r>
            <a:endParaRPr lang="cs-CZ" altLang="cs-CZ" sz="2000" dirty="0">
              <a:latin typeface="+mj-lt"/>
            </a:endParaRPr>
          </a:p>
          <a:p>
            <a:pPr marL="609600" indent="-609600" eaLnBrk="1" hangingPunct="1">
              <a:lnSpc>
                <a:spcPct val="90000"/>
              </a:lnSpc>
              <a:buFontTx/>
              <a:buNone/>
            </a:pPr>
            <a:endParaRPr lang="cs-CZ" altLang="cs-CZ" sz="2000" dirty="0">
              <a:latin typeface="+mj-lt"/>
            </a:endParaRPr>
          </a:p>
        </p:txBody>
      </p:sp>
      <p:pic>
        <p:nvPicPr>
          <p:cNvPr id="72708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48488" y="1557338"/>
            <a:ext cx="1562100" cy="1295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Rectangle 2"/>
          <p:cNvSpPr txBox="1">
            <a:spLocks noChangeArrowheads="1"/>
          </p:cNvSpPr>
          <p:nvPr/>
        </p:nvSpPr>
        <p:spPr>
          <a:xfrm>
            <a:off x="0" y="0"/>
            <a:ext cx="9144000" cy="81042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 fontAlgn="auto">
              <a:spcAft>
                <a:spcPts val="0"/>
              </a:spcAft>
              <a:defRPr/>
            </a:pPr>
            <a:r>
              <a:rPr lang="cs-CZ" sz="3600" dirty="0" err="1" smtClean="0"/>
              <a:t>Create</a:t>
            </a:r>
            <a:r>
              <a:rPr lang="cs-CZ" sz="3600" dirty="0" smtClean="0"/>
              <a:t> table</a:t>
            </a:r>
            <a:endParaRPr lang="cs-CZ" sz="3600" dirty="0"/>
          </a:p>
        </p:txBody>
      </p:sp>
    </p:spTree>
    <p:extLst>
      <p:ext uri="{BB962C8B-B14F-4D97-AF65-F5344CB8AC3E}">
        <p14:creationId xmlns:p14="http://schemas.microsoft.com/office/powerpoint/2010/main" val="25990751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31" name="Rectangle 3"/>
          <p:cNvSpPr>
            <a:spLocks noGrp="1" noChangeArrowheads="1"/>
          </p:cNvSpPr>
          <p:nvPr>
            <p:ph idx="1"/>
          </p:nvPr>
        </p:nvSpPr>
        <p:spPr>
          <a:xfrm>
            <a:off x="121746" y="1262630"/>
            <a:ext cx="8569325" cy="4608512"/>
          </a:xfrm>
        </p:spPr>
        <p:txBody>
          <a:bodyPr>
            <a:normAutofit fontScale="92500" lnSpcReduction="10000"/>
          </a:bodyPr>
          <a:lstStyle/>
          <a:p>
            <a:pPr marL="990600" lvl="1" indent="-533400" eaLnBrk="1" hangingPunct="1">
              <a:lnSpc>
                <a:spcPct val="80000"/>
              </a:lnSpc>
              <a:buFontTx/>
              <a:buNone/>
            </a:pPr>
            <a:r>
              <a:rPr lang="cs-CZ" altLang="cs-CZ" sz="2400" dirty="0">
                <a:latin typeface="+mj-lt"/>
                <a:ea typeface="+mj-ea"/>
                <a:cs typeface="+mj-cs"/>
              </a:rPr>
              <a:t>Omezující podmínky pro sloupce:</a:t>
            </a:r>
          </a:p>
          <a:p>
            <a:pPr marL="990600" lvl="1" indent="-533400" eaLnBrk="1" hangingPunct="1">
              <a:lnSpc>
                <a:spcPct val="80000"/>
              </a:lnSpc>
              <a:buFontTx/>
              <a:buNone/>
            </a:pPr>
            <a:endParaRPr lang="cs-CZ" altLang="cs-CZ" sz="2000" dirty="0">
              <a:latin typeface="+mj-lt"/>
            </a:endParaRPr>
          </a:p>
          <a:p>
            <a:pPr marL="990600" lvl="1" indent="-533400" eaLnBrk="1" hangingPunct="1">
              <a:lnSpc>
                <a:spcPct val="80000"/>
              </a:lnSpc>
              <a:buFontTx/>
              <a:buNone/>
            </a:pPr>
            <a:r>
              <a:rPr lang="cs-CZ" altLang="cs-CZ" sz="2400" b="1" dirty="0">
                <a:latin typeface="+mj-lt"/>
                <a:ea typeface="+mj-ea"/>
                <a:cs typeface="+mj-cs"/>
              </a:rPr>
              <a:t>NOT NULL </a:t>
            </a:r>
            <a:r>
              <a:rPr lang="cs-CZ" altLang="cs-CZ" sz="2000" dirty="0">
                <a:latin typeface="+mj-lt"/>
              </a:rPr>
              <a:t>		– hodnota ve sloupci nesmí být NULL</a:t>
            </a:r>
          </a:p>
          <a:p>
            <a:pPr marL="990600" lvl="1" indent="-533400" eaLnBrk="1" hangingPunct="1">
              <a:lnSpc>
                <a:spcPct val="80000"/>
              </a:lnSpc>
              <a:spcBef>
                <a:spcPct val="45000"/>
              </a:spcBef>
              <a:buFontTx/>
              <a:buNone/>
            </a:pPr>
            <a:endParaRPr lang="cs-CZ" altLang="cs-CZ" sz="800" dirty="0">
              <a:latin typeface="+mj-lt"/>
            </a:endParaRPr>
          </a:p>
          <a:p>
            <a:pPr marL="990600" lvl="1" indent="-533400" eaLnBrk="1" hangingPunct="1">
              <a:lnSpc>
                <a:spcPct val="80000"/>
              </a:lnSpc>
              <a:spcBef>
                <a:spcPct val="45000"/>
              </a:spcBef>
              <a:buFontTx/>
              <a:buNone/>
            </a:pPr>
            <a:r>
              <a:rPr lang="cs-CZ" altLang="cs-CZ" sz="2400" b="1" dirty="0">
                <a:latin typeface="+mj-lt"/>
                <a:ea typeface="+mj-ea"/>
                <a:cs typeface="+mj-cs"/>
              </a:rPr>
              <a:t>UNIQUE</a:t>
            </a:r>
            <a:r>
              <a:rPr lang="cs-CZ" altLang="cs-CZ" sz="2400" dirty="0">
                <a:latin typeface="+mj-lt"/>
                <a:ea typeface="+mj-ea"/>
                <a:cs typeface="+mj-cs"/>
              </a:rPr>
              <a:t> </a:t>
            </a:r>
            <a:r>
              <a:rPr lang="cs-CZ" altLang="cs-CZ" sz="2000" dirty="0">
                <a:latin typeface="+mj-lt"/>
              </a:rPr>
              <a:t>		– jedinečnost = zakázány duplicity</a:t>
            </a:r>
          </a:p>
          <a:p>
            <a:pPr marL="990600" lvl="1" indent="-533400" eaLnBrk="1" hangingPunct="1">
              <a:lnSpc>
                <a:spcPct val="80000"/>
              </a:lnSpc>
              <a:spcBef>
                <a:spcPct val="45000"/>
              </a:spcBef>
              <a:buFontTx/>
              <a:buNone/>
            </a:pPr>
            <a:endParaRPr lang="cs-CZ" altLang="cs-CZ" sz="800" dirty="0">
              <a:latin typeface="+mj-lt"/>
            </a:endParaRPr>
          </a:p>
          <a:p>
            <a:pPr marL="990600" lvl="1" indent="-533400" eaLnBrk="1" hangingPunct="1">
              <a:lnSpc>
                <a:spcPct val="80000"/>
              </a:lnSpc>
              <a:spcBef>
                <a:spcPct val="45000"/>
              </a:spcBef>
              <a:buFontTx/>
              <a:buNone/>
            </a:pPr>
            <a:r>
              <a:rPr lang="cs-CZ" altLang="cs-CZ" sz="2400" b="1" dirty="0">
                <a:latin typeface="+mj-lt"/>
                <a:ea typeface="+mj-ea"/>
                <a:cs typeface="+mj-cs"/>
              </a:rPr>
              <a:t>PRIMARY KEY </a:t>
            </a:r>
            <a:r>
              <a:rPr lang="cs-CZ" altLang="cs-CZ" sz="2000" dirty="0">
                <a:latin typeface="+mj-lt"/>
              </a:rPr>
              <a:t>	– primární klíč </a:t>
            </a:r>
            <a:r>
              <a:rPr lang="cs-CZ" altLang="cs-CZ" sz="1800" dirty="0">
                <a:latin typeface="+mj-lt"/>
              </a:rPr>
              <a:t>(zakázány duplicity a NULL hodnoty)</a:t>
            </a:r>
          </a:p>
          <a:p>
            <a:pPr marL="990600" lvl="1" indent="-533400" eaLnBrk="1" hangingPunct="1">
              <a:lnSpc>
                <a:spcPct val="80000"/>
              </a:lnSpc>
              <a:spcBef>
                <a:spcPct val="45000"/>
              </a:spcBef>
              <a:buFontTx/>
              <a:buNone/>
            </a:pPr>
            <a:endParaRPr lang="cs-CZ" altLang="cs-CZ" sz="800" dirty="0">
              <a:latin typeface="+mj-lt"/>
            </a:endParaRPr>
          </a:p>
          <a:p>
            <a:pPr marL="990600" lvl="1" indent="-533400" eaLnBrk="1" hangingPunct="1">
              <a:lnSpc>
                <a:spcPct val="80000"/>
              </a:lnSpc>
              <a:spcBef>
                <a:spcPct val="45000"/>
              </a:spcBef>
              <a:buFontTx/>
              <a:buNone/>
            </a:pPr>
            <a:r>
              <a:rPr lang="cs-CZ" altLang="cs-CZ" sz="2400" b="1" dirty="0">
                <a:latin typeface="+mj-lt"/>
                <a:ea typeface="+mj-ea"/>
                <a:cs typeface="+mj-cs"/>
              </a:rPr>
              <a:t>FOREIGN KEY </a:t>
            </a:r>
            <a:r>
              <a:rPr lang="cs-CZ" altLang="cs-CZ" sz="2000" dirty="0">
                <a:latin typeface="+mj-lt"/>
              </a:rPr>
              <a:t>	– cizí klíč </a:t>
            </a:r>
            <a:br>
              <a:rPr lang="cs-CZ" altLang="cs-CZ" sz="2000" dirty="0">
                <a:latin typeface="+mj-lt"/>
              </a:rPr>
            </a:br>
            <a:r>
              <a:rPr lang="cs-CZ" altLang="cs-CZ" sz="1800" dirty="0">
                <a:latin typeface="+mj-lt"/>
              </a:rPr>
              <a:t>(odkazuje na sloupec jiné tabulky – podpora pro udržení integrity dat)</a:t>
            </a:r>
          </a:p>
          <a:p>
            <a:pPr marL="990600" lvl="1" indent="-533400" eaLnBrk="1" hangingPunct="1">
              <a:lnSpc>
                <a:spcPct val="80000"/>
              </a:lnSpc>
              <a:spcBef>
                <a:spcPct val="45000"/>
              </a:spcBef>
              <a:buFontTx/>
              <a:buNone/>
            </a:pPr>
            <a:endParaRPr lang="cs-CZ" altLang="cs-CZ" sz="800" dirty="0">
              <a:latin typeface="+mj-lt"/>
            </a:endParaRPr>
          </a:p>
          <a:p>
            <a:pPr marL="990600" lvl="1" indent="-533400" eaLnBrk="1" hangingPunct="1">
              <a:lnSpc>
                <a:spcPct val="80000"/>
              </a:lnSpc>
              <a:spcBef>
                <a:spcPct val="45000"/>
              </a:spcBef>
              <a:buFontTx/>
              <a:buNone/>
            </a:pPr>
            <a:r>
              <a:rPr lang="cs-CZ" altLang="cs-CZ" sz="2400" b="1" dirty="0">
                <a:latin typeface="+mj-lt"/>
                <a:ea typeface="+mj-ea"/>
                <a:cs typeface="+mj-cs"/>
              </a:rPr>
              <a:t>CHECK</a:t>
            </a:r>
            <a:r>
              <a:rPr lang="cs-CZ" altLang="cs-CZ" sz="2400" dirty="0">
                <a:latin typeface="+mj-lt"/>
                <a:ea typeface="+mj-ea"/>
                <a:cs typeface="+mj-cs"/>
              </a:rPr>
              <a:t> </a:t>
            </a:r>
            <a:r>
              <a:rPr lang="cs-CZ" altLang="cs-CZ" sz="2000" dirty="0">
                <a:latin typeface="+mj-lt"/>
              </a:rPr>
              <a:t>		– podmínka pro hodnoty ve sloupci </a:t>
            </a:r>
          </a:p>
          <a:p>
            <a:pPr marL="990600" lvl="1" indent="-533400" eaLnBrk="1" hangingPunct="1">
              <a:lnSpc>
                <a:spcPct val="80000"/>
              </a:lnSpc>
              <a:spcBef>
                <a:spcPct val="45000"/>
              </a:spcBef>
              <a:buFontTx/>
              <a:buNone/>
            </a:pPr>
            <a:r>
              <a:rPr lang="cs-CZ" altLang="cs-CZ" sz="2000" dirty="0">
                <a:latin typeface="+mj-lt"/>
              </a:rPr>
              <a:t>	</a:t>
            </a:r>
            <a:r>
              <a:rPr lang="cs-CZ" altLang="cs-CZ" sz="1800" dirty="0">
                <a:latin typeface="+mj-lt"/>
              </a:rPr>
              <a:t>(např. ID INTEGER CHECK ID BETWEEN 0 AND 100)</a:t>
            </a:r>
            <a:r>
              <a:rPr lang="cs-CZ" altLang="cs-CZ" sz="2000" dirty="0">
                <a:latin typeface="+mj-lt"/>
              </a:rPr>
              <a:t> </a:t>
            </a:r>
          </a:p>
          <a:p>
            <a:pPr marL="990600" lvl="1" indent="-533400" eaLnBrk="1" hangingPunct="1">
              <a:lnSpc>
                <a:spcPct val="80000"/>
              </a:lnSpc>
              <a:spcBef>
                <a:spcPct val="45000"/>
              </a:spcBef>
              <a:buFontTx/>
              <a:buNone/>
            </a:pPr>
            <a:endParaRPr lang="cs-CZ" altLang="cs-CZ" sz="800" dirty="0">
              <a:latin typeface="+mj-lt"/>
            </a:endParaRPr>
          </a:p>
          <a:p>
            <a:pPr marL="990600" lvl="1" indent="-533400" eaLnBrk="1" hangingPunct="1">
              <a:lnSpc>
                <a:spcPct val="80000"/>
              </a:lnSpc>
              <a:spcBef>
                <a:spcPct val="45000"/>
              </a:spcBef>
              <a:buFontTx/>
              <a:buNone/>
            </a:pPr>
            <a:r>
              <a:rPr lang="cs-CZ" altLang="cs-CZ" sz="2400" b="1" dirty="0">
                <a:latin typeface="+mj-lt"/>
                <a:ea typeface="+mj-ea"/>
                <a:cs typeface="+mj-cs"/>
              </a:rPr>
              <a:t>DEFAULT</a:t>
            </a:r>
            <a:r>
              <a:rPr lang="cs-CZ" altLang="cs-CZ" sz="2400" dirty="0">
                <a:latin typeface="+mj-lt"/>
                <a:ea typeface="+mj-ea"/>
                <a:cs typeface="+mj-cs"/>
              </a:rPr>
              <a:t> </a:t>
            </a:r>
            <a:r>
              <a:rPr lang="cs-CZ" altLang="cs-CZ" sz="2000" dirty="0">
                <a:latin typeface="+mj-lt"/>
              </a:rPr>
              <a:t>		– předdefinovaná hodnota</a:t>
            </a:r>
          </a:p>
          <a:p>
            <a:pPr marL="990600" lvl="1" indent="-533400" eaLnBrk="1" hangingPunct="1">
              <a:lnSpc>
                <a:spcPct val="80000"/>
              </a:lnSpc>
              <a:spcBef>
                <a:spcPct val="45000"/>
              </a:spcBef>
              <a:buFontTx/>
              <a:buNone/>
            </a:pPr>
            <a:r>
              <a:rPr lang="cs-CZ" altLang="cs-CZ" sz="1800" dirty="0">
                <a:latin typeface="+mj-lt"/>
              </a:rPr>
              <a:t>	(např. sloupec_1 INTEGER DEFAULT 50)</a:t>
            </a:r>
            <a:r>
              <a:rPr lang="cs-CZ" altLang="cs-CZ" sz="2000" dirty="0">
                <a:latin typeface="+mj-lt"/>
              </a:rPr>
              <a:t> </a:t>
            </a:r>
          </a:p>
          <a:p>
            <a:pPr marL="990600" lvl="1" indent="-533400" eaLnBrk="1" hangingPunct="1">
              <a:lnSpc>
                <a:spcPct val="80000"/>
              </a:lnSpc>
              <a:spcBef>
                <a:spcPct val="45000"/>
              </a:spcBef>
              <a:buFontTx/>
              <a:buNone/>
            </a:pPr>
            <a:endParaRPr lang="cs-CZ" altLang="cs-CZ" sz="2000" dirty="0">
              <a:latin typeface="+mj-lt"/>
            </a:endParaRPr>
          </a:p>
          <a:p>
            <a:pPr marL="609600" indent="-609600" eaLnBrk="1" hangingPunct="1">
              <a:lnSpc>
                <a:spcPct val="80000"/>
              </a:lnSpc>
              <a:buFontTx/>
              <a:buNone/>
            </a:pPr>
            <a:endParaRPr lang="cs-CZ" altLang="cs-CZ" sz="2000" i="1" dirty="0">
              <a:latin typeface="+mj-lt"/>
            </a:endParaRPr>
          </a:p>
          <a:p>
            <a:pPr marL="609600" indent="-609600" eaLnBrk="1" hangingPunct="1">
              <a:lnSpc>
                <a:spcPct val="80000"/>
              </a:lnSpc>
              <a:buFontTx/>
              <a:buChar char="-"/>
            </a:pPr>
            <a:endParaRPr lang="cs-CZ" altLang="cs-CZ" sz="2000" i="1" dirty="0">
              <a:latin typeface="+mj-lt"/>
            </a:endParaRPr>
          </a:p>
        </p:txBody>
      </p:sp>
      <p:pic>
        <p:nvPicPr>
          <p:cNvPr id="73732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96188" y="549275"/>
            <a:ext cx="1104900" cy="19542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Rectangle 2"/>
          <p:cNvSpPr txBox="1">
            <a:spLocks noChangeArrowheads="1"/>
          </p:cNvSpPr>
          <p:nvPr/>
        </p:nvSpPr>
        <p:spPr>
          <a:xfrm>
            <a:off x="0" y="0"/>
            <a:ext cx="9144000" cy="81042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 fontAlgn="auto">
              <a:spcAft>
                <a:spcPts val="0"/>
              </a:spcAft>
              <a:defRPr/>
            </a:pPr>
            <a:r>
              <a:rPr lang="cs-CZ" sz="3600" dirty="0" err="1" smtClean="0"/>
              <a:t>Create</a:t>
            </a:r>
            <a:r>
              <a:rPr lang="cs-CZ" sz="3600" dirty="0" smtClean="0"/>
              <a:t> table</a:t>
            </a:r>
            <a:endParaRPr lang="cs-CZ" sz="3600" dirty="0"/>
          </a:p>
        </p:txBody>
      </p:sp>
    </p:spTree>
    <p:extLst>
      <p:ext uri="{BB962C8B-B14F-4D97-AF65-F5344CB8AC3E}">
        <p14:creationId xmlns:p14="http://schemas.microsoft.com/office/powerpoint/2010/main" val="4068769080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9" name="Rectangle 3"/>
          <p:cNvSpPr>
            <a:spLocks noGrp="1" noChangeArrowheads="1"/>
          </p:cNvSpPr>
          <p:nvPr>
            <p:ph idx="1"/>
          </p:nvPr>
        </p:nvSpPr>
        <p:spPr>
          <a:xfrm>
            <a:off x="179512" y="1082449"/>
            <a:ext cx="8686800" cy="4968875"/>
          </a:xfrm>
        </p:spPr>
        <p:txBody>
          <a:bodyPr/>
          <a:lstStyle/>
          <a:p>
            <a:pPr marL="609600" indent="-609600" eaLnBrk="1" hangingPunct="1">
              <a:buFontTx/>
              <a:buNone/>
            </a:pPr>
            <a:endParaRPr lang="cs-CZ" altLang="cs-CZ" sz="2800" dirty="0"/>
          </a:p>
          <a:p>
            <a:pPr marL="609600" indent="-609600" eaLnBrk="1" hangingPunct="1">
              <a:spcBef>
                <a:spcPct val="0"/>
              </a:spcBef>
              <a:buFontTx/>
              <a:buNone/>
            </a:pPr>
            <a:r>
              <a:rPr lang="en-US" altLang="cs-CZ" sz="2000" dirty="0"/>
              <a:t>&lt; </a:t>
            </a:r>
            <a:r>
              <a:rPr lang="cs-CZ" altLang="cs-CZ" sz="2000" dirty="0"/>
              <a:t>omezení tabulky</a:t>
            </a:r>
            <a:r>
              <a:rPr lang="en-US" altLang="cs-CZ" sz="2000" dirty="0"/>
              <a:t>&gt;</a:t>
            </a:r>
            <a:r>
              <a:rPr lang="cs-CZ" altLang="cs-CZ" sz="2000" dirty="0"/>
              <a:t> =</a:t>
            </a:r>
            <a:endParaRPr lang="en-US" altLang="cs-CZ" sz="2000" dirty="0"/>
          </a:p>
          <a:p>
            <a:pPr marL="609600" indent="-609600" eaLnBrk="1" hangingPunct="1">
              <a:spcBef>
                <a:spcPct val="0"/>
              </a:spcBef>
              <a:buFontTx/>
              <a:buNone/>
            </a:pPr>
            <a:r>
              <a:rPr lang="en-US" altLang="cs-CZ" sz="2000" dirty="0"/>
              <a:t>[CONSTRAINT &lt;</a:t>
            </a:r>
            <a:r>
              <a:rPr lang="cs-CZ" altLang="cs-CZ" sz="2000" dirty="0"/>
              <a:t>název</a:t>
            </a:r>
            <a:r>
              <a:rPr lang="en-US" altLang="cs-CZ" sz="2000" dirty="0"/>
              <a:t> </a:t>
            </a:r>
            <a:r>
              <a:rPr lang="cs-CZ" altLang="cs-CZ" sz="2000" dirty="0"/>
              <a:t>omezení</a:t>
            </a:r>
            <a:r>
              <a:rPr lang="en-US" altLang="cs-CZ" sz="2000" dirty="0"/>
              <a:t>&gt;</a:t>
            </a:r>
            <a:r>
              <a:rPr lang="cs-CZ" altLang="cs-CZ" sz="2000" dirty="0"/>
              <a:t> </a:t>
            </a:r>
            <a:r>
              <a:rPr lang="en-US" altLang="cs-CZ" sz="2000" dirty="0"/>
              <a:t>]</a:t>
            </a:r>
            <a:endParaRPr lang="cs-CZ" altLang="cs-CZ" sz="2000" dirty="0"/>
          </a:p>
          <a:p>
            <a:pPr marL="609600" indent="-609600" eaLnBrk="1" hangingPunct="1">
              <a:buFontTx/>
              <a:buNone/>
            </a:pPr>
            <a:r>
              <a:rPr lang="cs-CZ" altLang="cs-CZ" sz="2000" dirty="0"/>
              <a:t>   </a:t>
            </a:r>
            <a:r>
              <a:rPr lang="en-US" altLang="cs-CZ" sz="2000" dirty="0"/>
              <a:t>{</a:t>
            </a:r>
            <a:r>
              <a:rPr lang="cs-CZ" altLang="cs-CZ" sz="2000" dirty="0"/>
              <a:t> UNIQUE (</a:t>
            </a:r>
            <a:r>
              <a:rPr lang="en-US" altLang="cs-CZ" sz="2000" dirty="0"/>
              <a:t>&lt;</a:t>
            </a:r>
            <a:r>
              <a:rPr lang="cs-CZ" altLang="cs-CZ" sz="2000" dirty="0"/>
              <a:t>seznam sloupců</a:t>
            </a:r>
            <a:r>
              <a:rPr lang="en-US" altLang="cs-CZ" sz="2000" dirty="0"/>
              <a:t>&gt;</a:t>
            </a:r>
            <a:r>
              <a:rPr lang="cs-CZ" altLang="cs-CZ" sz="2000" dirty="0"/>
              <a:t>) </a:t>
            </a:r>
            <a:r>
              <a:rPr lang="en-US" altLang="cs-CZ" sz="2000" dirty="0"/>
              <a:t>|</a:t>
            </a:r>
            <a:r>
              <a:rPr lang="cs-CZ" altLang="cs-CZ" sz="2000" dirty="0"/>
              <a:t> </a:t>
            </a:r>
            <a:br>
              <a:rPr lang="cs-CZ" altLang="cs-CZ" sz="2000" dirty="0"/>
            </a:br>
            <a:r>
              <a:rPr lang="cs-CZ" altLang="cs-CZ" sz="2000" dirty="0"/>
              <a:t>PRIMARY KEY (</a:t>
            </a:r>
            <a:r>
              <a:rPr lang="en-US" altLang="cs-CZ" sz="2000" dirty="0"/>
              <a:t>&lt;</a:t>
            </a:r>
            <a:r>
              <a:rPr lang="cs-CZ" altLang="cs-CZ" sz="2000" dirty="0"/>
              <a:t>seznam sloupců</a:t>
            </a:r>
            <a:r>
              <a:rPr lang="en-US" altLang="cs-CZ" sz="2000" dirty="0"/>
              <a:t>&gt;</a:t>
            </a:r>
            <a:r>
              <a:rPr lang="cs-CZ" altLang="cs-CZ" sz="2000" dirty="0"/>
              <a:t>) </a:t>
            </a:r>
            <a:r>
              <a:rPr lang="en-US" altLang="cs-CZ" sz="2000" dirty="0"/>
              <a:t>| </a:t>
            </a:r>
            <a:r>
              <a:rPr lang="cs-CZ" altLang="cs-CZ" sz="2000" dirty="0"/>
              <a:t/>
            </a:r>
            <a:br>
              <a:rPr lang="cs-CZ" altLang="cs-CZ" sz="2000" dirty="0"/>
            </a:br>
            <a:r>
              <a:rPr lang="en-US" altLang="cs-CZ" sz="2000" dirty="0"/>
              <a:t>CHECK </a:t>
            </a:r>
            <a:r>
              <a:rPr lang="cs-CZ" altLang="cs-CZ" sz="2000" dirty="0"/>
              <a:t>(</a:t>
            </a:r>
            <a:r>
              <a:rPr lang="en-US" altLang="cs-CZ" sz="2000" dirty="0"/>
              <a:t>&lt;</a:t>
            </a:r>
            <a:r>
              <a:rPr lang="cs-CZ" altLang="cs-CZ" sz="2000" dirty="0"/>
              <a:t>podmínka</a:t>
            </a:r>
            <a:r>
              <a:rPr lang="en-US" altLang="cs-CZ" sz="2000" dirty="0"/>
              <a:t>&gt;</a:t>
            </a:r>
            <a:r>
              <a:rPr lang="cs-CZ" altLang="cs-CZ" sz="2000" dirty="0"/>
              <a:t>) </a:t>
            </a:r>
            <a:r>
              <a:rPr lang="en-US" altLang="cs-CZ" sz="2000" dirty="0"/>
              <a:t>|</a:t>
            </a:r>
            <a:endParaRPr lang="cs-CZ" altLang="cs-CZ" sz="2000" dirty="0"/>
          </a:p>
          <a:p>
            <a:pPr marL="609600" indent="-609600" eaLnBrk="1" hangingPunct="1">
              <a:buFontTx/>
              <a:buNone/>
            </a:pPr>
            <a:r>
              <a:rPr lang="cs-CZ" altLang="cs-CZ" sz="2000" dirty="0"/>
              <a:t>	FOREIGN KEY (</a:t>
            </a:r>
            <a:r>
              <a:rPr lang="en-US" altLang="cs-CZ" sz="2000" dirty="0"/>
              <a:t>&lt;</a:t>
            </a:r>
            <a:r>
              <a:rPr lang="cs-CZ" altLang="cs-CZ" sz="2000" dirty="0"/>
              <a:t>seznam sloupců</a:t>
            </a:r>
            <a:r>
              <a:rPr lang="en-US" altLang="cs-CZ" sz="2000" dirty="0"/>
              <a:t>&gt;</a:t>
            </a:r>
            <a:r>
              <a:rPr lang="cs-CZ" altLang="cs-CZ" sz="2000" dirty="0"/>
              <a:t>) </a:t>
            </a:r>
          </a:p>
          <a:p>
            <a:pPr marL="609600" indent="-609600" eaLnBrk="1" hangingPunct="1">
              <a:buFontTx/>
              <a:buNone/>
            </a:pPr>
            <a:r>
              <a:rPr lang="cs-CZ" altLang="cs-CZ" sz="2000" dirty="0"/>
              <a:t>		REFERENCES </a:t>
            </a:r>
            <a:r>
              <a:rPr lang="en-US" altLang="cs-CZ" sz="2000" dirty="0"/>
              <a:t>&lt;</a:t>
            </a:r>
            <a:r>
              <a:rPr lang="cs-CZ" altLang="cs-CZ" sz="2000" dirty="0"/>
              <a:t>název tabulky</a:t>
            </a:r>
            <a:r>
              <a:rPr lang="en-US" altLang="cs-CZ" sz="2000" dirty="0"/>
              <a:t>&gt;</a:t>
            </a:r>
            <a:r>
              <a:rPr lang="cs-CZ" altLang="cs-CZ" sz="2000" dirty="0"/>
              <a:t>  </a:t>
            </a:r>
            <a:r>
              <a:rPr lang="en-US" altLang="cs-CZ" sz="2000" dirty="0"/>
              <a:t>[</a:t>
            </a:r>
            <a:r>
              <a:rPr lang="cs-CZ" altLang="cs-CZ" sz="2000" dirty="0"/>
              <a:t>(</a:t>
            </a:r>
            <a:r>
              <a:rPr lang="en-US" altLang="cs-CZ" sz="2000" dirty="0"/>
              <a:t>&lt; </a:t>
            </a:r>
            <a:r>
              <a:rPr lang="cs-CZ" altLang="cs-CZ" sz="2000" dirty="0"/>
              <a:t>seznam sloupců</a:t>
            </a:r>
            <a:r>
              <a:rPr lang="en-US" altLang="cs-CZ" sz="2000" dirty="0"/>
              <a:t>&gt;</a:t>
            </a:r>
            <a:r>
              <a:rPr lang="cs-CZ" altLang="cs-CZ" sz="2000" dirty="0"/>
              <a:t>)</a:t>
            </a:r>
            <a:r>
              <a:rPr lang="en-US" altLang="cs-CZ" sz="2000" dirty="0"/>
              <a:t>] | </a:t>
            </a:r>
            <a:r>
              <a:rPr lang="cs-CZ" altLang="cs-CZ" sz="2000" dirty="0"/>
              <a:t/>
            </a:r>
            <a:br>
              <a:rPr lang="cs-CZ" altLang="cs-CZ" sz="2000" dirty="0"/>
            </a:br>
            <a:r>
              <a:rPr lang="en-US" altLang="cs-CZ" sz="2000" dirty="0"/>
              <a:t>}</a:t>
            </a:r>
            <a:endParaRPr lang="cs-CZ" altLang="cs-CZ" sz="2000" dirty="0"/>
          </a:p>
          <a:p>
            <a:pPr marL="609600" indent="-609600" eaLnBrk="1" hangingPunct="1">
              <a:buFontTx/>
              <a:buNone/>
            </a:pPr>
            <a:endParaRPr lang="cs-CZ" altLang="cs-CZ" sz="2000" dirty="0"/>
          </a:p>
        </p:txBody>
      </p:sp>
      <p:sp>
        <p:nvSpPr>
          <p:cNvPr id="7" name="Rectangle 2"/>
          <p:cNvSpPr txBox="1">
            <a:spLocks noChangeArrowheads="1"/>
          </p:cNvSpPr>
          <p:nvPr/>
        </p:nvSpPr>
        <p:spPr>
          <a:xfrm>
            <a:off x="0" y="0"/>
            <a:ext cx="9144000" cy="81042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 fontAlgn="auto">
              <a:spcAft>
                <a:spcPts val="0"/>
              </a:spcAft>
              <a:defRPr/>
            </a:pPr>
            <a:r>
              <a:rPr lang="cs-CZ" sz="3600" dirty="0" err="1" smtClean="0"/>
              <a:t>Create</a:t>
            </a:r>
            <a:r>
              <a:rPr lang="cs-CZ" sz="3600" dirty="0" smtClean="0"/>
              <a:t> table</a:t>
            </a:r>
            <a:endParaRPr lang="cs-CZ" sz="3600" dirty="0"/>
          </a:p>
        </p:txBody>
      </p:sp>
    </p:spTree>
    <p:extLst>
      <p:ext uri="{BB962C8B-B14F-4D97-AF65-F5344CB8AC3E}">
        <p14:creationId xmlns:p14="http://schemas.microsoft.com/office/powerpoint/2010/main" val="20561977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6803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9388" y="2381250"/>
            <a:ext cx="8785225" cy="29194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Rectangle 2"/>
          <p:cNvSpPr txBox="1">
            <a:spLocks noChangeArrowheads="1"/>
          </p:cNvSpPr>
          <p:nvPr/>
        </p:nvSpPr>
        <p:spPr>
          <a:xfrm>
            <a:off x="0" y="0"/>
            <a:ext cx="9144000" cy="81042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 fontAlgn="auto">
              <a:spcAft>
                <a:spcPts val="0"/>
              </a:spcAft>
              <a:defRPr/>
            </a:pPr>
            <a:r>
              <a:rPr lang="cs-CZ" sz="3600" dirty="0" smtClean="0"/>
              <a:t>NOT NULL</a:t>
            </a:r>
            <a:endParaRPr lang="cs-CZ" sz="3600" dirty="0"/>
          </a:p>
        </p:txBody>
      </p:sp>
    </p:spTree>
    <p:extLst>
      <p:ext uri="{BB962C8B-B14F-4D97-AF65-F5344CB8AC3E}">
        <p14:creationId xmlns:p14="http://schemas.microsoft.com/office/powerpoint/2010/main" val="4023004955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8851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58888" y="1557338"/>
            <a:ext cx="6380162" cy="4283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Rectangle 2"/>
          <p:cNvSpPr txBox="1">
            <a:spLocks noChangeArrowheads="1"/>
          </p:cNvSpPr>
          <p:nvPr/>
        </p:nvSpPr>
        <p:spPr>
          <a:xfrm>
            <a:off x="0" y="0"/>
            <a:ext cx="9144000" cy="81042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 fontAlgn="auto">
              <a:spcAft>
                <a:spcPts val="0"/>
              </a:spcAft>
              <a:defRPr/>
            </a:pPr>
            <a:r>
              <a:rPr lang="cs-CZ" sz="3600" dirty="0" smtClean="0"/>
              <a:t>UNIQUE</a:t>
            </a:r>
            <a:endParaRPr lang="cs-CZ" sz="3600" dirty="0"/>
          </a:p>
        </p:txBody>
      </p:sp>
    </p:spTree>
    <p:extLst>
      <p:ext uri="{BB962C8B-B14F-4D97-AF65-F5344CB8AC3E}">
        <p14:creationId xmlns:p14="http://schemas.microsoft.com/office/powerpoint/2010/main" val="1635646190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0899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4213" y="1412875"/>
            <a:ext cx="6981825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Rectangle 2"/>
          <p:cNvSpPr txBox="1">
            <a:spLocks noChangeArrowheads="1"/>
          </p:cNvSpPr>
          <p:nvPr/>
        </p:nvSpPr>
        <p:spPr>
          <a:xfrm>
            <a:off x="0" y="0"/>
            <a:ext cx="9144000" cy="81042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 fontAlgn="auto">
              <a:spcAft>
                <a:spcPts val="0"/>
              </a:spcAft>
              <a:defRPr/>
            </a:pPr>
            <a:r>
              <a:rPr lang="cs-CZ" sz="3600" dirty="0" smtClean="0"/>
              <a:t>PRIMARY KEY</a:t>
            </a:r>
            <a:endParaRPr lang="cs-CZ" sz="3600" dirty="0"/>
          </a:p>
        </p:txBody>
      </p:sp>
    </p:spTree>
    <p:extLst>
      <p:ext uri="{BB962C8B-B14F-4D97-AF65-F5344CB8AC3E}">
        <p14:creationId xmlns:p14="http://schemas.microsoft.com/office/powerpoint/2010/main" val="2604657349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2947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03350" y="1125538"/>
            <a:ext cx="5476875" cy="530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Rectangle 2"/>
          <p:cNvSpPr txBox="1">
            <a:spLocks noChangeArrowheads="1"/>
          </p:cNvSpPr>
          <p:nvPr/>
        </p:nvSpPr>
        <p:spPr>
          <a:xfrm>
            <a:off x="0" y="0"/>
            <a:ext cx="9144000" cy="81042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 fontAlgn="auto">
              <a:spcAft>
                <a:spcPts val="0"/>
              </a:spcAft>
              <a:defRPr/>
            </a:pPr>
            <a:r>
              <a:rPr lang="cs-CZ" sz="3600" dirty="0" smtClean="0"/>
              <a:t>FOREIGN KEY</a:t>
            </a:r>
            <a:endParaRPr lang="cs-CZ" sz="3600" dirty="0"/>
          </a:p>
        </p:txBody>
      </p:sp>
    </p:spTree>
    <p:extLst>
      <p:ext uri="{BB962C8B-B14F-4D97-AF65-F5344CB8AC3E}">
        <p14:creationId xmlns:p14="http://schemas.microsoft.com/office/powerpoint/2010/main" val="1089345611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995" name="Picture 3"/>
          <p:cNvPicPr>
            <a:picLocks noChangeAspect="1" noChangeArrowheads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3528" y="1244326"/>
            <a:ext cx="8251825" cy="4625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Rectangle 2"/>
          <p:cNvSpPr txBox="1">
            <a:spLocks noChangeArrowheads="1"/>
          </p:cNvSpPr>
          <p:nvPr/>
        </p:nvSpPr>
        <p:spPr>
          <a:xfrm>
            <a:off x="0" y="0"/>
            <a:ext cx="9144000" cy="81042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 fontAlgn="auto">
              <a:spcAft>
                <a:spcPts val="0"/>
              </a:spcAft>
              <a:defRPr/>
            </a:pPr>
            <a:r>
              <a:rPr lang="cs-CZ" sz="3600" dirty="0" smtClean="0"/>
              <a:t>FOREIGN KEY – v rámci jedné tabulky</a:t>
            </a:r>
            <a:endParaRPr lang="cs-CZ" sz="3600" dirty="0"/>
          </a:p>
        </p:txBody>
      </p:sp>
    </p:spTree>
    <p:extLst>
      <p:ext uri="{BB962C8B-B14F-4D97-AF65-F5344CB8AC3E}">
        <p14:creationId xmlns:p14="http://schemas.microsoft.com/office/powerpoint/2010/main" val="3820642992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43" name="Rectangle 3"/>
          <p:cNvSpPr>
            <a:spLocks noGrp="1" noChangeArrowheads="1"/>
          </p:cNvSpPr>
          <p:nvPr>
            <p:ph idx="1"/>
          </p:nvPr>
        </p:nvSpPr>
        <p:spPr>
          <a:xfrm>
            <a:off x="251520" y="871459"/>
            <a:ext cx="8229600" cy="4824412"/>
          </a:xfrm>
        </p:spPr>
        <p:txBody>
          <a:bodyPr>
            <a:noAutofit/>
          </a:bodyPr>
          <a:lstStyle/>
          <a:p>
            <a:pPr marL="609600" indent="-609600" eaLnBrk="1" hangingPunct="1">
              <a:buFontTx/>
              <a:buNone/>
            </a:pPr>
            <a:r>
              <a:rPr lang="cs-CZ" altLang="cs-CZ" sz="1800" dirty="0"/>
              <a:t>Vytvoří tabulku dle popsané struktury.</a:t>
            </a:r>
          </a:p>
          <a:p>
            <a:pPr marL="609600" indent="-609600" eaLnBrk="1" hangingPunct="1">
              <a:buFontTx/>
              <a:buNone/>
            </a:pPr>
            <a:r>
              <a:rPr lang="cs-CZ" altLang="cs-CZ" sz="1800" u="sng" dirty="0" smtClean="0"/>
              <a:t>Příklad</a:t>
            </a:r>
            <a:r>
              <a:rPr lang="cs-CZ" altLang="cs-CZ" sz="1800" u="sng" dirty="0"/>
              <a:t>:</a:t>
            </a:r>
          </a:p>
          <a:p>
            <a:pPr marL="990600" lvl="1" indent="-533400" eaLnBrk="1" hangingPunct="1">
              <a:buFontTx/>
              <a:buNone/>
            </a:pPr>
            <a:r>
              <a:rPr lang="en-US" altLang="cs-CZ" sz="1800" dirty="0"/>
              <a:t> CREATE TABLE </a:t>
            </a:r>
            <a:r>
              <a:rPr lang="en-US" altLang="cs-CZ" sz="1800" dirty="0" err="1"/>
              <a:t>dodavatele</a:t>
            </a:r>
            <a:endParaRPr lang="en-US" altLang="cs-CZ" sz="1800" dirty="0"/>
          </a:p>
          <a:p>
            <a:pPr marL="990600" lvl="1" indent="-533400" eaLnBrk="1" hangingPunct="1">
              <a:buFontTx/>
              <a:buNone/>
            </a:pPr>
            <a:r>
              <a:rPr lang="en-US" altLang="cs-CZ" sz="1800" dirty="0"/>
              <a:t>    ( 	</a:t>
            </a:r>
            <a:r>
              <a:rPr lang="en-US" altLang="cs-CZ" sz="1800" dirty="0" err="1"/>
              <a:t>dodavatel_id</a:t>
            </a:r>
            <a:r>
              <a:rPr lang="en-US" altLang="cs-CZ" sz="1800" dirty="0"/>
              <a:t> 	number(4) 	</a:t>
            </a:r>
            <a:r>
              <a:rPr lang="cs-CZ" altLang="cs-CZ" sz="1800" b="1" dirty="0"/>
              <a:t>NOT NULL,</a:t>
            </a:r>
            <a:endParaRPr lang="en-US" altLang="cs-CZ" sz="1800" b="1" dirty="0"/>
          </a:p>
          <a:p>
            <a:pPr marL="990600" lvl="1" indent="-533400" eaLnBrk="1" hangingPunct="1">
              <a:buFontTx/>
              <a:buNone/>
            </a:pPr>
            <a:r>
              <a:rPr lang="en-US" altLang="cs-CZ" sz="1800" dirty="0"/>
              <a:t>    	</a:t>
            </a:r>
            <a:r>
              <a:rPr lang="en-US" altLang="cs-CZ" sz="1800" dirty="0" err="1"/>
              <a:t>nazev</a:t>
            </a:r>
            <a:r>
              <a:rPr lang="en-US" altLang="cs-CZ" sz="1800" dirty="0"/>
              <a:t> 	</a:t>
            </a:r>
            <a:r>
              <a:rPr lang="cs-CZ" altLang="cs-CZ" sz="1800" dirty="0"/>
              <a:t>	</a:t>
            </a:r>
            <a:r>
              <a:rPr lang="en-US" altLang="cs-CZ" sz="1800" dirty="0"/>
              <a:t>varchar2(100) </a:t>
            </a:r>
            <a:r>
              <a:rPr lang="cs-CZ" altLang="cs-CZ" sz="1800" dirty="0"/>
              <a:t> 	</a:t>
            </a:r>
            <a:r>
              <a:rPr lang="cs-CZ" altLang="cs-CZ" sz="1800" b="1" dirty="0"/>
              <a:t>NOT NULL,</a:t>
            </a:r>
            <a:endParaRPr lang="en-US" altLang="cs-CZ" sz="1800" b="1" dirty="0"/>
          </a:p>
          <a:p>
            <a:pPr marL="990600" lvl="1" indent="-533400" eaLnBrk="1" hangingPunct="1">
              <a:buFontTx/>
              <a:buNone/>
            </a:pPr>
            <a:r>
              <a:rPr lang="en-US" altLang="cs-CZ" sz="1800" dirty="0"/>
              <a:t>    	</a:t>
            </a:r>
            <a:r>
              <a:rPr lang="en-US" altLang="cs-CZ" sz="1800" dirty="0" err="1"/>
              <a:t>zastoupeni</a:t>
            </a:r>
            <a:r>
              <a:rPr lang="en-US" altLang="cs-CZ" sz="1800" dirty="0"/>
              <a:t> 	varchar2(100),</a:t>
            </a:r>
          </a:p>
          <a:p>
            <a:pPr marL="990600" lvl="1" indent="-533400" eaLnBrk="1" hangingPunct="1">
              <a:buFontTx/>
              <a:buNone/>
            </a:pPr>
            <a:r>
              <a:rPr lang="en-US" altLang="cs-CZ" sz="1800" dirty="0"/>
              <a:t>	</a:t>
            </a:r>
            <a:r>
              <a:rPr lang="en-US" altLang="cs-CZ" sz="1800" b="1" dirty="0"/>
              <a:t>CONSTRAINT </a:t>
            </a:r>
            <a:r>
              <a:rPr lang="en-US" altLang="cs-CZ" sz="1800" b="1" dirty="0" err="1"/>
              <a:t>dodavatel_pk</a:t>
            </a:r>
            <a:r>
              <a:rPr lang="en-US" altLang="cs-CZ" sz="1800" b="1" dirty="0"/>
              <a:t> PRIMARY KEY (</a:t>
            </a:r>
            <a:r>
              <a:rPr lang="en-US" altLang="cs-CZ" sz="1800" b="1" dirty="0" err="1"/>
              <a:t>dodavatel_id</a:t>
            </a:r>
            <a:r>
              <a:rPr lang="en-US" altLang="cs-CZ" sz="1800" b="1" dirty="0"/>
              <a:t>)</a:t>
            </a:r>
          </a:p>
          <a:p>
            <a:pPr marL="990600" lvl="1" indent="-533400" eaLnBrk="1" hangingPunct="1">
              <a:buFontTx/>
              <a:buNone/>
            </a:pPr>
            <a:r>
              <a:rPr lang="en-US" altLang="cs-CZ" sz="1800" dirty="0"/>
              <a:t>    );</a:t>
            </a:r>
          </a:p>
          <a:p>
            <a:pPr marL="990600" lvl="1" indent="-533400" eaLnBrk="1" hangingPunct="1">
              <a:buFontTx/>
              <a:buNone/>
            </a:pPr>
            <a:endParaRPr lang="en-US" altLang="cs-CZ" sz="1800" dirty="0"/>
          </a:p>
          <a:p>
            <a:pPr marL="990600" lvl="1" indent="-533400" algn="ctr" eaLnBrk="1" hangingPunct="1">
              <a:buFontTx/>
              <a:buNone/>
            </a:pPr>
            <a:r>
              <a:rPr lang="cs-CZ" altLang="cs-CZ" sz="1800" dirty="0"/>
              <a:t>nebo jen zkráceným zápisem </a:t>
            </a:r>
          </a:p>
          <a:p>
            <a:pPr marL="990600" lvl="1" indent="-533400" eaLnBrk="1" hangingPunct="1">
              <a:buFontTx/>
              <a:buNone/>
            </a:pPr>
            <a:endParaRPr lang="cs-CZ" altLang="cs-CZ" sz="1800" dirty="0"/>
          </a:p>
          <a:p>
            <a:pPr marL="990600" lvl="1" indent="-533400" eaLnBrk="1" hangingPunct="1">
              <a:buFontTx/>
              <a:buNone/>
            </a:pPr>
            <a:r>
              <a:rPr lang="en-US" altLang="cs-CZ" sz="1800" dirty="0"/>
              <a:t>CREATE TABLE </a:t>
            </a:r>
            <a:r>
              <a:rPr lang="en-US" altLang="cs-CZ" sz="1800" dirty="0" err="1"/>
              <a:t>dodavatele</a:t>
            </a:r>
            <a:endParaRPr lang="en-US" altLang="cs-CZ" sz="1800" dirty="0"/>
          </a:p>
          <a:p>
            <a:pPr marL="990600" lvl="1" indent="-533400" eaLnBrk="1" hangingPunct="1">
              <a:buFontTx/>
              <a:buNone/>
            </a:pPr>
            <a:r>
              <a:rPr lang="en-US" altLang="cs-CZ" sz="1800" dirty="0"/>
              <a:t>    ( 	</a:t>
            </a:r>
            <a:r>
              <a:rPr lang="en-US" altLang="cs-CZ" sz="1800" dirty="0" err="1"/>
              <a:t>dodavatel_id</a:t>
            </a:r>
            <a:r>
              <a:rPr lang="en-US" altLang="cs-CZ" sz="1800" dirty="0"/>
              <a:t> 	number(4) 	</a:t>
            </a:r>
            <a:r>
              <a:rPr lang="en-US" altLang="cs-CZ" sz="1800" b="1" dirty="0"/>
              <a:t>PRIMARY KEY,</a:t>
            </a:r>
          </a:p>
          <a:p>
            <a:pPr marL="990600" lvl="1" indent="-533400" eaLnBrk="1" hangingPunct="1">
              <a:buFontTx/>
              <a:buNone/>
            </a:pPr>
            <a:r>
              <a:rPr lang="en-US" altLang="cs-CZ" sz="1800" dirty="0"/>
              <a:t>    	</a:t>
            </a:r>
            <a:r>
              <a:rPr lang="en-US" altLang="cs-CZ" sz="1800" dirty="0" err="1"/>
              <a:t>nazev</a:t>
            </a:r>
            <a:r>
              <a:rPr lang="en-US" altLang="cs-CZ" sz="1800" dirty="0"/>
              <a:t> 	</a:t>
            </a:r>
            <a:r>
              <a:rPr lang="cs-CZ" altLang="cs-CZ" sz="1800" dirty="0"/>
              <a:t>	</a:t>
            </a:r>
            <a:r>
              <a:rPr lang="en-US" altLang="cs-CZ" sz="1800" dirty="0"/>
              <a:t>varchar2(100) </a:t>
            </a:r>
            <a:r>
              <a:rPr lang="cs-CZ" altLang="cs-CZ" sz="1800" dirty="0"/>
              <a:t>	</a:t>
            </a:r>
            <a:r>
              <a:rPr lang="cs-CZ" altLang="cs-CZ" sz="1800" b="1" dirty="0"/>
              <a:t>NOT NULL,</a:t>
            </a:r>
            <a:endParaRPr lang="en-US" altLang="cs-CZ" sz="1800" b="1" dirty="0"/>
          </a:p>
          <a:p>
            <a:pPr marL="990600" lvl="1" indent="-533400" eaLnBrk="1" hangingPunct="1">
              <a:buFontTx/>
              <a:buNone/>
            </a:pPr>
            <a:r>
              <a:rPr lang="en-US" altLang="cs-CZ" sz="1800" dirty="0"/>
              <a:t>    	</a:t>
            </a:r>
            <a:r>
              <a:rPr lang="en-US" altLang="cs-CZ" sz="1800" dirty="0" err="1"/>
              <a:t>zastoupeni</a:t>
            </a:r>
            <a:r>
              <a:rPr lang="en-US" altLang="cs-CZ" sz="1800" dirty="0"/>
              <a:t> 	varchar2(100)</a:t>
            </a:r>
          </a:p>
          <a:p>
            <a:pPr marL="990600" lvl="1" indent="-533400" eaLnBrk="1" hangingPunct="1">
              <a:buFontTx/>
              <a:buNone/>
            </a:pPr>
            <a:r>
              <a:rPr lang="en-US" altLang="cs-CZ" sz="1800" dirty="0"/>
              <a:t>);</a:t>
            </a:r>
          </a:p>
        </p:txBody>
      </p:sp>
      <p:sp>
        <p:nvSpPr>
          <p:cNvPr id="7" name="Rectangle 2"/>
          <p:cNvSpPr txBox="1">
            <a:spLocks noChangeArrowheads="1"/>
          </p:cNvSpPr>
          <p:nvPr/>
        </p:nvSpPr>
        <p:spPr>
          <a:xfrm>
            <a:off x="0" y="0"/>
            <a:ext cx="9144000" cy="81042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 fontAlgn="auto">
              <a:spcAft>
                <a:spcPts val="0"/>
              </a:spcAft>
              <a:defRPr/>
            </a:pPr>
            <a:r>
              <a:rPr lang="cs-CZ" sz="3600" dirty="0" smtClean="0"/>
              <a:t>CRATE TABLE</a:t>
            </a:r>
            <a:endParaRPr lang="cs-CZ" sz="3600" dirty="0"/>
          </a:p>
        </p:txBody>
      </p:sp>
    </p:spTree>
    <p:extLst>
      <p:ext uri="{BB962C8B-B14F-4D97-AF65-F5344CB8AC3E}">
        <p14:creationId xmlns:p14="http://schemas.microsoft.com/office/powerpoint/2010/main" val="6383725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067" name="Rectangle 3"/>
          <p:cNvSpPr>
            <a:spLocks noGrp="1" noChangeArrowheads="1"/>
          </p:cNvSpPr>
          <p:nvPr>
            <p:ph idx="1"/>
          </p:nvPr>
        </p:nvSpPr>
        <p:spPr>
          <a:xfrm>
            <a:off x="323528" y="1184894"/>
            <a:ext cx="8607425" cy="4824413"/>
          </a:xfrm>
        </p:spPr>
        <p:txBody>
          <a:bodyPr>
            <a:normAutofit lnSpcReduction="10000"/>
          </a:bodyPr>
          <a:lstStyle/>
          <a:p>
            <a:pPr marL="609600" indent="-609600" eaLnBrk="1" hangingPunct="1">
              <a:lnSpc>
                <a:spcPct val="80000"/>
              </a:lnSpc>
              <a:buFontTx/>
              <a:buNone/>
            </a:pPr>
            <a:r>
              <a:rPr lang="cs-CZ" altLang="cs-CZ" sz="1600" dirty="0"/>
              <a:t>Vytvoří tabulku dle popsané struktury.</a:t>
            </a:r>
          </a:p>
          <a:p>
            <a:pPr marL="609600" indent="-609600" eaLnBrk="1" hangingPunct="1">
              <a:lnSpc>
                <a:spcPct val="80000"/>
              </a:lnSpc>
              <a:buFontTx/>
              <a:buChar char="-"/>
            </a:pPr>
            <a:endParaRPr lang="cs-CZ" altLang="cs-CZ" sz="1600" dirty="0"/>
          </a:p>
          <a:p>
            <a:pPr marL="609600" indent="-609600" eaLnBrk="1" hangingPunct="1">
              <a:lnSpc>
                <a:spcPct val="80000"/>
              </a:lnSpc>
              <a:buFontTx/>
              <a:buNone/>
            </a:pPr>
            <a:r>
              <a:rPr lang="cs-CZ" altLang="cs-CZ" sz="1600" dirty="0"/>
              <a:t>Příklad:</a:t>
            </a:r>
          </a:p>
          <a:p>
            <a:pPr marL="990600" lvl="1" indent="-533400" eaLnBrk="1" hangingPunct="1">
              <a:lnSpc>
                <a:spcPct val="80000"/>
              </a:lnSpc>
              <a:buFontTx/>
              <a:buNone/>
            </a:pPr>
            <a:r>
              <a:rPr lang="en-US" altLang="cs-CZ" sz="1600" dirty="0"/>
              <a:t>CREATE TABLE </a:t>
            </a:r>
            <a:r>
              <a:rPr lang="en-US" altLang="cs-CZ" sz="1600" dirty="0" err="1"/>
              <a:t>produkty</a:t>
            </a:r>
            <a:endParaRPr lang="en-US" altLang="cs-CZ" sz="1600" dirty="0"/>
          </a:p>
          <a:p>
            <a:pPr marL="990600" lvl="1" indent="-533400" eaLnBrk="1" hangingPunct="1">
              <a:lnSpc>
                <a:spcPct val="80000"/>
              </a:lnSpc>
              <a:buFontTx/>
              <a:buNone/>
            </a:pPr>
            <a:r>
              <a:rPr lang="en-US" altLang="cs-CZ" sz="1600" dirty="0"/>
              <a:t>    ( 	</a:t>
            </a:r>
            <a:r>
              <a:rPr lang="en-US" altLang="cs-CZ" sz="1600" dirty="0" err="1"/>
              <a:t>produkt_id</a:t>
            </a:r>
            <a:r>
              <a:rPr lang="en-US" altLang="cs-CZ" sz="1600" dirty="0"/>
              <a:t> 	number(8) 	</a:t>
            </a:r>
            <a:r>
              <a:rPr lang="cs-CZ" altLang="cs-CZ" sz="1600" b="1" dirty="0"/>
              <a:t>PRIMARY KEY,</a:t>
            </a:r>
            <a:endParaRPr lang="en-US" altLang="cs-CZ" sz="1600" b="1" dirty="0"/>
          </a:p>
          <a:p>
            <a:pPr marL="990600" lvl="1" indent="-533400" eaLnBrk="1" hangingPunct="1">
              <a:buFontTx/>
              <a:buNone/>
            </a:pPr>
            <a:r>
              <a:rPr lang="en-US" altLang="cs-CZ" sz="1600" dirty="0"/>
              <a:t>	</a:t>
            </a:r>
            <a:r>
              <a:rPr lang="en-US" altLang="cs-CZ" sz="1600" dirty="0" err="1"/>
              <a:t>oznaceni</a:t>
            </a:r>
            <a:r>
              <a:rPr lang="en-US" altLang="cs-CZ" sz="1600" dirty="0"/>
              <a:t> </a:t>
            </a:r>
            <a:r>
              <a:rPr lang="cs-CZ" altLang="cs-CZ" sz="1600" dirty="0"/>
              <a:t>	</a:t>
            </a:r>
            <a:r>
              <a:rPr lang="en-US" altLang="cs-CZ" sz="1600" dirty="0"/>
              <a:t>varchar2(30) </a:t>
            </a:r>
            <a:r>
              <a:rPr lang="cs-CZ" altLang="cs-CZ" sz="1600" dirty="0"/>
              <a:t>	</a:t>
            </a:r>
            <a:r>
              <a:rPr lang="cs-CZ" altLang="cs-CZ" sz="1600" b="1" dirty="0"/>
              <a:t>NOT NULL,</a:t>
            </a:r>
            <a:endParaRPr lang="en-US" altLang="cs-CZ" sz="1600" b="1" dirty="0"/>
          </a:p>
          <a:p>
            <a:pPr marL="990600" lvl="1" indent="-533400" eaLnBrk="1" hangingPunct="1">
              <a:buFontTx/>
              <a:buNone/>
            </a:pPr>
            <a:r>
              <a:rPr lang="en-US" altLang="cs-CZ" sz="1600" dirty="0"/>
              <a:t>    	</a:t>
            </a:r>
            <a:r>
              <a:rPr lang="en-US" altLang="cs-CZ" sz="1600" dirty="0" err="1"/>
              <a:t>dodavatel_id</a:t>
            </a:r>
            <a:r>
              <a:rPr lang="en-US" altLang="cs-CZ" sz="1600" dirty="0"/>
              <a:t> 	number(4) 	</a:t>
            </a:r>
            <a:r>
              <a:rPr lang="cs-CZ" altLang="cs-CZ" sz="1600" b="1" dirty="0"/>
              <a:t>NOT NULL,</a:t>
            </a:r>
            <a:endParaRPr lang="en-US" altLang="cs-CZ" sz="1600" b="1" dirty="0"/>
          </a:p>
          <a:p>
            <a:pPr marL="990600" lvl="1" indent="-533400" eaLnBrk="1" hangingPunct="1">
              <a:lnSpc>
                <a:spcPct val="80000"/>
              </a:lnSpc>
              <a:buFontTx/>
              <a:buNone/>
            </a:pPr>
            <a:r>
              <a:rPr lang="en-US" altLang="cs-CZ" sz="1600" dirty="0"/>
              <a:t>	</a:t>
            </a:r>
            <a:r>
              <a:rPr lang="en-US" altLang="cs-CZ" sz="1600" dirty="0" err="1"/>
              <a:t>cena</a:t>
            </a:r>
            <a:r>
              <a:rPr lang="en-US" altLang="cs-CZ" sz="1600" dirty="0"/>
              <a:t> number(6),</a:t>
            </a:r>
          </a:p>
          <a:p>
            <a:pPr marL="990600" lvl="1" indent="-533400" eaLnBrk="1" hangingPunct="1">
              <a:lnSpc>
                <a:spcPct val="80000"/>
              </a:lnSpc>
              <a:buFontTx/>
              <a:buNone/>
            </a:pPr>
            <a:r>
              <a:rPr lang="en-US" altLang="cs-CZ" sz="1600" dirty="0"/>
              <a:t>    	</a:t>
            </a:r>
            <a:r>
              <a:rPr lang="en-US" altLang="cs-CZ" sz="1600" b="1" dirty="0"/>
              <a:t>CONSTRAINT </a:t>
            </a:r>
            <a:r>
              <a:rPr lang="cs-CZ" altLang="cs-CZ" sz="1600" b="1" dirty="0"/>
              <a:t>	</a:t>
            </a:r>
            <a:r>
              <a:rPr lang="en-US" altLang="cs-CZ" sz="1600" b="1" dirty="0" err="1"/>
              <a:t>fk_dodavatele</a:t>
            </a:r>
            <a:endParaRPr lang="en-US" altLang="cs-CZ" sz="1600" b="1" dirty="0"/>
          </a:p>
          <a:p>
            <a:pPr marL="990600" lvl="1" indent="-533400" eaLnBrk="1" hangingPunct="1">
              <a:lnSpc>
                <a:spcPct val="80000"/>
              </a:lnSpc>
              <a:buFontTx/>
              <a:buNone/>
            </a:pPr>
            <a:r>
              <a:rPr lang="en-US" altLang="cs-CZ" sz="1600" b="1" dirty="0"/>
              <a:t>    	  FOREIGN KEY </a:t>
            </a:r>
            <a:r>
              <a:rPr lang="cs-CZ" altLang="cs-CZ" sz="1600" b="1" dirty="0"/>
              <a:t>	</a:t>
            </a:r>
            <a:r>
              <a:rPr lang="en-US" altLang="cs-CZ" sz="1600" b="1" dirty="0"/>
              <a:t>(</a:t>
            </a:r>
            <a:r>
              <a:rPr lang="en-US" altLang="cs-CZ" sz="1600" b="1" dirty="0" err="1"/>
              <a:t>dodavatel_id</a:t>
            </a:r>
            <a:r>
              <a:rPr lang="en-US" altLang="cs-CZ" sz="1600" b="1" dirty="0"/>
              <a:t>)</a:t>
            </a:r>
            <a:r>
              <a:rPr lang="cs-CZ" altLang="cs-CZ" sz="1600" b="1" dirty="0"/>
              <a:t> </a:t>
            </a:r>
            <a:r>
              <a:rPr lang="en-US" altLang="cs-CZ" sz="1600" b="1" dirty="0"/>
              <a:t>REFERENCES</a:t>
            </a:r>
            <a:r>
              <a:rPr lang="cs-CZ" altLang="cs-CZ" sz="1600" b="1" dirty="0"/>
              <a:t> </a:t>
            </a:r>
            <a:r>
              <a:rPr lang="en-US" altLang="cs-CZ" sz="1600" b="1" dirty="0" err="1"/>
              <a:t>dodavatele</a:t>
            </a:r>
            <a:r>
              <a:rPr lang="en-US" altLang="cs-CZ" sz="1600" b="1" dirty="0"/>
              <a:t>(</a:t>
            </a:r>
            <a:r>
              <a:rPr lang="en-US" altLang="cs-CZ" sz="1600" b="1" dirty="0" err="1"/>
              <a:t>dodavatel_id</a:t>
            </a:r>
            <a:r>
              <a:rPr lang="en-US" altLang="cs-CZ" sz="1600" b="1" dirty="0"/>
              <a:t>)</a:t>
            </a:r>
          </a:p>
          <a:p>
            <a:pPr marL="990600" lvl="1" indent="-533400" eaLnBrk="1" hangingPunct="1">
              <a:lnSpc>
                <a:spcPct val="80000"/>
              </a:lnSpc>
              <a:buFontTx/>
              <a:buNone/>
            </a:pPr>
            <a:r>
              <a:rPr lang="en-US" altLang="cs-CZ" sz="1600" dirty="0"/>
              <a:t>    );</a:t>
            </a:r>
            <a:endParaRPr lang="cs-CZ" altLang="cs-CZ" sz="1600" dirty="0"/>
          </a:p>
          <a:p>
            <a:pPr marL="990600" lvl="1" indent="-533400" eaLnBrk="1" hangingPunct="1">
              <a:lnSpc>
                <a:spcPct val="80000"/>
              </a:lnSpc>
              <a:buFontTx/>
              <a:buNone/>
            </a:pPr>
            <a:endParaRPr lang="cs-CZ" altLang="cs-CZ" sz="1600" dirty="0"/>
          </a:p>
          <a:p>
            <a:pPr marL="990600" lvl="1" indent="-533400" eaLnBrk="1" hangingPunct="1">
              <a:lnSpc>
                <a:spcPct val="80000"/>
              </a:lnSpc>
              <a:buFontTx/>
              <a:buNone/>
            </a:pPr>
            <a:r>
              <a:rPr lang="cs-CZ" altLang="cs-CZ" sz="1600" dirty="0"/>
              <a:t>nebo zkráceně  </a:t>
            </a:r>
          </a:p>
          <a:p>
            <a:pPr marL="990600" lvl="1" indent="-533400" eaLnBrk="1" hangingPunct="1">
              <a:lnSpc>
                <a:spcPct val="80000"/>
              </a:lnSpc>
              <a:buFontTx/>
              <a:buNone/>
            </a:pPr>
            <a:endParaRPr lang="cs-CZ" altLang="cs-CZ" sz="1600" dirty="0"/>
          </a:p>
          <a:p>
            <a:pPr marL="990600" lvl="1" indent="-533400" eaLnBrk="1" hangingPunct="1">
              <a:lnSpc>
                <a:spcPct val="80000"/>
              </a:lnSpc>
              <a:buFontTx/>
              <a:buNone/>
            </a:pPr>
            <a:r>
              <a:rPr lang="en-US" altLang="cs-CZ" sz="1600" dirty="0"/>
              <a:t>CREATE TABLE </a:t>
            </a:r>
            <a:r>
              <a:rPr lang="en-US" altLang="cs-CZ" sz="1600" dirty="0" err="1"/>
              <a:t>produkty</a:t>
            </a:r>
            <a:endParaRPr lang="en-US" altLang="cs-CZ" sz="1600" dirty="0"/>
          </a:p>
          <a:p>
            <a:pPr marL="990600" lvl="1" indent="-533400" eaLnBrk="1" hangingPunct="1">
              <a:lnSpc>
                <a:spcPct val="80000"/>
              </a:lnSpc>
              <a:buFontTx/>
              <a:buNone/>
            </a:pPr>
            <a:r>
              <a:rPr lang="en-US" altLang="cs-CZ" sz="1600" dirty="0"/>
              <a:t>    ( 	</a:t>
            </a:r>
            <a:r>
              <a:rPr lang="en-US" altLang="cs-CZ" sz="1600" dirty="0" err="1"/>
              <a:t>produkt_id</a:t>
            </a:r>
            <a:r>
              <a:rPr lang="en-US" altLang="cs-CZ" sz="1600" dirty="0"/>
              <a:t> 	</a:t>
            </a:r>
            <a:r>
              <a:rPr lang="cs-CZ" altLang="cs-CZ" sz="1600" dirty="0"/>
              <a:t>n</a:t>
            </a:r>
            <a:r>
              <a:rPr lang="en-US" altLang="cs-CZ" sz="1600" dirty="0"/>
              <a:t>umber(8) 	</a:t>
            </a:r>
            <a:r>
              <a:rPr lang="cs-CZ" altLang="cs-CZ" sz="1600" b="1" dirty="0"/>
              <a:t>PRIMARY KEY</a:t>
            </a:r>
            <a:r>
              <a:rPr lang="en-US" altLang="cs-CZ" sz="1600" b="1" dirty="0"/>
              <a:t>,</a:t>
            </a:r>
          </a:p>
          <a:p>
            <a:pPr marL="990600" lvl="1" indent="-533400" eaLnBrk="1" hangingPunct="1">
              <a:lnSpc>
                <a:spcPct val="80000"/>
              </a:lnSpc>
              <a:buFont typeface="Tahoma" panose="020B0604030504040204" pitchFamily="34" charset="0"/>
              <a:buNone/>
            </a:pPr>
            <a:r>
              <a:rPr lang="en-US" altLang="cs-CZ" sz="1600" dirty="0"/>
              <a:t>	</a:t>
            </a:r>
            <a:r>
              <a:rPr lang="en-US" altLang="cs-CZ" sz="1600" dirty="0" err="1"/>
              <a:t>oznaceni</a:t>
            </a:r>
            <a:r>
              <a:rPr lang="en-US" altLang="cs-CZ" sz="1600" dirty="0"/>
              <a:t> </a:t>
            </a:r>
            <a:r>
              <a:rPr lang="cs-CZ" altLang="cs-CZ" sz="1600" dirty="0"/>
              <a:t>	</a:t>
            </a:r>
            <a:r>
              <a:rPr lang="en-US" altLang="cs-CZ" sz="1600" dirty="0"/>
              <a:t>varchar2(30) </a:t>
            </a:r>
            <a:r>
              <a:rPr lang="cs-CZ" altLang="cs-CZ" sz="1600" dirty="0"/>
              <a:t>	</a:t>
            </a:r>
            <a:r>
              <a:rPr lang="cs-CZ" altLang="cs-CZ" sz="1600" b="1" dirty="0"/>
              <a:t>NOT NULL,</a:t>
            </a:r>
            <a:endParaRPr lang="en-US" altLang="cs-CZ" sz="1600" dirty="0"/>
          </a:p>
          <a:p>
            <a:pPr marL="990600" lvl="1" indent="-533400" eaLnBrk="1" hangingPunct="1">
              <a:lnSpc>
                <a:spcPct val="80000"/>
              </a:lnSpc>
              <a:buFontTx/>
              <a:buNone/>
            </a:pPr>
            <a:r>
              <a:rPr lang="en-US" altLang="cs-CZ" sz="1600" dirty="0"/>
              <a:t>    	</a:t>
            </a:r>
            <a:r>
              <a:rPr lang="en-US" altLang="cs-CZ" sz="1600" dirty="0" err="1"/>
              <a:t>dodavatel_id</a:t>
            </a:r>
            <a:r>
              <a:rPr lang="en-US" altLang="cs-CZ" sz="1600" dirty="0"/>
              <a:t> 	number(4) 	</a:t>
            </a:r>
            <a:r>
              <a:rPr lang="en-US" altLang="cs-CZ" sz="1600" b="1" dirty="0"/>
              <a:t>REFERENCES</a:t>
            </a:r>
            <a:r>
              <a:rPr lang="en-US" altLang="cs-CZ" sz="1600" dirty="0"/>
              <a:t> </a:t>
            </a:r>
            <a:r>
              <a:rPr lang="en-US" altLang="cs-CZ" sz="1600" dirty="0" err="1"/>
              <a:t>dodavatele</a:t>
            </a:r>
            <a:r>
              <a:rPr lang="en-US" altLang="cs-CZ" sz="1600" dirty="0"/>
              <a:t>(</a:t>
            </a:r>
            <a:r>
              <a:rPr lang="en-US" altLang="cs-CZ" sz="1600" dirty="0" err="1"/>
              <a:t>dodavatel_id</a:t>
            </a:r>
            <a:r>
              <a:rPr lang="en-US" altLang="cs-CZ" sz="1600" dirty="0"/>
              <a:t>),</a:t>
            </a:r>
          </a:p>
          <a:p>
            <a:pPr marL="990600" lvl="1" indent="-533400" eaLnBrk="1" hangingPunct="1">
              <a:lnSpc>
                <a:spcPct val="80000"/>
              </a:lnSpc>
              <a:buFontTx/>
              <a:buNone/>
            </a:pPr>
            <a:r>
              <a:rPr lang="en-US" altLang="cs-CZ" sz="1600" dirty="0"/>
              <a:t>	</a:t>
            </a:r>
            <a:r>
              <a:rPr lang="en-US" altLang="cs-CZ" sz="1600" dirty="0" err="1"/>
              <a:t>cena</a:t>
            </a:r>
            <a:r>
              <a:rPr lang="en-US" altLang="cs-CZ" sz="1600" dirty="0"/>
              <a:t> number(6)</a:t>
            </a:r>
            <a:endParaRPr lang="cs-CZ" altLang="cs-CZ" sz="1600" dirty="0"/>
          </a:p>
          <a:p>
            <a:pPr marL="990600" lvl="1" indent="-533400" eaLnBrk="1" hangingPunct="1">
              <a:lnSpc>
                <a:spcPct val="80000"/>
              </a:lnSpc>
              <a:buFontTx/>
              <a:buNone/>
            </a:pPr>
            <a:r>
              <a:rPr lang="cs-CZ" altLang="cs-CZ" sz="1600" dirty="0"/>
              <a:t>   </a:t>
            </a:r>
            <a:r>
              <a:rPr lang="en-US" altLang="cs-CZ" sz="1600" dirty="0"/>
              <a:t> );</a:t>
            </a:r>
            <a:endParaRPr lang="cs-CZ" altLang="cs-CZ" sz="1600" dirty="0"/>
          </a:p>
          <a:p>
            <a:pPr marL="990600" lvl="1" indent="-533400" eaLnBrk="1" hangingPunct="1">
              <a:lnSpc>
                <a:spcPct val="80000"/>
              </a:lnSpc>
              <a:buFontTx/>
              <a:buNone/>
            </a:pPr>
            <a:endParaRPr lang="cs-CZ" altLang="cs-CZ" sz="1600" dirty="0"/>
          </a:p>
        </p:txBody>
      </p:sp>
      <p:sp>
        <p:nvSpPr>
          <p:cNvPr id="7" name="Rectangle 2"/>
          <p:cNvSpPr txBox="1">
            <a:spLocks noChangeArrowheads="1"/>
          </p:cNvSpPr>
          <p:nvPr/>
        </p:nvSpPr>
        <p:spPr>
          <a:xfrm>
            <a:off x="0" y="0"/>
            <a:ext cx="9144000" cy="81042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 fontAlgn="auto">
              <a:spcAft>
                <a:spcPts val="0"/>
              </a:spcAft>
              <a:defRPr/>
            </a:pPr>
            <a:r>
              <a:rPr lang="cs-CZ" sz="3600" dirty="0" err="1" smtClean="0"/>
              <a:t>Create</a:t>
            </a:r>
            <a:r>
              <a:rPr lang="cs-CZ" sz="3600" dirty="0" smtClean="0"/>
              <a:t> table</a:t>
            </a:r>
            <a:endParaRPr lang="cs-CZ" sz="3600" dirty="0"/>
          </a:p>
        </p:txBody>
      </p:sp>
    </p:spTree>
    <p:extLst>
      <p:ext uri="{BB962C8B-B14F-4D97-AF65-F5344CB8AC3E}">
        <p14:creationId xmlns:p14="http://schemas.microsoft.com/office/powerpoint/2010/main" val="33388558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1" name="Rectangle 3"/>
          <p:cNvSpPr>
            <a:spLocks noGrp="1" noChangeArrowheads="1"/>
          </p:cNvSpPr>
          <p:nvPr>
            <p:ph idx="1"/>
          </p:nvPr>
        </p:nvSpPr>
        <p:spPr>
          <a:xfrm>
            <a:off x="228600" y="1115449"/>
            <a:ext cx="8686800" cy="4968875"/>
          </a:xfrm>
        </p:spPr>
        <p:txBody>
          <a:bodyPr>
            <a:normAutofit/>
          </a:bodyPr>
          <a:lstStyle/>
          <a:p>
            <a:pPr marL="609600" indent="-609600" eaLnBrk="1" hangingPunct="1">
              <a:lnSpc>
                <a:spcPct val="80000"/>
              </a:lnSpc>
              <a:buFontTx/>
              <a:buNone/>
            </a:pPr>
            <a:r>
              <a:rPr lang="cs-CZ" altLang="cs-CZ" sz="1800" b="1" dirty="0"/>
              <a:t>ALTER TABLE </a:t>
            </a:r>
            <a:r>
              <a:rPr lang="en-US" altLang="cs-CZ" sz="1800" b="1" dirty="0"/>
              <a:t>&lt;</a:t>
            </a:r>
            <a:r>
              <a:rPr lang="cs-CZ" altLang="cs-CZ" sz="1800" b="1" dirty="0"/>
              <a:t>název tabulky</a:t>
            </a:r>
            <a:r>
              <a:rPr lang="en-US" altLang="cs-CZ" sz="1800" b="1" dirty="0"/>
              <a:t>&gt;</a:t>
            </a:r>
            <a:r>
              <a:rPr lang="cs-CZ" altLang="cs-CZ" sz="1800" b="1" dirty="0"/>
              <a:t> </a:t>
            </a:r>
            <a:r>
              <a:rPr lang="cs-CZ" altLang="cs-CZ" sz="2800" b="1" dirty="0"/>
              <a:t> </a:t>
            </a:r>
          </a:p>
          <a:p>
            <a:pPr marL="609600" indent="-609600" eaLnBrk="1" hangingPunct="1">
              <a:lnSpc>
                <a:spcPct val="80000"/>
              </a:lnSpc>
              <a:buFontTx/>
              <a:buNone/>
            </a:pPr>
            <a:r>
              <a:rPr lang="cs-CZ" altLang="cs-CZ" sz="1800" b="1" dirty="0"/>
              <a:t>ADD (</a:t>
            </a:r>
            <a:r>
              <a:rPr lang="en-US" altLang="cs-CZ" sz="1800" b="1" dirty="0"/>
              <a:t>&lt;</a:t>
            </a:r>
            <a:r>
              <a:rPr lang="cs-CZ" altLang="cs-CZ" sz="1800" b="1" dirty="0"/>
              <a:t>specifikace sloupců</a:t>
            </a:r>
            <a:r>
              <a:rPr lang="en-US" altLang="cs-CZ" sz="1800" b="1" dirty="0"/>
              <a:t>&gt;</a:t>
            </a:r>
            <a:r>
              <a:rPr lang="cs-CZ" altLang="cs-CZ" sz="1800" b="1" dirty="0"/>
              <a:t>)</a:t>
            </a:r>
          </a:p>
          <a:p>
            <a:pPr marL="609600" indent="-609600" eaLnBrk="1" hangingPunct="1">
              <a:lnSpc>
                <a:spcPct val="80000"/>
              </a:lnSpc>
              <a:buFontTx/>
              <a:buNone/>
            </a:pPr>
            <a:endParaRPr lang="cs-CZ" altLang="cs-CZ" sz="1800" dirty="0"/>
          </a:p>
          <a:p>
            <a:pPr marL="609600" indent="-609600" eaLnBrk="1" hangingPunct="1">
              <a:lnSpc>
                <a:spcPct val="80000"/>
              </a:lnSpc>
              <a:spcBef>
                <a:spcPct val="0"/>
              </a:spcBef>
              <a:buFontTx/>
              <a:buNone/>
            </a:pPr>
            <a:r>
              <a:rPr lang="en-US" altLang="cs-CZ" sz="1800" dirty="0"/>
              <a:t>&lt;</a:t>
            </a:r>
            <a:r>
              <a:rPr lang="cs-CZ" altLang="cs-CZ" sz="1800" dirty="0"/>
              <a:t>specifikace sloupce</a:t>
            </a:r>
            <a:r>
              <a:rPr lang="en-US" altLang="cs-CZ" sz="1800" dirty="0"/>
              <a:t>&gt;</a:t>
            </a:r>
            <a:r>
              <a:rPr lang="cs-CZ" altLang="cs-CZ" sz="1800" dirty="0"/>
              <a:t> =</a:t>
            </a:r>
          </a:p>
          <a:p>
            <a:pPr marL="609600" indent="-609600" eaLnBrk="1" hangingPunct="1">
              <a:lnSpc>
                <a:spcPct val="80000"/>
              </a:lnSpc>
              <a:buFontTx/>
              <a:buNone/>
            </a:pPr>
            <a:r>
              <a:rPr lang="en-US" altLang="cs-CZ" sz="1800" dirty="0"/>
              <a:t>{&lt;</a:t>
            </a:r>
            <a:r>
              <a:rPr lang="cs-CZ" altLang="cs-CZ" sz="1800" dirty="0"/>
              <a:t>název sloupce</a:t>
            </a:r>
            <a:r>
              <a:rPr lang="en-US" altLang="cs-CZ" sz="1800" dirty="0"/>
              <a:t>&gt;</a:t>
            </a:r>
            <a:r>
              <a:rPr lang="cs-CZ" altLang="cs-CZ" sz="1800" dirty="0"/>
              <a:t> </a:t>
            </a:r>
            <a:r>
              <a:rPr lang="en-US" altLang="cs-CZ" sz="1800" dirty="0"/>
              <a:t>&lt;</a:t>
            </a:r>
            <a:r>
              <a:rPr lang="cs-CZ" altLang="cs-CZ" sz="1800" dirty="0"/>
              <a:t>datový typ</a:t>
            </a:r>
            <a:r>
              <a:rPr lang="en-US" altLang="cs-CZ" sz="1800" dirty="0"/>
              <a:t>&gt;</a:t>
            </a:r>
            <a:r>
              <a:rPr lang="cs-CZ" altLang="cs-CZ" sz="1800" dirty="0"/>
              <a:t> </a:t>
            </a:r>
            <a:r>
              <a:rPr lang="en-US" altLang="cs-CZ" sz="1800" dirty="0"/>
              <a:t>[&lt;</a:t>
            </a:r>
            <a:r>
              <a:rPr lang="cs-CZ" altLang="cs-CZ" sz="1800" dirty="0"/>
              <a:t>omezení sloupce</a:t>
            </a:r>
            <a:r>
              <a:rPr lang="en-US" altLang="cs-CZ" sz="1800" dirty="0"/>
              <a:t>&gt;]</a:t>
            </a:r>
            <a:r>
              <a:rPr lang="cs-CZ" altLang="cs-CZ" sz="1800" dirty="0"/>
              <a:t> </a:t>
            </a:r>
            <a:r>
              <a:rPr lang="en-US" altLang="cs-CZ" sz="1800" dirty="0"/>
              <a:t>|</a:t>
            </a:r>
            <a:endParaRPr lang="cs-CZ" altLang="cs-CZ" sz="1800" dirty="0"/>
          </a:p>
          <a:p>
            <a:pPr marL="609600" indent="-609600" eaLnBrk="1" hangingPunct="1">
              <a:lnSpc>
                <a:spcPct val="80000"/>
              </a:lnSpc>
              <a:buFontTx/>
              <a:buNone/>
            </a:pPr>
            <a:r>
              <a:rPr lang="en-US" altLang="cs-CZ" sz="1800" dirty="0"/>
              <a:t>&lt;</a:t>
            </a:r>
            <a:r>
              <a:rPr lang="cs-CZ" altLang="cs-CZ" sz="1800" dirty="0"/>
              <a:t>omezení </a:t>
            </a:r>
            <a:r>
              <a:rPr lang="en-US" altLang="cs-CZ" sz="1800" dirty="0" err="1"/>
              <a:t>tabulky</a:t>
            </a:r>
            <a:r>
              <a:rPr lang="en-US" altLang="cs-CZ" sz="1800" dirty="0"/>
              <a:t>&gt;</a:t>
            </a:r>
            <a:r>
              <a:rPr lang="cs-CZ" altLang="cs-CZ" sz="1800" dirty="0"/>
              <a:t> </a:t>
            </a:r>
            <a:r>
              <a:rPr lang="en-US" altLang="cs-CZ" sz="1800" dirty="0"/>
              <a:t>}</a:t>
            </a:r>
          </a:p>
          <a:p>
            <a:pPr marL="609600" indent="-609600" eaLnBrk="1" hangingPunct="1">
              <a:lnSpc>
                <a:spcPct val="80000"/>
              </a:lnSpc>
              <a:buFontTx/>
              <a:buNone/>
            </a:pPr>
            <a:endParaRPr lang="cs-CZ" altLang="cs-CZ" sz="1800" dirty="0"/>
          </a:p>
          <a:p>
            <a:pPr marL="609600" indent="-609600" eaLnBrk="1" hangingPunct="1">
              <a:lnSpc>
                <a:spcPct val="80000"/>
              </a:lnSpc>
              <a:buFontTx/>
              <a:buNone/>
            </a:pPr>
            <a:r>
              <a:rPr lang="cs-CZ" altLang="cs-CZ" sz="1800" dirty="0"/>
              <a:t>Příkaz se používá pro přidání sloupců či omezení do tabulky.</a:t>
            </a:r>
          </a:p>
          <a:p>
            <a:pPr marL="609600" indent="-609600" eaLnBrk="1" hangingPunct="1">
              <a:lnSpc>
                <a:spcPct val="80000"/>
              </a:lnSpc>
              <a:buFontTx/>
              <a:buNone/>
            </a:pPr>
            <a:endParaRPr lang="cs-CZ" altLang="cs-CZ" sz="1800" dirty="0"/>
          </a:p>
          <a:p>
            <a:pPr marL="609600" indent="-609600" eaLnBrk="1" hangingPunct="1">
              <a:lnSpc>
                <a:spcPct val="80000"/>
              </a:lnSpc>
              <a:buFontTx/>
              <a:buNone/>
            </a:pPr>
            <a:r>
              <a:rPr lang="cs-CZ" altLang="cs-CZ" sz="1800" dirty="0"/>
              <a:t>ALTER TABLE dodavatele</a:t>
            </a:r>
            <a:br>
              <a:rPr lang="cs-CZ" altLang="cs-CZ" sz="1800" dirty="0"/>
            </a:br>
            <a:r>
              <a:rPr lang="cs-CZ" altLang="cs-CZ" sz="1800" dirty="0"/>
              <a:t> ADD </a:t>
            </a:r>
            <a:r>
              <a:rPr lang="cs-CZ" altLang="cs-CZ" sz="1800" dirty="0" err="1"/>
              <a:t>mesto</a:t>
            </a:r>
            <a:r>
              <a:rPr lang="cs-CZ" altLang="cs-CZ" sz="1800" dirty="0"/>
              <a:t>  varchar2(50); </a:t>
            </a:r>
          </a:p>
          <a:p>
            <a:pPr marL="609600" indent="-609600" eaLnBrk="1" hangingPunct="1">
              <a:lnSpc>
                <a:spcPct val="80000"/>
              </a:lnSpc>
              <a:buFontTx/>
              <a:buNone/>
            </a:pPr>
            <a:endParaRPr lang="cs-CZ" altLang="cs-CZ" sz="1800" dirty="0"/>
          </a:p>
          <a:p>
            <a:pPr marL="609600" indent="-609600" eaLnBrk="1" hangingPunct="1">
              <a:lnSpc>
                <a:spcPct val="80000"/>
              </a:lnSpc>
              <a:buFontTx/>
              <a:buNone/>
            </a:pPr>
            <a:r>
              <a:rPr lang="cs-CZ" altLang="cs-CZ" sz="1800" dirty="0"/>
              <a:t>ALTER TABLE dodavatele</a:t>
            </a:r>
          </a:p>
          <a:p>
            <a:pPr marL="609600" indent="-609600" eaLnBrk="1" hangingPunct="1">
              <a:lnSpc>
                <a:spcPct val="80000"/>
              </a:lnSpc>
              <a:buFontTx/>
              <a:buNone/>
            </a:pPr>
            <a:r>
              <a:rPr lang="cs-CZ" altLang="cs-CZ" sz="1800" dirty="0"/>
              <a:t>	ADD (</a:t>
            </a:r>
            <a:r>
              <a:rPr lang="cs-CZ" altLang="cs-CZ" sz="1800" dirty="0" err="1"/>
              <a:t>mesto</a:t>
            </a:r>
            <a:r>
              <a:rPr lang="cs-CZ" altLang="cs-CZ" sz="1800" dirty="0"/>
              <a:t> varchar2(50),</a:t>
            </a:r>
          </a:p>
          <a:p>
            <a:pPr marL="609600" indent="-609600" eaLnBrk="1" hangingPunct="1">
              <a:lnSpc>
                <a:spcPct val="80000"/>
              </a:lnSpc>
              <a:buFontTx/>
              <a:buNone/>
            </a:pPr>
            <a:r>
              <a:rPr lang="cs-CZ" altLang="cs-CZ" sz="1800" dirty="0"/>
              <a:t>	telefon varchar2(13) );</a:t>
            </a:r>
          </a:p>
        </p:txBody>
      </p:sp>
      <p:pic>
        <p:nvPicPr>
          <p:cNvPr id="89092" name="Picture 4"/>
          <p:cNvPicPr>
            <a:picLocks noChangeAspect="1" noChangeArrowheads="1"/>
          </p:cNvPicPr>
          <p:nvPr/>
        </p:nvPicPr>
        <p:blipFill>
          <a:blip r:embed="rId2">
            <a:clrChange>
              <a:clrFrom>
                <a:srgbClr val="000000"/>
              </a:clrFrom>
              <a:clrTo>
                <a:srgbClr val="000000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24750" y="3357563"/>
            <a:ext cx="962025" cy="1609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Rectangle 2"/>
          <p:cNvSpPr txBox="1">
            <a:spLocks noChangeArrowheads="1"/>
          </p:cNvSpPr>
          <p:nvPr/>
        </p:nvSpPr>
        <p:spPr>
          <a:xfrm>
            <a:off x="0" y="0"/>
            <a:ext cx="9144000" cy="81042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 fontAlgn="auto">
              <a:spcAft>
                <a:spcPts val="0"/>
              </a:spcAft>
              <a:defRPr/>
            </a:pPr>
            <a:r>
              <a:rPr lang="cs-CZ" sz="3600" dirty="0" smtClean="0"/>
              <a:t>Alter table</a:t>
            </a:r>
            <a:endParaRPr lang="cs-CZ" sz="3600" dirty="0"/>
          </a:p>
        </p:txBody>
      </p:sp>
    </p:spTree>
    <p:extLst>
      <p:ext uri="{BB962C8B-B14F-4D97-AF65-F5344CB8AC3E}">
        <p14:creationId xmlns:p14="http://schemas.microsoft.com/office/powerpoint/2010/main" val="38492389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115" name="Rectangle 3"/>
          <p:cNvSpPr>
            <a:spLocks noGrp="1" noChangeArrowheads="1"/>
          </p:cNvSpPr>
          <p:nvPr>
            <p:ph idx="1"/>
          </p:nvPr>
        </p:nvSpPr>
        <p:spPr>
          <a:xfrm>
            <a:off x="228600" y="1109324"/>
            <a:ext cx="8686800" cy="4968875"/>
          </a:xfrm>
        </p:spPr>
        <p:txBody>
          <a:bodyPr/>
          <a:lstStyle/>
          <a:p>
            <a:pPr marL="609600" indent="-609600" eaLnBrk="1" hangingPunct="1">
              <a:lnSpc>
                <a:spcPct val="90000"/>
              </a:lnSpc>
              <a:buFontTx/>
              <a:buNone/>
            </a:pPr>
            <a:r>
              <a:rPr lang="cs-CZ" altLang="cs-CZ" sz="2000" b="1" dirty="0"/>
              <a:t>ALTER TABLE </a:t>
            </a:r>
            <a:r>
              <a:rPr lang="en-US" altLang="cs-CZ" sz="2000" b="1" dirty="0"/>
              <a:t>&lt;</a:t>
            </a:r>
            <a:r>
              <a:rPr lang="cs-CZ" altLang="cs-CZ" sz="2000" b="1" dirty="0"/>
              <a:t>název tabulky</a:t>
            </a:r>
            <a:r>
              <a:rPr lang="en-US" altLang="cs-CZ" sz="2000" b="1" dirty="0"/>
              <a:t>&gt;</a:t>
            </a:r>
            <a:r>
              <a:rPr lang="cs-CZ" altLang="cs-CZ" sz="2000" b="1" dirty="0"/>
              <a:t> </a:t>
            </a:r>
            <a:r>
              <a:rPr lang="cs-CZ" altLang="cs-CZ" b="1" dirty="0"/>
              <a:t> </a:t>
            </a:r>
          </a:p>
          <a:p>
            <a:pPr marL="609600" indent="-609600" eaLnBrk="1" hangingPunct="1">
              <a:lnSpc>
                <a:spcPct val="90000"/>
              </a:lnSpc>
              <a:buFontTx/>
              <a:buNone/>
            </a:pPr>
            <a:r>
              <a:rPr lang="cs-CZ" altLang="cs-CZ" sz="2000" b="1" dirty="0"/>
              <a:t>MODIFY  (</a:t>
            </a:r>
            <a:r>
              <a:rPr lang="en-US" altLang="cs-CZ" sz="2000" b="1" dirty="0"/>
              <a:t>&lt;</a:t>
            </a:r>
            <a:r>
              <a:rPr lang="cs-CZ" altLang="cs-CZ" sz="2000" b="1" dirty="0"/>
              <a:t>specifikace sloupce</a:t>
            </a:r>
            <a:r>
              <a:rPr lang="en-US" altLang="cs-CZ" sz="2000" b="1" dirty="0"/>
              <a:t>&gt;</a:t>
            </a:r>
            <a:r>
              <a:rPr lang="cs-CZ" altLang="cs-CZ" sz="2000" b="1" dirty="0"/>
              <a:t>)</a:t>
            </a:r>
          </a:p>
          <a:p>
            <a:pPr marL="609600" indent="-609600" eaLnBrk="1" hangingPunct="1">
              <a:lnSpc>
                <a:spcPct val="90000"/>
              </a:lnSpc>
              <a:buFontTx/>
              <a:buNone/>
            </a:pPr>
            <a:endParaRPr lang="cs-CZ" altLang="cs-CZ" sz="2000" dirty="0"/>
          </a:p>
          <a:p>
            <a:pPr marL="609600" indent="-609600" eaLnBrk="1" hangingPunct="1">
              <a:lnSpc>
                <a:spcPct val="90000"/>
              </a:lnSpc>
              <a:buFontTx/>
              <a:buNone/>
            </a:pPr>
            <a:r>
              <a:rPr lang="cs-CZ" altLang="cs-CZ" sz="2000" dirty="0"/>
              <a:t>Příkaz se používá pro úpravu specifikace sloupců či omezení do tabulky.</a:t>
            </a:r>
          </a:p>
          <a:p>
            <a:pPr marL="609600" indent="-609600" eaLnBrk="1" hangingPunct="1">
              <a:lnSpc>
                <a:spcPct val="90000"/>
              </a:lnSpc>
              <a:buFontTx/>
              <a:buNone/>
            </a:pPr>
            <a:endParaRPr lang="cs-CZ" altLang="cs-CZ" sz="2000" dirty="0"/>
          </a:p>
          <a:p>
            <a:pPr marL="609600" lvl="1" indent="-609600" eaLnBrk="1" hangingPunct="1">
              <a:lnSpc>
                <a:spcPct val="90000"/>
              </a:lnSpc>
              <a:buClr>
                <a:schemeClr val="hlink"/>
              </a:buClr>
              <a:buSzPct val="120000"/>
              <a:buFont typeface="Tahoma" panose="020B0604030504040204" pitchFamily="34" charset="0"/>
              <a:buNone/>
            </a:pPr>
            <a:r>
              <a:rPr lang="cs-CZ" altLang="cs-CZ" sz="2000" dirty="0"/>
              <a:t>ALTER TABLE dodavatele </a:t>
            </a:r>
            <a:br>
              <a:rPr lang="cs-CZ" altLang="cs-CZ" sz="2000" dirty="0"/>
            </a:br>
            <a:r>
              <a:rPr lang="cs-CZ" altLang="cs-CZ" sz="2000" dirty="0"/>
              <a:t> MODIFY zastoupeni varchar2(80)  </a:t>
            </a:r>
            <a:r>
              <a:rPr lang="cs-CZ" altLang="cs-CZ" sz="1600" b="1" dirty="0"/>
              <a:t>NOT NULL</a:t>
            </a:r>
            <a:r>
              <a:rPr lang="cs-CZ" altLang="cs-CZ" sz="2000" dirty="0"/>
              <a:t>; </a:t>
            </a:r>
          </a:p>
        </p:txBody>
      </p:sp>
      <p:pic>
        <p:nvPicPr>
          <p:cNvPr id="90116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19700" y="4797425"/>
            <a:ext cx="2066925" cy="1339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Rectangle 2"/>
          <p:cNvSpPr txBox="1">
            <a:spLocks noChangeArrowheads="1"/>
          </p:cNvSpPr>
          <p:nvPr/>
        </p:nvSpPr>
        <p:spPr>
          <a:xfrm>
            <a:off x="0" y="0"/>
            <a:ext cx="9144000" cy="81042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 fontAlgn="auto">
              <a:spcAft>
                <a:spcPts val="0"/>
              </a:spcAft>
              <a:defRPr/>
            </a:pPr>
            <a:r>
              <a:rPr lang="cs-CZ" sz="3600" dirty="0" smtClean="0"/>
              <a:t>Alter table</a:t>
            </a:r>
            <a:endParaRPr lang="cs-CZ" sz="3600" dirty="0"/>
          </a:p>
        </p:txBody>
      </p:sp>
    </p:spTree>
    <p:extLst>
      <p:ext uri="{BB962C8B-B14F-4D97-AF65-F5344CB8AC3E}">
        <p14:creationId xmlns:p14="http://schemas.microsoft.com/office/powerpoint/2010/main" val="24834539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139" name="Rectangle 3"/>
          <p:cNvSpPr>
            <a:spLocks noGrp="1" noChangeArrowheads="1"/>
          </p:cNvSpPr>
          <p:nvPr>
            <p:ph idx="1"/>
          </p:nvPr>
        </p:nvSpPr>
        <p:spPr>
          <a:xfrm>
            <a:off x="228600" y="1241366"/>
            <a:ext cx="8686800" cy="4968875"/>
          </a:xfrm>
        </p:spPr>
        <p:txBody>
          <a:bodyPr/>
          <a:lstStyle/>
          <a:p>
            <a:pPr marL="609600" indent="-609600" eaLnBrk="1" hangingPunct="1">
              <a:lnSpc>
                <a:spcPct val="90000"/>
              </a:lnSpc>
              <a:buFontTx/>
              <a:buNone/>
            </a:pPr>
            <a:r>
              <a:rPr lang="cs-CZ" altLang="cs-CZ" dirty="0">
                <a:latin typeface="+mj-lt"/>
                <a:ea typeface="+mj-ea"/>
                <a:cs typeface="+mj-cs"/>
              </a:rPr>
              <a:t>ALTER TABLE </a:t>
            </a:r>
            <a:r>
              <a:rPr lang="en-US" altLang="cs-CZ" dirty="0">
                <a:latin typeface="+mj-lt"/>
                <a:ea typeface="+mj-ea"/>
                <a:cs typeface="+mj-cs"/>
              </a:rPr>
              <a:t>&lt;</a:t>
            </a:r>
            <a:r>
              <a:rPr lang="cs-CZ" altLang="cs-CZ" dirty="0">
                <a:latin typeface="+mj-lt"/>
                <a:ea typeface="+mj-ea"/>
                <a:cs typeface="+mj-cs"/>
              </a:rPr>
              <a:t>název tabulky</a:t>
            </a:r>
            <a:r>
              <a:rPr lang="en-US" altLang="cs-CZ" dirty="0">
                <a:latin typeface="+mj-lt"/>
                <a:ea typeface="+mj-ea"/>
                <a:cs typeface="+mj-cs"/>
              </a:rPr>
              <a:t>&gt;</a:t>
            </a:r>
            <a:endParaRPr lang="cs-CZ" altLang="cs-CZ" dirty="0">
              <a:latin typeface="+mj-lt"/>
              <a:ea typeface="+mj-ea"/>
              <a:cs typeface="+mj-cs"/>
            </a:endParaRPr>
          </a:p>
          <a:p>
            <a:pPr marL="609600" indent="-609600" eaLnBrk="1" hangingPunct="1">
              <a:lnSpc>
                <a:spcPct val="90000"/>
              </a:lnSpc>
              <a:buFontTx/>
              <a:buNone/>
            </a:pPr>
            <a:r>
              <a:rPr lang="cs-CZ" altLang="cs-CZ" dirty="0">
                <a:latin typeface="+mj-lt"/>
                <a:ea typeface="+mj-ea"/>
                <a:cs typeface="+mj-cs"/>
              </a:rPr>
              <a:t>DROP COLUMN </a:t>
            </a:r>
            <a:r>
              <a:rPr lang="en-US" altLang="cs-CZ" dirty="0">
                <a:latin typeface="+mj-lt"/>
                <a:ea typeface="+mj-ea"/>
                <a:cs typeface="+mj-cs"/>
              </a:rPr>
              <a:t>&lt;</a:t>
            </a:r>
            <a:r>
              <a:rPr lang="cs-CZ" altLang="cs-CZ" dirty="0">
                <a:latin typeface="+mj-lt"/>
                <a:ea typeface="+mj-ea"/>
                <a:cs typeface="+mj-cs"/>
              </a:rPr>
              <a:t>název sloupce</a:t>
            </a:r>
            <a:r>
              <a:rPr lang="en-US" altLang="cs-CZ" dirty="0">
                <a:latin typeface="+mj-lt"/>
                <a:ea typeface="+mj-ea"/>
                <a:cs typeface="+mj-cs"/>
              </a:rPr>
              <a:t>&gt;</a:t>
            </a:r>
            <a:endParaRPr lang="cs-CZ" altLang="cs-CZ" dirty="0">
              <a:latin typeface="+mj-lt"/>
              <a:ea typeface="+mj-ea"/>
              <a:cs typeface="+mj-cs"/>
            </a:endParaRPr>
          </a:p>
          <a:p>
            <a:pPr marL="609600" indent="-609600" eaLnBrk="1" hangingPunct="1">
              <a:lnSpc>
                <a:spcPct val="90000"/>
              </a:lnSpc>
              <a:buFontTx/>
              <a:buNone/>
            </a:pPr>
            <a:endParaRPr lang="cs-CZ" altLang="cs-CZ" sz="2000" dirty="0">
              <a:solidFill>
                <a:schemeClr val="hlink"/>
              </a:solidFill>
            </a:endParaRPr>
          </a:p>
          <a:p>
            <a:pPr marL="609600" indent="-609600" eaLnBrk="1" hangingPunct="1">
              <a:lnSpc>
                <a:spcPct val="90000"/>
              </a:lnSpc>
              <a:buFontTx/>
              <a:buNone/>
            </a:pPr>
            <a:r>
              <a:rPr lang="cs-CZ" altLang="cs-CZ" sz="2000" dirty="0"/>
              <a:t>Příkaz se používá pro odstranění sloupce z tabulky.</a:t>
            </a:r>
          </a:p>
          <a:p>
            <a:pPr marL="609600" indent="-609600" eaLnBrk="1" hangingPunct="1">
              <a:lnSpc>
                <a:spcPct val="90000"/>
              </a:lnSpc>
              <a:buFontTx/>
              <a:buNone/>
            </a:pPr>
            <a:endParaRPr lang="cs-CZ" altLang="cs-CZ" sz="2000" dirty="0"/>
          </a:p>
          <a:p>
            <a:pPr marL="609600" indent="-609600" eaLnBrk="1" hangingPunct="1">
              <a:lnSpc>
                <a:spcPct val="90000"/>
              </a:lnSpc>
              <a:buFontTx/>
              <a:buNone/>
            </a:pPr>
            <a:r>
              <a:rPr lang="cs-CZ" altLang="cs-CZ" sz="2000" dirty="0"/>
              <a:t>ALTER TABLE dodavatele </a:t>
            </a:r>
            <a:br>
              <a:rPr lang="cs-CZ" altLang="cs-CZ" sz="2000" dirty="0"/>
            </a:br>
            <a:r>
              <a:rPr lang="cs-CZ" altLang="cs-CZ" sz="2000" dirty="0"/>
              <a:t> DROP COLUMN  telefon; </a:t>
            </a:r>
          </a:p>
        </p:txBody>
      </p:sp>
      <p:pic>
        <p:nvPicPr>
          <p:cNvPr id="91140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11863" y="3744913"/>
            <a:ext cx="2066925" cy="1339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Rectangle 2"/>
          <p:cNvSpPr txBox="1">
            <a:spLocks noChangeArrowheads="1"/>
          </p:cNvSpPr>
          <p:nvPr/>
        </p:nvSpPr>
        <p:spPr>
          <a:xfrm>
            <a:off x="0" y="0"/>
            <a:ext cx="9144000" cy="81042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 fontAlgn="auto">
              <a:spcAft>
                <a:spcPts val="0"/>
              </a:spcAft>
              <a:defRPr/>
            </a:pPr>
            <a:r>
              <a:rPr lang="cs-CZ" sz="3600" dirty="0" smtClean="0"/>
              <a:t>Alter table</a:t>
            </a:r>
            <a:endParaRPr lang="cs-CZ" sz="3600" dirty="0"/>
          </a:p>
        </p:txBody>
      </p:sp>
    </p:spTree>
    <p:extLst>
      <p:ext uri="{BB962C8B-B14F-4D97-AF65-F5344CB8AC3E}">
        <p14:creationId xmlns:p14="http://schemas.microsoft.com/office/powerpoint/2010/main" val="3065071669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63" name="Rectangle 3"/>
          <p:cNvSpPr>
            <a:spLocks noGrp="1" noChangeArrowheads="1"/>
          </p:cNvSpPr>
          <p:nvPr>
            <p:ph idx="1"/>
          </p:nvPr>
        </p:nvSpPr>
        <p:spPr>
          <a:xfrm>
            <a:off x="228600" y="987778"/>
            <a:ext cx="8686800" cy="4968875"/>
          </a:xfrm>
        </p:spPr>
        <p:txBody>
          <a:bodyPr/>
          <a:lstStyle/>
          <a:p>
            <a:pPr marL="609600" indent="-609600" eaLnBrk="1" hangingPunct="1">
              <a:lnSpc>
                <a:spcPct val="90000"/>
              </a:lnSpc>
              <a:buFontTx/>
              <a:buNone/>
            </a:pPr>
            <a:r>
              <a:rPr lang="cs-CZ" altLang="cs-CZ" sz="2400" b="1" dirty="0">
                <a:latin typeface="+mj-lt"/>
                <a:ea typeface="+mj-ea"/>
                <a:cs typeface="+mj-cs"/>
              </a:rPr>
              <a:t>ALTER TABLE </a:t>
            </a:r>
            <a:r>
              <a:rPr lang="en-US" altLang="cs-CZ" sz="2400" b="1" dirty="0">
                <a:latin typeface="+mj-lt"/>
                <a:ea typeface="+mj-ea"/>
                <a:cs typeface="+mj-cs"/>
              </a:rPr>
              <a:t>&lt;</a:t>
            </a:r>
            <a:r>
              <a:rPr lang="cs-CZ" altLang="cs-CZ" sz="2400" b="1" dirty="0">
                <a:latin typeface="+mj-lt"/>
                <a:ea typeface="+mj-ea"/>
                <a:cs typeface="+mj-cs"/>
              </a:rPr>
              <a:t>název tabulky</a:t>
            </a:r>
            <a:r>
              <a:rPr lang="en-US" altLang="cs-CZ" sz="2400" b="1" dirty="0">
                <a:latin typeface="+mj-lt"/>
                <a:ea typeface="+mj-ea"/>
                <a:cs typeface="+mj-cs"/>
              </a:rPr>
              <a:t>&gt;</a:t>
            </a:r>
            <a:r>
              <a:rPr lang="cs-CZ" altLang="cs-CZ" sz="2400" b="1" dirty="0">
                <a:latin typeface="+mj-lt"/>
                <a:ea typeface="+mj-ea"/>
                <a:cs typeface="+mj-cs"/>
              </a:rPr>
              <a:t>  </a:t>
            </a:r>
          </a:p>
          <a:p>
            <a:pPr marL="609600" indent="-609600" eaLnBrk="1" hangingPunct="1">
              <a:lnSpc>
                <a:spcPct val="90000"/>
              </a:lnSpc>
              <a:buFontTx/>
              <a:buNone/>
            </a:pPr>
            <a:r>
              <a:rPr lang="cs-CZ" altLang="cs-CZ" sz="2400" b="1" dirty="0">
                <a:latin typeface="+mj-lt"/>
                <a:ea typeface="+mj-ea"/>
                <a:cs typeface="+mj-cs"/>
              </a:rPr>
              <a:t>RENAME COLUMN </a:t>
            </a:r>
            <a:r>
              <a:rPr lang="en-US" altLang="cs-CZ" sz="2400" b="1" dirty="0">
                <a:latin typeface="+mj-lt"/>
                <a:ea typeface="+mj-ea"/>
                <a:cs typeface="+mj-cs"/>
              </a:rPr>
              <a:t>&lt;</a:t>
            </a:r>
            <a:r>
              <a:rPr lang="cs-CZ" altLang="cs-CZ" sz="2400" b="1" dirty="0">
                <a:latin typeface="+mj-lt"/>
                <a:ea typeface="+mj-ea"/>
                <a:cs typeface="+mj-cs"/>
              </a:rPr>
              <a:t>název sloupce</a:t>
            </a:r>
            <a:r>
              <a:rPr lang="en-US" altLang="cs-CZ" sz="2400" b="1" dirty="0">
                <a:latin typeface="+mj-lt"/>
                <a:ea typeface="+mj-ea"/>
                <a:cs typeface="+mj-cs"/>
              </a:rPr>
              <a:t>&gt;</a:t>
            </a:r>
            <a:endParaRPr lang="cs-CZ" altLang="cs-CZ" sz="2400" b="1" dirty="0">
              <a:latin typeface="+mj-lt"/>
              <a:ea typeface="+mj-ea"/>
              <a:cs typeface="+mj-cs"/>
            </a:endParaRPr>
          </a:p>
          <a:p>
            <a:pPr marL="609600" indent="-609600" eaLnBrk="1" hangingPunct="1">
              <a:lnSpc>
                <a:spcPct val="90000"/>
              </a:lnSpc>
              <a:buFontTx/>
              <a:buNone/>
            </a:pPr>
            <a:endParaRPr lang="cs-CZ" altLang="cs-CZ" sz="2000" dirty="0">
              <a:solidFill>
                <a:schemeClr val="hlink"/>
              </a:solidFill>
            </a:endParaRPr>
          </a:p>
          <a:p>
            <a:pPr marL="609600" indent="-609600" eaLnBrk="1" hangingPunct="1">
              <a:lnSpc>
                <a:spcPct val="90000"/>
              </a:lnSpc>
              <a:buFontTx/>
              <a:buNone/>
            </a:pPr>
            <a:r>
              <a:rPr lang="cs-CZ" altLang="cs-CZ" sz="2000" dirty="0"/>
              <a:t>Příkaz se používá pro přejmenování sloupce tabulky.</a:t>
            </a:r>
          </a:p>
          <a:p>
            <a:pPr marL="609600" indent="-609600" eaLnBrk="1" hangingPunct="1">
              <a:lnSpc>
                <a:spcPct val="90000"/>
              </a:lnSpc>
              <a:buFontTx/>
              <a:buNone/>
            </a:pPr>
            <a:endParaRPr lang="cs-CZ" altLang="cs-CZ" sz="2000" dirty="0"/>
          </a:p>
          <a:p>
            <a:pPr marL="609600" indent="-609600" eaLnBrk="1" hangingPunct="1">
              <a:lnSpc>
                <a:spcPct val="90000"/>
              </a:lnSpc>
              <a:buFontTx/>
              <a:buNone/>
            </a:pPr>
            <a:r>
              <a:rPr lang="cs-CZ" altLang="cs-CZ" sz="2000" dirty="0"/>
              <a:t>ALTER TABLE dodavatele </a:t>
            </a:r>
            <a:br>
              <a:rPr lang="cs-CZ" altLang="cs-CZ" sz="2000" dirty="0"/>
            </a:br>
            <a:r>
              <a:rPr lang="cs-CZ" altLang="cs-CZ" sz="2000" dirty="0"/>
              <a:t> RENAME COLUMN </a:t>
            </a:r>
            <a:r>
              <a:rPr lang="cs-CZ" altLang="cs-CZ" sz="2000" dirty="0" err="1"/>
              <a:t>mesto</a:t>
            </a:r>
            <a:r>
              <a:rPr lang="cs-CZ" altLang="cs-CZ" sz="2000" dirty="0"/>
              <a:t> to </a:t>
            </a:r>
            <a:r>
              <a:rPr lang="cs-CZ" altLang="cs-CZ" sz="2000" dirty="0" err="1"/>
              <a:t>zastoupeni_mesto</a:t>
            </a:r>
            <a:r>
              <a:rPr lang="cs-CZ" altLang="cs-CZ" sz="2000" dirty="0"/>
              <a:t>; </a:t>
            </a:r>
          </a:p>
        </p:txBody>
      </p:sp>
      <p:pic>
        <p:nvPicPr>
          <p:cNvPr id="92164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64163" y="4581525"/>
            <a:ext cx="2066925" cy="1339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Rectangle 2"/>
          <p:cNvSpPr txBox="1">
            <a:spLocks noChangeArrowheads="1"/>
          </p:cNvSpPr>
          <p:nvPr/>
        </p:nvSpPr>
        <p:spPr>
          <a:xfrm>
            <a:off x="0" y="0"/>
            <a:ext cx="9144000" cy="81042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 fontAlgn="auto">
              <a:spcAft>
                <a:spcPts val="0"/>
              </a:spcAft>
              <a:defRPr/>
            </a:pPr>
            <a:r>
              <a:rPr lang="cs-CZ" sz="3600" dirty="0" smtClean="0"/>
              <a:t>Alter table</a:t>
            </a:r>
            <a:endParaRPr lang="cs-CZ" sz="3600" dirty="0"/>
          </a:p>
        </p:txBody>
      </p:sp>
    </p:spTree>
    <p:extLst>
      <p:ext uri="{BB962C8B-B14F-4D97-AF65-F5344CB8AC3E}">
        <p14:creationId xmlns:p14="http://schemas.microsoft.com/office/powerpoint/2010/main" val="3117387946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87" name="Rectangle 3"/>
          <p:cNvSpPr>
            <a:spLocks noGrp="1" noChangeArrowheads="1"/>
          </p:cNvSpPr>
          <p:nvPr>
            <p:ph idx="1"/>
          </p:nvPr>
        </p:nvSpPr>
        <p:spPr>
          <a:xfrm>
            <a:off x="323528" y="1262630"/>
            <a:ext cx="8229600" cy="4608512"/>
          </a:xfrm>
        </p:spPr>
        <p:txBody>
          <a:bodyPr>
            <a:normAutofit/>
          </a:bodyPr>
          <a:lstStyle/>
          <a:p>
            <a:pPr marL="609600" indent="-609600" eaLnBrk="1" hangingPunct="1">
              <a:buFontTx/>
              <a:buNone/>
            </a:pPr>
            <a:r>
              <a:rPr lang="cs-CZ" altLang="cs-CZ" sz="1800" dirty="0"/>
              <a:t>ALTER TABLE produkty</a:t>
            </a:r>
            <a:br>
              <a:rPr lang="cs-CZ" altLang="cs-CZ" sz="1800" dirty="0"/>
            </a:br>
            <a:r>
              <a:rPr lang="cs-CZ" altLang="cs-CZ" sz="1800" dirty="0"/>
              <a:t>ADD CONSTRAINT </a:t>
            </a:r>
            <a:r>
              <a:rPr lang="en-US" altLang="cs-CZ" sz="1800" dirty="0"/>
              <a:t>ci</a:t>
            </a:r>
            <a:r>
              <a:rPr lang="cs-CZ" altLang="cs-CZ" sz="1800" dirty="0" err="1"/>
              <a:t>zi_klic</a:t>
            </a:r>
            <a:r>
              <a:rPr lang="cs-CZ" altLang="cs-CZ" sz="1800" dirty="0"/>
              <a:t> </a:t>
            </a:r>
          </a:p>
          <a:p>
            <a:pPr marL="609600" indent="-609600" eaLnBrk="1" hangingPunct="1">
              <a:buFontTx/>
              <a:buNone/>
            </a:pPr>
            <a:r>
              <a:rPr lang="cs-CZ" altLang="cs-CZ" sz="1800" dirty="0"/>
              <a:t>	</a:t>
            </a:r>
            <a:r>
              <a:rPr lang="en-US" altLang="cs-CZ" sz="1800" dirty="0"/>
              <a:t>FOREIGN KEY (</a:t>
            </a:r>
            <a:r>
              <a:rPr lang="en-US" altLang="cs-CZ" sz="1800" dirty="0" err="1"/>
              <a:t>dodavatel_id</a:t>
            </a:r>
            <a:r>
              <a:rPr lang="en-US" altLang="cs-CZ" sz="1800" dirty="0"/>
              <a:t>)</a:t>
            </a:r>
            <a:r>
              <a:rPr lang="cs-CZ" altLang="cs-CZ" sz="1800" dirty="0"/>
              <a:t> </a:t>
            </a:r>
            <a:r>
              <a:rPr lang="en-US" altLang="cs-CZ" sz="1800" dirty="0"/>
              <a:t>REFERENCES</a:t>
            </a:r>
            <a:r>
              <a:rPr lang="cs-CZ" altLang="cs-CZ" sz="1800" dirty="0"/>
              <a:t> </a:t>
            </a:r>
            <a:r>
              <a:rPr lang="en-US" altLang="cs-CZ" sz="1800" dirty="0" err="1"/>
              <a:t>dodavatele</a:t>
            </a:r>
            <a:r>
              <a:rPr lang="en-US" altLang="cs-CZ" sz="1800" dirty="0"/>
              <a:t>(</a:t>
            </a:r>
            <a:r>
              <a:rPr lang="en-US" altLang="cs-CZ" sz="1800" dirty="0" err="1"/>
              <a:t>dodavatel_id</a:t>
            </a:r>
            <a:r>
              <a:rPr lang="en-US" altLang="cs-CZ" sz="1800" dirty="0"/>
              <a:t>)</a:t>
            </a:r>
            <a:r>
              <a:rPr lang="cs-CZ" altLang="cs-CZ" sz="1800" dirty="0"/>
              <a:t>; </a:t>
            </a:r>
          </a:p>
          <a:p>
            <a:pPr marL="609600" indent="-609600" eaLnBrk="1" hangingPunct="1">
              <a:buFontTx/>
              <a:buNone/>
            </a:pPr>
            <a:endParaRPr lang="cs-CZ" altLang="cs-CZ" sz="1800" dirty="0"/>
          </a:p>
          <a:p>
            <a:pPr marL="609600" indent="-609600" eaLnBrk="1" hangingPunct="1">
              <a:buFontTx/>
              <a:buNone/>
            </a:pPr>
            <a:r>
              <a:rPr lang="cs-CZ" altLang="cs-CZ" sz="1800" dirty="0"/>
              <a:t>ALTER TABLE produkty</a:t>
            </a:r>
          </a:p>
          <a:p>
            <a:pPr marL="609600" indent="-609600" eaLnBrk="1" hangingPunct="1">
              <a:buFontTx/>
              <a:buNone/>
            </a:pPr>
            <a:r>
              <a:rPr lang="cs-CZ" altLang="cs-CZ" sz="1800" dirty="0"/>
              <a:t>	ADD CONSTRAINT </a:t>
            </a:r>
            <a:r>
              <a:rPr lang="en-US" altLang="cs-CZ" sz="1800" dirty="0"/>
              <a:t>ci</a:t>
            </a:r>
            <a:r>
              <a:rPr lang="cs-CZ" altLang="cs-CZ" sz="1800" dirty="0" err="1"/>
              <a:t>zi_klic</a:t>
            </a:r>
            <a:r>
              <a:rPr lang="cs-CZ" altLang="cs-CZ" sz="1800" dirty="0"/>
              <a:t> </a:t>
            </a:r>
          </a:p>
          <a:p>
            <a:pPr marL="609600" indent="-609600" eaLnBrk="1" hangingPunct="1">
              <a:buFontTx/>
              <a:buNone/>
            </a:pPr>
            <a:r>
              <a:rPr lang="cs-CZ" altLang="cs-CZ" sz="1800" dirty="0"/>
              <a:t>	</a:t>
            </a:r>
            <a:r>
              <a:rPr lang="en-US" altLang="cs-CZ" sz="1800" dirty="0"/>
              <a:t>FOREIGN KEY (</a:t>
            </a:r>
            <a:r>
              <a:rPr lang="en-US" altLang="cs-CZ" sz="1800" dirty="0" err="1"/>
              <a:t>dodavatel_id</a:t>
            </a:r>
            <a:r>
              <a:rPr lang="en-US" altLang="cs-CZ" sz="1800" dirty="0"/>
              <a:t>)</a:t>
            </a:r>
            <a:r>
              <a:rPr lang="cs-CZ" altLang="cs-CZ" sz="1800" dirty="0"/>
              <a:t> </a:t>
            </a:r>
            <a:r>
              <a:rPr lang="en-US" altLang="cs-CZ" sz="1800" dirty="0"/>
              <a:t>REFERENCES</a:t>
            </a:r>
            <a:r>
              <a:rPr lang="cs-CZ" altLang="cs-CZ" sz="1800" dirty="0"/>
              <a:t> </a:t>
            </a:r>
            <a:r>
              <a:rPr lang="en-US" altLang="cs-CZ" sz="1800" dirty="0" err="1"/>
              <a:t>dodavatele</a:t>
            </a:r>
            <a:r>
              <a:rPr lang="en-US" altLang="cs-CZ" sz="1800" dirty="0"/>
              <a:t>(</a:t>
            </a:r>
            <a:r>
              <a:rPr lang="en-US" altLang="cs-CZ" sz="1800" dirty="0" err="1"/>
              <a:t>dodavatel_id</a:t>
            </a:r>
            <a:r>
              <a:rPr lang="en-US" altLang="cs-CZ" sz="1800" dirty="0"/>
              <a:t>)</a:t>
            </a:r>
            <a:r>
              <a:rPr lang="cs-CZ" altLang="cs-CZ" sz="1800" dirty="0"/>
              <a:t> </a:t>
            </a:r>
            <a:br>
              <a:rPr lang="cs-CZ" altLang="cs-CZ" sz="1800" dirty="0"/>
            </a:br>
            <a:r>
              <a:rPr lang="cs-CZ" altLang="cs-CZ" sz="2400" b="1" dirty="0">
                <a:latin typeface="+mj-lt"/>
                <a:ea typeface="+mj-ea"/>
                <a:cs typeface="+mj-cs"/>
              </a:rPr>
              <a:t>ON DELETE CASCADE</a:t>
            </a:r>
            <a:r>
              <a:rPr lang="cs-CZ" altLang="cs-CZ" sz="1800" b="1" dirty="0"/>
              <a:t>; </a:t>
            </a:r>
          </a:p>
          <a:p>
            <a:pPr marL="609600" indent="-609600" eaLnBrk="1" hangingPunct="1">
              <a:buFontTx/>
              <a:buNone/>
            </a:pPr>
            <a:endParaRPr lang="cs-CZ" altLang="cs-CZ" sz="1800" dirty="0"/>
          </a:p>
          <a:p>
            <a:pPr marL="609600" indent="-609600" eaLnBrk="1" hangingPunct="1">
              <a:buFontTx/>
              <a:buNone/>
            </a:pPr>
            <a:r>
              <a:rPr lang="cs-CZ" altLang="cs-CZ" sz="1800" dirty="0"/>
              <a:t>ALTER TABLE produkty</a:t>
            </a:r>
          </a:p>
          <a:p>
            <a:pPr marL="609600" indent="-609600" eaLnBrk="1" hangingPunct="1">
              <a:buFontTx/>
              <a:buNone/>
            </a:pPr>
            <a:r>
              <a:rPr lang="cs-CZ" altLang="cs-CZ" sz="1800" dirty="0"/>
              <a:t>	ADD CONSTRAINT </a:t>
            </a:r>
            <a:r>
              <a:rPr lang="en-US" altLang="cs-CZ" sz="1800" dirty="0"/>
              <a:t>ci</a:t>
            </a:r>
            <a:r>
              <a:rPr lang="cs-CZ" altLang="cs-CZ" sz="1800" dirty="0" err="1"/>
              <a:t>zi_klic</a:t>
            </a:r>
            <a:r>
              <a:rPr lang="cs-CZ" altLang="cs-CZ" sz="1800" dirty="0"/>
              <a:t> </a:t>
            </a:r>
          </a:p>
          <a:p>
            <a:pPr marL="609600" indent="-609600" eaLnBrk="1" hangingPunct="1">
              <a:buFontTx/>
              <a:buNone/>
            </a:pPr>
            <a:r>
              <a:rPr lang="cs-CZ" altLang="cs-CZ" sz="1800" dirty="0"/>
              <a:t>	</a:t>
            </a:r>
            <a:r>
              <a:rPr lang="en-US" altLang="cs-CZ" sz="1800" dirty="0"/>
              <a:t>FOREIGN KEY (</a:t>
            </a:r>
            <a:r>
              <a:rPr lang="en-US" altLang="cs-CZ" sz="1800" dirty="0" err="1"/>
              <a:t>dodavatel_id</a:t>
            </a:r>
            <a:r>
              <a:rPr lang="en-US" altLang="cs-CZ" sz="1800" dirty="0"/>
              <a:t>)</a:t>
            </a:r>
            <a:r>
              <a:rPr lang="cs-CZ" altLang="cs-CZ" sz="1800" dirty="0"/>
              <a:t> </a:t>
            </a:r>
            <a:r>
              <a:rPr lang="en-US" altLang="cs-CZ" sz="1800" dirty="0"/>
              <a:t>REFERENCES</a:t>
            </a:r>
            <a:r>
              <a:rPr lang="cs-CZ" altLang="cs-CZ" sz="1800" dirty="0"/>
              <a:t> </a:t>
            </a:r>
            <a:r>
              <a:rPr lang="en-US" altLang="cs-CZ" sz="1800" dirty="0" err="1"/>
              <a:t>dodavatele</a:t>
            </a:r>
            <a:r>
              <a:rPr lang="en-US" altLang="cs-CZ" sz="1800" dirty="0"/>
              <a:t>(</a:t>
            </a:r>
            <a:r>
              <a:rPr lang="en-US" altLang="cs-CZ" sz="1800" dirty="0" err="1"/>
              <a:t>dodavatel_id</a:t>
            </a:r>
            <a:r>
              <a:rPr lang="en-US" altLang="cs-CZ" sz="1800" dirty="0"/>
              <a:t>)</a:t>
            </a:r>
            <a:r>
              <a:rPr lang="cs-CZ" altLang="cs-CZ" sz="1800" dirty="0"/>
              <a:t> </a:t>
            </a:r>
            <a:br>
              <a:rPr lang="cs-CZ" altLang="cs-CZ" sz="1800" dirty="0"/>
            </a:br>
            <a:r>
              <a:rPr lang="cs-CZ" altLang="cs-CZ" sz="2400" b="1" dirty="0">
                <a:latin typeface="+mj-lt"/>
                <a:ea typeface="+mj-ea"/>
                <a:cs typeface="+mj-cs"/>
              </a:rPr>
              <a:t>ON DELETE SET NULL</a:t>
            </a:r>
            <a:r>
              <a:rPr lang="cs-CZ" altLang="cs-CZ" sz="1800" b="1" dirty="0"/>
              <a:t>; </a:t>
            </a:r>
          </a:p>
          <a:p>
            <a:pPr marL="609600" indent="-609600" eaLnBrk="1" hangingPunct="1">
              <a:buFontTx/>
              <a:buNone/>
            </a:pPr>
            <a:endParaRPr lang="cs-CZ" altLang="cs-CZ" sz="1800" dirty="0"/>
          </a:p>
          <a:p>
            <a:pPr marL="609600" indent="-609600" eaLnBrk="1" hangingPunct="1">
              <a:buFontTx/>
              <a:buNone/>
            </a:pPr>
            <a:endParaRPr lang="cs-CZ" altLang="cs-CZ" sz="1800" dirty="0"/>
          </a:p>
          <a:p>
            <a:pPr marL="609600" indent="-609600" eaLnBrk="1" hangingPunct="1">
              <a:buFontTx/>
              <a:buNone/>
            </a:pPr>
            <a:endParaRPr lang="cs-CZ" altLang="cs-CZ" sz="1800" dirty="0"/>
          </a:p>
          <a:p>
            <a:pPr marL="609600" indent="-609600" eaLnBrk="1" hangingPunct="1">
              <a:buFontTx/>
              <a:buNone/>
            </a:pPr>
            <a:endParaRPr lang="cs-CZ" altLang="cs-CZ" sz="1800" dirty="0"/>
          </a:p>
        </p:txBody>
      </p:sp>
      <p:sp>
        <p:nvSpPr>
          <p:cNvPr id="7" name="Rectangle 2"/>
          <p:cNvSpPr txBox="1">
            <a:spLocks noChangeArrowheads="1"/>
          </p:cNvSpPr>
          <p:nvPr/>
        </p:nvSpPr>
        <p:spPr>
          <a:xfrm>
            <a:off x="0" y="0"/>
            <a:ext cx="9144000" cy="81042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 fontAlgn="auto">
              <a:spcAft>
                <a:spcPts val="0"/>
              </a:spcAft>
              <a:defRPr/>
            </a:pPr>
            <a:r>
              <a:rPr lang="cs-CZ" sz="3600" dirty="0" smtClean="0"/>
              <a:t>Použití cizích klíčů při úpravách tabulky</a:t>
            </a:r>
            <a:endParaRPr lang="cs-CZ" sz="3600" dirty="0"/>
          </a:p>
        </p:txBody>
      </p:sp>
    </p:spTree>
    <p:extLst>
      <p:ext uri="{BB962C8B-B14F-4D97-AF65-F5344CB8AC3E}">
        <p14:creationId xmlns:p14="http://schemas.microsoft.com/office/powerpoint/2010/main" val="10945500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235" name="Rectangle 3"/>
          <p:cNvSpPr>
            <a:spLocks noGrp="1" noChangeArrowheads="1"/>
          </p:cNvSpPr>
          <p:nvPr>
            <p:ph idx="1"/>
          </p:nvPr>
        </p:nvSpPr>
        <p:spPr>
          <a:xfrm>
            <a:off x="228600" y="1108935"/>
            <a:ext cx="8686800" cy="4968875"/>
          </a:xfrm>
        </p:spPr>
        <p:txBody>
          <a:bodyPr/>
          <a:lstStyle/>
          <a:p>
            <a:pPr marL="609600" indent="-609600" eaLnBrk="1" hangingPunct="1">
              <a:spcBef>
                <a:spcPct val="0"/>
              </a:spcBef>
              <a:buFontTx/>
              <a:buNone/>
              <a:defRPr/>
            </a:pPr>
            <a:r>
              <a:rPr lang="cs-CZ" altLang="cs-CZ" sz="2400" b="1" dirty="0">
                <a:latin typeface="+mj-lt"/>
                <a:ea typeface="+mj-ea"/>
                <a:cs typeface="+mj-cs"/>
              </a:rPr>
              <a:t>DROP TABLE </a:t>
            </a:r>
            <a:r>
              <a:rPr lang="en-US" altLang="cs-CZ" sz="2400" b="1" dirty="0">
                <a:latin typeface="+mj-lt"/>
                <a:ea typeface="+mj-ea"/>
                <a:cs typeface="+mj-cs"/>
              </a:rPr>
              <a:t>&lt;</a:t>
            </a:r>
            <a:r>
              <a:rPr lang="cs-CZ" altLang="cs-CZ" sz="2400" b="1" dirty="0">
                <a:latin typeface="+mj-lt"/>
                <a:ea typeface="+mj-ea"/>
                <a:cs typeface="+mj-cs"/>
              </a:rPr>
              <a:t>název tabulky</a:t>
            </a:r>
            <a:r>
              <a:rPr lang="en-US" altLang="cs-CZ" sz="2400" b="1" dirty="0">
                <a:latin typeface="+mj-lt"/>
                <a:ea typeface="+mj-ea"/>
                <a:cs typeface="+mj-cs"/>
              </a:rPr>
              <a:t>&gt;</a:t>
            </a:r>
            <a:r>
              <a:rPr lang="cs-CZ" altLang="cs-CZ" sz="2400" b="1" dirty="0">
                <a:latin typeface="+mj-lt"/>
                <a:ea typeface="+mj-ea"/>
                <a:cs typeface="+mj-cs"/>
              </a:rPr>
              <a:t> </a:t>
            </a:r>
          </a:p>
          <a:p>
            <a:pPr marL="609600" indent="-609600" eaLnBrk="1" hangingPunct="1">
              <a:spcBef>
                <a:spcPct val="0"/>
              </a:spcBef>
              <a:buFontTx/>
              <a:buNone/>
              <a:defRPr/>
            </a:pPr>
            <a:endParaRPr lang="cs-CZ" altLang="cs-CZ" sz="2400" dirty="0">
              <a:solidFill>
                <a:schemeClr val="accent5">
                  <a:lumMod val="7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j-lt"/>
              <a:ea typeface="+mj-ea"/>
              <a:cs typeface="+mj-cs"/>
            </a:endParaRPr>
          </a:p>
          <a:p>
            <a:pPr marL="609600" indent="-609600" eaLnBrk="1" hangingPunct="1">
              <a:buFontTx/>
              <a:buNone/>
            </a:pPr>
            <a:endParaRPr lang="cs-CZ" altLang="cs-CZ" sz="2000" dirty="0"/>
          </a:p>
          <a:p>
            <a:pPr marL="609600" indent="-609600" eaLnBrk="1" hangingPunct="1">
              <a:buFontTx/>
              <a:buNone/>
            </a:pPr>
            <a:r>
              <a:rPr lang="cs-CZ" altLang="cs-CZ" sz="2000" dirty="0"/>
              <a:t>Odstraní z databáze tabulku s daným jménem, </a:t>
            </a:r>
            <a:br>
              <a:rPr lang="cs-CZ" altLang="cs-CZ" sz="2000" dirty="0"/>
            </a:br>
            <a:r>
              <a:rPr lang="cs-CZ" altLang="cs-CZ" sz="2000" dirty="0"/>
              <a:t>tj. všechny řádky tabulky, </a:t>
            </a:r>
            <a:br>
              <a:rPr lang="cs-CZ" altLang="cs-CZ" sz="2000" dirty="0"/>
            </a:br>
            <a:r>
              <a:rPr lang="cs-CZ" altLang="cs-CZ" sz="2000" dirty="0"/>
              <a:t>celou strukturu, </a:t>
            </a:r>
            <a:br>
              <a:rPr lang="cs-CZ" altLang="cs-CZ" sz="2000" dirty="0"/>
            </a:br>
            <a:r>
              <a:rPr lang="cs-CZ" altLang="cs-CZ" sz="2000" dirty="0"/>
              <a:t>všechny nad ní definované indexy a všechna případná omezení definovaná nad sloupci či celou tabulkou.</a:t>
            </a:r>
          </a:p>
          <a:p>
            <a:pPr marL="609600" indent="-609600" eaLnBrk="1" hangingPunct="1">
              <a:buFontTx/>
              <a:buNone/>
            </a:pPr>
            <a:endParaRPr lang="cs-CZ" altLang="cs-CZ" sz="2000" dirty="0"/>
          </a:p>
          <a:p>
            <a:pPr marL="609600" indent="-609600" eaLnBrk="1" hangingPunct="1">
              <a:buFontTx/>
              <a:buNone/>
            </a:pPr>
            <a:r>
              <a:rPr lang="cs-CZ" altLang="cs-CZ" sz="2000" b="1" dirty="0"/>
              <a:t>Pokud jde o rodičovskou tabulku, bude nejprve třeba odstranit omezení referenční integrity.</a:t>
            </a:r>
          </a:p>
        </p:txBody>
      </p:sp>
      <p:pic>
        <p:nvPicPr>
          <p:cNvPr id="95236" name="Picture 4"/>
          <p:cNvPicPr>
            <a:picLocks noChangeAspect="1" noChangeArrowheads="1"/>
          </p:cNvPicPr>
          <p:nvPr/>
        </p:nvPicPr>
        <p:blipFill>
          <a:blip r:embed="rId2">
            <a:clrChange>
              <a:clrFrom>
                <a:srgbClr val="000000"/>
              </a:clrFrom>
              <a:clrTo>
                <a:srgbClr val="000000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51725" y="1412875"/>
            <a:ext cx="971550" cy="166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Rectangle 2"/>
          <p:cNvSpPr txBox="1">
            <a:spLocks noChangeArrowheads="1"/>
          </p:cNvSpPr>
          <p:nvPr/>
        </p:nvSpPr>
        <p:spPr>
          <a:xfrm>
            <a:off x="0" y="0"/>
            <a:ext cx="9144000" cy="81042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 fontAlgn="auto">
              <a:spcAft>
                <a:spcPts val="0"/>
              </a:spcAft>
              <a:defRPr/>
            </a:pPr>
            <a:r>
              <a:rPr lang="cs-CZ" sz="3600" dirty="0" smtClean="0"/>
              <a:t>Drop table</a:t>
            </a:r>
            <a:endParaRPr lang="cs-CZ" sz="3600" dirty="0"/>
          </a:p>
        </p:txBody>
      </p:sp>
    </p:spTree>
    <p:extLst>
      <p:ext uri="{BB962C8B-B14F-4D97-AF65-F5344CB8AC3E}">
        <p14:creationId xmlns:p14="http://schemas.microsoft.com/office/powerpoint/2010/main" val="29390839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283" name="Rectangle 3"/>
          <p:cNvSpPr>
            <a:spLocks noGrp="1" noChangeArrowheads="1"/>
          </p:cNvSpPr>
          <p:nvPr>
            <p:ph idx="1"/>
          </p:nvPr>
        </p:nvSpPr>
        <p:spPr>
          <a:xfrm>
            <a:off x="107504" y="1154680"/>
            <a:ext cx="8678862" cy="4824413"/>
          </a:xfrm>
        </p:spPr>
        <p:txBody>
          <a:bodyPr>
            <a:normAutofit/>
          </a:bodyPr>
          <a:lstStyle/>
          <a:p>
            <a:pPr marL="609600" indent="-609600" eaLnBrk="1" hangingPunct="1">
              <a:lnSpc>
                <a:spcPct val="80000"/>
              </a:lnSpc>
              <a:buFontTx/>
              <a:buNone/>
            </a:pPr>
            <a:r>
              <a:rPr lang="cs-CZ" altLang="cs-CZ" sz="1600" dirty="0"/>
              <a:t>Vytvoří tabulku dle popsané struktury.</a:t>
            </a:r>
          </a:p>
          <a:p>
            <a:pPr marL="609600" indent="-609600" eaLnBrk="1" hangingPunct="1">
              <a:lnSpc>
                <a:spcPct val="80000"/>
              </a:lnSpc>
              <a:buFontTx/>
              <a:buChar char="-"/>
            </a:pPr>
            <a:endParaRPr lang="cs-CZ" altLang="cs-CZ" sz="1600" dirty="0"/>
          </a:p>
          <a:p>
            <a:pPr marL="609600" indent="-609600" eaLnBrk="1" hangingPunct="1">
              <a:lnSpc>
                <a:spcPct val="80000"/>
              </a:lnSpc>
              <a:buFontTx/>
              <a:buNone/>
            </a:pPr>
            <a:r>
              <a:rPr lang="cs-CZ" altLang="cs-CZ" sz="1600" dirty="0" smtClean="0"/>
              <a:t>CREATE </a:t>
            </a:r>
            <a:r>
              <a:rPr lang="cs-CZ" altLang="cs-CZ" sz="1600" dirty="0"/>
              <a:t>TABLE </a:t>
            </a:r>
            <a:r>
              <a:rPr lang="cs-CZ" altLang="cs-CZ" sz="1600" dirty="0" err="1"/>
              <a:t>employees_demo</a:t>
            </a:r>
            <a:endParaRPr lang="cs-CZ" altLang="cs-CZ" sz="1600" dirty="0"/>
          </a:p>
          <a:p>
            <a:pPr marL="609600" lvl="1" indent="-609600" eaLnBrk="1" hangingPunct="1">
              <a:lnSpc>
                <a:spcPct val="80000"/>
              </a:lnSpc>
              <a:buNone/>
            </a:pPr>
            <a:r>
              <a:rPr lang="cs-CZ" altLang="cs-CZ" sz="1600" dirty="0"/>
              <a:t>    </a:t>
            </a:r>
            <a:r>
              <a:rPr lang="cs-CZ" altLang="cs-CZ" sz="1600" dirty="0" smtClean="0"/>
              <a:t>     (</a:t>
            </a:r>
          </a:p>
          <a:p>
            <a:pPr marL="609600" lvl="1" indent="-609600" eaLnBrk="1" hangingPunct="1">
              <a:lnSpc>
                <a:spcPct val="80000"/>
              </a:lnSpc>
              <a:buNone/>
            </a:pPr>
            <a:r>
              <a:rPr lang="cs-CZ" altLang="cs-CZ" sz="1600" dirty="0"/>
              <a:t> </a:t>
            </a:r>
            <a:r>
              <a:rPr lang="cs-CZ" altLang="cs-CZ" sz="1600" dirty="0" smtClean="0"/>
              <a:t>              </a:t>
            </a:r>
            <a:r>
              <a:rPr lang="cs-CZ" altLang="cs-CZ" sz="1600" dirty="0" err="1" smtClean="0"/>
              <a:t>employee_id</a:t>
            </a:r>
            <a:r>
              <a:rPr lang="cs-CZ" altLang="cs-CZ" sz="1600" dirty="0" smtClean="0"/>
              <a:t>  </a:t>
            </a:r>
            <a:r>
              <a:rPr lang="cs-CZ" altLang="cs-CZ" sz="1600" dirty="0"/>
              <a:t>NUMBER(6) </a:t>
            </a:r>
            <a:r>
              <a:rPr lang="cs-CZ" altLang="cs-CZ" sz="1600" dirty="0">
                <a:latin typeface="+mj-lt"/>
                <a:ea typeface="+mj-ea"/>
                <a:cs typeface="+mj-cs"/>
              </a:rPr>
              <a:t>PRIMARY KEY,</a:t>
            </a:r>
          </a:p>
          <a:p>
            <a:pPr marL="990600" lvl="1" indent="-533400" eaLnBrk="1" hangingPunct="1">
              <a:lnSpc>
                <a:spcPct val="80000"/>
              </a:lnSpc>
              <a:buFontTx/>
              <a:buNone/>
            </a:pPr>
            <a:r>
              <a:rPr lang="cs-CZ" altLang="cs-CZ" sz="1600" dirty="0"/>
              <a:t>     </a:t>
            </a:r>
            <a:r>
              <a:rPr lang="cs-CZ" altLang="cs-CZ" sz="1600" dirty="0" err="1"/>
              <a:t>first_name</a:t>
            </a:r>
            <a:r>
              <a:rPr lang="cs-CZ" altLang="cs-CZ" sz="1600" dirty="0"/>
              <a:t>     VARCHAR2(20),</a:t>
            </a:r>
          </a:p>
          <a:p>
            <a:pPr marL="990600" lvl="1" indent="-533400" eaLnBrk="1" hangingPunct="1">
              <a:lnSpc>
                <a:spcPct val="80000"/>
              </a:lnSpc>
              <a:buFontTx/>
              <a:buNone/>
            </a:pPr>
            <a:r>
              <a:rPr lang="cs-CZ" altLang="cs-CZ" sz="1600" dirty="0"/>
              <a:t>     </a:t>
            </a:r>
            <a:r>
              <a:rPr lang="cs-CZ" altLang="cs-CZ" sz="1600" dirty="0" err="1"/>
              <a:t>last_name</a:t>
            </a:r>
            <a:r>
              <a:rPr lang="cs-CZ" altLang="cs-CZ" sz="1600" dirty="0"/>
              <a:t>     VARCHAR2(25)  </a:t>
            </a:r>
            <a:r>
              <a:rPr lang="cs-CZ" altLang="cs-CZ" sz="1600" dirty="0">
                <a:latin typeface="+mj-lt"/>
                <a:ea typeface="+mj-ea"/>
                <a:cs typeface="+mj-cs"/>
              </a:rPr>
              <a:t>CONSTRAINT </a:t>
            </a:r>
            <a:r>
              <a:rPr lang="cs-CZ" altLang="cs-CZ" sz="1600" dirty="0" err="1">
                <a:latin typeface="+mj-lt"/>
                <a:ea typeface="+mj-ea"/>
                <a:cs typeface="+mj-cs"/>
              </a:rPr>
              <a:t>emp_last_name_nn</a:t>
            </a:r>
            <a:r>
              <a:rPr lang="cs-CZ" altLang="cs-CZ" sz="1600" dirty="0">
                <a:latin typeface="+mj-lt"/>
                <a:ea typeface="+mj-ea"/>
                <a:cs typeface="+mj-cs"/>
              </a:rPr>
              <a:t> NOT NULL,</a:t>
            </a:r>
          </a:p>
          <a:p>
            <a:pPr marL="990600" lvl="1" indent="-533400" eaLnBrk="1" hangingPunct="1">
              <a:lnSpc>
                <a:spcPct val="80000"/>
              </a:lnSpc>
              <a:buFontTx/>
              <a:buNone/>
            </a:pPr>
            <a:r>
              <a:rPr lang="cs-CZ" altLang="cs-CZ" sz="1600" dirty="0"/>
              <a:t>     email            VARCHAR2(25)  </a:t>
            </a:r>
            <a:r>
              <a:rPr lang="cs-CZ" altLang="cs-CZ" sz="1600" dirty="0">
                <a:latin typeface="+mj-lt"/>
                <a:ea typeface="+mj-ea"/>
                <a:cs typeface="+mj-cs"/>
              </a:rPr>
              <a:t>CONSTRAINT </a:t>
            </a:r>
            <a:r>
              <a:rPr lang="cs-CZ" altLang="cs-CZ" sz="1600" dirty="0" err="1">
                <a:latin typeface="+mj-lt"/>
                <a:ea typeface="+mj-ea"/>
                <a:cs typeface="+mj-cs"/>
              </a:rPr>
              <a:t>emp_email_nn</a:t>
            </a:r>
            <a:r>
              <a:rPr lang="cs-CZ" altLang="cs-CZ" sz="1600" dirty="0">
                <a:latin typeface="+mj-lt"/>
                <a:ea typeface="+mj-ea"/>
                <a:cs typeface="+mj-cs"/>
              </a:rPr>
              <a:t>  NOT NULL,</a:t>
            </a:r>
          </a:p>
          <a:p>
            <a:pPr marL="990600" lvl="1" indent="-533400" eaLnBrk="1" hangingPunct="1">
              <a:lnSpc>
                <a:spcPct val="80000"/>
              </a:lnSpc>
              <a:buFontTx/>
              <a:buNone/>
            </a:pPr>
            <a:r>
              <a:rPr lang="cs-CZ" altLang="cs-CZ" sz="1600" dirty="0"/>
              <a:t>     </a:t>
            </a:r>
            <a:r>
              <a:rPr lang="cs-CZ" altLang="cs-CZ" sz="1600" dirty="0" err="1"/>
              <a:t>phone</a:t>
            </a:r>
            <a:r>
              <a:rPr lang="cs-CZ" altLang="cs-CZ" sz="1600" dirty="0"/>
              <a:t>   	   VARCHAR2(20),</a:t>
            </a:r>
          </a:p>
          <a:p>
            <a:pPr marL="990600" lvl="1" indent="-533400" eaLnBrk="1" hangingPunct="1">
              <a:lnSpc>
                <a:spcPct val="80000"/>
              </a:lnSpc>
              <a:buFontTx/>
              <a:buNone/>
            </a:pPr>
            <a:r>
              <a:rPr lang="cs-CZ" altLang="cs-CZ" sz="1600" dirty="0"/>
              <a:t>     </a:t>
            </a:r>
            <a:r>
              <a:rPr lang="cs-CZ" altLang="cs-CZ" sz="1600" dirty="0" err="1"/>
              <a:t>hire_date</a:t>
            </a:r>
            <a:r>
              <a:rPr lang="cs-CZ" altLang="cs-CZ" sz="1600" dirty="0"/>
              <a:t>      DATE DEFAULT SYSDATE </a:t>
            </a:r>
            <a:r>
              <a:rPr lang="cs-CZ" altLang="cs-CZ" sz="1600" dirty="0">
                <a:latin typeface="+mj-lt"/>
                <a:ea typeface="+mj-ea"/>
                <a:cs typeface="+mj-cs"/>
              </a:rPr>
              <a:t>CONSTRAINT </a:t>
            </a:r>
            <a:r>
              <a:rPr lang="cs-CZ" altLang="cs-CZ" sz="1600" dirty="0" err="1">
                <a:latin typeface="+mj-lt"/>
                <a:ea typeface="+mj-ea"/>
                <a:cs typeface="+mj-cs"/>
              </a:rPr>
              <a:t>emp_hire_date_nn</a:t>
            </a:r>
            <a:r>
              <a:rPr lang="cs-CZ" altLang="cs-CZ" sz="1600" dirty="0">
                <a:latin typeface="+mj-lt"/>
                <a:ea typeface="+mj-ea"/>
                <a:cs typeface="+mj-cs"/>
              </a:rPr>
              <a:t>  NOT NULL,</a:t>
            </a:r>
          </a:p>
          <a:p>
            <a:pPr marL="990600" lvl="1" indent="-533400" eaLnBrk="1" hangingPunct="1">
              <a:lnSpc>
                <a:spcPct val="80000"/>
              </a:lnSpc>
              <a:buNone/>
            </a:pPr>
            <a:r>
              <a:rPr lang="cs-CZ" altLang="cs-CZ" sz="1600" dirty="0"/>
              <a:t>     </a:t>
            </a:r>
            <a:r>
              <a:rPr lang="cs-CZ" altLang="cs-CZ" sz="1600" dirty="0" err="1"/>
              <a:t>job_id</a:t>
            </a:r>
            <a:r>
              <a:rPr lang="cs-CZ" altLang="cs-CZ" sz="1600" dirty="0"/>
              <a:t>           VARCHAR2(10)  </a:t>
            </a:r>
            <a:r>
              <a:rPr lang="cs-CZ" altLang="cs-CZ" sz="1600" dirty="0">
                <a:latin typeface="+mj-lt"/>
                <a:ea typeface="+mj-ea"/>
                <a:cs typeface="+mj-cs"/>
              </a:rPr>
              <a:t>CONSTRAINT </a:t>
            </a:r>
            <a:r>
              <a:rPr lang="cs-CZ" altLang="cs-CZ" sz="1600" dirty="0" err="1">
                <a:latin typeface="+mj-lt"/>
                <a:ea typeface="+mj-ea"/>
                <a:cs typeface="+mj-cs"/>
              </a:rPr>
              <a:t>emp_job_nn</a:t>
            </a:r>
            <a:r>
              <a:rPr lang="cs-CZ" altLang="cs-CZ" sz="1600" dirty="0">
                <a:latin typeface="+mj-lt"/>
                <a:ea typeface="+mj-ea"/>
                <a:cs typeface="+mj-cs"/>
              </a:rPr>
              <a:t>  NOT NULL,</a:t>
            </a:r>
          </a:p>
          <a:p>
            <a:pPr marL="990600" lvl="1" indent="-533400" eaLnBrk="1" hangingPunct="1">
              <a:lnSpc>
                <a:spcPct val="80000"/>
              </a:lnSpc>
              <a:buNone/>
            </a:pPr>
            <a:r>
              <a:rPr lang="cs-CZ" altLang="cs-CZ" sz="1600" dirty="0"/>
              <a:t>     </a:t>
            </a:r>
            <a:r>
              <a:rPr lang="cs-CZ" altLang="cs-CZ" sz="1600" dirty="0" err="1"/>
              <a:t>salary</a:t>
            </a:r>
            <a:r>
              <a:rPr lang="cs-CZ" altLang="cs-CZ" sz="1600" dirty="0"/>
              <a:t>           NUMBER(8,2)    </a:t>
            </a:r>
            <a:r>
              <a:rPr lang="cs-CZ" altLang="cs-CZ" sz="1600" dirty="0">
                <a:latin typeface="+mj-lt"/>
                <a:ea typeface="+mj-ea"/>
                <a:cs typeface="+mj-cs"/>
              </a:rPr>
              <a:t>CONSTRAINT     </a:t>
            </a:r>
            <a:r>
              <a:rPr lang="cs-CZ" altLang="cs-CZ" sz="1600" dirty="0" err="1">
                <a:latin typeface="+mj-lt"/>
                <a:ea typeface="+mj-ea"/>
                <a:cs typeface="+mj-cs"/>
              </a:rPr>
              <a:t>emp_salary_nn</a:t>
            </a:r>
            <a:r>
              <a:rPr lang="cs-CZ" altLang="cs-CZ" sz="1600" dirty="0">
                <a:latin typeface="+mj-lt"/>
                <a:ea typeface="+mj-ea"/>
                <a:cs typeface="+mj-cs"/>
              </a:rPr>
              <a:t>  NOT NULL,</a:t>
            </a:r>
          </a:p>
          <a:p>
            <a:pPr marL="990600" lvl="1" indent="-533400" eaLnBrk="1" hangingPunct="1">
              <a:lnSpc>
                <a:spcPct val="80000"/>
              </a:lnSpc>
              <a:buFontTx/>
              <a:buNone/>
            </a:pPr>
            <a:r>
              <a:rPr lang="cs-CZ" altLang="cs-CZ" sz="1600" dirty="0"/>
              <a:t>     </a:t>
            </a:r>
            <a:r>
              <a:rPr lang="cs-CZ" altLang="cs-CZ" sz="1600" dirty="0" err="1"/>
              <a:t>commiss_pct</a:t>
            </a:r>
            <a:r>
              <a:rPr lang="cs-CZ" altLang="cs-CZ" sz="1600" dirty="0"/>
              <a:t> NUMBER(2,2),</a:t>
            </a:r>
          </a:p>
          <a:p>
            <a:pPr marL="990600" lvl="1" indent="-533400" eaLnBrk="1" hangingPunct="1">
              <a:lnSpc>
                <a:spcPct val="80000"/>
              </a:lnSpc>
              <a:buFontTx/>
              <a:buNone/>
            </a:pPr>
            <a:r>
              <a:rPr lang="cs-CZ" altLang="cs-CZ" sz="1600" dirty="0"/>
              <a:t>     </a:t>
            </a:r>
            <a:r>
              <a:rPr lang="cs-CZ" altLang="cs-CZ" sz="1600" dirty="0" err="1"/>
              <a:t>manager_id</a:t>
            </a:r>
            <a:r>
              <a:rPr lang="cs-CZ" altLang="cs-CZ" sz="1600" dirty="0"/>
              <a:t>   NUMBER(6),</a:t>
            </a:r>
          </a:p>
          <a:p>
            <a:pPr marL="990600" lvl="1" indent="-533400" eaLnBrk="1" hangingPunct="1">
              <a:lnSpc>
                <a:spcPct val="80000"/>
              </a:lnSpc>
              <a:buFontTx/>
              <a:buNone/>
            </a:pPr>
            <a:r>
              <a:rPr lang="cs-CZ" altLang="cs-CZ" sz="1600" dirty="0"/>
              <a:t>     </a:t>
            </a:r>
            <a:r>
              <a:rPr lang="cs-CZ" altLang="cs-CZ" sz="1600" dirty="0" err="1"/>
              <a:t>dept_id</a:t>
            </a:r>
            <a:r>
              <a:rPr lang="cs-CZ" altLang="cs-CZ" sz="1600" dirty="0"/>
              <a:t>  	   NUMBER(4),</a:t>
            </a:r>
          </a:p>
          <a:p>
            <a:pPr marL="990600" lvl="1" indent="-533400" eaLnBrk="1" hangingPunct="1">
              <a:lnSpc>
                <a:spcPct val="80000"/>
              </a:lnSpc>
              <a:buFontTx/>
              <a:buNone/>
            </a:pPr>
            <a:r>
              <a:rPr lang="cs-CZ" altLang="cs-CZ" sz="1600" dirty="0"/>
              <a:t>     dn             	   VARCHAR2(300),</a:t>
            </a:r>
          </a:p>
          <a:p>
            <a:pPr marL="990600" lvl="1" indent="-533400" eaLnBrk="1" hangingPunct="1">
              <a:lnSpc>
                <a:spcPct val="80000"/>
              </a:lnSpc>
              <a:buNone/>
            </a:pPr>
            <a:r>
              <a:rPr lang="cs-CZ" altLang="cs-CZ" sz="1600" dirty="0"/>
              <a:t>     </a:t>
            </a:r>
            <a:r>
              <a:rPr lang="cs-CZ" altLang="cs-CZ" sz="1600" dirty="0">
                <a:latin typeface="+mj-lt"/>
                <a:ea typeface="+mj-ea"/>
                <a:cs typeface="+mj-cs"/>
              </a:rPr>
              <a:t>CONSTRAINT     </a:t>
            </a:r>
            <a:r>
              <a:rPr lang="cs-CZ" altLang="cs-CZ" sz="1600" dirty="0" err="1">
                <a:latin typeface="+mj-lt"/>
                <a:ea typeface="+mj-ea"/>
                <a:cs typeface="+mj-cs"/>
              </a:rPr>
              <a:t>emp_salary_min</a:t>
            </a:r>
            <a:r>
              <a:rPr lang="cs-CZ" altLang="cs-CZ" sz="1600" dirty="0">
                <a:latin typeface="+mj-lt"/>
                <a:ea typeface="+mj-ea"/>
                <a:cs typeface="+mj-cs"/>
              </a:rPr>
              <a:t>  CHECK (</a:t>
            </a:r>
            <a:r>
              <a:rPr lang="cs-CZ" altLang="cs-CZ" sz="1600" dirty="0" err="1">
                <a:latin typeface="+mj-lt"/>
                <a:ea typeface="+mj-ea"/>
                <a:cs typeface="+mj-cs"/>
              </a:rPr>
              <a:t>salary</a:t>
            </a:r>
            <a:r>
              <a:rPr lang="cs-CZ" altLang="cs-CZ" sz="1600" dirty="0">
                <a:latin typeface="+mj-lt"/>
                <a:ea typeface="+mj-ea"/>
                <a:cs typeface="+mj-cs"/>
              </a:rPr>
              <a:t> &gt; 0) ,</a:t>
            </a:r>
          </a:p>
          <a:p>
            <a:pPr marL="990600" lvl="1" indent="-533400" eaLnBrk="1" hangingPunct="1">
              <a:lnSpc>
                <a:spcPct val="80000"/>
              </a:lnSpc>
              <a:buNone/>
            </a:pPr>
            <a:r>
              <a:rPr lang="cs-CZ" altLang="cs-CZ" sz="1600" dirty="0">
                <a:latin typeface="+mj-lt"/>
                <a:ea typeface="+mj-ea"/>
                <a:cs typeface="+mj-cs"/>
              </a:rPr>
              <a:t>     CONSTRAINT     </a:t>
            </a:r>
            <a:r>
              <a:rPr lang="cs-CZ" altLang="cs-CZ" sz="1600" dirty="0" err="1">
                <a:latin typeface="+mj-lt"/>
                <a:ea typeface="+mj-ea"/>
                <a:cs typeface="+mj-cs"/>
              </a:rPr>
              <a:t>emp_email_uk</a:t>
            </a:r>
            <a:r>
              <a:rPr lang="cs-CZ" altLang="cs-CZ" sz="1600" dirty="0">
                <a:latin typeface="+mj-lt"/>
                <a:ea typeface="+mj-ea"/>
                <a:cs typeface="+mj-cs"/>
              </a:rPr>
              <a:t> UNIQUE (email) </a:t>
            </a:r>
            <a:endParaRPr lang="cs-CZ" altLang="cs-CZ" sz="1600" dirty="0" smtClean="0">
              <a:latin typeface="+mj-lt"/>
              <a:ea typeface="+mj-ea"/>
              <a:cs typeface="+mj-cs"/>
            </a:endParaRPr>
          </a:p>
          <a:p>
            <a:pPr marL="990600" lvl="1" indent="-533400" eaLnBrk="1" hangingPunct="1">
              <a:lnSpc>
                <a:spcPct val="80000"/>
              </a:lnSpc>
              <a:buNone/>
            </a:pPr>
            <a:r>
              <a:rPr lang="cs-CZ" altLang="cs-CZ" sz="1600" dirty="0" smtClean="0">
                <a:latin typeface="+mj-lt"/>
                <a:ea typeface="+mj-ea"/>
                <a:cs typeface="+mj-cs"/>
              </a:rPr>
              <a:t>) </a:t>
            </a:r>
            <a:r>
              <a:rPr lang="cs-CZ" altLang="cs-CZ" sz="1600" dirty="0">
                <a:latin typeface="+mj-lt"/>
                <a:ea typeface="+mj-ea"/>
                <a:cs typeface="+mj-cs"/>
              </a:rPr>
              <a:t>;</a:t>
            </a:r>
          </a:p>
        </p:txBody>
      </p:sp>
      <p:sp>
        <p:nvSpPr>
          <p:cNvPr id="7" name="Rectangle 2"/>
          <p:cNvSpPr txBox="1">
            <a:spLocks noChangeArrowheads="1"/>
          </p:cNvSpPr>
          <p:nvPr/>
        </p:nvSpPr>
        <p:spPr>
          <a:xfrm>
            <a:off x="0" y="0"/>
            <a:ext cx="9144000" cy="81042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 fontAlgn="auto">
              <a:spcAft>
                <a:spcPts val="0"/>
              </a:spcAft>
              <a:defRPr/>
            </a:pPr>
            <a:r>
              <a:rPr lang="cs-CZ" sz="3600" dirty="0" err="1" smtClean="0"/>
              <a:t>Create</a:t>
            </a:r>
            <a:r>
              <a:rPr lang="cs-CZ" sz="3600" dirty="0" smtClean="0"/>
              <a:t> table</a:t>
            </a:r>
            <a:endParaRPr lang="cs-CZ" sz="3600" dirty="0"/>
          </a:p>
        </p:txBody>
      </p:sp>
    </p:spTree>
    <p:extLst>
      <p:ext uri="{BB962C8B-B14F-4D97-AF65-F5344CB8AC3E}">
        <p14:creationId xmlns:p14="http://schemas.microsoft.com/office/powerpoint/2010/main" val="15950455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ovéPole 9"/>
          <p:cNvSpPr txBox="1"/>
          <p:nvPr/>
        </p:nvSpPr>
        <p:spPr>
          <a:xfrm>
            <a:off x="-1" y="40982"/>
            <a:ext cx="91440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cs-CZ" sz="4400" dirty="0">
                <a:latin typeface="+mj-lt"/>
                <a:ea typeface="+mj-ea"/>
                <a:cs typeface="+mj-cs"/>
              </a:rPr>
              <a:t>Otázky</a:t>
            </a:r>
          </a:p>
        </p:txBody>
      </p:sp>
      <p:sp>
        <p:nvSpPr>
          <p:cNvPr id="4" name="TextovéPole 3"/>
          <p:cNvSpPr txBox="1"/>
          <p:nvPr/>
        </p:nvSpPr>
        <p:spPr>
          <a:xfrm>
            <a:off x="575556" y="2852936"/>
            <a:ext cx="7992888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cs-CZ" sz="6600" dirty="0">
                <a:solidFill>
                  <a:prstClr val="black"/>
                </a:solidFill>
                <a:latin typeface="Calibri"/>
              </a:rPr>
              <a:t>Děkuji za pozornost.</a:t>
            </a:r>
          </a:p>
        </p:txBody>
      </p:sp>
    </p:spTree>
    <p:extLst>
      <p:ext uri="{BB962C8B-B14F-4D97-AF65-F5344CB8AC3E}">
        <p14:creationId xmlns:p14="http://schemas.microsoft.com/office/powerpoint/2010/main" val="18310365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Motiv systému Office">
  <a:themeElements>
    <a:clrScheme name="Kancelář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Kancelář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Kancelář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zentace_upa" id="{36F42486-DED1-4623-9866-D08E5A24CECC}" vid="{9F7A8D7E-0186-43BE-8DB9-E7B007581D60}"/>
    </a:ext>
  </a:extLst>
</a:theme>
</file>

<file path=ppt/theme/theme2.xml><?xml version="1.0" encoding="utf-8"?>
<a:theme xmlns:a="http://schemas.openxmlformats.org/drawingml/2006/main" name="Motiv sady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Kancelář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Kancelář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6517</TotalTime>
  <Words>3499</Words>
  <Application>Microsoft Office PowerPoint</Application>
  <PresentationFormat>Předvádění na obrazovce (4:3)</PresentationFormat>
  <Paragraphs>538</Paragraphs>
  <Slides>58</Slides>
  <Notes>25</Notes>
  <HiddenSlides>0</HiddenSlides>
  <MMClips>0</MMClips>
  <ScaleCrop>false</ScaleCrop>
  <HeadingPairs>
    <vt:vector size="8" baseType="variant">
      <vt:variant>
        <vt:lpstr>Použitá písma</vt:lpstr>
      </vt:variant>
      <vt:variant>
        <vt:i4>3</vt:i4>
      </vt:variant>
      <vt:variant>
        <vt:lpstr>Motiv</vt:lpstr>
      </vt:variant>
      <vt:variant>
        <vt:i4>1</vt:i4>
      </vt:variant>
      <vt:variant>
        <vt:lpstr>Vložené servery OLE</vt:lpstr>
      </vt:variant>
      <vt:variant>
        <vt:i4>1</vt:i4>
      </vt:variant>
      <vt:variant>
        <vt:lpstr>Nadpisy snímků</vt:lpstr>
      </vt:variant>
      <vt:variant>
        <vt:i4>58</vt:i4>
      </vt:variant>
    </vt:vector>
  </HeadingPairs>
  <TitlesOfParts>
    <vt:vector size="63" baseType="lpstr">
      <vt:lpstr>Arial</vt:lpstr>
      <vt:lpstr>Calibri</vt:lpstr>
      <vt:lpstr>Tahoma</vt:lpstr>
      <vt:lpstr>Motiv systému Office</vt:lpstr>
      <vt:lpstr>Visio</vt:lpstr>
      <vt:lpstr>Databázové systémy</vt:lpstr>
      <vt:lpstr>Obsah</vt:lpstr>
      <vt:lpstr>Návrhové fáze vývoje databáze</vt:lpstr>
      <vt:lpstr>Logický návrh databáze</vt:lpstr>
      <vt:lpstr>Terminologie logického modelu</vt:lpstr>
      <vt:lpstr>Mapování konceptuálního modelu do logického</vt:lpstr>
      <vt:lpstr>Mapování konceptuálního modelu do logického</vt:lpstr>
      <vt:lpstr>Mapování relací</vt:lpstr>
      <vt:lpstr>Relace – nepovinné relace</vt:lpstr>
      <vt:lpstr>Relace – nepřenositelné relace</vt:lpstr>
      <vt:lpstr>Relace – identifikující relace</vt:lpstr>
      <vt:lpstr>Relace – M:M</vt:lpstr>
      <vt:lpstr>Mapování supertypů a podtypů</vt:lpstr>
      <vt:lpstr>Mapování supertypů a podtypů</vt:lpstr>
      <vt:lpstr>Mapování supertypů a podtypů</vt:lpstr>
      <vt:lpstr>Fyzický návrh databáze</vt:lpstr>
      <vt:lpstr>Integrita dat</vt:lpstr>
      <vt:lpstr>Zajištění integrity dat</vt:lpstr>
      <vt:lpstr>Zajištění integrity dat</vt:lpstr>
      <vt:lpstr>Správa omezení</vt:lpstr>
      <vt:lpstr>Databáze nikoli výpis dat</vt:lpstr>
      <vt:lpstr>Databáze nikoli výpis dat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</vt:vector>
  </TitlesOfParts>
  <Company>Doma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Databázové systémy I</dc:title>
  <dc:creator>PGR</dc:creator>
  <cp:lastModifiedBy>Uživatel</cp:lastModifiedBy>
  <cp:revision>1016</cp:revision>
  <dcterms:created xsi:type="dcterms:W3CDTF">2006-02-18T12:15:41Z</dcterms:created>
  <dcterms:modified xsi:type="dcterms:W3CDTF">2020-06-05T13:18:11Z</dcterms:modified>
</cp:coreProperties>
</file>