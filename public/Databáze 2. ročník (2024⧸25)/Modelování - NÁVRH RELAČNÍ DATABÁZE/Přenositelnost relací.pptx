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DB7013E7-3AF9-4EB4-B8AB-BB4C8CEB305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21C2FB-1272-4F21-A4CA-529B2FEF0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9DC6C96-3C96-4E6F-973C-9EBE872F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9F87096-87F4-46E4-9449-6D06E333A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B2FBDA3-1590-4628-9BEE-1E4BBFB34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2315BEA-B57E-40A5-9851-654CE24B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7441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E59247-441B-463E-8D17-07E048CE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F8F7B1B-6DA5-49BF-9140-3CC22CB7B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668A1D2-560E-4BBF-80B4-351330CC2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3B394CB-9C20-4AE4-AAB2-CBE2B384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91BB08D-0A4D-4929-9DEE-E07BC765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4775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AF349A-746D-4474-BBB2-10E7FD04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B4C66DC8-B67E-4BEC-ACC5-3EB7B9EF0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F86D66D-A092-4510-A267-D4DCE69C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C68DD4B-A12C-485D-8682-5D8CAC4A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43F124C-3801-47BD-BC25-601F021B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942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0455BC-5C9F-4259-9ED2-1FC04EAB1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8A29DA4-8DEC-42F6-A245-F99C1998B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DE2C0D96-7124-46A1-9A32-7084891BD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45854D5-F678-44C7-AE1F-8FBDA2E7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02FFDEE-B993-49DA-ACB4-E2C71D37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80311D6-C39A-49E2-9CE8-58E62918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756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5DD227-1098-4406-9818-CD250043C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2A9F7AC4-A354-4B4C-B19A-FECC1A771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22EE1497-3C10-49B4-A0C4-CA15C58A6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9856E104-04CF-4BA2-B2E6-E6E189ED4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F6335D35-8BED-438A-B568-6DC0F482B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D67FB0B-B7E0-4A79-B2A5-44773270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0F71AC5-1D7C-4B53-9E36-2FE6685B9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8251847-7678-465B-BBF5-87B7E20C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050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010311-42C7-4E59-97BF-F978DD4D0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CD0C499-741B-4DD6-B4CE-9F3C944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05FB4B4-5826-4220-A36B-7F332E238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F65CA5F-FA9C-4A6F-B03A-69A92FE8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437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D6A246F-236C-46FA-9925-9042B494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D4CE30D-F41D-4C97-A70E-63AA3CE1A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EAD3E65-2E1D-4031-B2B2-AF747A7D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3029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513A1B-D43F-495C-813B-1D5E7E54B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5E2C710-B4A1-4A20-843E-C535EF290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43D4301B-9C07-4550-B99F-7E7C2B6CC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ED79E75-7263-4AB4-9AC9-620CE5BAF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97ACFAD-27E7-481A-BF4C-D10D07ED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D749099-1E56-42DA-AFB0-8F12E20FB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179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6073F5-7718-4A9A-B74C-B6BE115D2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DD3AA8B8-F5E4-465A-879D-C19442997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36EE56F8-EA98-4CC0-AFFF-22059958D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1819995-1D53-4E48-817A-887578F9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7E3A8E0-D1A6-47AF-8153-3B6B17558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9CBA7CF-84A1-4CAB-9D22-1266016A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5072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2171C5-3C37-453D-A7C2-508CF3C7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A3CAB63-83C7-4D3D-A00D-7B8C3088F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6B03C16-B02B-4D8A-8850-B8738E6D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6B6CCC-40DA-4312-8813-DA8B5CCC1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E1ABFCC-49CD-4663-B7D1-4293BA6D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9951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E7A37FC-B157-48F7-A061-5D9C5B599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3C35ADF-DC6B-4816-904B-DF6BCA74C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6B038F7-910F-4521-8634-D025AD9A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4F32036-C25B-4978-B543-C258A475B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E4210AE-890C-4075-BFF5-BEEF2B13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759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73B8DEB-B4CF-4F13-95BB-BF2EE53CF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36172FE1-B530-4204-AB8F-C4F47AD4E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0ED6711-2277-4C02-AF11-A70528BF2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E26EC-CFC2-4023-8140-5FFEE8CAE9FE}" type="datetimeFigureOut">
              <a:rPr lang="cs-CZ" smtClean="0"/>
              <a:t>05.11.2017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4B768A9-C566-4B1A-9ED3-AAEC1E140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D05CD8C-EE1B-4C61-A5F8-BBDD2F593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CE66C-E0CE-4F46-9841-A6ED774BC6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865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DF3AD3-D08B-41D8-8CF2-2605A6D6E2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Přenositelnost relací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9B007BF-14C8-4959-A96D-4569E51296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68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A866F0-0975-45FB-AD44-078222D1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FA495E7-BDE0-4EB5-823F-9E205934C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Jedna třída má přiděleného učitele, může být následně přesunuta k jinému učiteli, například v polovině školního roku? Obvykle ano, protože co by se dělo, kdyby originální učitel onemocněl?</a:t>
            </a:r>
          </a:p>
          <a:p>
            <a:r>
              <a:rPr lang="cs-CZ" dirty="0"/>
              <a:t>Jinak je to u sportovních klubu, ty většinou nedovolují přepis členství na jinou osobu.... toto je příklad </a:t>
            </a:r>
            <a:r>
              <a:rPr lang="cs-CZ" b="1" dirty="0"/>
              <a:t>podnikových pravidel</a:t>
            </a:r>
            <a:r>
              <a:rPr lang="cs-CZ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22819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224370-BD09-4345-BED4-D5097562B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známe do teď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C4853EA-1519-4861-831F-BC8156BA7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b="1" dirty="0" err="1"/>
              <a:t>Optionalita</a:t>
            </a:r>
            <a:r>
              <a:rPr lang="cs-CZ" b="1" dirty="0"/>
              <a:t>:</a:t>
            </a:r>
            <a:r>
              <a:rPr lang="cs-CZ" dirty="0"/>
              <a:t> musí každý zaměstnanec být přiřazen do oddělení?</a:t>
            </a:r>
          </a:p>
          <a:p>
            <a:pPr lvl="1"/>
            <a:r>
              <a:rPr lang="cs-CZ" dirty="0"/>
              <a:t>musí každé oddělení být odpovědné za zaměstnance?</a:t>
            </a:r>
          </a:p>
          <a:p>
            <a:pPr lvl="0"/>
            <a:r>
              <a:rPr lang="cs-CZ" b="1" dirty="0"/>
              <a:t>Kardinalita vztahu:</a:t>
            </a:r>
            <a:r>
              <a:rPr lang="cs-CZ" dirty="0"/>
              <a:t> kolik zaměstnanců může být v jednom oddělení?</a:t>
            </a:r>
          </a:p>
          <a:p>
            <a:pPr lvl="1"/>
            <a:r>
              <a:rPr lang="cs-CZ" dirty="0"/>
              <a:t>kolik oddělení může mít přiřazeno jednoho zaměstnance?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09441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9BBF7A-6A21-43D4-8FAD-18E535F7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Transferabilita</a:t>
            </a:r>
            <a:r>
              <a:rPr lang="cs-CZ" dirty="0"/>
              <a:t> – přenositelnost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B735328-F565-4F08-9FE4-D84189B95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Může zaměstnanec být přesunut z jednoho odděleni do jiného?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Stejně tak může být přesouván student mezi jednotlivými lekcemi, jakmile ale jde o předpis úhrady školného, certifikátů apod. již není možné tyto platby měnit na jiného studenta. Nepřesunutelná relace se označuje </a:t>
            </a:r>
            <a:r>
              <a:rPr lang="cs-CZ" b="1" i="1" dirty="0"/>
              <a:t>diamantem</a:t>
            </a:r>
            <a:r>
              <a:rPr lang="cs-CZ" dirty="0"/>
              <a:t> na relací.</a:t>
            </a:r>
          </a:p>
          <a:p>
            <a:endParaRPr lang="cs-CZ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F15DDB-76B3-43CB-BE8C-2F318008D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2456416"/>
            <a:ext cx="4227564" cy="166501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671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4B4F7D-2554-46E8-9551-ABFF7FB1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Transferabilita</a:t>
            </a:r>
            <a:r>
              <a:rPr lang="cs-CZ" dirty="0"/>
              <a:t> – přenositelnost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9952DD4-2540-432E-B732-D3BB6EC65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pPr lvl="0"/>
            <a:r>
              <a:rPr lang="cs-CZ" dirty="0"/>
              <a:t>V případě chyby nebo problému musí být původní předpis stornován a napsán jiný.</a:t>
            </a:r>
          </a:p>
          <a:p>
            <a:pPr lvl="0"/>
            <a:r>
              <a:rPr lang="cs-CZ" dirty="0"/>
              <a:t>Dalším příkladem je např. autor a báseň - autorství nemůže být přepsáno na jinou osobu.</a:t>
            </a:r>
          </a:p>
          <a:p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7E0EAF7-F4E3-4F17-8F05-4C836A3DE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854" y="1825625"/>
            <a:ext cx="4187371" cy="128863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3B69E3EA-380F-4C0C-A309-95B07A86D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853" y="5170488"/>
            <a:ext cx="3832835" cy="16875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395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F46C09-CA0F-4322-8E36-BE9D4FC3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relací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8CCB7AD-2FCF-44B6-91DC-B230C6EAD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může osoba vlastnit hodně DVD nebo pouze jedno?</a:t>
            </a:r>
          </a:p>
          <a:p>
            <a:pPr lvl="0"/>
            <a:r>
              <a:rPr lang="cs-CZ" dirty="0"/>
              <a:t>může být jedno DVD vlastněno více osobami?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9159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642272-E299-480D-A0EB-106F48EF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1:M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A83DD7B-E183-4676-B618-00B54D599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1AEBEF0-A9C0-4EE6-B4DC-D26F378ED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690688"/>
            <a:ext cx="9114183" cy="524144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508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5F07A6-24FB-4138-8C01-9341B2DE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M:M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C705310-907B-4C6D-9780-24EE4AE53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0A4B06D-9ABC-43AF-97C9-5CF81FF12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8216077" cy="485588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9894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79A29E-F7D4-45B5-84E2-6E174F343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1:1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61B2413-9DEA-46C8-82D3-C85FAD58F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6AAC6C2-98B7-48FF-B8E9-82E2FC12A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825625"/>
            <a:ext cx="8939527" cy="48004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227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D29CC1-309F-4C72-B1BF-2F56EA91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Redundantní spoje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2F4D376-F5A6-40EA-A99A-3C1C79ED1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Spoje nadbytečné.</a:t>
            </a:r>
          </a:p>
          <a:p>
            <a:r>
              <a:rPr lang="cs-CZ" dirty="0"/>
              <a:t>Tyto relace mohou být odvozeny z existujících relací v modelu - jsou to zbytečné relace, které </a:t>
            </a:r>
            <a:r>
              <a:rPr lang="cs-CZ" b="1" dirty="0"/>
              <a:t>neukazují žádnou novou relaci</a:t>
            </a:r>
            <a:r>
              <a:rPr lang="cs-CZ" dirty="0"/>
              <a:t>.</a:t>
            </a:r>
          </a:p>
          <a:p>
            <a:endParaRPr lang="cs-CZ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B38A47C-1680-4E0D-A1BC-20EE41F1C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328" y="3128827"/>
            <a:ext cx="2592663" cy="372917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8825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E47FC3-79D7-473B-9C44-0EE87D64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Řešení vazeb M:M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800D9F3-F5ED-4FE6-8C18-EEB93E347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Tyto vztahy zakrývají některé atributy - např. vezměme si školu - kde student studuje jeden nebo více předmětů a naopak předmět je studován jedním či více studenty.</a:t>
            </a:r>
          </a:p>
          <a:p>
            <a:endParaRPr lang="cs-CZ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49D10F1-4729-4BFC-9C64-B067AE439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905" y="3052763"/>
            <a:ext cx="3853208" cy="208831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1260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7C279A-79A1-43C3-8958-70936980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Řešení vazeb M:M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21E44DA-97F2-4151-807C-FD9C4FF31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Jakmile se ale student zapíše na předmět, potom chceme evidovat jeho hodnocení, do které z těchto entit bychom ale hodnocení zařadili?</a:t>
            </a:r>
          </a:p>
          <a:p>
            <a:pPr lvl="1"/>
            <a:r>
              <a:rPr lang="cs-CZ" dirty="0"/>
              <a:t>Pokud do „studenta“, potom nevíme, který předmět máme na mysli a naopak v entitě „předmět“ bychom nevěděli, o jakého studenta se jedná.</a:t>
            </a:r>
          </a:p>
          <a:p>
            <a:r>
              <a:rPr lang="cs-CZ" dirty="0"/>
              <a:t>Řešení? Zavedeme novou entitu.</a:t>
            </a:r>
          </a:p>
          <a:p>
            <a:endParaRPr lang="cs-CZ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401A047-7AA5-4DF1-BCF2-187EB52DB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736569"/>
            <a:ext cx="3969647" cy="312143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428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236CD8-D300-400D-93D6-F8DB0AB3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Řešení vazeb M:M III.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62EBBD2-C7B2-4F01-87F6-7733D3A0A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Tato nově přidaná entita má v sobě atribut „hodnocení“, originální vztah M:M se rozpadne na dva vztahy 1:M. Co by mohlo být UID mezilehlé entity?</a:t>
            </a:r>
          </a:p>
          <a:p>
            <a:pPr lvl="0"/>
            <a:r>
              <a:rPr lang="cs-CZ" dirty="0"/>
              <a:t>UID obvykle přichází z originálních relací, je reprezentován čarou. V tomto případě z originálních entit k mezilehlé entitě je to nazýváno „</a:t>
            </a:r>
            <a:r>
              <a:rPr lang="cs-CZ" i="1" dirty="0" err="1"/>
              <a:t>barred</a:t>
            </a:r>
            <a:r>
              <a:rPr lang="cs-CZ" i="1" dirty="0"/>
              <a:t> </a:t>
            </a:r>
            <a:r>
              <a:rPr lang="cs-CZ" i="1" dirty="0" err="1"/>
              <a:t>relationship</a:t>
            </a:r>
            <a:r>
              <a:rPr lang="cs-CZ" dirty="0"/>
              <a:t>“.</a:t>
            </a:r>
          </a:p>
          <a:p>
            <a:endParaRPr lang="cs-CZ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64E6850-A836-49A8-8A1F-3819C1894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835" y="4192449"/>
            <a:ext cx="3167269" cy="265596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6661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D89EAC-E3FF-4900-A246-5E7B08C0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Řešení vazeb M:M IV. - příklady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753315B-E747-464A-8146-4488113DC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7B1677D-C42C-4582-835E-9851D6A70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01" y="1825624"/>
            <a:ext cx="5695260" cy="506163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>
            <a:extLst>
              <a:ext uri="{FF2B5EF4-FFF2-40B4-BE49-F238E27FC236}">
                <a16:creationId xmlns:a16="http://schemas.microsoft.com/office/drawing/2014/main" id="{FF3DDC89-D84D-4ECD-9A95-6B9D457FF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261" y="1772787"/>
            <a:ext cx="5314949" cy="51673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9931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9C91D0-46B2-49CA-AA0F-4DBD6BEC9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CRUD požadavky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9A8372A-A79A-4EA3-8EEF-CCDDB091E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Z </a:t>
            </a:r>
            <a:r>
              <a:rPr lang="cs-CZ" dirty="0" err="1"/>
              <a:t>bussiness</a:t>
            </a:r>
            <a:r>
              <a:rPr lang="cs-CZ" dirty="0"/>
              <a:t> scénáře je možné vytvořit seznam podnikových pravidel, které jsou identifikovány následně pomocí interview s klientem a je možné vystavět ERD. ERD je nástroj pro konverzaci mezi konzultantem a klientem a je to také předlohou pro DBA, který bude eventuálně vytvářet databázi.</a:t>
            </a:r>
          </a:p>
          <a:p>
            <a:r>
              <a:rPr lang="cs-CZ" dirty="0"/>
              <a:t>Je potřeba mít způsob, jak zkontrolovat, že nedošlo k opomenutí nějaké entity nebo vztahů v rámci datového modelu. Také je důležitá kontrola, že nebyla namodelovaná entita nebo relace navíc. =&gt; k tomuto účelu slouží CRUD analýza.</a:t>
            </a:r>
          </a:p>
          <a:p>
            <a:r>
              <a:rPr lang="cs-CZ" dirty="0"/>
              <a:t>Je to akronym pro </a:t>
            </a:r>
            <a:r>
              <a:rPr lang="cs-CZ" b="1" dirty="0" err="1"/>
              <a:t>c</a:t>
            </a:r>
            <a:r>
              <a:rPr lang="cs-CZ" b="1" i="1" dirty="0" err="1"/>
              <a:t>reate</a:t>
            </a:r>
            <a:r>
              <a:rPr lang="cs-CZ" b="1" i="1" dirty="0"/>
              <a:t>, </a:t>
            </a:r>
            <a:r>
              <a:rPr lang="cs-CZ" b="1" i="1" dirty="0" err="1"/>
              <a:t>retrieve</a:t>
            </a:r>
            <a:r>
              <a:rPr lang="cs-CZ" b="1" i="1" dirty="0"/>
              <a:t>, update, </a:t>
            </a:r>
            <a:r>
              <a:rPr lang="cs-CZ" b="1" i="1" dirty="0" err="1"/>
              <a:t>delete</a:t>
            </a:r>
            <a:r>
              <a:rPr lang="cs-CZ" dirty="0"/>
              <a:t> - to jsou 4 základní funkce nebo operace, které databáze umožňuje.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61061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FEEFC8-618E-4150-8373-12ABD5FA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CRUD požadavky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B0C6FF7-5087-4E2C-8411-608CDA373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b="1" dirty="0" err="1"/>
              <a:t>Create</a:t>
            </a:r>
            <a:r>
              <a:rPr lang="cs-CZ" b="1" dirty="0"/>
              <a:t> funkce</a:t>
            </a:r>
          </a:p>
          <a:p>
            <a:pPr lvl="1"/>
            <a:r>
              <a:rPr lang="cs-CZ" dirty="0"/>
              <a:t>během interview s klientem a během psaní podnikového scénáře se dívejte po slovech jako:</a:t>
            </a:r>
          </a:p>
          <a:p>
            <a:pPr lvl="1"/>
            <a:r>
              <a:rPr lang="cs-CZ" dirty="0"/>
              <a:t>vstup, enter, načtení, import, záznam, vytvořit - tyto slova indikují, že záznam je vytvořen v databázi v tento okamžik</a:t>
            </a:r>
          </a:p>
          <a:p>
            <a:r>
              <a:rPr lang="cs-CZ" b="1" dirty="0" err="1"/>
              <a:t>Retrieve</a:t>
            </a:r>
            <a:r>
              <a:rPr lang="cs-CZ" b="1" dirty="0"/>
              <a:t> funkce</a:t>
            </a:r>
          </a:p>
          <a:p>
            <a:pPr lvl="1"/>
            <a:r>
              <a:rPr lang="cs-CZ" dirty="0"/>
              <a:t>pozor při rozhovoru na slovíčka:</a:t>
            </a:r>
          </a:p>
          <a:p>
            <a:pPr lvl="1"/>
            <a:r>
              <a:rPr lang="cs-CZ" dirty="0"/>
              <a:t>pohled, report, přinášet, tisknout, hledat, číst, vyhledat - tato slova ukazují na potřebu získání informací z databáze</a:t>
            </a:r>
          </a:p>
          <a:p>
            <a:r>
              <a:rPr lang="cs-CZ" b="1" dirty="0"/>
              <a:t>Update funkce</a:t>
            </a:r>
          </a:p>
          <a:p>
            <a:pPr lvl="1"/>
            <a:r>
              <a:rPr lang="cs-CZ" dirty="0"/>
              <a:t>změna, úprava, alter, update - slova značící úpravu informací v databázi</a:t>
            </a:r>
          </a:p>
          <a:p>
            <a:r>
              <a:rPr lang="cs-CZ" b="1" dirty="0" err="1"/>
              <a:t>Delete</a:t>
            </a:r>
            <a:r>
              <a:rPr lang="cs-CZ" b="1" dirty="0"/>
              <a:t> funkce</a:t>
            </a:r>
          </a:p>
          <a:p>
            <a:pPr lvl="1"/>
            <a:r>
              <a:rPr lang="cs-CZ" dirty="0"/>
              <a:t>zahodit, odstranit, koš, </a:t>
            </a:r>
            <a:r>
              <a:rPr lang="cs-CZ" dirty="0" err="1"/>
              <a:t>purge</a:t>
            </a:r>
            <a:r>
              <a:rPr lang="cs-CZ" dirty="0"/>
              <a:t>, </a:t>
            </a:r>
            <a:r>
              <a:rPr lang="cs-CZ" dirty="0" err="1"/>
              <a:t>delete</a:t>
            </a:r>
            <a:r>
              <a:rPr lang="cs-CZ" dirty="0"/>
              <a:t> - slova značící odstranění informací již uložených v databázi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8563219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638</Words>
  <Application>Microsoft Office PowerPoint</Application>
  <PresentationFormat>Širokoúhlá obrazovka</PresentationFormat>
  <Paragraphs>56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Motiv Office</vt:lpstr>
      <vt:lpstr>Přenositelnost relací</vt:lpstr>
      <vt:lpstr>Motivace</vt:lpstr>
      <vt:lpstr>Co známe do teď</vt:lpstr>
      <vt:lpstr>Transferabilita – přenositelnost I.</vt:lpstr>
      <vt:lpstr>Transferabilita – přenositelnost II.</vt:lpstr>
      <vt:lpstr>Typy relací</vt:lpstr>
      <vt:lpstr>1:M</vt:lpstr>
      <vt:lpstr>M:M</vt:lpstr>
      <vt:lpstr>1:1</vt:lpstr>
      <vt:lpstr>Redundantní spoje</vt:lpstr>
      <vt:lpstr>Řešení vazeb M:M I.</vt:lpstr>
      <vt:lpstr>Řešení vazeb M:M II.</vt:lpstr>
      <vt:lpstr>Řešení vazeb M:M III.</vt:lpstr>
      <vt:lpstr>Řešení vazeb M:M IV. - příklady</vt:lpstr>
      <vt:lpstr>CRUD požadavky I.</vt:lpstr>
      <vt:lpstr>CRUD požadavky II.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Přenositelnost relací</dc:title>
  <dc:creator>Veronika Hurtová</dc:creator>
  <cp:lastModifiedBy>Veronika Hurtová</cp:lastModifiedBy>
  <cp:revision>9</cp:revision>
  <dcterms:created xsi:type="dcterms:W3CDTF">2017-11-05T20:22:52Z</dcterms:created>
  <dcterms:modified xsi:type="dcterms:W3CDTF">2017-11-05T21:10:22Z</dcterms:modified>
</cp:coreProperties>
</file>