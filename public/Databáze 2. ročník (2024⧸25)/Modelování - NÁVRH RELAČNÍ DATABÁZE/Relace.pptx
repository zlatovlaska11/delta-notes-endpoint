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7727FF3B-8E45-495E-8D98-D324C4B9C9D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9" d="100"/>
          <a:sy n="39" d="100"/>
        </p:scale>
        <p:origin x="5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8C205D-9CDE-447B-AA30-00B556524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F3A179C-B715-4057-B38C-EB9B61E46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670D5F-E1E5-4CAB-BD47-853A4A974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F8FACA-C38B-4B93-90B1-9490D82B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A23E94-A5F9-4ED2-9883-ADD20993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570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F691F3-FC5C-439B-A7DD-A4C008D6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2ECDCFB-8402-485C-9219-504938082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5A1B42A-0CF8-407D-9B7A-9346F932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E7CA98-9C69-4460-94E8-49C88E36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7EA158-E448-4D90-98ED-F074ED86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230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990605-7EBD-475B-98EB-1556449A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6131C829-554B-4FC9-BE30-4EA8CD2DD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4B1F44-A70B-4D24-8F09-3599ECE8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2D44B9-9520-42B3-8FA1-AB1BF93E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6485517-F2E4-45D4-9C23-953ABC91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364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73220F-2F0B-4688-9381-4F12D204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64144E2-44A7-451C-A6C8-C33438C03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A06C4270-6E28-4692-A419-CA2601A01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AE1CF17-8190-4038-9D29-88D5D5935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62C942C-6DD1-44A3-8B4E-2B8DCF52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4879756-04C1-4A30-BB93-33A9F4EE4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682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64CBBB-9626-4C0E-B306-EE9DDF38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8D483CC6-FBED-420D-B3D2-FD9A17C9C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E39882AD-BF3C-482C-A8BD-09F0CAB02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7D6BB0C8-4573-4FBF-91A6-D1D9D3E859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BA964468-2E1D-4F30-8F7F-D94A5DDE8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5E15F68-5064-4685-9BEC-9D97DEB9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1E93CC3-B0CD-4C25-B737-78C71422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B37013B-779E-4519-9545-A014F320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7157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97DFA0-ADF9-48B0-8B5F-260FAF62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5A823AF-E7C3-4122-999F-25A6F76A0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F248E03-814F-438F-AAD1-649C3036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D42F75A-28BF-4203-A36E-5258F700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133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023B6A7-506F-4092-A4D2-6EE830A6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4FE9CB3-F65E-4880-B7BD-E360398D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8096BEB-22DC-4552-AC59-C8CE94A9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5074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0AEF07-FBA6-4BD0-B25D-3980323A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C5E49A9-0436-46F3-9077-EF13FCA3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E3887E0D-ED56-404B-AED6-6F7FD1628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F26F158-4E5C-4FA2-87ED-BCDD7689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FA14C78-614A-4D76-9000-F63E9A81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3A2F0A3-41AF-407E-8490-835B2472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959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B19879-E314-448C-BDB6-DB40010E3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2C2D7D0-FBAE-4722-91F1-0098CC603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B41E1902-AFA2-481B-A520-13AD309F5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F02D0B6-D254-40FC-A4E9-A50B1F21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B8D3B7-8410-493E-95EC-A53C4C48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759FE0E-4A05-4D5C-AE6E-82DDBE2C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423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67E441-CF07-4AC2-BC21-EF3FDB72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6B61690-ECAD-47F7-B918-70594CB95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00F82A5-50C5-447F-8FFA-50A6F9E1C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A5DB6E-5E4C-4436-B0E8-23276BFD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E4D66C6-E7DE-484E-B6B3-12557FEB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765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33D47AF-1360-4914-A4BC-9E9319C07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3CA2371-145B-4FA7-B849-E27687E5E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08F9F9F-E6A9-4A3B-85E0-60B31292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F2D6A7C-F2B0-4B0A-B5AB-1F6751F5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948462-0083-4ADF-94BF-A1B91E62A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5696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4309B25-1F2A-4247-A18D-B2732E81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87461A58-647D-48FC-A3CB-4E8F5E302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2E1DD72-B4EE-4671-9F06-03A6EA187E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5F326-EAF6-4D0D-9A84-A6B21BF0CF21}" type="datetimeFigureOut">
              <a:rPr lang="cs-CZ" smtClean="0"/>
              <a:t>02.10.2017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B65957F-4C24-4000-B9A2-D6098B0D9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76B756-4E84-475C-B354-3CB2E5613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90127-B5AC-4B4D-9B9F-B5A634C86F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604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9F0DE8-B123-4ED2-9356-F18298836E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Relace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4E8FEC7-7D11-4B8C-8680-6343F17FEE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3348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070BBB-A12D-4339-9A51-3D528CEB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84B6352-A9B6-46FC-A2F4-64E46753F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být schopný identifikovat vztahy mezi entitami, zajišťuje jednodušší porozumění spojení mezi rozdílnými částmi dat</a:t>
            </a:r>
          </a:p>
          <a:p>
            <a:r>
              <a:rPr lang="cs-CZ" dirty="0"/>
              <a:t>relace pomáhají zobrazit, jak rozdílné části systému dopadají na ostatní</a:t>
            </a:r>
          </a:p>
          <a:p>
            <a:r>
              <a:rPr lang="cs-CZ" dirty="0"/>
              <a:t>např. entity student a kurz jsou spolu ve vztahu</a:t>
            </a:r>
          </a:p>
          <a:p>
            <a:r>
              <a:rPr lang="cs-CZ" dirty="0"/>
              <a:t>pro přesné namodelování problému jsou vztahy stejně tak důležité, jako samotné entity.</a:t>
            </a:r>
          </a:p>
          <a:p>
            <a:r>
              <a:rPr lang="cs-CZ" dirty="0"/>
              <a:t>Relace v rodině - způsob, jakým jsou 2 a více lidí nebo věcí vzájemně propojeny. Název vztahu nám říká, jak jsou členové rodiny spojeni.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3843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217ED5-5F7E-4EDC-91B4-784B4996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Relace v datovém modelu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8E46E8D-AE0F-4FF2-99D3-F3ADBE91C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cs-CZ" dirty="0"/>
              <a:t>Reprezentuje něco specifického a důležitého pro podnik,</a:t>
            </a:r>
          </a:p>
          <a:p>
            <a:pPr lvl="0"/>
            <a:r>
              <a:rPr lang="cs-CZ" dirty="0"/>
              <a:t>ukazuje, jak jsou entity na sebe vzájemně napojeny,</a:t>
            </a:r>
          </a:p>
          <a:p>
            <a:pPr lvl="0"/>
            <a:r>
              <a:rPr lang="cs-CZ" dirty="0"/>
              <a:t>existuje pouze mezi entitami (nebo entita se sama sebou),</a:t>
            </a:r>
          </a:p>
          <a:p>
            <a:pPr lvl="0"/>
            <a:r>
              <a:rPr lang="cs-CZ" dirty="0"/>
              <a:t>jsou obousměrné(</a:t>
            </a:r>
            <a:r>
              <a:rPr lang="cs-CZ" dirty="0" err="1"/>
              <a:t>bi-directional</a:t>
            </a:r>
            <a:r>
              <a:rPr lang="cs-CZ" dirty="0"/>
              <a:t>),</a:t>
            </a:r>
          </a:p>
          <a:p>
            <a:pPr lvl="0"/>
            <a:r>
              <a:rPr lang="cs-CZ" dirty="0"/>
              <a:t>jsou pojmenovány na obou koncích,</a:t>
            </a:r>
          </a:p>
          <a:p>
            <a:pPr lvl="0"/>
            <a:r>
              <a:rPr lang="cs-CZ" dirty="0"/>
              <a:t>mají </a:t>
            </a:r>
            <a:r>
              <a:rPr lang="cs-CZ" dirty="0" err="1"/>
              <a:t>optionalitu</a:t>
            </a:r>
            <a:r>
              <a:rPr lang="cs-CZ" dirty="0"/>
              <a:t> – nutnost existence ve vztahu</a:t>
            </a:r>
            <a:r>
              <a:rPr lang="cs-CZ" i="1" dirty="0"/>
              <a:t>,</a:t>
            </a:r>
            <a:endParaRPr lang="cs-CZ" dirty="0"/>
          </a:p>
          <a:p>
            <a:pPr lvl="0"/>
            <a:r>
              <a:rPr lang="cs-CZ" dirty="0"/>
              <a:t>mají kardinalitu</a:t>
            </a:r>
            <a:r>
              <a:rPr lang="cs-CZ" i="1" dirty="0"/>
              <a:t>,</a:t>
            </a:r>
          </a:p>
          <a:p>
            <a:pPr lvl="0"/>
            <a:r>
              <a:rPr lang="cs-CZ" dirty="0"/>
              <a:t>relace mohou byt také povinné nebo volitelné.</a:t>
            </a:r>
          </a:p>
        </p:txBody>
      </p:sp>
    </p:spTree>
    <p:extLst>
      <p:ext uri="{BB962C8B-B14F-4D97-AF65-F5344CB8AC3E}">
        <p14:creationId xmlns:p14="http://schemas.microsoft.com/office/powerpoint/2010/main" val="167671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C49B4E-A9D1-4912-BDCA-FC3FFB7C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Kardinalita relace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5811643-CD7D-4BC6-A42C-2EBD88E70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kardinalita měří kvantitu (množství) něčeho</a:t>
            </a:r>
          </a:p>
          <a:p>
            <a:pPr lvl="0"/>
            <a:r>
              <a:rPr lang="cs-CZ" dirty="0"/>
              <a:t>v relaci nám určuje stupeň, odpovědi na otázku "Kolik?"</a:t>
            </a:r>
            <a:r>
              <a:rPr lang="cs-CZ" dirty="0" err="1"/>
              <a:t>např</a:t>
            </a:r>
            <a:r>
              <a:rPr lang="cs-CZ" dirty="0"/>
              <a:t>. Kolik prací může mít zaměstnanec? Jenom jednu nebo vice? Kolik zaměstnanců může vykonávat danou práci? Jeden nebo více?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5744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8DB9E5-571A-409C-89FA-638C78AB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Identifikujte relace v následujícím scénáři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EFCC48D-FE4D-4037-90A9-AA5B3ABE5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„V naší restauraci: zákazníci chodí a sami si objednávají. Zákazník si může objednat pouze pro sebe nebo pro sebe a ostatní. např. matka může objednat sobě a dětem.  - My bereme v úvahu, že matka je zákazník, který vlastní objednávku a je zodpovědná za platbu. Zákazník může v průběhu času vytvořit tolik objednávek, kolik si přeje.“</a:t>
            </a:r>
          </a:p>
          <a:p>
            <a:r>
              <a:rPr lang="cs-CZ" dirty="0"/>
              <a:t>Zákazník vytváří objednávky, jak vyřešit kardinalitu a </a:t>
            </a:r>
            <a:r>
              <a:rPr lang="cs-CZ" dirty="0" err="1"/>
              <a:t>optionalitu</a:t>
            </a:r>
            <a:r>
              <a:rPr lang="cs-CZ" dirty="0"/>
              <a:t>.</a:t>
            </a:r>
          </a:p>
          <a:p>
            <a:pPr lvl="0"/>
            <a:r>
              <a:rPr lang="cs-CZ" dirty="0"/>
              <a:t>každá objednávka MUSÍ být vytvořena jedním (a pouze jedním) zákazníkem.</a:t>
            </a:r>
          </a:p>
          <a:p>
            <a:pPr lvl="0"/>
            <a:r>
              <a:rPr lang="cs-CZ" dirty="0"/>
              <a:t>každý zákazník MUSÍ vytvořit jednu nebo více objednávek.</a:t>
            </a:r>
          </a:p>
        </p:txBody>
      </p:sp>
    </p:spTree>
    <p:extLst>
      <p:ext uri="{BB962C8B-B14F-4D97-AF65-F5344CB8AC3E}">
        <p14:creationId xmlns:p14="http://schemas.microsoft.com/office/powerpoint/2010/main" val="336883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E96C28-F07B-4F5A-8DF4-ACD798FF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Identifikujte relace v následujícím scénáři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DC76375-B520-4D38-8CE4-424972646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37" y="1820862"/>
            <a:ext cx="10515600" cy="4351338"/>
          </a:xfrm>
        </p:spPr>
        <p:txBody>
          <a:bodyPr/>
          <a:lstStyle/>
          <a:p>
            <a:endParaRPr lang="cs-CZ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4DDDD9-5653-4EB4-AADF-6701020B5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446" y="1344698"/>
            <a:ext cx="4796868" cy="52171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910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717B60-6FF7-4228-9A5F-00B6469E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Konvence ER diagramu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F31D2CD-A61E-4916-9F03-52FD4D793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Účel</a:t>
            </a:r>
            <a:r>
              <a:rPr lang="cs-CZ" dirty="0"/>
              <a:t>: lidé mluví rozdílnými jazyky skrze celý svět, ale některé znaky jsou srozumitelné celosvětově. např.: dopravní značky</a:t>
            </a:r>
          </a:p>
          <a:p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E1C250-2423-4977-BD7A-B09239ABA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964" y="2854904"/>
            <a:ext cx="6891895" cy="375872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789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2E10A3-188A-4309-89B7-FFEDACCA2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Sdílené konvence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A5E6F26-2598-4CF2-AE3D-94018B519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je to efektivní na komunikaci, protože je to </a:t>
            </a:r>
            <a:r>
              <a:rPr lang="cs-CZ" b="1" dirty="0"/>
              <a:t>srozumitelnější více lidem</a:t>
            </a:r>
            <a:r>
              <a:rPr lang="cs-CZ" dirty="0"/>
              <a:t>.</a:t>
            </a:r>
          </a:p>
          <a:p>
            <a:pPr lvl="0"/>
            <a:r>
              <a:rPr lang="cs-CZ" b="1" dirty="0"/>
              <a:t>ER diagramy </a:t>
            </a:r>
            <a:r>
              <a:rPr lang="cs-CZ" dirty="0"/>
              <a:t>jsou stejné – můžete psát nebo říkat věci rozdílné, protože způsob, jakým mluvíte, váš přízvuk, apod. ... nehraje roli  v tom, jak je to zakresleno do ER diagramu. Právě z tohoto důvodu jsou dodržovány konvence.</a:t>
            </a:r>
          </a:p>
        </p:txBody>
      </p:sp>
    </p:spTree>
    <p:extLst>
      <p:ext uri="{BB962C8B-B14F-4D97-AF65-F5344CB8AC3E}">
        <p14:creationId xmlns:p14="http://schemas.microsoft.com/office/powerpoint/2010/main" val="80278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DD7EE5-F955-4E4F-8390-3C888D0D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Zpět k HR oddělení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466151F-04C5-4993-AE80-B09F12225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Vrátíme se zpátky k příkladu HR oddělení:</a:t>
            </a:r>
          </a:p>
          <a:p>
            <a:pPr lvl="1"/>
            <a:r>
              <a:rPr lang="cs-CZ" dirty="0"/>
              <a:t>entity jsou zakreslovány jako obdélníky se zakulacenými rohy</a:t>
            </a:r>
          </a:p>
          <a:p>
            <a:pPr lvl="1"/>
            <a:r>
              <a:rPr lang="cs-CZ" dirty="0"/>
              <a:t>názvy entity jsou v těchto „</a:t>
            </a:r>
            <a:r>
              <a:rPr lang="cs-CZ" i="1" dirty="0" err="1"/>
              <a:t>softboxech</a:t>
            </a:r>
            <a:r>
              <a:rPr lang="cs-CZ" dirty="0"/>
              <a:t>“</a:t>
            </a:r>
          </a:p>
          <a:p>
            <a:pPr lvl="1"/>
            <a:r>
              <a:rPr lang="cs-CZ" dirty="0"/>
              <a:t>název entity je vždy jednotný a psaný velkými písmeny</a:t>
            </a:r>
          </a:p>
          <a:p>
            <a:endParaRPr lang="cs-CZ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1D5D593-7253-46C1-8560-899B06C18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644" y="3489369"/>
            <a:ext cx="1774610" cy="31689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694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C56ACE-4BDE-46B2-A419-BD9B28F7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Zpět k HR oddělení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8F04DE5-CB4A-41B4-8FE2-64DF202ED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atributy jsou v seznamu pod názvem entity</a:t>
            </a:r>
          </a:p>
          <a:p>
            <a:pPr lvl="0"/>
            <a:r>
              <a:rPr lang="cs-CZ" i="1" dirty="0"/>
              <a:t>volitelné</a:t>
            </a:r>
            <a:r>
              <a:rPr lang="cs-CZ" dirty="0"/>
              <a:t> (</a:t>
            </a:r>
            <a:r>
              <a:rPr lang="cs-CZ" dirty="0" err="1"/>
              <a:t>mandatory</a:t>
            </a:r>
            <a:r>
              <a:rPr lang="cs-CZ" dirty="0"/>
              <a:t>) </a:t>
            </a:r>
            <a:r>
              <a:rPr lang="cs-CZ" i="1" dirty="0"/>
              <a:t>atributy</a:t>
            </a:r>
            <a:r>
              <a:rPr lang="cs-CZ" dirty="0"/>
              <a:t> jsou označeny hvězdičkou (</a:t>
            </a:r>
            <a:r>
              <a:rPr lang="cs-CZ" dirty="0" err="1"/>
              <a:t>asterisk</a:t>
            </a:r>
            <a:r>
              <a:rPr lang="cs-CZ" dirty="0"/>
              <a:t>)  </a:t>
            </a:r>
            <a:r>
              <a:rPr lang="cs-CZ" b="1" dirty="0"/>
              <a:t>- * </a:t>
            </a:r>
            <a:endParaRPr lang="cs-CZ" dirty="0"/>
          </a:p>
          <a:p>
            <a:pPr lvl="0"/>
            <a:r>
              <a:rPr lang="cs-CZ" i="1" dirty="0" err="1"/>
              <a:t>optional</a:t>
            </a:r>
            <a:r>
              <a:rPr lang="cs-CZ" dirty="0"/>
              <a:t> </a:t>
            </a:r>
            <a:r>
              <a:rPr lang="cs-CZ" i="1" dirty="0"/>
              <a:t>atributy</a:t>
            </a:r>
            <a:r>
              <a:rPr lang="cs-CZ" dirty="0"/>
              <a:t> jsou označené kroužkem - </a:t>
            </a:r>
            <a:r>
              <a:rPr lang="cs-CZ" b="1" dirty="0"/>
              <a:t>o</a:t>
            </a:r>
            <a:endParaRPr lang="cs-CZ" dirty="0"/>
          </a:p>
          <a:p>
            <a:pPr lvl="0"/>
            <a:r>
              <a:rPr lang="cs-CZ" i="1" dirty="0"/>
              <a:t>unikátní</a:t>
            </a:r>
            <a:r>
              <a:rPr lang="cs-CZ" dirty="0"/>
              <a:t> </a:t>
            </a:r>
            <a:r>
              <a:rPr lang="cs-CZ" i="1" dirty="0"/>
              <a:t>identifikátory</a:t>
            </a:r>
            <a:r>
              <a:rPr lang="cs-CZ" dirty="0"/>
              <a:t> jsou označené </a:t>
            </a:r>
            <a:r>
              <a:rPr lang="cs-CZ" dirty="0" err="1"/>
              <a:t>hash</a:t>
            </a:r>
            <a:r>
              <a:rPr lang="cs-CZ" dirty="0"/>
              <a:t> symbolem  - </a:t>
            </a:r>
            <a:r>
              <a:rPr lang="cs-CZ" b="1" dirty="0"/>
              <a:t>#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77823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60817C-9457-4457-8198-F741B3F7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8190041-034F-48D4-B1FE-6AA029F3E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16B19F9-5B98-4536-BA24-A845DF1B6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541" y="0"/>
            <a:ext cx="5975907" cy="662674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60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774679-9B4E-46E6-8A89-A563CFDD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Kreslení relací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E058118-2B70-4D34-BC3F-7D2E3D76C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relace jsou linky, které spojují entity</a:t>
            </a:r>
          </a:p>
          <a:p>
            <a:pPr lvl="0"/>
            <a:r>
              <a:rPr lang="cs-CZ" dirty="0"/>
              <a:t>tyto linky jsou plnou čarou nebo tečkované</a:t>
            </a:r>
          </a:p>
          <a:p>
            <a:pPr lvl="0"/>
            <a:r>
              <a:rPr lang="cs-CZ" dirty="0"/>
              <a:t>linky končí buď rovnou čarou (single </a:t>
            </a:r>
            <a:r>
              <a:rPr lang="cs-CZ" dirty="0" err="1"/>
              <a:t>toe</a:t>
            </a:r>
            <a:r>
              <a:rPr lang="cs-CZ" dirty="0"/>
              <a:t>) nebo slepičí nohou (</a:t>
            </a:r>
            <a:r>
              <a:rPr lang="cs-CZ" dirty="0" err="1"/>
              <a:t>crows</a:t>
            </a:r>
            <a:r>
              <a:rPr lang="cs-CZ" dirty="0"/>
              <a:t> </a:t>
            </a:r>
            <a:r>
              <a:rPr lang="cs-CZ" dirty="0" err="1"/>
              <a:t>foot</a:t>
            </a:r>
            <a:r>
              <a:rPr lang="cs-CZ" dirty="0"/>
              <a:t>) na konci každé entity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71860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28F70E-E3DA-4989-9EE6-A6B1FC7D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4A5BF61-A3C7-4765-AC59-70C96015E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EBB8843-C8FC-4AC2-8902-5CF3D42B5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290" y="179386"/>
            <a:ext cx="6616871" cy="661687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8372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9BBBFE-0212-41D7-B5B7-3866BF02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Popis ER diagramu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D5F87AD-C7A3-4BFA-A6EA-29C7306E6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Většina společností používá specifickou terminologii (slova, která mají specifický význam pro společnost) a v ní provádí komunikaci.</a:t>
            </a:r>
          </a:p>
          <a:p>
            <a:r>
              <a:rPr lang="cs-CZ" dirty="0"/>
              <a:t>Datové modelování používá terminologii také - je nazývaná </a:t>
            </a:r>
            <a:r>
              <a:rPr lang="cs-CZ" b="1" i="1" dirty="0" err="1"/>
              <a:t>ERDish</a:t>
            </a:r>
            <a:r>
              <a:rPr lang="cs-CZ" dirty="0"/>
              <a:t>  - pro potřeby tohoto kurzu - jsou to slovíčka pro jasnou komunikaci obchodních podmínek (rolí), které jsou zahrnuty v ERD.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7827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A7CEB6-6ABB-4A18-9FE2-3109F31E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ERD jazyk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ABF3A7B-D302-4C70-A597-06AA0543B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 err="1"/>
              <a:t>erdish</a:t>
            </a:r>
            <a:r>
              <a:rPr lang="cs-CZ" dirty="0"/>
              <a:t> je jazyk používaný pro stav relací mezi entitami v ERD</a:t>
            </a:r>
          </a:p>
          <a:p>
            <a:pPr lvl="0"/>
            <a:r>
              <a:rPr lang="cs-CZ" dirty="0"/>
              <a:t>už ho píšete i jím mluvíte, pokud identifikujete relace a specifikujete </a:t>
            </a:r>
            <a:r>
              <a:rPr lang="cs-CZ" dirty="0" err="1"/>
              <a:t>optionalitu</a:t>
            </a:r>
            <a:r>
              <a:rPr lang="cs-CZ" dirty="0"/>
              <a:t> a kardinalitu</a:t>
            </a:r>
          </a:p>
          <a:p>
            <a:pPr lvl="0"/>
            <a:r>
              <a:rPr lang="cs-CZ" dirty="0"/>
              <a:t>my můžeme snadno rozdělit každou „</a:t>
            </a:r>
            <a:r>
              <a:rPr lang="cs-CZ" dirty="0" err="1"/>
              <a:t>erdish</a:t>
            </a:r>
            <a:r>
              <a:rPr lang="cs-CZ" dirty="0"/>
              <a:t>“ větu na komponenty</a:t>
            </a:r>
          </a:p>
          <a:p>
            <a:r>
              <a:rPr lang="cs-CZ" dirty="0"/>
              <a:t>Příklad </a:t>
            </a:r>
            <a:r>
              <a:rPr lang="cs-CZ" dirty="0" err="1"/>
              <a:t>ERDish</a:t>
            </a:r>
            <a:r>
              <a:rPr lang="cs-CZ" dirty="0"/>
              <a:t> věty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36EAF3A-ADD7-4917-9CDD-96C1A7765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119" y="4443949"/>
            <a:ext cx="7186869" cy="241405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583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7597CE-2909-4DE4-8DBA-B0B647C7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Komponenty </a:t>
            </a:r>
            <a:r>
              <a:rPr lang="cs-CZ" dirty="0" err="1"/>
              <a:t>ERDish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EDB8B41-C2E3-4F41-8465-CD8A283CA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každá</a:t>
            </a:r>
          </a:p>
          <a:p>
            <a:pPr lvl="0"/>
            <a:r>
              <a:rPr lang="cs-CZ" dirty="0"/>
              <a:t>entita A</a:t>
            </a:r>
          </a:p>
          <a:p>
            <a:pPr lvl="0"/>
            <a:r>
              <a:rPr lang="cs-CZ" dirty="0" err="1"/>
              <a:t>optionalita</a:t>
            </a:r>
            <a:r>
              <a:rPr lang="cs-CZ" dirty="0"/>
              <a:t> (musí/může)</a:t>
            </a:r>
          </a:p>
          <a:p>
            <a:pPr lvl="0"/>
            <a:r>
              <a:rPr lang="cs-CZ" dirty="0"/>
              <a:t>název relace</a:t>
            </a:r>
          </a:p>
          <a:p>
            <a:pPr lvl="0"/>
            <a:r>
              <a:rPr lang="cs-CZ" dirty="0"/>
              <a:t>kardinalita (jeden a pouze jeden/ jeden nebo více)</a:t>
            </a:r>
          </a:p>
          <a:p>
            <a:pPr lvl="0"/>
            <a:r>
              <a:rPr lang="cs-CZ" dirty="0"/>
              <a:t>entita B</a:t>
            </a:r>
          </a:p>
        </p:txBody>
      </p:sp>
    </p:spTree>
    <p:extLst>
      <p:ext uri="{BB962C8B-B14F-4D97-AF65-F5344CB8AC3E}">
        <p14:creationId xmlns:p14="http://schemas.microsoft.com/office/powerpoint/2010/main" val="4163831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FD9D6D-DB55-4650-A179-E5CBFAF3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92" y="2688195"/>
            <a:ext cx="10515600" cy="1325563"/>
          </a:xfrm>
        </p:spPr>
        <p:txBody>
          <a:bodyPr/>
          <a:lstStyle/>
          <a:p>
            <a:r>
              <a:rPr lang="cs-CZ" b="1" dirty="0" err="1"/>
              <a:t>ERDish</a:t>
            </a:r>
            <a:r>
              <a:rPr lang="cs-CZ" b="1" dirty="0"/>
              <a:t> čteme vždycky z obou stran!</a:t>
            </a: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78090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EA4EFF-993C-40C5-8321-6AA91FB4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Maticové diagramy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D72BA0E-459B-4BF0-B568-F730C03CA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Účel maticových diagramů</a:t>
            </a:r>
            <a:r>
              <a:rPr lang="cs-CZ" dirty="0"/>
              <a:t>: je užitečné vědět více než jeden způsob, jak objevit relace mezi entitami.</a:t>
            </a:r>
          </a:p>
          <a:p>
            <a:r>
              <a:rPr lang="cs-CZ" dirty="0"/>
              <a:t>Použití maticových diagramu, </a:t>
            </a:r>
            <a:br>
              <a:rPr lang="cs-CZ" dirty="0"/>
            </a:br>
            <a:r>
              <a:rPr lang="cs-CZ" dirty="0"/>
              <a:t>zvláště když se potýkáte s </a:t>
            </a:r>
            <a:br>
              <a:rPr lang="cs-CZ" dirty="0"/>
            </a:br>
            <a:r>
              <a:rPr lang="cs-CZ" dirty="0"/>
              <a:t>mnoha entitami, je dobrým </a:t>
            </a:r>
            <a:br>
              <a:rPr lang="cs-CZ" dirty="0"/>
            </a:br>
            <a:r>
              <a:rPr lang="cs-CZ" dirty="0"/>
              <a:t>způsobem, jak se ujistit, že jste </a:t>
            </a:r>
            <a:br>
              <a:rPr lang="cs-CZ" dirty="0"/>
            </a:br>
            <a:r>
              <a:rPr lang="cs-CZ" dirty="0"/>
              <a:t>nezapomněli na žádný vztah.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9ABD161-703D-46E8-B78C-C6D15CA46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146" y="2469711"/>
            <a:ext cx="4740232" cy="438828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1903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92E1F5-48E3-43B6-B270-09F4DF2B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Pracovní scénář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A9EB397-E9C7-4C8D-BEEB-74136C67A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Pracuji pro cestovní agenturu-udržuji si záznamy o zemích, které naši zákazníci navštívili a památky, které viděli v každé zemi. To mi pomáhá upravovat cesty pro jednotlivé zákazníky =&gt; můžeme použít maticový diagram pro objevení relací.</a:t>
            </a:r>
          </a:p>
        </p:txBody>
      </p:sp>
    </p:spTree>
    <p:extLst>
      <p:ext uri="{BB962C8B-B14F-4D97-AF65-F5344CB8AC3E}">
        <p14:creationId xmlns:p14="http://schemas.microsoft.com/office/powerpoint/2010/main" val="2499573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D82D11-4DBF-4545-982D-20800690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4C220BF-4490-490A-B364-3030FBBAD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6B23152-CB9F-40E2-81B3-0A228E3CE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823" y="365125"/>
            <a:ext cx="5778199" cy="640150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5154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2B805D3-4DD7-45CF-A613-21936D953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255" y="357552"/>
            <a:ext cx="10515600" cy="4351338"/>
          </a:xfrm>
        </p:spPr>
        <p:txBody>
          <a:bodyPr/>
          <a:lstStyle/>
          <a:p>
            <a:r>
              <a:rPr lang="cs-CZ" dirty="0"/>
              <a:t>Abychom předešli zmatení, budeme matici číst vždycky jedním a zapisovat také jedním směrem.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4E800865-7285-4F8D-BF10-BA017152D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507" y="1460500"/>
            <a:ext cx="8247096" cy="5397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1025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AB1599D-E94A-4B55-BECF-D7E4CFEE2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57" y="367528"/>
            <a:ext cx="10515600" cy="4351338"/>
          </a:xfrm>
        </p:spPr>
        <p:txBody>
          <a:bodyPr/>
          <a:lstStyle/>
          <a:p>
            <a:r>
              <a:rPr lang="cs-CZ" dirty="0"/>
              <a:t>Relace objevené pomocí matice jsou nyní zakresleny v ERD, matice nám však neukazuje </a:t>
            </a:r>
            <a:r>
              <a:rPr lang="cs-CZ" dirty="0" err="1"/>
              <a:t>optionalitu</a:t>
            </a:r>
            <a:r>
              <a:rPr lang="cs-CZ" dirty="0"/>
              <a:t> ani kardinalitu.</a:t>
            </a:r>
          </a:p>
          <a:p>
            <a:endParaRPr lang="cs-CZ" dirty="0"/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3CBBE789-A401-4BF0-815A-D699BE6A0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232" y="1442051"/>
            <a:ext cx="8447442" cy="49834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188399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730</Words>
  <Application>Microsoft Office PowerPoint</Application>
  <PresentationFormat>Širokoúhlá obrazovka</PresentationFormat>
  <Paragraphs>67</Paragraphs>
  <Slides>22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Motiv Office</vt:lpstr>
      <vt:lpstr>Relace</vt:lpstr>
      <vt:lpstr>Motivace</vt:lpstr>
      <vt:lpstr>Relace v datovém modelu</vt:lpstr>
      <vt:lpstr>Kardinalita relace</vt:lpstr>
      <vt:lpstr>Identifikujte relace v následujícím scénáři I.</vt:lpstr>
      <vt:lpstr>Identifikujte relace v následujícím scénáři II.</vt:lpstr>
      <vt:lpstr>Konvence ER diagramu</vt:lpstr>
      <vt:lpstr>Sdílené konvence</vt:lpstr>
      <vt:lpstr>Zpět k HR oddělení I.</vt:lpstr>
      <vt:lpstr>Zpět k HR oddělení II.</vt:lpstr>
      <vt:lpstr>Prezentace aplikace PowerPoint</vt:lpstr>
      <vt:lpstr>Kreslení relací</vt:lpstr>
      <vt:lpstr>Prezentace aplikace PowerPoint</vt:lpstr>
      <vt:lpstr>Popis ER diagramu</vt:lpstr>
      <vt:lpstr>ERD jazyk</vt:lpstr>
      <vt:lpstr>Komponenty ERDish</vt:lpstr>
      <vt:lpstr>ERDish čteme vždycky z obou stran! </vt:lpstr>
      <vt:lpstr>Maticové diagramy</vt:lpstr>
      <vt:lpstr>Pracovní scénář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Relace</dc:title>
  <dc:creator>Veronika Hurtová</dc:creator>
  <cp:lastModifiedBy>Veronika Hurtová</cp:lastModifiedBy>
  <cp:revision>7</cp:revision>
  <dcterms:created xsi:type="dcterms:W3CDTF">2017-10-02T17:43:33Z</dcterms:created>
  <dcterms:modified xsi:type="dcterms:W3CDTF">2017-10-03T07:19:24Z</dcterms:modified>
</cp:coreProperties>
</file>