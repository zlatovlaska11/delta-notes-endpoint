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915170-FFF5-4DDE-96B9-9878BBFAE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D49E6B1-160C-4EBE-808B-E0BC28B5D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1300DD1-1497-46C5-A239-FD2D977C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92367684-5A69-4B7F-9948-7B917295A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398463D-ABD9-4B28-88B9-E99CE873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29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6DF8B8-55FE-4FEF-A64E-EC7C83DB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7E5623DF-1212-46C2-B8F7-AEB6B2E0E5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790DF54-B4D9-4D8D-B5E2-170ED3BA7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7FE3805-37DB-4E43-A5EE-A0431CA43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8CF497C-0401-41F8-ACED-C172AB037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3588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835DE7-A36B-4BEE-96F5-5E9F472B2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CE0C011C-40E9-4178-83FC-391BDA763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28E372D-CF6F-4760-B348-F3AD44E8E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76E152E-795D-412E-B446-BB79CB35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BFC5478-CFDB-4CBB-84B7-79A1A07C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313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E3628B1-C38B-4F16-9144-ACBC4871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BF47E41-AE0F-4D0B-9405-97D006BEF8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468EDDD5-C145-4682-AF8E-05A0C93244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FA02FAB-4419-4990-BDCF-2BC966656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19066C91-19E8-4F35-862A-A792D01B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E5A8FB-9418-4B18-8E16-8706AC9D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8040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B13DCA-57AA-4DB7-9C17-6158A7F7C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C7ADF07B-FBAA-49D7-8363-57D7FE76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A72E36CB-3DEA-4D3D-A184-0CE229AB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E7E08D6D-B58C-44CA-88AF-CF515ADCC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EA81E311-53DA-4B1D-96FF-AE03C64B8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E972CF9-0096-47DA-A44A-000636F7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65B9E9B-1EEE-429D-A36C-6B325470B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9B979AD2-F57D-4CB9-8BE9-3FAF8BDCC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890334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E5AFBC-0434-4519-8C0B-8DEF02028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54460E41-651D-42D5-89F7-2C85773EC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886F61C-173F-414C-B006-EF99FBA63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158CFBC-E2CE-45AE-B8EC-748BCDFB3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78845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FEEEEA93-C984-42D6-AAB0-84C8F1AE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C4691C5-EAE6-44A0-8189-878123D9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96737D0-CB31-427A-A50F-EFA669BF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596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E21FC2-56F2-48EE-8D3E-65452541B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3076AF11-715F-4145-9BD3-0CC37628C9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EB4001E8-9DC5-4184-9B31-CF285F251B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83BC7B57-A1DF-4E97-B02B-E4C9BB782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3D619E9-5DBF-4B2B-B4F7-5F368C25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6B05189-BF01-4A14-8E94-27BBE559D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3581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87EE426-E92F-4C50-A4DF-9352BD922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C6AA932-1F95-472A-9537-93AE18C59D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C83CC30C-F5EF-4DB4-B11F-168718B713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A4131C85-FF60-473B-B06E-95005042B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4436FBA-B519-425B-89D3-43AF05D8D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59C7AD4-CABD-485B-BC2C-31C8DBF3A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8246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6EA0E0-2491-47F1-89EF-D8AF8B21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4D97068B-9A0C-4A8A-BEF0-C4AC8AAF39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8ECF3B0-38BC-4319-8F05-CBB3C14C8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483DE28-FC54-4A12-A07C-9BBFD016A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B41751E-5966-4AAC-810C-31DB6F8A3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6226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B11C3FD-F1A7-4AF2-AAD5-B4808E7E68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53F7C2E-C01F-4835-ADF1-2EB0C361EA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765361-655D-446E-958D-748E5861F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2241BC-1662-4F0E-92FA-E1B32D23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A216D79-977E-4D0E-8EF4-61063105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5927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270B84A-737D-427B-A2B7-48D64271A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36195ABC-EE25-4A77-B7B0-39581FEB52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6866E91-5DDC-4BC6-9C4B-45A32E65D5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7BAE47-52FE-47A1-AE14-380AD4799517}" type="datetimeFigureOut">
              <a:rPr lang="cs-CZ" smtClean="0"/>
              <a:t>02.11.2018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2607EF-08CC-4F77-9C3D-B6A5A8FDB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F1F434F9-DAB3-481B-84CA-ECB3A72DE5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0BBC4-7576-47EA-BF1E-09D5501074D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4519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560907C-D941-45FC-B58E-2AC2839DAE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Oblouky, hierarchické vazby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07FC8036-4F76-44E5-9DD8-CF915D864F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52943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888ADA-6FD4-4299-9FD3-8BB31B030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5E59623-4DCA-49A8-9841-8DEE6169B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Oblouky v datovém modelování pomáhá návrhářům ujasnit exklusivní OR skrze relaci - čím více dokážete specifikovat klientovy požadavky, tím lepší bude vaše finální implementace.</a:t>
            </a:r>
          </a:p>
        </p:txBody>
      </p:sp>
    </p:spTree>
    <p:extLst>
      <p:ext uri="{BB962C8B-B14F-4D97-AF65-F5344CB8AC3E}">
        <p14:creationId xmlns:p14="http://schemas.microsoft.com/office/powerpoint/2010/main" val="1208816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43CB65C-B284-484A-B2E9-F4D7F5A5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Hodnoty je třeba omezovat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CB03997-0123-42F0-AEFB-8B72DC841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Každý podnik má definována omezení na hodnoty atributu a na to, které relace jsou dovoleny.</a:t>
            </a:r>
          </a:p>
          <a:p>
            <a:r>
              <a:rPr lang="cs-CZ" dirty="0"/>
              <a:t>Tato omezení se nazývají </a:t>
            </a:r>
            <a:r>
              <a:rPr lang="cs-CZ" b="1" dirty="0" err="1"/>
              <a:t>constraints</a:t>
            </a:r>
            <a:r>
              <a:rPr lang="cs-CZ" dirty="0"/>
              <a:t>.</a:t>
            </a:r>
          </a:p>
          <a:p>
            <a:r>
              <a:rPr lang="cs-CZ" dirty="0"/>
              <a:t>Mohou být zaměřeny na jednotlivé atributy entit nebo na relace mezi entitami. My už taková omezení známe, např. že každý zaměstnanec musí pracovat v jednom a pouze v jednom oddělení.</a:t>
            </a:r>
          </a:p>
        </p:txBody>
      </p:sp>
    </p:spTree>
    <p:extLst>
      <p:ext uri="{BB962C8B-B14F-4D97-AF65-F5344CB8AC3E}">
        <p14:creationId xmlns:p14="http://schemas.microsoft.com/office/powerpoint/2010/main" val="67014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2144A4-9778-40D3-9FF0-AEA44E14B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Exklusivita vztahu OR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003AC46B-C84E-4D1C-9E40-84D3EE0E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to relace mezi jednou entitou a dvěma nebo více entitami, ze kterých může existovat pouze jedna v daný okamžik.</a:t>
            </a:r>
          </a:p>
          <a:p>
            <a:r>
              <a:rPr lang="cs-CZ" dirty="0"/>
              <a:t>V rámci ERD modelujeme tento typ relace pomocí obloukové vazby.</a:t>
            </a:r>
          </a:p>
          <a:p>
            <a:r>
              <a:rPr lang="cs-CZ" dirty="0"/>
              <a:t>Např. tréninková akce může být uspořádána v centru trenéra nebo u externí tréninkové společnosti</a:t>
            </a:r>
          </a:p>
          <a:p>
            <a:endParaRPr lang="cs-CZ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1EE9F6D-3745-4794-8605-848F168BA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6537" y="3708400"/>
            <a:ext cx="3825115" cy="31289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54962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BF2B6BA-A7B9-47B3-98BB-E85E3FCEE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Exklusivita vztahu OR – další příklad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F11E782-B486-401C-82DB-C0851FD63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r>
              <a:rPr lang="cs-CZ" dirty="0"/>
              <a:t>Billboard je místo pro reklamu a může poskytovat prostor pro reklamu filmu, produktů nebo veřejného oznámení. Ovšem na daném billboardu v daný čas může být pouze jedno z toho. Každá z těch možností má dále své vlastní charakteristické atributy a právě oblouk řekne čtenáři, že na billboardů může být v jeden okamžik pouze jedna z možností.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2AC7A1E-FCEC-4AAC-902B-D1624BCE4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9024" y="3692020"/>
            <a:ext cx="3440801" cy="310448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365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A58141-884B-4360-9CEB-BED0D182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Exklusivita vztahu OR – další příklad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CEE0672-383C-4C1E-A0CE-1066A1594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A4CD1AC1-7155-4816-A981-FE7977CCA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920" y="1825625"/>
            <a:ext cx="5918958" cy="268545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85809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A5670C-4213-41FF-82C1-56F7DD3E1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Reprezentace v ERD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F1A2EFD-D9B6-4A53-ADB8-AA22EBB1F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Oblouk je zakreslován v ERD pomocí plné čáry se zakulacenými rohy.</a:t>
            </a:r>
          </a:p>
          <a:p>
            <a:r>
              <a:rPr lang="cs-CZ" dirty="0"/>
              <a:t>Kruh zakreslený na této čáře je na každé relaci, která je součásti tohoto oblouku.</a:t>
            </a:r>
          </a:p>
          <a:p>
            <a:endParaRPr lang="cs-CZ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A2C6882C-4FB0-4F50-925E-06A9976B67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6676" y="3040856"/>
            <a:ext cx="3255271" cy="341916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02745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1EDB86-0600-40C1-AD11-8AE0D59C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 pro oblouky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C6EC575-15D5-4B97-8F02-9D85DA139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oblouk náleží vždy jedné entitě</a:t>
            </a:r>
          </a:p>
          <a:p>
            <a:r>
              <a:rPr lang="cs-CZ" dirty="0"/>
              <a:t>může zahrnovat více než 2 relace</a:t>
            </a:r>
          </a:p>
          <a:p>
            <a:r>
              <a:rPr lang="cs-CZ" dirty="0"/>
              <a:t>ne všechny relace entity potřebují být zahrnuty v oblouku</a:t>
            </a:r>
          </a:p>
          <a:p>
            <a:r>
              <a:rPr lang="cs-CZ" dirty="0"/>
              <a:t>entita může mít několik oblouků</a:t>
            </a:r>
          </a:p>
          <a:p>
            <a:r>
              <a:rPr lang="cs-CZ" dirty="0"/>
              <a:t>oblouk by se měl vždy skládat z relací se stejnou </a:t>
            </a:r>
            <a:r>
              <a:rPr lang="cs-CZ" dirty="0" err="1"/>
              <a:t>optionalitou</a:t>
            </a:r>
            <a:endParaRPr lang="cs-CZ" dirty="0"/>
          </a:p>
          <a:p>
            <a:r>
              <a:rPr lang="cs-CZ" dirty="0"/>
              <a:t>relace mohou mít rozdílnou kardinalitu, i když je to spíše vzácné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8084944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B84CC8-D23E-4F01-964A-C690F8B15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Není to vlastně shodné se super/sub typy?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69652195-CB1C-44D0-9A2F-3353D08A3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4895"/>
            <a:ext cx="10515600" cy="4351338"/>
          </a:xfrm>
        </p:spPr>
        <p:txBody>
          <a:bodyPr/>
          <a:lstStyle/>
          <a:p>
            <a:r>
              <a:rPr lang="cs-CZ" dirty="0"/>
              <a:t>Oboje je způsobem pro zajištění vzájemné výlučnosti, někdy je vhodnější jeden způsob a jindy druhý.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755443F-7AA2-4716-957B-19E8AAF39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849" y="3310731"/>
            <a:ext cx="4906993" cy="20563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00953075-F697-432D-B8C2-080B588AA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3255" y="2613853"/>
            <a:ext cx="2445302" cy="366530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28291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0F9774-96B4-48B8-B5DC-2FA4FB966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Hierarchické vazby 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129C88D-F788-492F-888E-CA8DB1B92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Často jsou role v rámci společnosti dány určitou hierarchií, např. v práci (manažer, zástupce, ...) nebo ve škole (ředitel, zástupce, učitel, student, ...).</a:t>
            </a:r>
          </a:p>
          <a:p>
            <a:r>
              <a:rPr lang="cs-CZ" dirty="0"/>
              <a:t>Hierarchická data jsou velmi častá a jejich porozumění vám pomůže modelovat: organizační struktury, rodinné stromy, strukturu budov, ...</a:t>
            </a:r>
          </a:p>
          <a:p>
            <a:r>
              <a:rPr lang="cs-CZ" dirty="0"/>
              <a:t>Hierarchie v organizaci může být reprezentována např. organizačním schématem.</a:t>
            </a:r>
          </a:p>
          <a:p>
            <a:endParaRPr lang="cs-CZ" dirty="0"/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E8FB07A4-6E03-46E7-8311-0015B2F05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832" y="4586288"/>
            <a:ext cx="3759535" cy="209280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3214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0D252B-5603-44CB-8CD0-33DAA0A51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Hierarchické vazby 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8B26A97-3510-401D-8ECD-ACAA4EA42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Tato zadaná organizace může být reprezentována </a:t>
            </a:r>
            <a:br>
              <a:rPr lang="cs-CZ" dirty="0"/>
            </a:br>
            <a:r>
              <a:rPr lang="cs-CZ" dirty="0"/>
              <a:t>následujícím datovým modelem. Můžeme vytvořit </a:t>
            </a:r>
            <a:br>
              <a:rPr lang="cs-CZ" dirty="0"/>
            </a:br>
            <a:r>
              <a:rPr lang="cs-CZ" dirty="0"/>
              <a:t>entitu pro každou úroveň s relací na další úroveň - co </a:t>
            </a:r>
            <a:br>
              <a:rPr lang="cs-CZ" dirty="0"/>
            </a:br>
            <a:r>
              <a:rPr lang="cs-CZ" dirty="0"/>
              <a:t>bude UID každé entity?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7C7BE264-D4E4-4EC0-A8FB-2C168538E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3031" y="500259"/>
            <a:ext cx="2460142" cy="5857481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963364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31F9F8-1032-40B6-BC2B-A5463E153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Hierarchické vazby III.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B6E0D90-E7F2-4D2D-88D1-0EFFB0897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U struktury budovy jsou použity </a:t>
            </a:r>
            <a:r>
              <a:rPr lang="cs-CZ" dirty="0" err="1"/>
              <a:t>barred</a:t>
            </a:r>
            <a:r>
              <a:rPr lang="cs-CZ" dirty="0"/>
              <a:t> relace, </a:t>
            </a:r>
            <a:br>
              <a:rPr lang="cs-CZ" dirty="0"/>
            </a:br>
            <a:r>
              <a:rPr lang="cs-CZ" dirty="0"/>
              <a:t>protože třeba místnost musí být určena pomocí </a:t>
            </a:r>
            <a:br>
              <a:rPr lang="cs-CZ" dirty="0"/>
            </a:br>
            <a:r>
              <a:rPr lang="cs-CZ" dirty="0"/>
              <a:t>budovy, podlaží, atd...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15CF0C21-AF36-4F73-B5FF-6212D7A4B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0993" y="1505158"/>
            <a:ext cx="2021232" cy="514234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77271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5C7C82-7234-4452-8EC8-9F32068A9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Hierarchická a rekurzivní relace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8967F14-8629-43BB-83B4-FDE74EEFA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oba následující modely reprezentují </a:t>
            </a:r>
            <a:br>
              <a:rPr lang="cs-CZ" dirty="0"/>
            </a:br>
            <a:r>
              <a:rPr lang="cs-CZ" dirty="0"/>
              <a:t>všechny zaměstnance: </a:t>
            </a:r>
          </a:p>
          <a:p>
            <a:r>
              <a:rPr lang="cs-CZ" dirty="0"/>
              <a:t>Model nalevo je hierarchická </a:t>
            </a:r>
            <a:br>
              <a:rPr lang="cs-CZ" dirty="0"/>
            </a:br>
            <a:r>
              <a:rPr lang="cs-CZ" dirty="0"/>
              <a:t>struktura a napravo se </a:t>
            </a:r>
            <a:br>
              <a:rPr lang="cs-CZ" dirty="0"/>
            </a:br>
            <a:r>
              <a:rPr lang="cs-CZ" dirty="0"/>
              <a:t>jedna o rekurzivní relaci.</a:t>
            </a:r>
          </a:p>
          <a:p>
            <a:r>
              <a:rPr lang="cs-CZ" dirty="0"/>
              <a:t>Relace nemůže být současně </a:t>
            </a:r>
            <a:br>
              <a:rPr lang="cs-CZ" dirty="0"/>
            </a:br>
            <a:r>
              <a:rPr lang="cs-CZ" dirty="0"/>
              <a:t>hierarchická a rekurzivní - která z </a:t>
            </a:r>
            <a:br>
              <a:rPr lang="cs-CZ" dirty="0"/>
            </a:br>
            <a:r>
              <a:rPr lang="cs-CZ" dirty="0"/>
              <a:t>možností si myslíte, že je lepší?</a:t>
            </a:r>
          </a:p>
          <a:p>
            <a:endParaRPr lang="cs-CZ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5E20774C-9BCC-4497-AFC0-A89ACB73B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9827" y="1485806"/>
            <a:ext cx="4465982" cy="469115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21058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5B57232-C3B9-4245-A2A6-58594CFC79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Porovnání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FEC2861E-45BF-4985-9E58-D7F44386C8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Hierarchická relace  </a:t>
            </a:r>
          </a:p>
          <a:p>
            <a:pPr lvl="1"/>
            <a:r>
              <a:rPr lang="cs-CZ" dirty="0"/>
              <a:t>je vice vypovídající a je jednodušší na pochopeni, protože je velmi podobná organizační struktuře</a:t>
            </a:r>
          </a:p>
          <a:p>
            <a:pPr lvl="1"/>
            <a:r>
              <a:rPr lang="cs-CZ" dirty="0"/>
              <a:t>každá entita má své vlastní atributy a relace  </a:t>
            </a:r>
          </a:p>
          <a:p>
            <a:pPr lvl="1"/>
            <a:r>
              <a:rPr lang="cs-CZ" dirty="0"/>
              <a:t>v tomto případě odráží datový model plně podniková pravidla</a:t>
            </a:r>
          </a:p>
          <a:p>
            <a:r>
              <a:rPr lang="cs-CZ" dirty="0"/>
              <a:t>Rekurzivní relace </a:t>
            </a:r>
          </a:p>
          <a:p>
            <a:pPr lvl="1"/>
            <a:r>
              <a:rPr lang="cs-CZ" dirty="0"/>
              <a:t>má tendenci problém zjednodušovat, protože používá pouze jednu entitu</a:t>
            </a:r>
          </a:p>
          <a:p>
            <a:pPr lvl="1"/>
            <a:r>
              <a:rPr lang="cs-CZ" dirty="0"/>
              <a:t>diagram tak není moc zatížen </a:t>
            </a:r>
          </a:p>
          <a:p>
            <a:pPr lvl="1"/>
            <a:r>
              <a:rPr lang="cs-CZ" dirty="0"/>
              <a:t>nicméně je to méně specifické - nemůžeme mít mandatorní atributy v každé instanci entity, jako je tomu u hierarchické relace</a:t>
            </a:r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97316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3F0701-834D-4F58-8E80-3945AF15C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Zakreslení do ERD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292CF5AB-5673-4FCE-9BE9-03FC5D0A2E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Je kreslena pomoci smyčky, jinak se tomu </a:t>
            </a:r>
            <a:r>
              <a:rPr lang="cs-CZ" dirty="0" err="1"/>
              <a:t>take</a:t>
            </a:r>
            <a:r>
              <a:rPr lang="cs-CZ" dirty="0"/>
              <a:t> říká „</a:t>
            </a:r>
            <a:r>
              <a:rPr lang="cs-CZ" dirty="0" err="1"/>
              <a:t>pig</a:t>
            </a:r>
            <a:r>
              <a:rPr lang="cs-CZ" dirty="0"/>
              <a:t> </a:t>
            </a:r>
            <a:r>
              <a:rPr lang="cs-CZ" dirty="0" err="1"/>
              <a:t>ear</a:t>
            </a:r>
            <a:r>
              <a:rPr lang="cs-CZ" dirty="0"/>
              <a:t>“ - prasečí ouško.</a:t>
            </a: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C156090B-CE4B-48AE-AFA1-26D296A834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178175"/>
            <a:ext cx="3561522" cy="228970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3" name="Picture 3">
            <a:extLst>
              <a:ext uri="{FF2B5EF4-FFF2-40B4-BE49-F238E27FC236}">
                <a16:creationId xmlns:a16="http://schemas.microsoft.com/office/drawing/2014/main" id="{B27728F2-AD12-47DE-B3DD-E7B5654E77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49" y="3597689"/>
            <a:ext cx="3666089" cy="201762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1220091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522</Words>
  <Application>Microsoft Office PowerPoint</Application>
  <PresentationFormat>Širokoúhlá obrazovka</PresentationFormat>
  <Paragraphs>48</Paragraphs>
  <Slides>15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Motiv Office</vt:lpstr>
      <vt:lpstr>Oblouky, hierarchické vazby</vt:lpstr>
      <vt:lpstr>Prezentace aplikace PowerPoint</vt:lpstr>
      <vt:lpstr>Hodnoty je třeba omezovat</vt:lpstr>
      <vt:lpstr>Exklusivita vztahu OR</vt:lpstr>
      <vt:lpstr>Exklusivita vztahu OR – další příklad I.</vt:lpstr>
      <vt:lpstr>Exklusivita vztahu OR – další příklad II.</vt:lpstr>
      <vt:lpstr>Reprezentace v ERD</vt:lpstr>
      <vt:lpstr>Pravidla pro oblouky</vt:lpstr>
      <vt:lpstr>Není to vlastně shodné se super/sub typy?</vt:lpstr>
      <vt:lpstr>Hierarchické vazby I.</vt:lpstr>
      <vt:lpstr>Hierarchické vazby II.</vt:lpstr>
      <vt:lpstr>Hierarchické vazby III.</vt:lpstr>
      <vt:lpstr>Hierarchická a rekurzivní relace</vt:lpstr>
      <vt:lpstr>Porovnání</vt:lpstr>
      <vt:lpstr>Zakreslení do ERD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Oblouky, hierarchické vazby</dc:title>
  <dc:creator>Veronika Hurtová</dc:creator>
  <cp:lastModifiedBy>Veronika</cp:lastModifiedBy>
  <cp:revision>10</cp:revision>
  <dcterms:created xsi:type="dcterms:W3CDTF">2017-11-15T14:20:47Z</dcterms:created>
  <dcterms:modified xsi:type="dcterms:W3CDTF">2018-11-02T09:12:55Z</dcterms:modified>
</cp:coreProperties>
</file>