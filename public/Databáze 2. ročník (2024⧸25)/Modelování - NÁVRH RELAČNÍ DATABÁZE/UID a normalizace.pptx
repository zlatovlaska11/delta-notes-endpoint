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8" autoAdjust="0"/>
    <p:restoredTop sz="94660"/>
  </p:normalViewPr>
  <p:slideViewPr>
    <p:cSldViewPr snapToGrid="0">
      <p:cViewPr varScale="1">
        <p:scale>
          <a:sx n="64" d="100"/>
          <a:sy n="64" d="100"/>
        </p:scale>
        <p:origin x="56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56985F-2B3B-410E-82D2-CB479D669859}" type="datetimeFigureOut">
              <a:rPr lang="cs-CZ" smtClean="0"/>
              <a:t>25.10.2018</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0A1F83-B029-478E-AF4C-85E3A762B732}" type="slidenum">
              <a:rPr lang="cs-CZ" smtClean="0"/>
              <a:t>‹#›</a:t>
            </a:fld>
            <a:endParaRPr lang="cs-CZ"/>
          </a:p>
        </p:txBody>
      </p:sp>
    </p:spTree>
    <p:extLst>
      <p:ext uri="{BB962C8B-B14F-4D97-AF65-F5344CB8AC3E}">
        <p14:creationId xmlns:p14="http://schemas.microsoft.com/office/powerpoint/2010/main" val="1255260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i="0" kern="1200" dirty="0">
                <a:solidFill>
                  <a:schemeClr val="tx1"/>
                </a:solidFill>
                <a:effectLst/>
                <a:latin typeface="+mn-lt"/>
                <a:ea typeface="+mn-ea"/>
                <a:cs typeface="+mn-cs"/>
              </a:rPr>
              <a:t>Stát</a:t>
            </a:r>
            <a:r>
              <a:rPr lang="cs-CZ" sz="1200" kern="1200" dirty="0">
                <a:solidFill>
                  <a:schemeClr val="tx1"/>
                </a:solidFill>
                <a:effectLst/>
                <a:latin typeface="+mn-lt"/>
                <a:ea typeface="+mn-ea"/>
                <a:cs typeface="+mn-cs"/>
              </a:rPr>
              <a:t> je závislý na městě, to je pravda, ale porušuje tu 3NF - státní květina závislá na státu. Řešením je opět rozpad na další tabulku „</a:t>
            </a:r>
            <a:r>
              <a:rPr lang="cs-CZ" sz="1200" i="0" kern="1200" dirty="0">
                <a:solidFill>
                  <a:schemeClr val="tx1"/>
                </a:solidFill>
                <a:effectLst/>
                <a:latin typeface="+mn-lt"/>
                <a:ea typeface="+mn-ea"/>
                <a:cs typeface="+mn-cs"/>
              </a:rPr>
              <a:t>stát“</a:t>
            </a:r>
            <a:r>
              <a:rPr lang="cs-CZ" sz="1200" kern="1200" dirty="0">
                <a:solidFill>
                  <a:schemeClr val="tx1"/>
                </a:solidFill>
                <a:effectLst/>
                <a:latin typeface="+mn-lt"/>
                <a:ea typeface="+mn-ea"/>
                <a:cs typeface="+mn-cs"/>
              </a:rPr>
              <a:t>.</a:t>
            </a:r>
          </a:p>
          <a:p>
            <a:endParaRPr lang="cs-CZ" dirty="0"/>
          </a:p>
        </p:txBody>
      </p:sp>
      <p:sp>
        <p:nvSpPr>
          <p:cNvPr id="4" name="Zástupný symbol pro číslo snímku 3"/>
          <p:cNvSpPr>
            <a:spLocks noGrp="1"/>
          </p:cNvSpPr>
          <p:nvPr>
            <p:ph type="sldNum" sz="quarter" idx="10"/>
          </p:nvPr>
        </p:nvSpPr>
        <p:spPr/>
        <p:txBody>
          <a:bodyPr/>
          <a:lstStyle/>
          <a:p>
            <a:fld id="{EB0A1F83-B029-478E-AF4C-85E3A762B732}" type="slidenum">
              <a:rPr lang="cs-CZ" smtClean="0"/>
              <a:t>17</a:t>
            </a:fld>
            <a:endParaRPr lang="cs-CZ"/>
          </a:p>
        </p:txBody>
      </p:sp>
    </p:spTree>
    <p:extLst>
      <p:ext uri="{BB962C8B-B14F-4D97-AF65-F5344CB8AC3E}">
        <p14:creationId xmlns:p14="http://schemas.microsoft.com/office/powerpoint/2010/main" val="104811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kern="1200" dirty="0">
                <a:solidFill>
                  <a:schemeClr val="tx1"/>
                </a:solidFill>
                <a:effectLst/>
                <a:latin typeface="+mn-lt"/>
                <a:ea typeface="+mn-ea"/>
                <a:cs typeface="+mn-cs"/>
              </a:rPr>
              <a:t>Každý zaměstnanec má svého partnera, tento model porušuje 3 NF, protože datum narození partnera je vlastně atribut partnera a ne zaměstnance. Jiné vysvětlení 3NF je </a:t>
            </a:r>
            <a:r>
              <a:rPr lang="cs-CZ" sz="1200" i="0" kern="1200" dirty="0">
                <a:solidFill>
                  <a:schemeClr val="tx1"/>
                </a:solidFill>
                <a:effectLst/>
                <a:latin typeface="+mn-lt"/>
                <a:ea typeface="+mn-ea"/>
                <a:cs typeface="+mn-cs"/>
              </a:rPr>
              <a:t>taky</a:t>
            </a:r>
            <a:r>
              <a:rPr lang="cs-CZ" sz="1200" kern="1200" dirty="0">
                <a:solidFill>
                  <a:schemeClr val="tx1"/>
                </a:solidFill>
                <a:effectLst/>
                <a:latin typeface="+mn-lt"/>
                <a:ea typeface="+mn-ea"/>
                <a:cs typeface="+mn-cs"/>
              </a:rPr>
              <a:t>, </a:t>
            </a:r>
            <a:r>
              <a:rPr lang="cs-CZ" sz="1200" i="0" kern="1200" dirty="0">
                <a:solidFill>
                  <a:schemeClr val="tx1"/>
                </a:solidFill>
                <a:effectLst/>
                <a:latin typeface="+mn-lt"/>
                <a:ea typeface="+mn-ea"/>
                <a:cs typeface="+mn-cs"/>
              </a:rPr>
              <a:t>že</a:t>
            </a:r>
            <a:r>
              <a:rPr lang="cs-CZ" sz="1200" kern="1200" dirty="0">
                <a:solidFill>
                  <a:schemeClr val="tx1"/>
                </a:solidFill>
                <a:effectLst/>
                <a:latin typeface="+mn-lt"/>
                <a:ea typeface="+mn-ea"/>
                <a:cs typeface="+mn-cs"/>
              </a:rPr>
              <a:t> žádný atribut nemůže mít svůj vlastní atribut.</a:t>
            </a:r>
          </a:p>
        </p:txBody>
      </p:sp>
      <p:sp>
        <p:nvSpPr>
          <p:cNvPr id="4" name="Zástupný symbol pro číslo snímku 3"/>
          <p:cNvSpPr>
            <a:spLocks noGrp="1"/>
          </p:cNvSpPr>
          <p:nvPr>
            <p:ph type="sldNum" sz="quarter" idx="10"/>
          </p:nvPr>
        </p:nvSpPr>
        <p:spPr/>
        <p:txBody>
          <a:bodyPr/>
          <a:lstStyle/>
          <a:p>
            <a:fld id="{EB0A1F83-B029-478E-AF4C-85E3A762B732}" type="slidenum">
              <a:rPr lang="cs-CZ" smtClean="0"/>
              <a:t>18</a:t>
            </a:fld>
            <a:endParaRPr lang="cs-CZ"/>
          </a:p>
        </p:txBody>
      </p:sp>
    </p:spTree>
    <p:extLst>
      <p:ext uri="{BB962C8B-B14F-4D97-AF65-F5344CB8AC3E}">
        <p14:creationId xmlns:p14="http://schemas.microsoft.com/office/powerpoint/2010/main" val="3940943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F001B0-6ED7-4B01-AD29-2E8FA4230FA1}"/>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3E98BBDB-C448-4C01-93A5-737D98B589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6C2E7075-0E25-4469-B51F-92B9F9E4F10F}"/>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693B312F-3A65-46B5-AC2D-A99568002AA5}"/>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3F0A91E-9784-4AF3-A45D-6FF166D9BCE8}"/>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3982413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4842F55-0C6C-488D-936C-13A2F4E9C85C}"/>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B55624D7-E15D-40A6-B0DA-745BA7B5A578}"/>
              </a:ext>
            </a:extLst>
          </p:cNvPr>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6FC9473-55F0-4281-A137-6342F480EA8D}"/>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CACCF1CD-E4B8-4F30-9DA3-547C6F66B0CF}"/>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D613705-CA72-48FB-9AD6-0FDDE41DBAE4}"/>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2139870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A0589A0-8C48-452F-8B18-92E100884A3F}"/>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a:extLst>
              <a:ext uri="{FF2B5EF4-FFF2-40B4-BE49-F238E27FC236}">
                <a16:creationId xmlns:a16="http://schemas.microsoft.com/office/drawing/2014/main" id="{D35ACD70-FB08-4E61-B9EE-D84AA15ACC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a:extLst>
              <a:ext uri="{FF2B5EF4-FFF2-40B4-BE49-F238E27FC236}">
                <a16:creationId xmlns:a16="http://schemas.microsoft.com/office/drawing/2014/main" id="{71ABB44E-1F96-435C-A3D0-0FC4AC486847}"/>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2CDB26FD-ECBE-4A39-9011-F1C3A7E53321}"/>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BFC0341-E025-468E-AE77-80D55AB43F4F}"/>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341911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CCAA126-89A1-4E62-BDBB-8ABB524B5BDB}"/>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7C3CD807-F82A-4A75-95E2-5F73D0F9D94A}"/>
              </a:ext>
            </a:extLst>
          </p:cNvPr>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a:extLst>
              <a:ext uri="{FF2B5EF4-FFF2-40B4-BE49-F238E27FC236}">
                <a16:creationId xmlns:a16="http://schemas.microsoft.com/office/drawing/2014/main" id="{28F2596B-C232-4186-A928-0A9B883B6339}"/>
              </a:ext>
            </a:extLst>
          </p:cNvPr>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74BA52B2-946F-41FC-9D16-CE7D605A0C28}"/>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6" name="Zástupný symbol pro zápatí 5">
            <a:extLst>
              <a:ext uri="{FF2B5EF4-FFF2-40B4-BE49-F238E27FC236}">
                <a16:creationId xmlns:a16="http://schemas.microsoft.com/office/drawing/2014/main" id="{B7EA6C8A-6704-415D-AE97-C090C3AB98AA}"/>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0D073C4F-CCCF-45A2-8390-C58ED7B11979}"/>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37696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5A40A3-8116-4836-BE57-2ADAFCAB084A}"/>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a:extLst>
              <a:ext uri="{FF2B5EF4-FFF2-40B4-BE49-F238E27FC236}">
                <a16:creationId xmlns:a16="http://schemas.microsoft.com/office/drawing/2014/main" id="{29921C83-7425-4442-9662-1C82184C3F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a:extLst>
              <a:ext uri="{FF2B5EF4-FFF2-40B4-BE49-F238E27FC236}">
                <a16:creationId xmlns:a16="http://schemas.microsoft.com/office/drawing/2014/main" id="{1CD093D9-54CF-43DE-B266-6BE84027A3D5}"/>
              </a:ext>
            </a:extLst>
          </p:cNvPr>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a:extLst>
              <a:ext uri="{FF2B5EF4-FFF2-40B4-BE49-F238E27FC236}">
                <a16:creationId xmlns:a16="http://schemas.microsoft.com/office/drawing/2014/main" id="{57CB8EA5-A3DB-4C23-8EBD-6A380777FD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a:extLst>
              <a:ext uri="{FF2B5EF4-FFF2-40B4-BE49-F238E27FC236}">
                <a16:creationId xmlns:a16="http://schemas.microsoft.com/office/drawing/2014/main" id="{E8726264-B47A-4973-98BB-BC864FFC9C2C}"/>
              </a:ext>
            </a:extLst>
          </p:cNvPr>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19D040BD-749D-47FA-914E-72CE8FED7F91}"/>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8" name="Zástupný symbol pro zápatí 7">
            <a:extLst>
              <a:ext uri="{FF2B5EF4-FFF2-40B4-BE49-F238E27FC236}">
                <a16:creationId xmlns:a16="http://schemas.microsoft.com/office/drawing/2014/main" id="{8CFDFB61-A390-439E-8059-9E3109B30D09}"/>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A2098459-E0F2-4AAE-826A-7360C9721375}"/>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4193803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4D1AECA-D043-4BD0-A3AD-7BF090BC9224}"/>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31E830C9-2099-4257-9288-662F7C3B17A7}"/>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4" name="Zástupný symbol pro zápatí 3">
            <a:extLst>
              <a:ext uri="{FF2B5EF4-FFF2-40B4-BE49-F238E27FC236}">
                <a16:creationId xmlns:a16="http://schemas.microsoft.com/office/drawing/2014/main" id="{A9DCAE0A-CFFD-485E-8031-CA780471A773}"/>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43E90043-706F-4BB7-90A7-C98948AA72A2}"/>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855312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379B9B57-BDDD-4AD1-90F9-121E9940E82E}"/>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3" name="Zástupný symbol pro zápatí 2">
            <a:extLst>
              <a:ext uri="{FF2B5EF4-FFF2-40B4-BE49-F238E27FC236}">
                <a16:creationId xmlns:a16="http://schemas.microsoft.com/office/drawing/2014/main" id="{0D9219C9-3635-41C0-A7C2-91C5ED67F319}"/>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CA941461-8820-4BA5-A11A-A81206547B13}"/>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4274201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6CAD30C-1754-4178-B046-C4A4AB177D7C}"/>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a:extLst>
              <a:ext uri="{FF2B5EF4-FFF2-40B4-BE49-F238E27FC236}">
                <a16:creationId xmlns:a16="http://schemas.microsoft.com/office/drawing/2014/main" id="{37A07A17-9948-4F22-80B7-EBA7B09D6B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a:extLst>
              <a:ext uri="{FF2B5EF4-FFF2-40B4-BE49-F238E27FC236}">
                <a16:creationId xmlns:a16="http://schemas.microsoft.com/office/drawing/2014/main" id="{7416DDAD-EBA8-497F-B17E-D658D2A92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C4BAB2F0-6E68-4771-BB41-E2AC3F36CB86}"/>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6" name="Zástupný symbol pro zápatí 5">
            <a:extLst>
              <a:ext uri="{FF2B5EF4-FFF2-40B4-BE49-F238E27FC236}">
                <a16:creationId xmlns:a16="http://schemas.microsoft.com/office/drawing/2014/main" id="{BD68EE09-9B94-4853-BEDB-8DE91B3EEE1D}"/>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8459D380-20DF-45C0-9ABC-76E987059529}"/>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2186169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8D0407C-3E62-4009-A63D-2447E13D23C8}"/>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A1B02AF8-F4A6-4FB4-A26F-1533684A6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a:extLst>
              <a:ext uri="{FF2B5EF4-FFF2-40B4-BE49-F238E27FC236}">
                <a16:creationId xmlns:a16="http://schemas.microsoft.com/office/drawing/2014/main" id="{478A4F0A-70CD-4773-A2A5-BA1B6694B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CA0B17E9-F2D0-4F50-89A7-9F43C89D77B6}"/>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6" name="Zástupný symbol pro zápatí 5">
            <a:extLst>
              <a:ext uri="{FF2B5EF4-FFF2-40B4-BE49-F238E27FC236}">
                <a16:creationId xmlns:a16="http://schemas.microsoft.com/office/drawing/2014/main" id="{8156F4E7-F90E-4749-9349-9F202462AB3E}"/>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7E2BAE82-FCCD-4D8C-81BC-5CF408D62E7F}"/>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1813458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4CF6889-8031-4AAE-9648-145F2331C14E}"/>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A22942AE-23EE-4B69-8030-FF99FBDD506A}"/>
              </a:ext>
            </a:extLst>
          </p:cNvPr>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6F6DA1A8-182E-4CEB-91F2-B3B001537FEF}"/>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54C98894-CA76-46AE-9B20-FA40D050A99C}"/>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AFD022A4-AB4B-42BC-A73E-689541ED41F7}"/>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326688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3922B58F-DF5E-42B7-8787-FC48FF5A8595}"/>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1ED238F4-A3A9-4DAA-BCC9-D7E08C6FAF38}"/>
              </a:ext>
            </a:extLst>
          </p:cNvPr>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027A596-11CD-49B9-9BE0-C5538FE9E104}"/>
              </a:ext>
            </a:extLst>
          </p:cNvPr>
          <p:cNvSpPr>
            <a:spLocks noGrp="1"/>
          </p:cNvSpPr>
          <p:nvPr>
            <p:ph type="dt" sz="half" idx="10"/>
          </p:nvPr>
        </p:nvSpPr>
        <p:spPr/>
        <p:txBody>
          <a:body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0E7D6F81-8093-4899-BCCB-57039318647A}"/>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A6931EC-92E0-4DD2-A397-1987A17FB736}"/>
              </a:ext>
            </a:extLst>
          </p:cNvPr>
          <p:cNvSpPr>
            <a:spLocks noGrp="1"/>
          </p:cNvSpPr>
          <p:nvPr>
            <p:ph type="sldNum" sz="quarter" idx="12"/>
          </p:nvPr>
        </p:nvSpPr>
        <p:spPr/>
        <p:txBody>
          <a:bodyPr/>
          <a:lstStyle/>
          <a:p>
            <a:fld id="{848EDB99-A50E-45A6-977F-3DC6AC74585C}" type="slidenum">
              <a:rPr lang="cs-CZ" smtClean="0"/>
              <a:t>‹#›</a:t>
            </a:fld>
            <a:endParaRPr lang="cs-CZ"/>
          </a:p>
        </p:txBody>
      </p:sp>
    </p:spTree>
    <p:extLst>
      <p:ext uri="{BB962C8B-B14F-4D97-AF65-F5344CB8AC3E}">
        <p14:creationId xmlns:p14="http://schemas.microsoft.com/office/powerpoint/2010/main" val="389706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0EC51A95-44CC-48F9-8152-622196A9DE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a:extLst>
              <a:ext uri="{FF2B5EF4-FFF2-40B4-BE49-F238E27FC236}">
                <a16:creationId xmlns:a16="http://schemas.microsoft.com/office/drawing/2014/main" id="{2E991194-010F-4743-913C-FEED678DD4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13D79CF7-2136-40FD-8E0B-6B9DFFEB52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B1C63A-0261-4938-8C7E-3FCAF2C6B0FB}" type="datetimeFigureOut">
              <a:rPr lang="cs-CZ" smtClean="0"/>
              <a:t>25.10.2018</a:t>
            </a:fld>
            <a:endParaRPr lang="cs-CZ"/>
          </a:p>
        </p:txBody>
      </p:sp>
      <p:sp>
        <p:nvSpPr>
          <p:cNvPr id="5" name="Zástupný symbol pro zápatí 4">
            <a:extLst>
              <a:ext uri="{FF2B5EF4-FFF2-40B4-BE49-F238E27FC236}">
                <a16:creationId xmlns:a16="http://schemas.microsoft.com/office/drawing/2014/main" id="{C5533260-1FC8-4EEF-ADDF-7E57E24081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9572F758-5F53-4B1F-BF92-B6B54CEBEF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EDB99-A50E-45A6-977F-3DC6AC74585C}" type="slidenum">
              <a:rPr lang="cs-CZ" smtClean="0"/>
              <a:t>‹#›</a:t>
            </a:fld>
            <a:endParaRPr lang="cs-CZ"/>
          </a:p>
        </p:txBody>
      </p:sp>
    </p:spTree>
    <p:extLst>
      <p:ext uri="{BB962C8B-B14F-4D97-AF65-F5344CB8AC3E}">
        <p14:creationId xmlns:p14="http://schemas.microsoft.com/office/powerpoint/2010/main" val="907918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10A5A0F-E90A-4E7D-9D11-084E8D97779D}"/>
              </a:ext>
            </a:extLst>
          </p:cNvPr>
          <p:cNvSpPr>
            <a:spLocks noGrp="1"/>
          </p:cNvSpPr>
          <p:nvPr>
            <p:ph type="ctrTitle"/>
          </p:nvPr>
        </p:nvSpPr>
        <p:spPr/>
        <p:txBody>
          <a:bodyPr/>
          <a:lstStyle/>
          <a:p>
            <a:r>
              <a:rPr lang="cs-CZ" dirty="0"/>
              <a:t>UID a normalizace</a:t>
            </a:r>
          </a:p>
        </p:txBody>
      </p:sp>
      <p:sp>
        <p:nvSpPr>
          <p:cNvPr id="3" name="Podnadpis 2">
            <a:extLst>
              <a:ext uri="{FF2B5EF4-FFF2-40B4-BE49-F238E27FC236}">
                <a16:creationId xmlns:a16="http://schemas.microsoft.com/office/drawing/2014/main" id="{3C05B18B-6F74-4881-9727-9079D25A2E29}"/>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3558927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A4CCAE3-CC34-4AE2-B027-A9DFB23AF66D}"/>
              </a:ext>
            </a:extLst>
          </p:cNvPr>
          <p:cNvSpPr>
            <a:spLocks noGrp="1"/>
          </p:cNvSpPr>
          <p:nvPr>
            <p:ph type="title"/>
          </p:nvPr>
        </p:nvSpPr>
        <p:spPr/>
        <p:txBody>
          <a:bodyPr/>
          <a:lstStyle/>
          <a:p>
            <a:r>
              <a:rPr lang="cs-CZ" dirty="0"/>
              <a:t>Jednoduchý, složený unikátní UID</a:t>
            </a:r>
          </a:p>
        </p:txBody>
      </p:sp>
      <p:sp>
        <p:nvSpPr>
          <p:cNvPr id="3" name="Zástupný symbol pro obsah 2">
            <a:extLst>
              <a:ext uri="{FF2B5EF4-FFF2-40B4-BE49-F238E27FC236}">
                <a16:creationId xmlns:a16="http://schemas.microsoft.com/office/drawing/2014/main" id="{48932E3D-25F0-4809-8E5E-C7918A47E9B3}"/>
              </a:ext>
            </a:extLst>
          </p:cNvPr>
          <p:cNvSpPr>
            <a:spLocks noGrp="1"/>
          </p:cNvSpPr>
          <p:nvPr>
            <p:ph idx="1"/>
          </p:nvPr>
        </p:nvSpPr>
        <p:spPr/>
        <p:txBody>
          <a:bodyPr/>
          <a:lstStyle/>
          <a:p>
            <a:r>
              <a:rPr lang="cs-CZ" dirty="0"/>
              <a:t>UID je velmi důležitý v relačních databázích.</a:t>
            </a:r>
          </a:p>
          <a:p>
            <a:r>
              <a:rPr lang="cs-CZ" dirty="0"/>
              <a:t>Je to hodnota nebo kombinace hodnot, která umožňuje uživateli vyhledat jednu unikátní věc v celém obsahu.</a:t>
            </a:r>
          </a:p>
          <a:p>
            <a:r>
              <a:rPr lang="cs-CZ" dirty="0"/>
              <a:t>Identifikování toho jednoho pravého atributů nebo kombinace atributů je dovednost, ve které musí být databázový administrátor profíkem.</a:t>
            </a:r>
          </a:p>
          <a:p>
            <a:endParaRPr lang="cs-CZ" dirty="0"/>
          </a:p>
        </p:txBody>
      </p:sp>
    </p:spTree>
    <p:extLst>
      <p:ext uri="{BB962C8B-B14F-4D97-AF65-F5344CB8AC3E}">
        <p14:creationId xmlns:p14="http://schemas.microsoft.com/office/powerpoint/2010/main" val="394519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D81E92E-9C36-43DA-9217-5C4A61D29783}"/>
              </a:ext>
            </a:extLst>
          </p:cNvPr>
          <p:cNvSpPr>
            <a:spLocks noGrp="1"/>
          </p:cNvSpPr>
          <p:nvPr>
            <p:ph type="title"/>
          </p:nvPr>
        </p:nvSpPr>
        <p:spPr/>
        <p:txBody>
          <a:bodyPr/>
          <a:lstStyle/>
          <a:p>
            <a:r>
              <a:rPr lang="cs-CZ" dirty="0"/>
              <a:t>Jednoduchý a složený UID</a:t>
            </a:r>
          </a:p>
        </p:txBody>
      </p:sp>
      <p:sp>
        <p:nvSpPr>
          <p:cNvPr id="3" name="Zástupný symbol pro obsah 2">
            <a:extLst>
              <a:ext uri="{FF2B5EF4-FFF2-40B4-BE49-F238E27FC236}">
                <a16:creationId xmlns:a16="http://schemas.microsoft.com/office/drawing/2014/main" id="{6E6BFDF1-EE6C-49DA-97C4-D0CFB16B18A4}"/>
              </a:ext>
            </a:extLst>
          </p:cNvPr>
          <p:cNvSpPr>
            <a:spLocks noGrp="1"/>
          </p:cNvSpPr>
          <p:nvPr>
            <p:ph idx="1"/>
          </p:nvPr>
        </p:nvSpPr>
        <p:spPr/>
        <p:txBody>
          <a:bodyPr/>
          <a:lstStyle/>
          <a:p>
            <a:r>
              <a:rPr lang="cs-CZ" b="1" dirty="0"/>
              <a:t>Jednoduchý UID </a:t>
            </a:r>
          </a:p>
          <a:p>
            <a:pPr lvl="1"/>
            <a:r>
              <a:rPr lang="cs-CZ" dirty="0"/>
              <a:t>Se skládá z jednoho atributů, nicméně někdy není jeden atribut dostatečně unikátní na to, aby mohla být identifikovaná instance entity.</a:t>
            </a:r>
          </a:p>
          <a:p>
            <a:r>
              <a:rPr lang="cs-CZ" b="1" dirty="0"/>
              <a:t>Složený UID</a:t>
            </a:r>
          </a:p>
          <a:p>
            <a:pPr lvl="1"/>
            <a:r>
              <a:rPr lang="cs-CZ" dirty="0"/>
              <a:t>Je kombinace více atributů použitá jako UID. </a:t>
            </a:r>
          </a:p>
          <a:p>
            <a:endParaRPr lang="cs-CZ" dirty="0"/>
          </a:p>
        </p:txBody>
      </p:sp>
      <p:pic>
        <p:nvPicPr>
          <p:cNvPr id="1026" name="Picture 2">
            <a:extLst>
              <a:ext uri="{FF2B5EF4-FFF2-40B4-BE49-F238E27FC236}">
                <a16:creationId xmlns:a16="http://schemas.microsoft.com/office/drawing/2014/main" id="{4686B766-6EDC-4E54-9556-943FEE070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1375" y="4227139"/>
            <a:ext cx="5024437" cy="2438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033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66316A7-7D8F-483F-8460-41EC0C0FF0CB}"/>
              </a:ext>
            </a:extLst>
          </p:cNvPr>
          <p:cNvSpPr>
            <a:spLocks noGrp="1"/>
          </p:cNvSpPr>
          <p:nvPr>
            <p:ph type="title"/>
          </p:nvPr>
        </p:nvSpPr>
        <p:spPr/>
        <p:txBody>
          <a:bodyPr/>
          <a:lstStyle/>
          <a:p>
            <a:r>
              <a:rPr lang="cs-CZ" dirty="0"/>
              <a:t>Umělý UID I.</a:t>
            </a:r>
          </a:p>
        </p:txBody>
      </p:sp>
      <p:sp>
        <p:nvSpPr>
          <p:cNvPr id="3" name="Zástupný symbol pro obsah 2">
            <a:extLst>
              <a:ext uri="{FF2B5EF4-FFF2-40B4-BE49-F238E27FC236}">
                <a16:creationId xmlns:a16="http://schemas.microsoft.com/office/drawing/2014/main" id="{1CD122D0-4680-46E6-BBFA-A7F49005D713}"/>
              </a:ext>
            </a:extLst>
          </p:cNvPr>
          <p:cNvSpPr>
            <a:spLocks noGrp="1"/>
          </p:cNvSpPr>
          <p:nvPr>
            <p:ph idx="1"/>
          </p:nvPr>
        </p:nvSpPr>
        <p:spPr/>
        <p:txBody>
          <a:bodyPr>
            <a:normAutofit fontScale="92500" lnSpcReduction="10000"/>
          </a:bodyPr>
          <a:lstStyle/>
          <a:p>
            <a:r>
              <a:rPr lang="cs-CZ" dirty="0"/>
              <a:t>Umělý UID je to, co se nenachází v přirozeném světě, ale je vytvořeno pro potřeby identifikace v rámci systému.</a:t>
            </a:r>
          </a:p>
          <a:p>
            <a:r>
              <a:rPr lang="cs-CZ" dirty="0"/>
              <a:t>Lidé nejsou narození s číslem a hodně systému přiřazuje právě lidem unikátní čísla pro následnou snadnou identifikaci =&gt; zavedení atributů ID.</a:t>
            </a:r>
          </a:p>
          <a:p>
            <a:r>
              <a:rPr lang="cs-CZ" dirty="0"/>
              <a:t>Jak můžeme jednoznačně identifikovat například studenta? Můžeme použít kombinaci jména a příjmení? Ano ale pouze pokud jsme si jisti, že v systému opravdu není více Janu Nováku, což nemůžeme i pro budoucí růst systému zaručit.</a:t>
            </a:r>
          </a:p>
          <a:p>
            <a:r>
              <a:rPr lang="cs-CZ" dirty="0"/>
              <a:t>Často je tak jednodušší zavést umělý atribut, pomocí kterého budeme danou osobu identifikovat i když bude Janu Nováků v systému 100, UID může být umělý a zároveň složený.</a:t>
            </a:r>
          </a:p>
          <a:p>
            <a:endParaRPr lang="cs-CZ" dirty="0"/>
          </a:p>
        </p:txBody>
      </p:sp>
    </p:spTree>
    <p:extLst>
      <p:ext uri="{BB962C8B-B14F-4D97-AF65-F5344CB8AC3E}">
        <p14:creationId xmlns:p14="http://schemas.microsoft.com/office/powerpoint/2010/main" val="3401889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00E2B16-C0C5-406F-A396-433081C53FAD}"/>
              </a:ext>
            </a:extLst>
          </p:cNvPr>
          <p:cNvSpPr>
            <a:spLocks noGrp="1"/>
          </p:cNvSpPr>
          <p:nvPr>
            <p:ph type="title"/>
          </p:nvPr>
        </p:nvSpPr>
        <p:spPr/>
        <p:txBody>
          <a:bodyPr/>
          <a:lstStyle/>
          <a:p>
            <a:r>
              <a:rPr lang="cs-CZ" dirty="0"/>
              <a:t>Umělý UID z relace M:N</a:t>
            </a:r>
          </a:p>
        </p:txBody>
      </p:sp>
      <p:sp>
        <p:nvSpPr>
          <p:cNvPr id="3" name="Zástupný symbol pro obsah 2">
            <a:extLst>
              <a:ext uri="{FF2B5EF4-FFF2-40B4-BE49-F238E27FC236}">
                <a16:creationId xmlns:a16="http://schemas.microsoft.com/office/drawing/2014/main" id="{360CE29A-8B81-4A84-8EDD-96E92DE8F93A}"/>
              </a:ext>
            </a:extLst>
          </p:cNvPr>
          <p:cNvSpPr>
            <a:spLocks noGrp="1"/>
          </p:cNvSpPr>
          <p:nvPr>
            <p:ph idx="1"/>
          </p:nvPr>
        </p:nvSpPr>
        <p:spPr/>
        <p:txBody>
          <a:bodyPr/>
          <a:lstStyle/>
          <a:p>
            <a:r>
              <a:rPr lang="cs-CZ" dirty="0"/>
              <a:t>Někdy je UID kombinace atributů a relace - jaké je UID například u ÚČTU? Je to umělé UID nebo složené? Dva lidé mohou mít stejný bankovní účet, ale u jiné banky. Banky pro přenos peněz vždy potřebují číslo účtu a kód banky.</a:t>
            </a:r>
          </a:p>
        </p:txBody>
      </p:sp>
      <p:pic>
        <p:nvPicPr>
          <p:cNvPr id="2050" name="Picture 2">
            <a:extLst>
              <a:ext uri="{FF2B5EF4-FFF2-40B4-BE49-F238E27FC236}">
                <a16:creationId xmlns:a16="http://schemas.microsoft.com/office/drawing/2014/main" id="{AF7C44F9-CAFD-4CF3-8B82-2583B7BFE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22" y="3634581"/>
            <a:ext cx="5103910" cy="144840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BE9F1FA0-6E2C-47B8-8B71-31CDC57A3D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5695" y="3124342"/>
            <a:ext cx="4204447" cy="3599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1195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4D2B5D-CF0B-4AC7-A7E6-E560AEA0D397}"/>
              </a:ext>
            </a:extLst>
          </p:cNvPr>
          <p:cNvSpPr>
            <a:spLocks noGrp="1"/>
          </p:cNvSpPr>
          <p:nvPr>
            <p:ph type="title"/>
          </p:nvPr>
        </p:nvSpPr>
        <p:spPr/>
        <p:txBody>
          <a:bodyPr/>
          <a:lstStyle/>
          <a:p>
            <a:r>
              <a:rPr lang="cs-CZ" dirty="0"/>
              <a:t>Kandidátní UID</a:t>
            </a:r>
          </a:p>
        </p:txBody>
      </p:sp>
      <p:sp>
        <p:nvSpPr>
          <p:cNvPr id="3" name="Zástupný symbol pro obsah 2">
            <a:extLst>
              <a:ext uri="{FF2B5EF4-FFF2-40B4-BE49-F238E27FC236}">
                <a16:creationId xmlns:a16="http://schemas.microsoft.com/office/drawing/2014/main" id="{B5CC9589-96B0-438F-8268-3B6269DD6C99}"/>
              </a:ext>
            </a:extLst>
          </p:cNvPr>
          <p:cNvSpPr>
            <a:spLocks noGrp="1"/>
          </p:cNvSpPr>
          <p:nvPr>
            <p:ph idx="1"/>
          </p:nvPr>
        </p:nvSpPr>
        <p:spPr/>
        <p:txBody>
          <a:bodyPr/>
          <a:lstStyle/>
          <a:p>
            <a:r>
              <a:rPr lang="cs-CZ" dirty="0"/>
              <a:t>Někdy existují dva a více možných UID v rámci atributu, například když objednáváme něco z internetu tak na účtu máme svoje user ID a zároveň email, který by se dal také použit. </a:t>
            </a:r>
          </a:p>
          <a:p>
            <a:r>
              <a:rPr lang="cs-CZ" dirty="0"/>
              <a:t>Každý z těchto atributů je potom kandidátem na UID, pouze jeden je pak vybrán jako UID a říká se mu </a:t>
            </a:r>
            <a:r>
              <a:rPr lang="cs-CZ" b="1" dirty="0"/>
              <a:t>primární UID</a:t>
            </a:r>
            <a:r>
              <a:rPr lang="cs-CZ" dirty="0"/>
              <a:t>. Ostatní kandidáti jsou označeni jako </a:t>
            </a:r>
            <a:r>
              <a:rPr lang="cs-CZ" b="1" dirty="0"/>
              <a:t>sekundární UID</a:t>
            </a:r>
            <a:r>
              <a:rPr lang="cs-CZ" dirty="0"/>
              <a:t>.</a:t>
            </a:r>
          </a:p>
          <a:p>
            <a:pPr lvl="1"/>
            <a:r>
              <a:rPr lang="cs-CZ" dirty="0"/>
              <a:t>z vybraného primárního UID se následně stává primární klíč a </a:t>
            </a:r>
            <a:br>
              <a:rPr lang="cs-CZ" dirty="0"/>
            </a:br>
            <a:r>
              <a:rPr lang="cs-CZ" dirty="0"/>
              <a:t>ten je použit v databázi pro identifikaci záznamu.</a:t>
            </a:r>
          </a:p>
        </p:txBody>
      </p:sp>
      <p:pic>
        <p:nvPicPr>
          <p:cNvPr id="3074" name="Picture 2">
            <a:extLst>
              <a:ext uri="{FF2B5EF4-FFF2-40B4-BE49-F238E27FC236}">
                <a16:creationId xmlns:a16="http://schemas.microsoft.com/office/drawing/2014/main" id="{BF610986-9406-4416-8640-A865AEB672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1426" y="4001294"/>
            <a:ext cx="1321547" cy="28151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055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711C2CE-E42B-4522-871A-CE4AFB8A2001}"/>
              </a:ext>
            </a:extLst>
          </p:cNvPr>
          <p:cNvSpPr>
            <a:spLocks noGrp="1"/>
          </p:cNvSpPr>
          <p:nvPr>
            <p:ph type="title"/>
          </p:nvPr>
        </p:nvSpPr>
        <p:spPr/>
        <p:txBody>
          <a:bodyPr/>
          <a:lstStyle/>
          <a:p>
            <a:r>
              <a:rPr lang="cs-CZ" dirty="0"/>
              <a:t>Normalizace</a:t>
            </a:r>
          </a:p>
        </p:txBody>
      </p:sp>
      <p:sp>
        <p:nvSpPr>
          <p:cNvPr id="3" name="Zástupný symbol pro obsah 2">
            <a:extLst>
              <a:ext uri="{FF2B5EF4-FFF2-40B4-BE49-F238E27FC236}">
                <a16:creationId xmlns:a16="http://schemas.microsoft.com/office/drawing/2014/main" id="{41B3908F-1949-4875-8D94-89CACBF81272}"/>
              </a:ext>
            </a:extLst>
          </p:cNvPr>
          <p:cNvSpPr>
            <a:spLocks noGrp="1"/>
          </p:cNvSpPr>
          <p:nvPr>
            <p:ph idx="1"/>
          </p:nvPr>
        </p:nvSpPr>
        <p:spPr/>
        <p:txBody>
          <a:bodyPr>
            <a:normAutofit fontScale="92500"/>
          </a:bodyPr>
          <a:lstStyle/>
          <a:p>
            <a:r>
              <a:rPr lang="cs-CZ" dirty="0"/>
              <a:t>Představte si např., jak si můžete ukládat telefonní číslo svého kamaráda. Číslo můžete mít uložené ve svém telefonním seznamu, telefonu, na kusu papíru na lednici. Co když si ale kamarád změní telefonní číslo? Potom následuje hodně práce s aktualizací tohoto záznamu na všech místech. </a:t>
            </a:r>
          </a:p>
          <a:p>
            <a:r>
              <a:rPr lang="cs-CZ" dirty="0"/>
              <a:t>Co se tedy děje, když jsou data ukládána na více místech v databázi? Při změně údajů - jak víme, které údaje jsou pravdivé? Nadbytečnost (</a:t>
            </a:r>
            <a:r>
              <a:rPr lang="cs-CZ" b="1" dirty="0"/>
              <a:t>redundance</a:t>
            </a:r>
            <a:r>
              <a:rPr lang="cs-CZ" dirty="0"/>
              <a:t>) je nechtěný problém, který v databázích vzniká.</a:t>
            </a:r>
          </a:p>
          <a:p>
            <a:r>
              <a:rPr lang="cs-CZ" dirty="0"/>
              <a:t>Tento problém řeší normalizace, jenž se snaží tyto problémy eliminovat. Jeden z hlavních cílů databázového designéra je ukládat informace na jednom místě a to na tom nejvíce vhodném. Pokud dodržíte pravidla normalizace, potom dosáhnete i tohoto cíle.</a:t>
            </a:r>
          </a:p>
        </p:txBody>
      </p:sp>
    </p:spTree>
    <p:extLst>
      <p:ext uri="{BB962C8B-B14F-4D97-AF65-F5344CB8AC3E}">
        <p14:creationId xmlns:p14="http://schemas.microsoft.com/office/powerpoint/2010/main" val="103031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F5EFA2-75CC-492B-9AD4-05526D3C97E9}"/>
              </a:ext>
            </a:extLst>
          </p:cNvPr>
          <p:cNvSpPr>
            <a:spLocks noGrp="1"/>
          </p:cNvSpPr>
          <p:nvPr>
            <p:ph type="title"/>
          </p:nvPr>
        </p:nvSpPr>
        <p:spPr/>
        <p:txBody>
          <a:bodyPr/>
          <a:lstStyle/>
          <a:p>
            <a:r>
              <a:rPr lang="cs-CZ" dirty="0"/>
              <a:t>1NF I.</a:t>
            </a:r>
          </a:p>
        </p:txBody>
      </p:sp>
      <p:sp>
        <p:nvSpPr>
          <p:cNvPr id="3" name="Zástupný symbol pro obsah 2">
            <a:extLst>
              <a:ext uri="{FF2B5EF4-FFF2-40B4-BE49-F238E27FC236}">
                <a16:creationId xmlns:a16="http://schemas.microsoft.com/office/drawing/2014/main" id="{C18E07B7-2494-4258-A0D5-16DBD20CEA79}"/>
              </a:ext>
            </a:extLst>
          </p:cNvPr>
          <p:cNvSpPr>
            <a:spLocks noGrp="1"/>
          </p:cNvSpPr>
          <p:nvPr>
            <p:ph idx="1"/>
          </p:nvPr>
        </p:nvSpPr>
        <p:spPr/>
        <p:txBody>
          <a:bodyPr/>
          <a:lstStyle/>
          <a:p>
            <a:r>
              <a:rPr lang="cs-CZ" dirty="0"/>
              <a:t>1NF vyžaduje, aby </a:t>
            </a:r>
            <a:r>
              <a:rPr lang="cs-CZ" b="1" dirty="0"/>
              <a:t>neexistoval žádný složený atribut</a:t>
            </a:r>
          </a:p>
          <a:p>
            <a:r>
              <a:rPr lang="cs-CZ" dirty="0"/>
              <a:t>pro kontrolu splnění 1NF je důležité, aby každý atribut obsahoval právě jednu a pouze jednu hodnotu pro každou instanci entity</a:t>
            </a:r>
          </a:p>
          <a:p>
            <a:r>
              <a:rPr lang="cs-CZ" dirty="0"/>
              <a:t>jeden kód, jeden název, jedna adresa apod.</a:t>
            </a:r>
          </a:p>
          <a:p>
            <a:endParaRPr lang="cs-CZ" dirty="0"/>
          </a:p>
        </p:txBody>
      </p:sp>
    </p:spTree>
    <p:extLst>
      <p:ext uri="{BB962C8B-B14F-4D97-AF65-F5344CB8AC3E}">
        <p14:creationId xmlns:p14="http://schemas.microsoft.com/office/powerpoint/2010/main" val="2877614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3CAA2AF-48A9-474B-A023-E2A906096A7C}"/>
              </a:ext>
            </a:extLst>
          </p:cNvPr>
          <p:cNvSpPr>
            <a:spLocks noGrp="1"/>
          </p:cNvSpPr>
          <p:nvPr>
            <p:ph type="title"/>
          </p:nvPr>
        </p:nvSpPr>
        <p:spPr/>
        <p:txBody>
          <a:bodyPr/>
          <a:lstStyle/>
          <a:p>
            <a:r>
              <a:rPr lang="cs-CZ" dirty="0"/>
              <a:t>1NF II.</a:t>
            </a:r>
          </a:p>
        </p:txBody>
      </p:sp>
      <p:sp>
        <p:nvSpPr>
          <p:cNvPr id="3" name="Zástupný symbol pro obsah 2">
            <a:extLst>
              <a:ext uri="{FF2B5EF4-FFF2-40B4-BE49-F238E27FC236}">
                <a16:creationId xmlns:a16="http://schemas.microsoft.com/office/drawing/2014/main" id="{72C62595-2144-4012-884C-7A527CE37BA8}"/>
              </a:ext>
            </a:extLst>
          </p:cNvPr>
          <p:cNvSpPr>
            <a:spLocks noGrp="1"/>
          </p:cNvSpPr>
          <p:nvPr>
            <p:ph idx="1"/>
          </p:nvPr>
        </p:nvSpPr>
        <p:spPr/>
        <p:txBody>
          <a:bodyPr/>
          <a:lstStyle/>
          <a:p>
            <a:r>
              <a:rPr lang="cs-CZ" dirty="0"/>
              <a:t>V prvním případě by v atributu </a:t>
            </a:r>
            <a:br>
              <a:rPr lang="cs-CZ" dirty="0"/>
            </a:br>
            <a:r>
              <a:rPr lang="cs-CZ" dirty="0"/>
              <a:t>třídy bylo uvedeno např. 1B,2B,..., </a:t>
            </a:r>
            <a:br>
              <a:rPr lang="cs-CZ" dirty="0"/>
            </a:br>
            <a:r>
              <a:rPr lang="cs-CZ" dirty="0"/>
              <a:t>což by nesplňovalo požadavky </a:t>
            </a:r>
            <a:br>
              <a:rPr lang="cs-CZ" dirty="0"/>
            </a:br>
            <a:r>
              <a:rPr lang="cs-CZ" dirty="0"/>
              <a:t>1NF.</a:t>
            </a:r>
          </a:p>
        </p:txBody>
      </p:sp>
      <p:pic>
        <p:nvPicPr>
          <p:cNvPr id="4098" name="Picture 2">
            <a:extLst>
              <a:ext uri="{FF2B5EF4-FFF2-40B4-BE49-F238E27FC236}">
                <a16:creationId xmlns:a16="http://schemas.microsoft.com/office/drawing/2014/main" id="{BE2AEC83-93A9-4E36-A356-8279BED6B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423" y="1252261"/>
            <a:ext cx="5257800" cy="54980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030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B502637-90F6-4D99-BE7D-85C31436DA17}"/>
              </a:ext>
            </a:extLst>
          </p:cNvPr>
          <p:cNvSpPr>
            <a:spLocks noGrp="1"/>
          </p:cNvSpPr>
          <p:nvPr>
            <p:ph type="title"/>
          </p:nvPr>
        </p:nvSpPr>
        <p:spPr/>
        <p:txBody>
          <a:bodyPr/>
          <a:lstStyle/>
          <a:p>
            <a:r>
              <a:rPr lang="cs-CZ" dirty="0"/>
              <a:t>Úkol – najdete na ERD porušení 1NF?</a:t>
            </a:r>
          </a:p>
        </p:txBody>
      </p:sp>
      <p:sp>
        <p:nvSpPr>
          <p:cNvPr id="3" name="Zástupný symbol pro obsah 2">
            <a:extLst>
              <a:ext uri="{FF2B5EF4-FFF2-40B4-BE49-F238E27FC236}">
                <a16:creationId xmlns:a16="http://schemas.microsoft.com/office/drawing/2014/main" id="{5A06DA38-DDFD-4197-B694-946A60ABF322}"/>
              </a:ext>
            </a:extLst>
          </p:cNvPr>
          <p:cNvSpPr>
            <a:spLocks noGrp="1"/>
          </p:cNvSpPr>
          <p:nvPr>
            <p:ph idx="1"/>
          </p:nvPr>
        </p:nvSpPr>
        <p:spPr/>
        <p:txBody>
          <a:bodyPr/>
          <a:lstStyle/>
          <a:p>
            <a:endParaRPr lang="cs-CZ"/>
          </a:p>
        </p:txBody>
      </p:sp>
      <p:pic>
        <p:nvPicPr>
          <p:cNvPr id="5122" name="Picture 2">
            <a:extLst>
              <a:ext uri="{FF2B5EF4-FFF2-40B4-BE49-F238E27FC236}">
                <a16:creationId xmlns:a16="http://schemas.microsoft.com/office/drawing/2014/main" id="{A039E7F6-F007-4404-980C-25BF19E56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825625"/>
            <a:ext cx="4406153" cy="5125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7814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8FF374-1CC9-4596-B8DE-D11111822975}"/>
              </a:ext>
            </a:extLst>
          </p:cNvPr>
          <p:cNvSpPr>
            <a:spLocks noGrp="1"/>
          </p:cNvSpPr>
          <p:nvPr>
            <p:ph type="title"/>
          </p:nvPr>
        </p:nvSpPr>
        <p:spPr/>
        <p:txBody>
          <a:bodyPr/>
          <a:lstStyle/>
          <a:p>
            <a:r>
              <a:rPr lang="cs-CZ" dirty="0"/>
              <a:t>Úkol - řešení</a:t>
            </a:r>
          </a:p>
        </p:txBody>
      </p:sp>
      <p:sp>
        <p:nvSpPr>
          <p:cNvPr id="3" name="Zástupný symbol pro obsah 2">
            <a:extLst>
              <a:ext uri="{FF2B5EF4-FFF2-40B4-BE49-F238E27FC236}">
                <a16:creationId xmlns:a16="http://schemas.microsoft.com/office/drawing/2014/main" id="{56D8F34F-76EC-45C9-AE3F-068DB983D9EC}"/>
              </a:ext>
            </a:extLst>
          </p:cNvPr>
          <p:cNvSpPr>
            <a:spLocks noGrp="1"/>
          </p:cNvSpPr>
          <p:nvPr>
            <p:ph idx="1"/>
          </p:nvPr>
        </p:nvSpPr>
        <p:spPr/>
        <p:txBody>
          <a:bodyPr/>
          <a:lstStyle/>
          <a:p>
            <a:endParaRPr lang="cs-CZ"/>
          </a:p>
        </p:txBody>
      </p:sp>
      <p:pic>
        <p:nvPicPr>
          <p:cNvPr id="6146" name="Picture 2">
            <a:extLst>
              <a:ext uri="{FF2B5EF4-FFF2-40B4-BE49-F238E27FC236}">
                <a16:creationId xmlns:a16="http://schemas.microsoft.com/office/drawing/2014/main" id="{C0F5E5D0-070D-484D-94B2-F4F3CC1FB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4271682" cy="49686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147" name="Picture 3">
            <a:extLst>
              <a:ext uri="{FF2B5EF4-FFF2-40B4-BE49-F238E27FC236}">
                <a16:creationId xmlns:a16="http://schemas.microsoft.com/office/drawing/2014/main" id="{9E92A23E-5F4A-4B12-AEB5-F975CB5D0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856" y="1693726"/>
            <a:ext cx="4580548" cy="5100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8426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CA4F21B-8DF5-4C0B-9E07-787190C441EC}"/>
              </a:ext>
            </a:extLst>
          </p:cNvPr>
          <p:cNvSpPr>
            <a:spLocks noGrp="1"/>
          </p:cNvSpPr>
          <p:nvPr>
            <p:ph type="title"/>
          </p:nvPr>
        </p:nvSpPr>
        <p:spPr/>
        <p:txBody>
          <a:bodyPr/>
          <a:lstStyle/>
          <a:p>
            <a:r>
              <a:rPr lang="cs-CZ" dirty="0"/>
              <a:t>2NF</a:t>
            </a:r>
          </a:p>
        </p:txBody>
      </p:sp>
      <p:sp>
        <p:nvSpPr>
          <p:cNvPr id="3" name="Zástupný symbol pro obsah 2">
            <a:extLst>
              <a:ext uri="{FF2B5EF4-FFF2-40B4-BE49-F238E27FC236}">
                <a16:creationId xmlns:a16="http://schemas.microsoft.com/office/drawing/2014/main" id="{3F6E2BE6-6E0C-4BC5-B88A-EB7717BDA488}"/>
              </a:ext>
            </a:extLst>
          </p:cNvPr>
          <p:cNvSpPr>
            <a:spLocks noGrp="1"/>
          </p:cNvSpPr>
          <p:nvPr>
            <p:ph idx="1"/>
          </p:nvPr>
        </p:nvSpPr>
        <p:spPr/>
        <p:txBody>
          <a:bodyPr>
            <a:normAutofit fontScale="92500"/>
          </a:bodyPr>
          <a:lstStyle/>
          <a:p>
            <a:r>
              <a:rPr lang="cs-CZ" dirty="0"/>
              <a:t>Představme si entitu „DODAVATEL PRODUKTŮ“. UID je v tomto případě složeno z čísla dodavatel a čísla produktů. Pokud jeden dodavatel bude dodávat 5 různých produktů, potom bude vytvořeno 5 různých instancí. Co se stane potom, pokud se změní název dodavatele?</a:t>
            </a:r>
          </a:p>
          <a:p>
            <a:r>
              <a:rPr lang="cs-CZ" dirty="0"/>
              <a:t>Budeme muset upravovat mnoho záznamů, a co když u </a:t>
            </a:r>
            <a:br>
              <a:rPr lang="cs-CZ" dirty="0"/>
            </a:br>
            <a:r>
              <a:rPr lang="cs-CZ" dirty="0"/>
              <a:t>některých hodnotu změníme a někde zůstane nezměněna? </a:t>
            </a:r>
            <a:br>
              <a:rPr lang="cs-CZ" dirty="0"/>
            </a:br>
            <a:r>
              <a:rPr lang="cs-CZ" dirty="0"/>
              <a:t>Jak potom bude uživatel vědět, která hodnota je pravdivá?</a:t>
            </a:r>
          </a:p>
          <a:p>
            <a:r>
              <a:rPr lang="cs-CZ" dirty="0"/>
              <a:t>2NF vyžaduje, aby žádný z neunikátních atributů nebyl </a:t>
            </a:r>
            <a:br>
              <a:rPr lang="cs-CZ" dirty="0"/>
            </a:br>
            <a:r>
              <a:rPr lang="cs-CZ" dirty="0"/>
              <a:t>závislý na daném UID. Např. nesmí být jeho součástí nebo </a:t>
            </a:r>
            <a:br>
              <a:rPr lang="cs-CZ" dirty="0"/>
            </a:br>
            <a:r>
              <a:rPr lang="cs-CZ" dirty="0"/>
              <a:t>charakteristikou daného UID. Je cena v tomto případě </a:t>
            </a:r>
            <a:br>
              <a:rPr lang="cs-CZ" dirty="0"/>
            </a:br>
            <a:r>
              <a:rPr lang="cs-CZ" dirty="0"/>
              <a:t>součástí čísla dodavatele, čísla produktu nebo obojího?</a:t>
            </a:r>
          </a:p>
          <a:p>
            <a:endParaRPr lang="cs-CZ" dirty="0"/>
          </a:p>
        </p:txBody>
      </p:sp>
      <p:pic>
        <p:nvPicPr>
          <p:cNvPr id="7170" name="Picture 2">
            <a:extLst>
              <a:ext uri="{FF2B5EF4-FFF2-40B4-BE49-F238E27FC236}">
                <a16:creationId xmlns:a16="http://schemas.microsoft.com/office/drawing/2014/main" id="{29D29F6D-4671-49E3-8BAC-ACFA17562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2396" y="3690844"/>
            <a:ext cx="2799603" cy="31809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9771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E8B8C67-03A4-478F-9671-6CE6091FB52A}"/>
              </a:ext>
            </a:extLst>
          </p:cNvPr>
          <p:cNvSpPr>
            <a:spLocks noGrp="1"/>
          </p:cNvSpPr>
          <p:nvPr>
            <p:ph type="title"/>
          </p:nvPr>
        </p:nvSpPr>
        <p:spPr/>
        <p:txBody>
          <a:bodyPr/>
          <a:lstStyle/>
          <a:p>
            <a:r>
              <a:rPr lang="cs-CZ" dirty="0"/>
              <a:t>Co je tu špatně?</a:t>
            </a:r>
          </a:p>
        </p:txBody>
      </p:sp>
      <p:sp>
        <p:nvSpPr>
          <p:cNvPr id="3" name="Zástupný symbol pro obsah 2">
            <a:extLst>
              <a:ext uri="{FF2B5EF4-FFF2-40B4-BE49-F238E27FC236}">
                <a16:creationId xmlns:a16="http://schemas.microsoft.com/office/drawing/2014/main" id="{CC343665-8F0C-48E6-ABA2-11D4FE01609A}"/>
              </a:ext>
            </a:extLst>
          </p:cNvPr>
          <p:cNvSpPr>
            <a:spLocks noGrp="1"/>
          </p:cNvSpPr>
          <p:nvPr>
            <p:ph idx="1"/>
          </p:nvPr>
        </p:nvSpPr>
        <p:spPr/>
        <p:txBody>
          <a:bodyPr/>
          <a:lstStyle/>
          <a:p>
            <a:endParaRPr lang="cs-CZ" dirty="0"/>
          </a:p>
          <a:p>
            <a:endParaRPr lang="cs-CZ" dirty="0"/>
          </a:p>
          <a:p>
            <a:endParaRPr lang="cs-CZ" dirty="0"/>
          </a:p>
          <a:p>
            <a:endParaRPr lang="cs-CZ" dirty="0"/>
          </a:p>
          <a:p>
            <a:endParaRPr lang="cs-CZ" dirty="0"/>
          </a:p>
          <a:p>
            <a:endParaRPr lang="cs-CZ" dirty="0"/>
          </a:p>
          <a:p>
            <a:r>
              <a:rPr lang="cs-CZ" dirty="0"/>
              <a:t>Tady je správné řešení - ERD je nyní v 2NF - cena je atribut, který musí být přemístěn. Cena položky závisí plně na produktu a to by bylo porušení 2NF.</a:t>
            </a:r>
          </a:p>
        </p:txBody>
      </p:sp>
      <p:pic>
        <p:nvPicPr>
          <p:cNvPr id="1026" name="Picture 2">
            <a:extLst>
              <a:ext uri="{FF2B5EF4-FFF2-40B4-BE49-F238E27FC236}">
                <a16:creationId xmlns:a16="http://schemas.microsoft.com/office/drawing/2014/main" id="{8434A489-0A05-4207-9A4C-BB15FD81E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365" y="1825625"/>
            <a:ext cx="5181600" cy="29609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9067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905A13E-5D34-4436-B04A-9E12603AF484}"/>
              </a:ext>
            </a:extLst>
          </p:cNvPr>
          <p:cNvSpPr>
            <a:spLocks noGrp="1"/>
          </p:cNvSpPr>
          <p:nvPr>
            <p:ph type="title"/>
          </p:nvPr>
        </p:nvSpPr>
        <p:spPr/>
        <p:txBody>
          <a:bodyPr/>
          <a:lstStyle/>
          <a:p>
            <a:r>
              <a:rPr lang="cs-CZ" dirty="0"/>
              <a:t>Správné řešení</a:t>
            </a:r>
          </a:p>
        </p:txBody>
      </p:sp>
      <p:sp>
        <p:nvSpPr>
          <p:cNvPr id="3" name="Zástupný symbol pro obsah 2">
            <a:extLst>
              <a:ext uri="{FF2B5EF4-FFF2-40B4-BE49-F238E27FC236}">
                <a16:creationId xmlns:a16="http://schemas.microsoft.com/office/drawing/2014/main" id="{B19899D3-0BED-4720-84FA-E1F1F87E5D3B}"/>
              </a:ext>
            </a:extLst>
          </p:cNvPr>
          <p:cNvSpPr>
            <a:spLocks noGrp="1"/>
          </p:cNvSpPr>
          <p:nvPr>
            <p:ph idx="1"/>
          </p:nvPr>
        </p:nvSpPr>
        <p:spPr/>
        <p:txBody>
          <a:bodyPr/>
          <a:lstStyle/>
          <a:p>
            <a:endParaRPr lang="cs-CZ"/>
          </a:p>
        </p:txBody>
      </p:sp>
      <p:pic>
        <p:nvPicPr>
          <p:cNvPr id="2050" name="Picture 2">
            <a:extLst>
              <a:ext uri="{FF2B5EF4-FFF2-40B4-BE49-F238E27FC236}">
                <a16:creationId xmlns:a16="http://schemas.microsoft.com/office/drawing/2014/main" id="{0FE6F1FB-2E68-416A-AE2B-1408B28CB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6318698" cy="43513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8861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B1B80C2-65BD-4151-8346-C21FD8F50DB0}"/>
              </a:ext>
            </a:extLst>
          </p:cNvPr>
          <p:cNvSpPr>
            <a:spLocks noGrp="1"/>
          </p:cNvSpPr>
          <p:nvPr>
            <p:ph type="title"/>
          </p:nvPr>
        </p:nvSpPr>
        <p:spPr/>
        <p:txBody>
          <a:bodyPr/>
          <a:lstStyle/>
          <a:p>
            <a:r>
              <a:rPr lang="cs-CZ" dirty="0"/>
              <a:t>3NF</a:t>
            </a:r>
          </a:p>
        </p:txBody>
      </p:sp>
      <p:sp>
        <p:nvSpPr>
          <p:cNvPr id="3" name="Zástupný symbol pro obsah 2">
            <a:extLst>
              <a:ext uri="{FF2B5EF4-FFF2-40B4-BE49-F238E27FC236}">
                <a16:creationId xmlns:a16="http://schemas.microsoft.com/office/drawing/2014/main" id="{B0534C61-D794-4272-88F1-943C761E8EB3}"/>
              </a:ext>
            </a:extLst>
          </p:cNvPr>
          <p:cNvSpPr>
            <a:spLocks noGrp="1"/>
          </p:cNvSpPr>
          <p:nvPr>
            <p:ph idx="1"/>
          </p:nvPr>
        </p:nvSpPr>
        <p:spPr/>
        <p:txBody>
          <a:bodyPr/>
          <a:lstStyle/>
          <a:p>
            <a:r>
              <a:rPr lang="cs-CZ" dirty="0"/>
              <a:t>3NF říká, že žádný z neklíčových atributů nesmí být závislý na jiném neklíčovém atributů. 3NF zakazuje takzvané </a:t>
            </a:r>
            <a:r>
              <a:rPr lang="cs-CZ" b="1" dirty="0"/>
              <a:t>tranzitivní závislosti </a:t>
            </a:r>
            <a:r>
              <a:rPr lang="cs-CZ" dirty="0"/>
              <a:t>- ty existují pokud nějaký atribut v entitě je závislý na některém jiném neklíčovém atributu v této entitě.</a:t>
            </a:r>
          </a:p>
          <a:p>
            <a:r>
              <a:rPr lang="cs-CZ" dirty="0"/>
              <a:t>Zamyslete se, co byste ukládali za informace o vaší kolekci CD. Budou informace o obchodu, kde bylo CD zakoupeno spadat do stejné entity jako informace o CD? Pokud se změní adresa obchodu, potom budeme muset změnit všechny záznamy CD nakoupených v tomto obchodě.</a:t>
            </a:r>
          </a:p>
        </p:txBody>
      </p:sp>
    </p:spTree>
    <p:extLst>
      <p:ext uri="{BB962C8B-B14F-4D97-AF65-F5344CB8AC3E}">
        <p14:creationId xmlns:p14="http://schemas.microsoft.com/office/powerpoint/2010/main" val="1021668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F5D33DF-8B12-480A-B5A2-39B5A716B8AF}"/>
              </a:ext>
            </a:extLst>
          </p:cNvPr>
          <p:cNvSpPr>
            <a:spLocks noGrp="1"/>
          </p:cNvSpPr>
          <p:nvPr>
            <p:ph type="title"/>
          </p:nvPr>
        </p:nvSpPr>
        <p:spPr/>
        <p:txBody>
          <a:bodyPr/>
          <a:lstStyle/>
          <a:p>
            <a:r>
              <a:rPr lang="cs-CZ" dirty="0"/>
              <a:t>Tranzitivní závislost I.</a:t>
            </a:r>
          </a:p>
        </p:txBody>
      </p:sp>
      <p:sp>
        <p:nvSpPr>
          <p:cNvPr id="3" name="Zástupný symbol pro obsah 2">
            <a:extLst>
              <a:ext uri="{FF2B5EF4-FFF2-40B4-BE49-F238E27FC236}">
                <a16:creationId xmlns:a16="http://schemas.microsoft.com/office/drawing/2014/main" id="{9C09D716-76EE-4FB3-B861-DC64387B0212}"/>
              </a:ext>
            </a:extLst>
          </p:cNvPr>
          <p:cNvSpPr>
            <a:spLocks noGrp="1"/>
          </p:cNvSpPr>
          <p:nvPr>
            <p:ph idx="1"/>
          </p:nvPr>
        </p:nvSpPr>
        <p:spPr/>
        <p:txBody>
          <a:bodyPr/>
          <a:lstStyle/>
          <a:p>
            <a:r>
              <a:rPr lang="cs-CZ" dirty="0"/>
              <a:t>Adresa obchodu je závislá na číslu CD, které je jedním z UID dané entity. Díky tomu je entita v 1NF a 2NF.</a:t>
            </a:r>
          </a:p>
          <a:p>
            <a:r>
              <a:rPr lang="cs-CZ" dirty="0"/>
              <a:t>Ale adresa obchodu je také závislá na názvu obchodu, který je neklíčový atribut. Toto je příklad tranzitivní závislosti a porušení 3NF.</a:t>
            </a:r>
          </a:p>
          <a:p>
            <a:endParaRPr lang="cs-CZ" dirty="0"/>
          </a:p>
        </p:txBody>
      </p:sp>
      <p:pic>
        <p:nvPicPr>
          <p:cNvPr id="3074" name="Picture 2">
            <a:extLst>
              <a:ext uri="{FF2B5EF4-FFF2-40B4-BE49-F238E27FC236}">
                <a16:creationId xmlns:a16="http://schemas.microsoft.com/office/drawing/2014/main" id="{48D8C4F1-0828-440B-AADB-4091D0C40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612" y="3576918"/>
            <a:ext cx="2727133" cy="32810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4910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8F5ED51-047C-4189-9AFA-D6C4C0B42DB4}"/>
              </a:ext>
            </a:extLst>
          </p:cNvPr>
          <p:cNvSpPr>
            <a:spLocks noGrp="1"/>
          </p:cNvSpPr>
          <p:nvPr>
            <p:ph type="title"/>
          </p:nvPr>
        </p:nvSpPr>
        <p:spPr/>
        <p:txBody>
          <a:bodyPr/>
          <a:lstStyle/>
          <a:p>
            <a:r>
              <a:rPr lang="cs-CZ" dirty="0"/>
              <a:t>Tranzitivní závislost II.</a:t>
            </a:r>
          </a:p>
        </p:txBody>
      </p:sp>
      <p:sp>
        <p:nvSpPr>
          <p:cNvPr id="3" name="Zástupný symbol pro obsah 2">
            <a:extLst>
              <a:ext uri="{FF2B5EF4-FFF2-40B4-BE49-F238E27FC236}">
                <a16:creationId xmlns:a16="http://schemas.microsoft.com/office/drawing/2014/main" id="{3CE17CCC-223F-4E16-A0BE-DDD354C3B3BF}"/>
              </a:ext>
            </a:extLst>
          </p:cNvPr>
          <p:cNvSpPr>
            <a:spLocks noGrp="1"/>
          </p:cNvSpPr>
          <p:nvPr>
            <p:ph idx="1"/>
          </p:nvPr>
        </p:nvSpPr>
        <p:spPr/>
        <p:txBody>
          <a:bodyPr/>
          <a:lstStyle/>
          <a:p>
            <a:endParaRPr lang="cs-CZ" dirty="0"/>
          </a:p>
        </p:txBody>
      </p:sp>
      <p:pic>
        <p:nvPicPr>
          <p:cNvPr id="4098" name="Picture 2">
            <a:extLst>
              <a:ext uri="{FF2B5EF4-FFF2-40B4-BE49-F238E27FC236}">
                <a16:creationId xmlns:a16="http://schemas.microsoft.com/office/drawing/2014/main" id="{02146681-2250-43F0-A3BB-86A11AA97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825625"/>
            <a:ext cx="3034553" cy="33759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099" name="Picture 3">
            <a:extLst>
              <a:ext uri="{FF2B5EF4-FFF2-40B4-BE49-F238E27FC236}">
                <a16:creationId xmlns:a16="http://schemas.microsoft.com/office/drawing/2014/main" id="{E0952547-A8B3-430E-B4D8-FFD32459F8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349" y="3513595"/>
            <a:ext cx="6427301" cy="26633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5822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E146A1E-F7F5-41F7-94F1-50A94AE4F00D}"/>
              </a:ext>
            </a:extLst>
          </p:cNvPr>
          <p:cNvSpPr>
            <a:spLocks noGrp="1"/>
          </p:cNvSpPr>
          <p:nvPr>
            <p:ph type="title"/>
          </p:nvPr>
        </p:nvSpPr>
        <p:spPr/>
        <p:txBody>
          <a:bodyPr/>
          <a:lstStyle/>
          <a:p>
            <a:r>
              <a:rPr lang="cs-CZ" dirty="0"/>
              <a:t>Tranzitivní závislost III.</a:t>
            </a:r>
          </a:p>
        </p:txBody>
      </p:sp>
      <p:sp>
        <p:nvSpPr>
          <p:cNvPr id="3" name="Zástupný symbol pro obsah 2">
            <a:extLst>
              <a:ext uri="{FF2B5EF4-FFF2-40B4-BE49-F238E27FC236}">
                <a16:creationId xmlns:a16="http://schemas.microsoft.com/office/drawing/2014/main" id="{CC887F6B-8619-4E56-97E3-5B6873A4F165}"/>
              </a:ext>
            </a:extLst>
          </p:cNvPr>
          <p:cNvSpPr>
            <a:spLocks noGrp="1"/>
          </p:cNvSpPr>
          <p:nvPr>
            <p:ph idx="1"/>
          </p:nvPr>
        </p:nvSpPr>
        <p:spPr/>
        <p:txBody>
          <a:bodyPr/>
          <a:lstStyle/>
          <a:p>
            <a:endParaRPr lang="cs-CZ"/>
          </a:p>
        </p:txBody>
      </p:sp>
      <p:pic>
        <p:nvPicPr>
          <p:cNvPr id="5122" name="Picture 2">
            <a:extLst>
              <a:ext uri="{FF2B5EF4-FFF2-40B4-BE49-F238E27FC236}">
                <a16:creationId xmlns:a16="http://schemas.microsoft.com/office/drawing/2014/main" id="{A32A16EB-1694-4930-BF33-F725F4FB9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5624"/>
            <a:ext cx="4433047" cy="3153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29C89739-6EF0-4B15-B3E8-2E86A8E875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2394" y="3147247"/>
            <a:ext cx="4760259" cy="37107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4059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4D3784A-F170-48B4-A981-5121B6C6707E}"/>
              </a:ext>
            </a:extLst>
          </p:cNvPr>
          <p:cNvSpPr>
            <a:spLocks noGrp="1"/>
          </p:cNvSpPr>
          <p:nvPr>
            <p:ph type="title"/>
          </p:nvPr>
        </p:nvSpPr>
        <p:spPr/>
        <p:txBody>
          <a:bodyPr/>
          <a:lstStyle/>
          <a:p>
            <a:r>
              <a:rPr lang="cs-CZ" dirty="0"/>
              <a:t>Úkoly</a:t>
            </a:r>
          </a:p>
        </p:txBody>
      </p:sp>
      <p:sp>
        <p:nvSpPr>
          <p:cNvPr id="3" name="Zástupný symbol pro obsah 2">
            <a:extLst>
              <a:ext uri="{FF2B5EF4-FFF2-40B4-BE49-F238E27FC236}">
                <a16:creationId xmlns:a16="http://schemas.microsoft.com/office/drawing/2014/main" id="{F35F4E4F-32FD-435E-9F65-CDB4F22891A5}"/>
              </a:ext>
            </a:extLst>
          </p:cNvPr>
          <p:cNvSpPr>
            <a:spLocks noGrp="1"/>
          </p:cNvSpPr>
          <p:nvPr>
            <p:ph idx="1"/>
          </p:nvPr>
        </p:nvSpPr>
        <p:spPr/>
        <p:txBody>
          <a:bodyPr/>
          <a:lstStyle/>
          <a:p>
            <a:r>
              <a:rPr lang="cs-CZ" dirty="0"/>
              <a:t>6_1 </a:t>
            </a:r>
            <a:r>
              <a:rPr lang="cs-CZ" dirty="0" err="1"/>
              <a:t>cv</a:t>
            </a:r>
            <a:r>
              <a:rPr lang="cs-CZ" dirty="0"/>
              <a:t>. 5 nakreslit konceptuální model komplet</a:t>
            </a:r>
          </a:p>
          <a:p>
            <a:r>
              <a:rPr lang="cs-CZ" dirty="0"/>
              <a:t>6_2 </a:t>
            </a:r>
            <a:r>
              <a:rPr lang="cs-CZ" dirty="0" err="1"/>
              <a:t>cv</a:t>
            </a:r>
            <a:r>
              <a:rPr lang="cs-CZ" dirty="0"/>
              <a:t>. 3</a:t>
            </a:r>
          </a:p>
          <a:p>
            <a:r>
              <a:rPr lang="cs-CZ" dirty="0"/>
              <a:t>6_3</a:t>
            </a:r>
          </a:p>
          <a:p>
            <a:r>
              <a:rPr lang="cs-CZ" dirty="0"/>
              <a:t>6_4 </a:t>
            </a:r>
            <a:r>
              <a:rPr lang="cs-CZ" dirty="0" err="1"/>
              <a:t>cv</a:t>
            </a:r>
            <a:r>
              <a:rPr lang="cs-CZ" dirty="0"/>
              <a:t>. </a:t>
            </a:r>
            <a:r>
              <a:rPr lang="cs-CZ"/>
              <a:t>1 a 3</a:t>
            </a:r>
            <a:endParaRPr lang="cs-CZ" dirty="0"/>
          </a:p>
        </p:txBody>
      </p:sp>
    </p:spTree>
    <p:extLst>
      <p:ext uri="{BB962C8B-B14F-4D97-AF65-F5344CB8AC3E}">
        <p14:creationId xmlns:p14="http://schemas.microsoft.com/office/powerpoint/2010/main" val="2222646418"/>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881</Words>
  <Application>Microsoft Office PowerPoint</Application>
  <PresentationFormat>Širokoúhlá obrazovka</PresentationFormat>
  <Paragraphs>63</Paragraphs>
  <Slides>19</Slides>
  <Notes>2</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19</vt:i4>
      </vt:variant>
    </vt:vector>
  </HeadingPairs>
  <TitlesOfParts>
    <vt:vector size="23" baseType="lpstr">
      <vt:lpstr>Arial</vt:lpstr>
      <vt:lpstr>Calibri</vt:lpstr>
      <vt:lpstr>Calibri Light</vt:lpstr>
      <vt:lpstr>Motiv Office</vt:lpstr>
      <vt:lpstr>UID a normalizace</vt:lpstr>
      <vt:lpstr>Jednoduchý, složený unikátní UID</vt:lpstr>
      <vt:lpstr>Jednoduchý a složený UID</vt:lpstr>
      <vt:lpstr>Umělý UID I.</vt:lpstr>
      <vt:lpstr>Umělý UID z relace M:N</vt:lpstr>
      <vt:lpstr>Kandidátní UID</vt:lpstr>
      <vt:lpstr>Normalizace</vt:lpstr>
      <vt:lpstr>1NF I.</vt:lpstr>
      <vt:lpstr>1NF II.</vt:lpstr>
      <vt:lpstr>Úkol – najdete na ERD porušení 1NF?</vt:lpstr>
      <vt:lpstr>Úkol - řešení</vt:lpstr>
      <vt:lpstr>2NF</vt:lpstr>
      <vt:lpstr>Co je tu špatně?</vt:lpstr>
      <vt:lpstr>Správné řešení</vt:lpstr>
      <vt:lpstr>3NF</vt:lpstr>
      <vt:lpstr>Tranzitivní závislost I.</vt:lpstr>
      <vt:lpstr>Tranzitivní závislost II.</vt:lpstr>
      <vt:lpstr>Tranzitivní závislost III.</vt:lpstr>
      <vt:lpstr>Úkoly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UID a normalizace</dc:title>
  <dc:creator>Veronika Hurtová</dc:creator>
  <cp:lastModifiedBy>Veronika</cp:lastModifiedBy>
  <cp:revision>14</cp:revision>
  <dcterms:created xsi:type="dcterms:W3CDTF">2017-10-16T12:25:54Z</dcterms:created>
  <dcterms:modified xsi:type="dcterms:W3CDTF">2018-10-25T10:47:08Z</dcterms:modified>
</cp:coreProperties>
</file>