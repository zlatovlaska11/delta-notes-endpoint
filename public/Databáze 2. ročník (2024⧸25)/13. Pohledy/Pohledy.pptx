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6" r:id="rId21"/>
    <p:sldId id="277" r:id="rId22"/>
    <p:sldId id="278" r:id="rId23"/>
    <p:sldId id="279" r:id="rId24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3883" autoAdjust="0"/>
  </p:normalViewPr>
  <p:slideViewPr>
    <p:cSldViewPr snapToGrid="0">
      <p:cViewPr varScale="1">
        <p:scale>
          <a:sx n="68" d="100"/>
          <a:sy n="68" d="100"/>
        </p:scale>
        <p:origin x="61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55CD1D-37ED-4D08-AF0F-F53965266E5F}" type="datetimeFigureOut">
              <a:rPr lang="cs-CZ" smtClean="0"/>
              <a:t>22.03.2019</a:t>
            </a:fld>
            <a:endParaRPr lang="cs-CZ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A0534B-CE85-4C44-BB82-DBCADB373433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1041556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Dvě možnosti zápisů </a:t>
            </a:r>
            <a:r>
              <a:rPr lang="cs-CZ" dirty="0" err="1"/>
              <a:t>aliasů</a:t>
            </a:r>
            <a:r>
              <a:rPr lang="cs-CZ" dirty="0"/>
              <a:t> pro sloupce.</a:t>
            </a: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A0534B-CE85-4C44-BB82-DBCADB373433}" type="slidenum">
              <a:rPr lang="cs-CZ" smtClean="0"/>
              <a:t>11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0606017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Mohu </a:t>
            </a:r>
            <a:r>
              <a:rPr lang="cs-CZ" dirty="0" err="1"/>
              <a:t>menit</a:t>
            </a:r>
            <a:r>
              <a:rPr lang="cs-CZ" dirty="0"/>
              <a:t> i data skrze pohled i když </a:t>
            </a:r>
            <a:r>
              <a:rPr lang="cs-CZ" dirty="0" err="1"/>
              <a:t>puvodne</a:t>
            </a:r>
            <a:r>
              <a:rPr lang="cs-CZ" dirty="0"/>
              <a:t> mely byt </a:t>
            </a:r>
            <a:r>
              <a:rPr lang="cs-CZ" dirty="0" err="1"/>
              <a:t>vybrani</a:t>
            </a:r>
            <a:r>
              <a:rPr lang="cs-CZ" dirty="0"/>
              <a:t> jen </a:t>
            </a:r>
            <a:r>
              <a:rPr lang="cs-CZ" dirty="0" err="1"/>
              <a:t>zamestnanci</a:t>
            </a:r>
            <a:r>
              <a:rPr lang="cs-CZ" dirty="0"/>
              <a:t> s </a:t>
            </a:r>
            <a:r>
              <a:rPr lang="cs-CZ" dirty="0" err="1"/>
              <a:t>oddelenim</a:t>
            </a:r>
            <a:r>
              <a:rPr lang="cs-CZ" dirty="0"/>
              <a:t> 50.</a:t>
            </a: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A0534B-CE85-4C44-BB82-DBCADB373433}" type="slidenum">
              <a:rPr lang="cs-CZ" smtClean="0"/>
              <a:t>17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4021650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Barevna část symbolizuje </a:t>
            </a:r>
            <a:r>
              <a:rPr lang="cs-CZ" dirty="0" err="1"/>
              <a:t>inline</a:t>
            </a:r>
            <a:r>
              <a:rPr lang="cs-CZ" dirty="0"/>
              <a:t> pohled, který je </a:t>
            </a:r>
            <a:r>
              <a:rPr lang="cs-CZ" dirty="0" err="1"/>
              <a:t>pojmenovany</a:t>
            </a:r>
            <a:r>
              <a:rPr lang="cs-CZ" dirty="0"/>
              <a:t>, a proto </a:t>
            </a:r>
            <a:r>
              <a:rPr lang="cs-CZ" dirty="0" err="1"/>
              <a:t>muze</a:t>
            </a:r>
            <a:r>
              <a:rPr lang="cs-CZ" dirty="0"/>
              <a:t> byt jako </a:t>
            </a:r>
            <a:r>
              <a:rPr lang="cs-CZ" dirty="0" err="1"/>
              <a:t>poddotaz</a:t>
            </a:r>
            <a:r>
              <a:rPr lang="cs-CZ" dirty="0"/>
              <a:t> </a:t>
            </a:r>
            <a:r>
              <a:rPr lang="cs-CZ" dirty="0" err="1"/>
              <a:t>pouzit</a:t>
            </a:r>
            <a:r>
              <a:rPr lang="cs-CZ" dirty="0"/>
              <a:t> v </a:t>
            </a:r>
            <a:r>
              <a:rPr lang="cs-CZ" dirty="0" err="1"/>
              <a:t>casti</a:t>
            </a:r>
            <a:r>
              <a:rPr lang="cs-CZ" dirty="0"/>
              <a:t> </a:t>
            </a:r>
            <a:r>
              <a:rPr lang="cs-CZ" dirty="0" err="1"/>
              <a:t>from</a:t>
            </a:r>
            <a:r>
              <a:rPr lang="cs-CZ" dirty="0"/>
              <a:t>.</a:t>
            </a: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A0534B-CE85-4C44-BB82-DBCADB373433}" type="slidenum">
              <a:rPr lang="cs-CZ" smtClean="0"/>
              <a:t>21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9503704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select ROWNUM as "</a:t>
            </a:r>
            <a:r>
              <a:rPr lang="en-US" dirty="0" err="1"/>
              <a:t>poradi</a:t>
            </a:r>
            <a:r>
              <a:rPr lang="en-US" dirty="0"/>
              <a:t>",</a:t>
            </a:r>
            <a:r>
              <a:rPr lang="en-US" dirty="0" err="1"/>
              <a:t>first_name</a:t>
            </a:r>
            <a:r>
              <a:rPr lang="en-US" dirty="0"/>
              <a:t>, </a:t>
            </a:r>
            <a:r>
              <a:rPr lang="en-US" dirty="0" err="1"/>
              <a:t>last_name</a:t>
            </a:r>
            <a:r>
              <a:rPr lang="en-US" dirty="0"/>
              <a:t>, salary from employees where salary &gt; (select avg(salary) from employees) AND </a:t>
            </a:r>
            <a:r>
              <a:rPr lang="en-US" dirty="0" err="1"/>
              <a:t>rownum</a:t>
            </a:r>
            <a:r>
              <a:rPr lang="en-US" dirty="0"/>
              <a:t>&lt;=5</a:t>
            </a:r>
            <a:r>
              <a:rPr lang="cs-CZ" dirty="0"/>
              <a:t>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select (select avg(salary) from employees) as "</a:t>
            </a:r>
            <a:r>
              <a:rPr lang="en-US" dirty="0" err="1"/>
              <a:t>prumer</a:t>
            </a:r>
            <a:r>
              <a:rPr lang="en-US" dirty="0"/>
              <a:t> </a:t>
            </a:r>
            <a:r>
              <a:rPr lang="en-US" dirty="0" err="1"/>
              <a:t>celkem</a:t>
            </a:r>
            <a:r>
              <a:rPr lang="en-US" dirty="0"/>
              <a:t>", </a:t>
            </a:r>
            <a:r>
              <a:rPr lang="en-US" dirty="0" err="1"/>
              <a:t>department_id</a:t>
            </a:r>
            <a:r>
              <a:rPr lang="en-US" dirty="0"/>
              <a:t>,  avg(salary) as "za </a:t>
            </a:r>
            <a:r>
              <a:rPr lang="en-US" dirty="0" err="1"/>
              <a:t>oddeleni</a:t>
            </a:r>
            <a:r>
              <a:rPr lang="en-US" dirty="0"/>
              <a:t>" from employees group by </a:t>
            </a:r>
            <a:r>
              <a:rPr lang="en-US" dirty="0" err="1"/>
              <a:t>department_id</a:t>
            </a:r>
            <a:r>
              <a:rPr lang="cs-CZ" dirty="0"/>
              <a:t>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create or replace view </a:t>
            </a:r>
            <a:r>
              <a:rPr lang="en-US" dirty="0" err="1"/>
              <a:t>v_prum_od_fi</a:t>
            </a:r>
            <a:r>
              <a:rPr lang="en-US" dirty="0"/>
              <a:t> as select (select avg(salary) from employees) as "</a:t>
            </a:r>
            <a:r>
              <a:rPr lang="en-US" dirty="0" err="1"/>
              <a:t>prumer</a:t>
            </a:r>
            <a:r>
              <a:rPr lang="en-US" dirty="0"/>
              <a:t> </a:t>
            </a:r>
            <a:r>
              <a:rPr lang="en-US" dirty="0" err="1"/>
              <a:t>celkem</a:t>
            </a:r>
            <a:r>
              <a:rPr lang="en-US" dirty="0"/>
              <a:t>", </a:t>
            </a:r>
            <a:r>
              <a:rPr lang="en-US" dirty="0" err="1"/>
              <a:t>department_id</a:t>
            </a:r>
            <a:r>
              <a:rPr lang="en-US" dirty="0"/>
              <a:t>,  avg(salary) as "za </a:t>
            </a:r>
            <a:r>
              <a:rPr lang="en-US" dirty="0" err="1"/>
              <a:t>oddeleni</a:t>
            </a:r>
            <a:r>
              <a:rPr lang="en-US" dirty="0"/>
              <a:t>" from employees group by </a:t>
            </a:r>
            <a:r>
              <a:rPr lang="en-US" dirty="0" err="1"/>
              <a:t>department_id</a:t>
            </a:r>
            <a:endParaRPr lang="cs-CZ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cs-CZ" dirty="0"/>
          </a:p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A0534B-CE85-4C44-BB82-DBCADB373433}" type="slidenum">
              <a:rPr lang="cs-CZ" smtClean="0"/>
              <a:t>23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39263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4E1F4F7-E071-4DB7-AD7E-3CD3934BB6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F2ECAB69-3B0D-42D2-BCA6-91526A3246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0E07EC3C-08F8-4EC0-8D3C-580FCFBA81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44739-E5D8-45B5-8389-C549C31A7FE6}" type="datetimeFigureOut">
              <a:rPr lang="cs-CZ" smtClean="0"/>
              <a:t>22.03.2019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98E80E7D-9767-4315-A86D-A144321A45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62FA62DA-01E9-45FA-8956-288375FA71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45A74-F9C2-4417-B168-F7BCC1D68F9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04602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31A3F7B-C388-4D9B-933A-40F2FF8DE9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44B315FC-A59F-4EBB-87D6-67C3F0B971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20108BFC-2F8D-4E81-8F09-7372030545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44739-E5D8-45B5-8389-C549C31A7FE6}" type="datetimeFigureOut">
              <a:rPr lang="cs-CZ" smtClean="0"/>
              <a:t>22.03.2019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1BBC8869-EBE5-411C-B4B8-50625E5E88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019DB9FA-D39A-417A-AE92-C7A3F349F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45A74-F9C2-4417-B168-F7BCC1D68F9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8155825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čá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C3CBE50-B70B-4C90-A4A6-6BA907641B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text 2">
            <a:extLst>
              <a:ext uri="{FF2B5EF4-FFF2-40B4-BE49-F238E27FC236}">
                <a16:creationId xmlns:a16="http://schemas.microsoft.com/office/drawing/2014/main" id="{914F492B-09AF-4E58-9B79-86DD997844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72893C14-82E6-4389-94AC-116714979C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44739-E5D8-45B5-8389-C549C31A7FE6}" type="datetimeFigureOut">
              <a:rPr lang="cs-CZ" smtClean="0"/>
              <a:t>22.03.2019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8C626F0B-82ED-49EA-9AEE-5A835AA66D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C78D5B93-FDDB-46F8-A522-C3F2B4015E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45A74-F9C2-4417-B168-F7BCC1D68F9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4961537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BBE2FA6-F785-4E6A-9E68-1B54EA528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C6043B8C-2552-4BF5-92A8-0A96A3CA53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obsah 3">
            <a:extLst>
              <a:ext uri="{FF2B5EF4-FFF2-40B4-BE49-F238E27FC236}">
                <a16:creationId xmlns:a16="http://schemas.microsoft.com/office/drawing/2014/main" id="{35C7DB33-453E-46F5-A42F-5D5EB44702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F67D6447-4BD7-4C0A-B43E-5374D55D2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44739-E5D8-45B5-8389-C549C31A7FE6}" type="datetimeFigureOut">
              <a:rPr lang="cs-CZ" smtClean="0"/>
              <a:t>22.03.2019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F56D04AC-A6CF-4F0D-B435-009AE5F16B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22311488-D321-42B7-BBF7-87D9600B2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45A74-F9C2-4417-B168-F7BCC1D68F9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7562733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3447713-25C4-4EBA-8D94-FCC97943C4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text 2">
            <a:extLst>
              <a:ext uri="{FF2B5EF4-FFF2-40B4-BE49-F238E27FC236}">
                <a16:creationId xmlns:a16="http://schemas.microsoft.com/office/drawing/2014/main" id="{EA7E3E40-B904-4D9A-BC23-1115E8E897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4" name="Zástupný symbol pro obsah 3">
            <a:extLst>
              <a:ext uri="{FF2B5EF4-FFF2-40B4-BE49-F238E27FC236}">
                <a16:creationId xmlns:a16="http://schemas.microsoft.com/office/drawing/2014/main" id="{326D8117-C71E-432A-AE46-AFC6AE24CE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text 4">
            <a:extLst>
              <a:ext uri="{FF2B5EF4-FFF2-40B4-BE49-F238E27FC236}">
                <a16:creationId xmlns:a16="http://schemas.microsoft.com/office/drawing/2014/main" id="{09EC113C-D0A1-4C0A-9F87-DF5F51EB42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6" name="Zástupný symbol pro obsah 5">
            <a:extLst>
              <a:ext uri="{FF2B5EF4-FFF2-40B4-BE49-F238E27FC236}">
                <a16:creationId xmlns:a16="http://schemas.microsoft.com/office/drawing/2014/main" id="{5A221C25-2649-4364-A7AE-232BBE30F4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DB6B2887-C1E8-4472-BD65-234F868357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44739-E5D8-45B5-8389-C549C31A7FE6}" type="datetimeFigureOut">
              <a:rPr lang="cs-CZ" smtClean="0"/>
              <a:t>22.03.2019</a:t>
            </a:fld>
            <a:endParaRPr lang="cs-CZ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0DABFF3D-7849-4297-A6D0-5EEFBC4C68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6DCE2625-9264-4E31-BB19-0D1EEB4AF2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45A74-F9C2-4417-B168-F7BCC1D68F9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2746262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4749943-9C2A-4A5B-99E5-973FDA7CA7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CA16F9AC-0780-4F35-B301-AA7D434701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44739-E5D8-45B5-8389-C549C31A7FE6}" type="datetimeFigureOut">
              <a:rPr lang="cs-CZ" smtClean="0"/>
              <a:t>22.03.2019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73BD9DE9-C107-4A15-A68E-5A14D88755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7D5C241B-49E2-493C-9554-7614AAF2A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45A74-F9C2-4417-B168-F7BCC1D68F9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899372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AED3B213-5B26-44D8-B22A-288A488252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44739-E5D8-45B5-8389-C549C31A7FE6}" type="datetimeFigureOut">
              <a:rPr lang="cs-CZ" smtClean="0"/>
              <a:t>22.03.2019</a:t>
            </a:fld>
            <a:endParaRPr lang="cs-CZ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3A6860CC-1D1B-48EF-895E-D8FB39FA19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7B62EE55-6C79-4B68-8703-D3D153919E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45A74-F9C2-4417-B168-F7BCC1D68F9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8734144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E77DF43-1BD9-478C-92C2-83CFAACB21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4C494278-F4D1-44AB-A13F-6998EE6AE9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text 3">
            <a:extLst>
              <a:ext uri="{FF2B5EF4-FFF2-40B4-BE49-F238E27FC236}">
                <a16:creationId xmlns:a16="http://schemas.microsoft.com/office/drawing/2014/main" id="{32C39430-405C-4D32-A963-06BBAFD692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87365A36-CB89-465F-B6F9-3305635F3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44739-E5D8-45B5-8389-C549C31A7FE6}" type="datetimeFigureOut">
              <a:rPr lang="cs-CZ" smtClean="0"/>
              <a:t>22.03.2019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0B0B64E0-D34B-4CE1-BFEC-3645A36DEF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99739451-F391-4942-ACCF-E117F42C9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45A74-F9C2-4417-B168-F7BCC1D68F9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2058808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D2147BF-EC13-4260-801B-E7FC23224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0393BA03-6659-4842-98EB-B80F9261423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symbol pro text 3">
            <a:extLst>
              <a:ext uri="{FF2B5EF4-FFF2-40B4-BE49-F238E27FC236}">
                <a16:creationId xmlns:a16="http://schemas.microsoft.com/office/drawing/2014/main" id="{095FBB7A-6300-43A4-BA01-62C378D70F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4EB107DF-4183-4F40-8DBF-1E65C675FC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44739-E5D8-45B5-8389-C549C31A7FE6}" type="datetimeFigureOut">
              <a:rPr lang="cs-CZ" smtClean="0"/>
              <a:t>22.03.2019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C39EFE30-BDA2-472B-81D6-EBD0A8E5EC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82FDFD30-CD5D-4B33-B369-96747EC7C3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45A74-F9C2-4417-B168-F7BCC1D68F9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7781855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758C39F-008F-48D7-9EBA-EA62B4583C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D10AB341-9149-40AC-9960-3D505F9E0F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5B7EB882-4763-48CC-8C40-3ECC6B3ACB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44739-E5D8-45B5-8389-C549C31A7FE6}" type="datetimeFigureOut">
              <a:rPr lang="cs-CZ" smtClean="0"/>
              <a:t>22.03.2019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C41AEED4-E6FE-4E32-B0D8-8A89EA8DA6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84323A74-5DF6-45D5-897A-681472801E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45A74-F9C2-4417-B168-F7BCC1D68F9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0947083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id="{D6385940-C94D-4990-9C99-53E7AB586C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CCA256B2-BE20-49C4-82A1-4B89B38BAA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C8096D94-2F43-4578-86F0-93EFDCE0E2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44739-E5D8-45B5-8389-C549C31A7FE6}" type="datetimeFigureOut">
              <a:rPr lang="cs-CZ" smtClean="0"/>
              <a:t>22.03.2019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C5099F5B-D4C6-4B39-BD99-541F3F73D0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F8395106-CA77-4D46-9277-733ED8A206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45A74-F9C2-4417-B168-F7BCC1D68F9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2444368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8AA76862-B2D7-425E-8533-B86EA00888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text 2">
            <a:extLst>
              <a:ext uri="{FF2B5EF4-FFF2-40B4-BE49-F238E27FC236}">
                <a16:creationId xmlns:a16="http://schemas.microsoft.com/office/drawing/2014/main" id="{FDD021FA-5AAD-490A-B4D2-9D28715B83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F0D9B28C-64C9-4224-A67C-B517F368EF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444739-E5D8-45B5-8389-C549C31A7FE6}" type="datetimeFigureOut">
              <a:rPr lang="cs-CZ" smtClean="0"/>
              <a:t>22.03.2019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D26925ED-E470-460C-A1F7-B32D3F3622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395C8AF2-630E-416A-BF23-D5ED85FA8A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A45A74-F9C2-4417-B168-F7BCC1D68F9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3352708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3F33349-4EFC-40F0-A77A-5434B53547C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cs-CZ" dirty="0"/>
              <a:t>Pohledy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B91FDAF3-8C6C-4600-BF6D-26AD1E2D94B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3366182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BAE51F0-8B9F-4218-9FD2-3B1490A9C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Co je to pohled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33C03CD4-B63D-4997-BC8B-8037A02ADE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Pohled, stejně jako tabulka je databázový objekt, nicméně pohledy nejsou reálné tabulky. Jsou to logické reprezentace existujících tabulek nebo jiných pohledů.</a:t>
            </a:r>
          </a:p>
          <a:p>
            <a:r>
              <a:rPr lang="cs-CZ" dirty="0"/>
              <a:t>Pohledy sami o sobě neobsahují žádná vlastní data. Jejich funkcí je zobrazit, která data z tabulky mohou být změněna nebo zobrazena. </a:t>
            </a:r>
          </a:p>
          <a:p>
            <a:r>
              <a:rPr lang="cs-CZ" dirty="0"/>
              <a:t>Tabulky na jejichž základu je pohled vytvořen se nazývají bázové tabulky. Pohled je </a:t>
            </a:r>
            <a:r>
              <a:rPr lang="cs-CZ" b="1" dirty="0"/>
              <a:t>uložený </a:t>
            </a:r>
            <a:r>
              <a:rPr lang="cs-CZ" b="1" dirty="0" err="1"/>
              <a:t>select</a:t>
            </a:r>
            <a:r>
              <a:rPr lang="cs-CZ" b="1" dirty="0"/>
              <a:t> v datovém slovníku</a:t>
            </a:r>
            <a:r>
              <a:rPr lang="cs-CZ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534585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535F5ED-2427-4598-A5F1-9A67EBF3E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C2059456-1AED-45E3-8290-AC8D10D70A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cs-CZ"/>
          </a:p>
        </p:txBody>
      </p:sp>
      <p:pic>
        <p:nvPicPr>
          <p:cNvPr id="4" name="Picture 324">
            <a:extLst>
              <a:ext uri="{FF2B5EF4-FFF2-40B4-BE49-F238E27FC236}">
                <a16:creationId xmlns:a16="http://schemas.microsoft.com/office/drawing/2014/main" id="{675E1D4B-1CF8-4C9E-9F1F-4F42215547A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229678" y="2283725"/>
            <a:ext cx="7046843" cy="3162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15911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8FA0640-9256-4DCE-A760-F3A2918CE0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Proč používat pohledy?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745BE9BA-93B3-4D2B-981C-6060DBB38E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Pohledy omezují přístup k bázovým datovým tabulkám, protože pohled může zobrazit pouze vybrané sloupce z tabulky.</a:t>
            </a:r>
          </a:p>
          <a:p>
            <a:r>
              <a:rPr lang="cs-CZ" dirty="0"/>
              <a:t>Pohledy mohou být použity pro redukování komplexnosti spouštěných dotazů založených na komplikovaných </a:t>
            </a:r>
            <a:r>
              <a:rPr lang="cs-CZ" dirty="0" err="1"/>
              <a:t>selectech</a:t>
            </a:r>
            <a:r>
              <a:rPr lang="cs-CZ" dirty="0"/>
              <a:t>.</a:t>
            </a:r>
          </a:p>
          <a:p>
            <a:r>
              <a:rPr lang="cs-CZ" dirty="0"/>
              <a:t>Například tvůrce pohledu může data vytahovat z rozdílných tabulek. Uživatel pohledu neuvidí nikdy kód, který se pod pohledem skrývá a jak byl vytvořen. </a:t>
            </a:r>
          </a:p>
          <a:p>
            <a:r>
              <a:rPr lang="cs-CZ" dirty="0"/>
              <a:t>Uživatel skrze pohled pracuje interaktivně s databázi </a:t>
            </a:r>
            <a:r>
              <a:rPr lang="cs-CZ" dirty="0" err="1"/>
              <a:t>skze</a:t>
            </a:r>
            <a:r>
              <a:rPr lang="cs-CZ" dirty="0"/>
              <a:t> jednoduché dotazy.</a:t>
            </a:r>
          </a:p>
        </p:txBody>
      </p:sp>
    </p:spTree>
    <p:extLst>
      <p:ext uri="{BB962C8B-B14F-4D97-AF65-F5344CB8AC3E}">
        <p14:creationId xmlns:p14="http://schemas.microsoft.com/office/powerpoint/2010/main" val="9265254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049ECF0-B860-4778-952F-395A137766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7EFC8218-E844-4183-9A7F-4FB28C261F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Pohledy mohou být použity pro získání dat z několika tabulek poskytujících nezávislost pro uživatele.</a:t>
            </a:r>
          </a:p>
          <a:p>
            <a:r>
              <a:rPr lang="cs-CZ" dirty="0"/>
              <a:t>Uživatele mohou data vidět v rozdílných provedeních. </a:t>
            </a:r>
          </a:p>
          <a:p>
            <a:r>
              <a:rPr lang="cs-CZ" dirty="0"/>
              <a:t>Pohled poskytuje skupinám uživatelů přístup k datům v závislosti na jejich oprávněních.</a:t>
            </a:r>
          </a:p>
          <a:p>
            <a:endParaRPr lang="cs-CZ" dirty="0"/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0965449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2630706-8AEB-41E8-B57F-C957176B84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dirty="0"/>
              <a:t>Pro vytvoření pohledu stačí před dotaz přidat </a:t>
            </a:r>
            <a:r>
              <a:rPr lang="cs-CZ" dirty="0" err="1"/>
              <a:t>create</a:t>
            </a:r>
            <a:r>
              <a:rPr lang="cs-CZ" dirty="0"/>
              <a:t> </a:t>
            </a:r>
            <a:r>
              <a:rPr lang="cs-CZ" dirty="0" err="1"/>
              <a:t>view</a:t>
            </a:r>
            <a:endParaRPr lang="cs-CZ" dirty="0"/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FC31EBAF-D6E2-45A5-AFF8-9097D449E8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cs-CZ" dirty="0"/>
          </a:p>
        </p:txBody>
      </p:sp>
      <p:pic>
        <p:nvPicPr>
          <p:cNvPr id="4" name="Picture 325">
            <a:extLst>
              <a:ext uri="{FF2B5EF4-FFF2-40B4-BE49-F238E27FC236}">
                <a16:creationId xmlns:a16="http://schemas.microsoft.com/office/drawing/2014/main" id="{1DABB36B-13F3-4316-B360-9D3C1B122CA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09330" y="1944894"/>
            <a:ext cx="5289067" cy="976452"/>
          </a:xfrm>
          <a:prstGeom prst="rect">
            <a:avLst/>
          </a:prstGeom>
        </p:spPr>
      </p:pic>
      <p:pic>
        <p:nvPicPr>
          <p:cNvPr id="5" name="Picture 326">
            <a:extLst>
              <a:ext uri="{FF2B5EF4-FFF2-40B4-BE49-F238E27FC236}">
                <a16:creationId xmlns:a16="http://schemas.microsoft.com/office/drawing/2014/main" id="{7E74BF91-53CA-4A77-BA75-72706F90EA34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5398397" y="1595783"/>
            <a:ext cx="6435795" cy="3666434"/>
          </a:xfrm>
          <a:prstGeom prst="rect">
            <a:avLst/>
          </a:prstGeom>
        </p:spPr>
      </p:pic>
      <p:pic>
        <p:nvPicPr>
          <p:cNvPr id="6" name="Picture 327">
            <a:extLst>
              <a:ext uri="{FF2B5EF4-FFF2-40B4-BE49-F238E27FC236}">
                <a16:creationId xmlns:a16="http://schemas.microsoft.com/office/drawing/2014/main" id="{2997D20D-F525-4F14-AB4B-CB5FB99B2033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5398397" y="5133803"/>
            <a:ext cx="6316525" cy="1571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0948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A6EDACF-168D-4177-B311-A061991C75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Příklad vytvoření pohledu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4D158959-BF8F-479C-8060-5A64A18544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cs-CZ"/>
          </a:p>
        </p:txBody>
      </p:sp>
      <p:pic>
        <p:nvPicPr>
          <p:cNvPr id="4" name="Picture 328">
            <a:extLst>
              <a:ext uri="{FF2B5EF4-FFF2-40B4-BE49-F238E27FC236}">
                <a16:creationId xmlns:a16="http://schemas.microsoft.com/office/drawing/2014/main" id="{80EFBC2F-E86E-49CE-A79E-6BBABE10645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371725" y="1825624"/>
            <a:ext cx="5685597" cy="4351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96517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9BF5341-2759-4333-984E-876F85D92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Návod pro tvorbu pohledu: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BBF929B8-7197-4C3A-9546-7A5CAFE4B2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 err="1"/>
              <a:t>Poddotaz</a:t>
            </a:r>
            <a:r>
              <a:rPr lang="cs-CZ" dirty="0"/>
              <a:t>, který definuje pohled může obsahovat komplexní </a:t>
            </a:r>
            <a:r>
              <a:rPr lang="cs-CZ" dirty="0" err="1"/>
              <a:t>select</a:t>
            </a:r>
            <a:r>
              <a:rPr lang="cs-CZ" dirty="0"/>
              <a:t> příkaz.</a:t>
            </a:r>
          </a:p>
          <a:p>
            <a:r>
              <a:rPr lang="cs-CZ" dirty="0" err="1"/>
              <a:t>Poddotaz</a:t>
            </a:r>
            <a:r>
              <a:rPr lang="cs-CZ" dirty="0"/>
              <a:t>, který definuje pohled nemůže obsahovat </a:t>
            </a:r>
            <a:r>
              <a:rPr lang="cs-CZ" dirty="0" err="1"/>
              <a:t>order</a:t>
            </a:r>
            <a:r>
              <a:rPr lang="cs-CZ" dirty="0"/>
              <a:t> by klauzuli.</a:t>
            </a:r>
          </a:p>
          <a:p>
            <a:r>
              <a:rPr lang="cs-CZ" dirty="0" err="1"/>
              <a:t>Order</a:t>
            </a:r>
            <a:r>
              <a:rPr lang="cs-CZ" dirty="0"/>
              <a:t> by klauzule je specifikována, když získáváte data z pohledu.</a:t>
            </a:r>
          </a:p>
          <a:p>
            <a:r>
              <a:rPr lang="cs-CZ" dirty="0"/>
              <a:t>Můžete použít </a:t>
            </a:r>
            <a:r>
              <a:rPr lang="cs-CZ" b="1" dirty="0" err="1"/>
              <a:t>or</a:t>
            </a:r>
            <a:r>
              <a:rPr lang="cs-CZ" b="1" dirty="0"/>
              <a:t> </a:t>
            </a:r>
            <a:r>
              <a:rPr lang="cs-CZ" b="1" dirty="0" err="1"/>
              <a:t>replace</a:t>
            </a:r>
            <a:r>
              <a:rPr lang="cs-CZ" b="1" dirty="0"/>
              <a:t> </a:t>
            </a:r>
            <a:r>
              <a:rPr lang="cs-CZ" dirty="0"/>
              <a:t>možnost pro změnu definice pohledu bez toho, aniž by byl odstraněn. Pro práci se sloupci v rámci </a:t>
            </a:r>
            <a:r>
              <a:rPr lang="cs-CZ" dirty="0" err="1"/>
              <a:t>poddotazu</a:t>
            </a:r>
            <a:r>
              <a:rPr lang="cs-CZ" dirty="0"/>
              <a:t> mohou být použity </a:t>
            </a:r>
            <a:r>
              <a:rPr lang="cs-CZ" dirty="0" err="1"/>
              <a:t>aliasy</a:t>
            </a:r>
            <a:r>
              <a:rPr lang="cs-CZ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521407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6F2FB74-9CC6-4F5B-8D62-1ED44128ED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C52FF54C-3CA9-4F44-9979-F4078D1A7F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Pro pohledy je členění na </a:t>
            </a:r>
            <a:r>
              <a:rPr lang="cs-CZ" b="1" dirty="0"/>
              <a:t>jednoduché</a:t>
            </a:r>
            <a:r>
              <a:rPr lang="cs-CZ" dirty="0"/>
              <a:t> a </a:t>
            </a:r>
            <a:r>
              <a:rPr lang="cs-CZ" b="1" dirty="0"/>
              <a:t>komplexní</a:t>
            </a:r>
            <a:r>
              <a:rPr lang="cs-CZ" dirty="0"/>
              <a:t>, </a:t>
            </a:r>
            <a:r>
              <a:rPr lang="cs-CZ" dirty="0" err="1"/>
              <a:t>následujci</a:t>
            </a:r>
            <a:r>
              <a:rPr lang="cs-CZ" dirty="0"/>
              <a:t> tabulka shrnuje možnosti obou typů.</a:t>
            </a:r>
          </a:p>
        </p:txBody>
      </p:sp>
      <p:pic>
        <p:nvPicPr>
          <p:cNvPr id="4" name="Picture 329">
            <a:extLst>
              <a:ext uri="{FF2B5EF4-FFF2-40B4-BE49-F238E27FC236}">
                <a16:creationId xmlns:a16="http://schemas.microsoft.com/office/drawing/2014/main" id="{FB421304-7ECF-4F92-9EDA-59BCAB4F163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555501" y="3051641"/>
            <a:ext cx="5943040" cy="2192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43530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7B0B72E-94C3-4C5C-A908-2535CF2F81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Jednoduchý pohled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1859E920-2114-42DA-936D-2E71B53FBB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Pohled zobrazený níže je příklad jednoduchého pohledu. </a:t>
            </a:r>
            <a:r>
              <a:rPr lang="cs-CZ" dirty="0" err="1"/>
              <a:t>Poddotaz</a:t>
            </a:r>
            <a:r>
              <a:rPr lang="cs-CZ" dirty="0"/>
              <a:t> získává data pouze z jedné tabulky a neobsahuje žádný </a:t>
            </a:r>
            <a:r>
              <a:rPr lang="cs-CZ" dirty="0" err="1"/>
              <a:t>join</a:t>
            </a:r>
            <a:r>
              <a:rPr lang="cs-CZ" dirty="0"/>
              <a:t> nebo </a:t>
            </a:r>
            <a:r>
              <a:rPr lang="cs-CZ" dirty="0" err="1"/>
              <a:t>seskupovací</a:t>
            </a:r>
            <a:r>
              <a:rPr lang="cs-CZ" dirty="0"/>
              <a:t> funkci.</a:t>
            </a:r>
          </a:p>
          <a:p>
            <a:pPr marL="0" indent="0">
              <a:buNone/>
            </a:pPr>
            <a:endParaRPr lang="cs-CZ" dirty="0"/>
          </a:p>
        </p:txBody>
      </p:sp>
      <p:pic>
        <p:nvPicPr>
          <p:cNvPr id="4" name="Picture 330">
            <a:extLst>
              <a:ext uri="{FF2B5EF4-FFF2-40B4-BE49-F238E27FC236}">
                <a16:creationId xmlns:a16="http://schemas.microsoft.com/office/drawing/2014/main" id="{E13605DB-7F75-4C04-96AC-43718D3EBA8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476500" y="3124200"/>
            <a:ext cx="5174876" cy="1138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43524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FA102C6-747F-4A10-BA0C-B850349F97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2A612A6C-4758-48C1-B47D-1762375FCE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cs-CZ"/>
          </a:p>
        </p:txBody>
      </p:sp>
      <p:pic>
        <p:nvPicPr>
          <p:cNvPr id="4" name="Picture 331">
            <a:extLst>
              <a:ext uri="{FF2B5EF4-FFF2-40B4-BE49-F238E27FC236}">
                <a16:creationId xmlns:a16="http://schemas.microsoft.com/office/drawing/2014/main" id="{02F39445-9858-4EDB-AC4F-227716E31DBE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2738157" y="1690688"/>
            <a:ext cx="6311714" cy="3042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42752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7A79BBC-EC27-4934-8DAF-F0968650C6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Komplexní pohled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86024719-C4B5-457D-A580-A13768DA94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Jsou pohledy, které mohou obsahovat </a:t>
            </a:r>
            <a:r>
              <a:rPr lang="cs-CZ" dirty="0" err="1"/>
              <a:t>seskupovaci</a:t>
            </a:r>
            <a:r>
              <a:rPr lang="cs-CZ" dirty="0"/>
              <a:t> funkce a </a:t>
            </a:r>
            <a:r>
              <a:rPr lang="cs-CZ" dirty="0" err="1"/>
              <a:t>joiny</a:t>
            </a:r>
            <a:r>
              <a:rPr lang="cs-CZ" dirty="0"/>
              <a:t>. Následující příklad vytváří pohled z dat získaných ze dvou tabulek.</a:t>
            </a:r>
          </a:p>
        </p:txBody>
      </p:sp>
      <p:pic>
        <p:nvPicPr>
          <p:cNvPr id="4" name="Picture 332">
            <a:extLst>
              <a:ext uri="{FF2B5EF4-FFF2-40B4-BE49-F238E27FC236}">
                <a16:creationId xmlns:a16="http://schemas.microsoft.com/office/drawing/2014/main" id="{CDFB7DB9-A905-4D3C-8BCF-D30479179B7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657784" y="2659717"/>
            <a:ext cx="6455710" cy="2235012"/>
          </a:xfrm>
          <a:prstGeom prst="rect">
            <a:avLst/>
          </a:prstGeom>
        </p:spPr>
      </p:pic>
      <p:pic>
        <p:nvPicPr>
          <p:cNvPr id="5" name="Picture 333">
            <a:extLst>
              <a:ext uri="{FF2B5EF4-FFF2-40B4-BE49-F238E27FC236}">
                <a16:creationId xmlns:a16="http://schemas.microsoft.com/office/drawing/2014/main" id="{23526771-F054-41BC-A852-0FD47FE39435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7113494" y="3724835"/>
            <a:ext cx="5078506" cy="3133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05129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5D5E3AB-1729-448F-9D7D-3673E29278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D4343D4A-7B6F-4301-918F-57849E5483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Do komplexního pohledu mohou být přidány také </a:t>
            </a:r>
            <a:r>
              <a:rPr lang="cs-CZ" dirty="0" err="1"/>
              <a:t>seskupovaci</a:t>
            </a:r>
            <a:r>
              <a:rPr lang="cs-CZ" dirty="0"/>
              <a:t> funkce.</a:t>
            </a:r>
          </a:p>
        </p:txBody>
      </p:sp>
      <p:pic>
        <p:nvPicPr>
          <p:cNvPr id="4" name="Picture 334">
            <a:extLst>
              <a:ext uri="{FF2B5EF4-FFF2-40B4-BE49-F238E27FC236}">
                <a16:creationId xmlns:a16="http://schemas.microsoft.com/office/drawing/2014/main" id="{3285EDEB-3897-4C51-A779-6B589E140AA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957387" y="2562224"/>
            <a:ext cx="6823542" cy="3072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72704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ACD217E-DCF6-42D8-91B8-C2F338A8E5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Modifikace pohledu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485FC2E6-73A2-4D6A-A62E-C2BB5F51D3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Je prováděna pomoc</a:t>
            </a:r>
            <a:r>
              <a:rPr lang="cs-CZ" dirty="0"/>
              <a:t>í</a:t>
            </a:r>
            <a:r>
              <a:rPr lang="it-IT" dirty="0"/>
              <a:t> OR REPLACE možnosti </a:t>
            </a:r>
            <a:r>
              <a:rPr lang="cs-CZ" dirty="0"/>
              <a:t>u</a:t>
            </a:r>
            <a:r>
              <a:rPr lang="it-IT" dirty="0"/>
              <a:t> příkazu CREATE VIEW.</a:t>
            </a:r>
            <a:endParaRPr lang="cs-CZ" dirty="0"/>
          </a:p>
        </p:txBody>
      </p:sp>
      <p:pic>
        <p:nvPicPr>
          <p:cNvPr id="4" name="Picture 335">
            <a:extLst>
              <a:ext uri="{FF2B5EF4-FFF2-40B4-BE49-F238E27FC236}">
                <a16:creationId xmlns:a16="http://schemas.microsoft.com/office/drawing/2014/main" id="{F57F9D2F-1C0E-4A0B-A998-6D3D8353D6D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309687" y="2560263"/>
            <a:ext cx="5709678" cy="1137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47539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CAEB281-0C08-4042-B6EF-6BB4E05063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DML operace a pohledy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187FB821-0A13-4572-9B92-096BE3AA61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DML operace INSERT, UPDATE a DELETE mohou být použity na jednoduché pohledy.</a:t>
            </a:r>
          </a:p>
          <a:p>
            <a:r>
              <a:rPr lang="cs-CZ" dirty="0"/>
              <a:t>Tyto operace mohou měnit data v bázových tabulkách pohledu.</a:t>
            </a:r>
          </a:p>
          <a:p>
            <a:r>
              <a:rPr lang="cs-CZ" dirty="0"/>
              <a:t>Pokud vytvoříte pohled umožňující uživatelům zobrazovat vybrané informace pomocí </a:t>
            </a:r>
            <a:r>
              <a:rPr lang="cs-CZ" dirty="0" err="1"/>
              <a:t>where</a:t>
            </a:r>
            <a:r>
              <a:rPr lang="cs-CZ" dirty="0"/>
              <a:t> klauzule, uživatele mohou pořád měnit pomoci DML operací všechny sloupce pohledu.</a:t>
            </a:r>
          </a:p>
        </p:txBody>
      </p:sp>
    </p:spTree>
    <p:extLst>
      <p:ext uri="{BB962C8B-B14F-4D97-AF65-F5344CB8AC3E}">
        <p14:creationId xmlns:p14="http://schemas.microsoft.com/office/powerpoint/2010/main" val="30897911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36DE126-8A55-49E4-ACA2-DAAFB8F383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5EDB6399-2B8B-4D3D-B3CF-F9D34BA0B2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Například zde je pohled, který umožňuje manažerům z oddělení 50 vidět informace o jejich zaměstnancích.</a:t>
            </a:r>
          </a:p>
        </p:txBody>
      </p:sp>
      <p:pic>
        <p:nvPicPr>
          <p:cNvPr id="4" name="Picture 336">
            <a:extLst>
              <a:ext uri="{FF2B5EF4-FFF2-40B4-BE49-F238E27FC236}">
                <a16:creationId xmlns:a16="http://schemas.microsoft.com/office/drawing/2014/main" id="{E75E1BCF-0DCC-4901-8A5A-D20B8A59B52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788864" y="2868986"/>
            <a:ext cx="6624077" cy="2993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6149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975AFD4-8F0A-43C4-A259-32DF61B9FF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Kontrolování přístupu do pohledu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E109C55D-DB61-48B6-B131-A69E9796FA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 </a:t>
            </a:r>
            <a:r>
              <a:rPr lang="en-US" dirty="0" err="1"/>
              <a:t>kontrolu</a:t>
            </a:r>
            <a:r>
              <a:rPr lang="en-US" dirty="0"/>
              <a:t> </a:t>
            </a:r>
            <a:r>
              <a:rPr lang="en-US" dirty="0" err="1"/>
              <a:t>přístupu</a:t>
            </a:r>
            <a:r>
              <a:rPr lang="en-US" dirty="0"/>
              <a:t> k </a:t>
            </a:r>
            <a:r>
              <a:rPr lang="en-US" dirty="0" err="1"/>
              <a:t>dat</a:t>
            </a:r>
            <a:r>
              <a:rPr lang="cs-CZ" dirty="0"/>
              <a:t>ů</a:t>
            </a:r>
            <a:r>
              <a:rPr lang="en-US" dirty="0"/>
              <a:t>m </a:t>
            </a:r>
            <a:r>
              <a:rPr lang="en-US" dirty="0" err="1"/>
              <a:t>jsou</a:t>
            </a:r>
            <a:r>
              <a:rPr lang="en-US" dirty="0"/>
              <a:t> </a:t>
            </a:r>
            <a:r>
              <a:rPr lang="en-US" dirty="0" err="1"/>
              <a:t>použity</a:t>
            </a:r>
            <a:r>
              <a:rPr lang="en-US" dirty="0"/>
              <a:t> WITH CHECK OPTION, WITH READ ONLY.</a:t>
            </a:r>
            <a:endParaRPr lang="cs-CZ" dirty="0"/>
          </a:p>
          <a:p>
            <a:endParaRPr lang="cs-CZ" dirty="0"/>
          </a:p>
          <a:p>
            <a:endParaRPr lang="cs-CZ" dirty="0"/>
          </a:p>
          <a:p>
            <a:r>
              <a:rPr lang="cs-CZ" dirty="0"/>
              <a:t>Tento pohled zaměstnanci s id 124 změní číslo oddělení na 90.</a:t>
            </a:r>
          </a:p>
          <a:p>
            <a:endParaRPr lang="cs-CZ" dirty="0"/>
          </a:p>
        </p:txBody>
      </p:sp>
      <p:pic>
        <p:nvPicPr>
          <p:cNvPr id="4" name="Picture 337">
            <a:extLst>
              <a:ext uri="{FF2B5EF4-FFF2-40B4-BE49-F238E27FC236}">
                <a16:creationId xmlns:a16="http://schemas.microsoft.com/office/drawing/2014/main" id="{3BCBFD75-BE09-4E0A-A187-2999E23B0B43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2445429" y="2658315"/>
            <a:ext cx="5822857" cy="770685"/>
          </a:xfrm>
          <a:prstGeom prst="rect">
            <a:avLst/>
          </a:prstGeom>
        </p:spPr>
      </p:pic>
      <p:pic>
        <p:nvPicPr>
          <p:cNvPr id="5" name="Picture 338">
            <a:extLst>
              <a:ext uri="{FF2B5EF4-FFF2-40B4-BE49-F238E27FC236}">
                <a16:creationId xmlns:a16="http://schemas.microsoft.com/office/drawing/2014/main" id="{1606ED65-5BA6-416D-B83C-0EBA417E6A8C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2445429" y="4261690"/>
            <a:ext cx="5365657" cy="1439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97452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2086B8F-82F7-4B15-83E7-66C93E3FD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22AD4894-0186-44ED-B1A0-C9DE7CF024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Aktualizace je úspěšná, i přestože řádek zaměstnance není části pohledu.</a:t>
            </a:r>
          </a:p>
          <a:p>
            <a:r>
              <a:rPr lang="cs-CZ" dirty="0"/>
              <a:t>Možnost </a:t>
            </a:r>
            <a:r>
              <a:rPr lang="cs-CZ" b="1" dirty="0" err="1"/>
              <a:t>with</a:t>
            </a:r>
            <a:r>
              <a:rPr lang="cs-CZ" b="1" dirty="0"/>
              <a:t> </a:t>
            </a:r>
            <a:r>
              <a:rPr lang="cs-CZ" b="1" dirty="0" err="1"/>
              <a:t>check</a:t>
            </a:r>
            <a:r>
              <a:rPr lang="cs-CZ" b="1" dirty="0"/>
              <a:t> </a:t>
            </a:r>
            <a:r>
              <a:rPr lang="cs-CZ" b="1" dirty="0" err="1"/>
              <a:t>option</a:t>
            </a:r>
            <a:r>
              <a:rPr lang="cs-CZ" b="1" dirty="0"/>
              <a:t> </a:t>
            </a:r>
            <a:r>
              <a:rPr lang="cs-CZ" dirty="0"/>
              <a:t>kontroluje, že DML operace prováděné na pohledu zůstávají pouze v doméně pohledu. Jakýkoliv jiný pokus o změnu skončí chybou.</a:t>
            </a:r>
          </a:p>
        </p:txBody>
      </p:sp>
      <p:pic>
        <p:nvPicPr>
          <p:cNvPr id="4" name="Picture 339">
            <a:extLst>
              <a:ext uri="{FF2B5EF4-FFF2-40B4-BE49-F238E27FC236}">
                <a16:creationId xmlns:a16="http://schemas.microsoft.com/office/drawing/2014/main" id="{CB2DCB1B-51B2-4C8E-8014-4D558F93BF1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838200" y="4094582"/>
            <a:ext cx="5133135" cy="1068202"/>
          </a:xfrm>
          <a:prstGeom prst="rect">
            <a:avLst/>
          </a:prstGeom>
        </p:spPr>
      </p:pic>
      <p:pic>
        <p:nvPicPr>
          <p:cNvPr id="5" name="Picture 340">
            <a:extLst>
              <a:ext uri="{FF2B5EF4-FFF2-40B4-BE49-F238E27FC236}">
                <a16:creationId xmlns:a16="http://schemas.microsoft.com/office/drawing/2014/main" id="{FFDD1DD3-109C-4D45-A65B-4786A838728C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5971335" y="4229519"/>
            <a:ext cx="5687265" cy="1579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62736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3B1CEC8-CDB0-450A-A934-47B4111BB8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Pohledy s READ ONLY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3B5E113F-81F2-418F-88FA-7249B67C1D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Možnost </a:t>
            </a:r>
            <a:r>
              <a:rPr lang="cs-CZ" b="1" dirty="0" err="1"/>
              <a:t>read</a:t>
            </a:r>
            <a:r>
              <a:rPr lang="cs-CZ" b="1" dirty="0"/>
              <a:t> </a:t>
            </a:r>
            <a:r>
              <a:rPr lang="cs-CZ" b="1" dirty="0" err="1"/>
              <a:t>only</a:t>
            </a:r>
            <a:r>
              <a:rPr lang="cs-CZ" b="1" dirty="0"/>
              <a:t> </a:t>
            </a:r>
            <a:r>
              <a:rPr lang="cs-CZ" dirty="0"/>
              <a:t>zajistí, že žádné DML operace nemohou být nad pohledem prováděny.</a:t>
            </a:r>
          </a:p>
        </p:txBody>
      </p:sp>
      <p:pic>
        <p:nvPicPr>
          <p:cNvPr id="4" name="Picture 341">
            <a:extLst>
              <a:ext uri="{FF2B5EF4-FFF2-40B4-BE49-F238E27FC236}">
                <a16:creationId xmlns:a16="http://schemas.microsoft.com/office/drawing/2014/main" id="{7DD82509-5BF6-47AA-B785-CDE38F92DF1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438400" y="2743200"/>
            <a:ext cx="5898776" cy="1492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17722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58CA299-CA81-4E25-A48D-1E6E414E4A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Odstranění pohledu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6F21049E-AD88-4DF4-B61E-60ED9FA8D6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Protože pohled neobsahuje žádná vlastní data, odstranění nebude mít dopad na data v </a:t>
            </a:r>
            <a:r>
              <a:rPr lang="cs-CZ" dirty="0" err="1"/>
              <a:t>bázove</a:t>
            </a:r>
            <a:r>
              <a:rPr lang="cs-CZ" dirty="0"/>
              <a:t> tabulce. Pokud je na pohled použít INSERT, UPDATE nebo DELETE je změna zapsána do </a:t>
            </a:r>
            <a:r>
              <a:rPr lang="cs-CZ" dirty="0" err="1"/>
              <a:t>bázove</a:t>
            </a:r>
            <a:r>
              <a:rPr lang="cs-CZ" dirty="0"/>
              <a:t> tabulky.</a:t>
            </a:r>
          </a:p>
          <a:p>
            <a:r>
              <a:rPr lang="cs-CZ" dirty="0"/>
              <a:t>Odstranění jednoduchého pohledu odstraní definici pohledu z databáze.</a:t>
            </a:r>
          </a:p>
        </p:txBody>
      </p:sp>
      <p:pic>
        <p:nvPicPr>
          <p:cNvPr id="4" name="Picture 342">
            <a:extLst>
              <a:ext uri="{FF2B5EF4-FFF2-40B4-BE49-F238E27FC236}">
                <a16:creationId xmlns:a16="http://schemas.microsoft.com/office/drawing/2014/main" id="{39604E00-9D4B-415B-8298-FFEAFCBCC46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870947" y="4001293"/>
            <a:ext cx="4834218" cy="503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58624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589A8D0-E911-4639-BE40-E469E7703A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/>
              <a:t>Inline</a:t>
            </a:r>
            <a:r>
              <a:rPr lang="cs-CZ" dirty="0"/>
              <a:t> pohledy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4D80A817-B80E-4419-893E-DE61EFC1C2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Tyto pohledy jsou referovány jako </a:t>
            </a:r>
            <a:r>
              <a:rPr lang="cs-CZ" dirty="0" err="1"/>
              <a:t>poddodazy</a:t>
            </a:r>
            <a:r>
              <a:rPr lang="cs-CZ" dirty="0"/>
              <a:t> z klauzule </a:t>
            </a:r>
            <a:r>
              <a:rPr lang="cs-CZ" dirty="0" err="1"/>
              <a:t>from</a:t>
            </a:r>
            <a:r>
              <a:rPr lang="cs-CZ" dirty="0"/>
              <a:t>. Když vložíte </a:t>
            </a:r>
            <a:r>
              <a:rPr lang="cs-CZ" dirty="0" err="1"/>
              <a:t>poddotaz</a:t>
            </a:r>
            <a:r>
              <a:rPr lang="cs-CZ" dirty="0"/>
              <a:t> do </a:t>
            </a:r>
            <a:r>
              <a:rPr lang="cs-CZ" dirty="0" err="1"/>
              <a:t>from</a:t>
            </a:r>
            <a:r>
              <a:rPr lang="cs-CZ" dirty="0"/>
              <a:t> klauzule tak jenom, když má </a:t>
            </a:r>
            <a:r>
              <a:rPr lang="cs-CZ" dirty="0" err="1"/>
              <a:t>poddotaz</a:t>
            </a:r>
            <a:r>
              <a:rPr lang="cs-CZ" dirty="0"/>
              <a:t> název. </a:t>
            </a:r>
            <a:r>
              <a:rPr lang="cs-CZ" dirty="0" err="1"/>
              <a:t>Inline</a:t>
            </a:r>
            <a:r>
              <a:rPr lang="cs-CZ" dirty="0"/>
              <a:t> pohledy jsou používány pro zjednodušení komplexních dotazů odstraněním </a:t>
            </a:r>
            <a:r>
              <a:rPr lang="cs-CZ" dirty="0" err="1"/>
              <a:t>join</a:t>
            </a:r>
            <a:r>
              <a:rPr lang="cs-CZ" dirty="0"/>
              <a:t> operací a spojení několika dotazů do jednoho.</a:t>
            </a:r>
          </a:p>
        </p:txBody>
      </p:sp>
      <p:pic>
        <p:nvPicPr>
          <p:cNvPr id="4" name="Picture 343">
            <a:extLst>
              <a:ext uri="{FF2B5EF4-FFF2-40B4-BE49-F238E27FC236}">
                <a16:creationId xmlns:a16="http://schemas.microsoft.com/office/drawing/2014/main" id="{62C4D00E-09E7-4407-9B03-95533FB67A67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2482383" y="3892036"/>
            <a:ext cx="5814452" cy="1930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22473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778D708-D629-4C5C-A7EE-6F2EB98391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TOP-N-ANALYSIS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3135065A-23C5-415F-B293-F932870BF0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Je </a:t>
            </a:r>
            <a:r>
              <a:rPr lang="cs-CZ" dirty="0" err="1"/>
              <a:t>sql</a:t>
            </a:r>
            <a:r>
              <a:rPr lang="cs-CZ" dirty="0"/>
              <a:t> operace používaná pro číslování výsledků.</a:t>
            </a:r>
          </a:p>
          <a:p>
            <a:r>
              <a:rPr lang="cs-CZ" dirty="0"/>
              <a:t>Použití této analýzy je vhodné, když chcete například získat prvních 5 záznamů apod.</a:t>
            </a:r>
          </a:p>
        </p:txBody>
      </p:sp>
      <p:pic>
        <p:nvPicPr>
          <p:cNvPr id="4" name="Picture 344">
            <a:extLst>
              <a:ext uri="{FF2B5EF4-FFF2-40B4-BE49-F238E27FC236}">
                <a16:creationId xmlns:a16="http://schemas.microsoft.com/office/drawing/2014/main" id="{BF2DD61D-5938-41C3-BE88-E2C92E83F12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3056684" y="3428999"/>
            <a:ext cx="6557963" cy="2447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11278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994FA59-F789-4CF1-92EC-724B71B294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Úkoly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1B03FAFE-6387-4CFE-9971-CB692EEDAB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dirty="0"/>
              <a:t>Vyberte prvních 5 zaměstnanců, jejichž mzda je vyšší než průměrná mzda celkově.</a:t>
            </a:r>
          </a:p>
          <a:p>
            <a:r>
              <a:rPr lang="cs-CZ" dirty="0"/>
              <a:t>Porovnejte průměrné mzdy za jednotlivá oddělení s průměrnou mzdou celé firmy.</a:t>
            </a:r>
          </a:p>
          <a:p>
            <a:r>
              <a:rPr lang="cs-CZ" dirty="0"/>
              <a:t>Vytvořte pohled s názvem </a:t>
            </a:r>
            <a:r>
              <a:rPr lang="cs-CZ" dirty="0" err="1"/>
              <a:t>v_prum_od_fi</a:t>
            </a:r>
            <a:r>
              <a:rPr lang="cs-CZ" dirty="0"/>
              <a:t>, ve kterém se bude volat </a:t>
            </a:r>
            <a:r>
              <a:rPr lang="cs-CZ" dirty="0" err="1"/>
              <a:t>select</a:t>
            </a:r>
            <a:r>
              <a:rPr lang="cs-CZ" dirty="0"/>
              <a:t> z úkolu 2.</a:t>
            </a:r>
          </a:p>
        </p:txBody>
      </p:sp>
    </p:spTree>
    <p:extLst>
      <p:ext uri="{BB962C8B-B14F-4D97-AF65-F5344CB8AC3E}">
        <p14:creationId xmlns:p14="http://schemas.microsoft.com/office/powerpoint/2010/main" val="3180004218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173</TotalTime>
  <Words>839</Words>
  <Application>Microsoft Office PowerPoint</Application>
  <PresentationFormat>Širokoúhlá obrazovka</PresentationFormat>
  <Paragraphs>64</Paragraphs>
  <Slides>23</Slides>
  <Notes>4</Notes>
  <HiddenSlides>0</HiddenSlides>
  <MMClips>0</MMClips>
  <ScaleCrop>false</ScaleCrop>
  <HeadingPairs>
    <vt:vector size="6" baseType="variant">
      <vt:variant>
        <vt:lpstr>Použitá písma</vt:lpstr>
      </vt:variant>
      <vt:variant>
        <vt:i4>3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23</vt:i4>
      </vt:variant>
    </vt:vector>
  </HeadingPairs>
  <TitlesOfParts>
    <vt:vector size="27" baseType="lpstr">
      <vt:lpstr>Arial</vt:lpstr>
      <vt:lpstr>Calibri</vt:lpstr>
      <vt:lpstr>Calibri Light</vt:lpstr>
      <vt:lpstr>Motiv Office</vt:lpstr>
      <vt:lpstr>Pohledy</vt:lpstr>
      <vt:lpstr>Co je to pohled</vt:lpstr>
      <vt:lpstr>Prezentace aplikace PowerPoint</vt:lpstr>
      <vt:lpstr>Proč používat pohledy?</vt:lpstr>
      <vt:lpstr>Prezentace aplikace PowerPoint</vt:lpstr>
      <vt:lpstr>Pro vytvoření pohledu stačí před dotaz přidat create view</vt:lpstr>
      <vt:lpstr>Příklad vytvoření pohledu</vt:lpstr>
      <vt:lpstr>Návod pro tvorbu pohledu:</vt:lpstr>
      <vt:lpstr>Prezentace aplikace PowerPoint</vt:lpstr>
      <vt:lpstr>Jednoduchý pohled</vt:lpstr>
      <vt:lpstr>Prezentace aplikace PowerPoint</vt:lpstr>
      <vt:lpstr>Komplexní pohled</vt:lpstr>
      <vt:lpstr>Prezentace aplikace PowerPoint</vt:lpstr>
      <vt:lpstr>Modifikace pohledu</vt:lpstr>
      <vt:lpstr>DML operace a pohledy</vt:lpstr>
      <vt:lpstr>Prezentace aplikace PowerPoint</vt:lpstr>
      <vt:lpstr>Kontrolování přístupu do pohledu</vt:lpstr>
      <vt:lpstr>Prezentace aplikace PowerPoint</vt:lpstr>
      <vt:lpstr>Pohledy s READ ONLY</vt:lpstr>
      <vt:lpstr>Odstranění pohledu</vt:lpstr>
      <vt:lpstr>Inline pohledy</vt:lpstr>
      <vt:lpstr>TOP-N-ANALYSIS</vt:lpstr>
      <vt:lpstr>Úkoly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Pohledy</dc:title>
  <dc:creator>Hurtova Veronika</dc:creator>
  <cp:lastModifiedBy>Veronika</cp:lastModifiedBy>
  <cp:revision>15</cp:revision>
  <dcterms:created xsi:type="dcterms:W3CDTF">2018-01-25T12:02:04Z</dcterms:created>
  <dcterms:modified xsi:type="dcterms:W3CDTF">2019-03-22T10:14:28Z</dcterms:modified>
</cp:coreProperties>
</file>